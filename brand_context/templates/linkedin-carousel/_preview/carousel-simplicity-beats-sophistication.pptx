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rk-tech_06_352067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0F172A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55600"/>
            <a:ext cx="2286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94A3B8"/>
                </a:solidFill>
                <a:latin typeface="Inter"/>
              </a:defRPr>
            </a:pPr>
            <a:r>
              <a:t>JUNE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29100" y="355600"/>
            <a:ext cx="2286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94A3B8"/>
                </a:solidFill>
                <a:latin typeface="Inter"/>
              </a:defRPr>
            </a:pPr>
            <a:r>
              <a:t>@SIMONSCRAPES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69480" y="355600"/>
            <a:ext cx="2286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94A3B8"/>
                </a:solidFill>
                <a:latin typeface="Inter"/>
              </a:defRPr>
            </a:pPr>
            <a:r>
              <a:t>WEB SCRAPING &amp; AUTOMATION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926080"/>
            <a:ext cx="731520" cy="635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8823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600" b="1">
                <a:solidFill>
                  <a:srgbClr val="F8FAFC"/>
                </a:solidFill>
                <a:latin typeface="Inter Tight"/>
              </a:defRPr>
            </a:pPr>
            <a:r>
              <a:t>Stop</a:t>
            </a:r>
            <a:br/>
            <a:r>
              <a:t>Overengineering</a:t>
            </a:r>
            <a:br/>
            <a:r>
              <a:t>Your Automation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126480"/>
            <a:ext cx="8823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94A3B8"/>
                </a:solidFill>
                <a:latin typeface="Inter"/>
              </a:defRPr>
            </a:pPr>
            <a:r>
              <a:t>The best solution has the fewest</a:t>
            </a:r>
            <a:br/>
            <a:r>
              <a:t>moving parts. Here's why.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7406640"/>
            <a:ext cx="533400" cy="5334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7720" y="7482840"/>
            <a:ext cx="533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  <a:latin typeface="Inter Tight"/>
              </a:defRPr>
            </a:pPr>
            <a: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1920" y="7508240"/>
            <a:ext cx="1828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8FAFC"/>
                </a:solidFill>
                <a:latin typeface="Inter"/>
              </a:defRPr>
            </a:pPr>
            <a:r>
              <a:t>SWIPE TO LEARN</a:t>
            </a:r>
          </a:p>
        </p:txBody>
      </p:sp>
      <p:sp>
        <p:nvSpPr>
          <p:cNvPr id="13" name="Oval 12"/>
          <p:cNvSpPr/>
          <p:nvPr/>
        </p:nvSpPr>
        <p:spPr>
          <a:xfrm>
            <a:off x="4165600" y="12249150"/>
            <a:ext cx="127000" cy="1270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470400" y="1224915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775200" y="1224915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080000" y="1224915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384800" y="1224915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89600" y="1224915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994400" y="1224915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gradients-abstract_01_15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0F172A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55600"/>
            <a:ext cx="2286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94A3B8"/>
                </a:solidFill>
                <a:latin typeface="Inter"/>
              </a:defRPr>
            </a:pPr>
            <a:r>
              <a:t>JUNE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29100" y="355600"/>
            <a:ext cx="2286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94A3B8"/>
                </a:solidFill>
                <a:latin typeface="Inter"/>
              </a:defRPr>
            </a:pPr>
            <a:r>
              <a:t>@SIMONSCRAPES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69480" y="355600"/>
            <a:ext cx="2286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94A3B8"/>
                </a:solidFill>
                <a:latin typeface="Inter"/>
              </a:defRPr>
            </a:pPr>
            <a:r>
              <a:t>WEB SCRAPING &amp; AUTOMATION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05840"/>
            <a:ext cx="8823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0" b="1">
                <a:solidFill>
                  <a:srgbClr val="1E293B"/>
                </a:solidFill>
                <a:latin typeface="Inter Tight"/>
              </a:defRPr>
            </a:pPr>
            <a: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560320"/>
            <a:ext cx="548640" cy="635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966720"/>
            <a:ext cx="8823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8FAFC"/>
                </a:solidFill>
                <a:latin typeface="Inter Tight"/>
              </a:defRPr>
            </a:pPr>
            <a:r>
              <a:t>The Problem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81120"/>
            <a:ext cx="8823960" cy="4114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7120" y="4236720"/>
            <a:ext cx="8112760" cy="340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50"/>
              </a:spcAft>
              <a:defRPr sz="2100" b="0">
                <a:solidFill>
                  <a:srgbClr val="94A3B8"/>
                </a:solidFill>
                <a:latin typeface="Inter"/>
              </a:defRPr>
            </a:pPr>
            <a:r>
              <a:t>Everyone wants the "scalable,</a:t>
            </a:r>
          </a:p>
          <a:p>
            <a:pPr>
              <a:spcAft>
                <a:spcPts val="1050"/>
              </a:spcAft>
              <a:defRPr sz="2100" b="0">
                <a:solidFill>
                  <a:srgbClr val="94A3B8"/>
                </a:solidFill>
                <a:latin typeface="Inter"/>
              </a:defRPr>
            </a:pPr>
            <a:r>
              <a:t>enterprise-ready, future-proof" version.</a:t>
            </a:r>
          </a:p>
          <a:p>
            <a:pPr>
              <a:spcAft>
                <a:spcPts val="1050"/>
              </a:spcAft>
              <a:defRPr sz="2100" b="0">
                <a:solidFill>
                  <a:srgbClr val="94A3B8"/>
                </a:solidFill>
                <a:latin typeface="Inter"/>
              </a:defRPr>
            </a:pPr>
          </a:p>
          <a:p>
            <a:pPr>
              <a:spcAft>
                <a:spcPts val="1050"/>
              </a:spcAft>
              <a:defRPr sz="2100" b="0">
                <a:solidFill>
                  <a:srgbClr val="94A3B8"/>
                </a:solidFill>
                <a:latin typeface="Inter"/>
              </a:defRPr>
            </a:pPr>
            <a:r>
              <a:t>So they spend 3 months building</a:t>
            </a:r>
          </a:p>
          <a:p>
            <a:pPr>
              <a:spcAft>
                <a:spcPts val="1050"/>
              </a:spcAft>
              <a:defRPr sz="2100" b="0">
                <a:solidFill>
                  <a:srgbClr val="94A3B8"/>
                </a:solidFill>
                <a:latin typeface="Inter"/>
              </a:defRPr>
            </a:pPr>
            <a:r>
              <a:t>infrastructure instead of solving</a:t>
            </a:r>
          </a:p>
          <a:p>
            <a:pPr>
              <a:spcAft>
                <a:spcPts val="1050"/>
              </a:spcAft>
              <a:defRPr sz="2100" b="0">
                <a:solidFill>
                  <a:srgbClr val="94A3B8"/>
                </a:solidFill>
                <a:latin typeface="Inter"/>
              </a:defRPr>
            </a:pPr>
            <a:r>
              <a:t>the actual problem.</a:t>
            </a:r>
          </a:p>
          <a:p>
            <a:pPr>
              <a:spcAft>
                <a:spcPts val="1050"/>
              </a:spcAft>
              <a:defRPr sz="2100" b="0">
                <a:solidFill>
                  <a:srgbClr val="94A3B8"/>
                </a:solidFill>
                <a:latin typeface="Inter"/>
              </a:defRPr>
            </a:pPr>
          </a:p>
          <a:p>
            <a:pPr>
              <a:spcAft>
                <a:spcPts val="1050"/>
              </a:spcAft>
              <a:defRPr sz="2100" b="0">
                <a:solidFill>
                  <a:srgbClr val="94A3B8"/>
                </a:solidFill>
                <a:latin typeface="Inter"/>
              </a:defRPr>
            </a:pPr>
            <a:r>
              <a:t>Meanwhile, a 20-line script</a:t>
            </a:r>
          </a:p>
          <a:p>
            <a:pPr>
              <a:spcAft>
                <a:spcPts val="1050"/>
              </a:spcAft>
              <a:defRPr sz="2100" b="0">
                <a:solidFill>
                  <a:srgbClr val="94A3B8"/>
                </a:solidFill>
                <a:latin typeface="Inter"/>
              </a:defRPr>
            </a:pPr>
            <a:r>
              <a:t>would've been done in 20 minutes.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7120" y="6725920"/>
            <a:ext cx="811276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2D3EE"/>
                </a:solidFill>
                <a:latin typeface="Inter Tight"/>
              </a:defRPr>
            </a:pPr>
            <a:r>
              <a:t>20 lines. 20 minutes. Done.</a:t>
            </a:r>
          </a:p>
        </p:txBody>
      </p:sp>
      <p:sp>
        <p:nvSpPr>
          <p:cNvPr id="13" name="Oval 12"/>
          <p:cNvSpPr/>
          <p:nvPr/>
        </p:nvSpPr>
        <p:spPr>
          <a:xfrm>
            <a:off x="4165600" y="1224915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470400" y="12249150"/>
            <a:ext cx="127000" cy="1270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775200" y="1224915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080000" y="1224915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384800" y="1224915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89600" y="1224915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994400" y="1224915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xtures_02_76411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0F172A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55600"/>
            <a:ext cx="2286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94A3B8"/>
                </a:solidFill>
                <a:latin typeface="Inter"/>
              </a:defRPr>
            </a:pPr>
            <a:r>
              <a:t>JUNE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29100" y="355600"/>
            <a:ext cx="2286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94A3B8"/>
                </a:solidFill>
                <a:latin typeface="Inter"/>
              </a:defRPr>
            </a:pPr>
            <a:r>
              <a:t>@SIMONSCRAPES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69480" y="355600"/>
            <a:ext cx="2286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94A3B8"/>
                </a:solidFill>
                <a:latin typeface="Inter"/>
              </a:defRPr>
            </a:pPr>
            <a:r>
              <a:t>WEB SCRAPING &amp; AUTOMATION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05840"/>
            <a:ext cx="8823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0" b="1">
                <a:solidFill>
                  <a:srgbClr val="1E293B"/>
                </a:solidFill>
                <a:latin typeface="Inter Tight"/>
              </a:defRPr>
            </a:pPr>
            <a: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560320"/>
            <a:ext cx="548640" cy="635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966720"/>
            <a:ext cx="8823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8FAFC"/>
                </a:solidFill>
                <a:latin typeface="Inter Tight"/>
              </a:defRPr>
            </a:pPr>
            <a:r>
              <a:t>The Real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81120"/>
            <a:ext cx="8823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50"/>
              </a:spcAft>
              <a:defRPr sz="2100" b="0">
                <a:solidFill>
                  <a:srgbClr val="94A3B8"/>
                </a:solidFill>
                <a:latin typeface="Inter"/>
              </a:defRPr>
            </a:pPr>
            <a:r>
              <a:t>Here's the thing: before you pick</a:t>
            </a:r>
          </a:p>
          <a:p>
            <a:pPr>
              <a:spcAft>
                <a:spcPts val="1050"/>
              </a:spcAft>
              <a:defRPr sz="2100" b="0">
                <a:solidFill>
                  <a:srgbClr val="94A3B8"/>
                </a:solidFill>
                <a:latin typeface="Inter"/>
              </a:defRPr>
            </a:pPr>
            <a:r>
              <a:t>a framework, ask one question.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709920"/>
            <a:ext cx="8823960" cy="1645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5709920"/>
            <a:ext cx="50800" cy="16459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7920" y="6014720"/>
            <a:ext cx="8011160" cy="103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2D3EE"/>
                </a:solidFill>
                <a:latin typeface="Inter Tight"/>
              </a:defRPr>
            </a:pPr>
            <a:r>
              <a:t>"Does a simple script</a:t>
            </a:r>
            <a:br/>
            <a:r>
              <a:t>solve this?"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7863840"/>
            <a:ext cx="8823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8FAFC"/>
                </a:solidFill>
                <a:latin typeface="Inter Tight"/>
              </a:defRPr>
            </a:pPr>
            <a:r>
              <a:t>If yes, you're done. Ship it.</a:t>
            </a:r>
          </a:p>
        </p:txBody>
      </p:sp>
      <p:sp>
        <p:nvSpPr>
          <p:cNvPr id="15" name="Oval 14"/>
          <p:cNvSpPr/>
          <p:nvPr/>
        </p:nvSpPr>
        <p:spPr>
          <a:xfrm>
            <a:off x="4165600" y="1224915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70400" y="1224915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775200" y="12249150"/>
            <a:ext cx="127000" cy="1270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080000" y="1224915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384800" y="1224915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89600" y="1224915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994400" y="1224915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de-terminal_07_5468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0F172A">
              <a:alpha val="6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55600"/>
            <a:ext cx="2286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94A3B8"/>
                </a:solidFill>
                <a:latin typeface="Inter"/>
              </a:defRPr>
            </a:pPr>
            <a:r>
              <a:t>JUNE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29100" y="355600"/>
            <a:ext cx="2286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94A3B8"/>
                </a:solidFill>
                <a:latin typeface="Inter"/>
              </a:defRPr>
            </a:pPr>
            <a:r>
              <a:t>@SIMONSCRAPES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69480" y="355600"/>
            <a:ext cx="2286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94A3B8"/>
                </a:solidFill>
                <a:latin typeface="Inter"/>
              </a:defRPr>
            </a:pPr>
            <a:r>
              <a:t>WEB SCRAPING &amp; AUTOMATION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05840"/>
            <a:ext cx="8823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0" b="1">
                <a:solidFill>
                  <a:srgbClr val="1E293B"/>
                </a:solidFill>
                <a:latin typeface="Inter Tight"/>
              </a:defRPr>
            </a:pPr>
            <a: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560320"/>
            <a:ext cx="548640" cy="635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966720"/>
            <a:ext cx="8823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8FAFC"/>
                </a:solidFill>
                <a:latin typeface="Inter Tight"/>
              </a:defRPr>
            </a:pPr>
            <a:r>
              <a:t>What Simple Looks Like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81120"/>
            <a:ext cx="8823960" cy="457200"/>
          </a:xfrm>
          <a:prstGeom prst="roundRect">
            <a:avLst/>
          </a:prstGeom>
          <a:solidFill>
            <a:srgbClr val="162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34720" y="4033520"/>
            <a:ext cx="127000" cy="1270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63320" y="4033520"/>
            <a:ext cx="127000" cy="1270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1920" y="4033520"/>
            <a:ext cx="127000" cy="127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4338320"/>
            <a:ext cx="8823960" cy="33832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338320"/>
            <a:ext cx="38100" cy="338328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36320" y="4592320"/>
            <a:ext cx="8214360" cy="2875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20"/>
              </a:spcAft>
              <a:defRPr sz="1700" b="0">
                <a:solidFill>
                  <a:srgbClr val="F8FAFC"/>
                </a:solidFill>
                <a:latin typeface="JetBrains Mono"/>
              </a:defRPr>
            </a:pPr>
            <a:r>
              <a:t>import requests</a:t>
            </a:r>
          </a:p>
          <a:p>
            <a:pPr>
              <a:spcAft>
                <a:spcPts val="1020"/>
              </a:spcAft>
              <a:defRPr sz="1700" b="0">
                <a:solidFill>
                  <a:srgbClr val="F8FAFC"/>
                </a:solidFill>
                <a:latin typeface="JetBrains Mono"/>
              </a:defRPr>
            </a:pPr>
            <a:r>
              <a:t>from bs4 import BeautifulSoup</a:t>
            </a:r>
          </a:p>
          <a:p>
            <a:pPr>
              <a:spcAft>
                <a:spcPts val="1020"/>
              </a:spcAft>
              <a:defRPr sz="1700" b="0">
                <a:solidFill>
                  <a:srgbClr val="F8FAFC"/>
                </a:solidFill>
                <a:latin typeface="JetBrains Mono"/>
              </a:defRPr>
            </a:pPr>
          </a:p>
          <a:p>
            <a:pPr>
              <a:spcAft>
                <a:spcPts val="1020"/>
              </a:spcAft>
              <a:defRPr sz="1700" b="0">
                <a:solidFill>
                  <a:srgbClr val="F8FAFC"/>
                </a:solidFill>
                <a:latin typeface="JetBrains Mono"/>
              </a:defRPr>
            </a:pPr>
            <a:r>
              <a:t>page = requests.get(</a:t>
            </a:r>
          </a:p>
          <a:p>
            <a:pPr>
              <a:spcAft>
                <a:spcPts val="1020"/>
              </a:spcAft>
              <a:defRPr sz="1700" b="0">
                <a:solidFill>
                  <a:srgbClr val="F8FAFC"/>
                </a:solidFill>
                <a:latin typeface="JetBrains Mono"/>
              </a:defRPr>
            </a:pPr>
            <a:r>
              <a:t>    "https://example.com/prices")</a:t>
            </a:r>
          </a:p>
          <a:p>
            <a:pPr>
              <a:spcAft>
                <a:spcPts val="1020"/>
              </a:spcAft>
              <a:defRPr sz="1700" b="0">
                <a:solidFill>
                  <a:srgbClr val="F8FAFC"/>
                </a:solidFill>
                <a:latin typeface="JetBrains Mono"/>
              </a:defRPr>
            </a:pPr>
            <a:r>
              <a:t>prices = [t.text for t in</a:t>
            </a:r>
          </a:p>
          <a:p>
            <a:pPr>
              <a:spcAft>
                <a:spcPts val="1020"/>
              </a:spcAft>
              <a:defRPr sz="1700" b="0">
                <a:solidFill>
                  <a:srgbClr val="F8FAFC"/>
                </a:solidFill>
                <a:latin typeface="JetBrains Mono"/>
              </a:defRPr>
            </a:pPr>
            <a:r>
              <a:t>    BeautifulSoup(page.text)</a:t>
            </a:r>
          </a:p>
          <a:p>
            <a:pPr>
              <a:spcAft>
                <a:spcPts val="1020"/>
              </a:spcAft>
              <a:defRPr sz="1700" b="0">
                <a:solidFill>
                  <a:srgbClr val="F8FAFC"/>
                </a:solidFill>
                <a:latin typeface="JetBrains Mono"/>
              </a:defRPr>
            </a:pPr>
            <a:r>
              <a:t>    .select(".price")]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8026400"/>
            <a:ext cx="8823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99"/>
              </a:spcAft>
              <a:defRPr sz="2000" b="0">
                <a:solidFill>
                  <a:srgbClr val="94A3B8"/>
                </a:solidFill>
                <a:latin typeface="Inter"/>
              </a:defRPr>
            </a:pPr>
            <a:r>
              <a:t>Four lines. Runs anywhere.</a:t>
            </a:r>
          </a:p>
          <a:p>
            <a:pPr>
              <a:spcAft>
                <a:spcPts val="799"/>
              </a:spcAft>
              <a:defRPr sz="2000" b="0">
                <a:solidFill>
                  <a:srgbClr val="94A3B8"/>
                </a:solidFill>
                <a:latin typeface="Inter"/>
              </a:defRPr>
            </a:pPr>
            <a:r>
              <a:t>No framework required.</a:t>
            </a:r>
          </a:p>
        </p:txBody>
      </p:sp>
      <p:sp>
        <p:nvSpPr>
          <p:cNvPr id="18" name="Oval 17"/>
          <p:cNvSpPr/>
          <p:nvPr/>
        </p:nvSpPr>
        <p:spPr>
          <a:xfrm>
            <a:off x="4165600" y="1224915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70400" y="1224915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775200" y="1224915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080000" y="12249150"/>
            <a:ext cx="127000" cy="1270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384800" y="1224915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89600" y="1224915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994400" y="1224915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rk-tech_09_1833764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0F172A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55600"/>
            <a:ext cx="2286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94A3B8"/>
                </a:solidFill>
                <a:latin typeface="Inter"/>
              </a:defRPr>
            </a:pPr>
            <a:r>
              <a:t>JUNE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29100" y="355600"/>
            <a:ext cx="2286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94A3B8"/>
                </a:solidFill>
                <a:latin typeface="Inter"/>
              </a:defRPr>
            </a:pPr>
            <a:r>
              <a:t>@SIMONSCRAPES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69480" y="355600"/>
            <a:ext cx="2286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94A3B8"/>
                </a:solidFill>
                <a:latin typeface="Inter"/>
              </a:defRPr>
            </a:pPr>
            <a:r>
              <a:t>WEB SCRAPING &amp; AUTOMATION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05840"/>
            <a:ext cx="8823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0" b="1">
                <a:solidFill>
                  <a:srgbClr val="1E293B"/>
                </a:solidFill>
                <a:latin typeface="Inter Tight"/>
              </a:defRPr>
            </a:pPr>
            <a: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560320"/>
            <a:ext cx="548640" cy="635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966720"/>
            <a:ext cx="8823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8FAFC"/>
                </a:solidFill>
                <a:latin typeface="Inter Tight"/>
              </a:defRPr>
            </a:pPr>
            <a:r>
              <a:t>The Framework Trap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81120"/>
            <a:ext cx="4284980" cy="4114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5520" y="4084320"/>
            <a:ext cx="377698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F4444"/>
                </a:solidFill>
                <a:latin typeface="Inter Tight"/>
              </a:defRPr>
            </a:pPr>
            <a:r>
              <a:t>THE TRAP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5520" y="4592320"/>
            <a:ext cx="37769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79"/>
              </a:spcAft>
              <a:defRPr sz="1700" b="0">
                <a:solidFill>
                  <a:srgbClr val="94A3B8"/>
                </a:solidFill>
                <a:latin typeface="Inter"/>
              </a:defRPr>
            </a:pPr>
            <a:r>
              <a:t>Pick a framework first</a:t>
            </a:r>
          </a:p>
          <a:p>
            <a:pPr>
              <a:spcAft>
                <a:spcPts val="679"/>
              </a:spcAft>
              <a:defRPr sz="1700" b="0">
                <a:solidFill>
                  <a:srgbClr val="94A3B8"/>
                </a:solidFill>
                <a:latin typeface="Inter"/>
              </a:defRPr>
            </a:pPr>
          </a:p>
          <a:p>
            <a:pPr>
              <a:spcAft>
                <a:spcPts val="679"/>
              </a:spcAft>
              <a:defRPr sz="1700" b="0">
                <a:solidFill>
                  <a:srgbClr val="94A3B8"/>
                </a:solidFill>
                <a:latin typeface="Inter"/>
              </a:defRPr>
            </a:pPr>
            <a:r>
              <a:t>Spend weeks on</a:t>
            </a:r>
          </a:p>
          <a:p>
            <a:pPr>
              <a:spcAft>
                <a:spcPts val="679"/>
              </a:spcAft>
              <a:defRPr sz="1700" b="0">
                <a:solidFill>
                  <a:srgbClr val="94A3B8"/>
                </a:solidFill>
                <a:latin typeface="Inter"/>
              </a:defRPr>
            </a:pPr>
            <a:r>
              <a:t>infrastructure</a:t>
            </a:r>
          </a:p>
          <a:p>
            <a:pPr>
              <a:spcAft>
                <a:spcPts val="679"/>
              </a:spcAft>
              <a:defRPr sz="1700" b="0">
                <a:solidFill>
                  <a:srgbClr val="94A3B8"/>
                </a:solidFill>
                <a:latin typeface="Inter"/>
              </a:defRPr>
            </a:pPr>
          </a:p>
          <a:p>
            <a:pPr>
              <a:spcAft>
                <a:spcPts val="679"/>
              </a:spcAft>
              <a:defRPr sz="1700" b="0">
                <a:solidFill>
                  <a:srgbClr val="94A3B8"/>
                </a:solidFill>
                <a:latin typeface="Inter"/>
              </a:defRPr>
            </a:pPr>
            <a:r>
              <a:t>Over-architect for</a:t>
            </a:r>
          </a:p>
          <a:p>
            <a:pPr>
              <a:spcAft>
                <a:spcPts val="679"/>
              </a:spcAft>
              <a:defRPr sz="1700" b="0">
                <a:solidFill>
                  <a:srgbClr val="94A3B8"/>
                </a:solidFill>
                <a:latin typeface="Inter"/>
              </a:defRPr>
            </a:pPr>
            <a:r>
              <a:t>"future scale"</a:t>
            </a:r>
          </a:p>
          <a:p>
            <a:pPr>
              <a:spcAft>
                <a:spcPts val="679"/>
              </a:spcAft>
              <a:defRPr sz="1700" b="0">
                <a:solidFill>
                  <a:srgbClr val="94A3B8"/>
                </a:solidFill>
                <a:latin typeface="Inter"/>
              </a:defRPr>
            </a:pPr>
          </a:p>
          <a:p>
            <a:pPr>
              <a:spcAft>
                <a:spcPts val="679"/>
              </a:spcAft>
              <a:defRPr sz="1700" b="0">
                <a:solidFill>
                  <a:srgbClr val="94A3B8"/>
                </a:solidFill>
                <a:latin typeface="Inter"/>
              </a:defRPr>
            </a:pPr>
            <a:r>
              <a:t>Never actually ship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70500" y="3881120"/>
            <a:ext cx="4284980" cy="4114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70500" y="3881120"/>
            <a:ext cx="428498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24500" y="4084320"/>
            <a:ext cx="377698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2D3EE"/>
                </a:solidFill>
                <a:latin typeface="Inter Tight"/>
              </a:defRPr>
            </a:pPr>
            <a:r>
              <a:t>THE FIX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24500" y="4592320"/>
            <a:ext cx="37769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79"/>
              </a:spcAft>
              <a:defRPr sz="1700" b="0">
                <a:solidFill>
                  <a:srgbClr val="F8FAFC"/>
                </a:solidFill>
                <a:latin typeface="Inter"/>
              </a:defRPr>
            </a:pPr>
            <a:r>
              <a:t>Start with a script</a:t>
            </a:r>
          </a:p>
          <a:p>
            <a:pPr>
              <a:spcAft>
                <a:spcPts val="679"/>
              </a:spcAft>
              <a:defRPr sz="1700" b="0">
                <a:solidFill>
                  <a:srgbClr val="F8FAFC"/>
                </a:solidFill>
                <a:latin typeface="Inter"/>
              </a:defRPr>
            </a:pPr>
          </a:p>
          <a:p>
            <a:pPr>
              <a:spcAft>
                <a:spcPts val="679"/>
              </a:spcAft>
              <a:defRPr sz="1700" b="0">
                <a:solidFill>
                  <a:srgbClr val="F8FAFC"/>
                </a:solidFill>
                <a:latin typeface="Inter"/>
              </a:defRPr>
            </a:pPr>
            <a:r>
              <a:t>Solve the actual</a:t>
            </a:r>
          </a:p>
          <a:p>
            <a:pPr>
              <a:spcAft>
                <a:spcPts val="679"/>
              </a:spcAft>
              <a:defRPr sz="1700" b="0">
                <a:solidFill>
                  <a:srgbClr val="F8FAFC"/>
                </a:solidFill>
                <a:latin typeface="Inter"/>
              </a:defRPr>
            </a:pPr>
            <a:r>
              <a:t>problem first</a:t>
            </a:r>
          </a:p>
          <a:p>
            <a:pPr>
              <a:spcAft>
                <a:spcPts val="679"/>
              </a:spcAft>
              <a:defRPr sz="1700" b="0">
                <a:solidFill>
                  <a:srgbClr val="F8FAFC"/>
                </a:solidFill>
                <a:latin typeface="Inter"/>
              </a:defRPr>
            </a:pPr>
          </a:p>
          <a:p>
            <a:pPr>
              <a:spcAft>
                <a:spcPts val="679"/>
              </a:spcAft>
              <a:defRPr sz="1700" b="0">
                <a:solidFill>
                  <a:srgbClr val="F8FAFC"/>
                </a:solidFill>
                <a:latin typeface="Inter"/>
              </a:defRPr>
            </a:pPr>
            <a:r>
              <a:t>Add structure only</a:t>
            </a:r>
          </a:p>
          <a:p>
            <a:pPr>
              <a:spcAft>
                <a:spcPts val="679"/>
              </a:spcAft>
              <a:defRPr sz="1700" b="0">
                <a:solidFill>
                  <a:srgbClr val="F8FAFC"/>
                </a:solidFill>
                <a:latin typeface="Inter"/>
              </a:defRPr>
            </a:pPr>
            <a:r>
              <a:t>when it breaks</a:t>
            </a:r>
          </a:p>
          <a:p>
            <a:pPr>
              <a:spcAft>
                <a:spcPts val="679"/>
              </a:spcAft>
              <a:defRPr sz="1700" b="0">
                <a:solidFill>
                  <a:srgbClr val="F8FAFC"/>
                </a:solidFill>
                <a:latin typeface="Inter"/>
              </a:defRPr>
            </a:pPr>
          </a:p>
          <a:p>
            <a:pPr>
              <a:spcAft>
                <a:spcPts val="679"/>
              </a:spcAft>
              <a:defRPr sz="1700" b="0">
                <a:solidFill>
                  <a:srgbClr val="F8FAFC"/>
                </a:solidFill>
                <a:latin typeface="Inter"/>
              </a:defRPr>
            </a:pPr>
            <a:r>
              <a:t>Ship today</a:t>
            </a:r>
          </a:p>
        </p:txBody>
      </p:sp>
      <p:sp>
        <p:nvSpPr>
          <p:cNvPr id="17" name="Oval 16"/>
          <p:cNvSpPr/>
          <p:nvPr/>
        </p:nvSpPr>
        <p:spPr>
          <a:xfrm>
            <a:off x="4165600" y="1224915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70400" y="1224915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75200" y="1224915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80000" y="1224915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84800" y="12249150"/>
            <a:ext cx="127000" cy="1270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89600" y="1224915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994400" y="1224915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gradients-abstract_04_698526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0F172A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55600"/>
            <a:ext cx="2286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94A3B8"/>
                </a:solidFill>
                <a:latin typeface="Inter"/>
              </a:defRPr>
            </a:pPr>
            <a:r>
              <a:t>JUNE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29100" y="355600"/>
            <a:ext cx="2286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94A3B8"/>
                </a:solidFill>
                <a:latin typeface="Inter"/>
              </a:defRPr>
            </a:pPr>
            <a:r>
              <a:t>@SIMONSCRAPES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69480" y="355600"/>
            <a:ext cx="2286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94A3B8"/>
                </a:solidFill>
                <a:latin typeface="Inter"/>
              </a:defRPr>
            </a:pPr>
            <a:r>
              <a:t>WEB SCRAPING &amp; AUTOMATION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05840"/>
            <a:ext cx="8823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0" b="1">
                <a:solidFill>
                  <a:srgbClr val="1E293B"/>
                </a:solidFill>
                <a:latin typeface="Inter Tight"/>
              </a:defRPr>
            </a:pPr>
            <a: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560320"/>
            <a:ext cx="548640" cy="635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966720"/>
            <a:ext cx="8823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8FAFC"/>
                </a:solidFill>
                <a:latin typeface="Inter Tight"/>
              </a:defRPr>
            </a:pPr>
            <a:r>
              <a:t>Dead Simple 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64000"/>
            <a:ext cx="8823960" cy="1397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5520" y="4368800"/>
            <a:ext cx="660400" cy="6604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5520" y="4445000"/>
            <a:ext cx="6604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F172A"/>
                </a:solidFill>
                <a:latin typeface="Inter Tight"/>
              </a:defRPr>
            </a:pPr>
            <a: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9120" y="4419600"/>
            <a:ext cx="7299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8FAFC"/>
                </a:solidFill>
                <a:latin typeface="Inter"/>
              </a:defRPr>
            </a:pPr>
            <a:r>
              <a:t>Does it run?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715000"/>
            <a:ext cx="8823960" cy="1397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85520" y="6019800"/>
            <a:ext cx="660400" cy="6604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5520" y="6096000"/>
            <a:ext cx="6604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F172A"/>
                </a:solidFill>
                <a:latin typeface="Inter Tight"/>
              </a:defRPr>
            </a:pPr>
            <a: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9120" y="6070600"/>
            <a:ext cx="7299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8FAFC"/>
                </a:solidFill>
                <a:latin typeface="Inter"/>
              </a:defRPr>
            </a:pPr>
            <a:r>
              <a:t>Does it save someone time?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7366000"/>
            <a:ext cx="8823960" cy="1397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85520" y="7670800"/>
            <a:ext cx="660400" cy="6604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5520" y="7747000"/>
            <a:ext cx="6604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F172A"/>
                </a:solidFill>
                <a:latin typeface="Inter Tight"/>
              </a:defRPr>
            </a:pPr>
            <a: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49120" y="7721600"/>
            <a:ext cx="7299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8FAFC"/>
                </a:solidFill>
                <a:latin typeface="Inter"/>
              </a:defRPr>
            </a:pPr>
            <a:r>
              <a:t>Can you explain it</a:t>
            </a:r>
            <a:br/>
            <a:r>
              <a:t>in one sentence?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9525000"/>
            <a:ext cx="8823960" cy="762000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9677400"/>
            <a:ext cx="882396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F172A"/>
                </a:solidFill>
                <a:latin typeface="Inter Tight"/>
              </a:defRPr>
            </a:pPr>
            <a:r>
              <a:t>If yes to all three — ship it. Stop adding things.</a:t>
            </a:r>
          </a:p>
        </p:txBody>
      </p:sp>
      <p:sp>
        <p:nvSpPr>
          <p:cNvPr id="24" name="Oval 23"/>
          <p:cNvSpPr/>
          <p:nvPr/>
        </p:nvSpPr>
        <p:spPr>
          <a:xfrm>
            <a:off x="4165600" y="1224915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70400" y="1224915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775200" y="1224915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080000" y="1224915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384800" y="1224915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689600" y="12249150"/>
            <a:ext cx="127000" cy="1270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994400" y="1224915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xtures_06_33987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0F172A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55600"/>
            <a:ext cx="2286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94A3B8"/>
                </a:solidFill>
                <a:latin typeface="Inter"/>
              </a:defRPr>
            </a:pPr>
            <a:r>
              <a:t>JUNE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29100" y="355600"/>
            <a:ext cx="2286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94A3B8"/>
                </a:solidFill>
                <a:latin typeface="Inter"/>
              </a:defRPr>
            </a:pPr>
            <a:r>
              <a:t>@SIMONSCRAPES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69480" y="355600"/>
            <a:ext cx="2286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94A3B8"/>
                </a:solidFill>
                <a:latin typeface="Inter"/>
              </a:defRPr>
            </a:pPr>
            <a:r>
              <a:t>WEB SCRAPING &amp; AUTOMATION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743200"/>
            <a:ext cx="914400" cy="635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251200"/>
            <a:ext cx="8823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600" b="1">
                <a:solidFill>
                  <a:srgbClr val="22D3EE"/>
                </a:solidFill>
                <a:latin typeface="Inter Tight"/>
              </a:defRPr>
            </a:pPr>
            <a:r>
              <a:t>The best scraper</a:t>
            </a:r>
            <a:br/>
            <a:r>
              <a:t>is the one that</a:t>
            </a:r>
            <a:br/>
            <a:r>
              <a:t>actually runs.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94400"/>
            <a:ext cx="8823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94A3B8"/>
                </a:solidFill>
                <a:latin typeface="Inter"/>
              </a:defRPr>
            </a:pPr>
            <a:r>
              <a:t>Not the one with the cleanest architecture,</a:t>
            </a:r>
          </a:p>
          <a:p>
            <a:pPr>
              <a:spcAft>
                <a:spcPts val="1000"/>
              </a:spcAft>
              <a:defRPr sz="2000" b="0">
                <a:solidFill>
                  <a:srgbClr val="94A3B8"/>
                </a:solidFill>
                <a:latin typeface="Inter"/>
              </a:defRPr>
            </a:pPr>
            <a:r>
              <a:t>the most tests, or the fanciest dashboard.</a:t>
            </a:r>
          </a:p>
          <a:p>
            <a:pPr>
              <a:spcAft>
                <a:spcPts val="1000"/>
              </a:spcAft>
              <a:defRPr sz="2000" b="0">
                <a:solidFill>
                  <a:srgbClr val="94A3B8"/>
                </a:solidFill>
                <a:latin typeface="Inter"/>
              </a:defRPr>
            </a:pPr>
          </a:p>
          <a:p>
            <a:pPr>
              <a:spcAft>
                <a:spcPts val="1000"/>
              </a:spcAft>
              <a:defRPr sz="2000" b="0">
                <a:solidFill>
                  <a:srgbClr val="94A3B8"/>
                </a:solidFill>
                <a:latin typeface="Inter"/>
              </a:defRPr>
            </a:pPr>
            <a:r>
              <a:t>The one that runs. That's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8006080"/>
            <a:ext cx="5943600" cy="127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8260080"/>
            <a:ext cx="8823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8FAFC"/>
                </a:solidFill>
                <a:latin typeface="Inter Tight"/>
              </a:defRPr>
            </a:pPr>
            <a:r>
              <a:t>@simonscrapes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8666480"/>
            <a:ext cx="8823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Inter"/>
              </a:defRPr>
            </a:pPr>
            <a:r>
              <a:t>web scraping &amp; automation</a:t>
            </a:r>
          </a:p>
        </p:txBody>
      </p:sp>
      <p:sp>
        <p:nvSpPr>
          <p:cNvPr id="13" name="Oval 12"/>
          <p:cNvSpPr/>
          <p:nvPr/>
        </p:nvSpPr>
        <p:spPr>
          <a:xfrm>
            <a:off x="4165600" y="1224915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470400" y="1224915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775200" y="1224915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080000" y="1224915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384800" y="1224915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89600" y="1224915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994400" y="12249150"/>
            <a:ext cx="127000" cy="1270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