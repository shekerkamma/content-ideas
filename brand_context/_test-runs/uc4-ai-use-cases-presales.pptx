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27103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PRE-SALES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600" b="1" i="0">
                <a:solidFill>
                  <a:srgbClr val="FFFFFF"/>
                </a:solidFill>
                <a:latin typeface="Calibri"/>
              </a:rPr>
              <a:t>AI Use Cases That Actually 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5B6B7C"/>
                </a:solidFill>
                <a:latin typeface="Calibri"/>
              </a:rPr>
              <a:t>18 Production Deployments · 8 Industries · Named Companies · Verified Numbers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1920240" cy="1005840"/>
          </a:xfrm>
          <a:prstGeom prst="roundRect">
            <a:avLst>
              <a:gd name="adj" fmla="val 3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94208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008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Industries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840480"/>
            <a:ext cx="1920240" cy="1005840"/>
          </a:xfrm>
          <a:prstGeom prst="roundRect">
            <a:avLst>
              <a:gd name="adj" fmla="val 3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394208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5008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Use Cases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3840480"/>
            <a:ext cx="1920240" cy="1005840"/>
          </a:xfrm>
          <a:prstGeom prst="roundRect">
            <a:avLst>
              <a:gd name="adj" fmla="val 3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94208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73%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5008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Avg Efficiency Gain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19" y="3840480"/>
            <a:ext cx="1920240" cy="1005840"/>
          </a:xfrm>
          <a:prstGeom prst="roundRect">
            <a:avLst>
              <a:gd name="adj" fmla="val 3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19" y="394208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6 wk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19" y="45008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Median ROI 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035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1">
                <a:solidFill>
                  <a:srgbClr val="E0F7F1"/>
                </a:solidFill>
                <a:latin typeface="Calibri"/>
              </a:rPr>
              <a:t>Real numbers. Real stacks. No "transformational AI" nonsense.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5B6B7C"/>
                </a:solidFill>
                <a:latin typeface="Calibri"/>
              </a:rPr>
              <a:t>{{brand_name}}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4368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UC-01 | Financial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74368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TD Bank — Mortgage Application Processing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828800" cy="274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96112"/>
            <a:ext cx="13716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Mortgage applications require 15+ hours of manual document review per case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Cross-referencing borrower docs (IDs, bank statements, income proof) is error-prone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Hundreds of thousands of applications annually — scale demands automation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LLMs hallucinate on arithmetic tasks (annualizing income from pay stubs)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896112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HOW IT'S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078992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Agentic AI reads entire borrower document packages and extracts structured data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Deterministic rules-based tools handle all arithmetic (not the LLM)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Cross-references fields across documents, flags inconsistencies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Human adjudicator signs off on every credit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15hrs →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Processing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7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$826M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2025 Origination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Day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Risk/Compliance Built 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1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Jan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1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1546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337560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Document ingestion → OCR/NLP extraction → Field cross-reference → Inconsistency flagging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Arithmetic operations routed to deterministic tools (not LLM) → Credit summary generated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Human adjudicator reviews summary → Approves/rejects with full 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0690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THE ACTUAL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251960"/>
            <a:ext cx="7436815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1">
                <a:solidFill>
                  <a:srgbClr val="0A1628"/>
                </a:solidFill>
                <a:latin typeface="Calibri"/>
              </a:rPr>
              <a:t>They didn't let the LLM do math. Deterministic tools for arithmetic, LLM for document reading. One use case done right before expanding. Dead simple discipline.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983480"/>
            <a:ext cx="7619695" cy="6858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020056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Foundation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Layer 6 + Claude + GPT (selective)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7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Arithmetic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7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Rules-based deterministic tools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Governance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TD Trustworthy AI framework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1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1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Core banking API pipeline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760720"/>
            <a:ext cx="3657600" cy="2926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79882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FFFFFF"/>
                </a:solidFill>
                <a:latin typeface="Calibri"/>
              </a:rPr>
              <a:t>SYSTEMS: Core Banking  |  Doc Mgmt  |  Credit Bureau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5760720"/>
            <a:ext cx="3657600" cy="292608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579882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FFFFFF"/>
                </a:solidFill>
                <a:latin typeface="Calibri"/>
              </a:rPr>
              <a:t>USERS: Mortgage underwriters, credit adjudicators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26480"/>
            <a:ext cx="74368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1">
                <a:solidFill>
                  <a:srgbClr val="009B82"/>
                </a:solidFill>
                <a:latin typeface="Calibri"/>
              </a:rPr>
              <a:t>Source: American Banker, May 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1215" y="27432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FINANCIAL SERVICES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4368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UC-02 | Healthcare &amp; Life 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74368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Tampa General Hospital — AI Sepsis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828800" cy="274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96112"/>
            <a:ext cx="13716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Sepsis kills 270,000+ Americans annually — early detection is the intervention window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Vital sign deterioration patterns are subtle, easily missed in busy wards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Manual monitoring can't scale across hundreds of patients simultaneously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Delayed detection = exponentially worse outcomes (every hour matters)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896112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HOW IT'S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078992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AI-driven care coordination center integrates real-time EHR signals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Predictive models detect early sepsis indicators from vital patterns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Automated alerts trigger care coordination: intervention, bed allocation, discharge timing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Same platform extends to throughput optimization (equivalent to adding beds)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700+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Lives Saved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7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37 beds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Capacity Equivalent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Length of Stay Reduction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1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24/7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1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Real-time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1546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337560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EHR data streams → ML models score vital deterioration patterns → Risk threshold triggers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High-risk alerts routed to care coordination team → Intervention protocol initiated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Same data layer feeds throughput optimization: discharge timing, bed allocation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0690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THE ACTUAL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251960"/>
            <a:ext cx="7436815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1">
                <a:solidFill>
                  <a:srgbClr val="0A1628"/>
                </a:solidFill>
                <a:latin typeface="Calibri"/>
              </a:rPr>
              <a:t>Nobody asked the AI to diagnose anything. It detects deterioration patterns and sorts the priority list. The care team still decides. But 700 people walked out who otherwise wouldn't have.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983480"/>
            <a:ext cx="7619695" cy="6858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020056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Palantir AIP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7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7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Real-time EHR signals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ML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Vital pattern predictors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1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1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HL7/FHIR workflows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760720"/>
            <a:ext cx="3657600" cy="2926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79882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FFFFFF"/>
                </a:solidFill>
                <a:latin typeface="Calibri"/>
              </a:rPr>
              <a:t>SYSTEMS: EHR  |  PACS  |  Nursing Station  |  Bed Mgmt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5760720"/>
            <a:ext cx="3657600" cy="292608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579882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FFFFFF"/>
                </a:solidFill>
                <a:latin typeface="Calibri"/>
              </a:rPr>
              <a:t>USERS: Care coordinators, hospitalists, nursing staff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26480"/>
            <a:ext cx="74368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1">
                <a:solidFill>
                  <a:srgbClr val="009B82"/>
                </a:solidFill>
                <a:latin typeface="Calibri"/>
              </a:rPr>
              <a:t>Source: Becker's Hospital Review, December 2025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1215" y="27432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HEALTHCARE &amp; LIFE SCIENCES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4368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UC-03 | Manufacturing &amp; Industrial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74368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Unilever Indaiatuba — Predictive Maintenance at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828800" cy="274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96112"/>
            <a:ext cx="13716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8.2% unplanned downtime across compressors, HVAC, packaging lines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$5.1M annual maintenance baseline — reactive repairs are expensive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Traditional scheduled maintenance misses 40%+ of actual failure patterns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Technician trust in automated predictions is the real deployment barrier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896112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HOW IT'S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078992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50,000+ IoT sensors feed time-series data to Amazon SageMaker models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Anomaly detection predicts failures 14-28 days in advance at 92% accuracy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Auto-generates work orders with equipment ID, failure type, time-to-failure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6-month technician trust-building phase with feedback loops for model improvement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$2.3M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Annual Savings (45%)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7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4.9%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Downtime (was 8.2%)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85%+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OEE (#1 Global)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1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6.5 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1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Payback Period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1546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337560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50K sensors → SageMaker processes vibration/temp/pressure time-series → Anomaly scoring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Score &gt; threshold → Auto work order (equipment, failure type, predicted date) → CMMS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Technician validates → Feedback loop improves model → 6-month trust 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0690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THE ACTUAL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251960"/>
            <a:ext cx="7436815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1">
                <a:solidFill>
                  <a:srgbClr val="0A1628"/>
                </a:solidFill>
                <a:latin typeface="Calibri"/>
              </a:rPr>
              <a:t>3 years of labeled failure data eliminated the data-collection phase that kills most mfg AI. Started with the 12 machines causing 80% of downtime. But the thing nobody talks about: the model was technically ready before the humans were. Trust took 6 months.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983480"/>
            <a:ext cx="7619695" cy="6858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020056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ML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Amazon SageMaker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7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7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50K+ IoT sensors (OPC-UA)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Unilever Mfg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1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Expansion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1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7+ sites by Q4 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760720"/>
            <a:ext cx="3657600" cy="2926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79882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FFFFFF"/>
                </a:solidFill>
                <a:latin typeface="Calibri"/>
              </a:rPr>
              <a:t>SYSTEMS: SCADA  |  CMMS  |  MES  |  ERP (SAP PM)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5760720"/>
            <a:ext cx="3657600" cy="292608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579882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FFFFFF"/>
                </a:solidFill>
                <a:latin typeface="Calibri"/>
              </a:rPr>
              <a:t>USERS: Maintenance technicians, plant engineers, reliability managers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26480"/>
            <a:ext cx="74368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1">
                <a:solidFill>
                  <a:srgbClr val="009B82"/>
                </a:solidFill>
                <a:latin typeface="Calibri"/>
              </a:rPr>
              <a:t>Source: NSSG Insights, March 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1215" y="27432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MANUFACTURING &amp; INDUSTRIAL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4368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UC-04 | Retail &amp; E-commerce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74368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Galeries Lafayette — AI-Powered Search &amp; Personalization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828800" cy="274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96112"/>
            <a:ext cx="13716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Legacy search failing at 600K product catalog scale (350K from marketplace)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One-size-fits-all ranking ignores individual visitor behavior and intent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Merchandising teams need category-level control — can't hand everything to AI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Search conversion directly impacts revenue across 20% YoY growth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896112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HOW IT'S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078992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Google Vertex AI Search for Commerce replaces legacy search stack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Real-time personalized ranking per visitor via behavioral signals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Grid Dynamics MXP gives merchandisers override controls per category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Hybrid model: AI handles individual ranking, humans control brand positioning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+7%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Total Revenue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7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+8%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Basket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+20%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Online Sales YoY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1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600K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1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Products Ranked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1546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337560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Visitor arrives → Behavioral signals scored → Personalized ranking generated per session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Merchandising Studio applies category rules → AI respects brand positioning constraints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Real-time inventory/pricing feeds ensure availability accuracy across 600K SKUs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0690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THE ACTUAL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251960"/>
            <a:ext cx="7436815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1">
                <a:solidFill>
                  <a:srgbClr val="0A1628"/>
                </a:solidFill>
                <a:latin typeface="Calibri"/>
              </a:rPr>
              <a:t>Purely autonomous AI would have been blocked by merchandising teams. Give humans the override, they'll trust the system. The hybrid model drove adoption. That's the lesson most AI projects miss.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983480"/>
            <a:ext cx="7619695" cy="6858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020056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Search/Rank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Vertex AI Search for Commerce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7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Merch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7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Grid Dynamics MXP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Real-time inventory + pricing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1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Personalization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1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Session + behavioral signals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760720"/>
            <a:ext cx="3657600" cy="2926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79882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FFFFFF"/>
                </a:solidFill>
                <a:latin typeface="Calibri"/>
              </a:rPr>
              <a:t>SYSTEMS: E-commerce Platform  |  PIM  |  Marketplace Feed  |  WMS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5760720"/>
            <a:ext cx="3657600" cy="292608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579882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FFFFFF"/>
                </a:solidFill>
                <a:latin typeface="Calibri"/>
              </a:rPr>
              <a:t>USERS: Online shoppers, merchandising team, category managers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26480"/>
            <a:ext cx="74368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1">
                <a:solidFill>
                  <a:srgbClr val="009B82"/>
                </a:solidFill>
                <a:latin typeface="Calibri"/>
              </a:rPr>
              <a:t>Source: Business Wire, April 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1215" y="27432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RETAIL &amp; E-COMMERCE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4368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UC-05 | Logistics &amp; Supply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74368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C.H. Robinson — Lean AI Operating System (30+ Agents)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828800" cy="274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96112"/>
            <a:ext cx="13716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37M shipments/year generating 100 trillion data points — manual processing impossible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Price quoting: 17-20 minutes per quote, covering only 65% of inbound requests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Order processing: 4 hours per order from email to system entry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Freight tracking requires human phone calls — one agent captured 318K updates/month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896112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HOW IT'S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078992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30+ AI agents on proprietary 100T data points via LangChain/LangGraph orchestration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Email-to-order extraction automates 5,500 orders/day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Freight classification, quoting, scheduling, and phone-based tracking all agentic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LangSmith observability monitors agent accuracy and drift in production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32 sec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Quote Time (was 17 min)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7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Quote Coverage (was 65%)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&lt;2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Order Processing (was 4hr)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1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+40%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1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Overall Productivity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1546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337560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Email arrives → LangGraph agent extracts order fields → Validates against 100T data points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Quote agent scores pricing using proprietary demand model → Response in 32 seconds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Phone agent calls carriers for tracking updates → Captures 318K updates/month autonomously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0690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THE ACTUAL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251960"/>
            <a:ext cx="7436815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1">
                <a:solidFill>
                  <a:srgbClr val="0A1628"/>
                </a:solidFill>
                <a:latin typeface="Calibri"/>
              </a:rPr>
              <a:t>Proprietary data moat — competitors can't replicate models trained on 37M shipments/year. They mapped AI to Lean waste concepts before building. Concentrated on quote-to-cash first. Stock price doubled during an industry downturn.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983480"/>
            <a:ext cx="7619695" cy="6858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020056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LangChain + LangGraph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7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Observability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7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LangSmith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100T proprietary logistics 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1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Culture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1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Builder-first, no SaaS dep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760720"/>
            <a:ext cx="3657600" cy="2926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79882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FFFFFF"/>
                </a:solidFill>
                <a:latin typeface="Calibri"/>
              </a:rPr>
              <a:t>SYSTEMS: TMS  |  CRM  |  Carrier APIs  |  Email  |  Phone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5760720"/>
            <a:ext cx="3657600" cy="292608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579882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FFFFFF"/>
                </a:solidFill>
                <a:latin typeface="Calibri"/>
              </a:rPr>
              <a:t>USERS: Freight brokers, logistics coordinators, carrier ops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26480"/>
            <a:ext cx="74368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1">
                <a:solidFill>
                  <a:srgbClr val="009B82"/>
                </a:solidFill>
                <a:latin typeface="Calibri"/>
              </a:rPr>
              <a:t>Source: C.H. Robinson PR + The Applied, 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1215" y="27432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LOGISTICS &amp; SUPPLY CHAIN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4368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UC-06 | Energy &amp; Utilities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74368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Con Edison + C3 AI — Smart Meter Operations at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828800" cy="274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96112"/>
            <a:ext cx="13716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5.3M smart meters generating 1 petabyte/year — 13 siloed data sources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Meter deployment issues (configuration errors, installation failures) go undetected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Small anomalies multiply into large outage and billing costs at utility scale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No unified view across 13 systems — each operates independently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896112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HOW IT'S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078992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C3 AI Platform consolidates 13 data sources into unified data image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2 ML algorithms + 50 custom analytics on 180B rows of annual meter data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Real-time anomaly detection from individual meter to system-wide view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Automated flagging of deployment issues, network anomalies, performance drift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2,300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Issues Found (4 months)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7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$854M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Annual Customer Benefit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5.3M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Meters Monitored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1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13 →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1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Data Sources Unified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1546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337560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13 source systems → C3 AI unification layer → Single data image (2yr historical load)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180B rows/year → 2 ML models + 50 analytics → Anomaly scoring per meter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Flagged issues → Work order generation → Field crew dispatch with meter-specific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0690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THE ACTUAL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251960"/>
            <a:ext cx="7436815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1">
                <a:solidFill>
                  <a:srgbClr val="0A1628"/>
                </a:solidFill>
                <a:latin typeface="Calibri"/>
              </a:rPr>
              <a:t>The 13-to-1 data consolidation was the hard part. The analytics ran on top of clean, unified data. Find configuration errors early — the math is enormous at 5.3M meter scale.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983480"/>
            <a:ext cx="7619695" cy="6858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020056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C3 AI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7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Application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7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C3 AI AMI Operations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180B rows/yr, 13 sources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1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1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2 models + 50 analytics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760720"/>
            <a:ext cx="3657600" cy="2926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79882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FFFFFF"/>
                </a:solidFill>
                <a:latin typeface="Calibri"/>
              </a:rPr>
              <a:t>SYSTEMS: AMI/MDM  |  GIS  |  OMS  |  Billing  |  SCADA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5760720"/>
            <a:ext cx="3657600" cy="292608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579882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FFFFFF"/>
                </a:solidFill>
                <a:latin typeface="Calibri"/>
              </a:rPr>
              <a:t>USERS: Grid operations, field crews, customer service, planning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26480"/>
            <a:ext cx="74368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1">
                <a:solidFill>
                  <a:srgbClr val="009B82"/>
                </a:solidFill>
                <a:latin typeface="Calibri"/>
              </a:rPr>
              <a:t>Source: The Applied, May 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1215" y="27432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ENERGY &amp; UTILITIES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4368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UC-07 | Legal &amp; Professional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74368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Top-100 Law Firm — Contract Intelligence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828800" cy="274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96112"/>
            <a:ext cx="13716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Paralegal review: 40 hours per contract across 90+ clause types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M&amp;A due diligence bottlenecked by document volume (14K+ docs per deal)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300-page agreements require cross-clause reasoning that chunking breaks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Outside counsel spend growing 15% annually — need to shift work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896112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HOW IT'S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078992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Textract → Custom NER (45K training contracts) → Claude 3.5 Sonnet (200K context)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Single-pass reading of 300-page agreements — no chunking, no broken cross-references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Confidence gating: &lt;0.85 routes to human review via Amazon A2I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Kendra indexes 45K contracts for natural-language cross-contract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Review Time Reduction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7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$2.4M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Billable Hours Recaptured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99.1%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Clause Extraction Accuracy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1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41%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1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Faster M&amp;A Due Diligence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1546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337560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PDF → Textract (layout-preserving OCR) → Custom NER identifies 90+ clause types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Claude 3.5 Sonnet (200K context) → Summaries + risk flags + reasoning traces → Single pass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Confidence &lt; 0.85 → A2I routes to paralegal review → Feedback improves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0690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THE ACTUAL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251960"/>
            <a:ext cx="7436815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1">
                <a:solidFill>
                  <a:srgbClr val="0A1628"/>
                </a:solidFill>
                <a:latin typeface="Calibri"/>
              </a:rPr>
              <a:t>Lawyers weren't spending 40 hours on judgment. They spent 28 hours finding clauses and 12 on judgment. Now they spend 12 on judgment. Everyone does what they're actually good at.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983480"/>
            <a:ext cx="7619695" cy="6858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020056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OCR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Amazon Textract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7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7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SageMaker (45K contracts)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LLM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Claude 3.5 Sonnet (Bedrock)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1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1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Amazon Kendra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760720"/>
            <a:ext cx="3657600" cy="2926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79882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FFFFFF"/>
                </a:solidFill>
                <a:latin typeface="Calibri"/>
              </a:rPr>
              <a:t>SYSTEMS: iManage  |  Aderant  |  Outlook  |  CLM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5760720"/>
            <a:ext cx="3657600" cy="292608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579882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FFFFFF"/>
                </a:solidFill>
                <a:latin typeface="Calibri"/>
              </a:rPr>
              <a:t>USERS: Paralegals, associates, M&amp;A partners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26480"/>
            <a:ext cx="74368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1">
                <a:solidFill>
                  <a:srgbClr val="009B82"/>
                </a:solidFill>
                <a:latin typeface="Calibri"/>
              </a:rPr>
              <a:t>Source: DreamzTech, April 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1215" y="27432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LEGAL &amp; PROFESSIONAL SERVICES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4368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UC-08 | Real Estate &amp;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74368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DroneDeploy + Barton Malow — Construction Site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828800" cy="274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96112"/>
            <a:ext cx="13716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Manual site walks miss events and rely on superintendent's memory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Safety violations go undetected — poor incident documentation industry-wide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Progress reporting takes 2 days of manual compilation per project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Generic computer vision doesn't understand what 'installed' means per trade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896112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HOW IT'S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078992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4 AI agents: Progress, Safety, Inspection, Embodied — trained on 34M annotations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Autonomous ground robots + docked drones capture sites overnight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Morning reports show overnight progress by trade before the team arrives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750" b="0" i="0">
                <a:solidFill>
                  <a:srgbClr val="0A1628"/>
                </a:solidFill>
                <a:latin typeface="Calibri"/>
              </a:rPr>
              <a:t>•  Safety AI trained on 120K labeled examples flags conditions in real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34M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Training Annotations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7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7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+340%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Safety Violations Caught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48%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Injury Reduction (BCG)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2286000"/>
            <a:ext cx="1737360" cy="68580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19" y="233680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B800"/>
                </a:solidFill>
                <a:latin typeface="Calibri"/>
              </a:rPr>
              <a:t>3M+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19" y="2692400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FFFFFF"/>
                </a:solidFill>
                <a:latin typeface="Calibri"/>
              </a:rPr>
              <a:t>Sites in Production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1546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337560"/>
            <a:ext cx="74368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Overnight: autonomous robots + drones capture site from fixed vantage points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Morning: Progress AI generates structured report (installed work, trade progress)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0A1628"/>
                </a:solidFill>
                <a:latin typeface="Calibri"/>
              </a:rPr>
              <a:t>→ Continuous: Safety AI flags violations (PPE, guardrails) → Real-time notifications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0690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THE ACTUAL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251960"/>
            <a:ext cx="7436815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1">
                <a:solidFill>
                  <a:srgbClr val="0A1628"/>
                </a:solidFill>
                <a:latin typeface="Calibri"/>
              </a:rPr>
              <a:t>DroneDeploy's 13-year annotation corpus — 34M labeled examples across 180 countries — is the moat. The superintendent now acts on data instead of generating it. Faster decisions, fewer surprises.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983480"/>
            <a:ext cx="7619695" cy="6858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020056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Vision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34M annotation corpus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7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Capture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7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Ground robots + docked drones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Agents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Progress, Safety, Inspection, Embodied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19" y="5166360"/>
            <a:ext cx="1737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1" i="0">
                <a:solidFill>
                  <a:srgbClr val="00C9A7"/>
                </a:solidFill>
                <a:latin typeface="Calibri"/>
              </a:rPr>
              <a:t>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19" y="5330952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0" i="0">
                <a:solidFill>
                  <a:srgbClr val="FFFFFF"/>
                </a:solidFill>
                <a:latin typeface="Calibri"/>
              </a:rPr>
              <a:t>Procore, PlanGrid, BIM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760720"/>
            <a:ext cx="3657600" cy="2926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79882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FFFFFF"/>
                </a:solidFill>
                <a:latin typeface="Calibri"/>
              </a:rPr>
              <a:t>SYSTEMS: BIM  |  Procore  |  PlanGrid  |  GIS  |  ERP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5760720"/>
            <a:ext cx="3657600" cy="292608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579882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50" b="1" i="0">
                <a:solidFill>
                  <a:srgbClr val="FFFFFF"/>
                </a:solidFill>
                <a:latin typeface="Calibri"/>
              </a:rPr>
              <a:t>USERS: Superintendents, project managers, safety officers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26480"/>
            <a:ext cx="74368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1">
                <a:solidFill>
                  <a:srgbClr val="009B82"/>
                </a:solidFill>
                <a:latin typeface="Calibri"/>
              </a:rPr>
              <a:t>Source: DroneDeploy Blog, April 2026; BCG, 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1215" y="27432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REAL ESTATE &amp; CONSTRUCTION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WHAT THE WINNERS HAVE IN COMMON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841248"/>
          </a:xfrm>
          <a:prstGeom prst="roundRect">
            <a:avLst>
              <a:gd name="adj" fmla="val 2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1040" y="1498600"/>
            <a:ext cx="5080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73200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Define the number before writing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78000"/>
            <a:ext cx="1018001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TD Bank, C.H. Robinson, Unilever — every winner had a specific metric with a specific baseline before day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9152"/>
            <a:ext cx="11094415" cy="841248"/>
          </a:xfrm>
          <a:prstGeom prst="roundRect">
            <a:avLst>
              <a:gd name="adj" fmla="val 2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1040" y="2486152"/>
            <a:ext cx="5080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6075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Automate the boring part, not the judgment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65552"/>
            <a:ext cx="1018001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Every case keeps humans on decisions. AI handles extraction, matching, triage. Lawyers still decide. Underwriters still 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46704"/>
            <a:ext cx="11094415" cy="841248"/>
          </a:xfrm>
          <a:prstGeom prst="roundRect">
            <a:avLst>
              <a:gd name="adj" fmla="val 2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1040" y="3473704"/>
            <a:ext cx="5080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48304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Proprietary data is the moat, not the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53104"/>
            <a:ext cx="1018001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C.H. Robinson's 100T data points. DroneDeploy's 34M annotations. JPMorgan's 12K training contracts. Same models, different data, wildly different outcomes.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34256"/>
            <a:ext cx="11094415" cy="841248"/>
          </a:xfrm>
          <a:prstGeom prst="roundRect">
            <a:avLst>
              <a:gd name="adj" fmla="val 2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1040" y="4461256"/>
            <a:ext cx="5080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35856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Composite AI beats pure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40656"/>
            <a:ext cx="1018001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European 3PL: composite hit 92% accuracy vs. 78% pure agentic. TD Bank uses deterministic tools for arithmetic. Use the right tool for each sub-task.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2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040" y="5448808"/>
            <a:ext cx="5080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423408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Trust is a deployment phase, not a launch 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728208"/>
            <a:ext cx="1018001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Unilever: 6-month technician trust period. Macy's: progressive rollout. The model is ready before the org is. Budget time for humans to catch 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27103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914400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The best AI project is the one that actually ships.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56616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5B6B7C"/>
                </a:solidFill>
                <a:latin typeface="Calibri"/>
              </a:rPr>
              <a:t>Not the one with the cleanest architecture, the most sophisticated model,
or the biggest budget. The one that ships. With a number attached.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{{brand_name}}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{{tagline}}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{{brand_name}} · AI Use Cases Across Industries |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