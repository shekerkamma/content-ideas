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ark-tech_07_81087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828800"/>
            <a:ext cx="1097280" cy="508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0980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8FAFC"/>
                </a:solidFill>
                <a:latin typeface="Inter Tight"/>
              </a:defRPr>
            </a:pPr>
            <a:r>
              <a:t>AI Pattern Audit Report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12420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94A3B8"/>
                </a:solidFill>
                <a:latin typeface="Inter"/>
              </a:defRPr>
            </a:pPr>
            <a:r>
              <a:t>Before &amp; After  |  Humanizer Deep Mode  |  Voice-Matched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3855720"/>
            <a:ext cx="1143000" cy="114300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058920"/>
            <a:ext cx="1143000" cy="5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F172A"/>
                </a:solidFill>
                <a:latin typeface="Inter Tight"/>
              </a:defRPr>
            </a:pPr>
            <a:r>
              <a:t>2.1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516120"/>
            <a:ext cx="1143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F172A"/>
                </a:solidFill>
                <a:latin typeface="Inter"/>
              </a:defRPr>
            </a:pPr>
            <a:r>
              <a:t>/10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4520" y="5100320"/>
            <a:ext cx="1397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Inter"/>
              </a:defRPr>
            </a:pPr>
            <a:r>
              <a:t>BEFORE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28520" y="4236720"/>
            <a:ext cx="508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94A3B8"/>
                </a:solidFill>
                <a:latin typeface="Inter Tight"/>
              </a:defRPr>
            </a:pPr>
            <a:r>
              <a:t>→</a:t>
            </a:r>
          </a:p>
        </p:txBody>
      </p:sp>
      <p:sp>
        <p:nvSpPr>
          <p:cNvPr id="12" name="Oval 11"/>
          <p:cNvSpPr/>
          <p:nvPr/>
        </p:nvSpPr>
        <p:spPr>
          <a:xfrm>
            <a:off x="2763520" y="3855720"/>
            <a:ext cx="1143000" cy="11430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63520" y="4058920"/>
            <a:ext cx="1143000" cy="5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F172A"/>
                </a:solidFill>
                <a:latin typeface="Inter Tight"/>
              </a:defRPr>
            </a:pPr>
            <a:r>
              <a:t>8.9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63520" y="4516120"/>
            <a:ext cx="1143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F172A"/>
                </a:solidFill>
                <a:latin typeface="Inter"/>
              </a:defRPr>
            </a:pPr>
            <a:r>
              <a:t>/10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36520" y="5100320"/>
            <a:ext cx="1397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Inter"/>
              </a:defRPr>
            </a:pPr>
            <a:r>
              <a:t>AFTER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398272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JetBrains Mono"/>
              </a:defRPr>
            </a:pPr>
            <a:r>
              <a:t>28 AI patterns removed</a:t>
            </a:r>
            <a:br/>
            <a:r>
              <a:t>220 → 175 words (20% reduction)</a:t>
            </a:r>
            <a:br/>
            <a:r>
              <a:t>Voice-profile matched to brand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F4444"/>
                </a:solidFill>
                <a:latin typeface="Inter Tight"/>
              </a:defRPr>
            </a:pPr>
            <a:r>
              <a:t>BEFORE</a:t>
            </a:r>
          </a:p>
        </p:txBody>
      </p:sp>
      <p:sp>
        <p:nvSpPr>
          <p:cNvPr id="4" name="Oval 3"/>
          <p:cNvSpPr/>
          <p:nvPr/>
        </p:nvSpPr>
        <p:spPr>
          <a:xfrm>
            <a:off x="10317175" y="274320"/>
            <a:ext cx="1143000" cy="114300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17175" y="477520"/>
            <a:ext cx="1143000" cy="5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F172A"/>
                </a:solidFill>
                <a:latin typeface="Inter Tight"/>
              </a:defRPr>
            </a:pPr>
            <a:r>
              <a:t>2.1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17175" y="934720"/>
            <a:ext cx="1143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F172A"/>
                </a:solidFill>
                <a:latin typeface="Inter"/>
              </a:defRPr>
            </a:pPr>
            <a:r>
              <a:t>/10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90175" y="1518920"/>
            <a:ext cx="1397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Inter"/>
              </a:defRPr>
            </a:pPr>
            <a:r>
              <a:t>SCORE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097280"/>
            <a:ext cx="10728655" cy="53035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6320" y="1300480"/>
            <a:ext cx="101190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90"/>
              </a:spcAft>
              <a:defRPr sz="1300" b="0">
                <a:solidFill>
                  <a:srgbClr val="94A3B8"/>
                </a:solidFill>
                <a:latin typeface="JetBrains Mono"/>
              </a:defRPr>
            </a:pPr>
            <a:r>
              <a:t>In today's rapidly evolving AI landscape, organizations are</a:t>
            </a:r>
          </a:p>
          <a:p>
            <a:pPr>
              <a:spcAft>
                <a:spcPts val="390"/>
              </a:spcAft>
              <a:defRPr sz="1300" b="0">
                <a:solidFill>
                  <a:srgbClr val="94A3B8"/>
                </a:solidFill>
                <a:latin typeface="JetBrains Mono"/>
              </a:defRPr>
            </a:pPr>
            <a:r>
              <a:t>increasingly leveraging cutting-edge artificial intelligence</a:t>
            </a:r>
          </a:p>
          <a:p>
            <a:pPr>
              <a:spcAft>
                <a:spcPts val="390"/>
              </a:spcAft>
              <a:defRPr sz="1300" b="0">
                <a:solidFill>
                  <a:srgbClr val="94A3B8"/>
                </a:solidFill>
                <a:latin typeface="JetBrains Mono"/>
              </a:defRPr>
            </a:pPr>
            <a:r>
              <a:t>solutions to drive transformative outcomes across their enterprise.</a:t>
            </a:r>
          </a:p>
          <a:p>
            <a:pPr>
              <a:spcAft>
                <a:spcPts val="390"/>
              </a:spcAft>
              <a:defRPr sz="1300" b="0">
                <a:solidFill>
                  <a:srgbClr val="94A3B8"/>
                </a:solidFill>
                <a:latin typeface="JetBrains Mono"/>
              </a:defRPr>
            </a:pPr>
            <a:r>
              <a:t>However, it's important to note that a staggering 87% of AI pilot</a:t>
            </a:r>
          </a:p>
          <a:p>
            <a:pPr>
              <a:spcAft>
                <a:spcPts val="390"/>
              </a:spcAft>
              <a:defRPr sz="1300" b="0">
                <a:solidFill>
                  <a:srgbClr val="94A3B8"/>
                </a:solidFill>
                <a:latin typeface="JetBrains Mono"/>
              </a:defRPr>
            </a:pPr>
            <a:r>
              <a:t>projects never make it to production. Let's dive deep into why</a:t>
            </a:r>
          </a:p>
          <a:p>
            <a:pPr>
              <a:spcAft>
                <a:spcPts val="390"/>
              </a:spcAft>
              <a:defRPr sz="1300" b="0">
                <a:solidFill>
                  <a:srgbClr val="94A3B8"/>
                </a:solidFill>
                <a:latin typeface="JetBrains Mono"/>
              </a:defRPr>
            </a:pPr>
            <a:r>
              <a:t>this happens and what you can do about it.</a:t>
            </a:r>
          </a:p>
          <a:p>
            <a:pPr>
              <a:spcAft>
                <a:spcPts val="390"/>
              </a:spcAft>
              <a:defRPr sz="1300" b="0">
                <a:solidFill>
                  <a:srgbClr val="94A3B8"/>
                </a:solidFill>
                <a:latin typeface="JetBrains Mono"/>
              </a:defRPr>
            </a:pPr>
          </a:p>
          <a:p>
            <a:pPr>
              <a:spcAft>
                <a:spcPts val="390"/>
              </a:spcAft>
              <a:defRPr sz="1300" b="0">
                <a:solidFill>
                  <a:srgbClr val="94A3B8"/>
                </a:solidFill>
                <a:latin typeface="JetBrains Mono"/>
              </a:defRPr>
            </a:pPr>
            <a:r>
              <a:t>The first and arguably most critical challenge is the lack of</a:t>
            </a:r>
          </a:p>
          <a:p>
            <a:pPr>
              <a:spcAft>
                <a:spcPts val="390"/>
              </a:spcAft>
              <a:defRPr sz="1300" b="0">
                <a:solidFill>
                  <a:srgbClr val="94A3B8"/>
                </a:solidFill>
                <a:latin typeface="JetBrains Mono"/>
              </a:defRPr>
            </a:pPr>
            <a:r>
              <a:t>clearly defined success metrics. Many organizations embark on</a:t>
            </a:r>
          </a:p>
          <a:p>
            <a:pPr>
              <a:spcAft>
                <a:spcPts val="390"/>
              </a:spcAft>
              <a:defRPr sz="1300" b="0">
                <a:solidFill>
                  <a:srgbClr val="94A3B8"/>
                </a:solidFill>
                <a:latin typeface="JetBrains Mono"/>
              </a:defRPr>
            </a:pPr>
            <a:r>
              <a:t>their AI journey without establishing measurable KPIs, leading</a:t>
            </a:r>
          </a:p>
          <a:p>
            <a:pPr>
              <a:spcAft>
                <a:spcPts val="390"/>
              </a:spcAft>
              <a:defRPr sz="1300" b="0">
                <a:solidFill>
                  <a:srgbClr val="94A3B8"/>
                </a:solidFill>
                <a:latin typeface="JetBrains Mono"/>
              </a:defRPr>
            </a:pPr>
            <a:r>
              <a:t>to ambiguous outcomes that fail to demonstrate tangible business</a:t>
            </a:r>
          </a:p>
          <a:p>
            <a:pPr>
              <a:spcAft>
                <a:spcPts val="390"/>
              </a:spcAft>
              <a:defRPr sz="1300" b="0">
                <a:solidFill>
                  <a:srgbClr val="94A3B8"/>
                </a:solidFill>
                <a:latin typeface="JetBrains Mono"/>
              </a:defRPr>
            </a:pPr>
            <a:r>
              <a:t>value. It's no secret that without clear metrics, even the most</a:t>
            </a:r>
          </a:p>
          <a:p>
            <a:pPr>
              <a:spcAft>
                <a:spcPts val="390"/>
              </a:spcAft>
              <a:defRPr sz="1300" b="0">
                <a:solidFill>
                  <a:srgbClr val="94A3B8"/>
                </a:solidFill>
                <a:latin typeface="JetBrains Mono"/>
              </a:defRPr>
            </a:pPr>
            <a:r>
              <a:t>sophisticated AI models cannot prove their worth.</a:t>
            </a:r>
          </a:p>
          <a:p>
            <a:pPr>
              <a:spcAft>
                <a:spcPts val="390"/>
              </a:spcAft>
              <a:defRPr sz="1300" b="0">
                <a:solidFill>
                  <a:srgbClr val="94A3B8"/>
                </a:solidFill>
                <a:latin typeface="JetBrains Mono"/>
              </a:defRPr>
            </a:pPr>
          </a:p>
          <a:p>
            <a:pPr>
              <a:spcAft>
                <a:spcPts val="390"/>
              </a:spcAft>
              <a:defRPr sz="1300" b="0">
                <a:solidFill>
                  <a:srgbClr val="94A3B8"/>
                </a:solidFill>
                <a:latin typeface="JetBrains Mono"/>
              </a:defRPr>
            </a:pPr>
            <a:r>
              <a:t>Furthermore, data readiness remains a significant bottleneck.</a:t>
            </a:r>
          </a:p>
          <a:p>
            <a:pPr>
              <a:spcAft>
                <a:spcPts val="390"/>
              </a:spcAft>
              <a:defRPr sz="1300" b="0">
                <a:solidFill>
                  <a:srgbClr val="94A3B8"/>
                </a:solidFill>
                <a:latin typeface="JetBrains Mono"/>
              </a:defRPr>
            </a:pPr>
            <a:r>
              <a:t>Organizations often underestimate the importance of having clean,</a:t>
            </a:r>
          </a:p>
          <a:p>
            <a:pPr>
              <a:spcAft>
                <a:spcPts val="390"/>
              </a:spcAft>
              <a:defRPr sz="1300" b="0">
                <a:solidFill>
                  <a:srgbClr val="94A3B8"/>
                </a:solidFill>
                <a:latin typeface="JetBrains Mono"/>
              </a:defRPr>
            </a:pPr>
            <a:r>
              <a:t>accessible, and well-governed data pipelines. Moreover, the gap</a:t>
            </a:r>
          </a:p>
          <a:p>
            <a:pPr>
              <a:spcAft>
                <a:spcPts val="390"/>
              </a:spcAft>
              <a:defRPr sz="1300" b="0">
                <a:solidFill>
                  <a:srgbClr val="94A3B8"/>
                </a:solidFill>
                <a:latin typeface="JetBrains Mono"/>
              </a:defRPr>
            </a:pPr>
            <a:r>
              <a:t>between proof-of-concept data environments and production-grade</a:t>
            </a:r>
          </a:p>
          <a:p>
            <a:pPr>
              <a:spcAft>
                <a:spcPts val="390"/>
              </a:spcAft>
              <a:defRPr sz="1300" b="0">
                <a:solidFill>
                  <a:srgbClr val="94A3B8"/>
                </a:solidFill>
                <a:latin typeface="JetBrains Mono"/>
              </a:defRPr>
            </a:pPr>
            <a:r>
              <a:t>data infrastructure is frequently underappreciated...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59E0B"/>
                </a:solidFill>
                <a:latin typeface="Inter Tight"/>
              </a:defRPr>
            </a:pPr>
            <a:r>
              <a:t>28 AI Patterns Detected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05840"/>
            <a:ext cx="3406885" cy="53035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4720" y="1158240"/>
            <a:ext cx="3000485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F4444"/>
                </a:solidFill>
                <a:latin typeface="Inter Tight"/>
              </a:defRPr>
            </a:pPr>
            <a:r>
              <a:t>AI Cliches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4720" y="1463040"/>
            <a:ext cx="3000485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F4444"/>
                </a:solidFill>
                <a:latin typeface="JetBrains Mono"/>
              </a:defRPr>
            </a:pPr>
            <a:r>
              <a:t>HIGH</a:t>
            </a:r>
          </a:p>
        </p:txBody>
      </p:sp>
      <p:sp>
        <p:nvSpPr>
          <p:cNvPr id="7" name="Rectangle 6"/>
          <p:cNvSpPr/>
          <p:nvPr/>
        </p:nvSpPr>
        <p:spPr>
          <a:xfrm>
            <a:off x="934720" y="1717040"/>
            <a:ext cx="3000485" cy="254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4720" y="1869440"/>
            <a:ext cx="300048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94A3B8"/>
                </a:solidFill>
                <a:latin typeface="JetBrains Mono"/>
              </a:defRPr>
            </a:pPr>
            <a:r>
              <a:t>• rapidly evolving landscape</a:t>
            </a:r>
          </a:p>
          <a:p>
            <a:pPr>
              <a:spcAft>
                <a:spcPts val="600"/>
              </a:spcAft>
              <a:defRPr sz="1200" b="0">
                <a:solidFill>
                  <a:srgbClr val="94A3B8"/>
                </a:solidFill>
                <a:latin typeface="JetBrains Mono"/>
              </a:defRPr>
            </a:pPr>
            <a:r>
              <a:t>• Let's dive deep</a:t>
            </a:r>
          </a:p>
          <a:p>
            <a:pPr>
              <a:spcAft>
                <a:spcPts val="600"/>
              </a:spcAft>
              <a:defRPr sz="1200" b="0">
                <a:solidFill>
                  <a:srgbClr val="94A3B8"/>
                </a:solidFill>
                <a:latin typeface="JetBrains Mono"/>
              </a:defRPr>
            </a:pPr>
            <a:r>
              <a:t>• it's no secret</a:t>
            </a:r>
          </a:p>
          <a:p>
            <a:pPr>
              <a:spcAft>
                <a:spcPts val="600"/>
              </a:spcAft>
              <a:defRPr sz="1200" b="0">
                <a:solidFill>
                  <a:srgbClr val="94A3B8"/>
                </a:solidFill>
                <a:latin typeface="JetBrains Mono"/>
              </a:defRPr>
            </a:pPr>
            <a:r>
              <a:t>• At the end of the day</a:t>
            </a:r>
          </a:p>
          <a:p>
            <a:pPr>
              <a:spcAft>
                <a:spcPts val="600"/>
              </a:spcAft>
              <a:defRPr sz="1200" b="0">
                <a:solidFill>
                  <a:srgbClr val="94A3B8"/>
                </a:solidFill>
                <a:latin typeface="JetBrains Mono"/>
              </a:defRPr>
            </a:pPr>
            <a:r>
              <a:t>• key takeaway</a:t>
            </a:r>
          </a:p>
          <a:p>
            <a:pPr>
              <a:spcAft>
                <a:spcPts val="600"/>
              </a:spcAft>
              <a:defRPr sz="1200" b="0">
                <a:solidFill>
                  <a:srgbClr val="94A3B8"/>
                </a:solidFill>
                <a:latin typeface="JetBrains Mono"/>
              </a:defRPr>
            </a:pPr>
            <a:r>
              <a:t>• unlock the full potential</a:t>
            </a:r>
          </a:p>
          <a:p>
            <a:pPr>
              <a:spcAft>
                <a:spcPts val="600"/>
              </a:spcAft>
              <a:defRPr sz="1200" b="0">
                <a:solidFill>
                  <a:srgbClr val="94A3B8"/>
                </a:solidFill>
                <a:latin typeface="JetBrains Mono"/>
              </a:defRPr>
            </a:pPr>
            <a:r>
              <a:t>• game-changer</a:t>
            </a:r>
          </a:p>
          <a:p>
            <a:pPr>
              <a:spcAft>
                <a:spcPts val="600"/>
              </a:spcAft>
              <a:defRPr sz="1200" b="0">
                <a:solidFill>
                  <a:srgbClr val="94A3B8"/>
                </a:solidFill>
                <a:latin typeface="JetBrains Mono"/>
              </a:defRPr>
            </a:pPr>
            <a:r>
              <a:t>• AI journey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92405" y="1005840"/>
            <a:ext cx="3406885" cy="53035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5605" y="1158240"/>
            <a:ext cx="3000485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Inter Tight"/>
              </a:defRPr>
            </a:pPr>
            <a:r>
              <a:t>Corporate Buzzwords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5605" y="1463040"/>
            <a:ext cx="3000485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59E0B"/>
                </a:solidFill>
                <a:latin typeface="JetBrains Mono"/>
              </a:defRPr>
            </a:pPr>
            <a:r>
              <a:t>MED-HIGH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95605" y="1717040"/>
            <a:ext cx="3000485" cy="254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5605" y="1869440"/>
            <a:ext cx="300048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94A3B8"/>
                </a:solidFill>
                <a:latin typeface="JetBrains Mono"/>
              </a:defRPr>
            </a:pPr>
            <a:r>
              <a:t>• leveraging</a:t>
            </a:r>
          </a:p>
          <a:p>
            <a:pPr>
              <a:spcAft>
                <a:spcPts val="600"/>
              </a:spcAft>
              <a:defRPr sz="1200" b="0">
                <a:solidFill>
                  <a:srgbClr val="94A3B8"/>
                </a:solidFill>
                <a:latin typeface="JetBrains Mono"/>
              </a:defRPr>
            </a:pPr>
            <a:r>
              <a:t>• cutting-edge</a:t>
            </a:r>
          </a:p>
          <a:p>
            <a:pPr>
              <a:spcAft>
                <a:spcPts val="600"/>
              </a:spcAft>
              <a:defRPr sz="1200" b="0">
                <a:solidFill>
                  <a:srgbClr val="94A3B8"/>
                </a:solidFill>
                <a:latin typeface="JetBrains Mono"/>
              </a:defRPr>
            </a:pPr>
            <a:r>
              <a:t>• transformative outcomes</a:t>
            </a:r>
          </a:p>
          <a:p>
            <a:pPr>
              <a:spcAft>
                <a:spcPts val="600"/>
              </a:spcAft>
              <a:defRPr sz="1200" b="0">
                <a:solidFill>
                  <a:srgbClr val="94A3B8"/>
                </a:solidFill>
                <a:latin typeface="JetBrains Mono"/>
              </a:defRPr>
            </a:pPr>
            <a:r>
              <a:t>• holistic endeavor</a:t>
            </a:r>
          </a:p>
          <a:p>
            <a:pPr>
              <a:spcAft>
                <a:spcPts val="600"/>
              </a:spcAft>
              <a:defRPr sz="1200" b="0">
                <a:solidFill>
                  <a:srgbClr val="94A3B8"/>
                </a:solidFill>
                <a:latin typeface="JetBrains Mono"/>
              </a:defRPr>
            </a:pPr>
            <a:r>
              <a:t>• best-in-class</a:t>
            </a:r>
          </a:p>
          <a:p>
            <a:pPr>
              <a:spcAft>
                <a:spcPts val="600"/>
              </a:spcAft>
              <a:defRPr sz="1200" b="0">
                <a:solidFill>
                  <a:srgbClr val="94A3B8"/>
                </a:solidFill>
                <a:latin typeface="JetBrains Mono"/>
              </a:defRPr>
            </a:pPr>
            <a:r>
              <a:t>• revolutionize</a:t>
            </a:r>
          </a:p>
          <a:p>
            <a:pPr>
              <a:spcAft>
                <a:spcPts val="600"/>
              </a:spcAft>
              <a:defRPr sz="1200" b="0">
                <a:solidFill>
                  <a:srgbClr val="94A3B8"/>
                </a:solidFill>
                <a:latin typeface="JetBrains Mono"/>
              </a:defRPr>
            </a:pPr>
            <a:r>
              <a:t>• utilizing</a:t>
            </a:r>
          </a:p>
          <a:p>
            <a:pPr>
              <a:spcAft>
                <a:spcPts val="600"/>
              </a:spcAft>
              <a:defRPr sz="1200" b="0">
                <a:solidFill>
                  <a:srgbClr val="94A3B8"/>
                </a:solidFill>
                <a:latin typeface="JetBrains Mono"/>
              </a:defRPr>
            </a:pPr>
            <a:r>
              <a:t>• fostering a culture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53290" y="1005840"/>
            <a:ext cx="3406885" cy="53035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56490" y="1158240"/>
            <a:ext cx="3000485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94A3B8"/>
                </a:solidFill>
                <a:latin typeface="Inter Tight"/>
              </a:defRPr>
            </a:pPr>
            <a:r>
              <a:t>Hedging + Transitions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56490" y="1463040"/>
            <a:ext cx="3000485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JetBrains Mono"/>
              </a:defRPr>
            </a:pPr>
            <a:r>
              <a:t>MEDIUM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56490" y="1717040"/>
            <a:ext cx="3000485" cy="254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56490" y="1869440"/>
            <a:ext cx="300048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94A3B8"/>
                </a:solidFill>
                <a:latin typeface="JetBrains Mono"/>
              </a:defRPr>
            </a:pPr>
            <a:r>
              <a:t>• it's important to note</a:t>
            </a:r>
          </a:p>
          <a:p>
            <a:pPr>
              <a:spcAft>
                <a:spcPts val="600"/>
              </a:spcAft>
              <a:defRPr sz="1200" b="0">
                <a:solidFill>
                  <a:srgbClr val="94A3B8"/>
                </a:solidFill>
                <a:latin typeface="JetBrains Mono"/>
              </a:defRPr>
            </a:pPr>
            <a:r>
              <a:t>• arguably most critical</a:t>
            </a:r>
          </a:p>
          <a:p>
            <a:pPr>
              <a:spcAft>
                <a:spcPts val="600"/>
              </a:spcAft>
              <a:defRPr sz="1200" b="0">
                <a:solidFill>
                  <a:srgbClr val="94A3B8"/>
                </a:solidFill>
                <a:latin typeface="JetBrains Mono"/>
              </a:defRPr>
            </a:pPr>
            <a:r>
              <a:t>• Furthermore</a:t>
            </a:r>
          </a:p>
          <a:p>
            <a:pPr>
              <a:spcAft>
                <a:spcPts val="600"/>
              </a:spcAft>
              <a:defRPr sz="1200" b="0">
                <a:solidFill>
                  <a:srgbClr val="94A3B8"/>
                </a:solidFill>
                <a:latin typeface="JetBrains Mono"/>
              </a:defRPr>
            </a:pPr>
            <a:r>
              <a:t>• Moreover</a:t>
            </a:r>
          </a:p>
          <a:p>
            <a:pPr>
              <a:spcAft>
                <a:spcPts val="600"/>
              </a:spcAft>
              <a:defRPr sz="1200" b="0">
                <a:solidFill>
                  <a:srgbClr val="94A3B8"/>
                </a:solidFill>
                <a:latin typeface="JetBrains Mono"/>
              </a:defRPr>
            </a:pPr>
            <a:r>
              <a:t>• Additionally</a:t>
            </a:r>
          </a:p>
          <a:p>
            <a:pPr>
              <a:spcAft>
                <a:spcPts val="600"/>
              </a:spcAft>
              <a:defRPr sz="1200" b="0">
                <a:solidFill>
                  <a:srgbClr val="94A3B8"/>
                </a:solidFill>
                <a:latin typeface="JetBrains Mono"/>
              </a:defRPr>
            </a:pPr>
            <a:r>
              <a:t>• nuanced approach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0B981"/>
                </a:solidFill>
                <a:latin typeface="Inter Tight"/>
              </a:defRPr>
            </a:pPr>
            <a:r>
              <a:t>AFTER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0" y="3657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  <a:latin typeface="Inter"/>
              </a:defRPr>
            </a:pPr>
            <a:r>
              <a:t>(Voice-Matched — Deep Mode)</a:t>
            </a:r>
          </a:p>
        </p:txBody>
      </p:sp>
      <p:sp>
        <p:nvSpPr>
          <p:cNvPr id="5" name="Oval 4"/>
          <p:cNvSpPr/>
          <p:nvPr/>
        </p:nvSpPr>
        <p:spPr>
          <a:xfrm>
            <a:off x="10317175" y="274320"/>
            <a:ext cx="1143000" cy="11430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17175" y="477520"/>
            <a:ext cx="1143000" cy="5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F172A"/>
                </a:solidFill>
                <a:latin typeface="Inter Tight"/>
              </a:defRPr>
            </a:pPr>
            <a:r>
              <a:t>8.9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17175" y="934720"/>
            <a:ext cx="1143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F172A"/>
                </a:solidFill>
                <a:latin typeface="Inter"/>
              </a:defRPr>
            </a:pPr>
            <a:r>
              <a:t>/10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90175" y="1518920"/>
            <a:ext cx="1397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Inter"/>
              </a:defRPr>
            </a:pPr>
            <a:r>
              <a:t>SCORE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097280"/>
            <a:ext cx="10728655" cy="53035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6320" y="1300480"/>
            <a:ext cx="101190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90"/>
              </a:spcAft>
              <a:defRPr sz="1300" b="0">
                <a:solidFill>
                  <a:srgbClr val="F8FAFC"/>
                </a:solidFill>
                <a:latin typeface="JetBrains Mono"/>
              </a:defRPr>
            </a:pPr>
            <a:r>
              <a:t>87% of AI pilots never make it to production.</a:t>
            </a:r>
          </a:p>
          <a:p>
            <a:pPr>
              <a:spcAft>
                <a:spcPts val="390"/>
              </a:spcAft>
              <a:defRPr sz="1300" b="0">
                <a:solidFill>
                  <a:srgbClr val="F8FAFC"/>
                </a:solidFill>
                <a:latin typeface="JetBrains Mono"/>
              </a:defRPr>
            </a:pPr>
          </a:p>
          <a:p>
            <a:pPr>
              <a:spcAft>
                <a:spcPts val="390"/>
              </a:spcAft>
              <a:defRPr sz="1300" b="0">
                <a:solidFill>
                  <a:srgbClr val="F8FAFC"/>
                </a:solidFill>
                <a:latin typeface="JetBrains Mono"/>
              </a:defRPr>
            </a:pPr>
            <a:r>
              <a:t>Not because the models don't work. Because nobody defined what</a:t>
            </a:r>
          </a:p>
          <a:p>
            <a:pPr>
              <a:spcAft>
                <a:spcPts val="390"/>
              </a:spcAft>
              <a:defRPr sz="1300" b="0">
                <a:solidFill>
                  <a:srgbClr val="F8FAFC"/>
                </a:solidFill>
                <a:latin typeface="JetBrains Mono"/>
              </a:defRPr>
            </a:pPr>
            <a:r>
              <a:t>"working" means before they started building.</a:t>
            </a:r>
          </a:p>
          <a:p>
            <a:pPr>
              <a:spcAft>
                <a:spcPts val="390"/>
              </a:spcAft>
              <a:defRPr sz="1300" b="0">
                <a:solidFill>
                  <a:srgbClr val="F8FAFC"/>
                </a:solidFill>
                <a:latin typeface="JetBrains Mono"/>
              </a:defRPr>
            </a:pPr>
          </a:p>
          <a:p>
            <a:pPr>
              <a:spcAft>
                <a:spcPts val="390"/>
              </a:spcAft>
              <a:defRPr sz="1300" b="0">
                <a:solidFill>
                  <a:srgbClr val="F8FAFC"/>
                </a:solidFill>
                <a:latin typeface="JetBrains Mono"/>
              </a:defRPr>
            </a:pPr>
            <a:r>
              <a:t>Here's the thing — "improve efficiency" isn't a success metric.</a:t>
            </a:r>
          </a:p>
          <a:p>
            <a:pPr>
              <a:spcAft>
                <a:spcPts val="390"/>
              </a:spcAft>
              <a:defRPr sz="1300" b="0">
                <a:solidFill>
                  <a:srgbClr val="F8FAFC"/>
                </a:solidFill>
                <a:latin typeface="JetBrains Mono"/>
              </a:defRPr>
            </a:pPr>
            <a:r>
              <a:t>"Reduce claim processing from 14 days to 3" is. If you can't put</a:t>
            </a:r>
          </a:p>
          <a:p>
            <a:pPr>
              <a:spcAft>
                <a:spcPts val="390"/>
              </a:spcAft>
              <a:defRPr sz="1300" b="0">
                <a:solidFill>
                  <a:srgbClr val="F8FAFC"/>
                </a:solidFill>
                <a:latin typeface="JetBrains Mono"/>
              </a:defRPr>
            </a:pPr>
            <a:r>
              <a:t>a number on the goal before you write a single line of code,</a:t>
            </a:r>
          </a:p>
          <a:p>
            <a:pPr>
              <a:spcAft>
                <a:spcPts val="390"/>
              </a:spcAft>
              <a:defRPr sz="1300" b="0">
                <a:solidFill>
                  <a:srgbClr val="F8FAFC"/>
                </a:solidFill>
                <a:latin typeface="JetBrains Mono"/>
              </a:defRPr>
            </a:pPr>
            <a:r>
              <a:t>you're not ready for AI. You're ready for a whiteboard.</a:t>
            </a:r>
          </a:p>
          <a:p>
            <a:pPr>
              <a:spcAft>
                <a:spcPts val="390"/>
              </a:spcAft>
              <a:defRPr sz="1300" b="0">
                <a:solidFill>
                  <a:srgbClr val="F8FAFC"/>
                </a:solidFill>
                <a:latin typeface="JetBrains Mono"/>
              </a:defRPr>
            </a:pPr>
          </a:p>
          <a:p>
            <a:pPr>
              <a:spcAft>
                <a:spcPts val="390"/>
              </a:spcAft>
              <a:defRPr sz="1300" b="0">
                <a:solidFill>
                  <a:srgbClr val="F8FAFC"/>
                </a:solidFill>
                <a:latin typeface="JetBrains Mono"/>
              </a:defRPr>
            </a:pPr>
            <a:r>
              <a:t>The proof-of-concept worked because you hand-picked clean data</a:t>
            </a:r>
          </a:p>
          <a:p>
            <a:pPr>
              <a:spcAft>
                <a:spcPts val="390"/>
              </a:spcAft>
              <a:defRPr sz="1300" b="0">
                <a:solidFill>
                  <a:srgbClr val="F8FAFC"/>
                </a:solidFill>
                <a:latin typeface="JetBrains Mono"/>
              </a:defRPr>
            </a:pPr>
            <a:r>
              <a:t>for the demo. Production data is messy, late, undocumented, and</a:t>
            </a:r>
          </a:p>
          <a:p>
            <a:pPr>
              <a:spcAft>
                <a:spcPts val="390"/>
              </a:spcAft>
              <a:defRPr sz="1300" b="0">
                <a:solidFill>
                  <a:srgbClr val="F8FAFC"/>
                </a:solidFill>
                <a:latin typeface="JetBrains Mono"/>
              </a:defRPr>
            </a:pPr>
            <a:r>
              <a:t>lives in six different systems that don't talk to each other.</a:t>
            </a:r>
          </a:p>
          <a:p>
            <a:pPr>
              <a:spcAft>
                <a:spcPts val="390"/>
              </a:spcAft>
              <a:defRPr sz="1300" b="0">
                <a:solidFill>
                  <a:srgbClr val="F8FAFC"/>
                </a:solidFill>
                <a:latin typeface="JetBrains Mono"/>
              </a:defRPr>
            </a:pPr>
            <a:r>
              <a:t>Fix the pipes before you train the model. Dead simple. Nobody does it.</a:t>
            </a:r>
          </a:p>
          <a:p>
            <a:pPr>
              <a:spcAft>
                <a:spcPts val="390"/>
              </a:spcAft>
              <a:defRPr sz="1300" b="0">
                <a:solidFill>
                  <a:srgbClr val="F8FAFC"/>
                </a:solidFill>
                <a:latin typeface="JetBrains Mono"/>
              </a:defRPr>
            </a:pPr>
          </a:p>
          <a:p>
            <a:pPr>
              <a:spcAft>
                <a:spcPts val="390"/>
              </a:spcAft>
              <a:defRPr sz="1300" b="0">
                <a:solidFill>
                  <a:srgbClr val="F8FAFC"/>
                </a:solidFill>
                <a:latin typeface="JetBrains Mono"/>
              </a:defRPr>
            </a:pPr>
            <a:r>
              <a:t>You can build the best model in the world. If the team doesn't</a:t>
            </a:r>
          </a:p>
          <a:p>
            <a:pPr>
              <a:spcAft>
                <a:spcPts val="390"/>
              </a:spcAft>
              <a:defRPr sz="1300" b="0">
                <a:solidFill>
                  <a:srgbClr val="F8FAFC"/>
                </a:solidFill>
                <a:latin typeface="JetBrains Mono"/>
              </a:defRPr>
            </a:pPr>
            <a:r>
              <a:t>trust it, they won't use it. Show them the tool. Let them break it.</a:t>
            </a:r>
          </a:p>
          <a:p>
            <a:pPr>
              <a:spcAft>
                <a:spcPts val="390"/>
              </a:spcAft>
              <a:defRPr sz="1300" b="0">
                <a:solidFill>
                  <a:srgbClr val="F8FAFC"/>
                </a:solidFill>
                <a:latin typeface="JetBrains Mono"/>
              </a:defRPr>
            </a:pPr>
            <a:r>
              <a:t>Then fix what they broke. That's the actual work.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radients-abstract_03_1321633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8FAFC"/>
                </a:solidFill>
                <a:latin typeface="Inter Tight"/>
              </a:defRPr>
            </a:pPr>
            <a:r>
              <a:t>Voice Match Report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097280"/>
            <a:ext cx="10728655" cy="8636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5520" y="1249680"/>
            <a:ext cx="228600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8FAFC"/>
                </a:solidFill>
                <a:latin typeface="Inter Tight"/>
              </a:defRPr>
            </a:pPr>
            <a:r>
              <a:t>Tone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0" y="1275080"/>
            <a:ext cx="45720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Inter"/>
              </a:defRPr>
            </a:pPr>
            <a:r>
              <a:t>Casual-but-competent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88575" y="1275080"/>
            <a:ext cx="109728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200" b="1">
                <a:solidFill>
                  <a:srgbClr val="10B981"/>
                </a:solidFill>
                <a:latin typeface="Inter Tight"/>
              </a:defRPr>
            </a:pPr>
            <a:r>
              <a:t>9/10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113280"/>
            <a:ext cx="10728655" cy="8636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5520" y="2265680"/>
            <a:ext cx="228600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8FAFC"/>
                </a:solidFill>
                <a:latin typeface="Inter Tight"/>
              </a:defRPr>
            </a:pPr>
            <a:r>
              <a:t>Rhythm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2291080"/>
            <a:ext cx="45720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Inter"/>
              </a:defRPr>
            </a:pPr>
            <a:r>
              <a:t>Short + medium mix, fragments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88575" y="2291080"/>
            <a:ext cx="109728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200" b="1">
                <a:solidFill>
                  <a:srgbClr val="10B981"/>
                </a:solidFill>
                <a:latin typeface="Inter Tight"/>
              </a:defRPr>
            </a:pPr>
            <a:r>
              <a:t>8/10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129280"/>
            <a:ext cx="10728655" cy="8636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5520" y="3281680"/>
            <a:ext cx="228600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8FAFC"/>
                </a:solidFill>
                <a:latin typeface="Inter Tight"/>
              </a:defRPr>
            </a:pPr>
            <a:r>
              <a:t>Vocabulary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3307080"/>
            <a:ext cx="45720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Inter"/>
              </a:defRPr>
            </a:pPr>
            <a:r>
              <a:t>Brand terms applied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88575" y="3307080"/>
            <a:ext cx="109728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200" b="1">
                <a:solidFill>
                  <a:srgbClr val="10B981"/>
                </a:solidFill>
                <a:latin typeface="Inter Tight"/>
              </a:defRPr>
            </a:pPr>
            <a:r>
              <a:t>9/10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145280"/>
            <a:ext cx="10728655" cy="8636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5520" y="4297680"/>
            <a:ext cx="228600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8FAFC"/>
                </a:solidFill>
                <a:latin typeface="Inter Tight"/>
              </a:defRPr>
            </a:pPr>
            <a:r>
              <a:t>Anti-patterns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0" y="4323080"/>
            <a:ext cx="45720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Inter"/>
              </a:defRPr>
            </a:pPr>
            <a:r>
              <a:t>Zero banned words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88575" y="4323080"/>
            <a:ext cx="109728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200" b="1">
                <a:solidFill>
                  <a:srgbClr val="10B981"/>
                </a:solidFill>
                <a:latin typeface="Inter Tight"/>
              </a:defRPr>
            </a:pPr>
            <a:r>
              <a:t>10/10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5161280"/>
            <a:ext cx="10728655" cy="8636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5520" y="5313680"/>
            <a:ext cx="228600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8FAFC"/>
                </a:solidFill>
                <a:latin typeface="Inter Tight"/>
              </a:defRPr>
            </a:pPr>
            <a:r>
              <a:t>Confidence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74720" y="5339080"/>
            <a:ext cx="45720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Inter"/>
              </a:defRPr>
            </a:pPr>
            <a:r>
              <a:t>Bold assertions, no hedging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88575" y="5339080"/>
            <a:ext cx="109728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200" b="1">
                <a:solidFill>
                  <a:srgbClr val="10B981"/>
                </a:solidFill>
                <a:latin typeface="Inter Tight"/>
              </a:defRPr>
            </a:pPr>
            <a:r>
              <a:t>9/10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6685280"/>
            <a:ext cx="1072865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59"/>
              </a:spcAft>
              <a:defRPr sz="1400" b="0">
                <a:solidFill>
                  <a:srgbClr val="22D3EE"/>
                </a:solidFill>
                <a:latin typeface="JetBrains Mono"/>
              </a:defRPr>
            </a:pPr>
            <a:r>
              <a:t>Brand insertions: "here's the thing", "dead simple", "the actual work"</a:t>
            </a:r>
          </a:p>
          <a:p>
            <a:pPr>
              <a:spcAft>
                <a:spcPts val="559"/>
              </a:spcAft>
              <a:defRPr sz="1400" b="0">
                <a:solidFill>
                  <a:srgbClr val="22D3EE"/>
                </a:solidFill>
                <a:latin typeface="JetBrains Mono"/>
              </a:defRPr>
            </a:pPr>
            <a:r>
              <a:t>Specific numbers anchored: 87%, 14 days → 3, six systems</a:t>
            </a:r>
          </a:p>
          <a:p>
            <a:pPr>
              <a:spcAft>
                <a:spcPts val="559"/>
              </a:spcAft>
              <a:defRPr sz="1400" b="0">
                <a:solidFill>
                  <a:srgbClr val="22D3EE"/>
                </a:solidFill>
                <a:latin typeface="JetBrains Mono"/>
              </a:defRPr>
            </a:pPr>
            <a:r>
              <a:t>Word count: 220 → 175 (20% reduction)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