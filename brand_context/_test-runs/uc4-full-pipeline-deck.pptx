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81967" y="0"/>
            <a:ext cx="109728"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7103" y="0"/>
            <a:ext cx="54864"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31520"/>
            <a:ext cx="6400800" cy="32004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FULL PIPELINE — PRE-SALES INTELLIGENCE</a:t>
            </a:r>
          </a:p>
        </p:txBody>
      </p:sp>
      <p:sp>
        <p:nvSpPr>
          <p:cNvPr id="7" name="TextBox 6"/>
          <p:cNvSpPr txBox="1"/>
          <p:nvPr/>
        </p:nvSpPr>
        <p:spPr>
          <a:xfrm>
            <a:off x="548640" y="1188720"/>
            <a:ext cx="8229600" cy="914400"/>
          </a:xfrm>
          <a:prstGeom prst="rect">
            <a:avLst/>
          </a:prstGeom>
          <a:noFill/>
        </p:spPr>
        <p:txBody>
          <a:bodyPr wrap="square" anchor="t" lIns="0" rIns="0" tIns="0" bIns="0">
            <a:normAutofit/>
          </a:bodyPr>
          <a:lstStyle/>
          <a:p>
            <a:pPr algn="l">
              <a:lnSpc>
                <a:spcPct val="105000"/>
              </a:lnSpc>
              <a:spcBef>
                <a:spcPts val="0"/>
              </a:spcBef>
            </a:pPr>
            <a:r>
              <a:rPr sz="4400" b="1" i="0">
                <a:solidFill>
                  <a:srgbClr val="FFFFFF"/>
                </a:solidFill>
                <a:latin typeface="Calibri"/>
              </a:rPr>
              <a:t>AI Use Cases That Actually Ship</a:t>
            </a:r>
          </a:p>
        </p:txBody>
      </p:sp>
      <p:sp>
        <p:nvSpPr>
          <p:cNvPr id="8" name="Rectangle 7"/>
          <p:cNvSpPr/>
          <p:nvPr/>
        </p:nvSpPr>
        <p:spPr>
          <a:xfrm>
            <a:off x="548640" y="21945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68880"/>
            <a:ext cx="9144000" cy="365760"/>
          </a:xfrm>
          <a:prstGeom prst="rect">
            <a:avLst/>
          </a:prstGeom>
          <a:noFill/>
        </p:spPr>
        <p:txBody>
          <a:bodyPr wrap="square" anchor="t" lIns="0" rIns="0" tIns="0" bIns="0">
            <a:noAutofit/>
          </a:bodyPr>
          <a:lstStyle/>
          <a:p>
            <a:pPr algn="l">
              <a:lnSpc>
                <a:spcPct val="105000"/>
              </a:lnSpc>
              <a:spcBef>
                <a:spcPts val="0"/>
              </a:spcBef>
            </a:pPr>
            <a:r>
              <a:rPr sz="1500" b="0" i="0">
                <a:solidFill>
                  <a:srgbClr val="5B6B7C"/>
                </a:solidFill>
                <a:latin typeface="Calibri"/>
              </a:rPr>
              <a:t>10 Use Cases · 5 Industries · 10 Slides Each · Agent Architectures · GitHub Repos · MCP Stacks</a:t>
            </a:r>
          </a:p>
        </p:txBody>
      </p:sp>
      <p:sp>
        <p:nvSpPr>
          <p:cNvPr id="10" name="Rounded Rectangle 9"/>
          <p:cNvSpPr/>
          <p:nvPr/>
        </p:nvSpPr>
        <p:spPr>
          <a:xfrm>
            <a:off x="548640" y="3200400"/>
            <a:ext cx="1645920" cy="82296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645920" cy="411480"/>
          </a:xfrm>
          <a:prstGeom prst="rect">
            <a:avLst/>
          </a:prstGeom>
          <a:noFill/>
        </p:spPr>
        <p:txBody>
          <a:bodyPr wrap="square" anchor="t" lIns="0" rIns="0" tIns="0" bIns="0">
            <a:noAutofit/>
          </a:bodyPr>
          <a:lstStyle/>
          <a:p>
            <a:pPr algn="ctr">
              <a:lnSpc>
                <a:spcPct val="105000"/>
              </a:lnSpc>
              <a:spcBef>
                <a:spcPts val="0"/>
              </a:spcBef>
            </a:pPr>
            <a:r>
              <a:rPr sz="2600" b="1" i="0">
                <a:solidFill>
                  <a:srgbClr val="FFB800"/>
                </a:solidFill>
                <a:latin typeface="Calibri"/>
              </a:rPr>
              <a:t>10</a:t>
            </a:r>
          </a:p>
        </p:txBody>
      </p:sp>
      <p:sp>
        <p:nvSpPr>
          <p:cNvPr id="12" name="TextBox 11"/>
          <p:cNvSpPr txBox="1"/>
          <p:nvPr/>
        </p:nvSpPr>
        <p:spPr>
          <a:xfrm>
            <a:off x="548640" y="3657600"/>
            <a:ext cx="1645920" cy="274320"/>
          </a:xfrm>
          <a:prstGeom prst="rect">
            <a:avLst/>
          </a:prstGeom>
          <a:noFill/>
        </p:spPr>
        <p:txBody>
          <a:bodyPr wrap="square" anchor="t" lIns="0" rIns="0" tIns="0" bIns="0">
            <a:noAutofit/>
          </a:bodyPr>
          <a:lstStyle/>
          <a:p>
            <a:pPr algn="ctr">
              <a:lnSpc>
                <a:spcPct val="105000"/>
              </a:lnSpc>
              <a:spcBef>
                <a:spcPts val="0"/>
              </a:spcBef>
            </a:pPr>
            <a:r>
              <a:rPr sz="1000" b="0" i="0">
                <a:solidFill>
                  <a:srgbClr val="5B6B7C"/>
                </a:solidFill>
                <a:latin typeface="Calibri"/>
              </a:rPr>
              <a:t>Use Cases</a:t>
            </a:r>
          </a:p>
        </p:txBody>
      </p:sp>
      <p:sp>
        <p:nvSpPr>
          <p:cNvPr id="13" name="Rounded Rectangle 12"/>
          <p:cNvSpPr/>
          <p:nvPr/>
        </p:nvSpPr>
        <p:spPr>
          <a:xfrm>
            <a:off x="2377440" y="3200400"/>
            <a:ext cx="1645920" cy="82296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77440" y="3246120"/>
            <a:ext cx="1645920" cy="411480"/>
          </a:xfrm>
          <a:prstGeom prst="rect">
            <a:avLst/>
          </a:prstGeom>
          <a:noFill/>
        </p:spPr>
        <p:txBody>
          <a:bodyPr wrap="square" anchor="t" lIns="0" rIns="0" tIns="0" bIns="0">
            <a:noAutofit/>
          </a:bodyPr>
          <a:lstStyle/>
          <a:p>
            <a:pPr algn="ctr">
              <a:lnSpc>
                <a:spcPct val="105000"/>
              </a:lnSpc>
              <a:spcBef>
                <a:spcPts val="0"/>
              </a:spcBef>
            </a:pPr>
            <a:r>
              <a:rPr sz="2600" b="1" i="0">
                <a:solidFill>
                  <a:srgbClr val="FFB800"/>
                </a:solidFill>
                <a:latin typeface="Calibri"/>
              </a:rPr>
              <a:t>5</a:t>
            </a:r>
          </a:p>
        </p:txBody>
      </p:sp>
      <p:sp>
        <p:nvSpPr>
          <p:cNvPr id="15" name="TextBox 14"/>
          <p:cNvSpPr txBox="1"/>
          <p:nvPr/>
        </p:nvSpPr>
        <p:spPr>
          <a:xfrm>
            <a:off x="2377440" y="3657600"/>
            <a:ext cx="1645920" cy="274320"/>
          </a:xfrm>
          <a:prstGeom prst="rect">
            <a:avLst/>
          </a:prstGeom>
          <a:noFill/>
        </p:spPr>
        <p:txBody>
          <a:bodyPr wrap="square" anchor="t" lIns="0" rIns="0" tIns="0" bIns="0">
            <a:noAutofit/>
          </a:bodyPr>
          <a:lstStyle/>
          <a:p>
            <a:pPr algn="ctr">
              <a:lnSpc>
                <a:spcPct val="105000"/>
              </a:lnSpc>
              <a:spcBef>
                <a:spcPts val="0"/>
              </a:spcBef>
            </a:pPr>
            <a:r>
              <a:rPr sz="1000" b="0" i="0">
                <a:solidFill>
                  <a:srgbClr val="5B6B7C"/>
                </a:solidFill>
                <a:latin typeface="Calibri"/>
              </a:rPr>
              <a:t>Industries</a:t>
            </a:r>
          </a:p>
        </p:txBody>
      </p:sp>
      <p:sp>
        <p:nvSpPr>
          <p:cNvPr id="16" name="Rounded Rectangle 15"/>
          <p:cNvSpPr/>
          <p:nvPr/>
        </p:nvSpPr>
        <p:spPr>
          <a:xfrm>
            <a:off x="4206240" y="3200400"/>
            <a:ext cx="1645920" cy="82296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246120"/>
            <a:ext cx="1645920" cy="411480"/>
          </a:xfrm>
          <a:prstGeom prst="rect">
            <a:avLst/>
          </a:prstGeom>
          <a:noFill/>
        </p:spPr>
        <p:txBody>
          <a:bodyPr wrap="square" anchor="t" lIns="0" rIns="0" tIns="0" bIns="0">
            <a:noAutofit/>
          </a:bodyPr>
          <a:lstStyle/>
          <a:p>
            <a:pPr algn="ctr">
              <a:lnSpc>
                <a:spcPct val="105000"/>
              </a:lnSpc>
              <a:spcBef>
                <a:spcPts val="0"/>
              </a:spcBef>
            </a:pPr>
            <a:r>
              <a:rPr sz="2600" b="1" i="0">
                <a:solidFill>
                  <a:srgbClr val="FFB800"/>
                </a:solidFill>
                <a:latin typeface="Calibri"/>
              </a:rPr>
              <a:t>10/UC</a:t>
            </a:r>
          </a:p>
        </p:txBody>
      </p:sp>
      <p:sp>
        <p:nvSpPr>
          <p:cNvPr id="18" name="TextBox 17"/>
          <p:cNvSpPr txBox="1"/>
          <p:nvPr/>
        </p:nvSpPr>
        <p:spPr>
          <a:xfrm>
            <a:off x="4206240" y="3657600"/>
            <a:ext cx="1645920" cy="274320"/>
          </a:xfrm>
          <a:prstGeom prst="rect">
            <a:avLst/>
          </a:prstGeom>
          <a:noFill/>
        </p:spPr>
        <p:txBody>
          <a:bodyPr wrap="square" anchor="t" lIns="0" rIns="0" tIns="0" bIns="0">
            <a:noAutofit/>
          </a:bodyPr>
          <a:lstStyle/>
          <a:p>
            <a:pPr algn="ctr">
              <a:lnSpc>
                <a:spcPct val="105000"/>
              </a:lnSpc>
              <a:spcBef>
                <a:spcPts val="0"/>
              </a:spcBef>
            </a:pPr>
            <a:r>
              <a:rPr sz="1000" b="0" i="0">
                <a:solidFill>
                  <a:srgbClr val="5B6B7C"/>
                </a:solidFill>
                <a:latin typeface="Calibri"/>
              </a:rPr>
              <a:t>Slides Each</a:t>
            </a:r>
          </a:p>
        </p:txBody>
      </p:sp>
      <p:sp>
        <p:nvSpPr>
          <p:cNvPr id="19" name="Rounded Rectangle 18"/>
          <p:cNvSpPr/>
          <p:nvPr/>
        </p:nvSpPr>
        <p:spPr>
          <a:xfrm>
            <a:off x="6035040" y="3200400"/>
            <a:ext cx="1645920" cy="82296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46120"/>
            <a:ext cx="1645920" cy="411480"/>
          </a:xfrm>
          <a:prstGeom prst="rect">
            <a:avLst/>
          </a:prstGeom>
          <a:noFill/>
        </p:spPr>
        <p:txBody>
          <a:bodyPr wrap="square" anchor="t" lIns="0" rIns="0" tIns="0" bIns="0">
            <a:noAutofit/>
          </a:bodyPr>
          <a:lstStyle/>
          <a:p>
            <a:pPr algn="ctr">
              <a:lnSpc>
                <a:spcPct val="105000"/>
              </a:lnSpc>
              <a:spcBef>
                <a:spcPts val="0"/>
              </a:spcBef>
            </a:pPr>
            <a:r>
              <a:rPr sz="2600" b="1" i="0">
                <a:solidFill>
                  <a:srgbClr val="FFB800"/>
                </a:solidFill>
                <a:latin typeface="Calibri"/>
              </a:rPr>
              <a:t>30+</a:t>
            </a:r>
          </a:p>
        </p:txBody>
      </p:sp>
      <p:sp>
        <p:nvSpPr>
          <p:cNvPr id="21" name="TextBox 20"/>
          <p:cNvSpPr txBox="1"/>
          <p:nvPr/>
        </p:nvSpPr>
        <p:spPr>
          <a:xfrm>
            <a:off x="6035040" y="3657600"/>
            <a:ext cx="1645920" cy="274320"/>
          </a:xfrm>
          <a:prstGeom prst="rect">
            <a:avLst/>
          </a:prstGeom>
          <a:noFill/>
        </p:spPr>
        <p:txBody>
          <a:bodyPr wrap="square" anchor="t" lIns="0" rIns="0" tIns="0" bIns="0">
            <a:noAutofit/>
          </a:bodyPr>
          <a:lstStyle/>
          <a:p>
            <a:pPr algn="ctr">
              <a:lnSpc>
                <a:spcPct val="105000"/>
              </a:lnSpc>
              <a:spcBef>
                <a:spcPts val="0"/>
              </a:spcBef>
            </a:pPr>
            <a:r>
              <a:rPr sz="1000" b="0" i="0">
                <a:solidFill>
                  <a:srgbClr val="5B6B7C"/>
                </a:solidFill>
                <a:latin typeface="Calibri"/>
              </a:rPr>
              <a:t>GitHub Repos</a:t>
            </a:r>
          </a:p>
        </p:txBody>
      </p:sp>
      <p:sp>
        <p:nvSpPr>
          <p:cNvPr id="22" name="Rounded Rectangle 21"/>
          <p:cNvSpPr/>
          <p:nvPr/>
        </p:nvSpPr>
        <p:spPr>
          <a:xfrm>
            <a:off x="7863840" y="3200400"/>
            <a:ext cx="1645920" cy="82296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3246120"/>
            <a:ext cx="1645920" cy="411480"/>
          </a:xfrm>
          <a:prstGeom prst="rect">
            <a:avLst/>
          </a:prstGeom>
          <a:noFill/>
        </p:spPr>
        <p:txBody>
          <a:bodyPr wrap="square" anchor="t" lIns="0" rIns="0" tIns="0" bIns="0">
            <a:noAutofit/>
          </a:bodyPr>
          <a:lstStyle/>
          <a:p>
            <a:pPr algn="ctr">
              <a:lnSpc>
                <a:spcPct val="105000"/>
              </a:lnSpc>
              <a:spcBef>
                <a:spcPts val="0"/>
              </a:spcBef>
            </a:pPr>
            <a:r>
              <a:rPr sz="2600" b="1" i="0">
                <a:solidFill>
                  <a:srgbClr val="FFB800"/>
                </a:solidFill>
                <a:latin typeface="Calibri"/>
              </a:rPr>
              <a:t>8+</a:t>
            </a:r>
          </a:p>
        </p:txBody>
      </p:sp>
      <p:sp>
        <p:nvSpPr>
          <p:cNvPr id="24" name="TextBox 23"/>
          <p:cNvSpPr txBox="1"/>
          <p:nvPr/>
        </p:nvSpPr>
        <p:spPr>
          <a:xfrm>
            <a:off x="7863840" y="3657600"/>
            <a:ext cx="1645920" cy="274320"/>
          </a:xfrm>
          <a:prstGeom prst="rect">
            <a:avLst/>
          </a:prstGeom>
          <a:noFill/>
        </p:spPr>
        <p:txBody>
          <a:bodyPr wrap="square" anchor="t" lIns="0" rIns="0" tIns="0" bIns="0">
            <a:noAutofit/>
          </a:bodyPr>
          <a:lstStyle/>
          <a:p>
            <a:pPr algn="ctr">
              <a:lnSpc>
                <a:spcPct val="105000"/>
              </a:lnSpc>
              <a:spcBef>
                <a:spcPts val="0"/>
              </a:spcBef>
            </a:pPr>
            <a:r>
              <a:rPr sz="1000" b="0" i="0">
                <a:solidFill>
                  <a:srgbClr val="5B6B7C"/>
                </a:solidFill>
                <a:latin typeface="Calibri"/>
              </a:rPr>
              <a:t>MCP Servers</a:t>
            </a:r>
          </a:p>
        </p:txBody>
      </p:sp>
      <p:sp>
        <p:nvSpPr>
          <p:cNvPr id="25" name="Rounded Rectangle 24"/>
          <p:cNvSpPr/>
          <p:nvPr/>
        </p:nvSpPr>
        <p:spPr>
          <a:xfrm>
            <a:off x="9692640" y="3200400"/>
            <a:ext cx="1645920" cy="82296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92640" y="3246120"/>
            <a:ext cx="1645920" cy="411480"/>
          </a:xfrm>
          <a:prstGeom prst="rect">
            <a:avLst/>
          </a:prstGeom>
          <a:noFill/>
        </p:spPr>
        <p:txBody>
          <a:bodyPr wrap="square" anchor="t" lIns="0" rIns="0" tIns="0" bIns="0">
            <a:noAutofit/>
          </a:bodyPr>
          <a:lstStyle/>
          <a:p>
            <a:pPr algn="ctr">
              <a:lnSpc>
                <a:spcPct val="105000"/>
              </a:lnSpc>
              <a:spcBef>
                <a:spcPts val="0"/>
              </a:spcBef>
            </a:pPr>
            <a:r>
              <a:rPr sz="2600" b="1" i="0">
                <a:solidFill>
                  <a:srgbClr val="FFB800"/>
                </a:solidFill>
                <a:latin typeface="Calibri"/>
              </a:rPr>
              <a:t>$2-10K/mo</a:t>
            </a:r>
          </a:p>
        </p:txBody>
      </p:sp>
      <p:sp>
        <p:nvSpPr>
          <p:cNvPr id="27" name="TextBox 26"/>
          <p:cNvSpPr txBox="1"/>
          <p:nvPr/>
        </p:nvSpPr>
        <p:spPr>
          <a:xfrm>
            <a:off x="9692640" y="3657600"/>
            <a:ext cx="1645920" cy="274320"/>
          </a:xfrm>
          <a:prstGeom prst="rect">
            <a:avLst/>
          </a:prstGeom>
          <a:noFill/>
        </p:spPr>
        <p:txBody>
          <a:bodyPr wrap="square" anchor="t" lIns="0" rIns="0" tIns="0" bIns="0">
            <a:noAutofit/>
          </a:bodyPr>
          <a:lstStyle/>
          <a:p>
            <a:pPr algn="ctr">
              <a:lnSpc>
                <a:spcPct val="105000"/>
              </a:lnSpc>
              <a:spcBef>
                <a:spcPts val="0"/>
              </a:spcBef>
            </a:pPr>
            <a:r>
              <a:rPr sz="1000" b="0" i="0">
                <a:solidFill>
                  <a:srgbClr val="5B6B7C"/>
                </a:solidFill>
                <a:latin typeface="Calibri"/>
              </a:rPr>
              <a:t>Revenue</a:t>
            </a:r>
          </a:p>
        </p:txBody>
      </p:sp>
      <p:sp>
        <p:nvSpPr>
          <p:cNvPr id="28" name="TextBox 27"/>
          <p:cNvSpPr txBox="1"/>
          <p:nvPr/>
        </p:nvSpPr>
        <p:spPr>
          <a:xfrm>
            <a:off x="548640" y="4572000"/>
            <a:ext cx="9144000" cy="731520"/>
          </a:xfrm>
          <a:prstGeom prst="rect">
            <a:avLst/>
          </a:prstGeom>
          <a:noFill/>
        </p:spPr>
        <p:txBody>
          <a:bodyPr wrap="square" anchor="t" lIns="0" rIns="0" tIns="0" bIns="0">
            <a:noAutofit/>
          </a:bodyPr>
          <a:lstStyle/>
          <a:p>
            <a:pPr algn="l">
              <a:lnSpc>
                <a:spcPct val="105000"/>
              </a:lnSpc>
              <a:spcBef>
                <a:spcPts val="0"/>
              </a:spcBef>
            </a:pPr>
            <a:r>
              <a:rPr sz="1200" b="1" i="0">
                <a:solidFill>
                  <a:srgbClr val="E0F7F1"/>
                </a:solidFill>
                <a:latin typeface="Calibri"/>
              </a:rPr>
              <a:t>Data pipeline:</a:t>
            </a:r>
          </a:p>
          <a:p>
            <a:pPr algn="l">
              <a:lnSpc>
                <a:spcPct val="105000"/>
              </a:lnSpc>
              <a:spcBef>
                <a:spcPts val="400"/>
              </a:spcBef>
            </a:pPr>
            <a:r>
              <a:rPr sz="1000" b="0" i="0">
                <a:solidFill>
                  <a:srgbClr val="5B6B7C"/>
                </a:solidFill>
                <a:latin typeface="Calibri"/>
              </a:rPr>
              <a:t>GBrain recall → Exa research → Implementation specs → GitHub repos → Vertical scorer → pptxkit render</a:t>
            </a:r>
          </a:p>
        </p:txBody>
      </p:sp>
      <p:sp>
        <p:nvSpPr>
          <p:cNvPr id="29" name="TextBox 28"/>
          <p:cNvSpPr txBox="1"/>
          <p:nvPr/>
        </p:nvSpPr>
        <p:spPr>
          <a:xfrm>
            <a:off x="548640" y="6217920"/>
            <a:ext cx="27432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5B6B7C"/>
                </a:solidFill>
                <a:latin typeface="Calibri"/>
              </a:rPr>
              <a:t>{{brand_name}}</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111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Portfolio: 5 Industries, 10 Use Cases, One Architecture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OpenHands SDK + MCP servers + domain skills + system-of-record integration</a:t>
            </a:r>
          </a:p>
        </p:txBody>
      </p:sp>
      <p:sp>
        <p:nvSpPr>
          <p:cNvPr id="7" name="Rounded Rectangle 6"/>
          <p:cNvSpPr/>
          <p:nvPr/>
        </p:nvSpPr>
        <p:spPr>
          <a:xfrm>
            <a:off x="548640" y="1554480"/>
            <a:ext cx="3383280" cy="2103120"/>
          </a:xfrm>
          <a:prstGeom prst="roundRect">
            <a:avLst>
              <a:gd name="adj" fmla="val 2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4840" y="1630680"/>
            <a:ext cx="3230880" cy="25400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4840" y="1643380"/>
            <a:ext cx="3230880" cy="228600"/>
          </a:xfrm>
          <a:prstGeom prst="rect">
            <a:avLst/>
          </a:prstGeom>
          <a:noFill/>
        </p:spPr>
        <p:txBody>
          <a:bodyPr wrap="square" anchor="t" lIns="0" rIns="0" tIns="0" bIns="0">
            <a:noAutofit/>
          </a:bodyPr>
          <a:lstStyle/>
          <a:p>
            <a:pPr algn="ctr">
              <a:lnSpc>
                <a:spcPct val="105000"/>
              </a:lnSpc>
              <a:spcBef>
                <a:spcPts val="0"/>
              </a:spcBef>
            </a:pPr>
            <a:r>
              <a:rPr sz="800" b="1" i="0">
                <a:solidFill>
                  <a:srgbClr val="00C9A7"/>
                </a:solidFill>
                <a:latin typeface="Calibri"/>
              </a:rPr>
              <a:t>Manufacturing</a:t>
            </a:r>
          </a:p>
        </p:txBody>
      </p:sp>
      <p:sp>
        <p:nvSpPr>
          <p:cNvPr id="10" name="TextBox 9"/>
          <p:cNvSpPr txBox="1"/>
          <p:nvPr/>
        </p:nvSpPr>
        <p:spPr>
          <a:xfrm>
            <a:off x="624840" y="1935480"/>
            <a:ext cx="914400" cy="177800"/>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32/35 GO</a:t>
            </a:r>
          </a:p>
        </p:txBody>
      </p:sp>
      <p:sp>
        <p:nvSpPr>
          <p:cNvPr id="11" name="TextBox 10"/>
          <p:cNvSpPr txBox="1"/>
          <p:nvPr/>
        </p:nvSpPr>
        <p:spPr>
          <a:xfrm>
            <a:off x="1554480" y="1935480"/>
            <a:ext cx="914400" cy="177800"/>
          </a:xfrm>
          <a:prstGeom prst="rect">
            <a:avLst/>
          </a:prstGeom>
          <a:noFill/>
        </p:spPr>
        <p:txBody>
          <a:bodyPr wrap="square" anchor="t" lIns="0" rIns="0" tIns="0" bIns="0">
            <a:noAutofit/>
          </a:bodyPr>
          <a:lstStyle/>
          <a:p>
            <a:pPr algn="r">
              <a:lnSpc>
                <a:spcPct val="105000"/>
              </a:lnSpc>
              <a:spcBef>
                <a:spcPts val="0"/>
              </a:spcBef>
            </a:pPr>
            <a:r>
              <a:rPr sz="700" b="1" i="0">
                <a:solidFill>
                  <a:srgbClr val="FFB800"/>
                </a:solidFill>
                <a:latin typeface="Calibri"/>
              </a:rPr>
              <a:t>$5-10K/mo</a:t>
            </a:r>
          </a:p>
        </p:txBody>
      </p:sp>
      <p:sp>
        <p:nvSpPr>
          <p:cNvPr id="12" name="TextBox 11"/>
          <p:cNvSpPr txBox="1"/>
          <p:nvPr/>
        </p:nvSpPr>
        <p:spPr>
          <a:xfrm>
            <a:off x="624840" y="2164080"/>
            <a:ext cx="3230880" cy="1188720"/>
          </a:xfrm>
          <a:prstGeom prst="rect">
            <a:avLst/>
          </a:prstGeom>
          <a:noFill/>
        </p:spPr>
        <p:txBody>
          <a:bodyPr wrap="square" anchor="t" lIns="0" rIns="0" tIns="0" bIns="0">
            <a:noAutofit/>
          </a:bodyPr>
          <a:lstStyle/>
          <a:p>
            <a:pPr algn="l">
              <a:lnSpc>
                <a:spcPct val="105000"/>
              </a:lnSpc>
              <a:spcBef>
                <a:spcPts val="0"/>
              </a:spcBef>
            </a:pPr>
            <a:r>
              <a:rPr sz="700" b="0" i="0">
                <a:solidFill>
                  <a:srgbClr val="1B2B3C"/>
                </a:solidFill>
                <a:latin typeface="Calibri"/>
              </a:rPr>
              <a:t>PdM (Unilever $2.3M) + Visual QI (YOLOv8, 99.2%)</a:t>
            </a:r>
          </a:p>
        </p:txBody>
      </p:sp>
      <p:sp>
        <p:nvSpPr>
          <p:cNvPr id="13" name="Rounded Rectangle 12"/>
          <p:cNvSpPr/>
          <p:nvPr/>
        </p:nvSpPr>
        <p:spPr>
          <a:xfrm>
            <a:off x="4206240" y="1554480"/>
            <a:ext cx="3383280" cy="2103120"/>
          </a:xfrm>
          <a:prstGeom prst="roundRect">
            <a:avLst>
              <a:gd name="adj" fmla="val 2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82440" y="1630680"/>
            <a:ext cx="3230880" cy="25400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82440" y="1643380"/>
            <a:ext cx="3230880" cy="228600"/>
          </a:xfrm>
          <a:prstGeom prst="rect">
            <a:avLst/>
          </a:prstGeom>
          <a:noFill/>
        </p:spPr>
        <p:txBody>
          <a:bodyPr wrap="square" anchor="t" lIns="0" rIns="0" tIns="0" bIns="0">
            <a:noAutofit/>
          </a:bodyPr>
          <a:lstStyle/>
          <a:p>
            <a:pPr algn="ctr">
              <a:lnSpc>
                <a:spcPct val="105000"/>
              </a:lnSpc>
              <a:spcBef>
                <a:spcPts val="0"/>
              </a:spcBef>
            </a:pPr>
            <a:r>
              <a:rPr sz="800" b="1" i="0">
                <a:solidFill>
                  <a:srgbClr val="00C9A7"/>
                </a:solidFill>
                <a:latin typeface="Calibri"/>
              </a:rPr>
              <a:t>Healthcare</a:t>
            </a:r>
          </a:p>
        </p:txBody>
      </p:sp>
      <p:sp>
        <p:nvSpPr>
          <p:cNvPr id="16" name="TextBox 15"/>
          <p:cNvSpPr txBox="1"/>
          <p:nvPr/>
        </p:nvSpPr>
        <p:spPr>
          <a:xfrm>
            <a:off x="4282440" y="1935480"/>
            <a:ext cx="914400" cy="177800"/>
          </a:xfrm>
          <a:prstGeom prst="rect">
            <a:avLst/>
          </a:prstGeom>
          <a:noFill/>
        </p:spPr>
        <p:txBody>
          <a:bodyPr wrap="square" anchor="t" lIns="0" rIns="0" tIns="0" bIns="0">
            <a:noAutofit/>
          </a:bodyPr>
          <a:lstStyle/>
          <a:p>
            <a:pPr algn="l">
              <a:lnSpc>
                <a:spcPct val="105000"/>
              </a:lnSpc>
              <a:spcBef>
                <a:spcPts val="0"/>
              </a:spcBef>
            </a:pPr>
            <a:r>
              <a:rPr sz="700" b="1" i="0">
                <a:solidFill>
                  <a:srgbClr val="F2A83B"/>
                </a:solidFill>
                <a:latin typeface="Calibri"/>
              </a:rPr>
              <a:t>Viable</a:t>
            </a:r>
          </a:p>
        </p:txBody>
      </p:sp>
      <p:sp>
        <p:nvSpPr>
          <p:cNvPr id="17" name="TextBox 16"/>
          <p:cNvSpPr txBox="1"/>
          <p:nvPr/>
        </p:nvSpPr>
        <p:spPr>
          <a:xfrm>
            <a:off x="5212080" y="1935480"/>
            <a:ext cx="914400" cy="177800"/>
          </a:xfrm>
          <a:prstGeom prst="rect">
            <a:avLst/>
          </a:prstGeom>
          <a:noFill/>
        </p:spPr>
        <p:txBody>
          <a:bodyPr wrap="square" anchor="t" lIns="0" rIns="0" tIns="0" bIns="0">
            <a:noAutofit/>
          </a:bodyPr>
          <a:lstStyle/>
          <a:p>
            <a:pPr algn="r">
              <a:lnSpc>
                <a:spcPct val="105000"/>
              </a:lnSpc>
              <a:spcBef>
                <a:spcPts val="0"/>
              </a:spcBef>
            </a:pPr>
            <a:r>
              <a:rPr sz="700" b="1" i="0">
                <a:solidFill>
                  <a:srgbClr val="FFB800"/>
                </a:solidFill>
                <a:latin typeface="Calibri"/>
              </a:rPr>
              <a:t>$3-5K/mo</a:t>
            </a:r>
          </a:p>
        </p:txBody>
      </p:sp>
      <p:sp>
        <p:nvSpPr>
          <p:cNvPr id="18" name="TextBox 17"/>
          <p:cNvSpPr txBox="1"/>
          <p:nvPr/>
        </p:nvSpPr>
        <p:spPr>
          <a:xfrm>
            <a:off x="4282440" y="2164080"/>
            <a:ext cx="3230880" cy="1188720"/>
          </a:xfrm>
          <a:prstGeom prst="rect">
            <a:avLst/>
          </a:prstGeom>
          <a:noFill/>
        </p:spPr>
        <p:txBody>
          <a:bodyPr wrap="square" anchor="t" lIns="0" rIns="0" tIns="0" bIns="0">
            <a:noAutofit/>
          </a:bodyPr>
          <a:lstStyle/>
          <a:p>
            <a:pPr algn="l">
              <a:lnSpc>
                <a:spcPct val="105000"/>
              </a:lnSpc>
              <a:spcBef>
                <a:spcPts val="0"/>
              </a:spcBef>
            </a:pPr>
            <a:r>
              <a:rPr sz="700" b="0" i="0">
                <a:solidFill>
                  <a:srgbClr val="1B2B3C"/>
                </a:solidFill>
                <a:latin typeface="Calibri"/>
              </a:rPr>
              <a:t>Patient Intake (FHIR+Twilio) + Clinical AI (TGH+CSH)</a:t>
            </a:r>
          </a:p>
        </p:txBody>
      </p:sp>
      <p:sp>
        <p:nvSpPr>
          <p:cNvPr id="19" name="Rounded Rectangle 18"/>
          <p:cNvSpPr/>
          <p:nvPr/>
        </p:nvSpPr>
        <p:spPr>
          <a:xfrm>
            <a:off x="7863840" y="1554480"/>
            <a:ext cx="3383280" cy="2103120"/>
          </a:xfrm>
          <a:prstGeom prst="roundRect">
            <a:avLst>
              <a:gd name="adj" fmla="val 2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940040" y="1630680"/>
            <a:ext cx="3230880" cy="25400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40040" y="1643380"/>
            <a:ext cx="3230880" cy="228600"/>
          </a:xfrm>
          <a:prstGeom prst="rect">
            <a:avLst/>
          </a:prstGeom>
          <a:noFill/>
        </p:spPr>
        <p:txBody>
          <a:bodyPr wrap="square" anchor="t" lIns="0" rIns="0" tIns="0" bIns="0">
            <a:noAutofit/>
          </a:bodyPr>
          <a:lstStyle/>
          <a:p>
            <a:pPr algn="ctr">
              <a:lnSpc>
                <a:spcPct val="105000"/>
              </a:lnSpc>
              <a:spcBef>
                <a:spcPts val="0"/>
              </a:spcBef>
            </a:pPr>
            <a:r>
              <a:rPr sz="800" b="1" i="0">
                <a:solidFill>
                  <a:srgbClr val="00C9A7"/>
                </a:solidFill>
                <a:latin typeface="Calibri"/>
              </a:rPr>
              <a:t>Legal</a:t>
            </a:r>
          </a:p>
        </p:txBody>
      </p:sp>
      <p:sp>
        <p:nvSpPr>
          <p:cNvPr id="22" name="TextBox 21"/>
          <p:cNvSpPr txBox="1"/>
          <p:nvPr/>
        </p:nvSpPr>
        <p:spPr>
          <a:xfrm>
            <a:off x="7940040" y="1935480"/>
            <a:ext cx="914400" cy="177800"/>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30/35 GO</a:t>
            </a:r>
          </a:p>
        </p:txBody>
      </p:sp>
      <p:sp>
        <p:nvSpPr>
          <p:cNvPr id="23" name="TextBox 22"/>
          <p:cNvSpPr txBox="1"/>
          <p:nvPr/>
        </p:nvSpPr>
        <p:spPr>
          <a:xfrm>
            <a:off x="8869680" y="1935480"/>
            <a:ext cx="914400" cy="177800"/>
          </a:xfrm>
          <a:prstGeom prst="rect">
            <a:avLst/>
          </a:prstGeom>
          <a:noFill/>
        </p:spPr>
        <p:txBody>
          <a:bodyPr wrap="square" anchor="t" lIns="0" rIns="0" tIns="0" bIns="0">
            <a:noAutofit/>
          </a:bodyPr>
          <a:lstStyle/>
          <a:p>
            <a:pPr algn="r">
              <a:lnSpc>
                <a:spcPct val="105000"/>
              </a:lnSpc>
              <a:spcBef>
                <a:spcPts val="0"/>
              </a:spcBef>
            </a:pPr>
            <a:r>
              <a:rPr sz="700" b="1" i="0">
                <a:solidFill>
                  <a:srgbClr val="FFB800"/>
                </a:solidFill>
                <a:latin typeface="Calibri"/>
              </a:rPr>
              <a:t>$3-5K/mo</a:t>
            </a:r>
          </a:p>
        </p:txBody>
      </p:sp>
      <p:sp>
        <p:nvSpPr>
          <p:cNvPr id="24" name="TextBox 23"/>
          <p:cNvSpPr txBox="1"/>
          <p:nvPr/>
        </p:nvSpPr>
        <p:spPr>
          <a:xfrm>
            <a:off x="7940040" y="2164080"/>
            <a:ext cx="3230880" cy="1188720"/>
          </a:xfrm>
          <a:prstGeom prst="rect">
            <a:avLst/>
          </a:prstGeom>
          <a:noFill/>
        </p:spPr>
        <p:txBody>
          <a:bodyPr wrap="square" anchor="t" lIns="0" rIns="0" tIns="0" bIns="0">
            <a:noAutofit/>
          </a:bodyPr>
          <a:lstStyle/>
          <a:p>
            <a:pPr algn="l">
              <a:lnSpc>
                <a:spcPct val="105000"/>
              </a:lnSpc>
              <a:spcBef>
                <a:spcPts val="0"/>
              </a:spcBef>
            </a:pPr>
            <a:r>
              <a:rPr sz="700" b="0" i="0">
                <a:solidFill>
                  <a:srgbClr val="1B2B3C"/>
                </a:solidFill>
                <a:latin typeface="Calibri"/>
              </a:rPr>
              <a:t>Contract Review (67-agent) + LexisNexis (284% ROI)</a:t>
            </a:r>
          </a:p>
        </p:txBody>
      </p:sp>
      <p:sp>
        <p:nvSpPr>
          <p:cNvPr id="25" name="Rounded Rectangle 24"/>
          <p:cNvSpPr/>
          <p:nvPr/>
        </p:nvSpPr>
        <p:spPr>
          <a:xfrm>
            <a:off x="548640" y="3931920"/>
            <a:ext cx="3383280" cy="2103120"/>
          </a:xfrm>
          <a:prstGeom prst="roundRect">
            <a:avLst>
              <a:gd name="adj" fmla="val 2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4840" y="4008120"/>
            <a:ext cx="3230880" cy="25400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840" y="4020820"/>
            <a:ext cx="3230880" cy="228600"/>
          </a:xfrm>
          <a:prstGeom prst="rect">
            <a:avLst/>
          </a:prstGeom>
          <a:noFill/>
        </p:spPr>
        <p:txBody>
          <a:bodyPr wrap="square" anchor="t" lIns="0" rIns="0" tIns="0" bIns="0">
            <a:noAutofit/>
          </a:bodyPr>
          <a:lstStyle/>
          <a:p>
            <a:pPr algn="ctr">
              <a:lnSpc>
                <a:spcPct val="105000"/>
              </a:lnSpc>
              <a:spcBef>
                <a:spcPts val="0"/>
              </a:spcBef>
            </a:pPr>
            <a:r>
              <a:rPr sz="800" b="1" i="0">
                <a:solidFill>
                  <a:srgbClr val="00C9A7"/>
                </a:solidFill>
                <a:latin typeface="Calibri"/>
              </a:rPr>
              <a:t>Financial Svcs</a:t>
            </a:r>
          </a:p>
        </p:txBody>
      </p:sp>
      <p:sp>
        <p:nvSpPr>
          <p:cNvPr id="28" name="TextBox 27"/>
          <p:cNvSpPr txBox="1"/>
          <p:nvPr/>
        </p:nvSpPr>
        <p:spPr>
          <a:xfrm>
            <a:off x="624840" y="4312920"/>
            <a:ext cx="914400" cy="177800"/>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Production</a:t>
            </a:r>
          </a:p>
        </p:txBody>
      </p:sp>
      <p:sp>
        <p:nvSpPr>
          <p:cNvPr id="29" name="TextBox 28"/>
          <p:cNvSpPr txBox="1"/>
          <p:nvPr/>
        </p:nvSpPr>
        <p:spPr>
          <a:xfrm>
            <a:off x="1554480" y="4312920"/>
            <a:ext cx="914400" cy="177800"/>
          </a:xfrm>
          <a:prstGeom prst="rect">
            <a:avLst/>
          </a:prstGeom>
          <a:noFill/>
        </p:spPr>
        <p:txBody>
          <a:bodyPr wrap="square" anchor="t" lIns="0" rIns="0" tIns="0" bIns="0">
            <a:noAutofit/>
          </a:bodyPr>
          <a:lstStyle/>
          <a:p>
            <a:pPr algn="r">
              <a:lnSpc>
                <a:spcPct val="105000"/>
              </a:lnSpc>
              <a:spcBef>
                <a:spcPts val="0"/>
              </a:spcBef>
            </a:pPr>
            <a:r>
              <a:rPr sz="700" b="1" i="0">
                <a:solidFill>
                  <a:srgbClr val="FFB800"/>
                </a:solidFill>
                <a:latin typeface="Calibri"/>
              </a:rPr>
              <a:t>Enterprise</a:t>
            </a:r>
          </a:p>
        </p:txBody>
      </p:sp>
      <p:sp>
        <p:nvSpPr>
          <p:cNvPr id="30" name="TextBox 29"/>
          <p:cNvSpPr txBox="1"/>
          <p:nvPr/>
        </p:nvSpPr>
        <p:spPr>
          <a:xfrm>
            <a:off x="624840" y="4541520"/>
            <a:ext cx="3230880" cy="1188720"/>
          </a:xfrm>
          <a:prstGeom prst="rect">
            <a:avLst/>
          </a:prstGeom>
          <a:noFill/>
        </p:spPr>
        <p:txBody>
          <a:bodyPr wrap="square" anchor="t" lIns="0" rIns="0" tIns="0" bIns="0">
            <a:noAutofit/>
          </a:bodyPr>
          <a:lstStyle/>
          <a:p>
            <a:pPr algn="l">
              <a:lnSpc>
                <a:spcPct val="105000"/>
              </a:lnSpc>
              <a:spcBef>
                <a:spcPts val="0"/>
              </a:spcBef>
            </a:pPr>
            <a:r>
              <a:rPr sz="700" b="0" i="0">
                <a:solidFill>
                  <a:srgbClr val="1B2B3C"/>
                </a:solidFill>
                <a:latin typeface="Calibri"/>
              </a:rPr>
              <a:t>TD Bank (15hr→min) + JPMorgan (360K hrs/yr)</a:t>
            </a:r>
          </a:p>
        </p:txBody>
      </p:sp>
      <p:sp>
        <p:nvSpPr>
          <p:cNvPr id="31" name="Rounded Rectangle 30"/>
          <p:cNvSpPr/>
          <p:nvPr/>
        </p:nvSpPr>
        <p:spPr>
          <a:xfrm>
            <a:off x="4206240" y="3931920"/>
            <a:ext cx="3383280" cy="2103120"/>
          </a:xfrm>
          <a:prstGeom prst="roundRect">
            <a:avLst>
              <a:gd name="adj" fmla="val 2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82440" y="4008120"/>
            <a:ext cx="3230880" cy="254000"/>
          </a:xfrm>
          <a:prstGeom prst="roundRect">
            <a:avLst>
              <a:gd name="adj" fmla="val 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82440" y="4020820"/>
            <a:ext cx="3230880" cy="228600"/>
          </a:xfrm>
          <a:prstGeom prst="rect">
            <a:avLst/>
          </a:prstGeom>
          <a:noFill/>
        </p:spPr>
        <p:txBody>
          <a:bodyPr wrap="square" anchor="t" lIns="0" rIns="0" tIns="0" bIns="0">
            <a:noAutofit/>
          </a:bodyPr>
          <a:lstStyle/>
          <a:p>
            <a:pPr algn="ctr">
              <a:lnSpc>
                <a:spcPct val="105000"/>
              </a:lnSpc>
              <a:spcBef>
                <a:spcPts val="0"/>
              </a:spcBef>
            </a:pPr>
            <a:r>
              <a:rPr sz="800" b="1" i="0">
                <a:solidFill>
                  <a:srgbClr val="00C9A7"/>
                </a:solidFill>
                <a:latin typeface="Calibri"/>
              </a:rPr>
              <a:t>Construction</a:t>
            </a:r>
          </a:p>
        </p:txBody>
      </p:sp>
      <p:sp>
        <p:nvSpPr>
          <p:cNvPr id="34" name="TextBox 33"/>
          <p:cNvSpPr txBox="1"/>
          <p:nvPr/>
        </p:nvSpPr>
        <p:spPr>
          <a:xfrm>
            <a:off x="4282440" y="4312920"/>
            <a:ext cx="914400" cy="177800"/>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Production</a:t>
            </a:r>
          </a:p>
        </p:txBody>
      </p:sp>
      <p:sp>
        <p:nvSpPr>
          <p:cNvPr id="35" name="TextBox 34"/>
          <p:cNvSpPr txBox="1"/>
          <p:nvPr/>
        </p:nvSpPr>
        <p:spPr>
          <a:xfrm>
            <a:off x="5212080" y="4312920"/>
            <a:ext cx="914400" cy="177800"/>
          </a:xfrm>
          <a:prstGeom prst="rect">
            <a:avLst/>
          </a:prstGeom>
          <a:noFill/>
        </p:spPr>
        <p:txBody>
          <a:bodyPr wrap="square" anchor="t" lIns="0" rIns="0" tIns="0" bIns="0">
            <a:noAutofit/>
          </a:bodyPr>
          <a:lstStyle/>
          <a:p>
            <a:pPr algn="r">
              <a:lnSpc>
                <a:spcPct val="105000"/>
              </a:lnSpc>
              <a:spcBef>
                <a:spcPts val="0"/>
              </a:spcBef>
            </a:pPr>
            <a:r>
              <a:rPr sz="700" b="1" i="0">
                <a:solidFill>
                  <a:srgbClr val="FFB800"/>
                </a:solidFill>
                <a:latin typeface="Calibri"/>
              </a:rPr>
              <a:t>Enterprise</a:t>
            </a:r>
          </a:p>
        </p:txBody>
      </p:sp>
      <p:sp>
        <p:nvSpPr>
          <p:cNvPr id="36" name="TextBox 35"/>
          <p:cNvSpPr txBox="1"/>
          <p:nvPr/>
        </p:nvSpPr>
        <p:spPr>
          <a:xfrm>
            <a:off x="4282440" y="4541520"/>
            <a:ext cx="3230880" cy="1188720"/>
          </a:xfrm>
          <a:prstGeom prst="rect">
            <a:avLst/>
          </a:prstGeom>
          <a:noFill/>
        </p:spPr>
        <p:txBody>
          <a:bodyPr wrap="square" anchor="t" lIns="0" rIns="0" tIns="0" bIns="0">
            <a:noAutofit/>
          </a:bodyPr>
          <a:lstStyle/>
          <a:p>
            <a:pPr algn="l">
              <a:lnSpc>
                <a:spcPct val="105000"/>
              </a:lnSpc>
              <a:spcBef>
                <a:spcPts val="0"/>
              </a:spcBef>
            </a:pPr>
            <a:r>
              <a:rPr sz="700" b="0" i="0">
                <a:solidFill>
                  <a:srgbClr val="1B2B3C"/>
                </a:solidFill>
                <a:latin typeface="Calibri"/>
              </a:rPr>
              <a:t>DroneDeploy (34M annotations) + BCG (6x ROI)</a:t>
            </a:r>
          </a:p>
        </p:txBody>
      </p:sp>
      <p:sp>
        <p:nvSpPr>
          <p:cNvPr id="37" name="TextBox 3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8" name="TextBox 3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111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457200"/>
          </a:xfrm>
          <a:prstGeom prst="rect">
            <a:avLst/>
          </a:prstGeom>
          <a:noFill/>
        </p:spPr>
        <p:txBody>
          <a:bodyPr wrap="square" anchor="t" lIns="0" rIns="0" tIns="0" bIns="0">
            <a:noAutofit/>
          </a:bodyPr>
          <a:lstStyle/>
          <a:p>
            <a:pPr algn="l">
              <a:lnSpc>
                <a:spcPct val="105000"/>
              </a:lnSpc>
              <a:spcBef>
                <a:spcPts val="0"/>
              </a:spcBef>
            </a:pPr>
            <a:r>
              <a:rPr sz="2800" b="1" i="0">
                <a:solidFill>
                  <a:srgbClr val="FFFFFF"/>
                </a:solidFill>
                <a:latin typeface="Calibri"/>
              </a:rPr>
              <a:t>ONE ARCHITECTURE, EVERY INDUSTRY</a:t>
            </a:r>
          </a:p>
        </p:txBody>
      </p:sp>
      <p:sp>
        <p:nvSpPr>
          <p:cNvPr id="5" name="Rectangle 4"/>
          <p:cNvSpPr/>
          <p:nvPr/>
        </p:nvSpPr>
        <p:spPr>
          <a:xfrm>
            <a:off x="548640" y="77724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97280"/>
            <a:ext cx="11094415" cy="7315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198880"/>
            <a:ext cx="2286000" cy="22860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USER LAYER</a:t>
            </a:r>
          </a:p>
        </p:txBody>
      </p:sp>
      <p:sp>
        <p:nvSpPr>
          <p:cNvPr id="8" name="TextBox 7"/>
          <p:cNvSpPr txBox="1"/>
          <p:nvPr/>
        </p:nvSpPr>
        <p:spPr>
          <a:xfrm>
            <a:off x="3108960" y="1198880"/>
            <a:ext cx="8168335" cy="54864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CLI / Generative UI (AG-UI) / Headless Batch</a:t>
            </a:r>
          </a:p>
        </p:txBody>
      </p:sp>
      <p:sp>
        <p:nvSpPr>
          <p:cNvPr id="9" name="Rounded Rectangle 8"/>
          <p:cNvSpPr/>
          <p:nvPr/>
        </p:nvSpPr>
        <p:spPr>
          <a:xfrm>
            <a:off x="548640" y="1920240"/>
            <a:ext cx="11094415" cy="7315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1840" y="2021840"/>
            <a:ext cx="2286000" cy="22860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ORCHESTRATION</a:t>
            </a:r>
          </a:p>
        </p:txBody>
      </p:sp>
      <p:sp>
        <p:nvSpPr>
          <p:cNvPr id="11" name="TextBox 10"/>
          <p:cNvSpPr txBox="1"/>
          <p:nvPr/>
        </p:nvSpPr>
        <p:spPr>
          <a:xfrm>
            <a:off x="3108960" y="2021840"/>
            <a:ext cx="8168335" cy="54864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OpenHands Agent(llm, tools, mcp_config, agent_context) → Conversation</a:t>
            </a:r>
          </a:p>
        </p:txBody>
      </p:sp>
      <p:sp>
        <p:nvSpPr>
          <p:cNvPr id="12" name="Rounded Rectangle 11"/>
          <p:cNvSpPr/>
          <p:nvPr/>
        </p:nvSpPr>
        <p:spPr>
          <a:xfrm>
            <a:off x="548640" y="2743200"/>
            <a:ext cx="11094415" cy="7315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844800"/>
            <a:ext cx="2286000" cy="228600"/>
          </a:xfrm>
          <a:prstGeom prst="rect">
            <a:avLst/>
          </a:prstGeom>
          <a:noFill/>
        </p:spPr>
        <p:txBody>
          <a:bodyPr wrap="square" anchor="t" lIns="0" rIns="0" tIns="0" bIns="0">
            <a:noAutofit/>
          </a:bodyPr>
          <a:lstStyle/>
          <a:p>
            <a:pPr algn="l">
              <a:lnSpc>
                <a:spcPct val="105000"/>
              </a:lnSpc>
              <a:spcBef>
                <a:spcPts val="0"/>
              </a:spcBef>
            </a:pPr>
            <a:r>
              <a:rPr sz="1100" b="1" i="0">
                <a:solidFill>
                  <a:srgbClr val="E0F7F1"/>
                </a:solidFill>
                <a:latin typeface="Calibri"/>
              </a:rPr>
              <a:t>AGENT STACK</a:t>
            </a:r>
          </a:p>
        </p:txBody>
      </p:sp>
      <p:sp>
        <p:nvSpPr>
          <p:cNvPr id="14" name="TextBox 13"/>
          <p:cNvSpPr txBox="1"/>
          <p:nvPr/>
        </p:nvSpPr>
        <p:spPr>
          <a:xfrm>
            <a:off x="3108960" y="2844800"/>
            <a:ext cx="8168335" cy="54864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Orchestrator → Sub-agents → Parallel delegation → Confirmation gates</a:t>
            </a:r>
          </a:p>
        </p:txBody>
      </p:sp>
      <p:sp>
        <p:nvSpPr>
          <p:cNvPr id="15" name="Rounded Rectangle 14"/>
          <p:cNvSpPr/>
          <p:nvPr/>
        </p:nvSpPr>
        <p:spPr>
          <a:xfrm>
            <a:off x="548640" y="3566160"/>
            <a:ext cx="11094415" cy="7315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840" y="3667760"/>
            <a:ext cx="2286000" cy="22860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MCP SERVERS</a:t>
            </a:r>
          </a:p>
        </p:txBody>
      </p:sp>
      <p:sp>
        <p:nvSpPr>
          <p:cNvPr id="17" name="TextBox 16"/>
          <p:cNvSpPr txBox="1"/>
          <p:nvPr/>
        </p:nvSpPr>
        <p:spPr>
          <a:xfrm>
            <a:off x="3108960" y="3667760"/>
            <a:ext cx="8168335" cy="54864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predictive-maintenance · sap-pm · open-agreements · lavern · suzielaw · FHIR · Twilio</a:t>
            </a:r>
          </a:p>
        </p:txBody>
      </p:sp>
      <p:sp>
        <p:nvSpPr>
          <p:cNvPr id="18" name="Rounded Rectangle 17"/>
          <p:cNvSpPr/>
          <p:nvPr/>
        </p:nvSpPr>
        <p:spPr>
          <a:xfrm>
            <a:off x="548640" y="4389120"/>
            <a:ext cx="11094415" cy="7315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490720"/>
            <a:ext cx="2286000" cy="228600"/>
          </a:xfrm>
          <a:prstGeom prst="rect">
            <a:avLst/>
          </a:prstGeom>
          <a:noFill/>
        </p:spPr>
        <p:txBody>
          <a:bodyPr wrap="square" anchor="t" lIns="0" rIns="0" tIns="0" bIns="0">
            <a:noAutofit/>
          </a:bodyPr>
          <a:lstStyle/>
          <a:p>
            <a:pPr algn="l">
              <a:lnSpc>
                <a:spcPct val="105000"/>
              </a:lnSpc>
              <a:spcBef>
                <a:spcPts val="0"/>
              </a:spcBef>
            </a:pPr>
            <a:r>
              <a:rPr sz="1100" b="1" i="0">
                <a:solidFill>
                  <a:srgbClr val="E0F7F1"/>
                </a:solidFill>
                <a:latin typeface="Calibri"/>
              </a:rPr>
              <a:t>DOMAIN SKILLS</a:t>
            </a:r>
          </a:p>
        </p:txBody>
      </p:sp>
      <p:sp>
        <p:nvSpPr>
          <p:cNvPr id="20" name="TextBox 19"/>
          <p:cNvSpPr txBox="1"/>
          <p:nvPr/>
        </p:nvSpPr>
        <p:spPr>
          <a:xfrm>
            <a:off x="3108960" y="4490720"/>
            <a:ext cx="8168335" cy="54864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SKILL.md + KeywordTrigger → ISO standards, workflow rules, diagnostic protocols</a:t>
            </a:r>
          </a:p>
        </p:txBody>
      </p:sp>
      <p:sp>
        <p:nvSpPr>
          <p:cNvPr id="21" name="Rounded Rectangle 20"/>
          <p:cNvSpPr/>
          <p:nvPr/>
        </p:nvSpPr>
        <p:spPr>
          <a:xfrm>
            <a:off x="548640" y="5212080"/>
            <a:ext cx="11094415" cy="7315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840" y="5313680"/>
            <a:ext cx="2286000" cy="228600"/>
          </a:xfrm>
          <a:prstGeom prst="rect">
            <a:avLst/>
          </a:prstGeom>
          <a:noFill/>
        </p:spPr>
        <p:txBody>
          <a:bodyPr wrap="square" anchor="t" lIns="0" rIns="0" tIns="0" bIns="0">
            <a:noAutofit/>
          </a:bodyPr>
          <a:lstStyle/>
          <a:p>
            <a:pPr algn="l">
              <a:lnSpc>
                <a:spcPct val="105000"/>
              </a:lnSpc>
              <a:spcBef>
                <a:spcPts val="0"/>
              </a:spcBef>
            </a:pPr>
            <a:r>
              <a:rPr sz="1100" b="1" i="0">
                <a:solidFill>
                  <a:srgbClr val="FFFFFF"/>
                </a:solidFill>
                <a:latin typeface="Calibri"/>
              </a:rPr>
              <a:t>SYSTEM OF RECORD</a:t>
            </a:r>
          </a:p>
        </p:txBody>
      </p:sp>
      <p:sp>
        <p:nvSpPr>
          <p:cNvPr id="23" name="TextBox 22"/>
          <p:cNvSpPr txBox="1"/>
          <p:nvPr/>
        </p:nvSpPr>
        <p:spPr>
          <a:xfrm>
            <a:off x="3108960" y="5313680"/>
            <a:ext cx="8168335" cy="54864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SAP S/4HANA · EHR/FHIR · iManage · CRM · TMS · BIM · Core Banking</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 / 111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743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01</a:t>
            </a:r>
          </a:p>
        </p:txBody>
      </p:sp>
      <p:sp>
        <p:nvSpPr>
          <p:cNvPr id="5" name="TextBox 4"/>
          <p:cNvSpPr txBox="1"/>
          <p:nvPr/>
        </p:nvSpPr>
        <p:spPr>
          <a:xfrm>
            <a:off x="731520" y="2286000"/>
            <a:ext cx="9144000" cy="91440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Manufacturing</a:t>
            </a:r>
          </a:p>
        </p:txBody>
      </p:sp>
      <p:sp>
        <p:nvSpPr>
          <p:cNvPr id="6" name="Rectangle 5"/>
          <p:cNvSpPr/>
          <p:nvPr/>
        </p:nvSpPr>
        <p:spPr>
          <a:xfrm>
            <a:off x="731520" y="329184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UC-01 | UC-02</a:t>
            </a:r>
          </a:p>
        </p:txBody>
      </p:sp>
      <p:sp>
        <p:nvSpPr>
          <p:cNvPr id="8" name="TextBox 7"/>
          <p:cNvSpPr txBox="1"/>
          <p:nvPr/>
        </p:nvSpPr>
        <p:spPr>
          <a:xfrm>
            <a:off x="731520" y="4297680"/>
            <a:ext cx="36576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2 USE CASES × 10 SLIDES = 20 SLIDES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 / 111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UC-01 | MANUFACTURING</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Predictive Maintenance — Sensor → Anomaly → Work Order</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Unilever Indaiatuba: $2.3M saved, 92% accuracy, 6.5-month payback</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Unilever (Brazil)  |  2023, expanded to 7+ sites by Q4 2025</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32/35 GO</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NSSG Insights Mar 2026 + GBrain impl spec + Unilever case study</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 / 111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Equipment Downtime Costs $50K-$250K/Hour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UC-01 | Manufacturing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Equipment downtime costs $50K-$250K/hour in manufacturing plants</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Calendar-based maintenance wastes 30%+ of budget on unnecessary interventions</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Unilever baseline: 8.2% unplanned downtime, $5.1M annual maintenance spend</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Technician trust in AI predictions is the real deployment barrier — not model accuracy</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50,000+ IoT sensors generating time-series data across compressors, HVAC, packaging</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3 years of historical failure data needed before any model could train</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111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52-Endpoint MCP Server + SAP PM Integration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UC-01 | Manufacturing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50K+ IoT sensors → anomaly detection 14-28 days before failure at 92% accuracy</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52-endpoint MCP server: FFT, envelope analysis, RUL estimation (ISO 13374)</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Auto-generates SAP PM work orders with equipment ID, failure type, predicted date</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6-month trust-building phase with technician feedback loops before full reliance</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Started with 12 machines causing 80% of downtime — focused deployment</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Amazon SageMaker processes time-series data; ONNX Runtime for edge inference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111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UC-01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$2.3M</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Annual Savings</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45% reduction from $5.1M baseline</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92%</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Detection Accuracy</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14-28 days before predicted failure</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52</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MCP Endpoints</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ISO 13374 six-block diagnostic architecture</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6.5 mo</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Payback Period</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$1.2M investment recovered</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40%</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Downtime Reduction</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8.2% → 4.9% unplanned downtime</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85%+</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OEE Achieved</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Highest in Unilever global network, 2 consecutive years</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 / 111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UC-01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Sensor reading arrives (MQTT/OPC-UA) → load_signal + analyze_spectrum + extract_features</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detect_anomalies (semi-supervised, trained on 3yr normal baseline) → anomaly_score</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IF anomaly_score &gt; threshold → analyze_envelope (bearing-specific: BPFO/BPFI/BSF/FTF)</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assess_severity (ISO 20816-3 zone A/B/C/D) → estimate_rul (linear/exponential/Weibull)</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IF severity &gt;= Zone C OR rul_days &lt; 14 → generate_report → create_work_order (SAP PM via OData)</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Work order includes: equipment_id, failure_type, predicted_date, priority, recommended_ops</a:t>
            </a:r>
          </a:p>
        </p:txBody>
      </p:sp>
      <p:sp>
        <p:nvSpPr>
          <p:cNvPr id="29" name="TextBox 28"/>
          <p:cNvSpPr txBox="1"/>
          <p:nvPr/>
        </p:nvSpPr>
        <p:spPr>
          <a:xfrm>
            <a:off x="929640" y="5413247"/>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30" name="Rounded Rectangle 29"/>
          <p:cNvSpPr/>
          <p:nvPr/>
        </p:nvSpPr>
        <p:spPr>
          <a:xfrm>
            <a:off x="548640" y="550468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555548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7</a:t>
            </a:r>
          </a:p>
        </p:txBody>
      </p:sp>
      <p:sp>
        <p:nvSpPr>
          <p:cNvPr id="32" name="TextBox 31"/>
          <p:cNvSpPr txBox="1"/>
          <p:nvPr/>
        </p:nvSpPr>
        <p:spPr>
          <a:xfrm>
            <a:off x="1463040" y="555548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Technician completes → feedback loop → model retraining on actual vs predicted</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 / 111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UC-01 | MANUFACTURING</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Predictive Maintenance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sensor-fusion-agent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Ingests multi-signal data (vibration, temp, pressure) from MQTT/OPC-UA gateway</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anomaly-detection-agent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ML inference (XGBoost + LSTM) + ISO 20816-3 severity classification (Zone A/B/C/D)</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explainability-agent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SHAP-based root-cause analysis → human-readable failure narratives for technicians</a:t>
            </a:r>
          </a:p>
        </p:txBody>
      </p:sp>
      <p:sp>
        <p:nvSpPr>
          <p:cNvPr id="17" name="Rounded Rectangle 16"/>
          <p:cNvSpPr/>
          <p:nvPr/>
        </p:nvSpPr>
        <p:spPr>
          <a:xfrm>
            <a:off x="548640" y="2432304"/>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5640" y="2470404"/>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sap-pm-agent</a:t>
            </a:r>
          </a:p>
        </p:txBody>
      </p:sp>
      <p:sp>
        <p:nvSpPr>
          <p:cNvPr id="19" name="TextBox 18"/>
          <p:cNvSpPr txBox="1"/>
          <p:nvPr/>
        </p:nvSpPr>
        <p:spPr>
          <a:xfrm>
            <a:off x="675640" y="2660904"/>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Creates SAP PM work orders via OData: equipment_id, order_type, priority, operations</a:t>
            </a:r>
          </a:p>
        </p:txBody>
      </p:sp>
      <p:sp>
        <p:nvSpPr>
          <p:cNvPr id="20" name="TextBox 19"/>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21" name="Rounded Rectangle 20"/>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predictive-maintenance-mcp (52 endpoints)</a:t>
            </a:r>
          </a:p>
        </p:txBody>
      </p:sp>
      <p:sp>
        <p:nvSpPr>
          <p:cNvPr id="23" name="TextBox 22"/>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load_signal, analyze_spectrum, extract_features, detect_anomalies, analyze_envelope, assess_severity, estimate_rul, generate_report</a:t>
            </a:r>
          </a:p>
        </p:txBody>
      </p:sp>
      <p:sp>
        <p:nvSpPr>
          <p:cNvPr id="24" name="Rounded Rectangle 23"/>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sap-maintenance (CAP) (4 endpoints)</a:t>
            </a:r>
          </a:p>
        </p:txBody>
      </p:sp>
      <p:sp>
        <p:nvSpPr>
          <p:cNvPr id="26" name="TextBox 25"/>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get_maintenance_orders, create_work_order, get_equipment_history, get_maintenance_order_detail — OData → SAP S/4HANA PM</a:t>
            </a:r>
          </a:p>
        </p:txBody>
      </p:sp>
      <p:sp>
        <p:nvSpPr>
          <p:cNvPr id="27" name="Rounded Rectangle 26"/>
          <p:cNvSpPr/>
          <p:nvPr/>
        </p:nvSpPr>
        <p:spPr>
          <a:xfrm>
            <a:off x="5852160" y="2249424"/>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79160" y="2287524"/>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machina-cmms (Alternative)</a:t>
            </a:r>
          </a:p>
        </p:txBody>
      </p:sp>
      <p:sp>
        <p:nvSpPr>
          <p:cNvPr id="29" name="TextBox 28"/>
          <p:cNvSpPr txBox="1"/>
          <p:nvPr/>
        </p:nvSpPr>
        <p:spPr>
          <a:xfrm>
            <a:off x="5979160" y="2478024"/>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machina-ai package with SapPM connector (pip install machina-ai[sap]) — ISO 14224 domain model</a:t>
            </a:r>
          </a:p>
        </p:txBody>
      </p:sp>
      <p:sp>
        <p:nvSpPr>
          <p:cNvPr id="30" name="Rounded Rectangle 29"/>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Headless batch: openhands --headless -t 'Analyze latest sensor readings for Plant A, detect anomalies, create work orders' | Interactive: operator CLI queries</a:t>
            </a:r>
          </a:p>
        </p:txBody>
      </p:sp>
      <p:sp>
        <p:nvSpPr>
          <p:cNvPr id="32" name="TextBox 31"/>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 / 111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UC-01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PdM</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predictive-maintenance-mcp — 52 endpoints, ISO 13374</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SAP PM</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mcp-maintenance-cap — OData: create_work_order, get_equipment_history</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ML</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XGBoost + LSTM ensemble — SHAP explainability — ONNX Runtime edge</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Deploy</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OpenHands headless batch + interactive CLI — Edge: Jetson/ONNX</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LGDiMaggio/predictive-maintenance-mcp</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v0.8.0 — 52 endpoints, Claude Code plugin, ISO 13374 six-block diagnostic</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bernardcaldas/mcp-maintenance-cap</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PoC — SAP CAP + OData + Claude Desktop integration for PM work orders</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machina-ai (PyPI)</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v0.1 Pre-Alpha — SAP PM connector, ISO 14224 equipment domain model</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All-Hands-AI/OpenHands</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Agent SDK — headless mode for batch sensor analysis + MCP config</a:t>
            </a:r>
          </a:p>
        </p:txBody>
      </p:sp>
      <p:sp>
        <p:nvSpPr>
          <p:cNvPr id="32" name="Rounded Rectangle 31"/>
          <p:cNvSpPr/>
          <p:nvPr/>
        </p:nvSpPr>
        <p:spPr>
          <a:xfrm>
            <a:off x="548640" y="5276088"/>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040" y="5326888"/>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huggingface/transformers</a:t>
            </a:r>
          </a:p>
        </p:txBody>
      </p:sp>
      <p:sp>
        <p:nvSpPr>
          <p:cNvPr id="34" name="TextBox 33"/>
          <p:cNvSpPr txBox="1"/>
          <p:nvPr/>
        </p:nvSpPr>
        <p:spPr>
          <a:xfrm>
            <a:off x="4389120" y="5326888"/>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Time-series models + anomaly detection architectures</a:t>
            </a:r>
          </a:p>
        </p:txBody>
      </p:sp>
      <p:sp>
        <p:nvSpPr>
          <p:cNvPr id="35" name="Rounded Rectangle 34"/>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SCADA/OPC-UA  |  SAP PM  |  IoT Gateway  |  CMMS  |  Historian</a:t>
            </a:r>
          </a:p>
        </p:txBody>
      </p:sp>
      <p:sp>
        <p:nvSpPr>
          <p:cNvPr id="37" name="Rounded Rectangle 36"/>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Maintenance technicians | Plant engineers | Reliability managers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11 / 111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UC-01</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Manufacturing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ISO 13374 six-block diagnostic architecture (acquisition → processing → detection → severity → prognostics → decision)</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ISO 20816-3 vibration severity classification (Zone A/B/C/D thresholds)</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Sensor calibration audit per ISO 6789 — annual recertification required</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Model drift monitoring: weekly accuracy check against actuals</a:t>
            </a:r>
          </a:p>
        </p:txBody>
      </p:sp>
      <p:sp>
        <p:nvSpPr>
          <p:cNvPr id="19" name="Rounded Rectangle 18"/>
          <p:cNvSpPr/>
          <p:nvPr/>
        </p:nvSpPr>
        <p:spPr>
          <a:xfrm>
            <a:off x="548640" y="502920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2920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640" y="513080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Technician override logging: all manual overrides of AI predictions tracked</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111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UC-01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Sight Machine</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$100K+/yr SaaS</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Manufacturing analytics platform — broad but expensive, no SAP integration</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Uptake</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$100K+/yr SaaS</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Asset performance management — enterprise pricing, long deployments</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McKinsey QuantumBlack</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$400K+, 6+ months</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Consulting-led, high-touch, slow to production</a:t>
            </a:r>
          </a:p>
        </p:txBody>
      </p:sp>
      <p:sp>
        <p:nvSpPr>
          <p:cNvPr id="18" name="Rounded Rectangle 17"/>
          <p:cNvSpPr/>
          <p:nvPr/>
        </p:nvSpPr>
        <p:spPr>
          <a:xfrm>
            <a:off x="548640" y="402336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SAP AI (Sapphire 2026)</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Native, Q2-Q3 GA</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Asset Health, Alert Processing, Field Dispatch — early stage</a:t>
            </a:r>
          </a:p>
        </p:txBody>
      </p:sp>
      <p:sp>
        <p:nvSpPr>
          <p:cNvPr id="22" name="Rounded Rectangle 21"/>
          <p:cNvSpPr/>
          <p:nvPr/>
        </p:nvSpPr>
        <p:spPr>
          <a:xfrm>
            <a:off x="548640" y="502920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840" y="510540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approach</a:t>
            </a:r>
          </a:p>
        </p:txBody>
      </p:sp>
      <p:sp>
        <p:nvSpPr>
          <p:cNvPr id="24" name="TextBox 23"/>
          <p:cNvSpPr txBox="1"/>
          <p:nvPr/>
        </p:nvSpPr>
        <p:spPr>
          <a:xfrm>
            <a:off x="3749040" y="510540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4 weeks, 50-70% cheaper</a:t>
            </a:r>
          </a:p>
        </p:txBody>
      </p:sp>
      <p:sp>
        <p:nvSpPr>
          <p:cNvPr id="25" name="TextBox 24"/>
          <p:cNvSpPr txBox="1"/>
          <p:nvPr/>
        </p:nvSpPr>
        <p:spPr>
          <a:xfrm>
            <a:off x="751840" y="535940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Open-source MCP, pilot-first, technician trust-building baked in</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13 / 111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UC-01</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3 years of labeled failure data eliminated the data-collection phase that kills most manufacturing AI. Started with 12 machines causing 80% of downtime. The model was technically ready before the humans were. Trust took 6 months to build. That's the actual timeline. Budget for trust, not just training.</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VP Manufacturing / Plant Manager</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$5-10K/mo per plant</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Headless batch: openhands --headless -t 'Analyze latest sensor readings for Plant A, detect anomalies, create work orders'</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NSSG Insights Mar 2026 + GBrain impl spec + Unilever case study</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14 / 111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UC-02 | MANUFACTURING</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Visual Quality Inspection — Camera → CNN → SAP MES</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YOLOv8 at line speed: 99.2% accuracy, 85% false positive reduction</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Hyundai Framework + Multi-Plant  |  Reference architecture, 4-6 week deployment</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32/35 GO</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GBrain impl spec UC-MFG-02 + Hyundai framework</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15 / 111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Manual Inspection Fails at Scale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UC-02 | Manufacturing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15-20% false positive rate in manual inspection across production lines</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Inspector fatigue: accuracy drops to 72% by hour 6 of shift</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$2.3M average annual quality cost per plant from missed defects</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Inconsistent criteria across shifts — 3 inspectors, 3 different standards</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Generic CV doesn't understand defect taxonomy per manufacturing context</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Edge inference latency must be &lt;5ms to keep up with line speed (120 units/hr)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111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Edge AI + Active Learning + SAP MES Integration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UC-02 | Manufacturing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YOLOv8 real-time defect detection: 640×640 input, 1.2ms edge inference on Jetson Orin</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Multi-camera 360° inspection at line speed (120 units/hr) — no throughput reduction</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Three-tier confidence routing: &gt;0.85 auto-reject; 0.5-0.85 → operator review; &lt;0.5 passes</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Active learning pipeline: operator corrections feed continuous model retraining</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Defect taxonomy: surface (scratch/dent/pit/crack), dimensional, contamination, assembly</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Per-shift quality reports auto-generated with SPC dashboard + Cpk monitoring</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111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UC-02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99.2%</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Detection Accuracy</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Across all defect categories</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85%</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FP Reduction</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From 15-20% manual FP rate</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$1.8M</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Annual Savings</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Per plant from reduced quality costs</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&lt;2ms</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Inference Time</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YOLOv8 on Jetson Orin NX edge GPU</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4-6 wk</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Deployment</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Camera install → model trained → production</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120/hr</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Line Speed</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No throughput reduction from inspection</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18 / 111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UC-02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GigE Vision camera captures part at inspection station → Image preprocessing (normalize, resize 640×640)</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Jetson Orin NX runs YOLOv8 inference (&lt;2ms) → Defect classification: scratch, dent, weld, paint, contamination</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Bounding box + confidence score + defect type → Three-tier routing decision</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IF confidence &gt; 0.85 AND defect: auto-reject → log_inspection_result (SAP MES) → catalog image (MinIO + metadata)</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IF 0.5-0.85: operator review with AI suggestion → operator decision feeds active learning pipeline</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Per-shift aggregate → generate_quality_report → SPC dashboard (Cpk monitoring) → root-cause analysis</a:t>
            </a:r>
          </a:p>
        </p:txBody>
      </p:sp>
      <p:sp>
        <p:nvSpPr>
          <p:cNvPr id="29" name="TextBox 28"/>
          <p:cNvSpPr txBox="1"/>
          <p:nvPr/>
        </p:nvSpPr>
        <p:spPr>
          <a:xfrm>
            <a:off x="929640" y="5413247"/>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30" name="Rounded Rectangle 29"/>
          <p:cNvSpPr/>
          <p:nvPr/>
        </p:nvSpPr>
        <p:spPr>
          <a:xfrm>
            <a:off x="548640" y="550468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555548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7</a:t>
            </a:r>
          </a:p>
        </p:txBody>
      </p:sp>
      <p:sp>
        <p:nvSpPr>
          <p:cNvPr id="32" name="TextBox 31"/>
          <p:cNvSpPr txBox="1"/>
          <p:nvPr/>
        </p:nvSpPr>
        <p:spPr>
          <a:xfrm>
            <a:off x="1463040" y="555548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Continuous: new labeled defects feed model retraining → OTA model update to edge devices</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19 / 111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UC-02 | MANUFACTURING</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Visual Quality Inspection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vision-capture-agent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GigE Vision camera control, image preprocessing, multi-camera synchronization</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inference-agent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YOLOv8 / EfficientDet CNN → defect classification with confidence scores</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quality-routing-agent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Routes by confidence threshold: auto-reject, human review, or pass — three-tier logic</a:t>
            </a:r>
          </a:p>
        </p:txBody>
      </p:sp>
      <p:sp>
        <p:nvSpPr>
          <p:cNvPr id="17" name="Rounded Rectangle 16"/>
          <p:cNvSpPr/>
          <p:nvPr/>
        </p:nvSpPr>
        <p:spPr>
          <a:xfrm>
            <a:off x="548640" y="2432304"/>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5640" y="2470404"/>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sap-mes-agent</a:t>
            </a:r>
          </a:p>
        </p:txBody>
      </p:sp>
      <p:sp>
        <p:nvSpPr>
          <p:cNvPr id="19" name="TextBox 18"/>
          <p:cNvSpPr txBox="1"/>
          <p:nvPr/>
        </p:nvSpPr>
        <p:spPr>
          <a:xfrm>
            <a:off x="675640" y="2660904"/>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Logs results to SAP MES, creates quality notifications, updates production orders</a:t>
            </a:r>
          </a:p>
        </p:txBody>
      </p:sp>
      <p:sp>
        <p:nvSpPr>
          <p:cNvPr id="20" name="TextBox 19"/>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21" name="Rounded Rectangle 20"/>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vision-pipeline MCP (5 endpoints)</a:t>
            </a:r>
          </a:p>
        </p:txBody>
      </p:sp>
      <p:sp>
        <p:nvSpPr>
          <p:cNvPr id="23" name="TextBox 22"/>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capture_image, run_inference, classify_defect, get_defect_history, generate_quality_report</a:t>
            </a:r>
          </a:p>
        </p:txBody>
      </p:sp>
      <p:sp>
        <p:nvSpPr>
          <p:cNvPr id="24" name="Rounded Rectangle 23"/>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sap-mes MCP (OData) (4 endpoints)</a:t>
            </a:r>
          </a:p>
        </p:txBody>
      </p:sp>
      <p:sp>
        <p:nvSpPr>
          <p:cNvPr id="26" name="TextBox 25"/>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log_inspection_result, get_production_order, update_quality_status, create_quality_notification</a:t>
            </a:r>
          </a:p>
        </p:txBody>
      </p:sp>
      <p:sp>
        <p:nvSpPr>
          <p:cNvPr id="27" name="Rounded Rectangle 26"/>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Edge: Jetson Orin NX per inspection station | Line-speed 120 units/hr | Model updates via OTA | Shift reports at 07:00</a:t>
            </a:r>
          </a:p>
        </p:txBody>
      </p:sp>
      <p:sp>
        <p:nvSpPr>
          <p:cNvPr id="29" name="TextBox 28"/>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20 / 111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UC-02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EDGE</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GigE Vision cameras + Jetson Orin NX — line-speed capture + inference</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AI</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YOLOv8 + EfficientNet ensemble — ONNX Runtime — active learning pipeline</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SAP MES</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log_inspection_result, create_quality_notification — OData integration</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UX</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Defect heatmap dashboard + per-shift quality reports + SPC/Cpk monitoring</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ultralytics/ultralytics</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YOLOv8 — real-time detection, ONNX/TensorRT export, COCO pretrained</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opencv/opencv</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Camera capture, preprocessing, GigE Vision support, image pipeline</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NVIDIA/TensorRT</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Edge inference optimization for Jetson Orin — quantization, pruning</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minio/minio</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S3-compatible object storage for defect images with metadata tagging</a:t>
            </a:r>
          </a:p>
        </p:txBody>
      </p:sp>
      <p:sp>
        <p:nvSpPr>
          <p:cNvPr id="32" name="Rounded Rectangle 31"/>
          <p:cNvSpPr/>
          <p:nvPr/>
        </p:nvSpPr>
        <p:spPr>
          <a:xfrm>
            <a:off x="548640" y="5276088"/>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040" y="5326888"/>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streamlit/streamlit</a:t>
            </a:r>
          </a:p>
        </p:txBody>
      </p:sp>
      <p:sp>
        <p:nvSpPr>
          <p:cNvPr id="34" name="TextBox 33"/>
          <p:cNvSpPr txBox="1"/>
          <p:nvPr/>
        </p:nvSpPr>
        <p:spPr>
          <a:xfrm>
            <a:off x="4389120" y="5326888"/>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Quality dashboard for shift reports and SPC visualization</a:t>
            </a:r>
          </a:p>
        </p:txBody>
      </p:sp>
      <p:sp>
        <p:nvSpPr>
          <p:cNvPr id="35" name="Rounded Rectangle 34"/>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SAP MES  |  GigE Vision  |  Jetson Orin  |  MinIO  |  SPC Dashboard</a:t>
            </a:r>
          </a:p>
        </p:txBody>
      </p:sp>
      <p:sp>
        <p:nvSpPr>
          <p:cNvPr id="37" name="Rounded Rectangle 36"/>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Quality engineers | Line supervisors | Plant managers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21 / 111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UC-02</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Manufacturing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IEC 62443 industrial cybersecurity for connected inspection stations</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Image retention: 7 years minimum, AES-256 encrypted storage (MinIO)</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Edge device certificate rotation every 90 days (automated via PKI)</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Model version tracking: every deployment logged with accuracy metrics</a:t>
            </a:r>
          </a:p>
        </p:txBody>
      </p:sp>
      <p:sp>
        <p:nvSpPr>
          <p:cNvPr id="19" name="Rounded Rectangle 18"/>
          <p:cNvSpPr/>
          <p:nvPr/>
        </p:nvSpPr>
        <p:spPr>
          <a:xfrm>
            <a:off x="548640" y="502920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2920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640" y="513080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Operator override audit trail: all manual decisions vs AI recommendations tracked</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111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UC-02 | MANUFACTURING</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Instrumental</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YC W14, 80 employees</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SaaS visual inspection — broad but less customizable</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Landing AI</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Andrew Ng</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Data-centric AI for manufacturing — high-touch, expensive consulting</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Ocular AI</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YC W24</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Newer entrant — limited training corpus vs established players</a:t>
            </a:r>
          </a:p>
        </p:txBody>
      </p:sp>
      <p:sp>
        <p:nvSpPr>
          <p:cNvPr id="18" name="Rounded Rectangle 17"/>
          <p:cNvSpPr/>
          <p:nvPr/>
        </p:nvSpPr>
        <p:spPr>
          <a:xfrm>
            <a:off x="548640" y="402336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Cognex</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Machine vision hardware</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Hardware-first, limited AI — strong optics, weak intelligence</a:t>
            </a:r>
          </a:p>
        </p:txBody>
      </p:sp>
      <p:sp>
        <p:nvSpPr>
          <p:cNvPr id="22" name="Rounded Rectangle 21"/>
          <p:cNvSpPr/>
          <p:nvPr/>
        </p:nvSpPr>
        <p:spPr>
          <a:xfrm>
            <a:off x="548640" y="502920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840" y="510540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approach</a:t>
            </a:r>
          </a:p>
        </p:txBody>
      </p:sp>
      <p:sp>
        <p:nvSpPr>
          <p:cNvPr id="24" name="TextBox 23"/>
          <p:cNvSpPr txBox="1"/>
          <p:nvPr/>
        </p:nvSpPr>
        <p:spPr>
          <a:xfrm>
            <a:off x="3749040" y="510540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Open-source stack</a:t>
            </a:r>
          </a:p>
        </p:txBody>
      </p:sp>
      <p:sp>
        <p:nvSpPr>
          <p:cNvPr id="25" name="TextBox 24"/>
          <p:cNvSpPr txBox="1"/>
          <p:nvPr/>
        </p:nvSpPr>
        <p:spPr>
          <a:xfrm>
            <a:off x="751840" y="535940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YOLOv8 + active learning + SAP MES integration, 4-6 week deploy</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23 / 111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UC-02</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Human inspectors get tired. The camera doesn't. But they kept humans for the 0.3% the camera wasn't sure about. Best of both. The active learning loop is the key — every operator correction makes the model better. The human teaches the machine, then the machine frees the human.</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VP Quality / Quality Manager</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$5-10K/mo per plant</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Edge: Jetson Orin NX per inspection station</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GBrain impl spec UC-MFG-02 + Hyundai framework</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24 / 111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743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02</a:t>
            </a:r>
          </a:p>
        </p:txBody>
      </p:sp>
      <p:sp>
        <p:nvSpPr>
          <p:cNvPr id="5" name="TextBox 4"/>
          <p:cNvSpPr txBox="1"/>
          <p:nvPr/>
        </p:nvSpPr>
        <p:spPr>
          <a:xfrm>
            <a:off x="731520" y="2286000"/>
            <a:ext cx="9144000" cy="91440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Healthcare</a:t>
            </a:r>
          </a:p>
        </p:txBody>
      </p:sp>
      <p:sp>
        <p:nvSpPr>
          <p:cNvPr id="6" name="Rectangle 5"/>
          <p:cNvSpPr/>
          <p:nvPr/>
        </p:nvSpPr>
        <p:spPr>
          <a:xfrm>
            <a:off x="731520" y="329184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UC-03 | UC-04</a:t>
            </a:r>
          </a:p>
        </p:txBody>
      </p:sp>
      <p:sp>
        <p:nvSpPr>
          <p:cNvPr id="8" name="TextBox 7"/>
          <p:cNvSpPr txBox="1"/>
          <p:nvPr/>
        </p:nvSpPr>
        <p:spPr>
          <a:xfrm>
            <a:off x="731520" y="4297680"/>
            <a:ext cx="36576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2 USE CASES × 10 SLIDES = 20 SLIDES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25 / 111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UC-03 | HEALTHCARE</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Patient Intake Automation — Form → EHR → Insurance → Booking</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3-agent pipeline: 80% staff time saved, &lt;30 sec insurance verification</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Reference Architecture (FHIR + Twilio + Calendly)  |  Implementation-ready, HIPAA-compliant</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Viable</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GBrain impl spec + AI Engineering Framework §2.1</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26 / 111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40% of Staff Time Consumed by Paperwork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UC-03 | Healthcare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Manual intake: 12-15 minutes per patient, 40% of staff time consumed by paperwork</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Insurance verification: 270/271 EDI calls take 3-8 minutes per patient manually</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No-show rate 18-25% due to lack of automated reminders and cost transparency</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HIPAA compliance burden: every PHI access must be logged and audited</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Fragmented workflow: EHR, insurance portal, scheduling tool, SMS — all separate systems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Prior authorization is bureaucratic, not clinical — most requests meet standard criteria</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27 / 111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3 Agents + 3 MCP Servers = End-to-End Automation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UC-03 | Healthcare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3-agent pipeline: intake-agent → insurance-verification-agent → scheduling-agent</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FHIR R4 MCP server: create_patient, get_insurance_eligibility, submit_claim</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Automated SMS reminders via Twilio MCP: confirmation, cost estimate, 24h reminder</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OpenHands Docker sandbox isolates PHI — never leaves infrastructure perimeter</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Confidence routing: standard cases automated, edge cases to nurse review</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Post-visit automation: update_patient + submit_claim (837 EDI) — closes the loop</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28 / 111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UC-03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80%</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Staff Time Saved</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Intake + verification + scheduling automated</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&lt;30 sec</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Insurance Check</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vs 3-8 min manual 270/271 EDI</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40%</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No-Show Reduction</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SMS reminders + cost transparency</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HIPAA</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Compliant by Design</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AES-256, TLS 1.3, Docker sandbox, BAA</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MCP Integrations</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FHIR R4 + Twilio + Calendly</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$3-5K/mo</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Revenue Per Practice</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Per-practice subscription model</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29 / 111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UC-03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Patient submits online intake form → validate fields (name, DOB, SSN format, insurance ID)</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create_patient (FHIR R4) → demographics + medical history stored in EHR</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get_insurance_eligibility (270/271 EDI) → IF eligible: calculate copay/deductible</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send_sms via Twilio (appointment confirmation + cost estimate) → patient transparency</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create_booking via Calendly (get_available_slots → create_booking → provider notified)</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24h before appointment: send_reminder → reduces no-show rate by 40%</a:t>
            </a:r>
          </a:p>
        </p:txBody>
      </p:sp>
      <p:sp>
        <p:nvSpPr>
          <p:cNvPr id="29" name="TextBox 28"/>
          <p:cNvSpPr txBox="1"/>
          <p:nvPr/>
        </p:nvSpPr>
        <p:spPr>
          <a:xfrm>
            <a:off x="929640" y="5413247"/>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30" name="Rounded Rectangle 29"/>
          <p:cNvSpPr/>
          <p:nvPr/>
        </p:nvSpPr>
        <p:spPr>
          <a:xfrm>
            <a:off x="548640" y="550468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555548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7</a:t>
            </a:r>
          </a:p>
        </p:txBody>
      </p:sp>
      <p:sp>
        <p:nvSpPr>
          <p:cNvPr id="32" name="TextBox 31"/>
          <p:cNvSpPr txBox="1"/>
          <p:nvPr/>
        </p:nvSpPr>
        <p:spPr>
          <a:xfrm>
            <a:off x="1463040" y="555548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Post-visit: update_patient (FHIR) + submit_claim (837 EDI) → billing cycle automated</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30 / 111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UC-03 | HEALTHCARE</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Patient Intake Automation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intake-agent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Validates form data, creates FHIR patient resource, populates demographics + medical history</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insurance-verification-agent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270/271 EDI eligibility check → copay/deductible calculation → coverage confirmation</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scheduling-agent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Calendly slot lookup → booking creation → SMS confirmation + cost estimate via Twilio</a:t>
            </a:r>
          </a:p>
        </p:txBody>
      </p:sp>
      <p:sp>
        <p:nvSpPr>
          <p:cNvPr id="17" name="TextBox 16"/>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18" name="Rounded Rectangle 17"/>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FHIR R4 MCP (5 endpoints)</a:t>
            </a:r>
          </a:p>
        </p:txBody>
      </p:sp>
      <p:sp>
        <p:nvSpPr>
          <p:cNvPr id="20" name="TextBox 19"/>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create_patient, update_patient, search_patient, get_insurance_eligibility, submit_claim — HL7 FHIR R4 standard</a:t>
            </a:r>
          </a:p>
        </p:txBody>
      </p:sp>
      <p:sp>
        <p:nvSpPr>
          <p:cNvPr id="21" name="Rounded Rectangle 20"/>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Twilio MCP (3 endpoints)</a:t>
            </a:r>
          </a:p>
        </p:txBody>
      </p:sp>
      <p:sp>
        <p:nvSpPr>
          <p:cNvPr id="23" name="TextBox 22"/>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send_sms, send_reminder, get_message_status — appointment confirmations + cost estimates</a:t>
            </a:r>
          </a:p>
        </p:txBody>
      </p:sp>
      <p:sp>
        <p:nvSpPr>
          <p:cNvPr id="24" name="Rounded Rectangle 23"/>
          <p:cNvSpPr/>
          <p:nvPr/>
        </p:nvSpPr>
        <p:spPr>
          <a:xfrm>
            <a:off x="5852160" y="2249424"/>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9160" y="2287524"/>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Calendly MCP (3 endpoints)</a:t>
            </a:r>
          </a:p>
        </p:txBody>
      </p:sp>
      <p:sp>
        <p:nvSpPr>
          <p:cNvPr id="26" name="TextBox 25"/>
          <p:cNvSpPr txBox="1"/>
          <p:nvPr/>
        </p:nvSpPr>
        <p:spPr>
          <a:xfrm>
            <a:off x="5979160" y="2478024"/>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get_available_slots, create_booking, cancel_booking — provider schedule integration</a:t>
            </a:r>
          </a:p>
        </p:txBody>
      </p:sp>
      <p:sp>
        <p:nvSpPr>
          <p:cNvPr id="27" name="Rounded Rectangle 26"/>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Docker sandbox (PHI isolation) | BAA with all 3rd parties | Confirmation mode for edge cases | Headless for batch claims</a:t>
            </a:r>
          </a:p>
        </p:txBody>
      </p:sp>
      <p:sp>
        <p:nvSpPr>
          <p:cNvPr id="29" name="TextBox 28"/>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31 / 111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UC-03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FHIR</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HL7 FHIR R4 APIs — create/search/update patient, eligibility, claims</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Twilio</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send_sms, send_reminder, get_message_status — patient communication</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Calendly</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get_available_slots, create/cancel_booking — provider scheduling</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Security</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AES-256 at rest, TLS 1.3 in transit, Docker sandbox, PHI isolation</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medplum/medplum</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Open-source FHIR server + EHR platform — full HL7 compliance</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smart-on-fhir/client-js</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SMART on FHIR authorization + data access framework</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twilio/twilio-node</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Twilio SDK for SMS/voice communication</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microsoft/presidio</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PII detection + anonymization for HIPAA compliance</a:t>
            </a:r>
          </a:p>
        </p:txBody>
      </p:sp>
      <p:sp>
        <p:nvSpPr>
          <p:cNvPr id="32" name="Rounded Rectangle 31"/>
          <p:cNvSpPr/>
          <p:nvPr/>
        </p:nvSpPr>
        <p:spPr>
          <a:xfrm>
            <a:off x="548640" y="5276088"/>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040" y="5326888"/>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All-Hands-AI/OpenHands</a:t>
            </a:r>
          </a:p>
        </p:txBody>
      </p:sp>
      <p:sp>
        <p:nvSpPr>
          <p:cNvPr id="34" name="TextBox 33"/>
          <p:cNvSpPr txBox="1"/>
          <p:nvPr/>
        </p:nvSpPr>
        <p:spPr>
          <a:xfrm>
            <a:off x="4389120" y="5326888"/>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Docker sandbox for PHI isolation + confirmation mode</a:t>
            </a:r>
          </a:p>
        </p:txBody>
      </p:sp>
      <p:sp>
        <p:nvSpPr>
          <p:cNvPr id="35" name="Rounded Rectangle 34"/>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EHR (FHIR)  |  Insurance EDI  |  Twilio  |  Calendly</a:t>
            </a:r>
          </a:p>
        </p:txBody>
      </p:sp>
      <p:sp>
        <p:nvSpPr>
          <p:cNvPr id="37" name="Rounded Rectangle 36"/>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Front desk staff | Practice managers | Billing coordinators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32 / 111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UC-03</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Healthcare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HIPAA: AES-256 encryption at rest, TLS 1.3 in transit for all PHI</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BAA (Business Associate Agreement) required with Twilio, Calendly, FHIR provider</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Minimum necessary principle: agents access only required PHI fields per operation</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Audit logging: every PHI access logged with timestamp, agent, operation, data accessed</a:t>
            </a:r>
          </a:p>
        </p:txBody>
      </p:sp>
      <p:sp>
        <p:nvSpPr>
          <p:cNvPr id="19" name="Rounded Rectangle 18"/>
          <p:cNvSpPr/>
          <p:nvPr/>
        </p:nvSpPr>
        <p:spPr>
          <a:xfrm>
            <a:off x="548640" y="502920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2920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640" y="513080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OpenHands Docker sandbox: PHI never leaves infrastructure perimeter</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33 / 111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UC-03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Phreesia</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$250M revenue</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Patient intake platform — market leader but no AI agent orchestration</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Zocdoc</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Scheduling leader</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Scheduling but no insurance verification or EHR intake automation</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Notable Health</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AI intake</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AI-powered intake but no MCP integration or agent architecture</a:t>
            </a:r>
          </a:p>
        </p:txBody>
      </p:sp>
      <p:sp>
        <p:nvSpPr>
          <p:cNvPr id="18" name="Rounded Rectangle 17"/>
          <p:cNvSpPr/>
          <p:nvPr/>
        </p:nvSpPr>
        <p:spPr>
          <a:xfrm>
            <a:off x="548640" y="402336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Gap</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No integrated agent</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Nobody offers integrated intake + verify + schedule as an agent pipeline</a:t>
            </a:r>
          </a:p>
        </p:txBody>
      </p:sp>
      <p:sp>
        <p:nvSpPr>
          <p:cNvPr id="22" name="Rounded Rectangle 21"/>
          <p:cNvSpPr/>
          <p:nvPr/>
        </p:nvSpPr>
        <p:spPr>
          <a:xfrm>
            <a:off x="548640" y="502920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840" y="510540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approach</a:t>
            </a:r>
          </a:p>
        </p:txBody>
      </p:sp>
      <p:sp>
        <p:nvSpPr>
          <p:cNvPr id="24" name="TextBox 23"/>
          <p:cNvSpPr txBox="1"/>
          <p:nvPr/>
        </p:nvSpPr>
        <p:spPr>
          <a:xfrm>
            <a:off x="3749040" y="510540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3 agents + 3 MCPs</a:t>
            </a:r>
          </a:p>
        </p:txBody>
      </p:sp>
      <p:sp>
        <p:nvSpPr>
          <p:cNvPr id="25" name="TextBox 24"/>
          <p:cNvSpPr txBox="1"/>
          <p:nvPr/>
        </p:nvSpPr>
        <p:spPr>
          <a:xfrm>
            <a:off x="751840" y="535940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Full pipeline, HIPAA by design, $3-5K/mo per practice</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34 / 111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UC-03</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Prior auth is bureaucratic, not clinical. Most requests meet criteria — someone just needs to check the boxes. The AI checks the boxes. Edge cases still go to a nurse. The 270/271 EDI call is the perfect automation target — deterministic, structured, zero clinical judgment required.</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Practice Manager / VP Operations</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$3-5K/mo per practice</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Docker sandbox (PHI isolation)</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GBrain impl spec + AI Engineering Framework §2.1</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35 / 111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UC-04 | HEALTHCARE</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Clinical AI — Sepsis Detection + Care Gap Closure</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Tampa General: 700+ lives saved | CommonSpirit: 61K care gap orders</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Tampa General Hospital + CommonSpirit Health  |  Production 2025 (both)</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Viable</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Becker's Hospital Review Dec 2025</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36 / 111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Clinical Signals Missed at Scale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UC-04 | Healthcare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Sepsis: early indicators missed in high-volume EDs — catastrophic if delayed</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Tampa General needed real-time vitals monitoring + care coordination across units</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CommonSpirit: 140+ hospitals, screening compliance inconsistent across sites</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Manual risk stratification cannot scale across 200+ AI-assisted clinical workflows</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Outcome verification: need binary, measurable results to prove clinical AI works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Physician adoption barrier: clinicians won't use tools that add clicks without clear value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37 / 111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Predictive ML Integrated into Clinical Workflow</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UC-04 | Healthcare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TGH + Palantir: AI-driven care coordination center integrates EHR signals in real-time</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Predictive ML detects sepsis indicators → automated intervention triggers within treatment window</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Nebraska Medicine extension: 5% shorter stays = 37 additional beds without construction</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CSH: AI ingests EHR data → calculates personalized cancer screening timelines automatically</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Clinical orders auto-recommended at point of care with clinician review step (not bypass)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200+ AI tools active across 140+ hospital system — platform approach, not one-off</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38 / 111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UC-04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700+</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Lives Saved</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Tampa General — sepsis detection program</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5%</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LOS Reduction</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Nebraska Medicine — equivalent to 37 beds</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61K</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Care Gap Orders</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CommonSpirit FY2025 — 5x YoY increase</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140+</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Hospitals</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CommonSpirit deployment scale</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200+</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AI Tools Active</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Across CommonSpirit health system</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37</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Virtual Beds</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Capacity gained without construction (Nebraska)</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39 / 111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UC-04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TGH: EHR vitals stream → ML detects deterioration patterns → alerts care team → intervention within sepsis window</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Sepsis signals: vital sign trends (temp, HR, BP, WBC) → predictive model → early warning score</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Care coordination: discharge timing + bed allocation + intervention triggers — unified view</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CSH: Patient EHR → risk factor extraction → screening timeline calculation (breast, colorectal, lung)</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Clinical order auto-recommended → clinician reviews → submits order → care gap closed</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Platform scales across 140+ hospitals: same model, site-specific calibration</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40 / 111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UC-04 | HEALTHCARE</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Clinical AI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vitals-monitoring-agent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Real-time EHR vitals stream → sepsis risk scoring → early warning alerts</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care-coordination-agent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Discharge timing + bed allocation + intervention triggers → unified care view</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screening-agent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Patient risk factors → personalized cancer screening timelines → order recommendation</a:t>
            </a:r>
          </a:p>
        </p:txBody>
      </p:sp>
      <p:sp>
        <p:nvSpPr>
          <p:cNvPr id="17" name="TextBox 16"/>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18" name="Rounded Rectangle 17"/>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Palantir Platform (EHR integration)</a:t>
            </a:r>
          </a:p>
        </p:txBody>
      </p:sp>
      <p:sp>
        <p:nvSpPr>
          <p:cNvPr id="20" name="TextBox 19"/>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Real-time clinical signals aggregation → care coordination dashboard</a:t>
            </a:r>
          </a:p>
        </p:txBody>
      </p:sp>
      <p:sp>
        <p:nvSpPr>
          <p:cNvPr id="21" name="Rounded Rectangle 20"/>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EHR Integration (FHIR/HL7)</a:t>
            </a:r>
          </a:p>
        </p:txBody>
      </p:sp>
      <p:sp>
        <p:nvSpPr>
          <p:cNvPr id="23" name="TextBox 22"/>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Bidirectional: read vitals, push orders, update patient records</a:t>
            </a:r>
          </a:p>
        </p:txBody>
      </p:sp>
      <p:sp>
        <p:nvSpPr>
          <p:cNvPr id="24" name="Rounded Rectangle 23"/>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Real-time: continuous vitals monitoring | Batch: nightly care gap screening | Clinical workflow integration via CPOE</a:t>
            </a:r>
          </a:p>
        </p:txBody>
      </p:sp>
      <p:sp>
        <p:nvSpPr>
          <p:cNvPr id="26" name="TextBox 25"/>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41 / 111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UC-04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Platform</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Palantir (TGH) — EHR integration, real-time clinical signals</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ML</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Predictive vitals + risk stratification — sepsis early warning model</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Integration</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EHR-native — order recommendation at point of care, zero friction</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Scale</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140+ hospitals, 200+ AI tools — platform approach, not one-off (CSH)</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medplum/medplum</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Open-source FHIR server for EHR integration patterns</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smart-on-fhir/client-js</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SMART on FHIR authorization for clinical data access</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All-Hands-AI/OpenHands</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Agent orchestration for clinical workflow automation</a:t>
            </a:r>
          </a:p>
        </p:txBody>
      </p:sp>
      <p:sp>
        <p:nvSpPr>
          <p:cNvPr id="29" name="Rounded Rectangle 28"/>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EHR  |  Vitals Monitoring  |  Care Coordination  |  CPOE</a:t>
            </a:r>
          </a:p>
        </p:txBody>
      </p:sp>
      <p:sp>
        <p:nvSpPr>
          <p:cNvPr id="31" name="Rounded Rectangle 30"/>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ED clinicians | Care coordinators | Oncologists | Nursing staff</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42 / 111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UC-04</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Healthcare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Clinical validation: sepsis model validated against known outcomes before deployment</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Clinician-in-the-loop: AI recommends, clinician reviews and submits — no autonomous clinical decisions</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Regulatory: FDA guidance on Clinical Decision Support (CDS) — non-device exemption pathway</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Patient safety: false positive rate monitored weekly — alert fatigue is a real risk</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43 / 111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UC-04 | HEALTHCARE</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Palantir Foundry</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TGH partner</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Care coordination platform — strong but expensive, enterprise-only</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Epic Sepsis Model</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Built-in EHR</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High false positive rate historically — improved in recent versions</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Viz.ai</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Stroke/PE detection</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Narrow use case — strong for radiology, not general clinical AI</a:t>
            </a:r>
          </a:p>
        </p:txBody>
      </p:sp>
      <p:sp>
        <p:nvSpPr>
          <p:cNvPr id="18" name="Rounded Rectangle 17"/>
          <p:cNvSpPr/>
          <p:nvPr/>
        </p:nvSpPr>
        <p:spPr>
          <a:xfrm>
            <a:off x="548640" y="402336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positioning</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Agent architecture</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Composable agents that integrate with any EHR via FHIR — not locked to one platform</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44 / 111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UC-04</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Sepsis has a well-defined signal set, clear intervention window, and catastrophic downside of missing it. Outcome is binary and verifiable. That's why it worked. Find the binary outcomes first. Care gap closure is the same pattern — screening criteria are deterministic, patient data is structured, the order is standardized. Automate the matching, not the medicine.</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CMO / VP Clinical Operations</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Enterprise (health system deployment)</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Real-time: continuous vitals monitoring</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Becker's Hospital Review Dec 2025</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45 / 111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743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03</a:t>
            </a:r>
          </a:p>
        </p:txBody>
      </p:sp>
      <p:sp>
        <p:nvSpPr>
          <p:cNvPr id="5" name="TextBox 4"/>
          <p:cNvSpPr txBox="1"/>
          <p:nvPr/>
        </p:nvSpPr>
        <p:spPr>
          <a:xfrm>
            <a:off x="731520" y="2286000"/>
            <a:ext cx="9144000" cy="91440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Legal</a:t>
            </a:r>
          </a:p>
        </p:txBody>
      </p:sp>
      <p:sp>
        <p:nvSpPr>
          <p:cNvPr id="6" name="Rectangle 5"/>
          <p:cNvSpPr/>
          <p:nvPr/>
        </p:nvSpPr>
        <p:spPr>
          <a:xfrm>
            <a:off x="731520" y="329184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UC-05 | UC-10</a:t>
            </a:r>
          </a:p>
        </p:txBody>
      </p:sp>
      <p:sp>
        <p:nvSpPr>
          <p:cNvPr id="8" name="TextBox 7"/>
          <p:cNvSpPr txBox="1"/>
          <p:nvPr/>
        </p:nvSpPr>
        <p:spPr>
          <a:xfrm>
            <a:off x="731520" y="4297680"/>
            <a:ext cx="36576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2 USE CASES × 10 SLIDES = 20 SLIDES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46 / 111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UC-05 | LEGAL</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Contract Generation &amp; Review — 67-Agent Debate Protocol</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40hrs → 12hrs per contract, 99.1% clause accuracy, $2.4M recaptured</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Top-100 Global Law Firm  |  22-week build, production by week 10</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30/35 GO</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DreamzTech Apr 2026 + GBrain impl spec</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47 / 111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60% of Billable Time on Contract Drafting &amp; Review</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UC-05 | Legal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Paralegal review: 40 hours per contract across 90+ clause types</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Outside counsel spend growing 15% annually — firms need to shift work internal</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Mid-market firms (&lt;50 attorneys) priced out of Harvey AI ($100K+/yr)</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Clause extraction breaks when documents exceed LLM context windows</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Jurisdiction-specific customization: 19 jurisdictions, different rules per state/country</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Lawyers spent 28 hours finding clauses and only 12 on actual judgment</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48 / 111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3 Agents + 5 MCP Servers + Debate Protocol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UC-05 | Legal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3 agents: contract-generation + contract-review (67-agent debate) + legal-research</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open-agreements MCP: 40+ templates (NDA, MSA, SaaS, SAFE, NVCA, employment, DPA)</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lavern MCP: 3-layer verification — evaluator gate → adversarial debate → 10-pass consensus</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suzielaw MCP: 22 legal providers across 19 jurisdictions — CourtListener, EUR-Lex, Légifrance</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Claude 3.5 Sonnet 200K context handles 300-page agreements in single pass — no chunking</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A2I confidence gating: &lt;0.85 confidence → human review queue, not autonomous decision</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49 / 111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UC-05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70%</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Review Time ↓</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40 hrs → 12 hrs per contract</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$2.4M</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Billable Hrs Recaptured</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Annual value redirected to judgment work</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99.1%</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Clause Accuracy</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Across 90+ clause types, 45K training contracts</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22 wk</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Full Build</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10 weeks to first production capability</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67</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Debate Agents</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Lavern adversarial review protocol</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45K</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Training Contracts</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Firm's own archive — not generic legal text</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50 / 111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UC-05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Client request → identify agreement type → list_templates (open-agreements) → get_template_fields</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Interview client for field values (grouped by section) → fill_template → rendered DOCX output</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Review Phase 1: planning agent reads contract (read-only) → creates structured review plan</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Review Phase 2: execution agent → risk assessment matrix + redlines + missing clause recommendations</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Alternative: Lavern full adversarial (67 agents, debate protocol, citation-grounded) → executive summary memo</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Legal research: suzielaw searches 22 providers across 19 jurisdictions for precedent</a:t>
            </a:r>
          </a:p>
        </p:txBody>
      </p:sp>
      <p:sp>
        <p:nvSpPr>
          <p:cNvPr id="29" name="TextBox 28"/>
          <p:cNvSpPr txBox="1"/>
          <p:nvPr/>
        </p:nvSpPr>
        <p:spPr>
          <a:xfrm>
            <a:off x="929640" y="5413247"/>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30" name="Rounded Rectangle 29"/>
          <p:cNvSpPr/>
          <p:nvPr/>
        </p:nvSpPr>
        <p:spPr>
          <a:xfrm>
            <a:off x="548640" y="550468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555548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7</a:t>
            </a:r>
          </a:p>
        </p:txBody>
      </p:sp>
      <p:sp>
        <p:nvSpPr>
          <p:cNvPr id="32" name="TextBox 31"/>
          <p:cNvSpPr txBox="1"/>
          <p:nvPr/>
        </p:nvSpPr>
        <p:spPr>
          <a:xfrm>
            <a:off x="1463040" y="555548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High-confidence → auto-flag | Low-confidence (&lt;0.85) → A2I human review queue</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51 / 111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UC-05 | LEGAL</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Contract Generation &amp; Review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contract-generation-agent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Template selection → field interview → fill_template → DOCX render → DocuSign</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contract-review-agent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Phase 1: read-only planning → Phase 2: risk matrix + redlines → executive memo</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legal-research-agent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suzielaw: jurisdiction-specific case search — 22 providers, 19 jurisdictions</a:t>
            </a:r>
          </a:p>
        </p:txBody>
      </p:sp>
      <p:sp>
        <p:nvSpPr>
          <p:cNvPr id="17" name="Rounded Rectangle 16"/>
          <p:cNvSpPr/>
          <p:nvPr/>
        </p:nvSpPr>
        <p:spPr>
          <a:xfrm>
            <a:off x="548640" y="2432304"/>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5640" y="2470404"/>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billing-agent</a:t>
            </a:r>
          </a:p>
        </p:txBody>
      </p:sp>
      <p:sp>
        <p:nvSpPr>
          <p:cNvPr id="19" name="TextBox 18"/>
          <p:cNvSpPr txBox="1"/>
          <p:nvPr/>
        </p:nvSpPr>
        <p:spPr>
          <a:xfrm>
            <a:off x="675640" y="2660904"/>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Time capture from calendar + email → Clio time entries → invoice generation</a:t>
            </a:r>
          </a:p>
        </p:txBody>
      </p:sp>
      <p:sp>
        <p:nvSpPr>
          <p:cNvPr id="20" name="TextBox 19"/>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21" name="Rounded Rectangle 20"/>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open-agreements MCP (5 endpoints)</a:t>
            </a:r>
          </a:p>
        </p:txBody>
      </p:sp>
      <p:sp>
        <p:nvSpPr>
          <p:cNvPr id="23" name="TextBox 22"/>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list_templates, get_template_fields, fill_template, search_templates, validate_fields — 40+ agreement types</a:t>
            </a:r>
          </a:p>
        </p:txBody>
      </p:sp>
      <p:sp>
        <p:nvSpPr>
          <p:cNvPr id="24" name="Rounded Rectangle 23"/>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lavern MCP (21 MCP tools)</a:t>
            </a:r>
          </a:p>
        </p:txBody>
      </p:sp>
      <p:sp>
        <p:nvSpPr>
          <p:cNvPr id="26" name="TextBox 25"/>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start_review, get_findings, approve_finding, get_verification_status, export_deliverable — 67-agent debate protocol</a:t>
            </a:r>
          </a:p>
        </p:txBody>
      </p:sp>
      <p:sp>
        <p:nvSpPr>
          <p:cNvPr id="27" name="Rounded Rectangle 26"/>
          <p:cNvSpPr/>
          <p:nvPr/>
        </p:nvSpPr>
        <p:spPr>
          <a:xfrm>
            <a:off x="5852160" y="2249424"/>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79160" y="2287524"/>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suzielaw MCP (3 endpoints)</a:t>
            </a:r>
          </a:p>
        </p:txBody>
      </p:sp>
      <p:sp>
        <p:nvSpPr>
          <p:cNvPr id="29" name="TextBox 28"/>
          <p:cNvSpPr txBox="1"/>
          <p:nvPr/>
        </p:nvSpPr>
        <p:spPr>
          <a:xfrm>
            <a:off x="5979160" y="2478024"/>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legal_search (19 jurisdictions), legal_get_document, legal_find_in_document — CourtListener, EUR-Lex, Légifrance</a:t>
            </a:r>
          </a:p>
        </p:txBody>
      </p:sp>
      <p:sp>
        <p:nvSpPr>
          <p:cNvPr id="30" name="Rounded Rectangle 29"/>
          <p:cNvSpPr/>
          <p:nvPr/>
        </p:nvSpPr>
        <p:spPr>
          <a:xfrm>
            <a:off x="5852160" y="2816352"/>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79160" y="2854452"/>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DocuSign MCP (3 endpoints)</a:t>
            </a:r>
          </a:p>
        </p:txBody>
      </p:sp>
      <p:sp>
        <p:nvSpPr>
          <p:cNvPr id="32" name="TextBox 31"/>
          <p:cNvSpPr txBox="1"/>
          <p:nvPr/>
        </p:nvSpPr>
        <p:spPr>
          <a:xfrm>
            <a:off x="5979160" y="3044952"/>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create_envelope, send_for_signature, get_status — e-signature workflow</a:t>
            </a:r>
          </a:p>
        </p:txBody>
      </p:sp>
      <p:sp>
        <p:nvSpPr>
          <p:cNvPr id="33" name="Rounded Rectangle 32"/>
          <p:cNvSpPr/>
          <p:nvPr/>
        </p:nvSpPr>
        <p:spPr>
          <a:xfrm>
            <a:off x="5852160" y="3383280"/>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79160" y="3421380"/>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Clio MCP (5 endpoints)</a:t>
            </a:r>
          </a:p>
        </p:txBody>
      </p:sp>
      <p:sp>
        <p:nvSpPr>
          <p:cNvPr id="35" name="TextBox 34"/>
          <p:cNvSpPr txBox="1"/>
          <p:nvPr/>
        </p:nvSpPr>
        <p:spPr>
          <a:xfrm>
            <a:off x="5979160" y="3611880"/>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get_matters, get_time_entries, create_time_entry, generate_invoice, get_billing_summary</a:t>
            </a:r>
          </a:p>
        </p:txBody>
      </p:sp>
      <p:sp>
        <p:nvSpPr>
          <p:cNvPr id="36" name="Rounded Rectangle 35"/>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Interactive: contract drafting with client interview | Headless: batch review of contract backlog | Weekly: automated billing via Clio</a:t>
            </a:r>
          </a:p>
        </p:txBody>
      </p:sp>
      <p:sp>
        <p:nvSpPr>
          <p:cNvPr id="38" name="TextBox 37"/>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52 / 111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UC-05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Templates</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open-agreements v0.7.5 — 40+ templates as MCP server endpoints</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Review</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lavern v0.15.0 — 67 agents, debate protocol, 21 MCP tools</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MCP: Research</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suzielaw — 22 providers, 19 jurisdictions, legal search</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LLM</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Claude 3.5 Sonnet — 200K context, single-pass for 300-page agreements</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open-agreements/open-agreements</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v0.7.5 — 40+ templates, MCP server, Claude Code plugin, Common Paper + Bonterms + YC SAFE</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AnttiHero/lavern</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v0.15.0 — 67 agents, debate protocol, 21 MCP tools, citation-grounded, 3-layer verification</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firelex/suzielaw</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160+ workflows, 19-jurisdiction legal research, 22 providers</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anylegal-ai/anylegal-oss</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Multi-LLM legal AI harness, SKILL.md compatible</a:t>
            </a:r>
          </a:p>
        </p:txBody>
      </p:sp>
      <p:sp>
        <p:nvSpPr>
          <p:cNvPr id="32" name="Rounded Rectangle 31"/>
          <p:cNvSpPr/>
          <p:nvPr/>
        </p:nvSpPr>
        <p:spPr>
          <a:xfrm>
            <a:off x="548640" y="5276088"/>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040" y="5326888"/>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anthropics/claude-for-legal</a:t>
            </a:r>
          </a:p>
        </p:txBody>
      </p:sp>
      <p:sp>
        <p:nvSpPr>
          <p:cNvPr id="34" name="TextBox 33"/>
          <p:cNvSpPr txBox="1"/>
          <p:nvPr/>
        </p:nvSpPr>
        <p:spPr>
          <a:xfrm>
            <a:off x="4389120" y="5326888"/>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Practice-area plugins + MCP connectors for legal workflows</a:t>
            </a:r>
          </a:p>
        </p:txBody>
      </p:sp>
      <p:sp>
        <p:nvSpPr>
          <p:cNvPr id="35" name="Rounded Rectangle 34"/>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iManage  |  DocuSign  |  CLM  |  Aderant  |  Clio</a:t>
            </a:r>
          </a:p>
        </p:txBody>
      </p:sp>
      <p:sp>
        <p:nvSpPr>
          <p:cNvPr id="37" name="Rounded Rectangle 36"/>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Paralegals | Associates | M&amp;A partners | Legal ops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53 / 111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UC-05</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Legal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Client-attorney privilege preserved: all processing within firm infrastructure</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A2I confidence gating: clauses with &lt;0.85 confidence routed to human review</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45K-contract training on firm's own archive — model learns firm-specific clause language</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Audit trail: every AI recommendation logged with confidence score and basis</a:t>
            </a:r>
          </a:p>
        </p:txBody>
      </p:sp>
      <p:sp>
        <p:nvSpPr>
          <p:cNvPr id="19" name="Rounded Rectangle 18"/>
          <p:cNvSpPr/>
          <p:nvPr/>
        </p:nvSpPr>
        <p:spPr>
          <a:xfrm>
            <a:off x="548640" y="502920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2920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640" y="513080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Jurisdictional compliance: template selection validates governing law against supported jurisdictions</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54 / 111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UC-05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Harvey AI</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$100K+/yr, enterprise only</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Market leader for top-tier firms — out of reach for mid-market</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Anthropic claude-for-legal</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Practice-area plugins</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Strong foundation but no integrated template/review/research pipeline</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Ironclad</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CLM platform</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Contract lifecycle management — more workflow than AI intelligence</a:t>
            </a:r>
          </a:p>
        </p:txBody>
      </p:sp>
      <p:sp>
        <p:nvSpPr>
          <p:cNvPr id="18" name="Rounded Rectangle 17"/>
          <p:cNvSpPr/>
          <p:nvPr/>
        </p:nvSpPr>
        <p:spPr>
          <a:xfrm>
            <a:off x="548640" y="402336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Thomson Reuters CoCounsel</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Established legal tech</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RAG over legal corpus — no agent architecture or debate protocol</a:t>
            </a:r>
          </a:p>
        </p:txBody>
      </p:sp>
      <p:sp>
        <p:nvSpPr>
          <p:cNvPr id="22" name="Rounded Rectangle 21"/>
          <p:cNvSpPr/>
          <p:nvPr/>
        </p:nvSpPr>
        <p:spPr>
          <a:xfrm>
            <a:off x="548640" y="502920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840" y="510540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approach</a:t>
            </a:r>
          </a:p>
        </p:txBody>
      </p:sp>
      <p:sp>
        <p:nvSpPr>
          <p:cNvPr id="24" name="TextBox 23"/>
          <p:cNvSpPr txBox="1"/>
          <p:nvPr/>
        </p:nvSpPr>
        <p:spPr>
          <a:xfrm>
            <a:off x="3749040" y="510540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Mid-market, open-source MCP</a:t>
            </a:r>
          </a:p>
        </p:txBody>
      </p:sp>
      <p:sp>
        <p:nvSpPr>
          <p:cNvPr id="25" name="TextBox 24"/>
          <p:cNvSpPr txBox="1"/>
          <p:nvPr/>
        </p:nvSpPr>
        <p:spPr>
          <a:xfrm>
            <a:off x="751840" y="535940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50-70% cheaper, 5 MCP servers, agent debate protocol, $3-5K/mo</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55 / 111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UC-05</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Lawyers spent 28 hours finding clauses and 12 on judgment. Now they spend 12 on judgment. Everyone does what they're actually good at. The 45K-contract training set from the firm's own archive is the decisive factor — the model learned this firm's clause language, not generic legal text.</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Legal Ops / Managing Partner</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$3-5K/mo per firm</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Interactive: contract drafting with client interview</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DreamzTech Apr 2026 + GBrain impl spec</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56 / 111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743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04</a:t>
            </a:r>
          </a:p>
        </p:txBody>
      </p:sp>
      <p:sp>
        <p:nvSpPr>
          <p:cNvPr id="5" name="TextBox 4"/>
          <p:cNvSpPr txBox="1"/>
          <p:nvPr/>
        </p:nvSpPr>
        <p:spPr>
          <a:xfrm>
            <a:off x="731520" y="2286000"/>
            <a:ext cx="9144000" cy="91440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Financial Services</a:t>
            </a:r>
          </a:p>
        </p:txBody>
      </p:sp>
      <p:sp>
        <p:nvSpPr>
          <p:cNvPr id="6" name="Rectangle 5"/>
          <p:cNvSpPr/>
          <p:nvPr/>
        </p:nvSpPr>
        <p:spPr>
          <a:xfrm>
            <a:off x="731520" y="329184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UC-06 | UC-07</a:t>
            </a:r>
          </a:p>
        </p:txBody>
      </p:sp>
      <p:sp>
        <p:nvSpPr>
          <p:cNvPr id="8" name="TextBox 7"/>
          <p:cNvSpPr txBox="1"/>
          <p:nvPr/>
        </p:nvSpPr>
        <p:spPr>
          <a:xfrm>
            <a:off x="731520" y="4297680"/>
            <a:ext cx="36576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2 USE CASES × 10 SLIDES = 20 SLIDES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57 / 111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UC-06 | FINANCIAL SERVICES</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TD Bank — Mortgage Processing Agent (15hrs → Minutes)</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$826M origination volume, deployed January 2026, compliance from day 1</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TD Bank  |  January 2026 — production</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Production</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American Banker, May 2026</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58 / 111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15+ Hours Per Mortgage Application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UC-06 | Financial Services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Mortgage applications require 15+ hours of manual document review per application</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Cross-referencing borrower docs (ID, bank statements, pay stubs) is error-prone at scale</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LLMs hallucinate on arithmetic — annualizing income from pay stubs is a known failure mode</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Risk and compliance review traditionally adds 3-5 days to the mortgage cycle</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100K+ applications per year — manual processing is physically impossible at volume</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Competitive pressure: fintechs processing in days while traditional banks take weeks</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59 / 111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Deterministic Math + LLM Document Reading</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UC-06 | Financial Services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Agentic AI reads entire borrower document packages — purchase agreements, IDs, bank statements</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Deterministic rules-based tools handle ALL arithmetic — LLM never does math</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Cross-references fields across documents, flags inconsistencies automatically</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Risk/compliance team built into the project from day 1, not bolted on after</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Human adjudicator reviews AI-generated credit summary — approves/rejects with audit trail</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One use case done right before expanding to other banking operations</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60 / 111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UC-06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15hr→min</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Processing Time</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Per mortgage application</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$826M</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2025 Origination</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U.S. residential mortgage volume</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Jan 2026</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Production Deploy</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Full production, not pilot</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Day 1</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Compliance Built In</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Risk team embedded from start</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100K+</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Applications/Year</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Scale of mortgage operation</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0</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LLM Math Operations</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All arithmetic is deterministic</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61 / 111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UC-06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Document package ingestion → OCR/NLP extraction of structured fields from unstructured docs</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Field cross-reference: income on pay stub vs tax return vs bank deposits → flag inconsistencies</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Income calculation routed to deterministic rules engine (not LLM) → annualized income computed</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Credit summary auto-generated: income, assets, liabilities, DTI ratio, risk flags</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Human adjudicator reviews AI summary → approves or rejects with full audit trail</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Continuous monitoring post-launch via TD Trustworthy AI governance framework</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62 / 111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UC-06 | FINANCIAL SERVICES</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TD Bank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document-extraction-agent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OCR/NLP reads purchase agreements, IDs, bank statements, pay stubs — structured output</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cross-reference-agent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Validates fields across documents — flags income/asset inconsistencies</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credit-summary-agent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Generates complete credit summary: DTI, risk flags, recommendation</a:t>
            </a:r>
          </a:p>
        </p:txBody>
      </p:sp>
      <p:sp>
        <p:nvSpPr>
          <p:cNvPr id="17" name="Rounded Rectangle 16"/>
          <p:cNvSpPr/>
          <p:nvPr/>
        </p:nvSpPr>
        <p:spPr>
          <a:xfrm>
            <a:off x="548640" y="2432304"/>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5640" y="2470404"/>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compliance-agent</a:t>
            </a:r>
          </a:p>
        </p:txBody>
      </p:sp>
      <p:sp>
        <p:nvSpPr>
          <p:cNvPr id="19" name="TextBox 18"/>
          <p:cNvSpPr txBox="1"/>
          <p:nvPr/>
        </p:nvSpPr>
        <p:spPr>
          <a:xfrm>
            <a:off x="675640" y="2660904"/>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Applies TD Trustworthy AI framework — ensures every decision has audit trail</a:t>
            </a:r>
          </a:p>
        </p:txBody>
      </p:sp>
      <p:sp>
        <p:nvSpPr>
          <p:cNvPr id="20" name="TextBox 19"/>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21" name="Rounded Rectangle 20"/>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Document Processing MCP (4 endpoints)</a:t>
            </a:r>
          </a:p>
        </p:txBody>
      </p:sp>
      <p:sp>
        <p:nvSpPr>
          <p:cNvPr id="23" name="TextBox 22"/>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ingest_document, extract_fields, cross_reference, generate_summary</a:t>
            </a:r>
          </a:p>
        </p:txBody>
      </p:sp>
      <p:sp>
        <p:nvSpPr>
          <p:cNvPr id="24" name="Rounded Rectangle 23"/>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Rules Engine MCP (3 endpoints)</a:t>
            </a:r>
          </a:p>
        </p:txBody>
      </p:sp>
      <p:sp>
        <p:nvSpPr>
          <p:cNvPr id="26" name="TextBox 25"/>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calculate_income, compute_dti, apply_underwriting_rules — deterministic math only</a:t>
            </a:r>
          </a:p>
        </p:txBody>
      </p:sp>
      <p:sp>
        <p:nvSpPr>
          <p:cNvPr id="27" name="Rounded Rectangle 26"/>
          <p:cNvSpPr/>
          <p:nvPr/>
        </p:nvSpPr>
        <p:spPr>
          <a:xfrm>
            <a:off x="5852160" y="2249424"/>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79160" y="2287524"/>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Core Banking MCP (3 endpoints)</a:t>
            </a:r>
          </a:p>
        </p:txBody>
      </p:sp>
      <p:sp>
        <p:nvSpPr>
          <p:cNvPr id="29" name="TextBox 28"/>
          <p:cNvSpPr txBox="1"/>
          <p:nvPr/>
        </p:nvSpPr>
        <p:spPr>
          <a:xfrm>
            <a:off x="5979160" y="2478024"/>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get_credit_history, verify_identity, create_application — system of record</a:t>
            </a:r>
          </a:p>
        </p:txBody>
      </p:sp>
      <p:sp>
        <p:nvSpPr>
          <p:cNvPr id="30" name="Rounded Rectangle 29"/>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Production: full mortgage pipeline | Human-in-the-loop: adjudicator review step | Continuous monitoring: TD Trustworthy AI</a:t>
            </a:r>
          </a:p>
        </p:txBody>
      </p:sp>
      <p:sp>
        <p:nvSpPr>
          <p:cNvPr id="32" name="TextBox 31"/>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63 / 111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UC-06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Foundation</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Layer 6 + Claude + GPT — selective per task, best model per subtask</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Arithmetic</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Deterministic rules engine — NEVER let LLM do math on financial data</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Governance</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TD Trustworthy AI framework — continuous post-launch monitoring</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Integration</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Core banking APIs + credit bureau feeds + document management</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All-Hands-AI/OpenHands</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Agent SDK for document processing pipeline with human-in-the-loop</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microsoft/presidio</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PII detection for handling sensitive financial documents</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huggingface/transformers</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Document understanding models — LayoutLM, BERT for NER</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tesseract-ocr/tesseract</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Open-source OCR engine for document digitization</a:t>
            </a:r>
          </a:p>
        </p:txBody>
      </p:sp>
      <p:sp>
        <p:nvSpPr>
          <p:cNvPr id="32" name="Rounded Rectangle 31"/>
          <p:cNvSpPr/>
          <p:nvPr/>
        </p:nvSpPr>
        <p:spPr>
          <a:xfrm>
            <a:off x="548640" y="5276088"/>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040" y="5326888"/>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langchain-ai/langchain</a:t>
            </a:r>
          </a:p>
        </p:txBody>
      </p:sp>
      <p:sp>
        <p:nvSpPr>
          <p:cNvPr id="34" name="TextBox 33"/>
          <p:cNvSpPr txBox="1"/>
          <p:nvPr/>
        </p:nvSpPr>
        <p:spPr>
          <a:xfrm>
            <a:off x="4389120" y="5326888"/>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Agent orchestration for multi-step document processing</a:t>
            </a:r>
          </a:p>
        </p:txBody>
      </p:sp>
      <p:sp>
        <p:nvSpPr>
          <p:cNvPr id="35" name="Rounded Rectangle 34"/>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Core Banking  |  Doc Management  |  Credit Bureau  |  Compliance  |  LOS</a:t>
            </a:r>
          </a:p>
        </p:txBody>
      </p:sp>
      <p:sp>
        <p:nvSpPr>
          <p:cNvPr id="37" name="Rounded Rectangle 36"/>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Mortgage underwriters | Credit adjudicators | Compliance officers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64 / 111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UC-06</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Financial Services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TD Trustworthy AI governance framework applied from day 1 of project</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Continuous post-launch monitoring: model drift, accuracy degradation, bias checks</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Human adjudicator signs off on every credit decision — AI recommends, human decides</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Full audit trail: every AI extraction logged with source document + confidence score</a:t>
            </a:r>
          </a:p>
        </p:txBody>
      </p:sp>
      <p:sp>
        <p:nvSpPr>
          <p:cNvPr id="19" name="Rounded Rectangle 18"/>
          <p:cNvSpPr/>
          <p:nvPr/>
        </p:nvSpPr>
        <p:spPr>
          <a:xfrm>
            <a:off x="548640" y="502920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2920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640" y="513080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Deterministic math: all arithmetic operations use rules engine, never LLM inference</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65 / 111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UC-06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JPMorgan COIN</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360K hours saved, 9+ years</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Purpose-built ML for contracts — not agentic, not mortgage processing</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Blend</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Mortgage automation SaaS</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Digital lending platform — workflow automation, limited AI intelligence</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Roostify</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Digital mortgage</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Digital mortgage platform — form automation, not document intelligence</a:t>
            </a:r>
          </a:p>
        </p:txBody>
      </p:sp>
      <p:sp>
        <p:nvSpPr>
          <p:cNvPr id="18" name="Rounded Rectangle 17"/>
          <p:cNvSpPr/>
          <p:nvPr/>
        </p:nvSpPr>
        <p:spPr>
          <a:xfrm>
            <a:off x="548640" y="402336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ICE Mortgage Technology</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Encompass</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Market leader for LOS — workflow-centric, limited AI extraction</a:t>
            </a:r>
          </a:p>
        </p:txBody>
      </p:sp>
      <p:sp>
        <p:nvSpPr>
          <p:cNvPr id="22" name="Rounded Rectangle 21"/>
          <p:cNvSpPr/>
          <p:nvPr/>
        </p:nvSpPr>
        <p:spPr>
          <a:xfrm>
            <a:off x="548640" y="502920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840" y="510540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differentiation</a:t>
            </a:r>
          </a:p>
        </p:txBody>
      </p:sp>
      <p:sp>
        <p:nvSpPr>
          <p:cNvPr id="24" name="TextBox 23"/>
          <p:cNvSpPr txBox="1"/>
          <p:nvPr/>
        </p:nvSpPr>
        <p:spPr>
          <a:xfrm>
            <a:off x="3749040" y="510540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Agentic + deterministic</a:t>
            </a:r>
          </a:p>
        </p:txBody>
      </p:sp>
      <p:sp>
        <p:nvSpPr>
          <p:cNvPr id="25" name="TextBox 24"/>
          <p:cNvSpPr txBox="1"/>
          <p:nvPr/>
        </p:nvSpPr>
        <p:spPr>
          <a:xfrm>
            <a:off x="751840" y="535940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Best of both: LLM reads documents, rules engine does math, human decides</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66 / 111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UC-06</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They didn't let the LLM do math. Deterministic tools for arithmetic, LLM for document reading. Sharp task boundaries. Human signs off on every credit decision. Risk/compliance built into the team from day one. One use case done right before expanding. Dead simple discipline. That's it.</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VP Mortgage Operations / CTO</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Enterprise (internal deployment)</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Production: full mortgage pipeline</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American Banker, May 2026</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67 / 111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UC-07 | FINANCIAL SERVICES</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JPMorgan COIN — 360K Attorney-Hours Saved, 9+ Years Running</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Purpose-built ML extracts 150 attributes from commercial credit agreements</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JPMorgan Chase  |  June 2016, still in production (9+ years)</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Production (9+ years)</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TacticalVC Apr 2026; Finextra Sep 2025</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68 / 111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12,000 Credit Agreements Need 150 Attributes Each</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UC-07 | Financial Services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12,000 commercial credit agreements per year require extraction of 150+ attributes each</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Multi-day manual review cycles for covenants, collateral, payment schedules, default conditions</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Error rate in manual extraction unacceptable at institutional lending scale</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Expanding scope: NDAs, custody agreements, CDS documentation — same extraction problem</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900+ data scientists, $9.6B/year tech budget — scale demands purpose-built solutions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Attorneys spending time on extraction instead of negotiation and strategy</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69 / 111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Purpose-Built ML — Not an LLM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UC-07 | Financial Services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Custom ML extracts 150 attributes from commercial credit agreements in seconds</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Trained on firm's own contract archive — learned JPMorgan's clause language, not generic</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Expanded over 9 years to NDAs, custody agreements, CDS, and trade documentation</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Not an LLM — purpose-built precision extraction ML on private cloud infrastructure</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Error rate reduced ~80% vs manual extraction across all 150 attribute types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Lawyers shifted to negotiation and strategy — not replaced, redirected to higher-value work</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70 / 111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UC-07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360K</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Attorney-Hours Saved/yr</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Across commercial lending operations</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12K</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Contracts/yr</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Processed in seconds vs multi-day cycles</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~80%</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Error Rate ↓</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Vs manual extraction across 150 attributes</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9+ yrs</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In Production</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Since June 2016, continuously expanded</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150</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Attributes Extracted</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Covenants, collateral, payments, defaults, jurisdictions</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$9.6B</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Annual Tech Budget</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Scale of JPMorgan technology investment</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71 / 111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UC-07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Contract ingestion → layout-preserving extraction (maintains document structure)</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150-attribute NER model → covenants, collateral descriptions, payment schedules</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Default conditions + jurisdiction identification → structured output per agreement</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Flagged clauses → human review → corrections feed continuous model improvement</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Expanded scope: same pipeline applied to NDAs, custody, CDS documentation</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9 years of continuous refinement: model learns from every human correction</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72 / 111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UC-07 | FINANCIAL SERVICES</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JPMorgan COIN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extraction-agent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Layout-preserving extraction of 150 attributes from commercial credit agreements</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classification-agent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Covenant type, collateral category, payment structure classification</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expansion-agent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Applies extraction patterns to new document types: NDAs, custody, CDS</a:t>
            </a:r>
          </a:p>
        </p:txBody>
      </p:sp>
      <p:sp>
        <p:nvSpPr>
          <p:cNvPr id="17" name="TextBox 16"/>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18" name="Rounded Rectangle 17"/>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COIN Platform (Proprietary)</a:t>
            </a:r>
          </a:p>
        </p:txBody>
      </p:sp>
      <p:sp>
        <p:nvSpPr>
          <p:cNvPr id="20" name="TextBox 19"/>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150-attribute extraction, continuous retraining, multi-document-type support</a:t>
            </a:r>
          </a:p>
        </p:txBody>
      </p:sp>
      <p:sp>
        <p:nvSpPr>
          <p:cNvPr id="21" name="Rounded Rectangle 20"/>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Contract Management (Internal)</a:t>
            </a:r>
          </a:p>
        </p:txBody>
      </p:sp>
      <p:sp>
        <p:nvSpPr>
          <p:cNvPr id="23" name="TextBox 22"/>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Document ingestion, structured output, human review queue</a:t>
            </a:r>
          </a:p>
        </p:txBody>
      </p:sp>
      <p:sp>
        <p:nvSpPr>
          <p:cNvPr id="24" name="Rounded Rectangle 23"/>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Production: continuous processing of 12K contracts/year | Batch: quarterly portfolio reviews | Expansion: new document types via transfer learning</a:t>
            </a:r>
          </a:p>
        </p:txBody>
      </p:sp>
      <p:sp>
        <p:nvSpPr>
          <p:cNvPr id="26" name="TextBox 25"/>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73 / 111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UC-07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ML</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COIN proprietary — precision extraction ML, not LLM-based</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Infrastructure</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Private cloud — $9.6B annual tech budget, 900+ data scientists</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Training</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Firm's own contract archive — learned JPMorgan clause language</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Scope</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Credit agreements → NDAs → custody → CDS — 9 years of expansion</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huggingface/transformers</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LayoutLM + DocFormer for document understanding architectures</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microsoft/unilm</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LayoutLMv3 — pre-trained multimodal for document AI</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tesseract-ocr/tesseract</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OCR foundation for document digitization</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explosion/spaCy</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NER pipeline for entity extraction from legal text</a:t>
            </a:r>
          </a:p>
        </p:txBody>
      </p:sp>
      <p:sp>
        <p:nvSpPr>
          <p:cNvPr id="32" name="Rounded Rectangle 31"/>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Core Banking  |  Contract Management  |  Credit Risk  |  Legal Operations</a:t>
            </a:r>
          </a:p>
        </p:txBody>
      </p:sp>
      <p:sp>
        <p:nvSpPr>
          <p:cNvPr id="34" name="Rounded Rectangle 33"/>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Loan officers | Attorneys | Credit analysts | Operations</a:t>
            </a:r>
          </a:p>
        </p:txBody>
      </p:sp>
      <p:sp>
        <p:nvSpPr>
          <p:cNvPr id="36" name="TextBox 3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7" name="TextBox 3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74 / 111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UC-07</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Financial Services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Private cloud infrastructure: all processing within JPMorgan security perimeter</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Continuous model retraining: human corrections feed improvement pipeline</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Audit trail: every extraction logged with confidence score and source location</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Regulatory compliance: meets SEC, OCC, Fed requirements for financial document processing</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75 / 111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UC-07 | FINANCIAL SERVICES</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TD Bank</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Agentic AI (2026)</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Newer approach: LLM + deterministic tools — different scope (mortgage vs commercial)</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Kira Systems (Litera)</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Contract analysis</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AI contract review — acquired by Litera, enterprise pricing</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Eigen Technologies</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Document intelligence</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NLP extraction for financial services — narrow focus</a:t>
            </a:r>
          </a:p>
        </p:txBody>
      </p:sp>
      <p:sp>
        <p:nvSpPr>
          <p:cNvPr id="18" name="Rounded Rectangle 17"/>
          <p:cNvSpPr/>
          <p:nvPr/>
        </p:nvSpPr>
        <p:spPr>
          <a:xfrm>
            <a:off x="548640" y="402336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framing</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Lessons learned</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9 years proves: narrow domain + own data + continuous refinement = production endurance</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76 / 111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UC-07</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Contracts follow predictable structures. Narrow domain, closed text environment, static rules. Started with single document type, 150 attributes. Lawyers shifted to negotiation and strategy — not replaced, redirected. That's the actual work. The lesson: purpose-built ML on your own data beats general-purpose LLM on someone else's.</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CTO / VP Legal Operations</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Enterprise ($9.6B tech budget)</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Production: continuous processing of 12K contracts/year</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TacticalVC Apr 2026; Finextra Sep 2025</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77 / 111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743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05</a:t>
            </a:r>
          </a:p>
        </p:txBody>
      </p:sp>
      <p:sp>
        <p:nvSpPr>
          <p:cNvPr id="5" name="TextBox 4"/>
          <p:cNvSpPr txBox="1"/>
          <p:nvPr/>
        </p:nvSpPr>
        <p:spPr>
          <a:xfrm>
            <a:off x="731520" y="2286000"/>
            <a:ext cx="9144000" cy="91440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Construction</a:t>
            </a:r>
          </a:p>
        </p:txBody>
      </p:sp>
      <p:sp>
        <p:nvSpPr>
          <p:cNvPr id="6" name="Rectangle 5"/>
          <p:cNvSpPr/>
          <p:nvPr/>
        </p:nvSpPr>
        <p:spPr>
          <a:xfrm>
            <a:off x="731520" y="329184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UC-08 | UC-09</a:t>
            </a:r>
          </a:p>
        </p:txBody>
      </p:sp>
      <p:sp>
        <p:nvSpPr>
          <p:cNvPr id="8" name="TextBox 7"/>
          <p:cNvSpPr txBox="1"/>
          <p:nvPr/>
        </p:nvSpPr>
        <p:spPr>
          <a:xfrm>
            <a:off x="731520" y="4297680"/>
            <a:ext cx="36576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2 USE CASES × 10 SLIDES = 20 SLIDES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78 / 111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UC-08 | CONSTRUCTION</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DroneDeploy — 34M Annotations, 4 AI Agents, 3M+ Sites</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Autonomous overnight capture → morning reports, 48% injury reduction</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DroneDeploy + Barton Malow  |  Production across 3M+ sites, break-even Sep 2025</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Production (3M+ sites)</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DroneDeploy Blog Apr 2026 + BCG 2026</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79 / 111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Construction Sites Are Unstructured and Underdocumented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UC-08 | Construction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Manual site walks miss events, rely entirely on superintendent memory</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Safety violations go undetected — poor documentation is industry-wide</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Progress reporting takes 2 days of manual compilation per project</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Generic computer vision doesn't understand what 'installed' means per trade</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Subcontractor management: no objective comparison across trades or sites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Data center construction segment exploding: 300+ projects, users up 128% YoY</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80 / 111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4 AI Agents + Autonomous Capture + 34M Annotation Corpus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UC-08 | Construction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4 AI agents: Progress AI, Safety AI, Inspection AI, Embodied AI — each specialized</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Autonomous ground robots (Rocos) + docked drones capture sites overnight automatically</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Morning reports: overnight progress by trade delivered before team arrives on site</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Safety AI trained on 120K labeled examples — flags PPE/guardrail violations in real-time</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13-year annotation corpus: 34M labeled examples across 3M sites in 180 countries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770M images processed in 2025 alone — robotics missions grew 160% YoY in 2026</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81 / 111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UC-08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34M</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Training Annotations</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13-year corpus across 180 countries</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+340%</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Safety Catches</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Real-time violation detection improvement</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48%</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Injury Reduction</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Over 12-month deployment period</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3M+</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Sites in Production</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Global deployment scale</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770M</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Images (2025)</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Processed in single calendar year</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Sep 2025</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Break-Even</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Company reached profitability</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82 / 111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UC-08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Overnight: ground robots + docked drones autonomously capture from fixed vantage points</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Morning: Progress AI generates structured report — installed work, trade progress, deviations</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Continuous: Safety AI monitors for PPE violations, guardrail issues, zone intrusions</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Inspection AI: structural analysis, defect identification, compliance documentation</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Embodied AI: ground-level autonomous navigation for detailed site documentation</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All captures → BIM overlay → Procore/PlanGrid integration → project management dashboard</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83 / 111</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UC-08 | CONSTRUCTION</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DroneDeploy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Progress AI</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Overnight capture → structured morning report: installed work by trade, deviations from plan</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Safety AI</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Real-time: PPE detection, guardrail violations, zone intrusions (120K labeled examples)</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Inspection AI</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Structural analysis, defect identification, compliance documentation with annotations</a:t>
            </a:r>
          </a:p>
        </p:txBody>
      </p:sp>
      <p:sp>
        <p:nvSpPr>
          <p:cNvPr id="17" name="Rounded Rectangle 16"/>
          <p:cNvSpPr/>
          <p:nvPr/>
        </p:nvSpPr>
        <p:spPr>
          <a:xfrm>
            <a:off x="548640" y="2432304"/>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5640" y="2470404"/>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Embodied AI</a:t>
            </a:r>
          </a:p>
        </p:txBody>
      </p:sp>
      <p:sp>
        <p:nvSpPr>
          <p:cNvPr id="19" name="TextBox 18"/>
          <p:cNvSpPr txBox="1"/>
          <p:nvPr/>
        </p:nvSpPr>
        <p:spPr>
          <a:xfrm>
            <a:off x="675640" y="2660904"/>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Ground-level autonomous navigation for detailed, close-range site documentation</a:t>
            </a:r>
          </a:p>
        </p:txBody>
      </p:sp>
      <p:sp>
        <p:nvSpPr>
          <p:cNvPr id="20" name="TextBox 19"/>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21" name="Rounded Rectangle 20"/>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DroneDeploy Platform (Cloud API)</a:t>
            </a:r>
          </a:p>
        </p:txBody>
      </p:sp>
      <p:sp>
        <p:nvSpPr>
          <p:cNvPr id="23" name="TextBox 22"/>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Image processing, annotation management, report generation, BIM overlay</a:t>
            </a:r>
          </a:p>
        </p:txBody>
      </p:sp>
      <p:sp>
        <p:nvSpPr>
          <p:cNvPr id="24" name="Rounded Rectangle 23"/>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Procore Integration (Project mgmt)</a:t>
            </a:r>
          </a:p>
        </p:txBody>
      </p:sp>
      <p:sp>
        <p:nvSpPr>
          <p:cNvPr id="26" name="TextBox 25"/>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Progress updates, safety reports, inspection logs → project management</a:t>
            </a:r>
          </a:p>
        </p:txBody>
      </p:sp>
      <p:sp>
        <p:nvSpPr>
          <p:cNvPr id="27" name="Rounded Rectangle 26"/>
          <p:cNvSpPr/>
          <p:nvPr/>
        </p:nvSpPr>
        <p:spPr>
          <a:xfrm>
            <a:off x="5852160" y="2249424"/>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79160" y="2287524"/>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BIM Integration (Model overlay)</a:t>
            </a:r>
          </a:p>
        </p:txBody>
      </p:sp>
      <p:sp>
        <p:nvSpPr>
          <p:cNvPr id="29" name="TextBox 28"/>
          <p:cNvSpPr txBox="1"/>
          <p:nvPr/>
        </p:nvSpPr>
        <p:spPr>
          <a:xfrm>
            <a:off x="5979160" y="2478024"/>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Capture data → BIM model comparison → deviation detection</a:t>
            </a:r>
          </a:p>
        </p:txBody>
      </p:sp>
      <p:sp>
        <p:nvSpPr>
          <p:cNvPr id="30" name="Rounded Rectangle 29"/>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Autonomous: overnight capture missions | Morning: automated reports by 07:00 | Real-time: continuous safety monitoring | Integration: Procore/PlanGrid sync</a:t>
            </a:r>
          </a:p>
        </p:txBody>
      </p:sp>
      <p:sp>
        <p:nvSpPr>
          <p:cNvPr id="32" name="TextBox 31"/>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33" name="TextBox 3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84 / 111</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UC-08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Vision</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34M annotation corpus — 770M images (2025) — domain-specific CV models</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Capture</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Ground robots (Rocos) + docked drones — autonomous overnight missions</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Agents</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Progress AI + Safety AI + Inspection AI + Embodied AI — specialized per task</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Integration</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Procore + PlanGrid + BIM overlay — project management ecosystem</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ultralytics/ultralytics</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YOLOv8 — foundation for Safety AI object detection (PPE, guardrails)</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opencv/opencv</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Image processing pipeline for drone + robot captures</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PointCloudLibrary/pcl</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3D point cloud processing for site reconstruction</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openMVG/openMVG</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Structure from Motion — 3D reconstruction from 2D images</a:t>
            </a:r>
          </a:p>
        </p:txBody>
      </p:sp>
      <p:sp>
        <p:nvSpPr>
          <p:cNvPr id="32" name="Rounded Rectangle 31"/>
          <p:cNvSpPr/>
          <p:nvPr/>
        </p:nvSpPr>
        <p:spPr>
          <a:xfrm>
            <a:off x="548640" y="5276088"/>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040" y="5326888"/>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All-Hands-AI/OpenHands</a:t>
            </a:r>
          </a:p>
        </p:txBody>
      </p:sp>
      <p:sp>
        <p:nvSpPr>
          <p:cNvPr id="34" name="TextBox 33"/>
          <p:cNvSpPr txBox="1"/>
          <p:nvPr/>
        </p:nvSpPr>
        <p:spPr>
          <a:xfrm>
            <a:off x="4389120" y="5326888"/>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Agent orchestration for multi-agent site intelligence</a:t>
            </a:r>
          </a:p>
        </p:txBody>
      </p:sp>
      <p:sp>
        <p:nvSpPr>
          <p:cNvPr id="35" name="Rounded Rectangle 34"/>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BIM  |  Procore  |  PlanGrid  |  GIS  |  ERP</a:t>
            </a:r>
          </a:p>
        </p:txBody>
      </p:sp>
      <p:sp>
        <p:nvSpPr>
          <p:cNvPr id="37" name="Rounded Rectangle 36"/>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Superintendents | Project managers | Safety officers | Execs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85 / 111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UC-08</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Construction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FAA Part 107 compliance for all drone flight operations — certified pilots required</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Site access and privacy requirements: signed agreements for autonomous capture</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Image retention per project contract terms: typically 7+ years for construction records</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Data sovereignty: images stored in region-appropriate cloud infrastructure</a:t>
            </a:r>
          </a:p>
        </p:txBody>
      </p:sp>
      <p:sp>
        <p:nvSpPr>
          <p:cNvPr id="19" name="Rounded Rectangle 18"/>
          <p:cNvSpPr/>
          <p:nvPr/>
        </p:nvSpPr>
        <p:spPr>
          <a:xfrm>
            <a:off x="548640" y="502920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2920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640" y="513080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Safety AI accuracy monitoring: weekly false positive/negative review with safety officers</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86 / 111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UC-08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Buildots</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Indoor CV</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Progress tracking via hardhat cameras — indoor only, no outdoor/drone</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OpenSpace</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360° walk-through</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Walk-through capture — manual trigger, not autonomous</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Procore (Verizon/AI)</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Project management</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PM platform adding AI — broad but not deep on CV</a:t>
            </a:r>
          </a:p>
        </p:txBody>
      </p:sp>
      <p:sp>
        <p:nvSpPr>
          <p:cNvPr id="18" name="Rounded Rectangle 17"/>
          <p:cNvSpPr/>
          <p:nvPr/>
        </p:nvSpPr>
        <p:spPr>
          <a:xfrm>
            <a:off x="548640" y="402336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Skydio</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Drone hardware</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Autonomous drone hardware — strong flight, limited analytics</a:t>
            </a:r>
          </a:p>
        </p:txBody>
      </p:sp>
      <p:sp>
        <p:nvSpPr>
          <p:cNvPr id="22" name="Rounded Rectangle 21"/>
          <p:cNvSpPr/>
          <p:nvPr/>
        </p:nvSpPr>
        <p:spPr>
          <a:xfrm>
            <a:off x="548640" y="502920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840" y="510540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DroneDeploy edge</a:t>
            </a:r>
          </a:p>
        </p:txBody>
      </p:sp>
      <p:sp>
        <p:nvSpPr>
          <p:cNvPr id="24" name="TextBox 23"/>
          <p:cNvSpPr txBox="1"/>
          <p:nvPr/>
        </p:nvSpPr>
        <p:spPr>
          <a:xfrm>
            <a:off x="3749040" y="510540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34M annotation moat</a:t>
            </a:r>
          </a:p>
        </p:txBody>
      </p:sp>
      <p:sp>
        <p:nvSpPr>
          <p:cNvPr id="25" name="TextBox 24"/>
          <p:cNvSpPr txBox="1"/>
          <p:nvPr/>
        </p:nvSpPr>
        <p:spPr>
          <a:xfrm>
            <a:off x="751840" y="535940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13-year corpus across 180 countries — competitors can't replicate the data flywheel</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87 / 111</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UC-08</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13-year annotation corpus — 34M labeled examples across 180 countries — is the moat. The superintendent now acts on data instead of generating it. Faster decisions, fewer surprises. Generic CV fails because it doesn't understand what 'installed' means for different trades. Domain-specific training on construction site data is the differentiator.</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VP Construction / Project Director</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Enterprise (break-even Sep 2025)</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Autonomous: overnight capture missions</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DroneDeploy Blog Apr 2026 + BCG 2026</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88 / 111</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UC-09 | CONSTRUCTION</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BCG: AI Construction Site Assistant — 6x ROI, 48% Injury ↓</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Computer vision for risk detection, progress tracking, productivity benchmarking</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German DevCo (BCG pilot)  |  Pilot on 2 live projects, BCG 2026 Executive Perspectives</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Pilot (6x ROI validated)</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BCG Executive Perspectives, 2026</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89 / 111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Poor Documentation, Manual Walks, Memory-Based Decisions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UC-09 | Construction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Historical poor incident documentation — site walks miss events, rely on superintendent memory</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Productivity benchmarking impossible without objective data across subcontractors</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Manual progress reporting delays corrective action by days, not hours</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Subcontractor management: no objective comparison metric across trades</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Legal liability gaps from inconsistent site documentation practices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BCG models 400-700 bps margin uplift achievable across the construction vertical</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90 / 111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CV Risk Detection + Automated Documentation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UC-09 | Construction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Computer vision: real-time site risk detection from continuous image capture</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AI-driven progress tracking: automated documentation vs plan comparison</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Productivity benchmarking: objective metrics across subcontractors and trades</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Smart notifications: immediate alerts when risks or deviations detected</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AI-generated compliance tracking, task documentation, and handover reports</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Objective photographic record closes legal liability gaps across subcontractors</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91 / 111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UC-09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6x</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ROI</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Across deployed pilot projects</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12%</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Productivity Boost</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In first 6 months of deployment</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48%</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Injury Reduction</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Over 12-month deployment period</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30%</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Timeline Compression</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Project timeline reduction modeled by BCG</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400-700</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bps Margin Uplift</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BCG model across construction vertical</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Live Pilots</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German DevCo projects in production</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92 / 111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UC-09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Site images captured → CV processes for risk detection → Smart notifications within minutes</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Progress tracking: AI compares captures against plan → automated deviation reports</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Productivity benchmarking: metrics computed per subcontractor, per trade, per period</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Compliance: automated tracking generates documentation for handover and audit</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Legal: every site state captured photographically → objective record for liability</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BCG Executive Perspectives: scalable across the entire construction vertical</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93 / 111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UC-09 | CONSTRUCTION</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BCG: AI Construction Site Assistant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risk-detection-agent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Real-time CV analysis of site images → risk identification → smart notifications</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progress-tracking-agent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Capture vs plan comparison → automated deviation reports → corrective action triggers</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benchmarking-agent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Productivity metrics per subcontractor/trade → objective performance comparison</a:t>
            </a:r>
          </a:p>
        </p:txBody>
      </p:sp>
      <p:sp>
        <p:nvSpPr>
          <p:cNvPr id="17" name="TextBox 16"/>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18" name="Rounded Rectangle 17"/>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CV Pipeline MCP (Image processing)</a:t>
            </a:r>
          </a:p>
        </p:txBody>
      </p:sp>
      <p:sp>
        <p:nvSpPr>
          <p:cNvPr id="20" name="TextBox 19"/>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Risk detection, progress comparison, annotation, report generation</a:t>
            </a:r>
          </a:p>
        </p:txBody>
      </p:sp>
      <p:sp>
        <p:nvSpPr>
          <p:cNvPr id="21" name="Rounded Rectangle 20"/>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Project Management MCP (BIM/ERP)</a:t>
            </a:r>
          </a:p>
        </p:txBody>
      </p:sp>
      <p:sp>
        <p:nvSpPr>
          <p:cNvPr id="23" name="TextBox 22"/>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Plan data import, deviation logging, milestone tracking</a:t>
            </a:r>
          </a:p>
        </p:txBody>
      </p:sp>
      <p:sp>
        <p:nvSpPr>
          <p:cNvPr id="24" name="Rounded Rectangle 23"/>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Real-time: continuous site monitoring | Daily: automated progress reports | Periodic: productivity benchmarking reviews | Compliance: automated documentation</a:t>
            </a:r>
          </a:p>
        </p:txBody>
      </p:sp>
      <p:sp>
        <p:nvSpPr>
          <p:cNvPr id="26" name="TextBox 25"/>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94 / 111</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UC-09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Vision</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CV risk detection — real-time processing of site imagery</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Automation</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Smart notifications + compliance tracking + handover report generation</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Analytics</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Productivity benchmarking — per subcontractor, per trade, objective metrics</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ROI</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BCG model: 400-700 bps margin uplift across the construction vertical</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ultralytics/ultralytics</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YOLOv8 — object detection for construction risk identification</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opencv/opencv</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Image processing pipeline for site photo analysis</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All-Hands-AI/OpenHands</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Agent orchestration for multi-step site intelligence</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streamlit/streamlit</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Dashboard for productivity benchmarking visualization</a:t>
            </a:r>
          </a:p>
        </p:txBody>
      </p:sp>
      <p:sp>
        <p:nvSpPr>
          <p:cNvPr id="32" name="Rounded Rectangle 31"/>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BIM  |  ERP  |  Safety Management  |  Project Management</a:t>
            </a:r>
          </a:p>
        </p:txBody>
      </p:sp>
      <p:sp>
        <p:nvSpPr>
          <p:cNvPr id="34" name="Rounded Rectangle 33"/>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Site managers | Safety officers | Project managers | Executives</a:t>
            </a:r>
          </a:p>
        </p:txBody>
      </p:sp>
      <p:sp>
        <p:nvSpPr>
          <p:cNvPr id="36" name="TextBox 3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7" name="TextBox 3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95 / 111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UC-09</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Construction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Site imagery consent: agreements with all parties for continuous capture</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Data retention: construction records retained per project contract terms (7+ years typical)</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Privacy: worker PII not stored — detection identifies hazards, not individuals</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Regulatory: OSHA compliance documentation automatically generated from captures</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96 / 111</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UC-09 | CONSTRUCTION</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DroneDeploy</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Market leader, 34M annotations</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Autonomous capture + AI agents — the benchmark for construction AI</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Buildots</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Indoor progress tracking</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Hardhat cameras — strong indoor, limited outdoor/safety</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OpenSpace</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360° capture</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Manual walk-through documentation — not automated, not real-time</a:t>
            </a:r>
          </a:p>
        </p:txBody>
      </p:sp>
      <p:sp>
        <p:nvSpPr>
          <p:cNvPr id="18" name="Rounded Rectangle 17"/>
          <p:cNvSpPr/>
          <p:nvPr/>
        </p:nvSpPr>
        <p:spPr>
          <a:xfrm>
            <a:off x="548640" y="402336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positioning</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BCG-validated ROI</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BCG Executive Perspectives validates 400-700 bps margin uplift — credible third-party</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97 / 111</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UC-09</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Construction has historically had poor incident documentation. AI that captures every site state photographically creates an objective record — closes legal liability gaps, triggers faster corrective action, produces the data trail for benchmarking across subcontractors. You can't manage what you can't see. Now they can see everything.</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VP Construction / COO</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Enterprise (pilot → 400-700 bps margin uplift)</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Real-time: continuous site monitoring</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BCG Executive Perspectives, 2026</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98 / 111</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743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06</a:t>
            </a:r>
          </a:p>
        </p:txBody>
      </p:sp>
      <p:sp>
        <p:nvSpPr>
          <p:cNvPr id="5" name="TextBox 4"/>
          <p:cNvSpPr txBox="1"/>
          <p:nvPr/>
        </p:nvSpPr>
        <p:spPr>
          <a:xfrm>
            <a:off x="731520" y="2286000"/>
            <a:ext cx="9144000" cy="91440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Legal</a:t>
            </a:r>
          </a:p>
        </p:txBody>
      </p:sp>
      <p:sp>
        <p:nvSpPr>
          <p:cNvPr id="6" name="Rectangle 5"/>
          <p:cNvSpPr/>
          <p:nvPr/>
        </p:nvSpPr>
        <p:spPr>
          <a:xfrm>
            <a:off x="731520" y="329184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UC-05 | UC-10</a:t>
            </a:r>
          </a:p>
        </p:txBody>
      </p:sp>
      <p:sp>
        <p:nvSpPr>
          <p:cNvPr id="8" name="TextBox 7"/>
          <p:cNvSpPr txBox="1"/>
          <p:nvPr/>
        </p:nvSpPr>
        <p:spPr>
          <a:xfrm>
            <a:off x="731520" y="4297680"/>
            <a:ext cx="36576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FFB800"/>
                </a:solidFill>
                <a:latin typeface="Calibri"/>
              </a:rPr>
              <a:t>2 USE CASES × 10 SLIDES = 20 SLIDES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99 / 111</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27432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UC-10 | LEGAL</a:t>
            </a:r>
          </a:p>
        </p:txBody>
      </p:sp>
      <p:sp>
        <p:nvSpPr>
          <p:cNvPr id="5" name="TextBox 4"/>
          <p:cNvSpPr txBox="1"/>
          <p:nvPr/>
        </p:nvSpPr>
        <p:spPr>
          <a:xfrm>
            <a:off x="731520" y="1828800"/>
            <a:ext cx="9144000" cy="109728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LexisNexis Lexis+ AI — 284% ROI, Payback Under 6 Months</a:t>
            </a:r>
          </a:p>
        </p:txBody>
      </p:sp>
      <p:sp>
        <p:nvSpPr>
          <p:cNvPr id="6" name="Rectangle 5"/>
          <p:cNvSpPr/>
          <p:nvPr/>
        </p:nvSpPr>
        <p:spPr>
          <a:xfrm>
            <a:off x="731520" y="310896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383280"/>
            <a:ext cx="82296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Forrester TEI: $1.2M benefits, 13% outside counsel reduction, source-grounded</a:t>
            </a:r>
          </a:p>
        </p:txBody>
      </p:sp>
      <p:sp>
        <p:nvSpPr>
          <p:cNvPr id="8" name="TextBox 7"/>
          <p:cNvSpPr txBox="1"/>
          <p:nvPr/>
        </p:nvSpPr>
        <p:spPr>
          <a:xfrm>
            <a:off x="731520" y="4114800"/>
            <a:ext cx="7315200" cy="274320"/>
          </a:xfrm>
          <a:prstGeom prst="rect">
            <a:avLst/>
          </a:prstGeom>
          <a:noFill/>
        </p:spPr>
        <p:txBody>
          <a:bodyPr wrap="square" anchor="t" lIns="0" rIns="0" tIns="0" bIns="0">
            <a:noAutofit/>
          </a:bodyPr>
          <a:lstStyle/>
          <a:p>
            <a:pPr algn="l">
              <a:lnSpc>
                <a:spcPct val="105000"/>
              </a:lnSpc>
              <a:spcBef>
                <a:spcPts val="0"/>
              </a:spcBef>
            </a:pPr>
            <a:r>
              <a:rPr sz="1300" b="0" i="0">
                <a:solidFill>
                  <a:srgbClr val="E0F7F1"/>
                </a:solidFill>
                <a:latin typeface="Calibri"/>
              </a:rPr>
              <a:t>LexisNexis (Forrester TEI Study)  |  Forrester Total Economic Impact study, June 2025</a:t>
            </a:r>
          </a:p>
        </p:txBody>
      </p:sp>
      <p:sp>
        <p:nvSpPr>
          <p:cNvPr id="9" name="Rounded Rectangle 8"/>
          <p:cNvSpPr/>
          <p:nvPr/>
        </p:nvSpPr>
        <p:spPr>
          <a:xfrm>
            <a:off x="731520" y="4754880"/>
            <a:ext cx="2286000" cy="411480"/>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800600"/>
            <a:ext cx="2286000" cy="320040"/>
          </a:xfrm>
          <a:prstGeom prst="rect">
            <a:avLst/>
          </a:prstGeom>
          <a:noFill/>
        </p:spPr>
        <p:txBody>
          <a:bodyPr wrap="square" anchor="t" lIns="0" rIns="0" tIns="0" bIns="0">
            <a:noAutofit/>
          </a:bodyPr>
          <a:lstStyle/>
          <a:p>
            <a:pPr algn="ctr">
              <a:lnSpc>
                <a:spcPct val="105000"/>
              </a:lnSpc>
              <a:spcBef>
                <a:spcPts val="0"/>
              </a:spcBef>
            </a:pPr>
            <a:r>
              <a:rPr sz="1200" b="1" i="0">
                <a:solidFill>
                  <a:srgbClr val="0A1628"/>
                </a:solidFill>
                <a:latin typeface="Calibri"/>
              </a:rPr>
              <a:t>VERTICAL SCORE: Production (284% ROI validated)</a:t>
            </a:r>
          </a:p>
        </p:txBody>
      </p:sp>
      <p:sp>
        <p:nvSpPr>
          <p:cNvPr id="11" name="TextBox 10"/>
          <p:cNvSpPr txBox="1"/>
          <p:nvPr/>
        </p:nvSpPr>
        <p:spPr>
          <a:xfrm>
            <a:off x="731520" y="5760720"/>
            <a:ext cx="82296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GlobeNewswire / Forrester TEI, June 2025</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100 / 111</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In-House Teams Overwhelmed, Too Much to Outside Counsel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UC-10 | Legal — The Problem</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In-house legal teams overwhelmed — shipping too much work to expensive outside counsel</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Legal research hours: associates spending 25%+ time on case lookups and precedent search</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Hallucinated case citations are the #1 trust barrier for legal AI adoption</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Need to increase matters handled internally without adding headcount</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Outside counsel costs growing 15% annually — unsustainable trajectory</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Generic AI tools not grounded in verified primary law — fabricated citations destroy trust</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101 / 111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Source-Grounded AI on Verified Primary Law Corpus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UC-10 | Legal — How It's Realized</a:t>
            </a:r>
          </a:p>
        </p:txBody>
      </p:sp>
      <p:sp>
        <p:nvSpPr>
          <p:cNvPr id="7" name="Rounded Rectangle 6"/>
          <p:cNvSpPr/>
          <p:nvPr/>
        </p:nvSpPr>
        <p:spPr>
          <a:xfrm>
            <a:off x="548640" y="15544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840" y="16306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01</a:t>
            </a:r>
          </a:p>
        </p:txBody>
      </p:sp>
      <p:sp>
        <p:nvSpPr>
          <p:cNvPr id="10" name="TextBox 9"/>
          <p:cNvSpPr txBox="1"/>
          <p:nvPr/>
        </p:nvSpPr>
        <p:spPr>
          <a:xfrm>
            <a:off x="1097280" y="16306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Gen AI grounded in verified LexisNexis primary law corpus — no fabricated citations possible</a:t>
            </a:r>
          </a:p>
        </p:txBody>
      </p:sp>
      <p:sp>
        <p:nvSpPr>
          <p:cNvPr id="11" name="Rounded Rectangle 10"/>
          <p:cNvSpPr/>
          <p:nvPr/>
        </p:nvSpPr>
        <p:spPr>
          <a:xfrm>
            <a:off x="548640" y="233172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3172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840" y="240792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02</a:t>
            </a:r>
          </a:p>
        </p:txBody>
      </p:sp>
      <p:sp>
        <p:nvSpPr>
          <p:cNvPr id="14" name="TextBox 13"/>
          <p:cNvSpPr txBox="1"/>
          <p:nvPr/>
        </p:nvSpPr>
        <p:spPr>
          <a:xfrm>
            <a:off x="1097280" y="240792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Contract drafting assistance: suggests clauses from verified precedent, review + accept</a:t>
            </a:r>
          </a:p>
        </p:txBody>
      </p:sp>
      <p:sp>
        <p:nvSpPr>
          <p:cNvPr id="15" name="Rounded Rectangle 14"/>
          <p:cNvSpPr/>
          <p:nvPr/>
        </p:nvSpPr>
        <p:spPr>
          <a:xfrm>
            <a:off x="548640" y="310896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840" y="318516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03</a:t>
            </a:r>
          </a:p>
        </p:txBody>
      </p:sp>
      <p:sp>
        <p:nvSpPr>
          <p:cNvPr id="18" name="TextBox 17"/>
          <p:cNvSpPr txBox="1"/>
          <p:nvPr/>
        </p:nvSpPr>
        <p:spPr>
          <a:xfrm>
            <a:off x="1097280" y="318516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Protégé personalized AI assistant: adapts to individual attorney's practice area</a:t>
            </a:r>
          </a:p>
        </p:txBody>
      </p:sp>
      <p:sp>
        <p:nvSpPr>
          <p:cNvPr id="19" name="Rounded Rectangle 18"/>
          <p:cNvSpPr/>
          <p:nvPr/>
        </p:nvSpPr>
        <p:spPr>
          <a:xfrm>
            <a:off x="548640" y="388620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 y="396240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04</a:t>
            </a:r>
          </a:p>
        </p:txBody>
      </p:sp>
      <p:sp>
        <p:nvSpPr>
          <p:cNvPr id="22" name="TextBox 21"/>
          <p:cNvSpPr txBox="1"/>
          <p:nvPr/>
        </p:nvSpPr>
        <p:spPr>
          <a:xfrm>
            <a:off x="1097280" y="396240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Shifts outside-counsel work internal — more valuable than raw efficiency gains</a:t>
            </a:r>
          </a:p>
        </p:txBody>
      </p:sp>
      <p:sp>
        <p:nvSpPr>
          <p:cNvPr id="23" name="Rounded Rectangle 22"/>
          <p:cNvSpPr/>
          <p:nvPr/>
        </p:nvSpPr>
        <p:spPr>
          <a:xfrm>
            <a:off x="548640" y="466344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6344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840" y="473964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05</a:t>
            </a:r>
          </a:p>
        </p:txBody>
      </p:sp>
      <p:sp>
        <p:nvSpPr>
          <p:cNvPr id="26" name="TextBox 25"/>
          <p:cNvSpPr txBox="1"/>
          <p:nvPr/>
        </p:nvSpPr>
        <p:spPr>
          <a:xfrm>
            <a:off x="1097280" y="473964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Source-grounded citations eliminate the hallucination problem entirely</a:t>
            </a:r>
          </a:p>
        </p:txBody>
      </p:sp>
      <p:sp>
        <p:nvSpPr>
          <p:cNvPr id="27" name="Rounded Rectangle 26"/>
          <p:cNvSpPr/>
          <p:nvPr/>
        </p:nvSpPr>
        <p:spPr>
          <a:xfrm>
            <a:off x="548640" y="5440680"/>
            <a:ext cx="11094415" cy="685800"/>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440680"/>
            <a:ext cx="73152" cy="685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840" y="5516880"/>
            <a:ext cx="381000" cy="1828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06</a:t>
            </a:r>
          </a:p>
        </p:txBody>
      </p:sp>
      <p:sp>
        <p:nvSpPr>
          <p:cNvPr id="30" name="TextBox 29"/>
          <p:cNvSpPr txBox="1"/>
          <p:nvPr/>
        </p:nvSpPr>
        <p:spPr>
          <a:xfrm>
            <a:off x="1097280" y="5516880"/>
            <a:ext cx="10180015" cy="50292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Forrester TEI methodology: validated by independent third-party research firm</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102 / 111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KEY METRICS — UC-10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284%</a:t>
            </a:r>
          </a:p>
        </p:txBody>
      </p:sp>
      <p:sp>
        <p:nvSpPr>
          <p:cNvPr id="8" name="TextBox 7"/>
          <p:cNvSpPr txBox="1"/>
          <p:nvPr/>
        </p:nvSpPr>
        <p:spPr>
          <a:xfrm>
            <a:off x="548640"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ROI (3-Year)</a:t>
            </a:r>
          </a:p>
        </p:txBody>
      </p:sp>
      <p:sp>
        <p:nvSpPr>
          <p:cNvPr id="9" name="TextBox 8"/>
          <p:cNvSpPr txBox="1"/>
          <p:nvPr/>
        </p:nvSpPr>
        <p:spPr>
          <a:xfrm>
            <a:off x="751840"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Forrester Total Economic Impact study</a:t>
            </a:r>
          </a:p>
        </p:txBody>
      </p:sp>
      <p:sp>
        <p:nvSpPr>
          <p:cNvPr id="10" name="Rounded Rectangle 9"/>
          <p:cNvSpPr/>
          <p:nvPr/>
        </p:nvSpPr>
        <p:spPr>
          <a:xfrm>
            <a:off x="429767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$1.2M</a:t>
            </a:r>
          </a:p>
        </p:txBody>
      </p:sp>
      <p:sp>
        <p:nvSpPr>
          <p:cNvPr id="12" name="TextBox 11"/>
          <p:cNvSpPr txBox="1"/>
          <p:nvPr/>
        </p:nvSpPr>
        <p:spPr>
          <a:xfrm>
            <a:off x="429767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Total Benefits</a:t>
            </a:r>
          </a:p>
        </p:txBody>
      </p:sp>
      <p:sp>
        <p:nvSpPr>
          <p:cNvPr id="13" name="TextBox 12"/>
          <p:cNvSpPr txBox="1"/>
          <p:nvPr/>
        </p:nvSpPr>
        <p:spPr>
          <a:xfrm>
            <a:off x="450087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Over 3-year evaluation period</a:t>
            </a:r>
          </a:p>
        </p:txBody>
      </p:sp>
      <p:sp>
        <p:nvSpPr>
          <p:cNvPr id="14" name="Rounded Rectangle 13"/>
          <p:cNvSpPr/>
          <p:nvPr/>
        </p:nvSpPr>
        <p:spPr>
          <a:xfrm>
            <a:off x="8046719" y="100584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9" y="120904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13%</a:t>
            </a:r>
          </a:p>
        </p:txBody>
      </p:sp>
      <p:sp>
        <p:nvSpPr>
          <p:cNvPr id="16" name="TextBox 15"/>
          <p:cNvSpPr txBox="1"/>
          <p:nvPr/>
        </p:nvSpPr>
        <p:spPr>
          <a:xfrm>
            <a:off x="8046719" y="192024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Outside Counsel ↓</a:t>
            </a:r>
          </a:p>
        </p:txBody>
      </p:sp>
      <p:sp>
        <p:nvSpPr>
          <p:cNvPr id="17" name="TextBox 16"/>
          <p:cNvSpPr txBox="1"/>
          <p:nvPr/>
        </p:nvSpPr>
        <p:spPr>
          <a:xfrm>
            <a:off x="8249919" y="237744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Reduction in external legal spend → $602.5K saved</a:t>
            </a:r>
          </a:p>
        </p:txBody>
      </p:sp>
      <p:sp>
        <p:nvSpPr>
          <p:cNvPr id="18" name="Rounded Rectangle 17"/>
          <p:cNvSpPr/>
          <p:nvPr/>
        </p:nvSpPr>
        <p:spPr>
          <a:xfrm>
            <a:off x="548640"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&lt;6 mo</a:t>
            </a:r>
          </a:p>
        </p:txBody>
      </p:sp>
      <p:sp>
        <p:nvSpPr>
          <p:cNvPr id="20" name="TextBox 19"/>
          <p:cNvSpPr txBox="1"/>
          <p:nvPr/>
        </p:nvSpPr>
        <p:spPr>
          <a:xfrm>
            <a:off x="548640"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Payback Period</a:t>
            </a:r>
          </a:p>
        </p:txBody>
      </p:sp>
      <p:sp>
        <p:nvSpPr>
          <p:cNvPr id="21" name="TextBox 20"/>
          <p:cNvSpPr txBox="1"/>
          <p:nvPr/>
        </p:nvSpPr>
        <p:spPr>
          <a:xfrm>
            <a:off x="751840"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Investment recovered in under 6 months</a:t>
            </a:r>
          </a:p>
        </p:txBody>
      </p:sp>
      <p:sp>
        <p:nvSpPr>
          <p:cNvPr id="22" name="Rounded Rectangle 21"/>
          <p:cNvSpPr/>
          <p:nvPr/>
        </p:nvSpPr>
        <p:spPr>
          <a:xfrm>
            <a:off x="429767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25%</a:t>
            </a:r>
          </a:p>
        </p:txBody>
      </p:sp>
      <p:sp>
        <p:nvSpPr>
          <p:cNvPr id="24" name="TextBox 23"/>
          <p:cNvSpPr txBox="1"/>
          <p:nvPr/>
        </p:nvSpPr>
        <p:spPr>
          <a:xfrm>
            <a:off x="429767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Fewer Lawyer Hours</a:t>
            </a:r>
          </a:p>
        </p:txBody>
      </p:sp>
      <p:sp>
        <p:nvSpPr>
          <p:cNvPr id="25" name="TextBox 24"/>
          <p:cNvSpPr txBox="1"/>
          <p:nvPr/>
        </p:nvSpPr>
        <p:spPr>
          <a:xfrm>
            <a:off x="450087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On research inquiries → $574.2K saved</a:t>
            </a:r>
          </a:p>
        </p:txBody>
      </p:sp>
      <p:sp>
        <p:nvSpPr>
          <p:cNvPr id="26" name="Rounded Rectangle 25"/>
          <p:cNvSpPr/>
          <p:nvPr/>
        </p:nvSpPr>
        <p:spPr>
          <a:xfrm>
            <a:off x="8046719" y="3566160"/>
            <a:ext cx="3474720" cy="2286000"/>
          </a:xfrm>
          <a:prstGeom prst="roundRect">
            <a:avLst>
              <a:gd name="adj" fmla="val 3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3769360"/>
            <a:ext cx="3474720" cy="640080"/>
          </a:xfrm>
          <a:prstGeom prst="rect">
            <a:avLst/>
          </a:prstGeom>
          <a:noFill/>
        </p:spPr>
        <p:txBody>
          <a:bodyPr wrap="square" anchor="t" lIns="0" rIns="0" tIns="0" bIns="0">
            <a:normAutofit/>
          </a:bodyPr>
          <a:lstStyle/>
          <a:p>
            <a:pPr algn="ctr">
              <a:lnSpc>
                <a:spcPct val="105000"/>
              </a:lnSpc>
              <a:spcBef>
                <a:spcPts val="0"/>
              </a:spcBef>
            </a:pPr>
            <a:r>
              <a:rPr sz="4400" b="1" i="0">
                <a:solidFill>
                  <a:srgbClr val="FFB800"/>
                </a:solidFill>
                <a:latin typeface="Calibri"/>
              </a:rPr>
              <a:t>5%</a:t>
            </a:r>
          </a:p>
        </p:txBody>
      </p:sp>
      <p:sp>
        <p:nvSpPr>
          <p:cNvPr id="28" name="TextBox 27"/>
          <p:cNvSpPr txBox="1"/>
          <p:nvPr/>
        </p:nvSpPr>
        <p:spPr>
          <a:xfrm>
            <a:off x="8046719" y="4480560"/>
            <a:ext cx="3474720" cy="320040"/>
          </a:xfrm>
          <a:prstGeom prst="rect">
            <a:avLst/>
          </a:prstGeom>
          <a:noFill/>
        </p:spPr>
        <p:txBody>
          <a:bodyPr wrap="square" anchor="t" lIns="0" rIns="0" tIns="0" bIns="0">
            <a:noAutofit/>
          </a:bodyPr>
          <a:lstStyle/>
          <a:p>
            <a:pPr algn="ctr">
              <a:lnSpc>
                <a:spcPct val="105000"/>
              </a:lnSpc>
              <a:spcBef>
                <a:spcPts val="0"/>
              </a:spcBef>
            </a:pPr>
            <a:r>
              <a:rPr sz="1400" b="1" i="0">
                <a:solidFill>
                  <a:srgbClr val="00C9A7"/>
                </a:solidFill>
                <a:latin typeface="Calibri"/>
              </a:rPr>
              <a:t>More Matters Internal</a:t>
            </a:r>
          </a:p>
        </p:txBody>
      </p:sp>
      <p:sp>
        <p:nvSpPr>
          <p:cNvPr id="29" name="TextBox 28"/>
          <p:cNvSpPr txBox="1"/>
          <p:nvPr/>
        </p:nvSpPr>
        <p:spPr>
          <a:xfrm>
            <a:off x="8249919" y="4937760"/>
            <a:ext cx="3068320" cy="640080"/>
          </a:xfrm>
          <a:prstGeom prst="rect">
            <a:avLst/>
          </a:prstGeom>
          <a:noFill/>
        </p:spPr>
        <p:txBody>
          <a:bodyPr wrap="square" anchor="t" lIns="0" rIns="0" tIns="0" bIns="0">
            <a:noAutofit/>
          </a:bodyPr>
          <a:lstStyle/>
          <a:p>
            <a:pPr algn="ctr">
              <a:lnSpc>
                <a:spcPct val="105000"/>
              </a:lnSpc>
              <a:spcBef>
                <a:spcPts val="0"/>
              </a:spcBef>
            </a:pPr>
            <a:r>
              <a:rPr sz="900" b="0" i="0">
                <a:solidFill>
                  <a:srgbClr val="5B6B7C"/>
                </a:solidFill>
                <a:latin typeface="Calibri"/>
              </a:rPr>
              <a:t>Handled without adding headcount (Year 1)</a:t>
            </a:r>
          </a:p>
        </p:txBody>
      </p:sp>
      <p:sp>
        <p:nvSpPr>
          <p:cNvPr id="30" name="TextBox 2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103 / 111</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HOW IT WORKS — UC-10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056640"/>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FFB800"/>
                </a:solidFill>
                <a:latin typeface="Calibri"/>
              </a:rPr>
              <a:t>STEP 1</a:t>
            </a:r>
          </a:p>
        </p:txBody>
      </p:sp>
      <p:sp>
        <p:nvSpPr>
          <p:cNvPr id="8" name="TextBox 7"/>
          <p:cNvSpPr txBox="1"/>
          <p:nvPr/>
        </p:nvSpPr>
        <p:spPr>
          <a:xfrm>
            <a:off x="1463040" y="1056640"/>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Legal question → AI search grounded in LexisNexis primary law corpus → source-cited answer</a:t>
            </a:r>
          </a:p>
        </p:txBody>
      </p:sp>
      <p:sp>
        <p:nvSpPr>
          <p:cNvPr id="9" name="TextBox 8"/>
          <p:cNvSpPr txBox="1"/>
          <p:nvPr/>
        </p:nvSpPr>
        <p:spPr>
          <a:xfrm>
            <a:off x="929640" y="1664208"/>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0" name="Rounded Rectangle 9"/>
          <p:cNvSpPr/>
          <p:nvPr/>
        </p:nvSpPr>
        <p:spPr>
          <a:xfrm>
            <a:off x="548640" y="1755648"/>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1806448"/>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2</a:t>
            </a:r>
          </a:p>
        </p:txBody>
      </p:sp>
      <p:sp>
        <p:nvSpPr>
          <p:cNvPr id="12" name="TextBox 11"/>
          <p:cNvSpPr txBox="1"/>
          <p:nvPr/>
        </p:nvSpPr>
        <p:spPr>
          <a:xfrm>
            <a:off x="1463040" y="1806448"/>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Every citation links to verified primary law — judge can click through to actual case text</a:t>
            </a:r>
          </a:p>
        </p:txBody>
      </p:sp>
      <p:sp>
        <p:nvSpPr>
          <p:cNvPr id="13" name="TextBox 12"/>
          <p:cNvSpPr txBox="1"/>
          <p:nvPr/>
        </p:nvSpPr>
        <p:spPr>
          <a:xfrm>
            <a:off x="929640" y="2414016"/>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4" name="Rounded Rectangle 13"/>
          <p:cNvSpPr/>
          <p:nvPr/>
        </p:nvSpPr>
        <p:spPr>
          <a:xfrm>
            <a:off x="548640" y="2505456"/>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2556256"/>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3</a:t>
            </a:r>
          </a:p>
        </p:txBody>
      </p:sp>
      <p:sp>
        <p:nvSpPr>
          <p:cNvPr id="16" name="TextBox 15"/>
          <p:cNvSpPr txBox="1"/>
          <p:nvPr/>
        </p:nvSpPr>
        <p:spPr>
          <a:xfrm>
            <a:off x="1463040" y="2556256"/>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Contract draft → Protégé assistant suggests clauses from verified precedent → review + accept</a:t>
            </a:r>
          </a:p>
        </p:txBody>
      </p:sp>
      <p:sp>
        <p:nvSpPr>
          <p:cNvPr id="17" name="TextBox 16"/>
          <p:cNvSpPr txBox="1"/>
          <p:nvPr/>
        </p:nvSpPr>
        <p:spPr>
          <a:xfrm>
            <a:off x="929640" y="3163824"/>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18" name="Rounded Rectangle 17"/>
          <p:cNvSpPr/>
          <p:nvPr/>
        </p:nvSpPr>
        <p:spPr>
          <a:xfrm>
            <a:off x="548640" y="3255264"/>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3306064"/>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4</a:t>
            </a:r>
          </a:p>
        </p:txBody>
      </p:sp>
      <p:sp>
        <p:nvSpPr>
          <p:cNvPr id="20" name="TextBox 19"/>
          <p:cNvSpPr txBox="1"/>
          <p:nvPr/>
        </p:nvSpPr>
        <p:spPr>
          <a:xfrm>
            <a:off x="1463040" y="3306064"/>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Research time reduction: associates find relevant precedent in minutes vs hours of manual search</a:t>
            </a:r>
          </a:p>
        </p:txBody>
      </p:sp>
      <p:sp>
        <p:nvSpPr>
          <p:cNvPr id="21" name="TextBox 20"/>
          <p:cNvSpPr txBox="1"/>
          <p:nvPr/>
        </p:nvSpPr>
        <p:spPr>
          <a:xfrm>
            <a:off x="929640" y="3913632"/>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2" name="Rounded Rectangle 21"/>
          <p:cNvSpPr/>
          <p:nvPr/>
        </p:nvSpPr>
        <p:spPr>
          <a:xfrm>
            <a:off x="548640" y="4005072"/>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4055872"/>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E0F7F1"/>
                </a:solidFill>
                <a:latin typeface="Calibri"/>
              </a:rPr>
              <a:t>STEP 5</a:t>
            </a:r>
          </a:p>
        </p:txBody>
      </p:sp>
      <p:sp>
        <p:nvSpPr>
          <p:cNvPr id="24" name="TextBox 23"/>
          <p:cNvSpPr txBox="1"/>
          <p:nvPr/>
        </p:nvSpPr>
        <p:spPr>
          <a:xfrm>
            <a:off x="1463040" y="4055872"/>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Monthly tracking: reduction in outside counsel referrals measured against baseline</a:t>
            </a:r>
          </a:p>
        </p:txBody>
      </p:sp>
      <p:sp>
        <p:nvSpPr>
          <p:cNvPr id="25" name="TextBox 24"/>
          <p:cNvSpPr txBox="1"/>
          <p:nvPr/>
        </p:nvSpPr>
        <p:spPr>
          <a:xfrm>
            <a:off x="929640" y="4663440"/>
            <a:ext cx="254000" cy="152400"/>
          </a:xfrm>
          <a:prstGeom prst="rect">
            <a:avLst/>
          </a:prstGeom>
          <a:noFill/>
        </p:spPr>
        <p:txBody>
          <a:bodyPr wrap="square" anchor="t" lIns="0" rIns="0" tIns="0" bIns="0">
            <a:noAutofit/>
          </a:bodyPr>
          <a:lstStyle/>
          <a:p>
            <a:pPr algn="ctr">
              <a:lnSpc>
                <a:spcPct val="105000"/>
              </a:lnSpc>
              <a:spcBef>
                <a:spcPts val="0"/>
              </a:spcBef>
            </a:pPr>
            <a:r>
              <a:rPr sz="800" b="0" i="0">
                <a:solidFill>
                  <a:srgbClr val="00C9A7"/>
                </a:solidFill>
                <a:latin typeface="Calibri"/>
              </a:rPr>
              <a:t>↓</a:t>
            </a:r>
          </a:p>
        </p:txBody>
      </p:sp>
      <p:sp>
        <p:nvSpPr>
          <p:cNvPr id="26" name="Rounded Rectangle 25"/>
          <p:cNvSpPr/>
          <p:nvPr/>
        </p:nvSpPr>
        <p:spPr>
          <a:xfrm>
            <a:off x="548640" y="4754879"/>
            <a:ext cx="11094415" cy="65836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805679"/>
            <a:ext cx="731520" cy="146304"/>
          </a:xfrm>
          <a:prstGeom prst="rect">
            <a:avLst/>
          </a:prstGeom>
          <a:noFill/>
        </p:spPr>
        <p:txBody>
          <a:bodyPr wrap="square" anchor="t" lIns="0" rIns="0" tIns="0" bIns="0">
            <a:noAutofit/>
          </a:bodyPr>
          <a:lstStyle/>
          <a:p>
            <a:pPr algn="l">
              <a:lnSpc>
                <a:spcPct val="105000"/>
              </a:lnSpc>
              <a:spcBef>
                <a:spcPts val="0"/>
              </a:spcBef>
            </a:pPr>
            <a:r>
              <a:rPr sz="700" b="1" i="0">
                <a:solidFill>
                  <a:srgbClr val="00C9A7"/>
                </a:solidFill>
                <a:latin typeface="Calibri"/>
              </a:rPr>
              <a:t>STEP 6</a:t>
            </a:r>
          </a:p>
        </p:txBody>
      </p:sp>
      <p:sp>
        <p:nvSpPr>
          <p:cNvPr id="28" name="TextBox 27"/>
          <p:cNvSpPr txBox="1"/>
          <p:nvPr/>
        </p:nvSpPr>
        <p:spPr>
          <a:xfrm>
            <a:off x="1463040" y="4805679"/>
            <a:ext cx="9905695" cy="502920"/>
          </a:xfrm>
          <a:prstGeom prst="rect">
            <a:avLst/>
          </a:prstGeom>
          <a:noFill/>
        </p:spPr>
        <p:txBody>
          <a:bodyPr wrap="square" anchor="t" lIns="0" rIns="0" tIns="0" bIns="0">
            <a:noAutofit/>
          </a:bodyPr>
          <a:lstStyle/>
          <a:p>
            <a:pPr algn="l">
              <a:lnSpc>
                <a:spcPct val="105000"/>
              </a:lnSpc>
              <a:spcBef>
                <a:spcPts val="0"/>
              </a:spcBef>
            </a:pPr>
            <a:r>
              <a:rPr sz="850" b="0" i="0">
                <a:solidFill>
                  <a:srgbClr val="5B6B7C"/>
                </a:solidFill>
                <a:latin typeface="Calibri"/>
              </a:rPr>
              <a:t>Platform approach: same AI assists across research, drafting, and practice management</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104 / 111</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201168"/>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ARCHITECTURE — UC-10 | LEGAL</a:t>
            </a:r>
          </a:p>
        </p:txBody>
      </p:sp>
      <p:sp>
        <p:nvSpPr>
          <p:cNvPr id="5" name="TextBox 4"/>
          <p:cNvSpPr txBox="1"/>
          <p:nvPr/>
        </p:nvSpPr>
        <p:spPr>
          <a:xfrm>
            <a:off x="548640" y="384048"/>
            <a:ext cx="11094415" cy="36576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LexisNexis Lexis+ AI Agent Architecture</a:t>
            </a:r>
          </a:p>
        </p:txBody>
      </p:sp>
      <p:sp>
        <p:nvSpPr>
          <p:cNvPr id="6" name="Rectangle 5"/>
          <p:cNvSpPr/>
          <p:nvPr/>
        </p:nvSpPr>
        <p:spPr>
          <a:xfrm>
            <a:off x="548640" y="749808"/>
            <a:ext cx="1371600"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AGENT STACK</a:t>
            </a:r>
          </a:p>
        </p:txBody>
      </p:sp>
      <p:sp>
        <p:nvSpPr>
          <p:cNvPr id="8" name="Rounded Rectangle 7"/>
          <p:cNvSpPr/>
          <p:nvPr/>
        </p:nvSpPr>
        <p:spPr>
          <a:xfrm>
            <a:off x="548640" y="1115568"/>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5640" y="1153668"/>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research-agent</a:t>
            </a:r>
          </a:p>
        </p:txBody>
      </p:sp>
      <p:sp>
        <p:nvSpPr>
          <p:cNvPr id="10" name="TextBox 9"/>
          <p:cNvSpPr txBox="1"/>
          <p:nvPr/>
        </p:nvSpPr>
        <p:spPr>
          <a:xfrm>
            <a:off x="675640" y="1344168"/>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Legal question → corpus search → source-cited answer with clickable case links</a:t>
            </a:r>
          </a:p>
        </p:txBody>
      </p:sp>
      <p:sp>
        <p:nvSpPr>
          <p:cNvPr id="11" name="Rounded Rectangle 10"/>
          <p:cNvSpPr/>
          <p:nvPr/>
        </p:nvSpPr>
        <p:spPr>
          <a:xfrm>
            <a:off x="548640" y="1554480"/>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5640" y="1592580"/>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drafting-agent</a:t>
            </a:r>
          </a:p>
        </p:txBody>
      </p:sp>
      <p:sp>
        <p:nvSpPr>
          <p:cNvPr id="13" name="TextBox 12"/>
          <p:cNvSpPr txBox="1"/>
          <p:nvPr/>
        </p:nvSpPr>
        <p:spPr>
          <a:xfrm>
            <a:off x="675640" y="1783080"/>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Contract clause suggestion from verified precedent → attorney review + accept</a:t>
            </a:r>
          </a:p>
        </p:txBody>
      </p:sp>
      <p:sp>
        <p:nvSpPr>
          <p:cNvPr id="14" name="Rounded Rectangle 13"/>
          <p:cNvSpPr/>
          <p:nvPr/>
        </p:nvSpPr>
        <p:spPr>
          <a:xfrm>
            <a:off x="548640" y="1993392"/>
            <a:ext cx="5029200" cy="384048"/>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640" y="2031492"/>
            <a:ext cx="228600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protege-assistant</a:t>
            </a:r>
          </a:p>
        </p:txBody>
      </p:sp>
      <p:sp>
        <p:nvSpPr>
          <p:cNvPr id="16" name="TextBox 15"/>
          <p:cNvSpPr txBox="1"/>
          <p:nvPr/>
        </p:nvSpPr>
        <p:spPr>
          <a:xfrm>
            <a:off x="675640" y="2221992"/>
            <a:ext cx="4775200" cy="164592"/>
          </a:xfrm>
          <a:prstGeom prst="rect">
            <a:avLst/>
          </a:prstGeom>
          <a:noFill/>
        </p:spPr>
        <p:txBody>
          <a:bodyPr wrap="square" anchor="t" lIns="0" rIns="0" tIns="0" bIns="0">
            <a:noAutofit/>
          </a:bodyPr>
          <a:lstStyle/>
          <a:p>
            <a:pPr algn="l">
              <a:lnSpc>
                <a:spcPct val="105000"/>
              </a:lnSpc>
              <a:spcBef>
                <a:spcPts val="0"/>
              </a:spcBef>
            </a:pPr>
            <a:r>
              <a:rPr sz="600" b="0" i="0">
                <a:solidFill>
                  <a:srgbClr val="5B6B7C"/>
                </a:solidFill>
                <a:latin typeface="Calibri"/>
              </a:rPr>
              <a:t>Personalized to attorney's practice area — learns preferences over time</a:t>
            </a:r>
          </a:p>
        </p:txBody>
      </p:sp>
      <p:sp>
        <p:nvSpPr>
          <p:cNvPr id="17" name="TextBox 16"/>
          <p:cNvSpPr txBox="1"/>
          <p:nvPr/>
        </p:nvSpPr>
        <p:spPr>
          <a:xfrm>
            <a:off x="585216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MCP SERVERS</a:t>
            </a:r>
          </a:p>
        </p:txBody>
      </p:sp>
      <p:sp>
        <p:nvSpPr>
          <p:cNvPr id="18" name="Rounded Rectangle 17"/>
          <p:cNvSpPr/>
          <p:nvPr/>
        </p:nvSpPr>
        <p:spPr>
          <a:xfrm>
            <a:off x="5852160" y="1115568"/>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79160" y="1153668"/>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LexisNexis Corpus (Primary law)</a:t>
            </a:r>
          </a:p>
        </p:txBody>
      </p:sp>
      <p:sp>
        <p:nvSpPr>
          <p:cNvPr id="20" name="TextBox 19"/>
          <p:cNvSpPr txBox="1"/>
          <p:nvPr/>
        </p:nvSpPr>
        <p:spPr>
          <a:xfrm>
            <a:off x="5979160" y="1344168"/>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Verified case law, statutes, regulations — source of truth for citations</a:t>
            </a:r>
          </a:p>
        </p:txBody>
      </p:sp>
      <p:sp>
        <p:nvSpPr>
          <p:cNvPr id="21" name="Rounded Rectangle 20"/>
          <p:cNvSpPr/>
          <p:nvPr/>
        </p:nvSpPr>
        <p:spPr>
          <a:xfrm>
            <a:off x="5852160" y="1682496"/>
            <a:ext cx="5669280" cy="5029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9160" y="1720596"/>
            <a:ext cx="5415280" cy="146304"/>
          </a:xfrm>
          <a:prstGeom prst="rect">
            <a:avLst/>
          </a:prstGeom>
          <a:noFill/>
        </p:spPr>
        <p:txBody>
          <a:bodyPr wrap="square" anchor="t" lIns="0" rIns="0" tIns="0" bIns="0">
            <a:noAutofit/>
          </a:bodyPr>
          <a:lstStyle/>
          <a:p>
            <a:pPr algn="l">
              <a:lnSpc>
                <a:spcPct val="105000"/>
              </a:lnSpc>
              <a:spcBef>
                <a:spcPts val="0"/>
              </a:spcBef>
            </a:pPr>
            <a:r>
              <a:rPr sz="750" b="1" i="0">
                <a:solidFill>
                  <a:srgbClr val="00C9A7"/>
                </a:solidFill>
                <a:latin typeface="Calibri"/>
              </a:rPr>
              <a:t>Protégé Platform (Personalization)</a:t>
            </a:r>
          </a:p>
        </p:txBody>
      </p:sp>
      <p:sp>
        <p:nvSpPr>
          <p:cNvPr id="23" name="TextBox 22"/>
          <p:cNvSpPr txBox="1"/>
          <p:nvPr/>
        </p:nvSpPr>
        <p:spPr>
          <a:xfrm>
            <a:off x="5979160" y="1911096"/>
            <a:ext cx="5415280" cy="274320"/>
          </a:xfrm>
          <a:prstGeom prst="rect">
            <a:avLst/>
          </a:prstGeom>
          <a:noFill/>
        </p:spPr>
        <p:txBody>
          <a:bodyPr wrap="square" anchor="t" lIns="0" rIns="0" tIns="0" bIns="0">
            <a:noAutofit/>
          </a:bodyPr>
          <a:lstStyle/>
          <a:p>
            <a:pPr algn="l">
              <a:lnSpc>
                <a:spcPct val="105000"/>
              </a:lnSpc>
              <a:spcBef>
                <a:spcPts val="0"/>
              </a:spcBef>
            </a:pPr>
            <a:r>
              <a:rPr sz="550" b="0" i="0">
                <a:solidFill>
                  <a:srgbClr val="5B6B7C"/>
                </a:solidFill>
                <a:latin typeface="Calibri"/>
              </a:rPr>
              <a:t>Practice-area adaptation, workflow integration, citation verification</a:t>
            </a:r>
          </a:p>
        </p:txBody>
      </p:sp>
      <p:sp>
        <p:nvSpPr>
          <p:cNvPr id="24" name="Rounded Rectangle 23"/>
          <p:cNvSpPr/>
          <p:nvPr/>
        </p:nvSpPr>
        <p:spPr>
          <a:xfrm>
            <a:off x="548640" y="4572000"/>
            <a:ext cx="11094415" cy="45720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040" y="4622800"/>
            <a:ext cx="10789615" cy="347472"/>
          </a:xfrm>
          <a:prstGeom prst="rect">
            <a:avLst/>
          </a:prstGeom>
          <a:noFill/>
        </p:spPr>
        <p:txBody>
          <a:bodyPr wrap="square" anchor="t" lIns="0" rIns="0" tIns="0" bIns="0">
            <a:noAutofit/>
          </a:bodyPr>
          <a:lstStyle/>
          <a:p>
            <a:pPr algn="l">
              <a:lnSpc>
                <a:spcPct val="105000"/>
              </a:lnSpc>
              <a:spcBef>
                <a:spcPts val="0"/>
              </a:spcBef>
            </a:pPr>
            <a:r>
              <a:rPr sz="700" b="1" i="0">
                <a:solidFill>
                  <a:srgbClr val="FFFFFF"/>
                </a:solidFill>
                <a:latin typeface="Calibri"/>
              </a:rPr>
              <a:t>DEPLOYMENT: SaaS: browser-based access to AI-powered research + drafting | Integration: DMS + practice management | Protégé: personalized assistant per attorney</a:t>
            </a:r>
          </a:p>
        </p:txBody>
      </p:sp>
      <p:sp>
        <p:nvSpPr>
          <p:cNvPr id="26" name="TextBox 25"/>
          <p:cNvSpPr txBox="1"/>
          <p:nvPr/>
        </p:nvSpPr>
        <p:spPr>
          <a:xfrm>
            <a:off x="548640" y="5212080"/>
            <a:ext cx="11094415" cy="228600"/>
          </a:xfrm>
          <a:prstGeom prst="rect">
            <a:avLst/>
          </a:prstGeom>
          <a:noFill/>
        </p:spPr>
        <p:txBody>
          <a:bodyPr wrap="square" anchor="t" lIns="0" rIns="0" tIns="0" bIns="0">
            <a:noAutofit/>
          </a:bodyPr>
          <a:lstStyle/>
          <a:p>
            <a:pPr algn="l">
              <a:lnSpc>
                <a:spcPct val="105000"/>
              </a:lnSpc>
              <a:spcBef>
                <a:spcPts val="0"/>
              </a:spcBef>
            </a:pPr>
            <a:r>
              <a:rPr sz="600" b="0" i="1">
                <a:solidFill>
                  <a:srgbClr val="5B6B7C"/>
                </a:solidFill>
                <a:latin typeface="Calibri"/>
              </a:rPr>
              <a:t>Pattern: Agent(llm, tools, mcp_config, agent_context) → Conversation(workspace, callbacks)</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105 / 111</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TECH STACK &amp; GITHUB — UC-10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18288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SOLUTION STACK</a:t>
            </a:r>
          </a:p>
        </p:txBody>
      </p:sp>
      <p:sp>
        <p:nvSpPr>
          <p:cNvPr id="7" name="Rounded Rectangle 6"/>
          <p:cNvSpPr/>
          <p:nvPr/>
        </p:nvSpPr>
        <p:spPr>
          <a:xfrm>
            <a:off x="54864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564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Foundation</a:t>
            </a:r>
          </a:p>
        </p:txBody>
      </p:sp>
      <p:sp>
        <p:nvSpPr>
          <p:cNvPr id="9" name="TextBox 8"/>
          <p:cNvSpPr txBox="1"/>
          <p:nvPr/>
        </p:nvSpPr>
        <p:spPr>
          <a:xfrm>
            <a:off x="67564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LexisNexis corpus — verified primary law, not scraped web content</a:t>
            </a:r>
          </a:p>
        </p:txBody>
      </p:sp>
      <p:sp>
        <p:nvSpPr>
          <p:cNvPr id="10" name="Rounded Rectangle 9"/>
          <p:cNvSpPr/>
          <p:nvPr/>
        </p:nvSpPr>
        <p:spPr>
          <a:xfrm>
            <a:off x="333756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456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AI</a:t>
            </a:r>
          </a:p>
        </p:txBody>
      </p:sp>
      <p:sp>
        <p:nvSpPr>
          <p:cNvPr id="12" name="TextBox 11"/>
          <p:cNvSpPr txBox="1"/>
          <p:nvPr/>
        </p:nvSpPr>
        <p:spPr>
          <a:xfrm>
            <a:off x="346456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Gen AI + RAG — source-grounded, every citation links to actual case text</a:t>
            </a:r>
          </a:p>
        </p:txBody>
      </p:sp>
      <p:sp>
        <p:nvSpPr>
          <p:cNvPr id="13" name="Rounded Rectangle 12"/>
          <p:cNvSpPr/>
          <p:nvPr/>
        </p:nvSpPr>
        <p:spPr>
          <a:xfrm>
            <a:off x="6126480"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3480"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Assistant</a:t>
            </a:r>
          </a:p>
        </p:txBody>
      </p:sp>
      <p:sp>
        <p:nvSpPr>
          <p:cNvPr id="15" name="TextBox 14"/>
          <p:cNvSpPr txBox="1"/>
          <p:nvPr/>
        </p:nvSpPr>
        <p:spPr>
          <a:xfrm>
            <a:off x="6253480"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Protégé — personalized to practice area, learns attorney preferences</a:t>
            </a:r>
          </a:p>
        </p:txBody>
      </p:sp>
      <p:sp>
        <p:nvSpPr>
          <p:cNvPr id="16" name="Rounded Rectangle 15"/>
          <p:cNvSpPr/>
          <p:nvPr/>
        </p:nvSpPr>
        <p:spPr>
          <a:xfrm>
            <a:off x="8915399" y="1143000"/>
            <a:ext cx="2606040" cy="118872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2399" y="1188720"/>
            <a:ext cx="2352040" cy="182880"/>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Measurement</a:t>
            </a:r>
          </a:p>
        </p:txBody>
      </p:sp>
      <p:sp>
        <p:nvSpPr>
          <p:cNvPr id="18" name="TextBox 17"/>
          <p:cNvSpPr txBox="1"/>
          <p:nvPr/>
        </p:nvSpPr>
        <p:spPr>
          <a:xfrm>
            <a:off x="9042399" y="1417320"/>
            <a:ext cx="2352040" cy="731520"/>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Forrester TEI — independent validation, not self-reported metrics</a:t>
            </a:r>
          </a:p>
        </p:txBody>
      </p:sp>
      <p:sp>
        <p:nvSpPr>
          <p:cNvPr id="19" name="TextBox 18"/>
          <p:cNvSpPr txBox="1"/>
          <p:nvPr/>
        </p:nvSpPr>
        <p:spPr>
          <a:xfrm>
            <a:off x="548640" y="2560320"/>
            <a:ext cx="2743200" cy="164592"/>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GITHUB REPOSITORIES</a:t>
            </a:r>
          </a:p>
        </p:txBody>
      </p:sp>
      <p:sp>
        <p:nvSpPr>
          <p:cNvPr id="20" name="Rounded Rectangle 19"/>
          <p:cNvSpPr/>
          <p:nvPr/>
        </p:nvSpPr>
        <p:spPr>
          <a:xfrm>
            <a:off x="548640" y="2788920"/>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2839720"/>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run-llama/llama_index</a:t>
            </a:r>
          </a:p>
        </p:txBody>
      </p:sp>
      <p:sp>
        <p:nvSpPr>
          <p:cNvPr id="22" name="TextBox 21"/>
          <p:cNvSpPr txBox="1"/>
          <p:nvPr/>
        </p:nvSpPr>
        <p:spPr>
          <a:xfrm>
            <a:off x="4389120" y="2839720"/>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RAG framework — pattern for source-grounded retrieval over legal corpus</a:t>
            </a:r>
          </a:p>
        </p:txBody>
      </p:sp>
      <p:sp>
        <p:nvSpPr>
          <p:cNvPr id="23" name="Rounded Rectangle 22"/>
          <p:cNvSpPr/>
          <p:nvPr/>
        </p:nvSpPr>
        <p:spPr>
          <a:xfrm>
            <a:off x="548640" y="3410712"/>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40" y="3461512"/>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chroma-core/chroma</a:t>
            </a:r>
          </a:p>
        </p:txBody>
      </p:sp>
      <p:sp>
        <p:nvSpPr>
          <p:cNvPr id="25" name="TextBox 24"/>
          <p:cNvSpPr txBox="1"/>
          <p:nvPr/>
        </p:nvSpPr>
        <p:spPr>
          <a:xfrm>
            <a:off x="4389120" y="3461512"/>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Vector database for embedding-based legal document search</a:t>
            </a:r>
          </a:p>
        </p:txBody>
      </p:sp>
      <p:sp>
        <p:nvSpPr>
          <p:cNvPr id="26" name="Rounded Rectangle 25"/>
          <p:cNvSpPr/>
          <p:nvPr/>
        </p:nvSpPr>
        <p:spPr>
          <a:xfrm>
            <a:off x="548640" y="4032504"/>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40" y="4083304"/>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anthropics/claude-for-legal</a:t>
            </a:r>
          </a:p>
        </p:txBody>
      </p:sp>
      <p:sp>
        <p:nvSpPr>
          <p:cNvPr id="28" name="TextBox 27"/>
          <p:cNvSpPr txBox="1"/>
          <p:nvPr/>
        </p:nvSpPr>
        <p:spPr>
          <a:xfrm>
            <a:off x="4389120" y="4083304"/>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Practice-area plugins for legal AI workflows</a:t>
            </a:r>
          </a:p>
        </p:txBody>
      </p:sp>
      <p:sp>
        <p:nvSpPr>
          <p:cNvPr id="29" name="Rounded Rectangle 28"/>
          <p:cNvSpPr/>
          <p:nvPr/>
        </p:nvSpPr>
        <p:spPr>
          <a:xfrm>
            <a:off x="548640" y="4654296"/>
            <a:ext cx="11094415" cy="54864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040" y="4705096"/>
            <a:ext cx="3657600" cy="164592"/>
          </a:xfrm>
          <a:prstGeom prst="rect">
            <a:avLst/>
          </a:prstGeom>
          <a:noFill/>
        </p:spPr>
        <p:txBody>
          <a:bodyPr wrap="square" anchor="t" lIns="0" rIns="0" tIns="0" bIns="0">
            <a:noAutofit/>
          </a:bodyPr>
          <a:lstStyle/>
          <a:p>
            <a:pPr algn="l">
              <a:lnSpc>
                <a:spcPct val="105000"/>
              </a:lnSpc>
              <a:spcBef>
                <a:spcPts val="0"/>
              </a:spcBef>
            </a:pPr>
            <a:r>
              <a:rPr sz="800" b="1" i="0">
                <a:solidFill>
                  <a:srgbClr val="00C9A7"/>
                </a:solidFill>
                <a:latin typeface="Calibri"/>
              </a:rPr>
              <a:t>firelex/suzielaw</a:t>
            </a:r>
          </a:p>
        </p:txBody>
      </p:sp>
      <p:sp>
        <p:nvSpPr>
          <p:cNvPr id="31" name="TextBox 30"/>
          <p:cNvSpPr txBox="1"/>
          <p:nvPr/>
        </p:nvSpPr>
        <p:spPr>
          <a:xfrm>
            <a:off x="4389120" y="4705096"/>
            <a:ext cx="6979615" cy="384048"/>
          </a:xfrm>
          <a:prstGeom prst="rect">
            <a:avLst/>
          </a:prstGeom>
          <a:noFill/>
        </p:spPr>
        <p:txBody>
          <a:bodyPr wrap="square" anchor="t" lIns="0" rIns="0" tIns="0" bIns="0">
            <a:noAutofit/>
          </a:bodyPr>
          <a:lstStyle/>
          <a:p>
            <a:pPr algn="l">
              <a:lnSpc>
                <a:spcPct val="105000"/>
              </a:lnSpc>
              <a:spcBef>
                <a:spcPts val="0"/>
              </a:spcBef>
            </a:pPr>
            <a:r>
              <a:rPr sz="700" b="0" i="0">
                <a:solidFill>
                  <a:srgbClr val="5B6B7C"/>
                </a:solidFill>
                <a:latin typeface="Calibri"/>
              </a:rPr>
              <a:t>Open-source legal research across 19 jurisdictions</a:t>
            </a:r>
          </a:p>
        </p:txBody>
      </p:sp>
      <p:sp>
        <p:nvSpPr>
          <p:cNvPr id="32" name="Rounded Rectangle 31"/>
          <p:cNvSpPr/>
          <p:nvPr/>
        </p:nvSpPr>
        <p:spPr>
          <a:xfrm>
            <a:off x="548640" y="5943600"/>
            <a:ext cx="5486400" cy="274320"/>
          </a:xfrm>
          <a:prstGeom prst="roundRect">
            <a:avLst>
              <a:gd name="adj" fmla="val 2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0240" y="5969000"/>
            <a:ext cx="530352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SYSTEMS: LexisNexis  |  DMS  |  Practice Management  |  Billing</a:t>
            </a:r>
          </a:p>
        </p:txBody>
      </p:sp>
      <p:sp>
        <p:nvSpPr>
          <p:cNvPr id="34" name="Rounded Rectangle 33"/>
          <p:cNvSpPr/>
          <p:nvPr/>
        </p:nvSpPr>
        <p:spPr>
          <a:xfrm>
            <a:off x="6217920" y="5943600"/>
            <a:ext cx="5303520" cy="274320"/>
          </a:xfrm>
          <a:prstGeom prst="roundRect">
            <a:avLst>
              <a:gd name="adj" fmla="val 2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5969000"/>
            <a:ext cx="5120640" cy="219456"/>
          </a:xfrm>
          <a:prstGeom prst="rect">
            <a:avLst/>
          </a:prstGeom>
          <a:noFill/>
        </p:spPr>
        <p:txBody>
          <a:bodyPr wrap="square" anchor="t" lIns="0" rIns="0" tIns="0" bIns="0">
            <a:noAutofit/>
          </a:bodyPr>
          <a:lstStyle/>
          <a:p>
            <a:pPr algn="l">
              <a:lnSpc>
                <a:spcPct val="105000"/>
              </a:lnSpc>
              <a:spcBef>
                <a:spcPts val="0"/>
              </a:spcBef>
            </a:pPr>
            <a:r>
              <a:rPr sz="600" b="1" i="0">
                <a:solidFill>
                  <a:srgbClr val="FFFFFF"/>
                </a:solidFill>
                <a:latin typeface="Calibri"/>
              </a:rPr>
              <a:t>USERS: In-house counsel | Associates | Legal ops | Paralegals</a:t>
            </a:r>
          </a:p>
        </p:txBody>
      </p:sp>
      <p:sp>
        <p:nvSpPr>
          <p:cNvPr id="36" name="TextBox 3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37" name="TextBox 3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106 / 111</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Governance &amp; Compliance — UC-10</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Legal — Standards, audits, and compliance requirements</a:t>
            </a:r>
          </a:p>
        </p:txBody>
      </p:sp>
      <p:sp>
        <p:nvSpPr>
          <p:cNvPr id="7" name="Rounded Rectangle 6"/>
          <p:cNvSpPr/>
          <p:nvPr/>
        </p:nvSpPr>
        <p:spPr>
          <a:xfrm>
            <a:off x="548640" y="155448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640" y="165608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Source grounding: every AI citation links to verified primary law in LexisNexis corpus</a:t>
            </a:r>
          </a:p>
        </p:txBody>
      </p:sp>
      <p:sp>
        <p:nvSpPr>
          <p:cNvPr id="10" name="Rounded Rectangle 9"/>
          <p:cNvSpPr/>
          <p:nvPr/>
        </p:nvSpPr>
        <p:spPr>
          <a:xfrm>
            <a:off x="548640" y="242316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640" y="252476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No hallucinated citations: retrieval-augmented generation from verified source only</a:t>
            </a:r>
          </a:p>
        </p:txBody>
      </p:sp>
      <p:sp>
        <p:nvSpPr>
          <p:cNvPr id="13" name="Rounded Rectangle 12"/>
          <p:cNvSpPr/>
          <p:nvPr/>
        </p:nvSpPr>
        <p:spPr>
          <a:xfrm>
            <a:off x="548640" y="3291840"/>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91840"/>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640" y="3393440"/>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Practice-area boundaries: AI responses scoped to relevant jurisdiction and practice area</a:t>
            </a:r>
          </a:p>
        </p:txBody>
      </p:sp>
      <p:sp>
        <p:nvSpPr>
          <p:cNvPr id="16" name="Rounded Rectangle 15"/>
          <p:cNvSpPr/>
          <p:nvPr/>
        </p:nvSpPr>
        <p:spPr>
          <a:xfrm>
            <a:off x="548640" y="4160519"/>
            <a:ext cx="11094415" cy="749808"/>
          </a:xfrm>
          <a:prstGeom prst="roundRect">
            <a:avLst>
              <a:gd name="adj" fmla="val 2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60519"/>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640" y="4262119"/>
            <a:ext cx="10586415" cy="5486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  Independent validation: Forrester TEI methodology — auditable by third party</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{{brand_name}} · AI Use Cases — Full Pipeline | 2026</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107 / 111</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94415" cy="36576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COMPETITIVE LANDSCAPE — UC-10 | LEGAL</a:t>
            </a:r>
          </a:p>
        </p:txBody>
      </p:sp>
      <p:sp>
        <p:nvSpPr>
          <p:cNvPr id="5" name="Rectangle 4"/>
          <p:cNvSpPr/>
          <p:nvPr/>
        </p:nvSpPr>
        <p:spPr>
          <a:xfrm>
            <a:off x="548640" y="685800"/>
            <a:ext cx="1371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0584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1840" y="108204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Harvey AI</a:t>
            </a:r>
          </a:p>
        </p:txBody>
      </p:sp>
      <p:sp>
        <p:nvSpPr>
          <p:cNvPr id="8" name="TextBox 7"/>
          <p:cNvSpPr txBox="1"/>
          <p:nvPr/>
        </p:nvSpPr>
        <p:spPr>
          <a:xfrm>
            <a:off x="3749040" y="108204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$100K+/yr, enterprise only</a:t>
            </a:r>
          </a:p>
        </p:txBody>
      </p:sp>
      <p:sp>
        <p:nvSpPr>
          <p:cNvPr id="9" name="TextBox 8"/>
          <p:cNvSpPr txBox="1"/>
          <p:nvPr/>
        </p:nvSpPr>
        <p:spPr>
          <a:xfrm>
            <a:off x="751840" y="133604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Strong LLM-based legal AI — but not source-grounded to primary law corpus</a:t>
            </a:r>
          </a:p>
        </p:txBody>
      </p:sp>
      <p:sp>
        <p:nvSpPr>
          <p:cNvPr id="10" name="Rounded Rectangle 9"/>
          <p:cNvSpPr/>
          <p:nvPr/>
        </p:nvSpPr>
        <p:spPr>
          <a:xfrm>
            <a:off x="548640" y="201168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1840" y="2087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Westlaw Edge (Thomson Reuters)</a:t>
            </a:r>
          </a:p>
        </p:txBody>
      </p:sp>
      <p:sp>
        <p:nvSpPr>
          <p:cNvPr id="12" name="TextBox 11"/>
          <p:cNvSpPr txBox="1"/>
          <p:nvPr/>
        </p:nvSpPr>
        <p:spPr>
          <a:xfrm>
            <a:off x="3749040" y="208788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Competing platform</a:t>
            </a:r>
          </a:p>
        </p:txBody>
      </p:sp>
      <p:sp>
        <p:nvSpPr>
          <p:cNvPr id="13" name="TextBox 12"/>
          <p:cNvSpPr txBox="1"/>
          <p:nvPr/>
        </p:nvSpPr>
        <p:spPr>
          <a:xfrm>
            <a:off x="751840" y="234188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CoCounsel AI — similar approach, different corpus</a:t>
            </a:r>
          </a:p>
        </p:txBody>
      </p:sp>
      <p:sp>
        <p:nvSpPr>
          <p:cNvPr id="14" name="Rounded Rectangle 13"/>
          <p:cNvSpPr/>
          <p:nvPr/>
        </p:nvSpPr>
        <p:spPr>
          <a:xfrm>
            <a:off x="548640" y="3017520"/>
            <a:ext cx="11094415" cy="86868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840" y="309372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Casetext (Thomson Reuters)</a:t>
            </a:r>
          </a:p>
        </p:txBody>
      </p:sp>
      <p:sp>
        <p:nvSpPr>
          <p:cNvPr id="16" name="TextBox 15"/>
          <p:cNvSpPr txBox="1"/>
          <p:nvPr/>
        </p:nvSpPr>
        <p:spPr>
          <a:xfrm>
            <a:off x="3749040" y="309372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CoCounsel</a:t>
            </a:r>
          </a:p>
        </p:txBody>
      </p:sp>
      <p:sp>
        <p:nvSpPr>
          <p:cNvPr id="17" name="TextBox 16"/>
          <p:cNvSpPr txBox="1"/>
          <p:nvPr/>
        </p:nvSpPr>
        <p:spPr>
          <a:xfrm>
            <a:off x="751840" y="334772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5B6B7C"/>
                </a:solidFill>
                <a:latin typeface="Calibri"/>
              </a:rPr>
              <a:t>Acquired by Thomson Reuters — AI research assistant</a:t>
            </a:r>
          </a:p>
        </p:txBody>
      </p:sp>
      <p:sp>
        <p:nvSpPr>
          <p:cNvPr id="18" name="Rounded Rectangle 17"/>
          <p:cNvSpPr/>
          <p:nvPr/>
        </p:nvSpPr>
        <p:spPr>
          <a:xfrm>
            <a:off x="548640" y="4023360"/>
            <a:ext cx="11094415" cy="86868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840" y="409956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Our framing</a:t>
            </a:r>
          </a:p>
        </p:txBody>
      </p:sp>
      <p:sp>
        <p:nvSpPr>
          <p:cNvPr id="20" name="TextBox 19"/>
          <p:cNvSpPr txBox="1"/>
          <p:nvPr/>
        </p:nvSpPr>
        <p:spPr>
          <a:xfrm>
            <a:off x="3749040" y="4099560"/>
            <a:ext cx="2743200" cy="182880"/>
          </a:xfrm>
          <a:prstGeom prst="rect">
            <a:avLst/>
          </a:prstGeom>
          <a:noFill/>
        </p:spPr>
        <p:txBody>
          <a:bodyPr wrap="square" anchor="t" lIns="0" rIns="0" tIns="0" bIns="0">
            <a:noAutofit/>
          </a:bodyPr>
          <a:lstStyle/>
          <a:p>
            <a:pPr algn="l">
              <a:lnSpc>
                <a:spcPct val="105000"/>
              </a:lnSpc>
              <a:spcBef>
                <a:spcPts val="0"/>
              </a:spcBef>
            </a:pPr>
            <a:r>
              <a:rPr sz="900" b="0" i="0">
                <a:solidFill>
                  <a:srgbClr val="0A1628"/>
                </a:solidFill>
                <a:latin typeface="Calibri"/>
              </a:rPr>
              <a:t>Source-grounding lesson</a:t>
            </a:r>
          </a:p>
        </p:txBody>
      </p:sp>
      <p:sp>
        <p:nvSpPr>
          <p:cNvPr id="21" name="TextBox 20"/>
          <p:cNvSpPr txBox="1"/>
          <p:nvPr/>
        </p:nvSpPr>
        <p:spPr>
          <a:xfrm>
            <a:off x="751840" y="4353560"/>
            <a:ext cx="10688015" cy="457200"/>
          </a:xfrm>
          <a:prstGeom prst="rect">
            <a:avLst/>
          </a:prstGeom>
          <a:noFill/>
        </p:spPr>
        <p:txBody>
          <a:bodyPr wrap="square" anchor="t" lIns="0" rIns="0" tIns="0" bIns="0">
            <a:noAutofit/>
          </a:bodyPr>
          <a:lstStyle/>
          <a:p>
            <a:pPr algn="l">
              <a:lnSpc>
                <a:spcPct val="105000"/>
              </a:lnSpc>
              <a:spcBef>
                <a:spcPts val="0"/>
              </a:spcBef>
            </a:pPr>
            <a:r>
              <a:rPr sz="800" b="0" i="0">
                <a:solidFill>
                  <a:srgbClr val="0A1628"/>
                </a:solidFill>
                <a:latin typeface="Calibri"/>
              </a:rPr>
              <a:t>The winner in legal AI is the one grounded in verified primary law — hallucination kills trust</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108 / 111</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7315200"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THE ACTUAL INSIGHT — UC-10</a:t>
            </a:r>
          </a:p>
        </p:txBody>
      </p:sp>
      <p:sp>
        <p:nvSpPr>
          <p:cNvPr id="6" name="TextBox 5"/>
          <p:cNvSpPr txBox="1"/>
          <p:nvPr/>
        </p:nvSpPr>
        <p:spPr>
          <a:xfrm>
            <a:off x="731520" y="914400"/>
            <a:ext cx="9144000" cy="2286000"/>
          </a:xfrm>
          <a:prstGeom prst="rect">
            <a:avLst/>
          </a:prstGeom>
          <a:noFill/>
        </p:spPr>
        <p:txBody>
          <a:bodyPr wrap="square" anchor="t" lIns="0" rIns="0" tIns="0" bIns="0">
            <a:noAutofit/>
          </a:bodyPr>
          <a:lstStyle/>
          <a:p>
            <a:pPr algn="l">
              <a:lnSpc>
                <a:spcPct val="105000"/>
              </a:lnSpc>
              <a:spcBef>
                <a:spcPts val="0"/>
              </a:spcBef>
            </a:pPr>
            <a:r>
              <a:rPr sz="1800" b="0" i="1">
                <a:solidFill>
                  <a:srgbClr val="FFFFFF"/>
                </a:solidFill>
                <a:latin typeface="Calibri"/>
              </a:rPr>
              <a:t>Legal AI's core problem is hallucinated case citations. Grounding in a verified primary law database eliminates fabricated citations. The right business case framing: outside-counsel reduction is more valuable than raw efficiency gains. Shifting work internal via AI beats doing existing work faster. Frame it as revenue retained, not time saved.</a:t>
            </a:r>
          </a:p>
        </p:txBody>
      </p:sp>
      <p:sp>
        <p:nvSpPr>
          <p:cNvPr id="7" name="Rounded Rectangle 6"/>
          <p:cNvSpPr/>
          <p:nvPr/>
        </p:nvSpPr>
        <p:spPr>
          <a:xfrm>
            <a:off x="7315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BUYER</a:t>
            </a:r>
          </a:p>
        </p:txBody>
      </p:sp>
      <p:sp>
        <p:nvSpPr>
          <p:cNvPr id="9" name="TextBox 8"/>
          <p:cNvSpPr txBox="1"/>
          <p:nvPr/>
        </p:nvSpPr>
        <p:spPr>
          <a:xfrm>
            <a:off x="8839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General Counsel / Legal Ops Director</a:t>
            </a:r>
          </a:p>
        </p:txBody>
      </p:sp>
      <p:sp>
        <p:nvSpPr>
          <p:cNvPr id="10" name="Rounded Rectangle 9"/>
          <p:cNvSpPr/>
          <p:nvPr/>
        </p:nvSpPr>
        <p:spPr>
          <a:xfrm>
            <a:off x="43891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15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REVENUE MODEL</a:t>
            </a:r>
          </a:p>
        </p:txBody>
      </p:sp>
      <p:sp>
        <p:nvSpPr>
          <p:cNvPr id="12" name="TextBox 11"/>
          <p:cNvSpPr txBox="1"/>
          <p:nvPr/>
        </p:nvSpPr>
        <p:spPr>
          <a:xfrm>
            <a:off x="45415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Enterprise (SaaS subscription)</a:t>
            </a:r>
          </a:p>
        </p:txBody>
      </p:sp>
      <p:sp>
        <p:nvSpPr>
          <p:cNvPr id="13" name="Rounded Rectangle 12"/>
          <p:cNvSpPr/>
          <p:nvPr/>
        </p:nvSpPr>
        <p:spPr>
          <a:xfrm>
            <a:off x="8046720" y="3657600"/>
            <a:ext cx="3383280" cy="13716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9120" y="3759200"/>
            <a:ext cx="3078480" cy="182880"/>
          </a:xfrm>
          <a:prstGeom prst="rect">
            <a:avLst/>
          </a:prstGeom>
          <a:noFill/>
        </p:spPr>
        <p:txBody>
          <a:bodyPr wrap="square" anchor="t" lIns="0" rIns="0" tIns="0" bIns="0">
            <a:noAutofit/>
          </a:bodyPr>
          <a:lstStyle/>
          <a:p>
            <a:pPr algn="l">
              <a:lnSpc>
                <a:spcPct val="105000"/>
              </a:lnSpc>
              <a:spcBef>
                <a:spcPts val="0"/>
              </a:spcBef>
            </a:pPr>
            <a:r>
              <a:rPr sz="800" b="1" i="0">
                <a:solidFill>
                  <a:srgbClr val="FFB800"/>
                </a:solidFill>
                <a:latin typeface="Calibri"/>
              </a:rPr>
              <a:t>DEPLOYMENT</a:t>
            </a:r>
          </a:p>
        </p:txBody>
      </p:sp>
      <p:sp>
        <p:nvSpPr>
          <p:cNvPr id="15" name="TextBox 14"/>
          <p:cNvSpPr txBox="1"/>
          <p:nvPr/>
        </p:nvSpPr>
        <p:spPr>
          <a:xfrm>
            <a:off x="8199120" y="4013200"/>
            <a:ext cx="3078480" cy="822960"/>
          </a:xfrm>
          <a:prstGeom prst="rect">
            <a:avLst/>
          </a:prstGeom>
          <a:noFill/>
        </p:spPr>
        <p:txBody>
          <a:bodyPr wrap="square" anchor="t" lIns="0" rIns="0" tIns="0" bIns="0">
            <a:noAutofit/>
          </a:bodyPr>
          <a:lstStyle/>
          <a:p>
            <a:pPr algn="l">
              <a:lnSpc>
                <a:spcPct val="105000"/>
              </a:lnSpc>
              <a:spcBef>
                <a:spcPts val="0"/>
              </a:spcBef>
            </a:pPr>
            <a:r>
              <a:rPr sz="1200" b="0" i="0">
                <a:solidFill>
                  <a:srgbClr val="FFFFFF"/>
                </a:solidFill>
                <a:latin typeface="Calibri"/>
              </a:rPr>
              <a:t>SaaS: browser-based access to AI-powered research + drafting</a:t>
            </a:r>
          </a:p>
        </p:txBody>
      </p:sp>
      <p:sp>
        <p:nvSpPr>
          <p:cNvPr id="16" name="TextBox 15"/>
          <p:cNvSpPr txBox="1"/>
          <p:nvPr/>
        </p:nvSpPr>
        <p:spPr>
          <a:xfrm>
            <a:off x="731520" y="5486400"/>
            <a:ext cx="9144000" cy="274320"/>
          </a:xfrm>
          <a:prstGeom prst="rect">
            <a:avLst/>
          </a:prstGeom>
          <a:noFill/>
        </p:spPr>
        <p:txBody>
          <a:bodyPr wrap="square" anchor="t" lIns="0" rIns="0" tIns="0" bIns="0">
            <a:noAutofit/>
          </a:bodyPr>
          <a:lstStyle/>
          <a:p>
            <a:pPr algn="l">
              <a:lnSpc>
                <a:spcPct val="105000"/>
              </a:lnSpc>
              <a:spcBef>
                <a:spcPts val="0"/>
              </a:spcBef>
            </a:pPr>
            <a:r>
              <a:rPr sz="900" b="0" i="1">
                <a:solidFill>
                  <a:srgbClr val="5B6B7C"/>
                </a:solidFill>
                <a:latin typeface="Calibri"/>
              </a:rPr>
              <a:t>Source: GlobeNewswire / Forrester TEI, June 2025</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109 / 111</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502920"/>
          </a:xfrm>
          <a:prstGeom prst="rect">
            <a:avLst/>
          </a:prstGeom>
          <a:noFill/>
        </p:spPr>
        <p:txBody>
          <a:bodyPr wrap="square" anchor="t" lIns="0" rIns="0" tIns="0" bIns="0">
            <a:noAutofit/>
          </a:bodyPr>
          <a:lstStyle/>
          <a:p>
            <a:pPr algn="l">
              <a:lnSpc>
                <a:spcPct val="105000"/>
              </a:lnSpc>
              <a:spcBef>
                <a:spcPts val="0"/>
              </a:spcBef>
            </a:pPr>
            <a:r>
              <a:rPr sz="2600" b="1" i="0">
                <a:solidFill>
                  <a:srgbClr val="FFFFFF"/>
                </a:solidFill>
                <a:latin typeface="Calibri"/>
              </a:rPr>
              <a:t>WHAT THE WINNERS HAVE IN COMMON</a:t>
            </a:r>
          </a:p>
        </p:txBody>
      </p:sp>
      <p:sp>
        <p:nvSpPr>
          <p:cNvPr id="5" name="Rectangle 4"/>
          <p:cNvSpPr/>
          <p:nvPr/>
        </p:nvSpPr>
        <p:spPr>
          <a:xfrm>
            <a:off x="548640" y="91440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143000"/>
            <a:ext cx="11094415" cy="91440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 y="1270000"/>
            <a:ext cx="508000" cy="355600"/>
          </a:xfrm>
          <a:prstGeom prst="rect">
            <a:avLst/>
          </a:prstGeom>
          <a:noFill/>
        </p:spPr>
        <p:txBody>
          <a:bodyPr wrap="square" anchor="t" lIns="0" rIns="0" tIns="0" bIns="0">
            <a:noAutofit/>
          </a:bodyPr>
          <a:lstStyle/>
          <a:p>
            <a:pPr algn="l">
              <a:lnSpc>
                <a:spcPct val="105000"/>
              </a:lnSpc>
              <a:spcBef>
                <a:spcPts val="0"/>
              </a:spcBef>
            </a:pPr>
            <a:r>
              <a:rPr sz="2000" b="1" i="0">
                <a:solidFill>
                  <a:srgbClr val="FFB800"/>
                </a:solidFill>
                <a:latin typeface="Calibri"/>
              </a:rPr>
              <a:t>01</a:t>
            </a:r>
          </a:p>
        </p:txBody>
      </p:sp>
      <p:sp>
        <p:nvSpPr>
          <p:cNvPr id="8" name="TextBox 7"/>
          <p:cNvSpPr txBox="1"/>
          <p:nvPr/>
        </p:nvSpPr>
        <p:spPr>
          <a:xfrm>
            <a:off x="1097280" y="1244600"/>
            <a:ext cx="10180015" cy="256032"/>
          </a:xfrm>
          <a:prstGeom prst="rect">
            <a:avLst/>
          </a:prstGeom>
          <a:noFill/>
        </p:spPr>
        <p:txBody>
          <a:bodyPr wrap="square" anchor="t" lIns="0" rIns="0" tIns="0" bIns="0">
            <a:noAutofit/>
          </a:bodyPr>
          <a:lstStyle/>
          <a:p>
            <a:pPr algn="l">
              <a:lnSpc>
                <a:spcPct val="105000"/>
              </a:lnSpc>
              <a:spcBef>
                <a:spcPts val="0"/>
              </a:spcBef>
            </a:pPr>
            <a:r>
              <a:rPr sz="1500" b="1" i="0">
                <a:solidFill>
                  <a:srgbClr val="FFFFFF"/>
                </a:solidFill>
                <a:latin typeface="Calibri"/>
              </a:rPr>
              <a:t>Define the number before writing code</a:t>
            </a:r>
          </a:p>
        </p:txBody>
      </p:sp>
      <p:sp>
        <p:nvSpPr>
          <p:cNvPr id="9" name="TextBox 8"/>
          <p:cNvSpPr txBox="1"/>
          <p:nvPr/>
        </p:nvSpPr>
        <p:spPr>
          <a:xfrm>
            <a:off x="1097280" y="1524000"/>
            <a:ext cx="10180015" cy="475488"/>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TD Bank: processing hours. C.H. Robinson: quote time. Unilever: downtime %. A metric with a baseline before day 1.</a:t>
            </a:r>
          </a:p>
        </p:txBody>
      </p:sp>
      <p:sp>
        <p:nvSpPr>
          <p:cNvPr id="10" name="Rounded Rectangle 9"/>
          <p:cNvSpPr/>
          <p:nvPr/>
        </p:nvSpPr>
        <p:spPr>
          <a:xfrm>
            <a:off x="548640" y="2194560"/>
            <a:ext cx="11094415" cy="91440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040" y="2321560"/>
            <a:ext cx="508000" cy="355600"/>
          </a:xfrm>
          <a:prstGeom prst="rect">
            <a:avLst/>
          </a:prstGeom>
          <a:noFill/>
        </p:spPr>
        <p:txBody>
          <a:bodyPr wrap="square" anchor="t" lIns="0" rIns="0" tIns="0" bIns="0">
            <a:noAutofit/>
          </a:bodyPr>
          <a:lstStyle/>
          <a:p>
            <a:pPr algn="l">
              <a:lnSpc>
                <a:spcPct val="105000"/>
              </a:lnSpc>
              <a:spcBef>
                <a:spcPts val="0"/>
              </a:spcBef>
            </a:pPr>
            <a:r>
              <a:rPr sz="2000" b="1" i="0">
                <a:solidFill>
                  <a:srgbClr val="FFB800"/>
                </a:solidFill>
                <a:latin typeface="Calibri"/>
              </a:rPr>
              <a:t>02</a:t>
            </a:r>
          </a:p>
        </p:txBody>
      </p:sp>
      <p:sp>
        <p:nvSpPr>
          <p:cNvPr id="12" name="TextBox 11"/>
          <p:cNvSpPr txBox="1"/>
          <p:nvPr/>
        </p:nvSpPr>
        <p:spPr>
          <a:xfrm>
            <a:off x="1097280" y="2296160"/>
            <a:ext cx="10180015" cy="256032"/>
          </a:xfrm>
          <a:prstGeom prst="rect">
            <a:avLst/>
          </a:prstGeom>
          <a:noFill/>
        </p:spPr>
        <p:txBody>
          <a:bodyPr wrap="square" anchor="t" lIns="0" rIns="0" tIns="0" bIns="0">
            <a:noAutofit/>
          </a:bodyPr>
          <a:lstStyle/>
          <a:p>
            <a:pPr algn="l">
              <a:lnSpc>
                <a:spcPct val="105000"/>
              </a:lnSpc>
              <a:spcBef>
                <a:spcPts val="0"/>
              </a:spcBef>
            </a:pPr>
            <a:r>
              <a:rPr sz="1500" b="1" i="0">
                <a:solidFill>
                  <a:srgbClr val="FFFFFF"/>
                </a:solidFill>
                <a:latin typeface="Calibri"/>
              </a:rPr>
              <a:t>Automate the boring part, not the judgment</a:t>
            </a:r>
          </a:p>
        </p:txBody>
      </p:sp>
      <p:sp>
        <p:nvSpPr>
          <p:cNvPr id="13" name="TextBox 12"/>
          <p:cNvSpPr txBox="1"/>
          <p:nvPr/>
        </p:nvSpPr>
        <p:spPr>
          <a:xfrm>
            <a:off x="1097280" y="2575560"/>
            <a:ext cx="10180015" cy="475488"/>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AI handles extraction, matching, triage. Lawyers still decide. Underwriters still sign. Superintendents still prioritize.</a:t>
            </a:r>
          </a:p>
        </p:txBody>
      </p:sp>
      <p:sp>
        <p:nvSpPr>
          <p:cNvPr id="14" name="Rounded Rectangle 13"/>
          <p:cNvSpPr/>
          <p:nvPr/>
        </p:nvSpPr>
        <p:spPr>
          <a:xfrm>
            <a:off x="548640" y="3246120"/>
            <a:ext cx="11094415" cy="91440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 y="3373120"/>
            <a:ext cx="508000" cy="355600"/>
          </a:xfrm>
          <a:prstGeom prst="rect">
            <a:avLst/>
          </a:prstGeom>
          <a:noFill/>
        </p:spPr>
        <p:txBody>
          <a:bodyPr wrap="square" anchor="t" lIns="0" rIns="0" tIns="0" bIns="0">
            <a:noAutofit/>
          </a:bodyPr>
          <a:lstStyle/>
          <a:p>
            <a:pPr algn="l">
              <a:lnSpc>
                <a:spcPct val="105000"/>
              </a:lnSpc>
              <a:spcBef>
                <a:spcPts val="0"/>
              </a:spcBef>
            </a:pPr>
            <a:r>
              <a:rPr sz="2000" b="1" i="0">
                <a:solidFill>
                  <a:srgbClr val="FFB800"/>
                </a:solidFill>
                <a:latin typeface="Calibri"/>
              </a:rPr>
              <a:t>03</a:t>
            </a:r>
          </a:p>
        </p:txBody>
      </p:sp>
      <p:sp>
        <p:nvSpPr>
          <p:cNvPr id="16" name="TextBox 15"/>
          <p:cNvSpPr txBox="1"/>
          <p:nvPr/>
        </p:nvSpPr>
        <p:spPr>
          <a:xfrm>
            <a:off x="1097280" y="3347720"/>
            <a:ext cx="10180015" cy="256032"/>
          </a:xfrm>
          <a:prstGeom prst="rect">
            <a:avLst/>
          </a:prstGeom>
          <a:noFill/>
        </p:spPr>
        <p:txBody>
          <a:bodyPr wrap="square" anchor="t" lIns="0" rIns="0" tIns="0" bIns="0">
            <a:noAutofit/>
          </a:bodyPr>
          <a:lstStyle/>
          <a:p>
            <a:pPr algn="l">
              <a:lnSpc>
                <a:spcPct val="105000"/>
              </a:lnSpc>
              <a:spcBef>
                <a:spcPts val="0"/>
              </a:spcBef>
            </a:pPr>
            <a:r>
              <a:rPr sz="1500" b="1" i="0">
                <a:solidFill>
                  <a:srgbClr val="FFFFFF"/>
                </a:solidFill>
                <a:latin typeface="Calibri"/>
              </a:rPr>
              <a:t>Proprietary data is the moat, not the model</a:t>
            </a:r>
          </a:p>
        </p:txBody>
      </p:sp>
      <p:sp>
        <p:nvSpPr>
          <p:cNvPr id="17" name="TextBox 16"/>
          <p:cNvSpPr txBox="1"/>
          <p:nvPr/>
        </p:nvSpPr>
        <p:spPr>
          <a:xfrm>
            <a:off x="1097280" y="3627120"/>
            <a:ext cx="10180015" cy="475488"/>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C.H. Robinson 100T points. DroneDeploy 34M annotations. Same models, different data, wildly different outcomes.</a:t>
            </a:r>
          </a:p>
        </p:txBody>
      </p:sp>
      <p:sp>
        <p:nvSpPr>
          <p:cNvPr id="18" name="Rounded Rectangle 17"/>
          <p:cNvSpPr/>
          <p:nvPr/>
        </p:nvSpPr>
        <p:spPr>
          <a:xfrm>
            <a:off x="548640" y="4297679"/>
            <a:ext cx="11094415" cy="91440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4424679"/>
            <a:ext cx="508000" cy="355600"/>
          </a:xfrm>
          <a:prstGeom prst="rect">
            <a:avLst/>
          </a:prstGeom>
          <a:noFill/>
        </p:spPr>
        <p:txBody>
          <a:bodyPr wrap="square" anchor="t" lIns="0" rIns="0" tIns="0" bIns="0">
            <a:noAutofit/>
          </a:bodyPr>
          <a:lstStyle/>
          <a:p>
            <a:pPr algn="l">
              <a:lnSpc>
                <a:spcPct val="105000"/>
              </a:lnSpc>
              <a:spcBef>
                <a:spcPts val="0"/>
              </a:spcBef>
            </a:pPr>
            <a:r>
              <a:rPr sz="2000" b="1" i="0">
                <a:solidFill>
                  <a:srgbClr val="FFB800"/>
                </a:solidFill>
                <a:latin typeface="Calibri"/>
              </a:rPr>
              <a:t>04</a:t>
            </a:r>
          </a:p>
        </p:txBody>
      </p:sp>
      <p:sp>
        <p:nvSpPr>
          <p:cNvPr id="20" name="TextBox 19"/>
          <p:cNvSpPr txBox="1"/>
          <p:nvPr/>
        </p:nvSpPr>
        <p:spPr>
          <a:xfrm>
            <a:off x="1097280" y="4399279"/>
            <a:ext cx="10180015" cy="256032"/>
          </a:xfrm>
          <a:prstGeom prst="rect">
            <a:avLst/>
          </a:prstGeom>
          <a:noFill/>
        </p:spPr>
        <p:txBody>
          <a:bodyPr wrap="square" anchor="t" lIns="0" rIns="0" tIns="0" bIns="0">
            <a:noAutofit/>
          </a:bodyPr>
          <a:lstStyle/>
          <a:p>
            <a:pPr algn="l">
              <a:lnSpc>
                <a:spcPct val="105000"/>
              </a:lnSpc>
              <a:spcBef>
                <a:spcPts val="0"/>
              </a:spcBef>
            </a:pPr>
            <a:r>
              <a:rPr sz="1500" b="1" i="0">
                <a:solidFill>
                  <a:srgbClr val="FFFFFF"/>
                </a:solidFill>
                <a:latin typeface="Calibri"/>
              </a:rPr>
              <a:t>Composite AI beats pure LLM</a:t>
            </a:r>
          </a:p>
        </p:txBody>
      </p:sp>
      <p:sp>
        <p:nvSpPr>
          <p:cNvPr id="21" name="TextBox 20"/>
          <p:cNvSpPr txBox="1"/>
          <p:nvPr/>
        </p:nvSpPr>
        <p:spPr>
          <a:xfrm>
            <a:off x="1097280" y="4678679"/>
            <a:ext cx="10180015" cy="475488"/>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EU 3PL: composite hit 92% vs 78% pure agentic. TD Bank: deterministic math. Use the right tool per sub-task.</a:t>
            </a:r>
          </a:p>
        </p:txBody>
      </p:sp>
      <p:sp>
        <p:nvSpPr>
          <p:cNvPr id="22" name="Rounded Rectangle 21"/>
          <p:cNvSpPr/>
          <p:nvPr/>
        </p:nvSpPr>
        <p:spPr>
          <a:xfrm>
            <a:off x="548640" y="5349240"/>
            <a:ext cx="11094415" cy="914400"/>
          </a:xfrm>
          <a:prstGeom prst="roundRect">
            <a:avLst>
              <a:gd name="adj" fmla="val 2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040" y="5476240"/>
            <a:ext cx="508000" cy="355600"/>
          </a:xfrm>
          <a:prstGeom prst="rect">
            <a:avLst/>
          </a:prstGeom>
          <a:noFill/>
        </p:spPr>
        <p:txBody>
          <a:bodyPr wrap="square" anchor="t" lIns="0" rIns="0" tIns="0" bIns="0">
            <a:noAutofit/>
          </a:bodyPr>
          <a:lstStyle/>
          <a:p>
            <a:pPr algn="l">
              <a:lnSpc>
                <a:spcPct val="105000"/>
              </a:lnSpc>
              <a:spcBef>
                <a:spcPts val="0"/>
              </a:spcBef>
            </a:pPr>
            <a:r>
              <a:rPr sz="2000" b="1" i="0">
                <a:solidFill>
                  <a:srgbClr val="FFB800"/>
                </a:solidFill>
                <a:latin typeface="Calibri"/>
              </a:rPr>
              <a:t>05</a:t>
            </a:r>
          </a:p>
        </p:txBody>
      </p:sp>
      <p:sp>
        <p:nvSpPr>
          <p:cNvPr id="24" name="TextBox 23"/>
          <p:cNvSpPr txBox="1"/>
          <p:nvPr/>
        </p:nvSpPr>
        <p:spPr>
          <a:xfrm>
            <a:off x="1097280" y="5450840"/>
            <a:ext cx="10180015" cy="256032"/>
          </a:xfrm>
          <a:prstGeom prst="rect">
            <a:avLst/>
          </a:prstGeom>
          <a:noFill/>
        </p:spPr>
        <p:txBody>
          <a:bodyPr wrap="square" anchor="t" lIns="0" rIns="0" tIns="0" bIns="0">
            <a:noAutofit/>
          </a:bodyPr>
          <a:lstStyle/>
          <a:p>
            <a:pPr algn="l">
              <a:lnSpc>
                <a:spcPct val="105000"/>
              </a:lnSpc>
              <a:spcBef>
                <a:spcPts val="0"/>
              </a:spcBef>
            </a:pPr>
            <a:r>
              <a:rPr sz="1500" b="1" i="0">
                <a:solidFill>
                  <a:srgbClr val="FFFFFF"/>
                </a:solidFill>
                <a:latin typeface="Calibri"/>
              </a:rPr>
              <a:t>Trust is a deployment phase, not a launch event</a:t>
            </a:r>
          </a:p>
        </p:txBody>
      </p:sp>
      <p:sp>
        <p:nvSpPr>
          <p:cNvPr id="25" name="TextBox 24"/>
          <p:cNvSpPr txBox="1"/>
          <p:nvPr/>
        </p:nvSpPr>
        <p:spPr>
          <a:xfrm>
            <a:off x="1097280" y="5730240"/>
            <a:ext cx="10180015" cy="475488"/>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Unilever: 6-month technician trust. Macy's: one-week progressive rollout. Budget time for humans to catch up.</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110 / 111</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81967" y="0"/>
            <a:ext cx="109728"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7103" y="0"/>
            <a:ext cx="54864"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9144000" cy="164592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The best AI project is the one that actually ships.</a:t>
            </a:r>
          </a:p>
        </p:txBody>
      </p:sp>
      <p:sp>
        <p:nvSpPr>
          <p:cNvPr id="7" name="Rectangle 6"/>
          <p:cNvSpPr/>
          <p:nvPr/>
        </p:nvSpPr>
        <p:spPr>
          <a:xfrm>
            <a:off x="548640" y="3657600"/>
            <a:ext cx="13716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931920"/>
            <a:ext cx="8229600" cy="731520"/>
          </a:xfrm>
          <a:prstGeom prst="rect">
            <a:avLst/>
          </a:prstGeom>
          <a:noFill/>
        </p:spPr>
        <p:txBody>
          <a:bodyPr wrap="square" anchor="t" lIns="0" rIns="0" tIns="0" bIns="0">
            <a:noAutofit/>
          </a:bodyPr>
          <a:lstStyle/>
          <a:p>
            <a:pPr algn="l">
              <a:lnSpc>
                <a:spcPct val="105000"/>
              </a:lnSpc>
              <a:spcBef>
                <a:spcPts val="0"/>
              </a:spcBef>
            </a:pPr>
            <a:r>
              <a:rPr sz="1600" b="0" i="0">
                <a:solidFill>
                  <a:srgbClr val="5B6B7C"/>
                </a:solidFill>
                <a:latin typeface="Calibri"/>
              </a:rPr>
              <a:t>Not the one with the cleanest architecture, the most sophisticated model,
or the biggest budget. The one that ships. With a number attached.</a:t>
            </a:r>
          </a:p>
        </p:txBody>
      </p:sp>
      <p:sp>
        <p:nvSpPr>
          <p:cNvPr id="9" name="TextBox 8"/>
          <p:cNvSpPr txBox="1"/>
          <p:nvPr/>
        </p:nvSpPr>
        <p:spPr>
          <a:xfrm>
            <a:off x="548640" y="4754880"/>
            <a:ext cx="82296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00C9A7"/>
                </a:solidFill>
                <a:latin typeface="Calibri"/>
              </a:rPr>
              <a:t>10 use cases. 5 industries. 100+ slides of evidence. One architecture pattern.</a:t>
            </a:r>
          </a:p>
        </p:txBody>
      </p:sp>
      <p:sp>
        <p:nvSpPr>
          <p:cNvPr id="10" name="TextBox 9"/>
          <p:cNvSpPr txBox="1"/>
          <p:nvPr/>
        </p:nvSpPr>
        <p:spPr>
          <a:xfrm>
            <a:off x="548640" y="5303520"/>
            <a:ext cx="2743200" cy="457200"/>
          </a:xfrm>
          <a:prstGeom prst="rect">
            <a:avLst/>
          </a:prstGeom>
          <a:noFill/>
        </p:spPr>
        <p:txBody>
          <a:bodyPr wrap="square" anchor="t" lIns="0" rIns="0" tIns="0" bIns="0">
            <a:noAutofit/>
          </a:bodyPr>
          <a:lstStyle/>
          <a:p>
            <a:pPr algn="l">
              <a:lnSpc>
                <a:spcPct val="105000"/>
              </a:lnSpc>
              <a:spcBef>
                <a:spcPts val="0"/>
              </a:spcBef>
            </a:pPr>
            <a:r>
              <a:rPr sz="2000" b="1" i="0">
                <a:solidFill>
                  <a:srgbClr val="00C9A7"/>
                </a:solidFill>
                <a:latin typeface="Calibri"/>
              </a:rPr>
              <a:t>{{brand_name}}</a:t>
            </a:r>
          </a:p>
        </p:txBody>
      </p:sp>
      <p:sp>
        <p:nvSpPr>
          <p:cNvPr id="11" name="TextBox 10"/>
          <p:cNvSpPr txBox="1"/>
          <p:nvPr/>
        </p:nvSpPr>
        <p:spPr>
          <a:xfrm>
            <a:off x="548640" y="5760720"/>
            <a:ext cx="4572000" cy="365760"/>
          </a:xfrm>
          <a:prstGeom prst="rect">
            <a:avLst/>
          </a:prstGeom>
          <a:noFill/>
        </p:spPr>
        <p:txBody>
          <a:bodyPr wrap="square" anchor="t" lIns="0" rIns="0" tIns="0" bIns="0">
            <a:noAutofit/>
          </a:bodyPr>
          <a:lstStyle/>
          <a:p>
            <a:pPr algn="l">
              <a:lnSpc>
                <a:spcPct val="105000"/>
              </a:lnSpc>
              <a:spcBef>
                <a:spcPts val="0"/>
              </a:spcBef>
            </a:pPr>
            <a:r>
              <a:rPr sz="1400" b="0" i="0">
                <a:solidFill>
                  <a:srgbClr val="5B6B7C"/>
                </a:solidFill>
                <a:latin typeface="Calibri"/>
              </a:rPr>
              <a:t>{{tagline}}</a:t>
            </a:r>
          </a:p>
        </p:txBody>
      </p:sp>
      <p:sp>
        <p:nvSpPr>
          <p:cNvPr id="12" name="TextBox 1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{{brand_name}} · AI Use Cases — Full Pipeline | 2026</a:t>
            </a:r>
          </a:p>
        </p:txBody>
      </p:sp>
      <p:sp>
        <p:nvSpPr>
          <p:cNvPr id="13" name="TextBox 1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111 / 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