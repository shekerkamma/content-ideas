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tech_05_106539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F172A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{{handle}}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{{tagline}}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91440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8823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8FAFC"/>
                </a:solidFill>
                <a:latin typeface="Inter Tight"/>
              </a:defRPr>
            </a:pPr>
            <a:r>
              <a:t>Why 87% of</a:t>
            </a:r>
            <a:br/>
            <a:r>
              <a:t>AI Pilots Die</a:t>
            </a:r>
            <a:br/>
            <a:r>
              <a:t>Before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8823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Three problems. All fixable.</a:t>
            </a:r>
          </a:p>
          <a:p>
            <a:pPr>
              <a:spcAft>
                <a:spcPts val="600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None require more AI.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6858000"/>
            <a:ext cx="533400" cy="5334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120" y="6934200"/>
            <a:ext cx="533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Inter Tight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1920" y="6959600"/>
            <a:ext cx="1828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Inter"/>
              </a:defRPr>
            </a:pPr>
            <a:r>
              <a:t>SWIPE TO LEARN</a:t>
            </a:r>
          </a:p>
        </p:txBody>
      </p:sp>
      <p:sp>
        <p:nvSpPr>
          <p:cNvPr id="13" name="Oval 12"/>
          <p:cNvSpPr/>
          <p:nvPr/>
        </p:nvSpPr>
        <p:spPr>
          <a:xfrm>
            <a:off x="4165600" y="12249150"/>
            <a:ext cx="127000" cy="127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70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752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800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848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89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4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s-abstract_04_69852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F172A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{{handle}}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{{tagline}}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8823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0" b="1">
                <a:solidFill>
                  <a:srgbClr val="1E293B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73152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66720"/>
            <a:ext cx="8823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Inter Tight"/>
              </a:defRPr>
            </a:pPr>
            <a:r>
              <a:t>The Number Nobody Talks About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4000"/>
            <a:ext cx="882396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7120" y="43180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EF4444"/>
                </a:solidFill>
                <a:latin typeface="Inter Tight"/>
              </a:defRPr>
            </a:pPr>
            <a:r>
              <a:t>87%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7120" y="5588000"/>
            <a:ext cx="8112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of AI pilots never make it to production.</a:t>
            </a: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Not because the models don't work.</a:t>
            </a: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Because nobody defined what</a:t>
            </a: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"working" means before they</a:t>
            </a: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started building.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8026400"/>
            <a:ext cx="882396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Inter Tight"/>
              </a:defRPr>
            </a:pPr>
            <a:r>
              <a:t>That's not a technology problem.</a:t>
            </a:r>
          </a:p>
        </p:txBody>
      </p:sp>
      <p:sp>
        <p:nvSpPr>
          <p:cNvPr id="14" name="Oval 13"/>
          <p:cNvSpPr/>
          <p:nvPr/>
        </p:nvSpPr>
        <p:spPr>
          <a:xfrm>
            <a:off x="4165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70400" y="12249150"/>
            <a:ext cx="127000" cy="127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52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800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848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89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94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s_01_64855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F172A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{{handle}}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{{tagline}}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8823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0" b="1">
                <a:solidFill>
                  <a:srgbClr val="1E293B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73152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66720"/>
            <a:ext cx="8823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Inter Tight"/>
              </a:defRPr>
            </a:pPr>
            <a:r>
              <a:t>No Metric, No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1120"/>
            <a:ext cx="8823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2100" b="0">
                <a:solidFill>
                  <a:srgbClr val="94A3B8"/>
                </a:solidFill>
                <a:latin typeface="Inter"/>
              </a:defRPr>
            </a:pPr>
            <a:r>
              <a:t>Here's the thing —</a:t>
            </a:r>
          </a:p>
          <a:p>
            <a:pPr>
              <a:spcAft>
                <a:spcPts val="1050"/>
              </a:spcAft>
              <a:defRPr sz="2100" b="0">
                <a:solidFill>
                  <a:srgbClr val="94A3B8"/>
                </a:solidFill>
                <a:latin typeface="Inter"/>
              </a:defRPr>
            </a:pPr>
            <a:r>
              <a:t>"improve efficiency" isn't a success metric.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27040"/>
            <a:ext cx="882396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5527040"/>
            <a:ext cx="50800" cy="14630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7920" y="5781040"/>
            <a:ext cx="8011160" cy="9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D3EE"/>
                </a:solidFill>
                <a:latin typeface="Inter Tight"/>
              </a:defRPr>
            </a:pPr>
            <a:r>
              <a:t>"Reduce claim processing</a:t>
            </a:r>
            <a:br/>
            <a:r>
              <a:t>from 14 days to 3."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498080"/>
            <a:ext cx="8823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If you can't put a number on the goal</a:t>
            </a: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before you write a single line of code,</a:t>
            </a: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you're not ready for AI.</a:t>
            </a: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You're ready for a whiteboard.</a:t>
            </a:r>
          </a:p>
        </p:txBody>
      </p:sp>
      <p:sp>
        <p:nvSpPr>
          <p:cNvPr id="15" name="Oval 14"/>
          <p:cNvSpPr/>
          <p:nvPr/>
        </p:nvSpPr>
        <p:spPr>
          <a:xfrm>
            <a:off x="4165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70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75200" y="12249150"/>
            <a:ext cx="127000" cy="127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800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848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89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94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-terminal_04_98589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F17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{{handle}}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{{tagline}}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8823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0" b="1">
                <a:solidFill>
                  <a:srgbClr val="1E293B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73152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66720"/>
            <a:ext cx="8823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Inter Tight"/>
              </a:defRPr>
            </a:pPr>
            <a:r>
              <a:t>Your Data Isn't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1120"/>
            <a:ext cx="8823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2100" b="0">
                <a:solidFill>
                  <a:srgbClr val="94A3B8"/>
                </a:solidFill>
                <a:latin typeface="Inter"/>
              </a:defRPr>
            </a:pPr>
            <a:r>
              <a:t>The proof-of-concept worked because you</a:t>
            </a:r>
          </a:p>
          <a:p>
            <a:pPr>
              <a:spcAft>
                <a:spcPts val="1050"/>
              </a:spcAft>
              <a:defRPr sz="2100" b="0">
                <a:solidFill>
                  <a:srgbClr val="94A3B8"/>
                </a:solidFill>
                <a:latin typeface="Inter"/>
              </a:defRPr>
            </a:pPr>
            <a:r>
              <a:t>hand-picked clean data for the demo.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44160"/>
            <a:ext cx="88239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7120" y="5598160"/>
            <a:ext cx="8112760" cy="17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Inter"/>
              </a:defRPr>
            </a:pPr>
            <a:r>
              <a:t>Production data is messy, late,</a:t>
            </a:r>
          </a:p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Inter"/>
              </a:defRPr>
            </a:pPr>
            <a:r>
              <a:t>undocumented, and lives in six</a:t>
            </a:r>
          </a:p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Inter"/>
              </a:defRPr>
            </a:pPr>
            <a:r>
              <a:t>different systems that don't</a:t>
            </a:r>
          </a:p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Inter"/>
              </a:defRPr>
            </a:pPr>
            <a:r>
              <a:t>talk to each other.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934960"/>
            <a:ext cx="8823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0"/>
              </a:spcAft>
              <a:defRPr sz="1900" b="1">
                <a:solidFill>
                  <a:srgbClr val="22D3EE"/>
                </a:solidFill>
                <a:latin typeface="Inter Tight"/>
              </a:defRPr>
            </a:pPr>
            <a:r>
              <a:t>Fix the pipes before you train the model.</a:t>
            </a:r>
          </a:p>
          <a:p>
            <a:pPr>
              <a:spcAft>
                <a:spcPts val="570"/>
              </a:spcAft>
              <a:defRPr sz="1900" b="1">
                <a:solidFill>
                  <a:srgbClr val="22D3EE"/>
                </a:solidFill>
                <a:latin typeface="Inter Tight"/>
              </a:defRPr>
            </a:pPr>
            <a:r>
              <a:t>Dead simple. Nobody does it.</a:t>
            </a:r>
          </a:p>
        </p:txBody>
      </p:sp>
      <p:sp>
        <p:nvSpPr>
          <p:cNvPr id="14" name="Oval 13"/>
          <p:cNvSpPr/>
          <p:nvPr/>
        </p:nvSpPr>
        <p:spPr>
          <a:xfrm>
            <a:off x="4165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70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52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80000" y="12249150"/>
            <a:ext cx="127000" cy="127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848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89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94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tech_09_183376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F172A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{{handle}}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{{tagline}}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8823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0" b="1">
                <a:solidFill>
                  <a:srgbClr val="1E293B"/>
                </a:solidFill>
                <a:latin typeface="Inter Tight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73152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66720"/>
            <a:ext cx="8823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Inter Tight"/>
              </a:defRPr>
            </a:pPr>
            <a:r>
              <a:t>You Forgot the Humans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1120"/>
            <a:ext cx="8823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2100" b="0">
                <a:solidFill>
                  <a:srgbClr val="94A3B8"/>
                </a:solidFill>
                <a:latin typeface="Inter"/>
              </a:defRPr>
            </a:pPr>
            <a:r>
              <a:t>You can build the best model in the world.</a:t>
            </a:r>
          </a:p>
          <a:p>
            <a:pPr>
              <a:spcAft>
                <a:spcPts val="1050"/>
              </a:spcAft>
              <a:defRPr sz="2100" b="0">
                <a:solidFill>
                  <a:srgbClr val="94A3B8"/>
                </a:solidFill>
                <a:latin typeface="Inter"/>
              </a:defRPr>
            </a:pPr>
            <a:r>
              <a:t>If the team doesn't trust it, they won't use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27040"/>
            <a:ext cx="88239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5527040"/>
            <a:ext cx="50800" cy="1828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7920" y="5781040"/>
            <a:ext cx="801116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Inter"/>
              </a:defRPr>
            </a:pPr>
            <a:r>
              <a:t>This isn't a "change management" problem —</a:t>
            </a:r>
          </a:p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Inter"/>
              </a:defRPr>
            </a:pPr>
            <a:r>
              <a:t>it's a "did you involve the actual users</a:t>
            </a:r>
          </a:p>
          <a:p>
            <a:pPr>
              <a:spcAft>
                <a:spcPts val="1000"/>
              </a:spcAft>
              <a:defRPr sz="2000" b="0">
                <a:solidFill>
                  <a:srgbClr val="F8FAFC"/>
                </a:solidFill>
                <a:latin typeface="Inter"/>
              </a:defRPr>
            </a:pPr>
            <a:r>
              <a:t>before building?" problem.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762240"/>
            <a:ext cx="8823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0"/>
              </a:spcAft>
              <a:defRPr sz="1900" b="1">
                <a:solidFill>
                  <a:srgbClr val="22D3EE"/>
                </a:solidFill>
                <a:latin typeface="Inter Tight"/>
              </a:defRPr>
            </a:pPr>
            <a:r>
              <a:t>Show them the tool. Let them break it.</a:t>
            </a:r>
          </a:p>
          <a:p>
            <a:pPr>
              <a:spcAft>
                <a:spcPts val="570"/>
              </a:spcAft>
              <a:defRPr sz="1900" b="1">
                <a:solidFill>
                  <a:srgbClr val="22D3EE"/>
                </a:solidFill>
                <a:latin typeface="Inter Tight"/>
              </a:defRPr>
            </a:pPr>
            <a:r>
              <a:t>Then fix what they broke.</a:t>
            </a:r>
          </a:p>
          <a:p>
            <a:pPr>
              <a:spcAft>
                <a:spcPts val="570"/>
              </a:spcAft>
              <a:defRPr sz="1900" b="1">
                <a:solidFill>
                  <a:srgbClr val="22D3EE"/>
                </a:solidFill>
                <a:latin typeface="Inter Tight"/>
              </a:defRPr>
            </a:pPr>
            <a:r>
              <a:t>That's the actual work.</a:t>
            </a:r>
          </a:p>
        </p:txBody>
      </p:sp>
      <p:sp>
        <p:nvSpPr>
          <p:cNvPr id="15" name="Oval 14"/>
          <p:cNvSpPr/>
          <p:nvPr/>
        </p:nvSpPr>
        <p:spPr>
          <a:xfrm>
            <a:off x="4165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70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752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800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84800" y="12249150"/>
            <a:ext cx="127000" cy="127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89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94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s-abstract_08_69852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F172A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{{handle}}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{{tagline}}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8823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0" b="1">
                <a:solidFill>
                  <a:srgbClr val="1E293B"/>
                </a:solidFill>
                <a:latin typeface="Inter Tight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73152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66720"/>
            <a:ext cx="8823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Inter Tight"/>
              </a:defRPr>
            </a:pPr>
            <a:r>
              <a:t>The Dead Simple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4000"/>
            <a:ext cx="8823960" cy="1397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5520" y="4343400"/>
            <a:ext cx="711200" cy="711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5520" y="4419600"/>
            <a:ext cx="7112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9920" y="4343400"/>
            <a:ext cx="717296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  <a:latin typeface="Inter"/>
              </a:defRPr>
            </a:pPr>
            <a:r>
              <a:t>Define a measurable outcome</a:t>
            </a:r>
            <a:br/>
            <a:r>
              <a:t>before day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15000"/>
            <a:ext cx="8823960" cy="1397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5520" y="5994400"/>
            <a:ext cx="711200" cy="711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5520" y="6070600"/>
            <a:ext cx="7112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9920" y="5994400"/>
            <a:ext cx="717296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  <a:latin typeface="Inter"/>
              </a:defRPr>
            </a:pPr>
            <a:r>
              <a:t>Audit your data pipelines</a:t>
            </a:r>
            <a:br/>
            <a:r>
              <a:t>before picking a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7366000"/>
            <a:ext cx="8823960" cy="1397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5520" y="7645400"/>
            <a:ext cx="711200" cy="711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5520" y="7721600"/>
            <a:ext cx="7112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9920" y="7645400"/>
            <a:ext cx="717296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  <a:latin typeface="Inter"/>
              </a:defRPr>
            </a:pPr>
            <a:r>
              <a:t>Put the tool in front of real</a:t>
            </a:r>
            <a:br/>
            <a:r>
              <a:t>users in week 2, not month 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9398000"/>
            <a:ext cx="8823960" cy="71120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9550400"/>
            <a:ext cx="8823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Inter Tight"/>
              </a:defRPr>
            </a:pPr>
            <a:r>
              <a:t>Skip any of these and your pilot fails. That's it.</a:t>
            </a:r>
          </a:p>
        </p:txBody>
      </p:sp>
      <p:sp>
        <p:nvSpPr>
          <p:cNvPr id="24" name="Oval 23"/>
          <p:cNvSpPr/>
          <p:nvPr/>
        </p:nvSpPr>
        <p:spPr>
          <a:xfrm>
            <a:off x="4165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70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752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800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848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89600" y="12249150"/>
            <a:ext cx="127000" cy="127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94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s_06_33987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F172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{{handle}}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{{tagline}}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109728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68320"/>
            <a:ext cx="8823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22D3EE"/>
                </a:solidFill>
                <a:latin typeface="Inter Tight"/>
              </a:defRPr>
            </a:pPr>
            <a:r>
              <a:t>The best AI project</a:t>
            </a:r>
            <a:br/>
            <a:r>
              <a:t>is the one that</a:t>
            </a:r>
            <a:br/>
            <a:r>
              <a:t>actually ships.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8640"/>
            <a:ext cx="8823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Not the one with the cleanest architecture,</a:t>
            </a: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the most sophisticated model,</a:t>
            </a: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or the biggest budget.</a:t>
            </a: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The one that ships. With a number attached.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7823200"/>
            <a:ext cx="5943600" cy="127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8077200"/>
            <a:ext cx="8823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Inter Tight"/>
              </a:defRPr>
            </a:pPr>
            <a:r>
              <a:t>{{brand_name}}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8483600"/>
            <a:ext cx="8823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{{tagline}}</a:t>
            </a:r>
          </a:p>
        </p:txBody>
      </p:sp>
      <p:sp>
        <p:nvSpPr>
          <p:cNvPr id="13" name="Oval 12"/>
          <p:cNvSpPr/>
          <p:nvPr/>
        </p:nvSpPr>
        <p:spPr>
          <a:xfrm>
            <a:off x="4165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70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752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800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848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89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4400" y="12249150"/>
            <a:ext cx="127000" cy="127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