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27080" y="0"/>
            <a:ext cx="1261872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27080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STORM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412480" cy="1600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AI coding agents compress implementation labor,
not SaaS consulting accountability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Executive takeaway: the first pressure is on repetitive build work and junior delivery hours; the durable value stays in validation, adoption, and cutover risk ownership.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983480"/>
            <a:ext cx="2011680" cy="960120"/>
          </a:xfrm>
          <a:prstGeom prst="rect">
            <a:avLst/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5138928"/>
            <a:ext cx="1645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WHAT CHANGED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340096"/>
            <a:ext cx="1664208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Agents now handle more of the repetitive delivery layer.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4983480"/>
            <a:ext cx="2011680" cy="960120"/>
          </a:xfrm>
          <a:prstGeom prst="rect">
            <a:avLst/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5138928"/>
            <a:ext cx="1645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B800"/>
                </a:solidFill>
                <a:latin typeface="Calibri"/>
              </a:rPr>
              <a:t>WHAT STAYS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5340096"/>
            <a:ext cx="1664208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Human accountability still owns business correctness.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4983480"/>
            <a:ext cx="2011680" cy="960120"/>
          </a:xfrm>
          <a:prstGeom prst="rect">
            <a:avLst/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76672" y="5138928"/>
            <a:ext cx="1645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05A6B"/>
                </a:solidFill>
                <a:latin typeface="Calibri"/>
              </a:rPr>
              <a:t>WHAT TO 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6672" y="5340096"/>
            <a:ext cx="1664208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Reprice around outcomes, not raw hours.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Storm Research | Executive Briefing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answer is compression, not replacement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Executive summary for SaaS / AI services leaders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12724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3127248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65960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1B2B3C"/>
                </a:solidFill>
                <a:latin typeface="Calibri"/>
              </a:rPr>
              <a:t>What changed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31720"/>
            <a:ext cx="269748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5B6B7C"/>
                </a:solidFill>
                <a:latin typeface="Calibri"/>
              </a:rPr>
              <a:t>Agents can now accelerate config, migration scaffolds, test generation, and documentation.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59352" y="1783080"/>
            <a:ext cx="312724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59352" y="1783080"/>
            <a:ext cx="3127248" cy="914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23944" y="1965960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1B2B3C"/>
                </a:solidFill>
                <a:latin typeface="Calibri"/>
              </a:rPr>
              <a:t>What still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3944" y="2331720"/>
            <a:ext cx="269748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5B6B7C"/>
                </a:solidFill>
                <a:latin typeface="Calibri"/>
              </a:rPr>
              <a:t>Implementation still fails on semantics, permissions, validation, adoption, and cutover risk.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78624" y="1783080"/>
            <a:ext cx="312724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78624" y="1783080"/>
            <a:ext cx="3127248" cy="9144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6" y="1965960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1B2B3C"/>
                </a:solidFill>
                <a:latin typeface="Calibri"/>
              </a:rPr>
              <a:t>Commercial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331720"/>
            <a:ext cx="269748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5B6B7C"/>
                </a:solidFill>
                <a:latin typeface="Calibri"/>
              </a:rPr>
              <a:t>The model shifts from selling hours to selling outcome ownership and risk reduction.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572000"/>
            <a:ext cx="10908792" cy="56692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681728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Bottom 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6177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50" b="1" i="0">
                <a:solidFill>
                  <a:srgbClr val="FFFFFF"/>
                </a:solidFill>
                <a:latin typeface="Calibri"/>
              </a:rPr>
              <a:t>Buy less manual effort. Buy more outcome ownership.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Storm Research | Executive Briefing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story unfolds in four beats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Storyboard for the argument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2267712" cy="1901952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828800"/>
            <a:ext cx="2267712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965960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C9A7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67712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1B2B3C"/>
                </a:solidFill>
                <a:latin typeface="Calibri"/>
              </a:rPr>
              <a:t>Shift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578608"/>
            <a:ext cx="1938528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5B6B7C"/>
                </a:solidFill>
                <a:latin typeface="Calibri"/>
              </a:rPr>
              <a:t>AI lowers the cost of producing implementation artifacts.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0048" y="2633472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64408" y="1828800"/>
            <a:ext cx="2267712" cy="1901952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64408" y="1828800"/>
            <a:ext cx="2267712" cy="914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1965960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B800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267712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1B2B3C"/>
                </a:solidFill>
                <a:latin typeface="Calibri"/>
              </a:rPr>
              <a:t>Limit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2578608"/>
            <a:ext cx="1938528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5B6B7C"/>
                </a:solidFill>
                <a:latin typeface="Calibri"/>
              </a:rPr>
              <a:t>The hard part remains judgment, governance, and sign-off.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2633472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70448" y="1828800"/>
            <a:ext cx="2267712" cy="1901952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70448" y="1828800"/>
            <a:ext cx="2267712" cy="9144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8" y="1965960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E05A6B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8" y="2267712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1B2B3C"/>
                </a:solidFill>
                <a:latin typeface="Calibri"/>
              </a:rPr>
              <a:t>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7608" y="2578608"/>
            <a:ext cx="1938528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5B6B7C"/>
                </a:solidFill>
                <a:latin typeface="Calibri"/>
              </a:rPr>
              <a:t>Margin pressure hits repetitive delivery work first.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8" y="2633472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76488" y="1828800"/>
            <a:ext cx="2267712" cy="1901952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76488" y="1828800"/>
            <a:ext cx="2267712" cy="9144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13648" y="1965960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9B82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3648" y="2267712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1B2B3C"/>
                </a:solidFill>
                <a:latin typeface="Calibri"/>
              </a:rPr>
              <a:t>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3648" y="2578608"/>
            <a:ext cx="1938528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5B6B7C"/>
                </a:solidFill>
                <a:latin typeface="Calibri"/>
              </a:rPr>
              <a:t>Reprice around outcomes and build validation gates.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88168" y="2633472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5B6B7C"/>
                </a:solidFill>
                <a:latin typeface="Calibri"/>
              </a:rPr>
              <a:t>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297680"/>
            <a:ext cx="10927080" cy="96012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480560"/>
            <a:ext cx="146304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Storyboard verdict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645152"/>
            <a:ext cx="914400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Calibri"/>
              </a:rPr>
              <a:t>Agents reduce delivery cost, but they do not remove accountable human ownership.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Storm Research | Executive Briefing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evidence is strongest where work is bounded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Why the replacement claim is too broad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C9A7"/>
                </a:solidFill>
                <a:latin typeface="Calibri"/>
              </a:rPr>
              <a:t>Bounded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E05A6B"/>
                </a:solidFill>
                <a:latin typeface="Calibri"/>
              </a:rPr>
              <a:t>Messy implementations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57400"/>
            <a:ext cx="4709160" cy="3474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130552"/>
            <a:ext cx="43434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Copilot and BCG-style studies show strong gains on narrow tasks.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560320"/>
            <a:ext cx="4709160" cy="3474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633472"/>
            <a:ext cx="43434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Agents can produce migration scaffolds, tests, and docs quickly.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063240"/>
            <a:ext cx="4709160" cy="3474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136392"/>
            <a:ext cx="43434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The productivity lift is real when the task is testable.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057400"/>
            <a:ext cx="4983480" cy="3474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2130552"/>
            <a:ext cx="461772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SaaS implementations fail on exceptions, permissions, and meaning.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560320"/>
            <a:ext cx="4983480" cy="3474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2633472"/>
            <a:ext cx="461772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Validation and cutover still require human review.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063240"/>
            <a:ext cx="4983480" cy="3474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3136392"/>
            <a:ext cx="461772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Performance degrades as context and accountability increase.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160520"/>
            <a:ext cx="10607040" cy="868680"/>
          </a:xfrm>
          <a:prstGeom prst="rect">
            <a:avLst/>
          </a:prstGeom>
          <a:solidFill>
            <a:srgbClr val="12243A"/>
          </a:solidFill>
          <a:ln w="12700">
            <a:solidFill>
              <a:srgbClr val="12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315968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Implication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462272"/>
            <a:ext cx="896112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50" b="1" i="0">
                <a:solidFill>
                  <a:srgbClr val="FFFFFF"/>
                </a:solidFill>
                <a:latin typeface="Calibri"/>
              </a:rPr>
              <a:t>Use AI to accelerate artifacts. Keep humans accountable for the result.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Storm Research | Executive Briefing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Junior build hours are the first thing to reprice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Commercial impact on consulting economics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28800"/>
            <a:ext cx="10652760" cy="493776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28800"/>
            <a:ext cx="109728" cy="493776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47672"/>
            <a:ext cx="25603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1B2B3C"/>
                </a:solidFill>
                <a:latin typeface="Calibri"/>
              </a:rPr>
              <a:t>Junior config /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947672"/>
            <a:ext cx="155448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5B6B7C"/>
                </a:solidFill>
                <a:latin typeface="Calibri"/>
              </a:rPr>
              <a:t>High exposure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947672"/>
            <a:ext cx="347472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1B2B3C"/>
                </a:solidFill>
                <a:latin typeface="Calibri"/>
              </a:rPr>
              <a:t>First to compress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450592"/>
            <a:ext cx="10652760" cy="493776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8" y="2450592"/>
            <a:ext cx="109728" cy="493776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569464"/>
            <a:ext cx="25603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1B2B3C"/>
                </a:solidFill>
                <a:latin typeface="Calibri"/>
              </a:rPr>
              <a:t>Migration scaffolding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569464"/>
            <a:ext cx="155448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5B6B7C"/>
                </a:solidFill>
                <a:latin typeface="Calibri"/>
              </a:rPr>
              <a:t>High exposure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569464"/>
            <a:ext cx="347472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1B2B3C"/>
                </a:solidFill>
                <a:latin typeface="Calibri"/>
              </a:rPr>
              <a:t>Use agents as accelerators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072384"/>
            <a:ext cx="10652760" cy="493776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3072384"/>
            <a:ext cx="109728" cy="4937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191256"/>
            <a:ext cx="25603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1B2B3C"/>
                </a:solidFill>
                <a:latin typeface="Calibri"/>
              </a:rPr>
              <a:t>Validation / UAT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191256"/>
            <a:ext cx="155448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5B6B7C"/>
                </a:solidFill>
                <a:latin typeface="Calibri"/>
              </a:rPr>
              <a:t>Medium exposure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191256"/>
            <a:ext cx="347472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1B2B3C"/>
                </a:solidFill>
                <a:latin typeface="Calibri"/>
              </a:rPr>
              <a:t>Keep human gates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3694176"/>
            <a:ext cx="10652760" cy="493776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8" y="3694176"/>
            <a:ext cx="109728" cy="4937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813048"/>
            <a:ext cx="25603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1B2B3C"/>
                </a:solidFill>
                <a:latin typeface="Calibri"/>
              </a:rPr>
              <a:t>Process design / adoption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3813048"/>
            <a:ext cx="155448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5B6B7C"/>
                </a:solidFill>
                <a:latin typeface="Calibri"/>
              </a:rPr>
              <a:t>Low exposure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813048"/>
            <a:ext cx="347472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1B2B3C"/>
                </a:solidFill>
                <a:latin typeface="Calibri"/>
              </a:rPr>
              <a:t>Value shifts upward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4315968"/>
            <a:ext cx="10652760" cy="493776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8" y="4315968"/>
            <a:ext cx="109728" cy="493776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434840"/>
            <a:ext cx="25603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1B2B3C"/>
                </a:solidFill>
                <a:latin typeface="Calibri"/>
              </a:rPr>
              <a:t>Outcome pricing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4434840"/>
            <a:ext cx="155448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5B6B7C"/>
                </a:solidFill>
                <a:latin typeface="Calibri"/>
              </a:rPr>
              <a:t>Strategic lever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434840"/>
            <a:ext cx="347472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1B2B3C"/>
                </a:solidFill>
                <a:latin typeface="Calibri"/>
              </a:rPr>
              <a:t>Protect margin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8" y="5212080"/>
            <a:ext cx="10652760" cy="54864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321808"/>
            <a:ext cx="9144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Executive call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230368"/>
            <a:ext cx="841248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Calibri"/>
              </a:rPr>
              <a:t>The model changes before the category disappears.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Storm Research | Executive Briefing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Winning firms package outcomes, not effort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What leaders should do now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0588752" cy="4389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47672"/>
            <a:ext cx="3657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20240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1B2B3C"/>
                </a:solidFill>
                <a:latin typeface="Calibri"/>
              </a:rPr>
              <a:t>Stop selling raw build hours as the product.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505456"/>
            <a:ext cx="10588752" cy="4389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06039"/>
            <a:ext cx="3657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578608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1B2B3C"/>
                </a:solidFill>
                <a:latin typeface="Calibri"/>
              </a:rPr>
              <a:t>Use agents for first-pass mapping, config diffs, and documentation.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63824"/>
            <a:ext cx="10588752" cy="4389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264408"/>
            <a:ext cx="3657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23697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1B2B3C"/>
                </a:solidFill>
                <a:latin typeface="Calibri"/>
              </a:rPr>
              <a:t>Build reusable implementation playbooks and validators.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822191"/>
            <a:ext cx="10588752" cy="4389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922776"/>
            <a:ext cx="3657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895344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1B2B3C"/>
                </a:solidFill>
                <a:latin typeface="Calibri"/>
              </a:rPr>
              <a:t>Price for risk reduction, milestones, and acceptance.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480560"/>
            <a:ext cx="10588752" cy="4389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581144"/>
            <a:ext cx="3657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553712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1B2B3C"/>
                </a:solidFill>
                <a:latin typeface="Calibri"/>
              </a:rPr>
              <a:t>Train consultants as agent supervisors and translators.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57800"/>
            <a:ext cx="10588752" cy="50292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376672"/>
            <a:ext cx="91440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303520"/>
            <a:ext cx="83210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Calibri"/>
              </a:rPr>
              <a:t>Turn AI into throughput while keeping human ownership of outcomes.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Storm Research | Executive Briefing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Keep the claim discipline tight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What to say, what to soften, what to avoid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3328416" cy="265176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3328416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27432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SAFE TO ASSERT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304288"/>
            <a:ext cx="288036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AI tools are strong on bounded tasks.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834640"/>
            <a:ext cx="288036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Current agents are reliability-limited.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364991"/>
            <a:ext cx="288036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Governance and prompt-injection risks remain real.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874519"/>
            <a:ext cx="3328416" cy="265176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9976" y="1874519"/>
            <a:ext cx="3328416" cy="914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1993392"/>
            <a:ext cx="27432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B800"/>
                </a:solidFill>
                <a:latin typeface="Calibri"/>
              </a:rPr>
              <a:t>SAY WITH A CAVEAT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304288"/>
            <a:ext cx="288036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Consulting labor will compress first in junior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834640"/>
            <a:ext cx="288036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Historical analogies support role migration, not certainty.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3364991"/>
            <a:ext cx="288036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Market-size signals support margin pressure.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82712" y="1874519"/>
            <a:ext cx="3328416" cy="265176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82712" y="1874519"/>
            <a:ext cx="3328416" cy="9144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2" y="1993392"/>
            <a:ext cx="27432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05A6B"/>
                </a:solidFill>
                <a:latin typeface="Calibri"/>
              </a:rPr>
              <a:t>DO NOT ASSERT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7304" y="2304288"/>
            <a:ext cx="288036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Agents will replace consultants outright.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7304" y="2834640"/>
            <a:ext cx="288036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Demo speed equals production ownership.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3364991"/>
            <a:ext cx="288036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Secondary market figures are primary proof.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Storm Research | Executive Briefing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996696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Reprice the implementation business around outcomes and accountability.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7180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The firms that win will combine automation with explicit human ownership of business results.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074920"/>
            <a:ext cx="10881360" cy="6858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239512"/>
            <a:ext cx="7315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5184648"/>
            <a:ext cx="96926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Calibri"/>
              </a:rPr>
              <a:t>Use agents to compress delivery cost. Keep humans accountable for the result.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Storm Research | Executive Briefing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