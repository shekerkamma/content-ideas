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465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5217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PROPOSAL · DONE-FOR-YOU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 AI Digital Employee
for Momentus Real Estate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Answer every lead in under 60 seconds. Never miss a transaction deadline. You manage nothing.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2743200" cy="54864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395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Live in 48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120640"/>
            <a:ext cx="2743200" cy="54864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2395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$5K / month, flat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79" y="5120640"/>
            <a:ext cx="2743200" cy="54864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52395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Fully managed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Prepared for Maureen Cappallo, Broker/Founder · Grapevine, DFW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What’s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complete proposal — problem, solution, proof, and the path to yes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01  The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Where boutique brokerages lose deals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91640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91640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810512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02  The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148840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What the status quo actually costs you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24328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03  Why The Usual Fixes 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81528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ISAs, CRMs, VAs, and DIY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624328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2624328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2743200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04  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3081528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 managed digital employee, three jobs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57016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57016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75888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05  Architecture &amp; How It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14216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What runs under the hood — you touch none of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3557016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007" y="3557016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3675888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06  Reliability, Security &amp; 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607" y="4014216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moat: fixed before anyone notices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89704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489704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60857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07  Engagement &amp; Onboarding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946904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Live in 48 hours; 30/60/90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4489704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3007" y="4489704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1607" y="460857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08  Proof &amp; Differentiation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1607" y="4946904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It already runs; why 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422392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422392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541264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09  Commercials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879592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Pricing, ROI, and the pilot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3007" y="5422392"/>
            <a:ext cx="5410047" cy="822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3007" y="5422392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1607" y="5541264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10  Fit &amp; The Ask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1607" y="5879592"/>
            <a:ext cx="504428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Why Momentus, and the next 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Leads You Already Pay For Are Leaking — We Stop The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10545775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BLUF: A managed AI “digital employee” responds to every lead in &lt;60s and tracks every deadline — reclaiming Maureen’s capacity to recruit and sell, for less than half the cost of one ISA.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3515258" cy="2468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351525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058058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Boutique brokerages lose deals in the 24h after a lead arrives — not from bad leads, from slow follow-up. 48% of agents never follow up at 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514600"/>
            <a:ext cx="3515258" cy="2468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251460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218" y="2606040"/>
            <a:ext cx="351525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3154680"/>
            <a:ext cx="3058058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ISAs cost $65–120K, turn over every 8–24 months, and only pencil above ~350 leads/mo. CRMs go unused. DIY AI just moves the work to ‘managing the bot’.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514600"/>
            <a:ext cx="3515258" cy="2468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7796" y="251460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7796" y="2606040"/>
            <a:ext cx="351525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3154680"/>
            <a:ext cx="3058058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Install a fully-managed digital employee — lead follow-up + transaction coordination + listing ops. Live in 48h. You approve outcomes; we run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41324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ASK:  A 2-week paid pilot — one live agent, one workflow, measured against your current follow-up. Decide on the proof, not the promise.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Where DFW boutique brokerages lose deals right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Boutique Brokerages Are Caught Between Growth And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Market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The market is huge and underserved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BPO/back-office is a $92B+ market; 52% of real-estate teams now use a virtual assistant. Demand for ‘someone to handle the ops’ is mainstream — supply is broken.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Enterprise help skips the small 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National BPOs (Accenture, Teleperformance) won’t economically serve a sub-50-agent brokerage. The boutique is structurally abandoned.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AI made serving SMBs viable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Falling model costs put a ‘digital employee’ within reach of a boutique for the first time — the economics finally work for both sides.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But the broker is the constraint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Growth adds admin, follow-up, and tools faster than hours in the day. Capacity — not leads — is what caps a boutique’s growth.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Problem Isn’t Lead-Gen — It’s The 24 Hours After A Lead Arrives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silent killer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73152" cy="2743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8928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92808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No instant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04872"/>
            <a:ext cx="2999232" cy="18745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Leads arrive while you’re showing homes or at a closing. By the time you circle back, they’ve already talked to a faster 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691640"/>
            <a:ext cx="3456432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691640"/>
            <a:ext cx="73152" cy="2743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8928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38528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1892808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No follow-up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404872"/>
            <a:ext cx="2999232" cy="18745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80% of deals need 5+ touches; 48% of agents never follow up once. Attempts 5–12 are where deals close.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7264" y="1691640"/>
            <a:ext cx="3447288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27264" y="1691640"/>
            <a:ext cx="73152" cy="27432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8432" y="18928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2" y="1938528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1892808"/>
            <a:ext cx="253288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No single source of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404872"/>
            <a:ext cx="2990088" cy="18745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Leads scattered across Zillow, IG, forms, email. The hand-raisers get the same (no) attention as the tire-kickers.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09160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73152" cy="10972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8463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What brokers actually say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16636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“Leads are coming in… but deals are still falling through. Not because of bad leads — because of follow-up.”  — BiggerPockets,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16636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1">
                <a:solidFill>
                  <a:srgbClr val="E0F7F1"/>
                </a:solidFill>
                <a:latin typeface="Calibri"/>
              </a:rPr>
              <a:t>“Leads are coming in… but deals are still falling through — because of follow-up.”  — BiggerPockets,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Speed Is The Whole Game — And It’s Measured In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Speed-to-lead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21×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more likely to 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lead contacted &lt;5 min vs &gt;30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7×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more meaningful talks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contacting within 1 hour (HubSpot)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48%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never follow up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of agents, after the first attempt (NAR)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631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5–12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touches to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783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most conversions happen after attempt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human can’t answer in 5 minutes while showing a house. An always-on agent can — every time, day or night. This single capability is the difference between a pipeline and a revolving door.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Follow-Up Gap Is Where Commission Quietly Disappears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conversion leak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4434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The lead comes in Thursday afternoon. You see it Friday morning. By Friday afternoon, someone else has talked to them.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Calling once and giving up is the most common mistake — yet 80% of sales need 5+ follow-up touches.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It isn’t lead quality. You’re getting good leads; you’re just not talking to them fast enough, in the right way.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A solo agent juggling response time, scoring, nurture, and data quality will always lose to a team with a dedicated follow-up function.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reframe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You don’t need more leads. You need to stop leaking the ones you’ve already paid for — and that’s a systems problem, not an effort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Behind The Sale: Transaction Coordination Buries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Operational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30–60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admin tasks /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between contract and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450–900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open tasks at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across a 15–30 file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15–20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files = the 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where quality starts to slip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631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34%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of failures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783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are lender-doc delays not caught in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Why it breaks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No human reliably tracks hundreds of contract-relative deadlines across parallel files. A missed contingency can cost a client earnest money — and cost you the relationship and referral.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Owner Becomes The Bottleneck — Wearing Every 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broker-owner trap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23774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‘tech Frankenstein’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Brokers duct-tape a CRM, a transaction tool, a website builder, and a dozen tools that won’t talk to each other — spending thousands/month and becoming an unpaid IT consultant, marketing director, and compliance officer.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1783080"/>
            <a:ext cx="5285232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59" y="1783080"/>
            <a:ext cx="73152" cy="237744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human glue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3774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When no tool owns the whole journey, the broker becomes the brain connecting them — checking if things went out, moving data between systems, the bottleneck when it gets busy.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1094415" cy="13258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73152" cy="13258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52628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quiet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46320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“You end up spending more time managing your tools than the tools spend managing your business.” The growth you fought for becomes the thing drowning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Pattern: A Systems Problem Disguised As Dedication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owner’s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4434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The broker equates doing everything with caring — so the business runs entirely on their attention.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Leaked deals get explained as ‘bad leads’ because the alternative — ‘I was too slow’ — indicts them.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The honest version, from a 32-agent broker: broker + admin + trainer + tech support + therapist, all at once.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The belief that keeps them stuck: ‘If I want it done right, I have to do it myself.’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unlock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You’re not wearing every hat because you care. You’re wearing them because nothing has a hook to hang on yet. We build the hooks.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 Their Own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Voice of the market — verbatim, last 12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15258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10377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1B2B3C"/>
                </a:solidFill>
                <a:latin typeface="Calibri"/>
              </a:rPr>
              <a:t>“The silent killer is what happens in the 24 hours after a lead arrives.”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99232"/>
            <a:ext cx="310377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— BiggerPockets,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37360"/>
            <a:ext cx="3515258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37360"/>
            <a:ext cx="73152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920240"/>
            <a:ext cx="310377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1B2B3C"/>
                </a:solidFill>
                <a:latin typeface="Calibri"/>
              </a:rPr>
              <a:t>“I still don’t know what half the buttons do, and I’ve been on it for a year.”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999232"/>
            <a:ext cx="310377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— Agent on kvCORE, HACK/re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37360"/>
            <a:ext cx="3515258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37360"/>
            <a:ext cx="73152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1920240"/>
            <a:ext cx="310377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1B2B3C"/>
                </a:solidFill>
                <a:latin typeface="Calibri"/>
              </a:rPr>
              <a:t>“It’s 11pm and you’re on Indeed scrolling ISA listings because nobody follows up fast enough.”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2999232"/>
            <a:ext cx="310377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— RobinFlow,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39"/>
            <a:ext cx="3515258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39"/>
            <a:ext cx="73152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310377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1B2B3C"/>
                </a:solidFill>
                <a:latin typeface="Calibri"/>
              </a:rPr>
              <a:t>“Agents are now drowning in tools AND paperwork, not one or the other.”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82312"/>
            <a:ext cx="310377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— Signed to Keys,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8218" y="3520439"/>
            <a:ext cx="3515258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8218" y="3520439"/>
            <a:ext cx="73152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6818" y="3703320"/>
            <a:ext cx="310377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1B2B3C"/>
                </a:solidFill>
                <a:latin typeface="Calibri"/>
              </a:rPr>
              <a:t>“An OpenClaw agent might handle tasks — but now you manage the system that does the admin.”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6818" y="4782312"/>
            <a:ext cx="310377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— REdelegate,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7796" y="3520439"/>
            <a:ext cx="3515258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7796" y="3520439"/>
            <a:ext cx="73152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6396" y="3703320"/>
            <a:ext cx="310377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1B2B3C"/>
                </a:solidFill>
                <a:latin typeface="Calibri"/>
              </a:rPr>
              <a:t>“On a pipeline of 15–30 files, the aggregate load is crushing — the #1 reason agents burn out.”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396" y="4782312"/>
            <a:ext cx="310377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— Signed to Keys,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What the status quo actually costs — in lost deals and wasted salary.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 /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Status Quo Has A Price, Paid Every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Quantifying the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21×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conversion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when response slips past 30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$65–120K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loaded ISA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per year, before turnover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~350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leads/mo to break even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on an ISA — most boutiques never hit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631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450+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tasks in flight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783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across 15–30 files, where deadlines slip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You already pay for the leads. The choice is whether to keep leaking them — or convert them with an always-on employee that costs less than half an ISA and never quits, trains, or takes a day off.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ISA Math Rarely Pencils For A Boutique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Cost deep-dive: the human ISA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182880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Amount /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1828800"/>
            <a:ext cx="4416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64008" cy="7132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22576"/>
            <a:ext cx="31089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Base salary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322576"/>
            <a:ext cx="301752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$40–60K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22576"/>
            <a:ext cx="4416552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competent ISA,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44368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44368"/>
            <a:ext cx="64008" cy="71323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72384"/>
            <a:ext cx="31089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Benefits + tools +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3072384"/>
            <a:ext cx="301752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+40–60%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3072384"/>
            <a:ext cx="4416552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the hidden load on top of salary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94176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64008" cy="71323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22191"/>
            <a:ext cx="31089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Ramp (30–50% productivity)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822191"/>
            <a:ext cx="301752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$15–25K lost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3822191"/>
            <a:ext cx="4416552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3–6 month ramp at full pay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43984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443984"/>
            <a:ext cx="64008" cy="7132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72000"/>
            <a:ext cx="31089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Turnover (every 8–24 mo)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4572000"/>
            <a:ext cx="301752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$15–30K / 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572000"/>
            <a:ext cx="4416552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many cycle through 2–3 before one sticks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93792"/>
            <a:ext cx="11094415" cy="7132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93792"/>
            <a:ext cx="64008" cy="7132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321808"/>
            <a:ext cx="310896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Fully loaded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0208" y="5321808"/>
            <a:ext cx="3017520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$65–120K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5321808"/>
            <a:ext cx="4416552" cy="49377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and it only pencils above ~350 leads/mo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34924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4864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Verdict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8064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For a sub-50-agent boutique below the ~350-lead threshold, an ISA is a fixed cost against unpredictable lead flow — overpaying for coverage you don’t fully use.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And The CRM You Bought Is Mostly Unused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Cost deep-dive: tool waste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30–40% feature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Most users engage a third of what they pay for; advanced CRMs take weeks to learn.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‘Built for brokers, not agents’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Agent-level adoption is uneven — the tool nobody opens doesn’t convert leads.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Migration is dangerous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One documented CRM switch cost $340K in lost transactions, turnover, and re-training.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Support is thin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‘Second account manager in 9 months and can’t reach him’ — a few thousand/month for friction.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Tooling promised efficiency and delivered overhead. The trusted message now is outcome + zero-management — not another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Annualized, The Leak Dwarfs The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compounding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Lost deals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Even a handful of leaked leads per quarter at DFW commission levels is tens of thousands in GCI walking out the door — silently, every year.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Wasted salary &amp;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An underutilized ISA + an unused CRM can run $80–130K/year combined, with the broker still doing the glue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Owner opportunity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Every hour on admin is an hour not recruiting agents or winning listings — the actual growth levers of a brokerage.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Burnout &amp; turnover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owner-as-bottleneck model caps growth and risks the founder’s health — the least-insured asset in the business.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The Usual Fixes Fail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Every option you’ve been sold leaves the work on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18 /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Every Fix Leaves The Work On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828800"/>
            <a:ext cx="1920239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Why they tried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82880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Why it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828800"/>
            <a:ext cx="33192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#1 complaint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64008" cy="76809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Do it yourself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22576"/>
            <a:ext cx="19202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322576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Mental load exceeds capacity at 15–30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22576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You become the bottleneck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99232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64008" cy="76809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27248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Hire an ISA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127248"/>
            <a:ext cx="19202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Speed-to-lead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127248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8–24mo turnover; pencils only &gt;350 leads/mo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127248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$65–120K + you manage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03904"/>
            <a:ext cx="64008" cy="768096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3192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Hire a 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3931920"/>
            <a:ext cx="19202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Cheaper, flexible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93192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Trust/quality; still needs managing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931920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Drowning in tools AND paperwork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08576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08576"/>
            <a:ext cx="64008" cy="768096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736592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Buy kvCORE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4736592"/>
            <a:ext cx="19202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All-in-one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4736592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Weeks of training; 30–40% feature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736592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“Don’t know half the buttons”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13248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413248"/>
            <a:ext cx="64008" cy="76809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541264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DIY AI (OpenClaw)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4368" y="5541264"/>
            <a:ext cx="19202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Cheap autonomy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5541264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Maintenance lands on 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5541264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You manage the bot that does the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8F75"/>
                </a:solidFill>
                <a:latin typeface="Calibri"/>
              </a:rPr>
              <a:t>The gap nobody fills: a fully-managed employee where the broker does nothing but approve outcomes.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Human ISA vs. VA vs. Managed AI —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Option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8288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Human 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8288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Virtual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7" y="1828800"/>
            <a:ext cx="2679191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Managed AI Employee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Response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322576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Business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322576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Business hours / TZ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7" y="2322576"/>
            <a:ext cx="26791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&lt;60s, 24/7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99232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2724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Ramp to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12724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3–6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312724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2–6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3127248"/>
            <a:ext cx="26791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48 hours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03904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3192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Turnover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93192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Every 8–24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192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7" y="3931920"/>
            <a:ext cx="26791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08576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08576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736592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Monthly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4736592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$5.5–10K loaded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736592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$1.2–2.4K + mgmt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7" y="4736592"/>
            <a:ext cx="26791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$5K, fully managed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13248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413248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541264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Who manages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5541264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You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5541264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7" y="5541264"/>
            <a:ext cx="2679191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We do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34924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34924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4864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Net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58064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managed AI employee wins on speed, ramp, reliability, and — crucially — removes the management burden entirely.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61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DIY-AI Trap: You Just Trade One Job For Another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Why ‘build it yourself’ backfires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4434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Spinning up an OpenClaw / DIY agent looks cheap — until it becomes a second job.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“Once configured, an OpenClaw agent might handle tasks automatically. But the mental load of monitoring, updating, and fixing it when it breaks doesn’t go away.”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“It moves from doing the admin to managing the system that does the admin.” — REdelegate, 2026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For a busy broker, that invisible, ongoing overhead is harder to offload than the admin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Our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This is exactly the burden a *managed* service removes. We run the system; you never monitor, update, or debug an agent. You approve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Unmet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we 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4415" cy="2011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0180015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“I want every lead answered and every deadline tracked —
without hiring, training, or babysitting anything.”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73152" cy="1371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43484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category we occupy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5488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Not software (you’d configure it). Not staffing (you’d manage it). Not DIY AI (you’d maintain it). A managed outcome — a digital employee, run for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A managed digital employee — sold as an outcome, not a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23 /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Our Thesis: Sell A Digital Employee, Not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core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An employee, not an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You don’t learn it, configure it, or log into it. It has a name, an inbox, and a job — like a hire, minus the hiring.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Outcomes, not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talk in deals saved and hours returned, never tokens or dashboards. The measure is your business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Abundance, simply priced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Unlimited requests, one flat fee, no usage anxiety. Simplicity is what makes the ‘yes’ fast and the relationship calm.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Fully managed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Infrastructure, models, monitoring, security, and fixes are ours. Your only job is to approve the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One Digital Employee, Three Jobs Done —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we deliver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15258" cy="3291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Lead 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05805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Answers every inbound lead in &lt;60s, 24/7, across phone, text, email. Runs the 8–12 touch nurture so no hand-raiser goes cold.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97680"/>
            <a:ext cx="3058058" cy="54864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07408"/>
            <a:ext cx="30580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8F75"/>
                </a:solidFill>
                <a:latin typeface="Calibri"/>
              </a:rPr>
              <a:t>Sub-60s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098" y="1901952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Transaction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606040"/>
            <a:ext cx="305805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Auto-creates each file at contract, calculates all deadlines, fires 5-day / 2-day / day-of alerts so nothing slips.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6818" y="4297680"/>
            <a:ext cx="3058058" cy="54864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818" y="4407408"/>
            <a:ext cx="30580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8F75"/>
                </a:solidFill>
                <a:latin typeface="Calibri"/>
              </a:rPr>
              <a:t>Zero missed deadlines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737360"/>
            <a:ext cx="3515258" cy="3291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0676" y="1901952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Listing &amp; Marketing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606040"/>
            <a:ext cx="305805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Drafts listing copy, schedules social, builds market reports, and keeps your CRM actually updated — on your brand voice.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56396" y="4297680"/>
            <a:ext cx="3058058" cy="54864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6396" y="4407408"/>
            <a:ext cx="30580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8F75"/>
                </a:solidFill>
                <a:latin typeface="Calibri"/>
              </a:rPr>
              <a:t>Hours back per week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94415" cy="6400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12080"/>
            <a:ext cx="73152" cy="640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Tailored to Momentus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669280"/>
            <a:ext cx="10545775" cy="914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Veteran &amp; first-time-buyer workflows and your ‘Care, Clarity, Confidence’ voice — baked in from day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Workstream 1 — Lead Follow-Up, In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Speed + persistence, automated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Instant first touch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Replies in &lt;60s by text + email the moment a lead lands, any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Qualify &amp;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Asks the right questions, scores intent, books a showing or callback.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Persistent nurture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Runs the 8–12 touch sequence over weeks so slow-to-decide leads stay warm.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Clean CRM, always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Logs every interaction into FUB/kvCORE so the pipeline is finally trustworthy.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Workstream 2 — Transaction Coordination, In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Deadlines that never slip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Auto file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Creates the file at contract execution and populates all party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Deadline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Calculates every contract-relative date — no manual math, no 18% date errors.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Three-tier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Advisory at 5 days, warning at 2, critical day-of — to the TC and the agent.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Document chase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Requests and tracks signatures and disclosures, escalating only exceptions.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Workstream 3 — Listing &amp; Marketing Ops, In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On your brand, on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Listing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Drafts MLS copy, descriptions, and email blasts in the Momentus voice.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Social 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Schedules and posts consistently so the brand stays visible without your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Market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Generates farm-area and seller reports on demand for listing appointments.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Sphere nurture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Keeps past clients and the database warm for repeat and referral business.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2697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FFFFF"/>
                </a:solidFill>
                <a:latin typeface="Calibri"/>
              </a:rPr>
              <a:t>“Mia” — Your Lead
Response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100584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46888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A1628"/>
                </a:solidFill>
                <a:latin typeface="Calibri"/>
              </a:rPr>
              <a:t>A named digital employee with her own inbox, living on a secure cloud computer — she works your leads while you sleep.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DEPLOYS IN 48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How Mia Realizes The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143000"/>
            <a:ext cx="4023360" cy="13716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2618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72768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 Zillow lead lands at 9pm. The broker is at dinner. Three other agents call back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143000"/>
            <a:ext cx="4023360" cy="13716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2618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572768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Mia replies in &lt;60s, qualifies, books the showing or callback, and logs it — before a competitor even sees the lead.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697480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&lt;60s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07792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2697480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24/7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907792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2697480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5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8–12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9296" y="2907792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nurture touches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74903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Lead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Reply &lt;60s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Qualify+book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Log to CRM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19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2719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9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Nurture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66160" y="480060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4910328"/>
            <a:ext cx="795527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STACK:  Hermes harness · Composio (auth+tools) · Agent Mail · Obsidian context · GPT-5.5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54406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39" y="55321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SYSTEMS:  FUB/kvCORE · Zillow · Calendar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4406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55321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USERS:  Broker · Agents · Coordinator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2697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FFFFF"/>
                </a:solidFill>
                <a:latin typeface="Calibri"/>
              </a:rPr>
              <a:t>“Theo” — Your
Deadline Guardian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468880"/>
            <a:ext cx="269748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transaction-coordination agent that holds every deadline across every open file — so nothing slips and no client loses earnest money.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E&amp;O RISK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How Theo Realizes The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143000"/>
            <a:ext cx="4023360" cy="13716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2618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72768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 lender-doc deadline slips on one file while the TC is heads-down on three others. The buyer’s earnest money is at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143000"/>
            <a:ext cx="4023360" cy="13716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2618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8F75"/>
                </a:solidFill>
                <a:latin typeface="Calibri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572768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Theo tracks all contract-relative dates across every file and escalates the exception — the human only handles what truly needs judgment.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697480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788920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907792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missed deadlines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2697480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788920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3-tier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907792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2697480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5" y="2788920"/>
            <a:ext cx="1143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35–45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5015" y="2907792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files / 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74903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Contract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Dates calc’d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Tasks 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Tiered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19" y="4114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2719" y="4069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9" y="417880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8F75"/>
                </a:solidFill>
                <a:latin typeface="Calibri"/>
              </a:rPr>
              <a:t>Escalate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66160" y="480060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4910328"/>
            <a:ext cx="795527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F7F1"/>
                </a:solidFill>
                <a:latin typeface="Calibri"/>
              </a:rPr>
              <a:t>STACK:  Hermes harness · Composio · Obsidian (deadline rules) · GPT-5.5 · scheduled crons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54406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39" y="55321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SYSTEMS:  TX mgmt · DocuSign · Calendar · Email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4406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55321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USERS:  Coordinator · Agents · Clients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Principles That Keep This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Product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15258" cy="17830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29968"/>
            <a:ext cx="307634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Remove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42032"/>
            <a:ext cx="305805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client never thinks about tokens, infra, or security. It just 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828800"/>
            <a:ext cx="3515258" cy="17830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828800"/>
            <a:ext cx="73152" cy="17830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2029968"/>
            <a:ext cx="307634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Create abundance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542032"/>
            <a:ext cx="305805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Unlimited requests; we control cost behind the scenes so you never 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828800"/>
            <a:ext cx="3515258" cy="17830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828800"/>
            <a:ext cx="73152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2029968"/>
            <a:ext cx="307634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Go vertical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542032"/>
            <a:ext cx="305805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Generic agents lose. Yours is tuned to real-estate and the Momentus brand.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3515258" cy="17830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73152" cy="17830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041648"/>
            <a:ext cx="307634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Talk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553712"/>
            <a:ext cx="305805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Revenue and hours, not ‘time saved’ — the metric the business actually feels.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8218" y="3840480"/>
            <a:ext cx="3515258" cy="17830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8218" y="3840480"/>
            <a:ext cx="73152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4250" y="4041648"/>
            <a:ext cx="307634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Stay model-agnostic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4250" y="4553712"/>
            <a:ext cx="305805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swap to the best/cheapest model as the market moves; you never re-platform.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7796" y="3840480"/>
            <a:ext cx="3515258" cy="17830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7796" y="3840480"/>
            <a:ext cx="73152" cy="17830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3828" y="4041648"/>
            <a:ext cx="307634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Improve weekly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3828" y="4553712"/>
            <a:ext cx="305805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agent gets better every week — a relationship, not a one-time setup.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Architecture &amp;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What runs under the hood — you touch none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32 /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Under The Hood: A Managed, Layered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 architecture</a:t>
            </a:r>
          </a:p>
        </p:txBody>
      </p:sp>
      <p:pic>
        <p:nvPicPr>
          <p:cNvPr id="7" name="Picture 6" descr="solo-agent-agency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590" y="1417320"/>
            <a:ext cx="6664514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5B6B7C"/>
                </a:solidFill>
                <a:latin typeface="Calibri"/>
              </a:rPr>
              <a:t>Seven layers — channels → ops → control plane → per-client runtime → capabilities → model router → reliability. You touch none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Architecture, Top Half: From Client To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Layer walkthrough (1 of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① Clients &amp;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Your team and leads reach the agent where they already are — text, email, web, voice.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② Delivery &amp; Client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simple board (Trello), meeting notes (Granola), and Loom updates — your window 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③ Control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meta-agent provisions, configures, and repairs your agents via one connector. The leverage point.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④ Per-Client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Your dedicated agent(s) live on an isolated, secure cloud computer — yours alone.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34 /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Architecture, Bottom Half: Capabilities To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Layer walkthrough (2 of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⑤ Capabilities &amp;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Composio connects 1,000s of apps with managed auth; Obsidian holds your brand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⑥ Model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GPT-5.5 by default, swappable to cheaper/stronger models — your cost lever, invisible to you.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⑦ Reliability &amp; 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Watchdog + failure alerts keep it running; we’re paged, not you.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Security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Per-client sandbox, no shared credentials, deletable in &lt;1s — isolation by design.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You Approve Outcomes. We Run Everything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operating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962851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962851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779971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1 ·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06040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You drop a request in one place — or a lead just arrives.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9779" y="3017520"/>
            <a:ext cx="3017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1531" y="1920240"/>
            <a:ext cx="1962851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1531" y="1920240"/>
            <a:ext cx="1962851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2971" y="2011680"/>
            <a:ext cx="1779971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2 · We provision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6123" y="2606040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Our control-plane agent configures your agent on a secure cloud computer.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2670" y="3017520"/>
            <a:ext cx="3017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4422" y="1920240"/>
            <a:ext cx="1962851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4422" y="1920240"/>
            <a:ext cx="1962851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5862" y="2011680"/>
            <a:ext cx="1779971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3 · Agent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9014" y="2606040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It uses your tools, CRM, and brand context to do the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561" y="3017520"/>
            <a:ext cx="3017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313" y="1920240"/>
            <a:ext cx="1962851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97313" y="1920240"/>
            <a:ext cx="1962851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753" y="2011680"/>
            <a:ext cx="1779971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4 · We 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1905" y="2606040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Watchdog auto-restarts breaks; failures alert us, not you.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8452" y="3017520"/>
            <a:ext cx="3017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0204" y="1920240"/>
            <a:ext cx="1962851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80204" y="1920240"/>
            <a:ext cx="1962851" cy="50292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1644" y="2011680"/>
            <a:ext cx="1779971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5 · You get the 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4796" y="2606040"/>
            <a:ext cx="163366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Faster responses, closed deadlines, hours back — improved weekly.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937760"/>
            <a:ext cx="73152" cy="8686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0749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3949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More agents is the answer — an agent builds and repairs your agents, which is why one operator runs this without it becoming your second job.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394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More agents is the answer — an agent builds and repairs your agents, so one operator runs this without it becoming your second job.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Leverage: An Agent That Builds Your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control-plane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4434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Setup is the historic time-sink — auth, configuration, connecting tools. We automate it with a control agent.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One connector manages every client computer, so fixes and upgrades happen from anywhere, in seconds.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That’s why a boutique-grade service can be delivered reliably without a 20-person ops team behind it.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For you it means: faster onboarding, faster fixes, and a service that scales with you, not against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Why you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Lower delivery cost and faster response on our side translate directly into your 48-hour go-live and same-day fixes.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Reliability, Security &amp;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The moat: we fix it before you — or your client — notices.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38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We Fix It Before You — Or Your Client — Notices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Reliability &amp; 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Watchdog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Auto-restarts crashed chat gateways so the agent never goes silent mid-conversation.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Failure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If a task or schedule fails, the agent emails US — we fix it before it reaches a client.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Weekly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Every week the agent’s skills and context get sharper — reliability compounds.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Always-on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24/7/365 — no sick days, no vacations, no Monday-morning ramp.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Your clients become dependent on the agent fast. The reliability layer is what keeps that dependence a delight, not a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39 /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Security &amp; Isolation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Per-client 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Your agent runs in a dedicated, isolated cloud VM — never shared with another client.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Managed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Tool access is brokered through Composio — no passwords emailed, no credentials on your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Small blast radius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compromised or misbehaving agent is contained and deletable in under a second.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Your data stays yours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 lives in your vault; you own it, and it’s portable if you ever leave.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40 /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Human-In-The-Loop Where Judgment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we keep it safe with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4434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The agent drafts; a human signs off on anything client-facing that requires judgment.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High-stakes verticals (legal-style language, sensitive negotiations) stay copilot, by design — not a limitation.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A documented industry lesson: clients pay MORE for assurance — a legal AI pivoted to human-in-loop at a higher price.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You always control the boundary between ‘agent decides’ and ‘human decides.’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Full automation on the repetitive 90%; human judgment on the 10% that protects your brand and your client relationships.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41 /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Our Service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you can hold us 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Commitment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8288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7" y="1828800"/>
            <a:ext cx="39593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How we back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22576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Lead response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322576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Under 60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2322576"/>
            <a:ext cx="39593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Always-on agent +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99232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99232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27248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Time to first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12724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48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3127248"/>
            <a:ext cx="39593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Automated, control-plane provisioning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03904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03904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3192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Deadline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9319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Zero silent misses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931920"/>
            <a:ext cx="39593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3-tier alerts + escalation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08576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608576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36592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Issue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736592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Before the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4736592"/>
            <a:ext cx="39593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Failure alerts route to 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13248"/>
            <a:ext cx="11094415" cy="76809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413248"/>
            <a:ext cx="64008" cy="7680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541264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Improvement cadence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54126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Weekly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7" y="5541264"/>
            <a:ext cx="3959352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Loom updates + iteration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42 /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Engagement &amp; Onboarding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Live in 48 hours; compounding from week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43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Live In 48 Hours. Compounding From Week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Onboarding &amp;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1143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FIRST 48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Kickoff call → connect CRM + lead sources → stand up your agent on a secure VM → load Momentus brand voice → first live lead answered.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3515258" cy="2103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351525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3323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DAYS 1–30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Lead follow-up live; nurture running; weekly Loom updates; baseline metrics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3108960"/>
            <a:ext cx="3515258" cy="2103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8218" y="3108960"/>
            <a:ext cx="351525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3200400"/>
            <a:ext cx="33323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DAYS 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3749039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Add the transaction-coordination agent; deadline alerts active; first case-study numbers.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3108960"/>
            <a:ext cx="3515258" cy="2103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796" y="3108960"/>
            <a:ext cx="351525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3200400"/>
            <a:ext cx="33323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DAYS 61–90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3749039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Listing/marketing ops + vertical (veteran/first-time) skills; review, expand, or hold.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8F75"/>
                </a:solidFill>
                <a:latin typeface="Calibri"/>
              </a:rPr>
              <a:t>No 90-day ramp. No training plan. No replacement search when someone quits.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44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We’ll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Ways of working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Single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One place to request work (board or chat). We cap to 1–2 requests / 48h to keep quality high.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Async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Loom walkthroughs whenever we ship a change — watch on your time, not in a meeting.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Light 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short weekly check-in; otherwise the agent runs and you get your time 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 human on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When something needs judgment or a fix, a real person responds — fast.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45 /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Who Does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Roles &amp; responsibilities (RACI)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1828800"/>
            <a:ext cx="3291839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You / Momentus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7" y="1828800"/>
            <a:ext cx="33192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2257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Define priorities &amp; brand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22576"/>
            <a:ext cx="32918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Accountable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7" y="2322576"/>
            <a:ext cx="33192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6265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Build, deploy &amp; maintain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962656"/>
            <a:ext cx="32918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Inform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962656"/>
            <a:ext cx="33192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Responsible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0273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Connect CRM &amp; lead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602736"/>
            <a:ext cx="32918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Consulted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7" y="3602736"/>
            <a:ext cx="33192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Responsible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24281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Approve client-facing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4242816"/>
            <a:ext cx="32918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Accountable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7" y="4242816"/>
            <a:ext cx="33192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Recommend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5488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88289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Monitoring, fixes &amp; upgrades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882896"/>
            <a:ext cx="32918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Inform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7" y="4882896"/>
            <a:ext cx="33192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Responsible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9496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39496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52297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Measure results &amp; iterate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5522976"/>
            <a:ext cx="3291839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Consulted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7" y="5522976"/>
            <a:ext cx="331927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Responsible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46 /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We’ll Measure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KPIs &amp; success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median, per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target: under 60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Speed-to-lead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&lt;5 min contact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target: 90%+ of inbound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Deadline misses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target: zero silent misses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631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Owner hours saved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783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tracked and reported monthly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57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Baseline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We capture your current numbers in week one, so every improvement is measured against your real starting point — not a generic benchmark.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47 /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Proof &amp; Differentiation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It already runs. Here’s why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48 /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This Already Runs — Proof, Not A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Demonstrated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35661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Summit Realty Group — DFW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 working AI dashboard agent built for a DFW brokerage — the same pattern we deploy for your agent: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Agent operates a real computer — visible, demoable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Connects to live data + tools via one connector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Does real research and real work on screen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4690872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73152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Why a live demo wins the 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1460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Brokers struggle to picture ‘an AI that does work.’ When they watch an agent operate a computer — search, qualify, book — it stops being abstract. The screen sells the trust a slide never can.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43484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79" y="45537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8F75"/>
                </a:solidFill>
                <a:latin typeface="Calibri"/>
              </a:rPr>
              <a:t>We can run a live demo on your real lead flow in the pilot.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49 /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Us, Specifically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Differentiation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Managed, not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remove the operator role — you never monitor, update, or debug an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Real-estate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Built around lead follow-up, TC, and listing ops — not a generic chatbot.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Proof in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working DFW brokerage demo today — we show, we don’t just tell.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Outcome-priced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Flat fee, abundance offer, no usage anxiety — aligned to your result, not our usage.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50 /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Risks — Named, And How We Handle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Risk &amp;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828800"/>
            <a:ext cx="63367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22576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Agent breaks / goes silent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322576"/>
            <a:ext cx="633679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Watchdog auto-restart + failure alerts to us; same-day fixes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962656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Client data /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962656"/>
            <a:ext cx="633679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Per-client sandbox, managed auth, no shared credentials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02736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Agent embarrasses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602736"/>
            <a:ext cx="633679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Human-in-the-loop on client-facing judgment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42816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Model price / availability shifts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242816"/>
            <a:ext cx="633679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Model-agnostic router; we swap without re-platforming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488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82896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‘Another tool to manage’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4882896"/>
            <a:ext cx="633679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Fully managed — you approve outcomes, we run the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394960"/>
            <a:ext cx="64008" cy="6035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522976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Lock-in worry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5522976"/>
            <a:ext cx="6336792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You own the context and workflows; portable if you leave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51 /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Commercials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Simple, flat, all-inclusive — and proven before you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52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Simple, Flat, All-Inclusive — No Tokens, No Surprises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Pricing &amp; packaging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4846320" cy="36576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MANAGED DIGITAL 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B800"/>
                </a:solidFill>
                <a:latin typeface="Calibri"/>
              </a:rPr>
              <a:t>$5,000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per month · flat · cancel anytime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Unlimited requests (scoped 1–2 / 48h)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All infrastructure, models &amp; tools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Monitoring, security &amp; weekly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83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Loom updates + a human on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79" y="1783080"/>
            <a:ext cx="5422392" cy="1691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You never pay for, or manage: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Tokens, usage, or credits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24912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Servers, VMs, or model subscriptions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072384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An ISA salary, benefits, or turnover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9" y="3657600"/>
            <a:ext cx="5422392" cy="17830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79" y="3657600"/>
            <a:ext cx="73152" cy="1783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840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Start with a 2-week paid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25196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One agent, one workflow, measured against your current follow-up. Roll into the monthly only if the numbers land. The risk is ours to prove.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53 /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What’s Included — And What You’ll Never Touch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Scope clarity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8F75"/>
                </a:solidFill>
                <a:latin typeface="Calibri"/>
              </a:rPr>
              <a:t>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212080" cy="3657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Lead follow-up agent (24/7, &lt;60s)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Transaction-coordination agent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Listing &amp; marketing ops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CRM integration &amp; clean-up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Brand-voice tuning (Momentus)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Monitoring, security &amp; fixes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Weekly improvements + Loom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YOU’LL NEVER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•  Buying / managing model subscriptions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•  Standing up servers or VMs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•  Paying per token or per credit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•  Hiring, training, or replacing an ISA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•  Configuring or learning a new CRM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•  Debugging a broken automation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•  Being the ‘glue’ between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54 / 61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Math Works On A Single Saved Deal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Business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$5K / 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your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less than half a loaded 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1 deal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 break even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one extra closing per quarter pays the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21×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conversion 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leads answered &lt;5 min vs &gt;30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331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631" y="2039112"/>
            <a:ext cx="238498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862072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 manage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783" y="3383280"/>
            <a:ext cx="2238679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no hiring, training, turnover, or upkeep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73152" cy="10972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43484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The asymmetry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7548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Recovering even one leaked lead per quarter covers the entire annual cost — and you keep every closing after that, plus the hours to recruit agents and grow Momentus.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55 /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Start With Proof: The 2-Week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De-risked 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One agent, one workflow (lead follow-up) on your real lead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Response time and contact rate vs your current baseline — captured day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Roll into the monthly only if the numbers land. No long contract to start.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Ours. We prove the outcome before you commit to the relationship.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56 /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Fit &amp; 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Why Momentus — and the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57 /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This Fits Momentus Specifically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You already think in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Momentus markets a ‘proprietary intelligence layer’ and an ecosystem — a digital employee extends that thesis, it doesn’t fight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4175" y="1984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02996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198424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Growth mode, boutique feel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Founded 2024 and scaling without losing the boutique touch. The agent absorbs the operational load that usually forces a trade-off.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High-context niches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Veteran &amp; first-time-buyer journeys are follow-up- and education-heavy — exactly where instant response and patient nurture convert.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4175" y="38587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3904487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858768"/>
            <a:ext cx="4495647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Owner-led, time-starved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When the founder is broker, trainer, and ops, reclaiming hours is the highest- leverage move you can make.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58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This Goes Next For Momentus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Vertical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Quarter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Lead-response + TC agents live across the team; baseline beaten on speed-to-lead.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8424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Quarter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9631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Veteran &amp; first-time-buyer ‘Ready or Not?’ education flows automated end-to-end.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Quarter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Recruiting agent — Momentus’ growth engine, working candidates while you sell.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5760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57600"/>
            <a:ext cx="73152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858768"/>
            <a:ext cx="497113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Beyond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370832"/>
            <a:ext cx="495284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Momentus ‘intelligence layer’ that is real, running, and a recruiting differentiator.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59 /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Objections, Answered Plainly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Anticipated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You might think…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1828800"/>
            <a:ext cx="61539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reality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4008" cy="640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22576"/>
            <a:ext cx="4572000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“Is it secure with client data?”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322576"/>
            <a:ext cx="6153912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Per-client sandbox, managed auth, no shared credentials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71215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71215"/>
            <a:ext cx="64008" cy="640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999232"/>
            <a:ext cx="4572000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“Another tool I’ll manage?”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2999232"/>
            <a:ext cx="6153912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Fully managed — you approve outcomes, we run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47872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47872"/>
            <a:ext cx="64008" cy="640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75887"/>
            <a:ext cx="4572000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“Will it embarrass me?”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3675887"/>
            <a:ext cx="6153912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Human-in-the-loop on judgment; watchdog catches breaks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24528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24528"/>
            <a:ext cx="64008" cy="640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352544"/>
            <a:ext cx="4572000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“I already pay for kvCORE.”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352544"/>
            <a:ext cx="6153912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We sit on top and make the tool you abandoned get used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01184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64008" cy="640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9200"/>
            <a:ext cx="4572000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“$5K is a lot.”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5029200"/>
            <a:ext cx="6153912" cy="420623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1B2B3C"/>
                </a:solidFill>
                <a:latin typeface="Calibri"/>
              </a:rPr>
              <a:t>Less than half an ISA; one saved deal/quarter pays the 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60 / 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Let’s run a 2-week pilot.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One live agent on your real lead flow, measured against how you follow up today. You decide on the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454298" cy="15544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345429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30-min kickoff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scope the first workflow + connect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3977639"/>
            <a:ext cx="3454298" cy="15544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8698" y="3977639"/>
            <a:ext cx="345429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8698" y="4069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4526280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48h to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493776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your agent answering real leads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8756" y="3977639"/>
            <a:ext cx="3454298" cy="15544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8756" y="3977639"/>
            <a:ext cx="345429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8756" y="4069080"/>
            <a:ext cx="34542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1636" y="4526280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2-week readout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493776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metrics vs your baseline → go / no-go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Contact: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Prepared for Momentus Real Estate Group · Confidential |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61 / 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