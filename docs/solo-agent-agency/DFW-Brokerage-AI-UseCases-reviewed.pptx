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0"/>
            <a:ext cx="158465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5217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AI USE-CASE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950976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8 AI Use Cases for the DFW
Boutique Brokerage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8620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Eight detailed, pattern-selected agent use cases — KPI-baselined and mapped to 12 named prospects. Three run as the 90-day pilot.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12080"/>
            <a:ext cx="2743200" cy="54864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3095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8 detailed use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212080"/>
            <a:ext cx="2743200" cy="54864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533095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3 = the 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79" y="5212080"/>
            <a:ext cx="2743200" cy="54864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533095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Grounded on 12 prospects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80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Vertical: residential real estate (cross-industry) · DFW, 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Eight Use Cases, Four Patterns, Three In The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7772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1054577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BLUF: This is the full agent opportunity for a boutique brokerage — eight detailed use cases across lead, transaction, marketing, recruiting, pricing, database, voice, and compliance. We pilot exactly three in 90 days (each KPI-gated), then expand down the roadmap.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3515258" cy="23317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60320"/>
            <a:ext cx="3515258" cy="45720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351525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3058058" cy="1600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8 use cases spanning all four realization patterns — conversational tool-calling, Document AI, multi-agent orchestration, and structured-data grounding.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2560320"/>
            <a:ext cx="3515258" cy="23317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2560320"/>
            <a:ext cx="3515258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8218" y="2651760"/>
            <a:ext cx="351525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PILOT (3)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3200400"/>
            <a:ext cx="3058058" cy="1600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Lead Response, Transaction Coordination, Listing/Marketing Ops — the highest-frequency, fastest-ROI trio, each with a before/after KPI.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2560320"/>
            <a:ext cx="3515258" cy="23317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27796" y="2560320"/>
            <a:ext cx="3515258" cy="45720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7796" y="2651760"/>
            <a:ext cx="351525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THE ROADMAP (5)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3200400"/>
            <a:ext cx="3058058" cy="1600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Recruiting, CMA/Pricing, Database Reactivation, Voice Receptionist, Compliance Audit — sequenced after the pilot clears its gates.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120640"/>
            <a:ext cx="73152" cy="7772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THE 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577840"/>
            <a:ext cx="10545775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0A1628"/>
                </a:solidFill>
                <a:latin typeface="Calibri"/>
              </a:rPr>
              <a:t>Start the pilot with UC1 on one prospect’s live lead flow; expand by KPI gate through the eight-use-case roadmap.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How This Deck Is Organized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01  The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59736"/>
            <a:ext cx="4952847" cy="457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The DFW boutique vertical and what the 12 prospects 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86868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02  Catalog &amp;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59736"/>
            <a:ext cx="4952847" cy="457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All 8 use cases at a glance + pattern-selection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8036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08152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03  The 8 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557015"/>
            <a:ext cx="4952847" cy="457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Detailed card + realization for each — pilot and roadmap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2880360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2880360"/>
            <a:ext cx="73152" cy="86868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08152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04  Architecture &amp;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3557015"/>
            <a:ext cx="4952847" cy="457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The managed stack, hyperscaler options, defense-in-depth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77639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77639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178807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05  Governance &amp; Activation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654296"/>
            <a:ext cx="4952847" cy="457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Responsible AI, KPI matrix, 90-day plan, prospect mapping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007" y="3977639"/>
            <a:ext cx="5410047" cy="8686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007" y="3977639"/>
            <a:ext cx="73152" cy="86868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9039" y="4178807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Appendix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654296"/>
            <a:ext cx="4952847" cy="457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Consolidated KPI baseline + RAI/scope matrices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The DFW boutique vertical — grounded on 12 named prospects.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Vertical: Under-Served, People-Heavy, AI-Curious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we 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0824"/>
            <a:ext cx="2384983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07208"/>
            <a:ext cx="234840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named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00984"/>
            <a:ext cx="223867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E0F7F1"/>
                </a:solidFill>
                <a:latin typeface="Calibri"/>
              </a:rPr>
              <a:t>scored &amp; mapped in the worksheet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2020824"/>
            <a:ext cx="2384983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5–40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2807208"/>
            <a:ext cx="234840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agents 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5415" y="3300984"/>
            <a:ext cx="223867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E0F7F1"/>
                </a:solidFill>
                <a:latin typeface="Calibri"/>
              </a:rPr>
              <a:t>the sweet-spot boutique band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2020824"/>
            <a:ext cx="2384983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807208"/>
            <a:ext cx="234840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agent 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3300984"/>
            <a:ext cx="223867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E0F7F1"/>
                </a:solidFill>
                <a:latin typeface="Calibri"/>
              </a:rPr>
              <a:t>the full opportunity surface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6631" y="2020824"/>
            <a:ext cx="2384983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$92B+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2807208"/>
            <a:ext cx="234840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back-office 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783" y="3300984"/>
            <a:ext cx="223867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E0F7F1"/>
                </a:solidFill>
                <a:latin typeface="Calibri"/>
              </a:rPr>
              <a:t>the spend AI redirects, SMB-fastest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Why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Falling model costs make a managed ‘digital employee’ viable for a sub-50-agent brokerage for the first time — and national BPOs won’t serve them. The opportunity is structural.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 12 Prospects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Grounded on the prospect worksheet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64208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Brokerage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737360"/>
            <a:ext cx="7315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737360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737360"/>
            <a:ext cx="4507992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Signal that points to a use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21408"/>
            <a:ext cx="11094415" cy="43891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64008" cy="4389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94560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Momentus Real Estate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7680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194560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Tech-Forward Boutique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2194560"/>
            <a:ext cx="4544568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Markets a 'proprietary intelligence layer'; educ…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87752"/>
            <a:ext cx="11094415" cy="43891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87752"/>
            <a:ext cx="64008" cy="4389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Fort Worth Focused Real Estate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660904"/>
            <a:ext cx="7680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2660904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Solo-to-Growth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2660904"/>
            <a:ext cx="4544568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Has a Director of Operations (ops pain signal)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54096"/>
            <a:ext cx="11094415" cy="43891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054096"/>
            <a:ext cx="64008" cy="43891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Arbrook Realty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127248"/>
            <a:ext cx="7680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3127248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Growth-Stage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3127248"/>
            <a:ext cx="4544568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Advertises 'Transaction Coordinator for Advanced…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39"/>
            <a:ext cx="11094415" cy="43891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520439"/>
            <a:ext cx="64008" cy="43891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593591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Chandler Crouch Realtors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593591"/>
            <a:ext cx="7680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79" y="3593591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Tech-Forward Mid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9" y="3593591"/>
            <a:ext cx="4544568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'cutting-edge technology' positioning; WSJ Top 2…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86783"/>
            <a:ext cx="11094415" cy="43891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3986783"/>
            <a:ext cx="64008" cy="43891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059935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Caple and Company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059935"/>
            <a:ext cx="7680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79" y="4059935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Boutique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79" y="4059935"/>
            <a:ext cx="4544568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Relationship-driven boutique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53127"/>
            <a:ext cx="11094415" cy="43891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4453127"/>
            <a:ext cx="64008" cy="43891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526279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Nitra Realty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526279"/>
            <a:ext cx="7680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79" y="4526279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Solo Broker-Owner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79" y="4526279"/>
            <a:ext cx="4544568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Relocation + new-construction focus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257800"/>
            <a:ext cx="11094415" cy="96012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5257800"/>
            <a:ext cx="73152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59" y="539496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 read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59" y="5715000"/>
            <a:ext cx="1054577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Tech-forward boutiques lead with Lead Response &amp; Marketing; shops advertising a TC bottleneck lead with Transaction Coordination; design-led shops with Marketing Ops. The signal picks the use case — and the entry point.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We Catalog Eight — But Pilot Only Three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pilot discipline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Catalog all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Map the full agent opportunity so the brokerage sees the destination, not just step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Pilot max 3 / 90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More than three at once is the #1 pilot-failure pattern. Focus beats breadth.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Before/after KPI 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Every use case has a baseline captured in week one (e.g. response: 6h → &lt;60s).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Expand by KPI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Each pilot use case must beat its gate before the next roadmap use case turns 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McKinsey 2025: &lt;10% of gen-AI use cases pass pilot — the gap is missing value criteria and vertical specificity. The catalog sets the vision; the 3-use-case gate closes the value gap.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The Catalog &amp; The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All eight use cases — and why each pattern was chosen.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Full Catalog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Eight use cases, four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11094415" cy="42062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3017520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1609344"/>
            <a:ext cx="4023359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Realization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7" y="160934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7" y="160934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3807" y="1609344"/>
            <a:ext cx="1673351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56816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956816"/>
            <a:ext cx="64008" cy="457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29968"/>
            <a:ext cx="3054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UC1 Lead Response &amp; Nurture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79" y="2029968"/>
            <a:ext cx="405993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Conversational agent + structured CRM tool-calls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029968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1–4mo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029968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19" y="2029968"/>
            <a:ext cx="170992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441448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441448"/>
            <a:ext cx="64008" cy="457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514600"/>
            <a:ext cx="3054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UC2 Transaction Coordination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2514600"/>
            <a:ext cx="405993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Document AI extraction + deterministic deadline rule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2514600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2–6mo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2514600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514600"/>
            <a:ext cx="170992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26080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2926080"/>
            <a:ext cx="64008" cy="457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999232"/>
            <a:ext cx="3054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UC3 Listing &amp; Marketing 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79" y="2999232"/>
            <a:ext cx="405993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Multi-agent 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2999232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1–4mo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19" y="2999232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1/2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2999232"/>
            <a:ext cx="170992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PILOT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410712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410712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483864"/>
            <a:ext cx="3054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UC4 Agent Recruiting &amp; Retention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79" y="3483864"/>
            <a:ext cx="405993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Conversational agent + ATS/CRM tool-calls + outreach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9" y="3483864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1–4mo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3483864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3483864"/>
            <a:ext cx="170992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Roadmap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895344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3895344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968496"/>
            <a:ext cx="3054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UC5 CMA &amp; Pricing Intelligence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79" y="3968496"/>
            <a:ext cx="405993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Structured MLS-data tool-calls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19" y="3968496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1–4mo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19" y="3968496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19" y="3968496"/>
            <a:ext cx="170992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Roadmap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379976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4379976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453128"/>
            <a:ext cx="3054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UC6 Database Reactivation / ‘Likely to Move’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79" y="4453128"/>
            <a:ext cx="405993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Propensity scoring over structured CRM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19" y="4453128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1–4mo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19" y="4453128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1/2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19" y="4453128"/>
            <a:ext cx="170992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Roadmap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864608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4864608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937760"/>
            <a:ext cx="3054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UC7 Inbound Voice Receptionist &amp; Scheduler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79" y="4937760"/>
            <a:ext cx="405993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Voice/conversational agent + calendar &amp; CRM tool-calls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9" y="4937760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1–4mo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19" y="4937760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19" y="4937760"/>
            <a:ext cx="170992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Roadmap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8640" y="5349240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422392"/>
            <a:ext cx="3054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UC8 Compliance &amp; File Audit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79" y="5422392"/>
            <a:ext cx="405993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Document AI extraction + deterministic compliance rules engine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6719" y="5422392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2–6mo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19" y="5422392"/>
            <a:ext cx="76809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19" y="5422392"/>
            <a:ext cx="170992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Roadmap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08990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All four realization patterns are represented; pattern follows data shape, not hype.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Why These Patterns — Not Just ‘RAG Everything’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Realization-pattern selection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10512"/>
            <a:ext cx="2834639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If the work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1810512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81051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7" y="1810512"/>
            <a:ext cx="3867911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Because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64008" cy="7132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2871215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Querying structured CRM/MLS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67712"/>
            <a:ext cx="23225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Knowledge-Graph / MCP tool-calls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2267712"/>
            <a:ext cx="14081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2267712"/>
            <a:ext cx="3904487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RAG can’t answer ‘which fields exist’; tool-calls hit 93–97% vs ~60%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35224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35224"/>
            <a:ext cx="64008" cy="7132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08376"/>
            <a:ext cx="2871215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Extracting dates/parties from 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008376"/>
            <a:ext cx="23225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Document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3008376"/>
            <a:ext cx="14081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Prompted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3008376"/>
            <a:ext cx="3904487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90–99% recall vs 70–85%; 10–50× cheaper per page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75887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675887"/>
            <a:ext cx="64008" cy="7132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49039"/>
            <a:ext cx="2871215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A workflow with 3+ decision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749039"/>
            <a:ext cx="23225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Multi-agent orchestration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9" y="3749039"/>
            <a:ext cx="14081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Single prompt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59" y="3749039"/>
            <a:ext cx="3904487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Clean tool boundaries, distributed context, isolated failures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16552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416552"/>
            <a:ext cx="64008" cy="71323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489704"/>
            <a:ext cx="2871215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Answering over brand/FAQ docs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489704"/>
            <a:ext cx="23225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RAG (narrow)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79" y="4489704"/>
            <a:ext cx="14081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Fine-tune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59" y="4489704"/>
            <a:ext cx="3904487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Unstructured text is RAG’s job — used sparingly here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40680"/>
            <a:ext cx="11094415" cy="91440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440680"/>
            <a:ext cx="73152" cy="914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57784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 discipline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58978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Most brokerage value is structured (CRM, MLS, contracts) — so most of this catalog is tool-calling + Document AI, with RAG used only where it actually fits.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The Eight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Detailed card + realization for each — pilot (1–3) and roadmap (4–8).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UC1 — Lead Response &amp; Nurture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PILOT · 90-DAY  ·  Pattern: Conversational agent + structured CRM tool-calls (KG/MCP, not RAG)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Leads leak in the 24h after arrival; 48% of agents never follow up; the fastest agent wins, not the best.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 conversational agent replies in &lt;60s across text/email, qualifies, books, and runs the 8–12 touch nurture.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Realization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Conversational agent + structured CRM tool-calls (KG/MCP, not RAG).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Owner &amp;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Owner: broker / team lead. Guardrails: TCPA consent, Fair-Housing-safe language, human-in-loop on offers.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ROI &amp;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ROI timeline: 1–4mo.  AWS Gen-AI scope: 1.  KPI gate: Median response (hours → &lt;60s).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1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Lead Response
&amp; Nurture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94560"/>
            <a:ext cx="1005840" cy="457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269748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0A1628"/>
                </a:solidFill>
                <a:latin typeface="Calibri"/>
              </a:rPr>
              <a:t>Always-on first responder that turns inbound leads into booked appointments while the team sells.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8978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007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PILOT (90-DAY)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57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How It’s Realized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 Zillow lead lands at 9pm. The broker is at dinner. Three faster agents call back first.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8F75"/>
                </a:solidFill>
                <a:latin typeface="Calibr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Replies &lt;60s, qualifies on intent, books the showing/callback, and logs it to the CRM.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&lt;60s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24/7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8–12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5015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nurture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5661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HOW IT 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1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Lead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4569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2313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9745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Reply &lt;60s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0723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8467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5899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Qualify+book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876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462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2052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CRM tool-call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3030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0774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8206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Nurture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6177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4718304"/>
            <a:ext cx="7955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E0F7F1"/>
                </a:solidFill>
                <a:latin typeface="Calibri"/>
              </a:rPr>
              <a:t>STACK:  Hermes · Composio (SMS/Gmail/Calendar/CRM) · Agent Mail · Obsidian (voice) · GPT-5.5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6616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SYSTEMS:  FUB/kvCORE · Zillow · Calendar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USERS:  Broker · Agents · Leads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UC2 — Transaction Coordination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PILOT · 90-DAY  ·  Pattern: Document AI extraction + deterministic deadline rule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450–900 open tasks across 15–30 files; 34% of failures are lender-doc delays; 18% are date-calc errors. E&amp;O exposure.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Auto-open each file at contract, extract dates/parties, calculate deadlines, fire 3-tier alerts, escalate exceptions.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Realization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Document AI extraction + deterministic deadline rule engine.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Owner &amp;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Owner: transaction coordinator. Guardrails: human sign-off on filings; full E&amp;O documentation trail.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ROI &amp;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ROI timeline: 2–6mo.  AWS Gen-AI scope: 3.  KPI gate: Silent missed deadlines (some → 0).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USE CASE 2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Transaction
Coordination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94560"/>
            <a:ext cx="1005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269748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Tracks every contract-relative deadline across every file so nothing slips and no client loses earnest money.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8978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007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PILOT (90-DAY)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57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How It’s Realized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 lender-doc deadline slips while the TC is heads-down on three other files. Earnest money at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8F75"/>
                </a:solidFill>
                <a:latin typeface="Calibr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Extracts dates at contract, holds every deadline, alerts in 3 tiers, escalates only exceptions.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silent misses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90–99%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extract 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35–45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5015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files / TC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5661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HOW IT 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1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Contract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4569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2313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9745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Doc AI extract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0723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8467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5899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Dates calc’d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876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462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2052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3-tier alerts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3030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0774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8206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Escalate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6177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4718304"/>
            <a:ext cx="7955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E0F7F1"/>
                </a:solidFill>
                <a:latin typeface="Calibri"/>
              </a:rPr>
              <a:t>STACK:  Document AI (GCP Doc AI / AWS Textract) · deadline rule engine · Composio (DocuSign/email) · GPT-5.5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6616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SYSTEMS:  TX mgmt · DocuSign · Calendar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USERS:  Coordinator · Agents · Clients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UC3 — Listing &amp; Marketing 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PILOT · 90-DAY  ·  Pattern: Multi-agent orchestration (4 specialist agents)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The owner is the unpaid marketing director; social is ad-hoc; the CRM goes stale; the sphere isn’t nurtured.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An orchestrator dispatches specialists: listing-copy, social scheduler, market-report, and sphere-nurture agents.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Realization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Multi-agent orchestration (4 specialist agents).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Owner &amp;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Owner: broker / marketing lead. Guardrails: Fair-Housing copy filter, MLS rules, brand-voice review.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ROI &amp;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ROI timeline: 1–4mo.  AWS Gen-AI scope: 1/2.  KPI gate: Listings marketed ≤24h (X% → 100%).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3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Listing &amp;
Marketing 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94560"/>
            <a:ext cx="1005840" cy="457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269748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0A1628"/>
                </a:solidFill>
                <a:latin typeface="Calibri"/>
              </a:rPr>
              <a:t>A team of specialist agents that markets every new listing within 24 hours and keeps the brand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8978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007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PILOT (90-DAY)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57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How It’s Realized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 new listing goes live but copy, social, and a market report take days the broker doesn’t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8F75"/>
                </a:solidFill>
                <a:latin typeface="Calibr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An orchestrator dispatches specialist agents — copy, social, report, sphere — on the brand voice.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24h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to marketed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specialist 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5/wk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5015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posts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5661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HOW IT 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1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Listing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4569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2313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9745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Orchestrate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0723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8467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5899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Copy+social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876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462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2052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Market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3030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0774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8206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Sphere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6177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4718304"/>
            <a:ext cx="7955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E0F7F1"/>
                </a:solidFill>
                <a:latin typeface="Calibri"/>
              </a:rPr>
              <a:t>STACK:  Orchestrator (ADK/LangGraph or Hermes sub-agents) · GPT-5.5 + image · Composio (social/MLS/email) · Obsidian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6616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SYSTEMS:  MLS · Social · Email/CRM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USERS:  Broker · Agents · Sphere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UC4 — Agent Recruiting &amp; Retention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ROADMAP  ·  Pattern: Conversational agent + ATS/CRM tool-calls + outreach (light RAG on value-prop)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 brokerage grows by recruiting — but the owner has no time to source, nurture, and onboard candidates. Recruiting is ad-hoc.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 recruiting agent sources candidate signals, runs personalized outreach, books interviews, and drives onboarding checklists.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Realization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Conversational agent + ATS/CRM tool-calls + outreach (light RAG on value-prop).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Owner &amp;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Owner: broker. Guardrails: EEO-compliant outreach (no protected-class targeting), CAN-SPAM, platform ToS.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ROI &amp;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ROI timeline: 1–4mo.  AWS Gen-AI scope: 1.  KPI gate: Interviews booked / mo (ad-hoc → steady).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USE CASE 4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Agent Recruiting
&amp;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94560"/>
            <a:ext cx="1005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269748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brokerage growth engine — sources, nurtures, and onboards agents while the owner sells.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8978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007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57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How It’s Realized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The owner wants to grow headcount but recruiting always loses to today’s deals.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8F75"/>
                </a:solidFill>
                <a:latin typeface="Calibr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Sources candidates, personalizes outreach, books interviews, and runs the onboarding checklist.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weekly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outreach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interviews / 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days→hrs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5015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5661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HOW IT 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1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4569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2313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9745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Personalize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0723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8467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5899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Outreach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876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462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2052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Book interview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3030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0774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8206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Onboard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6177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4718304"/>
            <a:ext cx="7955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E0F7F1"/>
                </a:solidFill>
                <a:latin typeface="Calibri"/>
              </a:rPr>
              <a:t>STACK:  Hermes · Composio (LinkedIn/email/calendar/ATS) · Agent Mail · Obsidian (recruiting pitch) · GPT-5.5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6616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SYSTEMS:  ATS/CRM · LinkedIn · Calendar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USERS:  Broker · Recruits · Ops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UC5 — CMA &amp; Pricing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ROADMAP  ·  Pattern: Structured MLS-data tool-calls (KG/MCP, not RAG) + report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Producing CMAs and market reports for listing appointments is slow and manual; pricing is gut-feel.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The agent pulls comps from MLS (structured), computes pricing ranges, and generates a branded CMA on demand.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Realization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Structured MLS-data tool-calls (KG/MCP, not RAG) + report generation.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Owner &amp;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Owner: listing agent. Guardrails: pricing fairness, no steering, MLS data-licensing compliance.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ROI &amp;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ROI timeline: 1–4mo.  AWS Gen-AI scope: 3.  KPI gate: CMA prep time (2–3h → &lt;15min).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5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CMA &amp; Pricing
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94560"/>
            <a:ext cx="1005840" cy="457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269748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0A1628"/>
                </a:solidFill>
                <a:latin typeface="Calibri"/>
              </a:rPr>
              <a:t>On-demand, data-grounded CMAs that win the listing appointment — minutes, not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8978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007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57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How It’s Realized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 listing appointment is tomorrow; the CMA takes 2–3 hours of manual comp pulling.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8F75"/>
                </a:solidFill>
                <a:latin typeface="Calibr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Queries MLS comps via structured tool-calls, computes a defensible range, and renders a branded CMA.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&lt;15min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CMA turnaround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93–97%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grounding acc.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5015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5661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HOW IT 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1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Address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4569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2313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9745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MLS tool-call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0723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8467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5899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Comp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876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462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2052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Pricing range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3030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0774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8206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Branded CMA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6177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4718304"/>
            <a:ext cx="7955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E0F7F1"/>
                </a:solidFill>
                <a:latin typeface="Calibri"/>
              </a:rPr>
              <a:t>STACK:  Hermes · Composio (MLS/BigQuery) · GPT-5.5 · Obsidian (pricing rules) · chart gen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6616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SYSTEMS:  MLS · BigQuery · Slides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USERS:  Listing agents · Sellers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UC6 — Database Reactivation / ‘Likely to Move’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ROADMAP  ·  Pattern: Propensity scoring over structured CRM (KG/MCP) + conversational outreach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70%+ of future business is in the database — but it sits cold. No one works past clients and sphere.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The agent scores the database for ‘likely to move’ signals and runs personalized reactivation outreach.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Realization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Propensity scoring over structured CRM (KG/MCP) + conversational outreach.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Owner &amp;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Owner: broker / agents. Guardrails: TCPA, honored opt-outs, Fair-Housing-safe messaging.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ROI &amp;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ROI timeline: 1–4mo.  AWS Gen-AI scope: 1/2.  KPI gate: Extra listing convos / mo (0 → 4–6).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USE CASE 6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Database
Reactivation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94560"/>
            <a:ext cx="1005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269748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Mines the gold already in the CRM — surfacing listing conversations from people you already know.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8978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007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57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How It’s Realized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The database has thousands of contacts and zero systematic follow-up.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8F75"/>
                </a:solidFill>
                <a:latin typeface="Calibr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Scores contacts for move-propensity and runs tailored, opt-out-respecting reactivation.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4–6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listing convos/mo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monthly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DB touch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5015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reactivation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5661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HOW IT 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1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Enrich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4569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2313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9745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Score propensity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0723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8467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5899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Segment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876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462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2052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Personalize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3030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0774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8206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Outreach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6177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4718304"/>
            <a:ext cx="7955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E0F7F1"/>
                </a:solidFill>
                <a:latin typeface="Calibri"/>
              </a:rPr>
              <a:t>STACK:  Hermes · Composio (CRM/enrichment/email/SMS) · GPT-5.5 · Obsidian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6616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SYSTEMS:  CRM · Enrichment · Email/SMS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USERS:  Broker · Agents · Past clients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UC7 — Inbound Voice Receptionist &amp; Scheduler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ROADMAP  ·  Pattern: Voice/conversational agent + calendar &amp; CRM tool-calls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Calls go to voicemail; showing requests and buyer/seller questions stall; after-hours calls are lost.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 voice agent answers 24/7, qualifies, books showings, and routes urgent items to the right agent.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Realization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Voice/conversational agent + calendar &amp; CRM tool-calls.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Owner &amp;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Owner: broker / front desk. Guardrails: call-recording disclosure, TCPA, escalation paths.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ROI &amp;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ROI timeline: 1–4mo.  AWS Gen-AI scope: 1.  KPI gate: Missed-call rate (X% → ~0).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7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Inbound Voice
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94560"/>
            <a:ext cx="1005840" cy="457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269748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0A1628"/>
                </a:solidFill>
                <a:latin typeface="Calibri"/>
              </a:rPr>
              <a:t>A 24/7 voice receptionist that never sends a caller to voicemail and books the showing 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8978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007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57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How It’s Realized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 buyer calls about a listing at 7pm; it goes to voicemail and they call the next sign instead.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8F75"/>
                </a:solidFill>
                <a:latin typeface="Calibr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Answers live, qualifies, books the showing on the right agent’s calendar, and logs the call.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24/7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answered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~0%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missed-call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5015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5661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HOW IT 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1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Call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4569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2313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9745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Answer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0723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8467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5899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Qualify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876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462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2052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Book showing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3030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0774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8206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Route/log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6177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4718304"/>
            <a:ext cx="7955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E0F7F1"/>
                </a:solidFill>
                <a:latin typeface="Calibri"/>
              </a:rPr>
              <a:t>STACK:  Hermes · voice (STT/TTS) · Composio (Calendar/CRM/telephony) · GPT-5.5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6616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SYSTEMS:  Phone · Calendar · CRM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USERS:  Callers · Agents · Front desk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UC8 — Compliance &amp; File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ROADMAP  ·  Pattern: Document AI extraction + deterministic compliance rules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The broker is liable for every file’s compliance; missing signatures/disclosures = E&amp;O and license risk. Manual review doesn’t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Document AI reviews each file against a required-docs checklist and flags gaps before closing.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Realization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Document AI extraction + deterministic compliance rules engine.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Owner &amp;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Owner: broker / compliance. Guardrails: Fair-Housing disclosure checks, E&amp;O documentation, retention.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ROI &amp;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ROI timeline: 2–6mo.  AWS Gen-AI scope: 3.  KPI gate: Compliance gaps caught pre-close (X → all).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USE CASE 8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Compliance
&amp; File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94560"/>
            <a:ext cx="1005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269748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second set of eyes on every file — catching the missing disclosure before it becomes a claim.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8978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007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57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How It’s Realized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 file closes missing a required disclosure; the gap surfaces only when a complaint arrives.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051560"/>
            <a:ext cx="40233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161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8F75"/>
                </a:solidFill>
                <a:latin typeface="Calibr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4630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Extracts and checks every required doc/signature against the rules, flagging gaps pre-close.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files audited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90–99%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catch 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254203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2633472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hrs→min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5015" y="2706624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5661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HOW IT 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1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File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4569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2313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9745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Doc AI extract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0723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8467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5899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Rule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876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4620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2052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Flag gaps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3030" y="3941063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0774" y="3886200"/>
            <a:ext cx="1484985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8206" y="3995928"/>
            <a:ext cx="143012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Broker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6177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4718304"/>
            <a:ext cx="795527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E0F7F1"/>
                </a:solidFill>
                <a:latin typeface="Calibri"/>
              </a:rPr>
              <a:t>STACK:  Document AI (GCP/Textract) · compliance rules engine · Composio (TX mgmt/DocuSign) · GPT-5.5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6616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SYSTEMS:  TX mgmt · DocuSign · Drive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230368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53218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USERS:  Broker · Compliance ·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Consolidated KPI Baseline Worksheet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Measure all eight before/after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11094415" cy="42062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2834639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1609344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Primary KPI (before → after)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1609344"/>
            <a:ext cx="3867911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Secondary KPI (before → after)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56816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56816"/>
            <a:ext cx="64008" cy="457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UC1 Lead Response &amp; Nurture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29968"/>
            <a:ext cx="38770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Median response: hours → &lt;60s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029968"/>
            <a:ext cx="3904487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&lt;5-min contact rate: ~20% → 90%+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41448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441448"/>
            <a:ext cx="64008" cy="457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14600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UC2 Transaction 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14600"/>
            <a:ext cx="38770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Silent missed deadlines: some →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514600"/>
            <a:ext cx="3904487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Date-calc errors: 18% → &lt;1%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26080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926080"/>
            <a:ext cx="64008" cy="457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99232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UC3 Listing &amp; Marketing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999232"/>
            <a:ext cx="38770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Listings marketed ≤24h: X% → 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999232"/>
            <a:ext cx="3904487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Owner hours saved: 8–10 / wk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10712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410712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83864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UC4 Agent Recruiting &amp;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483864"/>
            <a:ext cx="38770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Interviews booked / mo: ad-hoc → steady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483864"/>
            <a:ext cx="3904487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Onboarding time: days → hours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95344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895344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968496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UC5 CMA &amp; Pricing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968496"/>
            <a:ext cx="38770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CMA prep time: 2–3h → &lt;15min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968496"/>
            <a:ext cx="3904487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Listing-appt win rate: + lift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79976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379976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53128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UC6 Database Reactivation / ‘Likely to Move’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453128"/>
            <a:ext cx="38770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Extra listing convos / mo: 0 → 4–6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453128"/>
            <a:ext cx="3904487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Database touch rate: quarterly → monthly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864608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864608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937760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UC7 Inbound Voice Receptionist &amp; Scheduler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937760"/>
            <a:ext cx="38770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Missed-call rate: X% → ~0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4937760"/>
            <a:ext cx="3904487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After-hours bookings: 0 → captured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349240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422392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UC8 Compliance &amp; File Audit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5422392"/>
            <a:ext cx="38770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Compliance gaps caught pre-close: X → 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5422392"/>
            <a:ext cx="3904487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Broker review time: hours → minutes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08990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Rule: no use case turns on without its baseline captured in week one — the before/after is the go/no-go evidence.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Consolidated Scope &amp; Responsible-AI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Governance per use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11094415" cy="42062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2834639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1609344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1609344"/>
            <a:ext cx="6793992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Key Responsible-AI controls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56816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56816"/>
            <a:ext cx="64008" cy="457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UC1 Lead Response &amp; Nurture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29968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029968"/>
            <a:ext cx="683056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TCPA consent · Fair-Housing language test · human-in-loop on offers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41448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441448"/>
            <a:ext cx="64008" cy="457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14600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UC2 Transaction 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14600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514600"/>
            <a:ext cx="683056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Human sign-off on filings · immutable audit log · E&amp;O retention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26080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926080"/>
            <a:ext cx="64008" cy="457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99232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UC3 Listing &amp; Marketing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999232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1/2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2999232"/>
            <a:ext cx="683056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Fair-Housing copy classifier · MLS-rule check · brand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10712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410712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83864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UC4 Agent Recruiting &amp;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483864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3483864"/>
            <a:ext cx="683056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EEO-compliant targeting · CAN-SPAM · platform ToS · opt-out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95344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895344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968496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UC5 CMA &amp; Pricing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968496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3968496"/>
            <a:ext cx="683056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Pricing fairness · no steering · MLS data licensing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79976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379976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53128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UC6 Database Reactivation / ‘Likely to Move’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453128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1/2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79" y="4453128"/>
            <a:ext cx="683056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TCPA · opt-out honoring · Fair-Housing messaging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864608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864608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937760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UC7 Inbound Voice Receptionist &amp; Scheduler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937760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79" y="4937760"/>
            <a:ext cx="683056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Call-recording disclosure · TCPA · escalation paths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349240"/>
            <a:ext cx="64008" cy="457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422392"/>
            <a:ext cx="2871215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UC8 Compliance &amp; File Audit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5422392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79" y="5422392"/>
            <a:ext cx="6830568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Fair-Housing disclosure check · E&amp;O documentation · retention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08990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Scope per AWS Gen-AI Security Scoping Matrix: Scope 1 → guardrails + DLP + consent; Scope 3 → isolation + audit log.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Architecture &amp;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One managed stack runs all eight; cloud options where wanted.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One Managed Stack Runs Every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Delivery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Hermes (model-agnostic, self-evolving) per agent, on an isolated Orgo cloud VM per client.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Tools &amp;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Composio brokers 1,000s of apps with managed auth — no shared credentials on your machine.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Obsidian vault holds brand voice + rules; structured CRM/MLS accessed via tool-calls, not RAG.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Watchdog auto-restart + failure alerts to us; per-client sandbox, deletable in &lt;1s.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Why this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Fully managed — the broker approves outcomes and never monitors, updates, or debugs an agent. The same stack scales from one use case to all eight.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If A Cloud-Native Build Is Preferred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Hyperscaler options (real estate = cross-industry)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10512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1810512"/>
            <a:ext cx="2468879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810512"/>
            <a:ext cx="2468879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810512"/>
            <a:ext cx="2313432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Azure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64008" cy="7132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314553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Document AI (UC2/UC8)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267712"/>
            <a:ext cx="250545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Document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267712"/>
            <a:ext cx="250545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Textract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267712"/>
            <a:ext cx="2350008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Doc Intelligence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35224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35224"/>
            <a:ext cx="64008" cy="7132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08376"/>
            <a:ext cx="314553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Structured CRM/MLS grounding (UC1/5/6)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008376"/>
            <a:ext cx="250545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Native MCP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008376"/>
            <a:ext cx="250545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Lambda + Glue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08376"/>
            <a:ext cx="2350008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Purview (preview)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75887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675887"/>
            <a:ext cx="64008" cy="7132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49039"/>
            <a:ext cx="314553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Unstructured listing/FAQ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749039"/>
            <a:ext cx="250545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Vertex AI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3749039"/>
            <a:ext cx="250545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Kendra/Bedrock KB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749039"/>
            <a:ext cx="2350008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Azure AI 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16552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416552"/>
            <a:ext cx="64008" cy="71323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489704"/>
            <a:ext cx="314553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Office/Teams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489704"/>
            <a:ext cx="250545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4489704"/>
            <a:ext cx="250545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489704"/>
            <a:ext cx="2350008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Copilot Studio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40680"/>
            <a:ext cx="11094415" cy="96012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440680"/>
            <a:ext cx="73152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57784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Recommendation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5897880"/>
            <a:ext cx="1054577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No heavy regulatory driver in real estate, so choose on footprint: GCP if Document AI + native CRM/MLS-grounding MCP matter most; AWS on data maturity; Azure only if the brokerage lives in Microsoft 365. Default: stay on the managed micro-agency stack.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Defense-In-Depth Around Every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Security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Prompt-injection detection, PII scrub, TCPA-consent check before any outbound message.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System-prompt hardening, per-client context isolation, model-agnostic routing.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Fair-Housing + grounding checks, hallucination scoring, content classification before send.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Mandatory audit log: session ID, role, model version, input/output hash, latency, RAI flags.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Governance &amp; Activation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Responsible AI, the 90-day plan, and who to start with.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Responsible AI Is Built In — Not Bolted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Identify → Measure → Mitigate → Operate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Identify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Map risks per use case: TCPA consent, Fair-Housing language, contract/PII sensitivity, MLS &amp; EEO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5973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Test-set checks at build time — discriminatory-language classifier, extraction recall, pricing fairness.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Mitigate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Blocked-term filters, human-in-the-loop on offers/filings, brand &amp; compliance review on outputs.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Operate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34256"/>
            <a:ext cx="495284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Immutable audit log on every action; weekly RAI flag review; retention for E&amp;O defense.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Standard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Maps to NIST AI RMF (Map→Measure→Manage→Govern) and the Microsoft Responsible AI Standard — RAI sits at the Measure stage, before production, not as a post-hoc audit.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90-Day Pilot Plan, With KPI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Activation — 3 of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1051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1810512"/>
            <a:ext cx="4937759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810512"/>
            <a:ext cx="3776472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KPI gate to advance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64008" cy="7132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67712"/>
            <a:ext cx="18653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Days 0–2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267712"/>
            <a:ext cx="497433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UC1 Lead Response live on one prospect; baseline captured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67712"/>
            <a:ext cx="3813048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First lead answered &lt;60s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35224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35224"/>
            <a:ext cx="64008" cy="7132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08376"/>
            <a:ext cx="18653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Days 1–30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008376"/>
            <a:ext cx="497433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UC1 nurture running; weekly Loom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008376"/>
            <a:ext cx="3813048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Response time + &lt;5-min rate beaten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7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75887"/>
            <a:ext cx="64008" cy="7132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49039"/>
            <a:ext cx="18653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Days 31–60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749039"/>
            <a:ext cx="497433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UC2 Transaction Coordination added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749039"/>
            <a:ext cx="3813048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Zero silent misses on live files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16552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416552"/>
            <a:ext cx="64008" cy="7132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89704"/>
            <a:ext cx="186537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Days 61–90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489704"/>
            <a:ext cx="4974336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UC3 Marketing Ops added; go/no-go on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489704"/>
            <a:ext cx="3813048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Listings ≤24h + hours saved shown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44068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57784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Then the 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8978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After the pilot clears its gates, sequence UC4–UC8 (recruiting, CMA, database, voice, compliance) by the brokerage’s biggest remaining bottleneck.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Who To Start With — Grounded On The Worksheet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Prospect → use-case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10512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810512"/>
            <a:ext cx="7315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810512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Lead 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810512"/>
            <a:ext cx="4507992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Why (from their signal)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1094415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64008" cy="5669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25968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Momentus Real Estate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67712"/>
            <a:ext cx="7680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267712"/>
            <a:ext cx="25968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UC1 Lead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2267712"/>
            <a:ext cx="4544568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Tech-forward, ‘intelligence layer’, growth mode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88920"/>
            <a:ext cx="11094415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88920"/>
            <a:ext cx="64008" cy="5669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62072"/>
            <a:ext cx="25968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Fort Worth Focused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862072"/>
            <a:ext cx="7680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2862072"/>
            <a:ext cx="25968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UC2 / UC3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2862072"/>
            <a:ext cx="4544568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Has a Director of Ops — admin overload signal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83279"/>
            <a:ext cx="11094415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383279"/>
            <a:ext cx="64008" cy="5669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56432"/>
            <a:ext cx="25968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Arbrook Realty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456432"/>
            <a:ext cx="7680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3456432"/>
            <a:ext cx="25968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UC2 Transaction Coord.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3456432"/>
            <a:ext cx="4544568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Advertises a TC bottleneck explicitly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77639"/>
            <a:ext cx="11094415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77639"/>
            <a:ext cx="64008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50791"/>
            <a:ext cx="25968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Nitra Realty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50791"/>
            <a:ext cx="7680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79" y="4050791"/>
            <a:ext cx="25968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UC1 / UC6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9" y="4050791"/>
            <a:ext cx="4544568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Relocation niche = high follow-up + DB 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72000"/>
            <a:ext cx="11094415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572000"/>
            <a:ext cx="64008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645152"/>
            <a:ext cx="25968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MOXY Real Estate+Design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645152"/>
            <a:ext cx="7680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79" y="4645152"/>
            <a:ext cx="2596896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UC3 Marketing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79" y="4645152"/>
            <a:ext cx="4544568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Design/brand identity — marketing-led fit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394960"/>
            <a:ext cx="11094415" cy="82296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394960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5321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Sequencing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" y="58521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Start with Momentus on UC1 (warmest + cleanest fit), prove it, then expand across use cases and down the fit-ranked prospect list.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Expected Return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business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0824"/>
            <a:ext cx="2384983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1–4 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07208"/>
            <a:ext cx="234840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 first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00984"/>
            <a:ext cx="223867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E0F7F1"/>
                </a:solidFill>
                <a:latin typeface="Calibri"/>
              </a:rPr>
              <a:t>UC1, UC3–7 (consumer-facing)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2020824"/>
            <a:ext cx="2384983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2–6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2807208"/>
            <a:ext cx="234840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 doc-AI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5415" y="3300984"/>
            <a:ext cx="223867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E0F7F1"/>
                </a:solidFill>
                <a:latin typeface="Calibri"/>
              </a:rPr>
              <a:t>UC2 &amp; UC8 (back-office)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2020824"/>
            <a:ext cx="2384983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1 deal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807208"/>
            <a:ext cx="234840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 break even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3300984"/>
            <a:ext cx="223867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E0F7F1"/>
                </a:solidFill>
                <a:latin typeface="Calibri"/>
              </a:rPr>
              <a:t>per quarter covers the engagement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6631" y="2020824"/>
            <a:ext cx="2384983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2807208"/>
            <a:ext cx="234840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use-case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783" y="3300984"/>
            <a:ext cx="223867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E0F7F1"/>
                </a:solidFill>
                <a:latin typeface="Calibri"/>
              </a:rPr>
              <a:t>compounding value per brokerage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5780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 asymmetry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Eight measured use cases on one managed stack; a single saved deal per quarter pays for the engagement — and the owner gets the hours back to grow the brokerage.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THE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Catalog set. Pilot three.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3464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Start UC1 on one prospect’s live lead flow in 48 hours, beat the baseline, then expand through the eight-use-case roadmap by KPI 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3454298" cy="15544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345429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Choose prospect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Momentus is warmest (fit 92)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3977639"/>
            <a:ext cx="3454298" cy="15544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8698" y="3977639"/>
            <a:ext cx="345429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8698" y="4069080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4526280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Pilot 3 in 90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578" y="4937760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Lead · Transaction · Marketing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8756" y="3977639"/>
            <a:ext cx="3454298" cy="15544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8756" y="3977639"/>
            <a:ext cx="345429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8756" y="4069080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1636" y="4526280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Expand the 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1636" y="4937760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UC4–UC8 by KPI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Contact: shekerkamma@gmail.com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Use-Case Catalog · DFW Boutique Brokerage Vertical · Confidential |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