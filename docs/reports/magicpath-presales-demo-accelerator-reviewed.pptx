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youtube.com/@MagicPathAI" TargetMode="External"/><Relationship Id="rId4" Type="http://schemas.openxmlformats.org/officeDocument/2006/relationships/image" Target="../media/image2.png"/><Relationship Id="rId5" Type="http://schemas.openxmlformats.org/officeDocument/2006/relationships/hyperlink" Target="https://www.youtube.com/watch?v=ZSOb2uijfSE" TargetMode="External"/><Relationship Id="rId6" Type="http://schemas.openxmlformats.org/officeDocument/2006/relationships/image" Target="../media/image3.png"/><Relationship Id="rId7" Type="http://schemas.openxmlformats.org/officeDocument/2006/relationships/hyperlink" Target="https://www.youtube.com/watch?v=LhCA5GzqbPU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/home/shekerk/content-ideas/docs/reports/magicpath_presales_assets/manufacturing-demo-storyboard.mp4" TargetMode="External"/><Relationship Id="rId4" Type="http://schemas.openxmlformats.org/officeDocument/2006/relationships/image" Target="../media/image5.png"/><Relationship Id="rId5" Type="http://schemas.openxmlformats.org/officeDocument/2006/relationships/hyperlink" Target="/home/shekerk/content-ideas/docs/reports/magicpath_presales_assets/legal-demo-storyboard.mp4" TargetMode="External"/><Relationship Id="rId6" Type="http://schemas.openxmlformats.org/officeDocument/2006/relationships/image" Target="../media/image6.png"/><Relationship Id="rId7" Type="http://schemas.openxmlformats.org/officeDocument/2006/relationships/hyperlink" Target="/home/shekerk/content-ideas/docs/reports/magicpath_presales_assets/healthcare-demo-storyboard.mp4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0"/>
            <a:ext cx="181051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7844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EXECUTIVE STRATEGY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8961120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MagicPath as a
Pre-Sales Demo
Accelerator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886200"/>
            <a:ext cx="123444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804672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5B6B7C"/>
                </a:solidFill>
                <a:latin typeface="Calibri"/>
              </a:rPr>
              <a:t>Compress the path from prospect brief to tailored clickable prototype by combining AI design generation, product capture, and coding-agent handoff.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74920"/>
            <a:ext cx="1965960" cy="384048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5111496"/>
            <a:ext cx="181965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Business Scenarios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5074920"/>
            <a:ext cx="1965960" cy="384048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0632" y="5111496"/>
            <a:ext cx="181965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POC Packaging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5074920"/>
            <a:ext cx="1965960" cy="384048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9472" y="5111496"/>
            <a:ext cx="181965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Sales Motion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5074920"/>
            <a:ext cx="1965960" cy="384048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68312" y="5111496"/>
            <a:ext cx="181965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Evidence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MagicPath Pre-Sales Demo Accelerator | June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Executive 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MagicPath turns pre-sales from explanation into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36192"/>
            <a:ext cx="11094415" cy="9144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1051560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MagicPath can materially compress the path from prospect brief to tailored clickable prototype by combining AI design generation, existing design/product capture, and coding-agent handoff into one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3337560" cy="14173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916936"/>
            <a:ext cx="29718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5B6B7C"/>
                </a:solidFill>
                <a:latin typeface="Calibri"/>
              </a:rPr>
              <a:t>Buyer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20040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"Show me mine"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703320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Prospects need to see their workflow, data, systems, and operating language before they believe.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2788920"/>
            <a:ext cx="3337560" cy="14173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2916936"/>
            <a:ext cx="29718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5B6B7C"/>
                </a:solidFill>
                <a:latin typeface="Calibri"/>
              </a:rPr>
              <a:t>Sales Constraint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320040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Demo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3703320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Generic demos undersell value; custom prototypes are usually too slow and expensive.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2788920"/>
            <a:ext cx="3337560" cy="1417320"/>
          </a:xfrm>
          <a:prstGeom prst="roundRect">
            <a:avLst>
              <a:gd name="adj" fmla="val 5000"/>
            </a:avLst>
          </a:prstGeom>
          <a:solidFill>
            <a:srgbClr val="E0F7F1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1" y="2916936"/>
            <a:ext cx="29718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5B6B7C"/>
                </a:solidFill>
                <a:latin typeface="Calibri"/>
              </a:rPr>
              <a:t>MagicPath 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1" y="320040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Same-cycle 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1" y="3703320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A tailored prototype becomes the artifact that converts discovery into scoped POC.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74920"/>
            <a:ext cx="11094415" cy="658368"/>
          </a:xfrm>
          <a:prstGeom prst="roundRect">
            <a:avLst>
              <a:gd name="adj" fmla="val 3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48072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Commercial implication: the demo stops being a marketing asset and becomes the first implementation artifact.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Pre-Sales Demo Accelerator | June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Pre-Sales Bottleneck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moment deals slow down is the moment the prospect asks for relevance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429000" cy="2377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3429000" cy="731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65960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A1628"/>
                </a:solidFill>
                <a:latin typeface="Calibri"/>
              </a:rPr>
              <a:t>Static mockup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06040"/>
            <a:ext cx="301752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Looks polished but cannot prove the workflow, exception handling, or system fit.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691640"/>
            <a:ext cx="3429000" cy="2377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691640"/>
            <a:ext cx="342900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965960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A1628"/>
                </a:solidFill>
                <a:latin typeface="Calibri"/>
              </a:rPr>
              <a:t>Generic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606040"/>
            <a:ext cx="301752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Shows product capability but fails the buyer's mental test: would this work here?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691640"/>
            <a:ext cx="3429000" cy="2377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1691640"/>
            <a:ext cx="3429000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965960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A1628"/>
                </a:solidFill>
                <a:latin typeface="Calibri"/>
              </a:rPr>
              <a:t>Custom prototype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606040"/>
            <a:ext cx="301752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High-conviction path, but often takes days or weeks of solution architect and developer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177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B6B7C"/>
                </a:solidFill>
                <a:latin typeface="Calibri"/>
              </a:rPr>
              <a:t>What needs to change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29200"/>
            <a:ext cx="11094415" cy="73152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20640"/>
            <a:ext cx="1033272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Move from 'we can explain the solution' to 'we can put a believable first version in the prospect's hands while the buying energy is still high.'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Pre-Sales Demo Accelerator |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MagicPath Acceleration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 single workflow connects discovery, design, agent build, and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2057400" cy="19659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2057400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2084831"/>
            <a:ext cx="384048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587752"/>
            <a:ext cx="180136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1" i="0">
                <a:solidFill>
                  <a:srgbClr val="0A1628"/>
                </a:solidFill>
                <a:latin typeface="Calibri"/>
              </a:rPr>
              <a:t>Prospect 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3035808"/>
            <a:ext cx="180136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Industry, buyer, workflow, systems, metrics, objections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2606040"/>
            <a:ext cx="16459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6352" y="1874519"/>
            <a:ext cx="2057400" cy="19659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16352" y="1874519"/>
            <a:ext cx="2057400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44368" y="2084831"/>
            <a:ext cx="384048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2587752"/>
            <a:ext cx="180136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1" i="0">
                <a:solidFill>
                  <a:srgbClr val="0A1628"/>
                </a:solidFill>
                <a:latin typeface="Calibri"/>
              </a:rPr>
              <a:t>MagicPath canvas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3035808"/>
            <a:ext cx="180136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Prompt, Figma import, website capture, design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1184" y="2606040"/>
            <a:ext cx="16459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4064" y="1874519"/>
            <a:ext cx="2057400" cy="19659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84064" y="1874519"/>
            <a:ext cx="205740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2084831"/>
            <a:ext cx="384048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587752"/>
            <a:ext cx="180136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1" i="0">
                <a:solidFill>
                  <a:srgbClr val="0A1628"/>
                </a:solidFill>
                <a:latin typeface="Calibri"/>
              </a:rPr>
              <a:t>Agent handoff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035808"/>
            <a:ext cx="180136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Codex / Claude Code / Cursor reads canvas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8896" y="2606040"/>
            <a:ext cx="16459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51776" y="1874519"/>
            <a:ext cx="2057400" cy="19659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51776" y="1874519"/>
            <a:ext cx="2057400" cy="731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9792" y="2084831"/>
            <a:ext cx="384048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2587752"/>
            <a:ext cx="180136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1" i="0">
                <a:solidFill>
                  <a:srgbClr val="0A1628"/>
                </a:solidFill>
                <a:latin typeface="Calibri"/>
              </a:rPr>
              <a:t>Prototype build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3035808"/>
            <a:ext cx="180136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Clickable flow, mock data, realistic states, integration placeholders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36608" y="2606040"/>
            <a:ext cx="16459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19488" y="1874519"/>
            <a:ext cx="2057400" cy="19659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19488" y="1874519"/>
            <a:ext cx="2057400" cy="731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47504" y="2084831"/>
            <a:ext cx="384048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47504" y="2587752"/>
            <a:ext cx="180136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1" i="0">
                <a:solidFill>
                  <a:srgbClr val="0A1628"/>
                </a:solidFill>
                <a:latin typeface="Calibri"/>
              </a:rPr>
              <a:t>Live demo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7504" y="3035808"/>
            <a:ext cx="180136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Prospect interacts; team captures changes as POC scope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800600"/>
            <a:ext cx="11094415" cy="82296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910328"/>
            <a:ext cx="1033272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Core operating principle: the design canvas becomes the sales spec, the coding agent becomes the demo builder, and the live prototype becomes the qualification artifact.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Pre-Sales Demo Accelerator | June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Is Substantiated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Use source-backed claims with executives; avoid unbenchmarked promises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109728" cy="8229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34290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Shared human + agent canvas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572768"/>
            <a:ext cx="54864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MagicPath positions the product as a real-time canvas where humans and agents design together, with external agents including Claude Code, Codex, and Cursor.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1572768"/>
            <a:ext cx="16002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MagicPath docs / homepage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88336"/>
            <a:ext cx="109728" cy="8229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88336"/>
            <a:ext cx="34290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Figma and web capture 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688336"/>
            <a:ext cx="54864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MagicPath documents Figma Connect and web/product capture paths, supporting the 'start from existing context' motion.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2688336"/>
            <a:ext cx="16002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MagicPath Figma Connect; UX 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03904"/>
            <a:ext cx="109728" cy="8229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03904"/>
            <a:ext cx="34290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Code output and agent handoff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803904"/>
            <a:ext cx="54864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MagicPath describes code export and agent-driven workflows; recent Codex plugin messaging supports Codex as a design/build surface.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3803904"/>
            <a:ext cx="16002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MagicPath docs; Codex plugin blog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919472"/>
            <a:ext cx="109728" cy="82296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19472"/>
            <a:ext cx="34290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Market validation of the pattern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4919472"/>
            <a:ext cx="54864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Anthropic's Claude Design also validates the design-to-code handoff pattern through prototype generation and Claude Code handoff.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4919472"/>
            <a:ext cx="16002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Anthropic Claude Design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60720"/>
            <a:ext cx="11094415" cy="438912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824728"/>
            <a:ext cx="105156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Recommended wording: 'materially compress' and 'same-cycle prototype' are defensible; exact cost/time ratios should be based on internal benchmark runs.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Pre-Sales Demo Accelerator | June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Six Business 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Each demo turns a vertical workflow into a clickable proof-of-fit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66160" cy="19659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3566160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01368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Manufacturing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67128"/>
            <a:ext cx="31546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30" b="1" i="0">
                <a:solidFill>
                  <a:srgbClr val="5B6B7C"/>
                </a:solidFill>
                <a:latin typeface="Calibri"/>
              </a:rPr>
              <a:t>Buyer: VP Manufacturing / Plant 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96312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Predictive maintenance or quality dashboard with alerts, asset health, and SAP PM placeholder.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1" i="0">
                <a:solidFill>
                  <a:srgbClr val="0A1628"/>
                </a:solidFill>
                <a:latin typeface="Calibri"/>
              </a:rPr>
              <a:t>Close signal: plant leader sees their downtime or scrap workflow.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600200"/>
            <a:ext cx="3566160" cy="19659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1104" y="1600200"/>
            <a:ext cx="356616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6" y="1801368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755648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Legal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2167128"/>
            <a:ext cx="31546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30" b="1" i="0">
                <a:solidFill>
                  <a:srgbClr val="5B6B7C"/>
                </a:solidFill>
                <a:latin typeface="Calibri"/>
              </a:rPr>
              <a:t>Buyer: Managing Partner / Legal 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2496312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Contract review workspace with risk highlights, confidence, citations, and human approval.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984" y="301752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1" i="0">
                <a:solidFill>
                  <a:srgbClr val="0A1628"/>
                </a:solidFill>
                <a:latin typeface="Calibri"/>
              </a:rPr>
              <a:t>Close signal: trust barrier drops because humans stay in control.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3568" y="1600200"/>
            <a:ext cx="3566160" cy="19659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73568" y="1600200"/>
            <a:ext cx="3566160" cy="731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1801368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E05A6B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Healthcare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2167128"/>
            <a:ext cx="31546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30" b="1" i="0">
                <a:solidFill>
                  <a:srgbClr val="5B6B7C"/>
                </a:solidFill>
                <a:latin typeface="Calibri"/>
              </a:rPr>
              <a:t>Buyer: Practice Manager / COO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2496312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Mobile intake flow plus staff dashboard with verification badges and EHR sync indicators.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301752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1" i="0">
                <a:solidFill>
                  <a:srgbClr val="0A1628"/>
                </a:solidFill>
                <a:latin typeface="Calibri"/>
              </a:rPr>
              <a:t>Close signal: ROI is obvious when intake time falls from minutes to seconds.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931920"/>
            <a:ext cx="3566160" cy="19659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931920"/>
            <a:ext cx="3566160" cy="7315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133088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9B82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4087368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Financial Services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498848"/>
            <a:ext cx="31546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30" b="1" i="0">
                <a:solidFill>
                  <a:srgbClr val="5B6B7C"/>
                </a:solidFill>
                <a:latin typeface="Calibri"/>
              </a:rPr>
              <a:t>Buyer: VP Mortgage Ops / 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828032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Document processing console with extracted fields, source links, compliance checklist.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34924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1" i="0">
                <a:solidFill>
                  <a:srgbClr val="0A1628"/>
                </a:solidFill>
                <a:latin typeface="Calibri"/>
              </a:rPr>
              <a:t>Close signal: AI recommends; underwriter decides.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61104" y="3931920"/>
            <a:ext cx="3566160" cy="19659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61104" y="3931920"/>
            <a:ext cx="3566160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25696" y="4133088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8032" y="4087368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Construction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43984" y="4498848"/>
            <a:ext cx="31546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30" b="1" i="0">
                <a:solidFill>
                  <a:srgbClr val="5B6B7C"/>
                </a:solidFill>
                <a:latin typeface="Calibri"/>
              </a:rPr>
              <a:t>Buyer: Project Director / Safety Lead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43984" y="4828032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Site command center with progress, safety exceptions, imagery, and morning report.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43984" y="534924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1" i="0">
                <a:solidFill>
                  <a:srgbClr val="0A1628"/>
                </a:solidFill>
                <a:latin typeface="Calibri"/>
              </a:rPr>
              <a:t>Close signal: current weekly reporting becomes daily operating intelligence.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73568" y="3931920"/>
            <a:ext cx="3566160" cy="19659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73568" y="3931920"/>
            <a:ext cx="356616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0" y="4133088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B800"/>
                </a:solidFill>
                <a:latin typeface="Calibr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0496" y="4087368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AI Readiness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56448" y="4498848"/>
            <a:ext cx="31546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30" b="1" i="0">
                <a:solidFill>
                  <a:srgbClr val="5B6B7C"/>
                </a:solidFill>
                <a:latin typeface="Calibri"/>
              </a:rPr>
              <a:t>Buyer: CTO / Transformation Lead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56448" y="4828032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Assessment portal with maturity radar, ranked use cases, ROI ranges, next-step CTAs.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56448" y="534924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1" i="0">
                <a:solidFill>
                  <a:srgbClr val="0A1628"/>
                </a:solidFill>
                <a:latin typeface="Calibri"/>
              </a:rPr>
              <a:t>Close signal: vague AI interest becomes three funded projects.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Pre-Sales Demo Accelerator | June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Scenario Playbook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What the sales team needs to prepare before the meeting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1920240" cy="38404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618488"/>
            <a:ext cx="177393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2578608" y="1572768"/>
            <a:ext cx="3108960" cy="38404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618488"/>
            <a:ext cx="296265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FFFFFF"/>
                </a:solidFill>
                <a:latin typeface="Calibri"/>
              </a:rPr>
              <a:t>Inputs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79008" y="1572768"/>
            <a:ext cx="3063240" cy="38404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1618488"/>
            <a:ext cx="291693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FFFFFF"/>
                </a:solidFill>
                <a:latin typeface="Calibri"/>
              </a:rPr>
              <a:t>Prototype Moment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33688" y="1572768"/>
            <a:ext cx="3154680" cy="38404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618488"/>
            <a:ext cx="30083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FFFFFF"/>
                </a:solidFill>
                <a:latin typeface="Calibri"/>
              </a:rPr>
              <a:t>Next Commercial Step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993392"/>
            <a:ext cx="1920240" cy="58521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048256"/>
            <a:ext cx="177393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Manufacturing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78608" y="1993392"/>
            <a:ext cx="3108960" cy="58521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2048256"/>
            <a:ext cx="296265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Plant layout, SAP PM/QM language, OEE/downtime metric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79008" y="1993392"/>
            <a:ext cx="3063240" cy="58521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2048256"/>
            <a:ext cx="291693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Asset health heatmap; alert-to-work-order flow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33688" y="1993392"/>
            <a:ext cx="3154680" cy="58521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2048256"/>
            <a:ext cx="300837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Predictive maintenance or quality POC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51760"/>
            <a:ext cx="1920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706624"/>
            <a:ext cx="177393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Legal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78608" y="2651760"/>
            <a:ext cx="31089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2706624"/>
            <a:ext cx="296265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Template, clause taxonomy, review authority 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79008" y="2651760"/>
            <a:ext cx="3063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0" y="2706624"/>
            <a:ext cx="291693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Upload → risk review → partner sign-off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33688" y="2651760"/>
            <a:ext cx="31546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6840" y="2706624"/>
            <a:ext cx="300837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Template-based review automation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310128"/>
            <a:ext cx="1920240" cy="58521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3364992"/>
            <a:ext cx="177393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Healthcare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78608" y="3310128"/>
            <a:ext cx="3108960" cy="58521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364992"/>
            <a:ext cx="296265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Patient intake steps, insurance/EHR context, staffing pain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79008" y="3310128"/>
            <a:ext cx="3063240" cy="58521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0" y="3364992"/>
            <a:ext cx="291693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Mobile intake + staff verification dashboard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33688" y="3310128"/>
            <a:ext cx="3154680" cy="58521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6840" y="3364992"/>
            <a:ext cx="300837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HIPAA-ready intake automation POC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968496"/>
            <a:ext cx="1920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4023360"/>
            <a:ext cx="177393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Mortgage Ops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78608" y="3968496"/>
            <a:ext cx="31089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0" y="4023360"/>
            <a:ext cx="296265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Borrower package, LOS context, underwriting checklist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79008" y="3968496"/>
            <a:ext cx="3063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60" y="4023360"/>
            <a:ext cx="291693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Extraction review + compliance sign-off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33688" y="3968496"/>
            <a:ext cx="31546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06840" y="4023360"/>
            <a:ext cx="300837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Document AI + human adjudication POC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626864"/>
            <a:ext cx="1920240" cy="58521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4681728"/>
            <a:ext cx="177393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Construction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78608" y="4626864"/>
            <a:ext cx="3108960" cy="58521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0" y="4681728"/>
            <a:ext cx="296265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Site portfolio, reporting cadence, safety categories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79008" y="4626864"/>
            <a:ext cx="3063240" cy="58521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52160" y="4681728"/>
            <a:ext cx="291693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Map → site drilldown → morning report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33688" y="4626864"/>
            <a:ext cx="3154680" cy="58521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06840" y="4681728"/>
            <a:ext cx="300837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Computer vision and reporting POC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285232"/>
            <a:ext cx="1920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" y="5340096"/>
            <a:ext cx="177393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AI Readiness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78608" y="5285232"/>
            <a:ext cx="31089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51760" y="5340096"/>
            <a:ext cx="296265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Tech stack, data maturity, executive priorities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79008" y="5285232"/>
            <a:ext cx="3063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52160" y="5340096"/>
            <a:ext cx="291693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Wizard → recommendations → ROI cards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33688" y="5285232"/>
            <a:ext cx="31546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06840" y="5340096"/>
            <a:ext cx="300837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Paid discovery and roadmap sprint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Pre-Sales Demo Accelerator | June 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Turn Demos Into Packaged POCs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prototype should make the next purchase decision smaller and clearer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429000" cy="32461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342900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38528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Lite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95728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C9A7"/>
                </a:solidFill>
                <a:latin typeface="Calibri"/>
              </a:rPr>
              <a:t>$15K-$25K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852928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2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73552"/>
            <a:ext cx="301752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Clickable prototype + workflow validation + data/integration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16052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1" i="0">
                <a:solidFill>
                  <a:srgbClr val="0A1628"/>
                </a:solidFill>
                <a:latin typeface="Calibri"/>
              </a:rPr>
              <a:t>Best for ambiguous AI readiness or early-stage prospects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691640"/>
            <a:ext cx="3429000" cy="32461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691640"/>
            <a:ext cx="3429000" cy="914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1938528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Focused POC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395728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B800"/>
                </a:solidFill>
                <a:latin typeface="Calibri"/>
              </a:rPr>
              <a:t>$40K-$75K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2852928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4-6 weeks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3273552"/>
            <a:ext cx="301752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One workflow, one dataset, one operating dashboard, one success metric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416052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1" i="0">
                <a:solidFill>
                  <a:srgbClr val="0A1628"/>
                </a:solidFill>
                <a:latin typeface="Calibri"/>
              </a:rPr>
              <a:t>Best default package after a vertical demo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1691640"/>
            <a:ext cx="3429000" cy="32461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80" y="1691640"/>
            <a:ext cx="3429000" cy="9144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6448" y="1938528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Production 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2395728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E05A6B"/>
                </a:solidFill>
                <a:latin typeface="Calibri"/>
              </a:rPr>
              <a:t>$100K-$250K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2852928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8-12 weeks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3273552"/>
            <a:ext cx="301752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Secure deployment, system integration, user testing, adoption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416052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1" i="0">
                <a:solidFill>
                  <a:srgbClr val="0A1628"/>
                </a:solidFill>
                <a:latin typeface="Calibri"/>
              </a:rPr>
              <a:t>Best when executive sponsor already owns budget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532120"/>
            <a:ext cx="11094415" cy="502920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605272"/>
            <a:ext cx="105156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1" i="0">
                <a:solidFill>
                  <a:srgbClr val="00C9A7"/>
                </a:solidFill>
                <a:latin typeface="Calibri"/>
              </a:rPr>
              <a:t>Pricing principle: MagicPath accelerates the demo, not the value. Charge for risk reduction, workflow specificity, and implementation confidence.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Pre-Sales Demo Accelerator | June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Sales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Define who does what so the workflow scales beyond founder-led demos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514600" cy="713232"/>
          </a:xfrm>
          <a:prstGeom prst="roundRect">
            <a:avLst>
              <a:gd name="adj" fmla="val 4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73352"/>
            <a:ext cx="2176272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Account Exec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655064"/>
            <a:ext cx="8321040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Owns discovery, buyer map, business pain, commercial next step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51760"/>
            <a:ext cx="2514600" cy="713232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724912"/>
            <a:ext cx="2176272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Solution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706624"/>
            <a:ext cx="8321040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Translates discovery into demo brief, workflow, metrics, data assumptions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03320"/>
            <a:ext cx="2514600" cy="713232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776472"/>
            <a:ext cx="2176272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MagicPath Operator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758184"/>
            <a:ext cx="8321040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Creates canvas, imports context, refines screens, enforces brand/workflow realism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54880"/>
            <a:ext cx="2514600" cy="713232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4828032"/>
            <a:ext cx="2176272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Coding Agent 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4809744"/>
            <a:ext cx="8321040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Turns canvas into clickable app, mock data, deployment, demo script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06440"/>
            <a:ext cx="11094415" cy="41148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870448"/>
            <a:ext cx="105156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Repeatable artifact stack: discovery brief, MagicPath canvas, prototype repo, demo script, POC scope, post-demo decision memo.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Pre-Sales Demo Accelerator | June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ROI Logic For Sales Leaders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business case is not only cheaper demos; it is higher conversion velocity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337560" cy="1417320"/>
          </a:xfrm>
          <a:prstGeom prst="roundRect">
            <a:avLst>
              <a:gd name="adj" fmla="val 5000"/>
            </a:avLst>
          </a:prstGeom>
          <a:solidFill>
            <a:srgbClr val="E0F7F1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19656"/>
            <a:ext cx="29718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5B6B7C"/>
                </a:solidFill>
                <a:latin typeface="Calibri"/>
              </a:rPr>
              <a:t>Cycle Compression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10312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Days, not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606040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Earlier relevance reduces the dead zone after discovery.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691640"/>
            <a:ext cx="3337560" cy="14173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819656"/>
            <a:ext cx="29718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5B6B7C"/>
                </a:solidFill>
                <a:latin typeface="Calibri"/>
              </a:rPr>
              <a:t>Qualification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10312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Better mutual 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2606040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Clickable workflows reveal integration, adoption, and sponsor gaps early.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691640"/>
            <a:ext cx="3337560" cy="14173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1" y="1819656"/>
            <a:ext cx="29718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5B6B7C"/>
                </a:solidFill>
                <a:latin typeface="Calibri"/>
              </a:rPr>
              <a:t>POC Conversion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1" y="210312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Scoped next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1" y="2606040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The demo becomes the first draft of the POC statement of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9476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Measure this motion with commercial metrics, not design metrics: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51960"/>
            <a:ext cx="53035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Discovery-to-demo elapsed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251960"/>
            <a:ext cx="53035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Demo-to-POC conversion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27448"/>
            <a:ext cx="53035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POC scope clarity at proposal stage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727448"/>
            <a:ext cx="53035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Average sales cycle duration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02936"/>
            <a:ext cx="53035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Solution architect hours per qualified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202936"/>
            <a:ext cx="53035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•  Executive sponsor engagement after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Pre-Sales Demo Accelerator | June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Guardrails For Executive-Grade Demos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prototype must feel specific without pretending to be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347472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609344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Label assumptions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609344"/>
            <a:ext cx="70408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Mark mock data, placeholder integrations, and unverified AI outputs clearly.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96312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14600"/>
            <a:ext cx="347472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478024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Keep human approval visible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478024"/>
            <a:ext cx="70408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Legal, healthcare, finance, and safety demos should show review, override, and audit trails.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64992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83280"/>
            <a:ext cx="347472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346704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Use realistic domain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346704"/>
            <a:ext cx="70408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Borrow the buyer's operating vocabulary: SAP PM, EHR sync, LOS, OEE, DTI, site safety.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33672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251960"/>
            <a:ext cx="347472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215384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Do not overclaim readiness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215384"/>
            <a:ext cx="70408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Demo acceleration does not remove security, compliance, integration, or change-management work.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02352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120640"/>
            <a:ext cx="347472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5084064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Capture edits 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5084064"/>
            <a:ext cx="70408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Every 'can it also do X?' becomes either a canvas update or a POC backlog item.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Pre-Sales Demo Accelerator | June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 90-Second Demo Storyboard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Use the same narrative spine across every vertical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456432" cy="14173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3456432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92808"/>
            <a:ext cx="306324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1. Open on pain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50008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Show the exact workflow bottleneck the prospect described.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691640"/>
            <a:ext cx="3456432" cy="14173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691640"/>
            <a:ext cx="3456432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1892808"/>
            <a:ext cx="306324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2. Reveal tailored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350008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Use their language, systems, roles, and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8" y="1691640"/>
            <a:ext cx="3456432" cy="14173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8" y="1691640"/>
            <a:ext cx="3456432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8" y="1892808"/>
            <a:ext cx="306324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3. Click the exception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8" y="2350008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Open an alert, flagged clause, intake issue, safety violation, or document mismatch.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66159"/>
            <a:ext cx="3456432" cy="14173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66159"/>
            <a:ext cx="3456432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67327"/>
            <a:ext cx="306324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4. Show human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24527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Approve, reject, escalate, or assign; do not imply blind automation.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79" y="3566159"/>
            <a:ext cx="3456432" cy="14173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79" y="3566159"/>
            <a:ext cx="3456432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3767327"/>
            <a:ext cx="306324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5. Create the next step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4224527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Generate work order, review queue, report, roadmap, or POC scope.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8" y="3566159"/>
            <a:ext cx="3456432" cy="14173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18" y="3566159"/>
            <a:ext cx="3456432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8" y="3767327"/>
            <a:ext cx="306324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6. Ask for implementation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8" y="4224527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Shift from imagination to access: dataset, system, owner, timeline.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23560"/>
            <a:ext cx="11094415" cy="438912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68756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Rule: one interaction every 15 seconds. The buyer should touch the workflow, not watch a product tour.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Pre-Sales Demo Accelerator | June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Competitive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MagicPath wins when the demo motion needs multi-agent flexibility and external tooling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429000" cy="3749039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342900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30632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MagicPath-led motion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42032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•  Shared canvas for humans and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54096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•  Figma import, web capture, prompt-to-design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66160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•  External agents: Codex, Claude Code, Cursor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78224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•  Good fit for sales teams that need fast vertical prototypes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691640"/>
            <a:ext cx="3429000" cy="3749039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691640"/>
            <a:ext cx="3429000" cy="914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965960"/>
            <a:ext cx="30632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Claude Design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542032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•  Native Anthropic visual creation surface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054096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•  Prototype and handoff to Claude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566160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•  Validates the market direction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078224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•  Good fit when the team is standardized on Claude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1691640"/>
            <a:ext cx="3429000" cy="3749039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80" y="1691640"/>
            <a:ext cx="3429000" cy="9144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1965960"/>
            <a:ext cx="30632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Traditional custom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542032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•  High control and production realism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3054096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•  Slow and expensive for early-stage deals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3566160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•  Often requires scarce solution architect capacity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4078224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•  Best reserved for late-stage enterprise pursuits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Pre-Sales Demo Accelerator | June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30-Day Rollout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Stand up the demo accelerator as a repeatable sales capability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43000" cy="6858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73352"/>
            <a:ext cx="96012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600200"/>
            <a:ext cx="30175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Build the demo library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00200"/>
            <a:ext cx="658368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Pick six vertical scenarios, define reusable prompts, components, mock datasets, and demo scripts.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97480"/>
            <a:ext cx="1143000" cy="6858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70632"/>
            <a:ext cx="96012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Week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97480"/>
            <a:ext cx="30175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Create operating standards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97480"/>
            <a:ext cx="658368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Define intake brief, QA checklist, disclosure language, prototype repo structure, and handoff process.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4760"/>
            <a:ext cx="1143000" cy="6858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67912"/>
            <a:ext cx="96012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Week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94760"/>
            <a:ext cx="30175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Pilot with live pursuits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794760"/>
            <a:ext cx="658368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Run 3-5 active opportunities through the workflow; measure elapsed time and buyer response.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92040"/>
            <a:ext cx="1143000" cy="6858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65192"/>
            <a:ext cx="96012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Week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892040"/>
            <a:ext cx="30175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Package for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892040"/>
            <a:ext cx="658368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Convert best demos into reusable templates and align POC packages, pricing, and sales enablement.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806440"/>
            <a:ext cx="11094415" cy="411480"/>
          </a:xfrm>
          <a:prstGeom prst="roundRect">
            <a:avLst>
              <a:gd name="adj" fmla="val 3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870448"/>
            <a:ext cx="105156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Decision required: choose first three live opportunities and assign one MagicPath operator plus one coding-agent lead.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Pre-Sales Demo Accelerator | June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Short Demo Videos To Substantiate The Motion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External proof assets plus the talk track sales should use</a:t>
            </a:r>
          </a:p>
        </p:txBody>
      </p:sp>
      <p:pic>
        <p:nvPicPr>
          <p:cNvPr id="7" name="Picture 6" descr="video-card-magicpath-official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3429000" cy="19293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3703320"/>
            <a:ext cx="34290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MagicPath Official Tutorials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69080"/>
            <a:ext cx="34290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Use this as the product proof library: canvas workflow, agent features, import/export mechanics.</a:t>
            </a:r>
          </a:p>
        </p:txBody>
      </p:sp>
      <p:sp>
        <p:nvSpPr>
          <p:cNvPr id="10" name="TextBox 9">
            <a:hlinkClick r:id="rId3"/>
          </p:cNvPr>
          <p:cNvSpPr txBox="1"/>
          <p:nvPr/>
        </p:nvSpPr>
        <p:spPr>
          <a:xfrm>
            <a:off x="548640" y="4773168"/>
            <a:ext cx="34290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009B82"/>
                </a:solidFill>
                <a:latin typeface="Calibri"/>
              </a:rPr>
              <a:t>https://www.youtube.com/@MagicPathAI</a:t>
            </a:r>
          </a:p>
        </p:txBody>
      </p:sp>
      <p:pic>
        <p:nvPicPr>
          <p:cNvPr id="11" name="Picture 10" descr="video-card-pietro-short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600200"/>
            <a:ext cx="3429000" cy="19293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51960" y="3703320"/>
            <a:ext cx="34290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Pietro short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4069080"/>
            <a:ext cx="34290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Use this as the fast executive proof point: design surface to interactive prototype.</a:t>
            </a:r>
          </a:p>
        </p:txBody>
      </p:sp>
      <p:sp>
        <p:nvSpPr>
          <p:cNvPr id="14" name="TextBox 13">
            <a:hlinkClick r:id="rId5"/>
          </p:cNvPr>
          <p:cNvSpPr txBox="1"/>
          <p:nvPr/>
        </p:nvSpPr>
        <p:spPr>
          <a:xfrm>
            <a:off x="4251960" y="4773168"/>
            <a:ext cx="34290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009B82"/>
                </a:solidFill>
                <a:latin typeface="Calibri"/>
              </a:rPr>
              <a:t>https://www.youtube.com/watch?v=ZSOb2uijfSE</a:t>
            </a:r>
          </a:p>
        </p:txBody>
      </p:sp>
      <p:pic>
        <p:nvPicPr>
          <p:cNvPr id="15" name="Picture 14" descr="video-card-founder-interview.pn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1600200"/>
            <a:ext cx="3429000" cy="19293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55280" y="3703320"/>
            <a:ext cx="34290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Founder demo/interview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4069080"/>
            <a:ext cx="34290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Use this when the buyer wants broader context on the design-to-development shift.</a:t>
            </a:r>
          </a:p>
        </p:txBody>
      </p:sp>
      <p:sp>
        <p:nvSpPr>
          <p:cNvPr id="18" name="TextBox 17">
            <a:hlinkClick r:id="rId7"/>
          </p:cNvPr>
          <p:cNvSpPr txBox="1"/>
          <p:nvPr/>
        </p:nvSpPr>
        <p:spPr>
          <a:xfrm>
            <a:off x="7955280" y="4773168"/>
            <a:ext cx="34290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009B82"/>
                </a:solidFill>
                <a:latin typeface="Calibri"/>
              </a:rPr>
              <a:t>https://www.youtube.com/watch?v=LhCA5GzqbPU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669280"/>
            <a:ext cx="11094415" cy="457200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733288"/>
            <a:ext cx="105156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0C9A7"/>
                </a:solidFill>
                <a:latin typeface="Calibri"/>
              </a:rPr>
              <a:t>Meeting usage: do not play long videos in full. Open 20-40 seconds, point to the workflow pattern, then switch to the tailored prospect demo.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Pre-Sales Demo Accelerator | June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Short Demo Videos Built For This Deck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Local MP4 storyboards for the three highest-fit sales scenarios</a:t>
            </a:r>
          </a:p>
        </p:txBody>
      </p:sp>
      <p:pic>
        <p:nvPicPr>
          <p:cNvPr id="7" name="Picture 6" descr="frame_03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27632"/>
            <a:ext cx="3429000" cy="19293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3749039"/>
            <a:ext cx="34290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Manufacturing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96512"/>
            <a:ext cx="342900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Alert-to-work-order demo for VP Manufacturing or Plant VP.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45152"/>
            <a:ext cx="3429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009B82"/>
                </a:solidFill>
                <a:latin typeface="Calibri"/>
              </a:rPr>
              <a:t>Local MP4: docs/reports/magicpath_presales_assets/manufacturing-demo-storyboard.mp4</a:t>
            </a:r>
          </a:p>
        </p:txBody>
      </p:sp>
      <p:pic>
        <p:nvPicPr>
          <p:cNvPr id="11" name="Picture 10" descr="frame_03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627632"/>
            <a:ext cx="3429000" cy="19293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51960" y="3749039"/>
            <a:ext cx="34290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Legal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4096512"/>
            <a:ext cx="342900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Contract-risk workflow for Managing Partner or Legal Ops.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4645152"/>
            <a:ext cx="3429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009B82"/>
                </a:solidFill>
                <a:latin typeface="Calibri"/>
              </a:rPr>
              <a:t>Local MP4: docs/reports/magicpath_presales_assets/legal-demo-storyboard.mp4</a:t>
            </a:r>
          </a:p>
        </p:txBody>
      </p:sp>
      <p:pic>
        <p:nvPicPr>
          <p:cNvPr id="15" name="Picture 14" descr="frame_03.pn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1627632"/>
            <a:ext cx="3429000" cy="19293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55280" y="3749039"/>
            <a:ext cx="34290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Healthcare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4096512"/>
            <a:ext cx="342900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Patient intake automation for Practice Manager or COO.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4645152"/>
            <a:ext cx="3429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009B82"/>
                </a:solidFill>
                <a:latin typeface="Calibri"/>
              </a:rPr>
              <a:t>Local MP4: docs/reports/magicpath_presales_assets/healthcare-demo-storyboard.mp4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650992"/>
            <a:ext cx="11094415" cy="475488"/>
          </a:xfrm>
          <a:prstGeom prst="roundRect">
            <a:avLst>
              <a:gd name="adj" fmla="val 3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724144"/>
            <a:ext cx="105156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These MP4s are short storyboard assets, not product recordings. Use them to tee up what the live MagicPath/Codex demo should prove.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Pre-Sales Demo Accelerator | June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How To Use Video In The Sales Meeting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 short video should accelerate belief, then hand off to the live tailored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325880" cy="603504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0:00-0:20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691640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Pattern 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67208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0" i="0">
                <a:solidFill>
                  <a:srgbClr val="1B2B3C"/>
                </a:solidFill>
                <a:latin typeface="Calibri"/>
              </a:rPr>
              <a:t>Play a MagicPath clip showing design-to-prototype mechanics.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51760"/>
            <a:ext cx="1325880" cy="603504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0:20-0:45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651760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Vertical relevance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51760"/>
            <a:ext cx="67208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0" i="0">
                <a:solidFill>
                  <a:srgbClr val="1B2B3C"/>
                </a:solidFill>
                <a:latin typeface="Calibri"/>
              </a:rPr>
              <a:t>Show the local storyboard for the buyer's industry scenario.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80"/>
            <a:ext cx="1325880" cy="603504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03320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0:45-1:30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611880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Tailored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611880"/>
            <a:ext cx="67208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0" i="0">
                <a:solidFill>
                  <a:srgbClr val="1B2B3C"/>
                </a:solidFill>
                <a:latin typeface="Calibri"/>
              </a:rPr>
              <a:t>Switch to the prospect-specific clickable prototype and let the buyer drive.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72000"/>
            <a:ext cx="1325880" cy="603504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1:30-2:00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572000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POC bridge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572000"/>
            <a:ext cx="67208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0" i="0">
                <a:solidFill>
                  <a:srgbClr val="1B2B3C"/>
                </a:solidFill>
                <a:latin typeface="Calibri"/>
              </a:rPr>
              <a:t>Convert questions into data access, integration scope, owners, and success metrics.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806440"/>
            <a:ext cx="11094415" cy="411480"/>
          </a:xfrm>
          <a:prstGeom prst="roundRect">
            <a:avLst>
              <a:gd name="adj" fmla="val 3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870448"/>
            <a:ext cx="105156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Never let the video become the demo. The video validates the workflow pattern; the tailored prototype closes the relevance gap.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Pre-Sales Demo Accelerator | June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Sources And Recommended Proof Assets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Use these links to substantiate the deck and build the demo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36192"/>
            <a:ext cx="26060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MagicPath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536192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09B82"/>
                </a:solidFill>
                <a:latin typeface="Calibri"/>
              </a:rPr>
              <a:t>https://www.magicpath.ai/documentation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536192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Official product claims: shared canvas, agents, design systems, code export.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9424"/>
            <a:ext cx="26060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MagicPath homepage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249424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09B82"/>
                </a:solidFill>
                <a:latin typeface="Calibri"/>
              </a:rPr>
              <a:t>https://www.magicpath.ai/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24942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External agents and design-code workflow positioning.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62656"/>
            <a:ext cx="26060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MagicPath Figma Connect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962656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09B82"/>
                </a:solidFill>
                <a:latin typeface="Calibri"/>
              </a:rPr>
              <a:t>https://www.magicpath.ai/documentation/features/figma-connect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962656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Figma import / interactive prototype workflow.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75888"/>
            <a:ext cx="26060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MagicPath Codex plugin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67588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09B82"/>
                </a:solidFill>
                <a:latin typeface="Calibri"/>
              </a:rPr>
              <a:t>https://www.magicpath.ai/blog/magicpath-official-codex-plugin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75888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Codex plugin announcement and agentic app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89120"/>
            <a:ext cx="26060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UX Tools article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389120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09B82"/>
                </a:solidFill>
                <a:latin typeface="Calibri"/>
              </a:rPr>
              <a:t>https://www.uxtools.co/blog/3-ways-magicpath-closes-the-design-to-code-gap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8912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Third-party validation of Figma, live product, prompt, and code output paths.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02352"/>
            <a:ext cx="26060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Anthropic Claude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5102352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09B82"/>
                </a:solidFill>
                <a:latin typeface="Calibri"/>
              </a:rPr>
              <a:t>https://www.anthropic.com/news/claude-design-anthropic-labs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5102352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Market validation of prototype-to-Claude-Code handoff pattern.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15584"/>
            <a:ext cx="26060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MagicPath YouTube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5815584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09B82"/>
                </a:solidFill>
                <a:latin typeface="Calibri"/>
              </a:rPr>
              <a:t>https://www.youtube.com/@MagicPathAI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581558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Tutorials and demo videos for sales enablement.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897880"/>
            <a:ext cx="11094415" cy="347472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95274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Deck status: reviewed after PPTX structural validation and preview render. Video-card slides link to external proof assets and local storyboard MP4s; claims requiring internal benchmarks are framed as hypotheses or recommended metrics.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Pre-Sales Demo Accelerator | June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