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24160" y="0"/>
            <a:ext cx="1767535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2416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USE-CASE REALIZATION · UC05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22960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800" b="1" i="0">
                <a:solidFill>
                  <a:srgbClr val="FFFFFF"/>
                </a:solidFill>
                <a:latin typeface="Calibri"/>
              </a:rPr>
              <a:t>Predictive Quality
for Automotive Manufacturing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74720"/>
            <a:ext cx="10972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5B6B7C"/>
                </a:solidFill>
                <a:latin typeface="Calibri"/>
              </a:rPr>
              <a:t>Sensor-driven defect prediction with AI engineering acceleration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5488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791456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OpenHands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75488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791456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SAP QM/PM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475488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4791456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XGBoost + SHAP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75488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791456"/>
            <a:ext cx="164592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ADK + AG-UI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Predictive Quality AI · Hyundai Manufacturing | June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Predict Defective Parts Mid-Line Before They Become Scrap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Executive summary — the answer first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94415" cy="9144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10515600" cy="8046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FFFFFF"/>
                </a:solidFill>
                <a:latin typeface="Calibri"/>
              </a:rPr>
              <a:t>We deliver a 4-week pilot that predicts out-of-spec parts using in-process sensor data, flags defects before end-of-line inspection, and integrates directly with SAP QM/PM — at 50-70% less cost than traditional consulting.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3383280" cy="5486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3383280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Automotive plants lose millions annually to scrap and rework. Defects are caught at end-of-line — too late to prevent upstream batch failures. Sensor data exists but sits unused in historians.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651760"/>
            <a:ext cx="338328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78892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154680"/>
            <a:ext cx="3383280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In-process sensor signals (welding current, torque curves, paint thickness) contain early warning patterns. XGBoost on featurized traces reaches useful precision with as little as 3 months of labeled inspection data from SAP QM.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651760"/>
            <a:ext cx="338328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788920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154680"/>
            <a:ext cx="3383280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Start a single-station pilot ($40-60K, 4 weeks). Validate the model in shadow mode alongside existing inspection. Scale to additional lines at ~$20K each. Monthly retainer $8-12K covers monitoring, retraining, and dashboard support.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760720"/>
            <a:ext cx="11094415" cy="50292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88152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THE ASK:  Approve a 4-week, $40-60K pilot on one welding or torque station with historian + SAP QM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Predictive Quality AI · Hyundai Manufacturing | June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Defects Are Caught Too Late — Upstream Data Goes Unused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quality gap in automotive manufacturing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18488"/>
            <a:ext cx="3657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00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End-of-Line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8424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Defects found at final inspection after the damage is done. Entire batches may be scrapped if a process drifted early.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07208"/>
            <a:ext cx="3657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788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Sensor Data Silos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7296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Welding robots, torque tools, paint booths, and CNC machines generate rich time-series data — but it sits in historians, disconnected from quality 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7764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995928"/>
            <a:ext cx="3657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977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Reactive, Not Predictive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36168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Quality teams investigate after failures. No automated link between in-process sensor patterns and downstream defect types.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663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84648"/>
            <a:ext cx="3657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1663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Slow, Expensive Solutions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5504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Traditional consulting engagements take 6-12 months and $200K+. Platform vendors (Sight Machine, PTC) lock you into expensive annual contracts.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Predictive Quality AI · Hyundai Manufacturing | June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Predict Defects Mid-Line Using Existing Sensor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Sensor-to-SAP predictive quality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471" y="1783080"/>
            <a:ext cx="1371600" cy="100584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4623" y="1828800"/>
            <a:ext cx="1225296" cy="9144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Sensors
&amp; PLCs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1359" y="2057400"/>
            <a:ext cx="12801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7663" y="1783080"/>
            <a:ext cx="1371600" cy="1005840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0815" y="1828800"/>
            <a:ext cx="1225296" cy="9144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OPC-UA /
MQTT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7551" y="2057400"/>
            <a:ext cx="12801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73855" y="1783080"/>
            <a:ext cx="1371600" cy="1005840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47007" y="1828800"/>
            <a:ext cx="1225296" cy="9144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Historian
(InfluxDB/MII)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3743" y="2057400"/>
            <a:ext cx="12801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10047" y="1783080"/>
            <a:ext cx="1371600" cy="100584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3199" y="1828800"/>
            <a:ext cx="1225296" cy="9144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Feature
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9935" y="2057400"/>
            <a:ext cx="12801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6239" y="1783080"/>
            <a:ext cx="1371600" cy="1005840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19391" y="1828800"/>
            <a:ext cx="1225296" cy="9144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XGBoost
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6127" y="2057400"/>
            <a:ext cx="12801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82431" y="1783080"/>
            <a:ext cx="1371600" cy="1005840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55583" y="1828800"/>
            <a:ext cx="1225296" cy="9144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>SHAP
Explainability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2319" y="2057400"/>
            <a:ext cx="128016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8623" y="1783080"/>
            <a:ext cx="1371600" cy="1005840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91775" y="1828800"/>
            <a:ext cx="1225296" cy="9144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SAP PM
Notification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10896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Tap the historian layer — never touch PLCs (plant safety preserved)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61188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Sensor traces featurized: mean, std, skew, kurtosis, FFT peaks, rate-of-change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1148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Labels from SAP QM inspection results (pass/fail/defect-type per part)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61772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Model outputs defect probability per part per station — threshold tuned to cost tradeoff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1206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SAP PM notification auto-created when model flags a part or detects process drift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Predictive Quality AI · Hyundai Manufacturing | June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XGBoost Baseline Delivers Fast ROI — Deep Learning Upgrade Path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ML pipeline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457200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1912"/>
            <a:ext cx="493776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BASELINE: XGBoost on Tabular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Statistical summaries per sensor trace (mean, std, skew, kurtosis)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Frequency-domain features (FFT peaks, dominant frequencies)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Rate-of-change and trend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Fast to train, interpretable, good enough for pilot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SHAP values show which signals drive each prediction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5029200" cy="457200"/>
          </a:xfrm>
          <a:prstGeom prst="roundRect">
            <a:avLst>
              <a:gd name="adj" fmla="val 3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81912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UPGRADE: LSTM / 1D-CNN on Raw Traces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14884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Learns temporal patterns directly from raw sensor waveforms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0604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Higher accuracy on complex, multi-signal defect modes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6324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Requires larger training dataset (6+ months of labeled data)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2044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6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•  Justified once baseline proves value and data volume grows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54880"/>
            <a:ext cx="11094415" cy="54864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9377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5B6B7C"/>
                </a:solidFill>
                <a:latin typeface="Calibri"/>
              </a:rPr>
              <a:t>SENSOR COVERAGE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257800"/>
            <a:ext cx="2560320" cy="8686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03520"/>
            <a:ext cx="22860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Welding: current, voltage,
wire feed, gas 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5257800"/>
            <a:ext cx="2560320" cy="8686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5303520"/>
            <a:ext cx="22860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Torque: angle curves,
torque profiles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5257800"/>
            <a:ext cx="2560320" cy="8686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5303520"/>
            <a:ext cx="22860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Paint: thickness, temp,
humidity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5257800"/>
            <a:ext cx="2560320" cy="8686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5303520"/>
            <a:ext cx="2286000" cy="7772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CNC/Press: vibration,
force, 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Predictive Quality AI · Hyundai Manufacturing |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OpenHands Cuts Delivery By 50% — AI Generates The Pipeline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AI engineering accelerator, not runtime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887" y="164592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0887" y="1645920"/>
            <a:ext cx="201168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1874519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Sensor-Fusion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2514600"/>
            <a:ext cx="173736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Generates data ingestion code:
OPC-UA/MQTT connectors, historian
queries, part-ID correlation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5447" y="164592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95447" y="1645920"/>
            <a:ext cx="201168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2607" y="1874519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Feature-Engineering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607" y="2514600"/>
            <a:ext cx="173736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Generates featurization pipelines
from sensor schema: statistical,
frequency-domain, rate-of-change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90007" y="164592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90007" y="1645920"/>
            <a:ext cx="2011680" cy="73152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7167" y="1874519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Model-Training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7167" y="2514600"/>
            <a:ext cx="173736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Scaffolds training notebooks,
hyperparameter sweeps, MLflow
experiment tracking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4567" y="164592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84567" y="1645920"/>
            <a:ext cx="201168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1727" y="1874519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Explainability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1727" y="2514600"/>
            <a:ext cx="173736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Generates SHAP/LIME dashboards
showing which sensor signals drove
each prediction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79127" y="1645920"/>
            <a:ext cx="2011680" cy="256032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79127" y="1645920"/>
            <a:ext cx="2011680" cy="7315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6287" y="1874519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SAP-PM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6287" y="2514600"/>
            <a:ext cx="173736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Generates MCP connectors for
SAP QM (read) and SAP PM (write)
via OData APIs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572000"/>
            <a:ext cx="11094415" cy="59436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617720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~60%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461772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boilerplate code
auto-generated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617720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8-12 → 4 wks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0" y="461772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delivery
acceleration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617720"/>
            <a:ext cx="128016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B800"/>
                </a:solidFill>
                <a:latin typeface="Calibri"/>
              </a:rPr>
              <a:t>Human Focus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461772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feature selection, model
tuning, domain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1">
                <a:solidFill>
                  <a:srgbClr val="5B6B7C"/>
                </a:solidFill>
                <a:latin typeface="Calibri"/>
              </a:rPr>
              <a:t>OpenHands is the delivery accelerator — the human ML engineer makes the critical decisions.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Predictive Quality AI · Hyundai Manufacturing | June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Deep SAP Integration Via OData — No Joule, No Lock-In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Three SAP touchpoints for a closed-loop quality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463040" cy="114300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SAP QM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691640"/>
            <a:ext cx="8686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Inspection lots + results (pass/fail/defect-code per part). Training label source.
OData: API_INSPECTIONLOT_SRV or custom CDS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1463040" cy="114300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SAP 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108960"/>
            <a:ext cx="8686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Quality notifications when model flags a part. Triggers maintenance workflow on process drift.
OData: API_MAINTNOTIFICATION_SRV.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34840"/>
            <a:ext cx="1463040" cy="114300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Calibri"/>
              </a:rPr>
              <a:t>SAP MII/ME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526280"/>
            <a:ext cx="8686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Real-time production order context — which part is at which station. Improves part-ID correlation.
Optional but valuable.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13832"/>
            <a:ext cx="10515600" cy="58521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INTEGRATION STACK:  Gemini + ADK + MCP → SAP OData     |     No Joule  ·  No RFC/BAPI  ·  No Vendor Lock-In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Predictive Quality AI · Hyundai Manufacturing |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Quality Engineers See Why — Not Just What — The Model Predicts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Generative UI dashboard with SHAP explainability + natural-language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73152" cy="109728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Real-Time Alert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39112"/>
            <a:ext cx="102412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Parts flagged as high defect probability, ranked by confidence. Top 3 contributing sensor signals highlighted per part (e.g., 'welding current spike at station 4 contributed 62%'). SHAP waterfall charts.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73152" cy="109728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9923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Process Drift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64992"/>
            <a:ext cx="102412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Time-series trends of key process parameters with control limits. Shows when a parameter is drifting toward out-of-spec before crossing threshold. SPC charts enhanced with ML-detected anomalies.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5196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251960"/>
            <a:ext cx="73152" cy="10972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25112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Root-Cause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90872"/>
            <a:ext cx="1024128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For a selected defect type, shows which sensor signals and stations are most correlated. Helps quality engineers investigate systemic issues, not just individual parts.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715000"/>
            <a:ext cx="11094415" cy="45720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42432"/>
            <a:ext cx="10515600" cy="402336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Built with ADK + AG-UI (CopilotKit frontend, Gemini backend)  ·  Ask: "Why did station 4 flag 12 parts today?"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Predictive Quality AI · Hyundai Manufacturing |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From Data to Validated Model in 4 Weeks — Not 4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Aggressive but proven single-station pilot timeline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22860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Data Discovery
&amp; Connectivity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Connect to historian
Pull sensor data
Validate part-ID correlation
Pull SAP QM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72000"/>
            <a:ext cx="2377440" cy="8686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DELIVERABLE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Data quality report
+ feature schema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160020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10128" y="160020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1645920"/>
            <a:ext cx="22860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19456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Feature Engineering
&amp; Baseline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88036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Build feature pipelines
Train XGBoost baseline
Validate vs. historical defects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1568" y="4572000"/>
            <a:ext cx="2377440" cy="8686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3008" y="45720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DELIVERABLE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48463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Model accuracy metrics
+ SHAP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71616" y="160020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71616" y="160020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8776" y="1645920"/>
            <a:ext cx="22860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219456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Dashboard &amp;
SAP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288036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Build explainability dashboard
Connect SAP QM read
Connect SAP PM write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4572000"/>
            <a:ext cx="2377440" cy="8686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45720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DELIVERABLE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48463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Working dashboard
with live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33104" y="1600200"/>
            <a:ext cx="2560320" cy="411480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833104" y="160020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0264" y="1645920"/>
            <a:ext cx="228600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4" y="219456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Validation
&amp; Handoff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0264" y="288036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Shadow mode alongside inspection
Measure precision/recall
Tune threshold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24544" y="4572000"/>
            <a:ext cx="2377440" cy="8686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15984" y="45720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0C9A7"/>
                </a:solidFill>
                <a:latin typeface="Calibri"/>
              </a:rPr>
              <a:t>DELIVERABLE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48463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Pilot results report
+ scale-up proposal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Traditional consulting: 8-12 weeks, $120K-180K  →  Our pilot: 4 weeks, $40-60K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Predictive Quality AI · Hyundai Manufacturing | June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50-70% Cheaper and 3x Faster Than Traditional Alternatives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Investment summary with clear expansion path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00C9A7"/>
                </a:solidFill>
                <a:latin typeface="Calibri"/>
              </a:rPr>
              <a:t>$40-60K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Pilot
(4 weeks, single station)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60020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73736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B800"/>
                </a:solidFill>
                <a:latin typeface="Calibri"/>
              </a:rPr>
              <a:t>$8-12K/mo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6888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Retainer
(monitoring + support)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60020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73736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009B82"/>
                </a:solidFill>
                <a:latin typeface="Calibri"/>
              </a:rPr>
              <a:t>~$20K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468880"/>
            <a:ext cx="2926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Per Additional Line
(mostly configuration)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VALUE ANCHORING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Traditional consulting (Accenture, McKinsey): $200K-400K+ over 6+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SaaS platforms (Sight Machine, Uptake): $100K+ annual license, long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Our pilot: working prototype in 4 weeks, not a strategy deck in 6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40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•  Multi-plant deployment is the scale play — each new plant builds on proven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Predictive Quality AI · Hyundai Manufacturing | June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We Win on Speed, Cost, and Openness — Not Vendor Lock-In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Competitive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36776"/>
            <a:ext cx="155448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A1628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60020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63677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0020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3677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Sight Machine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60020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63677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Accenture/
McKinsey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0020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63677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PTC ThingWorx/
Siemens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377440"/>
            <a:ext cx="1737360" cy="7223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14016"/>
            <a:ext cx="155448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Timeline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237744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241401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4 weeks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237744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41401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3-6 months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237744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41401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6-12 months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37744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241401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6+ months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154680"/>
            <a:ext cx="1737360" cy="7223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191256"/>
            <a:ext cx="155448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Cost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315468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319125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$40-60K pilot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315468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19125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$100K+ annual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315468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19125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$200K-400K+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61120" y="315468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319125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Complex
licensing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931920"/>
            <a:ext cx="1737360" cy="7223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968496"/>
            <a:ext cx="155448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Deliverable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77440" y="393192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396849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Working
prototype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393192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396849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SaaS platform
access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66560" y="393192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96849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Strategy deck
+ build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0" y="393192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396849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IoT platform
+ ML add-on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709160"/>
            <a:ext cx="1737360" cy="7223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745736"/>
            <a:ext cx="155448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Lock-in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77440" y="470916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68880" y="474573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Open-source
stack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0" y="470916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474573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Proprietary
platform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66560" y="470916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0" y="474573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Consulting
dependency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20" y="470916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2560" y="474573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Vendor
platform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5486400"/>
            <a:ext cx="1737360" cy="72237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522976"/>
            <a:ext cx="155448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Explainability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377440" y="548640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68880" y="552297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1B2B3C"/>
                </a:solidFill>
                <a:latin typeface="Calibri"/>
              </a:rPr>
              <a:t>SHAP-first
dashboard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0" y="548640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63440" y="552297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Platform
analytics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766560" y="548640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0" y="552297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Custom
build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61120" y="5486400"/>
            <a:ext cx="2103120" cy="722376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5522976"/>
            <a:ext cx="1920240" cy="6492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1B2B3C"/>
                </a:solidFill>
                <a:latin typeface="Calibri"/>
              </a:rPr>
              <a:t>Limited
built-in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Predictive Quality AI · Hyundai Manufacturing | June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Every Major Risk Has a Built-In Mitigation — Week 1 Is the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Risk management and proposed 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828800" cy="640080"/>
          </a:xfrm>
          <a:prstGeom prst="roundRect">
            <a:avLst>
              <a:gd name="adj" fmla="val 4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609344" cy="6035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Data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600200"/>
            <a:ext cx="86868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Week 1 data discovery gate — if data is unusable, pivot or exit before model-build 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828800" cy="640080"/>
          </a:xfrm>
          <a:prstGeom prst="roundRect">
            <a:avLst>
              <a:gd name="adj" fmla="val 4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377440"/>
            <a:ext cx="1609344" cy="6035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IT/OT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404872"/>
            <a:ext cx="86868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Historian read-only (no PLC writes). Architecture review with OT team in Week 0 pre-kick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63824"/>
            <a:ext cx="1828800" cy="640080"/>
          </a:xfrm>
          <a:prstGeom prst="roundRect">
            <a:avLst>
              <a:gd name="adj" fmla="val 4000"/>
            </a:avLst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182112"/>
            <a:ext cx="1609344" cy="6035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Label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209544"/>
            <a:ext cx="86868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Focus on objective defect types first (dimensional, torque) — not subjective (cosmetic)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68496"/>
            <a:ext cx="1828800" cy="640080"/>
          </a:xfrm>
          <a:prstGeom prst="roundRect">
            <a:avLst>
              <a:gd name="adj" fmla="val 4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986784"/>
            <a:ext cx="1609344" cy="6035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Model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014216"/>
            <a:ext cx="86868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Week 4 shadow mode validates before any process changes. Data infra + dashboard have standalone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73168"/>
            <a:ext cx="1828800" cy="640080"/>
          </a:xfrm>
          <a:prstGeom prst="roundRect">
            <a:avLst>
              <a:gd name="adj" fmla="val 4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91456"/>
            <a:ext cx="1609344" cy="60350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Change Mgmt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818888"/>
            <a:ext cx="86868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Explainability dashboard is the trust-building mechanism. Start advisory, not automatic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577840"/>
            <a:ext cx="11094415" cy="9601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23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NEXT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97880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1. Technical discovery call: confirm historian platform, SAP version, OData 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099048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2. Week 0 pre-kick: OT architecture review, data access provisioning, inspection data sample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00216"/>
            <a:ext cx="1051560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3. Pilot kickoff: 4-week sprint on a single station (welding or torque recommended)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Predictive Quality AI · Hyundai Manufacturing | June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