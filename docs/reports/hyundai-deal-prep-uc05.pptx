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0"/>
            <a:ext cx="176753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2416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PRESALES DEAL PREP ·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144000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Hyundai Manufacturing
Predictive Quality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Sales toolkit: ROI framework, objection handling,
battle cards, mutual action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9145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UC05 Predictive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7548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79145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VP Mfg / VP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7548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79145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$40-60K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7548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4791456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4-Week 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Know Your Buyer Before The First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Account snapshot — Hyundai manufacturing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0116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Automotive manufacturing — high-volume production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04288"/>
            <a:ext cx="20116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22576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Target 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50008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VP Manufacturing / VP Quality / Plant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54096"/>
            <a:ext cx="20116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Decision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099816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Plant-level autonomy for pilot budgets; corporate for multi-plant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03904"/>
            <a:ext cx="20116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2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Pain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849624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Scrap/rework costs, end-of-line defect rates, SPC limitations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53712"/>
            <a:ext cx="20116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IT 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599432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SAP QM + PM, plant historians (InfluxDB/PI/MII), OPC-UA infrastructure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20116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21808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Budget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349240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Plant ops budgets typically allow $50-100K pilot without corporate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33872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KEY INSIGHT:  Plant managers want a working prototype, not a strategy deck. Lead with the 4-week timeline and shadow-mode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Eight Questions That Determine If This Deal Is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First-call discovery agenda — qualify before you pitch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0604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What are your top 3
defect types by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Tells us which station to pilot.
Objective defects (dimensional, torque)
are easier wins than cosmetic.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554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554480"/>
            <a:ext cx="260604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691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What's your current
scrap/rework rate?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606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Anchors the ROI calc. Even 2-3%
scrap on a high-volume line is
millions annually.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554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554480"/>
            <a:ext cx="2606040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691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Which historian platform
do you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606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InfluxDB vs SAP MII vs OSIsoft PI
determines our connector strategy.
Confirm OPC-UA availability.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1554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0536" y="1554480"/>
            <a:ext cx="2606040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1691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What SAP version
and OData services?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2606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S/4HANA has better OData coverage.
ECC needs custom CDS views.
This scopes integration effort.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260604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77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06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are inspection
results recorded?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SAP QM inspection lots = training
labels. Need 6+ months of history
with part-ID correlation.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9272" y="3840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3840480"/>
            <a:ext cx="260604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3977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Q6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0712" y="4206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Who owns the
historian/OT layer?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0712" y="4892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IT/OT politics is risk #2.
Early OT alignment prevents
Week 1 access blockers.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9904" y="3840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9904" y="3840480"/>
            <a:ext cx="2606040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1344" y="3977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Q7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344" y="4206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Have you tried ML
for quality before?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4892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If yes: what failed and why.
If no: gauge appetite for
AI-driven decisions.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0536" y="3840480"/>
            <a:ext cx="260604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60536" y="3840480"/>
            <a:ext cx="2606040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51976" y="3977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Q8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1976" y="4206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What's the approval
path for a pilot?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4892040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Plant-level sign-off vs.
corporate. Determines our
champion strategy.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Even A 20% Scrap Reduction Pays For The Pilot In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ROI framework — conservative assumptions, plant-manager math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CONSERVATIVE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Parts/day per line: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1168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500 - 2,000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Average part cost: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$50 - $200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Current scrap rate: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032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2% - 5%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Daily scrap cost: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346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$500 - $20,000 per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Annual scrap (1 line):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0896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$130K - $5.2M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Defect reduction target: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38328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20% (conservative pilot goal)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5760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Annual savings (1 line):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65760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$26K - $1.04M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554480"/>
            <a:ext cx="5440680" cy="25603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6276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PAYBACK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Low-Volume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0574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500 parts/day × $50 × 2% scrap
= $500/day scrap cost
20% reduction = $100/day saved
Pilot payback: ~400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706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Mid-Volume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77063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1,000 parts/day × $100 × 3% scrap
= $3,000/day scrap cost
20% reduction = $600/day saved
Pilot payback: ~80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4838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High-Volume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48386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2,000 parts/day × $150 × 4% scrap
= $12,000/day scrap cost
20% reduction = $2,400/day saved
Pilot payback: ~20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89120"/>
            <a:ext cx="11094415" cy="50292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416552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TALK TRACK:  "On a mid-volume line, scrap costs ~$3K/day. A 20% reduction saves $600/day — the pilot pays for itself in under 3 months."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SECONDARY VALUE DRIVERS (harder to quantify, mention but don't lead with)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Reduced warranty claims from escaped defects reaching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881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Lower inspection labor — model pre-screens, humans verify flagged parts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35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Process optimization insights from root-cause analysis (systemic, not per-part)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830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Faster new-product ramp — model learns new part signatures in days, not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Anticipate These Five Objections — Here's How To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Objection handling — tested responses for the most common pushback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43200" cy="14630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OBJECTION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"We already have SPC and
statistical process control"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00200"/>
            <a:ext cx="676656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REFRAME — SPC detects drift after it happens. Our model predicts defects before the part reaches end-of-line. SPC sets control limits; we tell you which specific part is likely defective and why. They're complementary — our dashboard enhances your existing SPC charts with ML-detected anomalies.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974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Don't attack SPC — position as an upgrade layer on top of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2743200" cy="14630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OBJECTION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02152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"Our data isn't clean enough
for machine learning"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200400"/>
            <a:ext cx="676656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VALIDATE — That's exactly why Week 1 is a dedicated data discovery gate. We connect, pull, and assess data quality before any model-build spend. If data is unusable, we pivot scope or exit — you don't pay for a model that can't work. We also start with objective defect types (dimensional, torque) where labels are cleanest.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2976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Week 1 gate is the trust-builder. Show you're not afraid to walk away.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2743200" cy="146304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280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OBJECTION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02352"/>
            <a:ext cx="24688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"IT/OT won't give us
access to the historian"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800600"/>
            <a:ext cx="676656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PROACTIVE — We present the architecture to the OT team in a Week 0 pre-kick session before the pilot starts. Our approach is historian read-only — we never touch PLCs, never write to OT systems. We can even run on a replicated historian if the primary is off-limits.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8978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Name the OT concern before they do. Read-only access is the key phrase.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Two More Objections You'll Hear — And How To Turn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Objection handling continued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OBJECTION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"We tried ML for quality
before and it didn't work"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0020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DIAGNOSE — Ask what failed: data quality? model accuracy? adoption? Most ML quality projects fail on change management, not algorithms. Our explainability-first approach (SHAP dashboards showing exactly why each prediction was made) is specifically designed to build operator trust. We start in advisory mode — the model recommends, humans decide. No black boxes.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035808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Get specifics on what failed. Usually it's adoption, not tech — that's our sweet spot.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OBJECTION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"$40-60K is too expensive
for a pilot"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1188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ANCHOR HIGH — Traditional consulting (Accenture, McKinsey) charges $200-400K+ for a 6-month engagement that delivers a strategy deck, not a working prototype. SaaS platforms (Sight Machine) cost $100K+/year in licensing alone. Our pilot delivers a working, validated model in 4 weeks at a fraction of the cost. If a mid-volume line scraps $3K/day, the pilot pays for itself in under 3 months.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047488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Always anchor against the expensive alternative first, then show the payback math.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94415" cy="50292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50992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00C9A7"/>
                </a:solidFill>
                <a:latin typeface="Calibri"/>
              </a:rPr>
              <a:t>COACHING:  Never argue — validate the concern, then reframe. The Week 1 data gate and SHAP explainability are your two strongest trust signals.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 Against Each Competitor Differently — Here's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Competitive battle card — when they mention a name, use this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828800" cy="14173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1609344" cy="1325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vs. Sight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536192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They're a SaaS platform — $100K+/year, rigid, long implementation. You're renting their platform, not owning your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1671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WE WIN ON: cost (4x cheaper), speed (4 weeks vs 3-6 months), ownership (open-source stack, you keep the models and code).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36192"/>
            <a:ext cx="53035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WATCH OUT: they have deep manufacturing-specific features. Don't claim we match their platform breadth — we beat them on speed-to-value for a focused use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35808"/>
            <a:ext cx="1828800" cy="14173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81528"/>
            <a:ext cx="1609344" cy="1325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vs. Accenture / McKinsey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63240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6+ months, $200-400K+, delivers a strategy deck and a team of consultants. By the time they finish scoping, we've delivered a working prototype.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694176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WE WIN ON: speed (4 weeks vs 6+ months), cost (50-70% cheaper), deliverable (working model, not a PowerPoint).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63240"/>
            <a:ext cx="53035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WATCH OUT: they have enterprise relationships. If the buyer values brand safety over speed, we may need to position as a complementary specialist.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62856"/>
            <a:ext cx="1828800" cy="141732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608576"/>
            <a:ext cx="1609344" cy="1325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vs. PTC ThingWorx / Siemens MindSphere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590288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Industrial IoT platforms with ML bolt-ons. Deep plant integration but vendor lock-in, complex licensing, and the ML is a secondary capability.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221224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WE WIN ON: ML-first approach, explainability (SHAP &gt; their built-in analytics), no platform lock-in, and we integrate with their IoT layer if it's already there.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590288"/>
            <a:ext cx="53035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WATCH OUT: if they're already deployed as the historian, position us as the intelligence layer on top, not a replacement.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Packaging Options — Lead With 'Better', Upsell to 'Best'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Good / Better / Best pricing — recommended anchor is the middle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383280" cy="4572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383280" cy="4114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$40K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Single-Station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4-week sprint, 1 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XGBoost baseline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Basic SHAP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SAP QM read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Pilot results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Data discovery + model + dashboard.
Proves feasibility on one station.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554480"/>
            <a:ext cx="3383280" cy="4572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155448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331720"/>
            <a:ext cx="3383280" cy="411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627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87451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$55K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377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Pilot + SAP Closed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8036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Everything in Good, plus: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0040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SAP PM write (notifications)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52044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Process drift SPC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84048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Natural-language query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6052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Scale-up proposal with ROI calc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4406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Full closed-loop system.
Quality team can act on predictions.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554480"/>
            <a:ext cx="3383280" cy="4572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155448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2331720"/>
            <a:ext cx="3383280" cy="4114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627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BEST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87451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A1628"/>
                </a:solidFill>
                <a:latin typeface="Calibri"/>
              </a:rPr>
              <a:t>$75K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377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0A1628"/>
                </a:solidFill>
                <a:latin typeface="Calibri"/>
              </a:rPr>
              <a:t>Pilot + Multi-Station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88036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Everything in Better, plus: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20040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2nd station model (parallel)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52044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Cross-station correlation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84048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MLflow experiment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16052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Handoff documentation + 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4406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Proves scale economics.
De-risks the multi-line expansion.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126480"/>
            <a:ext cx="11094415" cy="4572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153912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ALL TIERS:  +$8-12K/month retainer after pilot (monitoring, retraining, support)  ·  Each additional line: ~$20K add-on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Industry Is Moving — Predictive Quality Is Table Stakes By 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Proof points and industry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468880" cy="1371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35-50%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scrap reduction reported
by early adopters of
predictive quality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00200"/>
            <a:ext cx="2468880" cy="1371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B800"/>
                </a:solidFill>
                <a:latin typeface="Calibri"/>
              </a:rPr>
              <a:t>$1.8T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8600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global cost of poor quality
in manufacturing annually
(ASQ estimate)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00200"/>
            <a:ext cx="2468880" cy="1371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91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E05A6B"/>
                </a:solidFill>
                <a:latin typeface="Calibri"/>
              </a:rPr>
              <a:t>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of manufacturers plan
to invest in AI-driven quality
by 2027 (Deloitte)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600200"/>
            <a:ext cx="2468880" cy="1371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691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9B82"/>
                </a:solidFill>
                <a:latin typeface="Calibri"/>
              </a:rPr>
              <a:t>10-25x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typical ROI on predictive
quality investments over
3-year horizon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ANALOGIES THAT LAND WITH PLANT MANAGERS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11880"/>
            <a:ext cx="11094415" cy="71323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64008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1">
                <a:solidFill>
                  <a:srgbClr val="0A1628"/>
                </a:solidFill>
                <a:latin typeface="Calibri"/>
              </a:rPr>
              <a:t>"It's like cruise control for quality"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57600"/>
            <a:ext cx="621792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SPC is the speedometer — you see you're speeding after the fact. Predictive quality is cruise control — it adjusts before you drift.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11094415" cy="71323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64008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1">
                <a:solidFill>
                  <a:srgbClr val="0A1628"/>
                </a:solidFill>
                <a:latin typeface="Calibri"/>
              </a:rPr>
              <a:t>"We're not replacing inspectors — we're giving them a head start"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26280"/>
            <a:ext cx="621792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model pre-screens 100% of parts. Inspectors focus attention on the 5% that the model flagged. Same team, higher catch rate, less fatigue.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49240"/>
            <a:ext cx="11094415" cy="71323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64008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949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1">
                <a:solidFill>
                  <a:srgbClr val="0A1628"/>
                </a:solidFill>
                <a:latin typeface="Calibri"/>
              </a:rPr>
              <a:t>"Shadow mode means zero risk"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394960"/>
            <a:ext cx="621792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For the first 2 weeks after pilot, the model runs alongside your existing process. It makes predictions but doesn't change anything. You validate against actual results — only go live when you trust the numbers.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From First Call To Running Pilot In 6 Weeks — Here's The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Mutual action plan — shared timeline builds commitment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931" y="2423160"/>
            <a:ext cx="10085832" cy="3657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5851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3283" y="226771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611" y="169164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WEEK 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611" y="19659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Discovery
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611" y="2880360"/>
            <a:ext cx="1965960" cy="1645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611" y="2880360"/>
            <a:ext cx="196596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051" y="3017520"/>
            <a:ext cx="17830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Qualify the opportunity.
Run the 8 discovery questions.
Confirm budget and timeline.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2979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0411" y="226771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5739" y="169164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WEEK 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5739" y="19659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Technical
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5739" y="2880360"/>
            <a:ext cx="1965960" cy="1645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45739" y="2880360"/>
            <a:ext cx="1965960" cy="5486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7179" y="3017520"/>
            <a:ext cx="17830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Confirm historian, SAP version,
OData availability.
OT architecture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0107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7539" y="226771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2867" y="169164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WEEK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2867" y="19659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Pre-Kick
&amp;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867" y="2880360"/>
            <a:ext cx="1965960" cy="1645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2867" y="2880360"/>
            <a:ext cx="19659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4307" y="3017520"/>
            <a:ext cx="17830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OT team alignment.
Historian access provisioned.
SAP QM data sample pulled.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7235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67" y="226771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9995" y="169164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WEEK 1-4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9995" y="19659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Pilot
Sprint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79995" y="2880360"/>
            <a:ext cx="1965960" cy="1645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79995" y="2880360"/>
            <a:ext cx="1965960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1435" y="3017520"/>
            <a:ext cx="17830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Data → Model → Dashboard →
SAP integration → Shadow
mode validation.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24363" y="2240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51795" y="226771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7123" y="169164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WEEK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7123" y="19659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Results &amp;
Scale Decision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47123" y="2880360"/>
            <a:ext cx="1965960" cy="1645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47123" y="2880360"/>
            <a:ext cx="1965960" cy="5486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38563" y="3017520"/>
            <a:ext cx="17830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Pilot results report.
Scale-up proposal + ROI.
Multi-line roadmap.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846320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8920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WHAT WE NEED FROM YOU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166360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A named champion (VP Quality or Plant Manager) who owns the pilot internally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67528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Historian read access + SAP QM data sample provisioned by Week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568696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30-minute OT architecture review in Week -1 to de-risk 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769864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Decision meeting at Week 5 to review results and approve scale-up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Don't Walk Into The Call Without These — Pre-Call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Preparation gate before the first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411480"/>
          </a:xfrm>
          <a:prstGeom prst="roundRect">
            <a:avLst>
              <a:gd name="adj" fmla="val 3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MUST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8483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214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Plant location and which lines/stations are candidates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060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8775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2432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Current scrap rate (even a rough % is enough to anchor ROI)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9067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272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Historian platform in use (InfluxDB, OSIsoft PI, SAP MII)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59359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301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SAP version (S/4HANA vs ECC) and available OData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1480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09651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330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Who owns OT/historian access (name + role)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59943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360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Budget authority: plant-level or corporate approval needed?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554480"/>
            <a:ext cx="5303520" cy="41148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MUST BRING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1031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08483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1214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UC05 Realization Deck (the client-facing deck we built)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6060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58775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62432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ROI calculator with their scrap rate plugged 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10896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09067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1272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Architecture diagram (sensors → historian → model → SAP)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6118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59359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6301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Shadow mode explanation (zero-risk validation approach)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411480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409651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1330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Reference: 4-week timeline with weekly deliverables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6177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4599432"/>
            <a:ext cx="292608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6360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Competitive comparison (if they mention a specific vendor)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53212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GOLDEN RULE: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If you can't confirm the scrap rate and historian platform before the call,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reschedule the call.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Discovery without data context wastes both sides' time.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Presales Deal Prep · Hyundai Predictive Quality |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