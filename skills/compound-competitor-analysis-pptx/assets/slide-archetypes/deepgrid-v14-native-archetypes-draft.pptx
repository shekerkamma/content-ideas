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8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cover.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ladder.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table.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funnel.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matrix.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heatmap.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mechanism.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timeline.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Archetype: waterfall. Theme, geometry and native composition derive from the reviewed DeepGrid v14 design-contract deck. Visible content is synthetic and must be replaced through the governed content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288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04672"/>
            <a:ext cx="6720840" cy="9326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800" b="1">
                <a:solidFill>
                  <a:srgbClr val="233140"/>
                </a:solidFill>
                <a:latin typeface="Aptos Display"/>
              </a:defRPr>
            </a:pPr>
            <a:r>
              <a:t>Asterion changes near-term threat—but NovaGrid still controls scalable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4008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600" b="1">
                <a:solidFill>
                  <a:srgbClr val="1B844D"/>
                </a:solidFill>
                <a:latin typeface="Aptos"/>
              </a:defRPr>
            </a:pPr>
            <a:r>
              <a:t>Use the bounded conclusion now; release further commitment only when the next evidence gate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35808"/>
            <a:ext cx="63550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50" b="0">
                <a:solidFill>
                  <a:srgbClr val="5B6F84"/>
                </a:solidFill>
                <a:latin typeface="Aptos"/>
              </a:defRPr>
            </a:pPr>
            <a:r>
              <a:t>Buyer control points—not generic feature breadth—determine where each competitor can win.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749808"/>
            <a:ext cx="3749039" cy="3886200"/>
          </a:xfrm>
          <a:prstGeom prst="round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024128"/>
            <a:ext cx="20116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DECISION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17904"/>
            <a:ext cx="365760" cy="365760"/>
          </a:xfrm>
          <a:prstGeom prst="round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00200"/>
            <a:ext cx="365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1508760"/>
            <a:ext cx="246888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0">
                <a:solidFill>
                  <a:srgbClr val="233140"/>
                </a:solidFill>
                <a:latin typeface="Aptos"/>
              </a:defRPr>
            </a:pPr>
            <a:r>
              <a:t>Position by buyer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86584"/>
            <a:ext cx="365760" cy="365760"/>
          </a:xfrm>
          <a:prstGeom prst="roundRect">
            <a:avLst/>
          </a:prstGeom>
          <a:solidFill>
            <a:srgbClr val="CD9D23"/>
          </a:solidFill>
          <a:ln w="8890">
            <a:solidFill>
              <a:srgbClr val="CD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79"/>
            <a:ext cx="365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377440"/>
            <a:ext cx="246888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0">
                <a:solidFill>
                  <a:srgbClr val="233140"/>
                </a:solidFill>
                <a:latin typeface="Aptos"/>
              </a:defRPr>
            </a:pPr>
            <a:r>
              <a:t>Test the partner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255263"/>
            <a:ext cx="365760" cy="365760"/>
          </a:xfrm>
          <a:prstGeom prst="roundRect">
            <a:avLst/>
          </a:prstGeom>
          <a:solidFill>
            <a:srgbClr val="CD4635"/>
          </a:solidFill>
          <a:ln w="8890">
            <a:solidFill>
              <a:srgbClr val="CD4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337559"/>
            <a:ext cx="365760" cy="146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3246120"/>
            <a:ext cx="246888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233140"/>
                </a:solidFill>
                <a:latin typeface="Aptos"/>
              </a:defRPr>
            </a:pPr>
            <a:r>
              <a:t>Prove before scaling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233140"/>
                </a:solidFill>
                <a:latin typeface="Aptos Display"/>
              </a:defRPr>
            </a:pPr>
            <a:r>
              <a:t>Field access supports a high retrofit threat; OEM qualification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789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5B6F84"/>
                </a:solidFill>
                <a:latin typeface="Aptos"/>
              </a:defRPr>
            </a:pPr>
            <a:r>
              <a:t>What decision does this evidence support, and what would change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960120" cy="32004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2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18488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EVIDENCE LADDER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01952"/>
            <a:ext cx="65836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901952"/>
            <a:ext cx="73152" cy="530352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993392"/>
            <a:ext cx="1371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1B844D"/>
                </a:solidFill>
                <a:latin typeface="Aptos"/>
              </a:defRPr>
            </a:pPr>
            <a:r>
              <a:t>Field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1975104"/>
            <a:ext cx="479145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233140"/>
                </a:solidFill>
                <a:latin typeface="Aptos"/>
              </a:defRPr>
            </a:pPr>
            <a:r>
              <a:t>Independent evidence supports operating deployments in the retrofit segment.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60320"/>
            <a:ext cx="65836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60320"/>
            <a:ext cx="73152" cy="530352"/>
          </a:xfrm>
          <a:prstGeom prst="rect">
            <a:avLst/>
          </a:prstGeom>
          <a:solidFill>
            <a:srgbClr val="5B6F84"/>
          </a:solidFill>
          <a:ln w="8890">
            <a:solidFill>
              <a:srgbClr val="5B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651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5B6F84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2633472"/>
            <a:ext cx="479145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233140"/>
                </a:solidFill>
                <a:latin typeface="Aptos"/>
              </a:defRPr>
            </a:pPr>
            <a:r>
              <a:t>Production readiness remains an attributed company claim.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18688"/>
            <a:ext cx="65836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18688"/>
            <a:ext cx="73152" cy="530352"/>
          </a:xfrm>
          <a:prstGeom prst="rect">
            <a:avLst/>
          </a:prstGeom>
          <a:solidFill>
            <a:srgbClr val="CD9D23"/>
          </a:solidFill>
          <a:ln w="8890">
            <a:solidFill>
              <a:srgbClr val="CD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310128"/>
            <a:ext cx="1371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9D23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3291840"/>
            <a:ext cx="479145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233140"/>
                </a:solidFill>
                <a:latin typeface="Aptos"/>
              </a:defRPr>
            </a:pPr>
            <a:r>
              <a:t>Owned compute may improve cost and supply control at qualified volume.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77056"/>
            <a:ext cx="658368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77056"/>
            <a:ext cx="73152" cy="530352"/>
          </a:xfrm>
          <a:prstGeom prst="rect">
            <a:avLst/>
          </a:prstGeom>
          <a:solidFill>
            <a:srgbClr val="CD4635"/>
          </a:solidFill>
          <a:ln w="8890">
            <a:solidFill>
              <a:srgbClr val="CD4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968496"/>
            <a:ext cx="13716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OEM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950208"/>
            <a:ext cx="4791456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233140"/>
                </a:solidFill>
                <a:latin typeface="Aptos"/>
              </a:defRPr>
            </a:pPr>
            <a:r>
              <a:t>No verified nomination or full homologation filing is 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1645920"/>
            <a:ext cx="4005072" cy="3246120"/>
          </a:xfrm>
          <a:prstGeom prst="round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874519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BOUNDED VERDICT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212848"/>
            <a:ext cx="3429000" cy="11887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1">
                <a:solidFill>
                  <a:srgbClr val="233140"/>
                </a:solidFill>
                <a:latin typeface="Aptos Display"/>
              </a:defRPr>
            </a:pPr>
            <a:r>
              <a:t>Use the bounded conclusion now; release further commitment only when the next evidence gate passes.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18120" y="3566160"/>
            <a:ext cx="3291840" cy="0"/>
          </a:xfrm>
          <a:prstGeom prst="line">
            <a:avLst/>
          </a:prstGeom>
          <a:ln w="16510">
            <a:solidFill>
              <a:srgbClr val="CD9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18120" y="3776472"/>
            <a:ext cx="9144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FALSIFIER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050791"/>
            <a:ext cx="3364992" cy="5852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80" b="0">
                <a:solidFill>
                  <a:srgbClr val="5B6F84"/>
                </a:solidFill>
                <a:latin typeface="Aptos"/>
              </a:defRPr>
            </a:pPr>
            <a:r>
              <a:t>A verified programme nomination or homologation filing would materially raise the current threat rating.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233140"/>
                </a:solidFill>
                <a:latin typeface="Aptos Display"/>
              </a:defRPr>
            </a:pPr>
            <a:r>
              <a:t>Leadership should fund three evidence gates—and stop scaling claims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789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5B6F84"/>
                </a:solidFill>
                <a:latin typeface="Aptos"/>
              </a:defRPr>
            </a:pPr>
            <a:r>
              <a:t>What decision does this evidence support, and what would change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960120" cy="32004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3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00784"/>
            <a:ext cx="2121408" cy="34747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83080"/>
            <a:ext cx="1901952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ANALYTICAL LENS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8648" y="1700784"/>
            <a:ext cx="5833872" cy="34747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1783080"/>
            <a:ext cx="5614416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42248" y="1700784"/>
            <a:ext cx="2697480" cy="34747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976" y="1783080"/>
            <a:ext cx="2478024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1">
                <a:solidFill>
                  <a:srgbClr val="FFFFFF"/>
                </a:solidFill>
                <a:latin typeface="Aptos"/>
              </a:defRPr>
            </a:pPr>
            <a:r>
              <a:t>BOUNDARY /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112264"/>
            <a:ext cx="2121408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98648" y="2112264"/>
            <a:ext cx="5833872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42248" y="2112264"/>
            <a:ext cx="2697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212848"/>
            <a:ext cx="1901952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1">
                <a:solidFill>
                  <a:srgbClr val="233140"/>
                </a:solidFill>
                <a:latin typeface="Aptos"/>
              </a:defRPr>
            </a:pPr>
            <a:r>
              <a:t>Field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2185416"/>
            <a:ext cx="5614416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0" b="0">
                <a:solidFill>
                  <a:srgbClr val="233140"/>
                </a:solidFill>
                <a:latin typeface="Aptos"/>
              </a:defRPr>
            </a:pPr>
            <a:r>
              <a:t>Independent evidence supports operating deployments in the retrofit segment.</a:t>
            </a:r>
          </a:p>
        </p:txBody>
      </p:sp>
      <p:sp>
        <p:nvSpPr>
          <p:cNvPr id="20" name="Oval 19"/>
          <p:cNvSpPr/>
          <p:nvPr/>
        </p:nvSpPr>
        <p:spPr>
          <a:xfrm>
            <a:off x="8970264" y="2276856"/>
            <a:ext cx="109728" cy="109728"/>
          </a:xfrm>
          <a:prstGeom prst="ellipse">
            <a:avLst/>
          </a:prstGeom>
          <a:solidFill>
            <a:srgbClr val="1B844D"/>
          </a:solidFill>
          <a:ln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2221992"/>
            <a:ext cx="225856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19" b="1">
                <a:solidFill>
                  <a:srgbClr val="1B844D"/>
                </a:solidFill>
                <a:latin typeface="Aptos"/>
              </a:defRPr>
            </a:pPr>
            <a:r>
              <a:t>verified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706624"/>
            <a:ext cx="2121408" cy="530352"/>
          </a:xfrm>
          <a:prstGeom prst="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8648" y="2706624"/>
            <a:ext cx="5833872" cy="530352"/>
          </a:xfrm>
          <a:prstGeom prst="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42248" y="2706624"/>
            <a:ext cx="2697480" cy="530352"/>
          </a:xfrm>
          <a:prstGeom prst="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2807208"/>
            <a:ext cx="1901952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1">
                <a:solidFill>
                  <a:srgbClr val="233140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08376" y="2779776"/>
            <a:ext cx="5614416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0" b="0">
                <a:solidFill>
                  <a:srgbClr val="233140"/>
                </a:solidFill>
                <a:latin typeface="Aptos"/>
              </a:defRPr>
            </a:pPr>
            <a:r>
              <a:t>Production readiness remains an attributed company claim.</a:t>
            </a:r>
          </a:p>
        </p:txBody>
      </p:sp>
      <p:sp>
        <p:nvSpPr>
          <p:cNvPr id="27" name="Oval 26"/>
          <p:cNvSpPr/>
          <p:nvPr/>
        </p:nvSpPr>
        <p:spPr>
          <a:xfrm>
            <a:off x="8970264" y="2871216"/>
            <a:ext cx="109728" cy="109728"/>
          </a:xfrm>
          <a:prstGeom prst="ellipse">
            <a:avLst/>
          </a:prstGeom>
          <a:solidFill>
            <a:srgbClr val="5B6F84"/>
          </a:solidFill>
          <a:ln>
            <a:solidFill>
              <a:srgbClr val="5B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2816352"/>
            <a:ext cx="225856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19" b="1">
                <a:solidFill>
                  <a:srgbClr val="5B6F84"/>
                </a:solidFill>
                <a:latin typeface="Aptos"/>
              </a:defRPr>
            </a:pPr>
            <a:r>
              <a:t>attributed company claim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300984"/>
            <a:ext cx="2121408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98648" y="3300984"/>
            <a:ext cx="5833872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42248" y="3300984"/>
            <a:ext cx="269748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401568"/>
            <a:ext cx="1901952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1">
                <a:solidFill>
                  <a:srgbClr val="233140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08376" y="3374136"/>
            <a:ext cx="5614416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0" b="0">
                <a:solidFill>
                  <a:srgbClr val="233140"/>
                </a:solidFill>
                <a:latin typeface="Aptos"/>
              </a:defRPr>
            </a:pPr>
            <a:r>
              <a:t>Owned compute may improve cost and supply control at qualified volume.</a:t>
            </a:r>
          </a:p>
        </p:txBody>
      </p:sp>
      <p:sp>
        <p:nvSpPr>
          <p:cNvPr id="34" name="Oval 33"/>
          <p:cNvSpPr/>
          <p:nvPr/>
        </p:nvSpPr>
        <p:spPr>
          <a:xfrm>
            <a:off x="8970264" y="3465576"/>
            <a:ext cx="109728" cy="109728"/>
          </a:xfrm>
          <a:prstGeom prst="ellipse">
            <a:avLst/>
          </a:prstGeom>
          <a:solidFill>
            <a:srgbClr val="CD9D23"/>
          </a:solidFill>
          <a:ln>
            <a:solidFill>
              <a:srgbClr val="CD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62288" y="3410712"/>
            <a:ext cx="225856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19" b="1">
                <a:solidFill>
                  <a:srgbClr val="CD9D23"/>
                </a:solidFill>
                <a:latin typeface="Aptos"/>
              </a:defRPr>
            </a:pPr>
            <a:r>
              <a:t>qualified interpretation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895344"/>
            <a:ext cx="2121408" cy="530352"/>
          </a:xfrm>
          <a:prstGeom prst="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98648" y="3895344"/>
            <a:ext cx="5833872" cy="530352"/>
          </a:xfrm>
          <a:prstGeom prst="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42248" y="3895344"/>
            <a:ext cx="2697480" cy="530352"/>
          </a:xfrm>
          <a:prstGeom prst="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3995928"/>
            <a:ext cx="1901952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80" b="1">
                <a:solidFill>
                  <a:srgbClr val="233140"/>
                </a:solidFill>
                <a:latin typeface="Aptos"/>
              </a:defRPr>
            </a:pPr>
            <a:r>
              <a:t>OEM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08376" y="3968496"/>
            <a:ext cx="5614416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0" b="0">
                <a:solidFill>
                  <a:srgbClr val="233140"/>
                </a:solidFill>
                <a:latin typeface="Aptos"/>
              </a:defRPr>
            </a:pPr>
            <a:r>
              <a:t>No verified nomination or full homologation filing is available.</a:t>
            </a:r>
          </a:p>
        </p:txBody>
      </p:sp>
      <p:sp>
        <p:nvSpPr>
          <p:cNvPr id="41" name="Oval 40"/>
          <p:cNvSpPr/>
          <p:nvPr/>
        </p:nvSpPr>
        <p:spPr>
          <a:xfrm>
            <a:off x="8970264" y="4059935"/>
            <a:ext cx="109728" cy="109728"/>
          </a:xfrm>
          <a:prstGeom prst="ellipse">
            <a:avLst/>
          </a:prstGeom>
          <a:solidFill>
            <a:srgbClr val="CD4635"/>
          </a:solidFill>
          <a:ln>
            <a:solidFill>
              <a:srgbClr val="CD4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62288" y="4005072"/>
            <a:ext cx="225856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19" b="1">
                <a:solidFill>
                  <a:srgbClr val="CD4635"/>
                </a:solidFill>
                <a:latin typeface="Aptos"/>
              </a:defRPr>
            </a:pPr>
            <a:r>
              <a:t>insufficient 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626864"/>
            <a:ext cx="1737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ANALYTICAL 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95728" y="4581144"/>
            <a:ext cx="8887968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30" b="0">
                <a:solidFill>
                  <a:srgbClr val="5B6F84"/>
                </a:solidFill>
                <a:latin typeface="Aptos"/>
              </a:defRPr>
            </a:pPr>
            <a:r>
              <a:t>Buyer control points—not generic feature breadth—determine where each competitor can win.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233140"/>
                </a:solidFill>
                <a:latin typeface="Aptos Display"/>
              </a:defRPr>
            </a:pPr>
            <a:r>
              <a:t>Commercial claims must narrow as product accountability rises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789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5B6F84"/>
                </a:solidFill>
                <a:latin typeface="Aptos"/>
              </a:defRPr>
            </a:pPr>
            <a:r>
              <a:t>What decision does this evidence support, and what would change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960120" cy="32004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4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737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QUALIFICATION FUNNEL</a:t>
            </a:r>
          </a:p>
        </p:txBody>
      </p:sp>
      <p:sp>
        <p:nvSpPr>
          <p:cNvPr id="10" name="Trapezoid 9"/>
          <p:cNvSpPr/>
          <p:nvPr/>
        </p:nvSpPr>
        <p:spPr>
          <a:xfrm>
            <a:off x="1158087" y="1938528"/>
            <a:ext cx="9875520" cy="475488"/>
          </a:xfrm>
          <a:prstGeom prst="trapezoid">
            <a:avLst/>
          </a:prstGeom>
          <a:solidFill>
            <a:srgbClr val="F6F8F8"/>
          </a:solidFill>
          <a:ln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5831" y="2048256"/>
            <a:ext cx="148132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1B844D"/>
                </a:solidFill>
                <a:latin typeface="Aptos"/>
              </a:defRPr>
            </a:pPr>
            <a:r>
              <a:t>Field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735" y="2002536"/>
            <a:ext cx="7882128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30" b="0">
                <a:solidFill>
                  <a:srgbClr val="233140"/>
                </a:solidFill>
                <a:latin typeface="Aptos"/>
              </a:defRPr>
            </a:pPr>
            <a:r>
              <a:t>Independent evidence supports operating deployments in the retrofit …</a:t>
            </a:r>
          </a:p>
        </p:txBody>
      </p:sp>
      <p:sp>
        <p:nvSpPr>
          <p:cNvPr id="13" name="Trapezoid 12"/>
          <p:cNvSpPr/>
          <p:nvPr/>
        </p:nvSpPr>
        <p:spPr>
          <a:xfrm>
            <a:off x="2072487" y="2560320"/>
            <a:ext cx="8046720" cy="475488"/>
          </a:xfrm>
          <a:prstGeom prst="trapezoid">
            <a:avLst/>
          </a:prstGeom>
          <a:solidFill>
            <a:srgbClr val="F6F8F8"/>
          </a:solidFill>
          <a:ln>
            <a:solidFill>
              <a:srgbClr val="5B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0231" y="2670048"/>
            <a:ext cx="148132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5B6F84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8135" y="2624328"/>
            <a:ext cx="6053328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30" b="0">
                <a:solidFill>
                  <a:srgbClr val="233140"/>
                </a:solidFill>
                <a:latin typeface="Aptos"/>
              </a:defRPr>
            </a:pPr>
            <a:r>
              <a:t>Production readiness remains an attributed company claim.</a:t>
            </a:r>
          </a:p>
        </p:txBody>
      </p:sp>
      <p:sp>
        <p:nvSpPr>
          <p:cNvPr id="16" name="Trapezoid 15"/>
          <p:cNvSpPr/>
          <p:nvPr/>
        </p:nvSpPr>
        <p:spPr>
          <a:xfrm>
            <a:off x="2986887" y="3182112"/>
            <a:ext cx="6217920" cy="475488"/>
          </a:xfrm>
          <a:prstGeom prst="trapezoid">
            <a:avLst/>
          </a:prstGeom>
          <a:solidFill>
            <a:srgbClr val="F6F8F8"/>
          </a:solidFill>
          <a:ln>
            <a:solidFill>
              <a:srgbClr val="CD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4631" y="3291840"/>
            <a:ext cx="148132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9D23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2535" y="3246120"/>
            <a:ext cx="4224527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30" b="0">
                <a:solidFill>
                  <a:srgbClr val="233140"/>
                </a:solidFill>
                <a:latin typeface="Aptos"/>
              </a:defRPr>
            </a:pPr>
            <a:r>
              <a:t>Owned compute may improve cost and …</a:t>
            </a:r>
          </a:p>
        </p:txBody>
      </p:sp>
      <p:sp>
        <p:nvSpPr>
          <p:cNvPr id="19" name="Trapezoid 18"/>
          <p:cNvSpPr/>
          <p:nvPr/>
        </p:nvSpPr>
        <p:spPr>
          <a:xfrm>
            <a:off x="3901287" y="3803904"/>
            <a:ext cx="4389120" cy="475488"/>
          </a:xfrm>
          <a:prstGeom prst="trapezoid">
            <a:avLst/>
          </a:prstGeom>
          <a:solidFill>
            <a:srgbClr val="F6F8F8"/>
          </a:solidFill>
          <a:ln>
            <a:solidFill>
              <a:srgbClr val="CD4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9031" y="3913632"/>
            <a:ext cx="1481328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OEM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6935" y="3867912"/>
            <a:ext cx="2395727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30" b="1">
                <a:solidFill>
                  <a:srgbClr val="233140"/>
                </a:solidFill>
                <a:latin typeface="Aptos"/>
              </a:defRPr>
            </a:pPr>
            <a:r>
              <a:t>No verified nomination or full 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599432"/>
            <a:ext cx="4754880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00" b="1">
                <a:solidFill>
                  <a:srgbClr val="1B844D"/>
                </a:solidFill>
                <a:latin typeface="Aptos"/>
              </a:defRPr>
            </a:pPr>
            <a:r>
              <a:t>SCOPE NARROWS AS ACCOUNTABILITY RISES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233140"/>
                </a:solidFill>
                <a:latin typeface="Aptos Display"/>
              </a:defRPr>
            </a:pPr>
            <a:r>
              <a:t>Asterion wins today's fleet purchase; NovaGrid can win scaled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789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5B6F84"/>
                </a:solidFill>
                <a:latin typeface="Aptos"/>
              </a:defRPr>
            </a:pPr>
            <a:r>
              <a:t>What decision does this evidence support, and what would change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960120" cy="32004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5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COMPARISON FIELD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38528"/>
            <a:ext cx="52120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938528"/>
            <a:ext cx="82296" cy="1078992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75688"/>
            <a:ext cx="14173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30" b="1">
                <a:solidFill>
                  <a:srgbClr val="1B844D"/>
                </a:solidFill>
                <a:latin typeface="Aptos"/>
              </a:defRPr>
            </a:pPr>
            <a:r>
              <a:t>Field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057400"/>
            <a:ext cx="3227832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10" b="0">
                <a:solidFill>
                  <a:srgbClr val="233140"/>
                </a:solidFill>
                <a:latin typeface="Aptos"/>
              </a:defRPr>
            </a:pPr>
            <a:r>
              <a:t>Independent evidence supports operating deployments in the retrofit segment.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938528"/>
            <a:ext cx="52120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938528"/>
            <a:ext cx="82296" cy="1078992"/>
          </a:xfrm>
          <a:prstGeom prst="rect">
            <a:avLst/>
          </a:prstGeom>
          <a:solidFill>
            <a:srgbClr val="5B6F84"/>
          </a:solidFill>
          <a:ln w="8890">
            <a:solidFill>
              <a:srgbClr val="5B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75688"/>
            <a:ext cx="14173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30" b="1">
                <a:solidFill>
                  <a:srgbClr val="5B6F84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2057400"/>
            <a:ext cx="3227832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10" b="0">
                <a:solidFill>
                  <a:srgbClr val="233140"/>
                </a:solidFill>
                <a:latin typeface="Aptos"/>
              </a:defRPr>
            </a:pPr>
            <a:r>
              <a:t>Production readiness remains an attributed company claim.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73552"/>
            <a:ext cx="52120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273552"/>
            <a:ext cx="82296" cy="1078992"/>
          </a:xfrm>
          <a:prstGeom prst="rect">
            <a:avLst/>
          </a:prstGeom>
          <a:solidFill>
            <a:srgbClr val="CD9D23"/>
          </a:solidFill>
          <a:ln w="8890">
            <a:solidFill>
              <a:srgbClr val="CD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410712"/>
            <a:ext cx="14173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30" b="1">
                <a:solidFill>
                  <a:srgbClr val="CD9D23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39" y="3392424"/>
            <a:ext cx="3227832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10" b="0">
                <a:solidFill>
                  <a:srgbClr val="233140"/>
                </a:solidFill>
                <a:latin typeface="Aptos"/>
              </a:defRPr>
            </a:pPr>
            <a:r>
              <a:t>Owned compute may improve cost and supply control at qualified volume.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273552"/>
            <a:ext cx="52120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273552"/>
            <a:ext cx="82296" cy="1078992"/>
          </a:xfrm>
          <a:prstGeom prst="rect">
            <a:avLst/>
          </a:prstGeom>
          <a:solidFill>
            <a:srgbClr val="CD4635"/>
          </a:solidFill>
          <a:ln w="8890">
            <a:solidFill>
              <a:srgbClr val="CD4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410712"/>
            <a:ext cx="14173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30" b="1">
                <a:solidFill>
                  <a:srgbClr val="CD4635"/>
                </a:solidFill>
                <a:latin typeface="Aptos"/>
              </a:defRPr>
            </a:pPr>
            <a:r>
              <a:t>OEM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3392424"/>
            <a:ext cx="3227832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10" b="0">
                <a:solidFill>
                  <a:srgbClr val="233140"/>
                </a:solidFill>
                <a:latin typeface="Aptos"/>
              </a:defRPr>
            </a:pPr>
            <a:r>
              <a:t>No verified nomination or full homologation filing is available.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590288"/>
            <a:ext cx="15544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COMPARISON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408" y="4544568"/>
            <a:ext cx="9180576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40" b="0">
                <a:solidFill>
                  <a:srgbClr val="5B6F84"/>
                </a:solidFill>
                <a:latin typeface="Aptos"/>
              </a:defRPr>
            </a:pPr>
            <a:r>
              <a:t>Buyer control points—not generic feature breadth—determine where each competitor can win.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233140"/>
                </a:solidFill>
                <a:latin typeface="Aptos Display"/>
              </a:defRPr>
            </a:pPr>
            <a:r>
              <a:t>Threat varies by arena because access, qualification and economics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789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5B6F84"/>
                </a:solidFill>
                <a:latin typeface="Aptos"/>
              </a:defRPr>
            </a:pPr>
            <a:r>
              <a:t>What decision does this evidence support, and what would change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960120" cy="32004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6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24231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THREAT × BUYING ARENA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636776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5B6F84"/>
                </a:solidFill>
                <a:latin typeface="Aptos"/>
              </a:defRPr>
            </a:pPr>
            <a:r>
              <a:t>GOVT / PSU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636776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5B6F84"/>
                </a:solidFill>
                <a:latin typeface="Aptos"/>
              </a:defRPr>
            </a:pPr>
            <a:r>
              <a:t>OEM / TIER-1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7384" y="1636776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5B6F84"/>
                </a:solidFill>
                <a:latin typeface="Aptos"/>
              </a:defRPr>
            </a:pPr>
            <a:r>
              <a:t>FLEET / MINING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" y="2157984"/>
            <a:ext cx="109728" cy="109728"/>
          </a:xfrm>
          <a:prstGeom prst="ellipse">
            <a:avLst/>
          </a:prstGeom>
          <a:solidFill>
            <a:srgbClr val="1B844D"/>
          </a:solidFill>
          <a:ln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084832"/>
            <a:ext cx="285292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1">
                <a:solidFill>
                  <a:srgbClr val="233140"/>
                </a:solidFill>
                <a:latin typeface="Aptos"/>
              </a:defRPr>
            </a:pPr>
            <a:r>
              <a:t>Field proof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011680"/>
            <a:ext cx="2084831" cy="438912"/>
          </a:xfrm>
          <a:prstGeom prst="roundRect">
            <a:avLst/>
          </a:prstGeom>
          <a:solidFill>
            <a:srgbClr val="F6F8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2130552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5B6F8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2512" y="2011680"/>
            <a:ext cx="2084831" cy="438912"/>
          </a:xfrm>
          <a:prstGeom prst="roundRect">
            <a:avLst/>
          </a:prstGeom>
          <a:solidFill>
            <a:srgbClr val="F9F3D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130552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CD9D23"/>
                </a:solidFill>
                <a:latin typeface="Aptos"/>
              </a:defRPr>
            </a:pPr>
            <a:r>
              <a:t>WATCH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87384" y="2011680"/>
            <a:ext cx="2084831" cy="438912"/>
          </a:xfrm>
          <a:prstGeom prst="roundRect">
            <a:avLst/>
          </a:prstGeom>
          <a:solidFill>
            <a:srgbClr val="E4F1E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2130552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0F5B35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2761488"/>
            <a:ext cx="109728" cy="109728"/>
          </a:xfrm>
          <a:prstGeom prst="ellipse">
            <a:avLst/>
          </a:prstGeom>
          <a:solidFill>
            <a:srgbClr val="5B6F84"/>
          </a:solidFill>
          <a:ln>
            <a:solidFill>
              <a:srgbClr val="5B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688336"/>
            <a:ext cx="285292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1">
                <a:solidFill>
                  <a:srgbClr val="233140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2615184"/>
            <a:ext cx="2084831" cy="438912"/>
          </a:xfrm>
          <a:prstGeom prst="roundRect">
            <a:avLst/>
          </a:prstGeom>
          <a:solidFill>
            <a:srgbClr val="F9F3D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2734056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CD9D23"/>
                </a:solidFill>
                <a:latin typeface="Aptos"/>
              </a:defRPr>
            </a:pPr>
            <a:r>
              <a:t>WATCH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2615184"/>
            <a:ext cx="2084831" cy="438912"/>
          </a:xfrm>
          <a:prstGeom prst="roundRect">
            <a:avLst/>
          </a:prstGeom>
          <a:solidFill>
            <a:srgbClr val="E4F1E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734056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0F5B35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87384" y="2615184"/>
            <a:ext cx="2084831" cy="438912"/>
          </a:xfrm>
          <a:prstGeom prst="roundRect">
            <a:avLst/>
          </a:prstGeom>
          <a:solidFill>
            <a:srgbClr val="F6F8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87384" y="2734056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5B6F8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" y="3364992"/>
            <a:ext cx="109728" cy="109728"/>
          </a:xfrm>
          <a:prstGeom prst="ellipse">
            <a:avLst/>
          </a:prstGeom>
          <a:solidFill>
            <a:srgbClr val="CD9D23"/>
          </a:solidFill>
          <a:ln>
            <a:solidFill>
              <a:srgbClr val="CD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3291840"/>
            <a:ext cx="285292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1">
                <a:solidFill>
                  <a:srgbClr val="233140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3218688"/>
            <a:ext cx="2084831" cy="438912"/>
          </a:xfrm>
          <a:prstGeom prst="roundRect">
            <a:avLst/>
          </a:prstGeom>
          <a:solidFill>
            <a:srgbClr val="E4F1E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39" y="3337560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0F5B35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82512" y="3218688"/>
            <a:ext cx="2084831" cy="438912"/>
          </a:xfrm>
          <a:prstGeom prst="roundRect">
            <a:avLst/>
          </a:prstGeom>
          <a:solidFill>
            <a:srgbClr val="F6F8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3337560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5B6F8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87384" y="3218688"/>
            <a:ext cx="2084831" cy="438912"/>
          </a:xfrm>
          <a:prstGeom prst="roundRect">
            <a:avLst/>
          </a:prstGeom>
          <a:solidFill>
            <a:srgbClr val="F9F3D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87384" y="3337560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CD9D23"/>
                </a:solidFill>
                <a:latin typeface="Aptos"/>
              </a:defRPr>
            </a:pPr>
            <a:r>
              <a:t>WATCH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" y="3968496"/>
            <a:ext cx="109728" cy="109728"/>
          </a:xfrm>
          <a:prstGeom prst="ellipse">
            <a:avLst/>
          </a:prstGeom>
          <a:solidFill>
            <a:srgbClr val="CD4635"/>
          </a:solidFill>
          <a:ln>
            <a:solidFill>
              <a:srgbClr val="CD4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" y="3895344"/>
            <a:ext cx="285292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1">
                <a:solidFill>
                  <a:srgbClr val="233140"/>
                </a:solidFill>
                <a:latin typeface="Aptos"/>
              </a:defRPr>
            </a:pPr>
            <a:r>
              <a:t>OEM gate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77639" y="3822191"/>
            <a:ext cx="2084831" cy="438912"/>
          </a:xfrm>
          <a:prstGeom prst="roundRect">
            <a:avLst/>
          </a:prstGeom>
          <a:solidFill>
            <a:srgbClr val="F6F8F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77639" y="3941063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5B6F84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2512" y="3822191"/>
            <a:ext cx="2084831" cy="438912"/>
          </a:xfrm>
          <a:prstGeom prst="roundRect">
            <a:avLst/>
          </a:prstGeom>
          <a:solidFill>
            <a:srgbClr val="F9F3D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3941063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CD9D23"/>
                </a:solidFill>
                <a:latin typeface="Aptos"/>
              </a:defRPr>
            </a:pPr>
            <a:r>
              <a:t>WATCH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87384" y="3822191"/>
            <a:ext cx="2084831" cy="438912"/>
          </a:xfrm>
          <a:prstGeom prst="roundRect">
            <a:avLst/>
          </a:prstGeom>
          <a:solidFill>
            <a:srgbClr val="E4F1EA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87384" y="3941063"/>
            <a:ext cx="2084831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0F5B35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4517136"/>
            <a:ext cx="10881360" cy="393192"/>
          </a:xfrm>
          <a:prstGeom prst="roundRect">
            <a:avLst/>
          </a:prstGeom>
          <a:solidFill>
            <a:srgbClr val="F6F8F8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608576"/>
            <a:ext cx="10515600" cy="2103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0">
                <a:solidFill>
                  <a:srgbClr val="233140"/>
                </a:solidFill>
                <a:latin typeface="Aptos"/>
              </a:defRPr>
            </a:pPr>
            <a:r>
              <a:t>Buyer control points—not generic feature breadth—determine where each competitor can win.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233140"/>
                </a:solidFill>
                <a:latin typeface="Aptos Display"/>
              </a:defRPr>
            </a:pPr>
            <a:r>
              <a:t>Owned compute matters only when it converts into qualified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789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5B6F84"/>
                </a:solidFill>
                <a:latin typeface="Aptos"/>
              </a:defRPr>
            </a:pPr>
            <a:r>
              <a:t>What decision does this evidence support, and what would change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960120" cy="32004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7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2148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CAUSAL MECHANISM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93392"/>
            <a:ext cx="2404872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176272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60320"/>
            <a:ext cx="19385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FIELD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907792"/>
            <a:ext cx="1993392" cy="8595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0">
                <a:solidFill>
                  <a:srgbClr val="233140"/>
                </a:solidFill>
                <a:latin typeface="Aptos"/>
              </a:defRPr>
            </a:pPr>
            <a:r>
              <a:t>Independent evidence supports operating deployments in the retrofit segment.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898648"/>
            <a:ext cx="274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600" b="1">
                <a:solidFill>
                  <a:srgbClr val="1B844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1993392"/>
            <a:ext cx="2404872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176272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5B6F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560320"/>
            <a:ext cx="19385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5B6F84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907792"/>
            <a:ext cx="1993392" cy="8595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0">
                <a:solidFill>
                  <a:srgbClr val="233140"/>
                </a:solidFill>
                <a:latin typeface="Aptos"/>
              </a:defRPr>
            </a:pPr>
            <a:r>
              <a:t>Production readiness remains an attributed company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2898648"/>
            <a:ext cx="274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600" b="1">
                <a:solidFill>
                  <a:srgbClr val="1B844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3" y="1993392"/>
            <a:ext cx="2404872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5" y="2176272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9D2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5" y="2560320"/>
            <a:ext cx="19385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9D23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5" y="2907792"/>
            <a:ext cx="1993392" cy="8595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0">
                <a:solidFill>
                  <a:srgbClr val="233140"/>
                </a:solidFill>
                <a:latin typeface="Aptos"/>
              </a:defRPr>
            </a:pPr>
            <a:r>
              <a:t>Owned compute may improve cost and supply control at qualified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376" y="2898648"/>
            <a:ext cx="2743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600" b="1">
                <a:solidFill>
                  <a:srgbClr val="1B844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9992" y="1993392"/>
            <a:ext cx="2404872" cy="2194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3DC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2176272"/>
            <a:ext cx="38404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560320"/>
            <a:ext cx="19385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DECISION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2907792"/>
            <a:ext cx="1993392" cy="8595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489704"/>
            <a:ext cx="1508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COUNTERARGUMENT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4443984"/>
            <a:ext cx="9125712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69" b="0">
                <a:solidFill>
                  <a:srgbClr val="5B6F84"/>
                </a:solidFill>
                <a:latin typeface="Aptos"/>
              </a:defRPr>
            </a:pPr>
            <a:r>
              <a:t>A verified programme nomination or homologation filing would materially raise the current threat rating.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233140"/>
                </a:solidFill>
                <a:latin typeface="Aptos Display"/>
              </a:defRPr>
            </a:pPr>
            <a:r>
              <a:t>A 90-day sequence converts competitor claims into reversible commercial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789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5B6F84"/>
                </a:solidFill>
                <a:latin typeface="Aptos"/>
              </a:defRPr>
            </a:pPr>
            <a:r>
              <a:t>What decision does this evidence support, and what would change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960120" cy="32004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8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4630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EVENT SEQUENCE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" y="3127248"/>
            <a:ext cx="10268712" cy="0"/>
          </a:xfrm>
          <a:prstGeom prst="line">
            <a:avLst/>
          </a:prstGeom>
          <a:ln w="20320">
            <a:solidFill>
              <a:srgbClr val="5B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32688" y="2898648"/>
            <a:ext cx="457200" cy="457200"/>
          </a:xfrm>
          <a:prstGeom prst="round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017520"/>
            <a:ext cx="45720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993392"/>
            <a:ext cx="226771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19" b="1">
                <a:solidFill>
                  <a:srgbClr val="1B844D"/>
                </a:solidFill>
                <a:latin typeface="Aptos"/>
              </a:defRPr>
            </a:pPr>
            <a:r>
              <a:t>Field proof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395728"/>
            <a:ext cx="228600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0">
                <a:solidFill>
                  <a:srgbClr val="233140"/>
                </a:solidFill>
                <a:latin typeface="Aptos"/>
              </a:defRPr>
            </a:pPr>
            <a:r>
              <a:t>Independent evidence supports operating deployments in the retrofit segment.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584448"/>
            <a:ext cx="226771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0">
                <a:solidFill>
                  <a:srgbClr val="5B6F84"/>
                </a:solidFill>
                <a:latin typeface="Aptos"/>
              </a:defRPr>
            </a:pPr>
            <a:r>
              <a:t>Position by buyer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94176" y="2898648"/>
            <a:ext cx="457200" cy="457200"/>
          </a:xfrm>
          <a:prstGeom prst="roundRect">
            <a:avLst/>
          </a:prstGeom>
          <a:solidFill>
            <a:srgbClr val="5B6F84"/>
          </a:solidFill>
          <a:ln w="8890">
            <a:solidFill>
              <a:srgbClr val="5B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3017520"/>
            <a:ext cx="45720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1993392"/>
            <a:ext cx="226771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19" b="1">
                <a:solidFill>
                  <a:srgbClr val="5B6F84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395728"/>
            <a:ext cx="228600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0">
                <a:solidFill>
                  <a:srgbClr val="233140"/>
                </a:solidFill>
                <a:latin typeface="Aptos"/>
              </a:defRPr>
            </a:pPr>
            <a:r>
              <a:t>Production readiness remains an attributed company claim.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3584448"/>
            <a:ext cx="226771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0">
                <a:solidFill>
                  <a:srgbClr val="5B6F84"/>
                </a:solidFill>
                <a:latin typeface="Aptos"/>
              </a:defRPr>
            </a:pPr>
            <a:r>
              <a:t>Test the partner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2898648"/>
            <a:ext cx="457200" cy="457200"/>
          </a:xfrm>
          <a:prstGeom prst="roundRect">
            <a:avLst/>
          </a:prstGeom>
          <a:solidFill>
            <a:srgbClr val="CD9D23"/>
          </a:solidFill>
          <a:ln w="8890">
            <a:solidFill>
              <a:srgbClr val="CD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3017520"/>
            <a:ext cx="45720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1993392"/>
            <a:ext cx="226771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19" b="1">
                <a:solidFill>
                  <a:srgbClr val="CD9D23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395728"/>
            <a:ext cx="228600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0">
                <a:solidFill>
                  <a:srgbClr val="233140"/>
                </a:solidFill>
                <a:latin typeface="Aptos"/>
              </a:defRPr>
            </a:pPr>
            <a:r>
              <a:t>Owned compute may improve cost and supply control at qualified volume.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584448"/>
            <a:ext cx="226771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0">
                <a:solidFill>
                  <a:srgbClr val="5B6F84"/>
                </a:solidFill>
                <a:latin typeface="Aptos"/>
              </a:defRPr>
            </a:pPr>
            <a:r>
              <a:t>Prove before scaling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7152" y="2898648"/>
            <a:ext cx="457200" cy="457200"/>
          </a:xfrm>
          <a:prstGeom prst="roundRect">
            <a:avLst/>
          </a:prstGeom>
          <a:solidFill>
            <a:srgbClr val="CD4635"/>
          </a:solidFill>
          <a:ln w="8890">
            <a:solidFill>
              <a:srgbClr val="CD4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3017520"/>
            <a:ext cx="457200" cy="155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1993392"/>
            <a:ext cx="226771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19" b="1">
                <a:solidFill>
                  <a:srgbClr val="CD4635"/>
                </a:solidFill>
                <a:latin typeface="Aptos"/>
              </a:defRPr>
            </a:pPr>
            <a:r>
              <a:t>OEM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2395728"/>
            <a:ext cx="2286000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19" b="0">
                <a:solidFill>
                  <a:srgbClr val="233140"/>
                </a:solidFill>
                <a:latin typeface="Aptos"/>
              </a:defRPr>
            </a:pPr>
            <a:r>
              <a:t>No verified nomination or full homologation filing is available.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3584448"/>
            <a:ext cx="226771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1">
                <a:solidFill>
                  <a:srgbClr val="5B6F84"/>
                </a:solidFill>
                <a:latin typeface="Aptos"/>
              </a:defRPr>
            </a:pPr>
            <a:r>
              <a:t>Prove before 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498848"/>
            <a:ext cx="15087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COUNTERARGUMENT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76272" y="4453128"/>
            <a:ext cx="912571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F84"/>
                </a:solidFill>
                <a:latin typeface="Aptos"/>
              </a:defRPr>
            </a:pPr>
            <a:r>
              <a:t>A verified programme nomination or homologation filing would materially raise the current threat rating.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92A3B"/>
          </a:solidFill>
          <a:ln w="8890">
            <a:solidFill>
              <a:srgbClr val="19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7160"/>
            <a:ext cx="7498079" cy="1645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00" b="1">
                <a:solidFill>
                  <a:srgbClr val="CD4635"/>
                </a:solidFill>
                <a:latin typeface="Aptos"/>
              </a:defRPr>
            </a:pPr>
            <a:r>
              <a:t>SYNTHETIC NATIVE ARCHETYPE · REPLACE THROUGH CONTENT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233140"/>
                </a:solidFill>
                <a:latin typeface="Aptos Display"/>
              </a:defRPr>
            </a:pPr>
            <a:r>
              <a:t>Commitment should rise only as field, qualification and economics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0789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5B6F84"/>
                </a:solidFill>
                <a:latin typeface="Aptos"/>
              </a:defRPr>
            </a:pPr>
            <a:r>
              <a:t>What decision does this evidence support, and what would change 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960120" cy="32004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56248"/>
            <a:ext cx="640080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700" b="0">
                <a:solidFill>
                  <a:srgbClr val="5B6F84"/>
                </a:solidFill>
                <a:latin typeface="Aptos"/>
              </a:defRPr>
            </a:pPr>
            <a:r>
              <a:t>Compound competitor analysis · v14-derived native archetype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556248"/>
            <a:ext cx="594360" cy="1280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700" b="0">
                <a:solidFill>
                  <a:srgbClr val="233140"/>
                </a:solidFill>
                <a:latin typeface="Aptos"/>
              </a:defRPr>
            </a:pPr>
            <a:r>
              <a:t>9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16459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DIRECTIONAL BRIDGE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8680" y="4453128"/>
            <a:ext cx="10378440" cy="0"/>
          </a:xfrm>
          <a:prstGeom prst="line">
            <a:avLst/>
          </a:prstGeom>
          <a:ln w="12700">
            <a:solidFill>
              <a:srgbClr val="5B6F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960120" y="3767328"/>
            <a:ext cx="2066543" cy="685800"/>
          </a:xfrm>
          <a:prstGeom prst="rect">
            <a:avLst/>
          </a:prstGeom>
          <a:solidFill>
            <a:srgbClr val="1B844D"/>
          </a:solidFill>
          <a:ln w="8890">
            <a:solidFill>
              <a:srgbClr val="1B8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55848"/>
            <a:ext cx="206654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19" b="1">
                <a:solidFill>
                  <a:srgbClr val="1B844D"/>
                </a:solidFill>
                <a:latin typeface="Aptos"/>
              </a:defRPr>
            </a:pPr>
            <a:r>
              <a:t>Field 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858768"/>
            <a:ext cx="1810512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Independent evidence supports operating deployments in the 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3447288"/>
            <a:ext cx="2066543" cy="1005840"/>
          </a:xfrm>
          <a:prstGeom prst="rect">
            <a:avLst/>
          </a:prstGeom>
          <a:solidFill>
            <a:srgbClr val="5B6F84"/>
          </a:solidFill>
          <a:ln w="8890">
            <a:solidFill>
              <a:srgbClr val="5B6F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3035808"/>
            <a:ext cx="206654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19" b="1">
                <a:solidFill>
                  <a:srgbClr val="5B6F84"/>
                </a:solidFill>
                <a:latin typeface="Aptos"/>
              </a:defRPr>
            </a:pPr>
            <a:r>
              <a:t>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538727"/>
            <a:ext cx="1810512" cy="8503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Production readiness remains an attributed company claim.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9944" y="3127248"/>
            <a:ext cx="2066543" cy="1325880"/>
          </a:xfrm>
          <a:prstGeom prst="rect">
            <a:avLst/>
          </a:prstGeom>
          <a:solidFill>
            <a:srgbClr val="CD9D23"/>
          </a:solidFill>
          <a:ln w="8890">
            <a:solidFill>
              <a:srgbClr val="CD9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2715768"/>
            <a:ext cx="206654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19" b="1">
                <a:solidFill>
                  <a:srgbClr val="CD9D23"/>
                </a:solidFill>
                <a:latin typeface="Aptos"/>
              </a:defRPr>
            </a:pPr>
            <a:r>
              <a:t>Economics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218687"/>
            <a:ext cx="1810512" cy="11704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Owned compute may improve cost and supply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34856" y="2807208"/>
            <a:ext cx="2066543" cy="1645919"/>
          </a:xfrm>
          <a:prstGeom prst="rect">
            <a:avLst/>
          </a:prstGeom>
          <a:solidFill>
            <a:srgbClr val="CD4635"/>
          </a:solidFill>
          <a:ln w="8890">
            <a:solidFill>
              <a:srgbClr val="CD4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4856" y="2395728"/>
            <a:ext cx="206654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19" b="1">
                <a:solidFill>
                  <a:srgbClr val="CD4635"/>
                </a:solidFill>
                <a:latin typeface="Aptos"/>
              </a:defRPr>
            </a:pPr>
            <a:r>
              <a:t>OEM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898648"/>
            <a:ext cx="1810512" cy="1490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No verified nomination or full homologation filing 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1664208"/>
            <a:ext cx="57607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850" b="1">
                <a:solidFill>
                  <a:srgbClr val="CD9D23"/>
                </a:solidFill>
                <a:latin typeface="Aptos"/>
              </a:defRPr>
            </a:pPr>
            <a:r>
              <a:t>DIRECTIONAL ONLY · BAR HEIGHT DOES NOT REPRESENT VERIFIED MAGNITUDE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5184648"/>
            <a:ext cx="11045952" cy="0"/>
          </a:xfrm>
          <a:prstGeom prst="line">
            <a:avLst/>
          </a:prstGeom>
          <a:ln w="11430">
            <a:solidFill>
              <a:srgbClr val="D3DC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5312664"/>
            <a:ext cx="324612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1B844D"/>
                </a:solidFill>
                <a:latin typeface="Aptos"/>
              </a:defRPr>
            </a:pPr>
            <a:r>
              <a:t>IMPLICATION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41264"/>
            <a:ext cx="324612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Separate the retrofit and OEM plays.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5312664"/>
            <a:ext cx="3310128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0F5B35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5541264"/>
            <a:ext cx="3310128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233140"/>
                </a:solidFill>
                <a:latin typeface="Aptos"/>
              </a:defRPr>
            </a:pPr>
            <a:r>
              <a:t>Partner-test in retrofit; defend through qualification in OEM.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5312664"/>
            <a:ext cx="402336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CD4635"/>
                </a:solidFill>
                <a:latin typeface="Aptos"/>
              </a:defRPr>
            </a:pPr>
            <a:r>
              <a:t>TRIGGER ·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1" y="5541264"/>
            <a:ext cx="4023360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0">
                <a:solidFill>
                  <a:srgbClr val="233140"/>
                </a:solidFill>
                <a:latin typeface="Aptos"/>
              </a:defRPr>
            </a:pPr>
            <a:r>
              <a:t>Resolve the named evidence gap within 30 days · Commercial +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