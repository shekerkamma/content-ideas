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0"/>
            <a:ext cx="28648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AI FOR CONSULTANTS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8503920" cy="2651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The Ultimate
Accenture-Style
Guide to 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069080"/>
            <a:ext cx="274320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360 AI &amp; Digital Transformation Prompts
That Push Claude to Its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1663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32180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Strategy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1663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521208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32180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Consulting Domains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516636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21208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B800"/>
                </a:solidFill>
                <a:latin typeface="Calibri"/>
              </a:rPr>
              <a:t>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32180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Copy-Paste Prompts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3716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CONSULTING
FRAMEWORKS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Situation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67004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Market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14553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War Gaming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621024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Business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096512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Stakeholder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57200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Decision Memo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504748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Narrative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52297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KPI 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21 strategy skills  ·  6 consulting domains  ·  1 reusable transformation 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61872"/>
            <a:ext cx="164592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538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01  Diagnosis &amp; Framing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46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Situation Assessment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12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0482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Growth Barriers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140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3500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Assumption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88920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254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02  Market &amp; Competitive Intel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8211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1181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Market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838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4198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Competitive Intel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85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216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Customer Segmentation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87368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023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Profit Pool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62272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9884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03  Strategic Choice &amp; Economics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554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791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Strategic Options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572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0932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Business Case Builder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58968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3949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Portfolio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760720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6967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Pricing Strategy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1417320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14538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04  Operating Model &amp; Execution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81051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1746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Operating Model Design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2112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20482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Transformation Roadmap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24140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23500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Initiative Prioritizer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2788920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8254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05  Risk, Performance &amp; Value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318211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0568" y="31181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KPI Architect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34838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0568" y="34198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Risk &amp; Mitigation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3785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0568" y="37216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Value Realization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4087368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0568" y="4023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War Gaming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7960" y="4462272"/>
            <a:ext cx="5486400" cy="2926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49884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  06  Alignment &amp; Exec Communication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75120" y="48554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0568" y="4791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Decision Memo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51572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30568" y="50932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Narrative Builder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75120" y="5458968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30568" y="53949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Stakeholder Alignment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1: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Situation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Business reviews &amp; strategy planning
•  Turnaround or performance diagnosis
•  Board prep &amp; investor briefings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Frame the assessment question and decision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a MECE view across performance, market, customers &amp;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Separate confirmed facts from hypotheses; surface implications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"Run a situation assessment for [company/function]. Analyze [areas: financial, market, customer, ops]. Use McKinsey-style framing. Separate facts from interpretations. End with strategic implications and open questions."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Executive Read (1 paragraph)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Fact Base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Momentum 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Issues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Open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1: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Growth Barriers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Stalled growth or revenue plateau
•  Funnel or conversion issues
•  Retention problems or market expansion blockers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the growth target, baseline, and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a driver tree for growth; gather signals across acquisition, conversion,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Distinguish symptoms from root causes; recommend the binding constraint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"Diagnose the growth barriers for [company/product]. Build a growth driver tree. Identify where momentum breaks. Separate root causes from symptoms. Recommend the binding constraint and top 3 actions."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Growth Gap statement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Driver Tree (MECE)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Barrier Assessment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Binding Constraint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Recommended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1: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Assumption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Before board reviews &amp; major investments
•  Strategy pressure tests &amp; acquisition cases
•  Launch decisions that rest on unverified beliefs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explicit and implicit assumptions across 6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each assumption by importance and evidence strength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Convert weak load-bearing assumptions into specific validation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"Audit the assumptions behind [strategy/plan]. Extract explicit and implicit assumptions. Score by importance and evidence strength. Identify load-bearing assumptions. Convert weak ones into a test plan with owners and decision triggers."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Strategy Under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Assumption Register (scored)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Load-Bearing Assumptions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Test Plan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2: MARKET &amp; COMPETITIVE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Market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Market entry, expansion &amp; category creation
•  TAM/SAM/SOM sizing for investors or strategy
•  White space identification &amp; where-to-play choices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the market boundary and decision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top-down and bottom-up sizing logic; segment MECE by needs/economics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attractive spaces, contested spaces, and white space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"Map the [market] for [company/context]. Size it top-down and bottom-up. Segment by [dimension: needs/channel/geography/use case]. Identify white space and where-to-play options. Include attractiveness drivers."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Market Definition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Size Estimate (2 methods)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Segment Map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White Space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Where-To-Play Options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2: MARKET &amp; COMPETITIVE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Competitive Intel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Market entry or product launch planning
•  Pricing changes or channel conflicts
•  M&amp;A threats and share-defense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Map competitors' goals, assets, constraints, and economics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Infer likely moves under base, aggressive, and defensive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Recommend pre-emptive or reactive moves with early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"Model likely competitive moves by [competitor list] in response to [our move/market shift]. Map their incentives, capabilities, and constraints. Build base and aggressive scenarios. Recommend our response playbook with early warning signals."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Competitor Map 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Likely Moves by scenario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Response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Implication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Early Warning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2: MARKET &amp; COMPETITIVE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Customer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 definition &amp; go-to-market focus
•  Retention strategy &amp; pricing segmentation
•  Product roadmap or account coverage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the decision the segmentation must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MECE segments based on needs, economics, and behavior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segments by attractiveness and right to win; recommend priority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"Create customer segments for [company/product] to support [decision: targeting/pricing/retention]. Build MECE segments based on [data/signals]. Score by size, growth, profitability, and fit. Recommend priority segments with implications."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Segmentation Objective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Segment Definitions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Segment Prioritization scoring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Implications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2: MARKET &amp; COMPETITIVE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Profit Pool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Market entry and where-to-play decisions
•  Product portfolio and channel strategy
•  Understanding where margin actually 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Map revenue and margin by activity, segment, product, or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profit concentration, leakage points, and structural drivers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Assess who captures value and why; recommend strategic implications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"Analyze the profit pool in [market/value chain/product set]. Map revenue and margin by [dimension]. Identify where profit concentrates, where it leaks, and the structural reasons. Recommend strategic implications for [company]."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Scope definition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Profit Pool Map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Value Capture by player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Implications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Where-to-play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3: STRATEGIC CHOICE &amp;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Strategic Options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Choosing a growth path or market entry strategy
•  Build-buy-partner decisions
•  Avoiding false binaries in executive strategy debates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Generate 3-5 mutually distinct, viable strategic options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decision criteria; assess each option on attractiveness, feasibility, and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hybrids; recommend best path with trade-offs visible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"Generate strategic options for [decision]. Create 3-5 meaningfully distinct paths. Evaluate each on [criteria: attractiveness/feasibility/risk/economics/fit]. Show trade-offs and what must be true for each. Recommend the best path with rationale."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 framing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Options table (upside/trade-off/what-must-be-true)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Evaluation matrix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Next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3: STRATEGIC CHOICE &amp;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Business Case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Investment decisions, M&amp;A screening, product bets
•  ROI, payback, and NPV analysis for board approval
•  Pricing moves and transformation program 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value drivers, cost drivers, timing, and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base, downside, and upside cases with visible assumptions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Calculate ROI/NPV/payback; recommend proceed, test, or redesign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"Build a business case for [initiative/investment]. Model value drivers, costs, and timing. Create base, downside, and upside scenarios. Calculate [ROI/payback/NPV]. Surface load-bearing assumptions with sensitivity analysis. Recommend proceed or redesign."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 statement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Economics Summary (3 scenarios)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Value Drivers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Cost &amp; Investment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Risks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3: STRATEGIC CHOICE &amp;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Portfolio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Capital allocation and resource reallocation decisions
•  Product or market portfolio rationalization
•  Annual planning: where to invest, hold, fix, or exit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the portfolio and evaluation criteria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each element on attractiveness, performance, fit, and right to win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invest/maintain/fix/exit candidates; recommend allocation moves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"Review the portfolio of [businesses/products/markets/initiatives] for [company]. Score each on attractiveness, performance, strategic fit, and right to win. Identify invest, maintain, fix, harvest, and exit candidates. Recommend resource reallocation moves."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Portfolio Scope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Evaluation Matrix (scored)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Allocation Moves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Decisions Required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Trade-offs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3: STRATEGIC CHOICE &amp;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Pricing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Price increase readiness or discount leakage
•  Packaging redesign and monetization optimization
•  Understanding willingness to pay by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Diagnose leakage across list price, discounting, mix, and packaging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Assess willingness to pay by segment and competitive alternatives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Generate pricing moves with risks; design a pilot or rollout sequence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"Develop a pricing strategy for [product/service/segment]. Diagnose leakage across [list price/discounting/mix/packaging]. Assess willingness to pay by segment. Generate pricing moves with risks. Include a pilot design and rollout sequence."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Pricing Objective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Diagnosis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Segment Price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Recommended Moves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Risks &amp; Tests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Pilot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4: OPERATING MODEL &amp;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Operating Model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Transformations and new business unit setup
•  Functional redesigns and scale-up challenges
•  Aligning org structure to a new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required capabilities from the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Diagnose current model gaps; design target roles, decision rights, and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Recommend implementation phases with transition risks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"Design the target operating model for [company/function] to execute [strategy]. Identify required capabilities. Map current gaps. Design target roles, decision rights, governance, processes, and metrics. Show transition risks and first moves."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Requirement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Capability Model (gap analysis)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Target Model elements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 Rights 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Transition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4: OPERATING MODEL &amp;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Transformation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Strategy → execution: turning a plan into a delivery roadmap
•  Cost programs, digital transformations, post-merger integration
•  PMO setup and governance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workstreams and capabilities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Sequence phases by value, dependency, and readiness; assign owners and milestones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the first 90-day plan with decision gates and governance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"Build a transformation roadmap for [company/program] to achieve [outcome] by [date]. Identify workstreams. Sequence by dependency and value. Assign owners, milestones, and governance. Include a first 90-day plan and decision gates."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Target 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Workstreams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Roadmap (phased)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First 90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Governance rhythm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4: OPERATING MODEL &amp;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Initiative Prioritizer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Too many projects competing for limited resources
•  Annual planning and OKR focus-setting
•  Transformation portfolio rationalization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Inventory initiatives and score by impact, feasibility, urgency, and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dependencies and sequencing 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Select the vital few; build the priority roadmap and kill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"Prioritize the following initiatives for [company/team]: [list]. Score each on impact, feasibility, urgency, and strategic fit. Identify dependencies. Recommend the vital few with a phased roadmap. Include a kill list with rationale and revisit triggers."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Criteria &amp; weights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Initiative Assessment (scored)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Priority Roadmap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Kill List with rationale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Dependencies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5: RISK, PERFORMANCE &amp;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KPI Architect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Metrics are noisy, backward-looking, or disconnected from decisions
•  Building dashboards for strategy execution or transformation governance
•  OKR design and operating review 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Start from decisions leaders need to make; build the value driver tree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Separate outcome, driver, and activity metrics; remove vanity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Assign owners, thresholds, and review cadence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"Design a KPI system for [objective/team/function]. Start from the decisions [leaders] must make. Build a driver tree. Separate outcome, driver, and activity metrics. Remove vanity metrics. Assign owners and thresholds. Include a review cadence."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Strategic Objective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KPI System table (with decision link)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Driver Tree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Metrics To Remove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Review Cadence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5: RISK, PERFORMANCE &amp;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Risk &amp; 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Strategy or initiative approval requiring a serious risk view
•  Board materials, launch planning, transformation governance
•  Investment decisions with material downside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risks across 7 categories: market, customer, competitor, financial, operational, regulatory, organizational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Score likelihood and impact; define mitigations, triggers, and owners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Recommend go, no-go, redesign, or gated approval with residual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"Build a strategic risk register for [strategy/initiative]. Identify risks across market, customer, competitive, financial, operational, regulatory, and org categories. Score likelihood and impact. Define mitigations, triggers, and owners. Recommend go/no-go."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Strategy Under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Risk Register (scored)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Highest-Risk Assumptions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Contingency Moves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Go/No-Go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5: RISK, PERFORMANCE &amp;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Value Realization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Ensuring promised transformation value is actually captured
•  Benefits tracking for acquisitions and synergy programs
•  Post-launch governance for major initiatives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the value ambition and benefit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Assign owners and measurement methods; set baselines, targets, and timing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 governance, escalation, and proof standards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"Build a value realization plan for [initiative/transformation/acquisition]. Define benefit categories. Set baselines and targets. Assign owners and proof standards. Include governance cadence and escalation triggers. Identify risks to capture."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Value Ambition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Value Ledger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Governance cadence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Risks To Capture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Proof Standards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5: RISK, PERFORMANCE &amp;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War Gaming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Before committing to a strategy that rivals could disrupt
•  Competitive response planning and scenario stress-testing
•  Regulatory, market shift, or execution failure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scenario dimensions: competitor, customer, market, regulatory,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base, adverse, and aggressive scenarios; assess impact on economics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early warning signals; recommend defensive and offensive responses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"War-game the following strategy: [strategy summary]. Build base, adverse, and aggressive scenarios across [competitor/market/regulatory/operational] dimensions. Identify vulnerabilities and early warning signals. Produce a response playbook with owners."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Strategy Under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Scenarios table (5 dimensions)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Vulnerabilities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Response Playbook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Early Warning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6: ALIGNMENT &amp; EXEC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Decision Memo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Written recommendation for board or executive approval
•  Investment recommendation or strategy approval memo
•  Any decision where a deck would be overkill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Extract the recommendation and strongest supporting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Summarize alternatives considered and why they lost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State risks, mitigations, economics, and next steps; write answer-first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"Write a decision memo for [audience] recommending [action]. Lead with the recommendation. Include: decision required, context and urgency, options considered with trade-offs, evidence, risks and mitigations, and immediate next steps after approval."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Recommendation (answer-first)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 Required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Context &amp; Urgency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5276088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52029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Options Considered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Risks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Next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6: ALIGNMENT &amp; EXEC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Narrative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Strategy story that must land quickly with executives or boards
•  Board deck storyline and headline sequencing
•  Any recommendation that needs Pyramid Principle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Choose the story pattern: Pyramid, SCQA, options, transformation, or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a headline sequence that tells the story by itself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Prepare hostile questions and answers for the most likely objections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"Build an executive narrative for [audience] recommending [action/strategy]. Use [Pyramid Principle / SCQA]. Lead with the answer. Create a headline sequence that tells the story independently. Prepare answers to the top 5 hostile questions a skeptical executive will ask."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Audience &amp;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Core Message (1 sentence)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Storyline (headline per page)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Pyramid Logic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Hostile Q&amp;A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8600"/>
            <a:ext cx="4206240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9B82"/>
                </a:solidFill>
                <a:latin typeface="Calibri"/>
              </a:rPr>
              <a:t>DOMAIN 6: ALIGNMENT &amp; EXEC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A1628"/>
                </a:solidFill>
                <a:latin typeface="Calibri"/>
              </a:rPr>
              <a:t>Stakeholder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20116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Executive buy-in for a strategy or transformation
•  Board approval and pre-wiring campaigns
•  Change management for programs with significant resistance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44368"/>
            <a:ext cx="4754880" cy="36576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Identify stakeholders and map their influence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Map each person's interests, likely concerns, and decision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2560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07408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a pre-wire engagement plan sequenced before the formal meeting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353312"/>
            <a:ext cx="6217920" cy="2423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4475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KEY PROMPT  →  Tell Claude: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19072"/>
            <a:ext cx="58521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"Map stakeholder alignment for [decision/program]. Identify who must say yes and who influences them. Map each stakeholder's interests, concerns, and decision criteria. Assess support level. Build a pre-wire plan with actions, owners, timing, and desired outcomes."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86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OUTPUT INCLUDES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87368"/>
            <a:ext cx="621792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Decision Path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Stakeholder Map (influence/stance/message)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928616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855464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Resistance 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233672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160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Pre-Wire Plan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5811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5079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Objections &amp; Responses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THE REUSABLE CONSULTING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Accenture-Style Engagement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Apply this 6-stage OS to every transformation, strategy engagement, or digital program.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22860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Situation assessment, assumption audit, growth barriers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3–5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3383280"/>
            <a:ext cx="12801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50592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Market mapping, segmentation, strategic options, profit pool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6–11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83280"/>
            <a:ext cx="12801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98264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Operating model design, transformation roadmap, business case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12–14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83280"/>
            <a:ext cx="12801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5936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IMPLEMENT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Initiative prioritizer, KPI architect, value realization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5664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15–17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3383280"/>
            <a:ext cx="12801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93608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93608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6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Risk &amp; mitigation, war gaming, KPI review cadence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03336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3336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16–18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3264" y="3383280"/>
            <a:ext cx="12801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1874519"/>
            <a:ext cx="1783080" cy="39319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41280" y="1874519"/>
            <a:ext cx="1783080" cy="73152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1008" y="2011680"/>
            <a:ext cx="156362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1008" y="2359152"/>
            <a:ext cx="156362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COMMUNICATE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1008" y="2852928"/>
            <a:ext cx="1563624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Decision memo, narrative builder, stakeholder alignment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51008" y="5120640"/>
            <a:ext cx="1563624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51008" y="5138928"/>
            <a:ext cx="1563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Slides 21–23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897880"/>
            <a:ext cx="11185855" cy="59436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Copy any skill prompt  ·  Run it in Claude  ·  Customize the output template  ·  Deliver client-ready 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Ultimate Accenture-Style Guide to Claude  |  360 AI &amp; Transformation Prompts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