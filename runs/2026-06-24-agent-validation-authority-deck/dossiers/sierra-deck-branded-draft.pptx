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07040" y="0"/>
            <a:ext cx="158191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5217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COMPANY DOSSIER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800" b="1" i="0">
                <a:solidFill>
                  <a:srgbClr val="FFFFFF"/>
                </a:solidFill>
                <a:latin typeface="Calibri"/>
              </a:rPr>
              <a:t>Sierra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71800"/>
            <a:ext cx="146304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E0F7F1"/>
                </a:solidFill>
                <a:latin typeface="Calibri"/>
              </a:rPr>
              <a:t>Get paid only when the AI resolves the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932688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Outcome pricing as the entire positioning — sold on brand relationship, not cost-cutting.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4754880" cy="457200"/>
          </a:xfrm>
          <a:prstGeom prst="roundRect">
            <a:avLst>
              <a:gd name="adj" fmla="val 30000"/>
            </a:avLst>
          </a:prstGeom>
          <a:solidFill>
            <a:srgbClr val="12243A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2212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Pattern 3 · Services-as-Software + Outcome Pricing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Get paid only when the AI resolves the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Snapshot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5457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50008"/>
            <a:ext cx="3362858" cy="758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Founded · SF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6002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2978" y="1783080"/>
            <a:ext cx="35457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$0→$165M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4418" y="2350008"/>
            <a:ext cx="3362858" cy="758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ARR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6002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7316" y="1783080"/>
            <a:ext cx="35457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$15.8B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8756" y="2350008"/>
            <a:ext cx="3362858" cy="758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Valuation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290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11880"/>
            <a:ext cx="35457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~$1.6B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78808"/>
            <a:ext cx="3362858" cy="758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Total raised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2978" y="34290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2978" y="3611880"/>
            <a:ext cx="35457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40%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4418" y="4178808"/>
            <a:ext cx="3362858" cy="758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of the Fortune 50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7316" y="3429000"/>
            <a:ext cx="3545738" cy="16002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7316" y="3611880"/>
            <a:ext cx="3545738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$0.10–$1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8756" y="4178808"/>
            <a:ext cx="3362858" cy="7589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per resolution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Sierra · Company Dossier · Positioning Evidence · 2026-06-24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Why this team could 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Origin &amp; founders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094415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82296" cy="2377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691640"/>
            <a:ext cx="1071036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Founders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176272"/>
            <a:ext cx="10673791" cy="16093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Bret Taylor (ex-Salesforce co-CEO, OpenAI chair, Google Maps) + Clay Bavor (18 yrs Google).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Met at Google in 2005; reunited over lunch in 2023.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Went vertical + narrow (customer service) when everyone else went horizontal.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60520"/>
            <a:ext cx="11094415" cy="868680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15968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1" i="0">
                <a:solidFill>
                  <a:srgbClr val="0A1628"/>
                </a:solidFill>
                <a:latin typeface="Calibri"/>
              </a:rPr>
              <a:t>LESSON:  Founder brand + enterprise-software instinct IS the GTM in a trust-gated market.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Sierra · Company Dossier · Positioning Evidence · 2026-06-24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problem &amp; who pays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Business problem &amp; ICP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10047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2296" cy="32004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37360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21992"/>
            <a:ext cx="4989423" cy="2432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$400B/yr spent on customer service — 'the last analog channel.'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 human-handled US call costs ~$10.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Sierra's per-resolution cost is $0.10–$1.00 — the unit economics pick the customer.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00200"/>
            <a:ext cx="5410047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600200"/>
            <a:ext cx="82296" cy="32004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2463" y="1737360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ICP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2463" y="2221992"/>
            <a:ext cx="4989423" cy="2432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Fortune 1000 with &gt;$100M/yr contact-center spend.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Heavily regulated: financial services, healthcare.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50% of customers have &gt;$1B revenue, 20% &gt;$10B.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Sierra · Company Dossier · Positioning Evidence · 2026-06-24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they actually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2296" cy="32918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37360"/>
            <a:ext cx="1071036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21992"/>
            <a:ext cx="10673791" cy="2523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Agent OS — one agent across chat, voice/IVR, WhatsApp, email, ChatGPT, 34+ languages.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Ghostwriter builds a production agent from SOPs — live in weeks, no engineering.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Agent Data Platform — memory + systems of record; support → sales → loyalty.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Sierra · Company Dossier · Positioning Evidence · 2026-06-24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makes them differentiated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Unique selling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087209" cy="3200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874519"/>
            <a:ext cx="184946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Outcome pricing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97480"/>
            <a:ext cx="184946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Paid only on resolution; escalation is free.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0441" y="1691640"/>
            <a:ext cx="2087209" cy="3200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0441" y="169164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9313" y="1874519"/>
            <a:ext cx="184946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Speed-to-live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9313" y="2697480"/>
            <a:ext cx="184946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Production agent in weeks, no engineers — the real lever.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52242" y="1691640"/>
            <a:ext cx="2087209" cy="3200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52242" y="169164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1114" y="1874519"/>
            <a:ext cx="184946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Brand-aligned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1114" y="2697480"/>
            <a:ext cx="184946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'Show up at your best,' not cost-cutting.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04044" y="1691640"/>
            <a:ext cx="2087209" cy="3200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04044" y="169164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2916" y="1874519"/>
            <a:ext cx="184946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Regulated trust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2916" y="2697480"/>
            <a:ext cx="184946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FS/healthcare guardrails + Taylor's enterprise credibility.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845" y="1691640"/>
            <a:ext cx="2087209" cy="32004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55845" y="169164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4717" y="1874519"/>
            <a:ext cx="1849465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Agent Data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717" y="2697480"/>
            <a:ext cx="184946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Memory + decisioning compound per customer.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Sierra · Company Dossier · Positioning Evidence · 2026-06-24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THE POSITIONING MOVE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FFFF"/>
                </a:solidFill>
                <a:latin typeface="Calibri"/>
              </a:rPr>
              <a:t>Pattern 3 · Services-as-Software + Outcome Pricing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11094415" cy="118872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109728" cy="118872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10454335" cy="868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1">
                <a:solidFill>
                  <a:srgbClr val="FFFFFF"/>
                </a:solidFill>
                <a:latin typeface="Calibri"/>
              </a:rPr>
              <a:t>“Pay for a job well done.”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109441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•  Pricing manifesto (Dec 2024): paid only when the AI resolves with no human; sales = commission.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•  Framed as deeper customer relationships, not short-term cost-cutting — a larger budget.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E0F7F1"/>
                </a:solidFill>
                <a:latin typeface="Calibri"/>
              </a:rPr>
              <a:t>•  Replacement-leaning, but positioned on upside, not headcount.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Sierra · Company Dossier · Positioning Evidence · 2026-06-24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moat — 5 layers, none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Defensibility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087209" cy="30175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993392"/>
            <a:ext cx="1849465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Outcome accountability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788920"/>
            <a:ext cx="1849465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Pricing forces the product to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0441" y="1783080"/>
            <a:ext cx="2087209" cy="30175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0441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9313" y="1993392"/>
            <a:ext cx="1849465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Speed-to-live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9313" y="2788920"/>
            <a:ext cx="1849465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Competitors underestimate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52242" y="1783080"/>
            <a:ext cx="2087209" cy="30175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52242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1114" y="1993392"/>
            <a:ext cx="1849465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Enterprise brand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1114" y="2788920"/>
            <a:ext cx="1849465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Fortune-50 references.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04044" y="1783080"/>
            <a:ext cx="2087209" cy="30175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04044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2916" y="1993392"/>
            <a:ext cx="1849465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2916" y="2788920"/>
            <a:ext cx="1849465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FS/healthcare guardrails.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845" y="1783080"/>
            <a:ext cx="2087209" cy="30175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55845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4717" y="1993392"/>
            <a:ext cx="1849465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B800"/>
                </a:solidFill>
                <a:latin typeface="Calibri"/>
              </a:rPr>
              <a:t>Data flywheel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717" y="2788920"/>
            <a:ext cx="1849465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Agent Data Platform; NDR expands.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Sierra · Company Dossier · Positioning Evidence · 2026-06-24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Pricing, GTM &amp; 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How they sell and what it produced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10047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2296" cy="20116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37360"/>
            <a:ext cx="5025999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Pricing &amp; GTM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21992"/>
            <a:ext cx="4989423" cy="1243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Per-resolution; sales = commission; escalation = free.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4 design partners → 11-month stealth build → marquee references.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~$400B TAM; 'digitize the last analog channel.'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00200"/>
            <a:ext cx="1693621" cy="20116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7" y="1783080"/>
            <a:ext cx="1693621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7 qtrs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350008"/>
            <a:ext cx="1510741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$0→$100M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1220" y="1600200"/>
            <a:ext cx="1693621" cy="20116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1220" y="1783080"/>
            <a:ext cx="1693621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2660" y="2350008"/>
            <a:ext cx="1510741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of Fortune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49433" y="1600200"/>
            <a:ext cx="1693621" cy="20116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49433" y="1783080"/>
            <a:ext cx="1693621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34+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0873" y="2350008"/>
            <a:ext cx="1510741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languages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11094415" cy="10058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1480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1B2B3C"/>
                </a:solidFill>
                <a:latin typeface="Calibri"/>
              </a:rPr>
              <a:t>PROOF:  $0 → $100M ARR in 7 quarters → ~$165M (May 2026); $15.8B valuation.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Sierra · Company Dossier · Positioning Evidence · 2026-06-24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Competitors &amp; the 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Landscape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2296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83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Decagon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792224"/>
            <a:ext cx="71624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Per-resolution, $250M Series D; AI-native SaaS.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91486"/>
            <a:ext cx="11094415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91486"/>
            <a:ext cx="82296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474366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Intercom Fin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483510"/>
            <a:ext cx="71624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$0.99/resolution + $1M guarantee; mid-market.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82772"/>
            <a:ext cx="11094415" cy="658368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982772"/>
            <a:ext cx="82296" cy="6583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16565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Ada / Agentforce / PolyAI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174796"/>
            <a:ext cx="71624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CX and voice agents.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Edge:  Regulated enterprise brand trust + multi-channel single agent + Agent Data Platform + founder pedigree.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Sierra · Company Dossier · Positioning Evidence · 2026-06-24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Lessons for OUR positioning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What to borrow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603504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91440" cy="60350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73936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Make pricing the positioning — per-result billing forces quality and is the pitch.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33879"/>
            <a:ext cx="11094415" cy="603504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33879"/>
            <a:ext cx="91440" cy="60350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07615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The lever under outcome pricing is speed-to-live.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67558"/>
            <a:ext cx="11094415" cy="603504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867558"/>
            <a:ext cx="91440" cy="60350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41294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Go vertical + narrow first, then expand the agent's job.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01237"/>
            <a:ext cx="11094415" cy="603504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01237"/>
            <a:ext cx="91440" cy="60350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74973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Found with a brand the buyer already trusts.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34916"/>
            <a:ext cx="11094415" cy="603504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134916"/>
            <a:ext cx="91440" cy="60350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08652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B2B3C"/>
                </a:solidFill>
                <a:latin typeface="Calibri"/>
              </a:rPr>
              <a:t>Frame as relationship/upside, not cost-cutting — a bigger budget.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Sierra · Company Dossier · Positioning Evidence · 2026-06-24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