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07040" y="0"/>
            <a:ext cx="1581912" cy="6858000"/>
          </a:xfrm>
          <a:prstGeom prst="rect">
            <a:avLst/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52176" y="0"/>
            <a:ext cx="5486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POSITIONING THESIS · v1 · 2026-06-24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9509760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600" b="1" i="0">
                <a:solidFill>
                  <a:srgbClr val="FFFFFF"/>
                </a:solidFill>
                <a:latin typeface="Calibri"/>
              </a:rPr>
              <a:t>The Agent Validation
&amp; Assurance Authority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3611880"/>
            <a:ext cx="1463040" cy="5486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3794760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F7F1"/>
                </a:solidFill>
                <a:latin typeface="Calibri"/>
              </a:rPr>
              <a:t>The UL / SOC-2 for autonomous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26280"/>
            <a:ext cx="9326880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E0F7F1"/>
                </a:solidFill>
                <a:latin typeface="Calibri"/>
              </a:rPr>
              <a:t>Independent validation that lets a regulated enterprise put an AI agent into production — and survive the exam.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534924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54498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0C9A7"/>
                </a:solidFill>
                <a:latin typeface="Calibri"/>
              </a:rPr>
              <a:t>Beachhead: U.S. super-regional banks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794760" y="534924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94760" y="54498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0C9A7"/>
                </a:solidFill>
                <a:latin typeface="Calibri"/>
              </a:rPr>
              <a:t>Vertical 2: automotive captive finance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040880" y="5349240"/>
            <a:ext cx="3063240" cy="457200"/>
          </a:xfrm>
          <a:prstGeom prst="roundRect">
            <a:avLst>
              <a:gd name="adj" fmla="val 30000"/>
            </a:avLst>
          </a:prstGeom>
          <a:solidFill>
            <a:srgbClr val="12243A"/>
          </a:solidFill>
          <a:ln w="12700">
            <a:solidFill>
              <a:srgbClr val="00C9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5449824"/>
            <a:ext cx="3063240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50" b="0" i="0">
                <a:solidFill>
                  <a:srgbClr val="00C9A7"/>
                </a:solidFill>
                <a:latin typeface="Calibri"/>
              </a:rPr>
              <a:t>Vertical 2b: OEM agent fleets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Build the referee for the agent economy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Executive summary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94415" cy="64008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2704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FFFF"/>
                </a:solidFill>
                <a:latin typeface="Calibri"/>
              </a:rPr>
              <a:t>BLUF: Agents are shipping into regulated production faster than anyone can trust them. SR 26-2 left agentic AI ungoverned. We sell the independent validation that fills the vacuum.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2402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8640" y="2240280"/>
            <a:ext cx="82296" cy="274320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" y="238658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Situation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916936"/>
            <a:ext cx="3106826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40%+ of agentic projects cancelled by 2027 (Gartner).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Deployed agents (Wendy's, Mercedes, SOAR) break in untested ways.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Trust, not capability, is the blocker.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22978" y="22402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2978" y="2240280"/>
            <a:ext cx="82296" cy="27432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60722" y="238658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Insight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60722" y="2916936"/>
            <a:ext cx="3106826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moat is never the model — it's validation + data + compliance.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Labs grade themselves; the auditor can't be a player.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Independence is the only un-copyable wedge.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2240280"/>
            <a:ext cx="354573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2240280"/>
            <a:ext cx="82296" cy="27432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238658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Recommendation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2916936"/>
            <a:ext cx="3106826" cy="1920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Certify autonomous agents for the risk owner, examiner-ready.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Beachhead: bank Model Risk via the SR 26-2 vacuum.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Paid pilots force real demand; GTM owns outreach.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212080"/>
            <a:ext cx="11094415" cy="64008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5321808"/>
            <a:ext cx="1063721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THE ASK:  Fund Phase 0 only — 5 discovery calls, 1 paid pilot, 1 ex-MRM/ex-examiner insider, in 90 days.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Capability is commoditized; trust is the race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model is no longer the moat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1004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35661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2023–24 · Capability race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4971135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Frameworks, models, demos.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Differentiation erodes on every model drop.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Whoever had the best demo won the meeting.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Outcome: commoditized — the labs win this.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554480"/>
            <a:ext cx="541004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0078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2026 · Trust race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231136"/>
            <a:ext cx="4971135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Predict it, audit it, roll it back.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Non-determinism breaks the old QA playbook.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Same prompt → two different actions.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Trust is an infrastructure problem before a feature.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SR 26-2 left agentic AI ungoverned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SR 26-2 replaced the 15-year model-risk rulebook (SR 11-7)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1371600"/>
          </a:xfrm>
          <a:prstGeom prst="roundRect">
            <a:avLst>
              <a:gd name="adj" fmla="val 5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109728" cy="13716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755648"/>
            <a:ext cx="10454335" cy="7315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1">
                <a:solidFill>
                  <a:srgbClr val="FFFFFF"/>
                </a:solidFill>
                <a:latin typeface="Calibri"/>
              </a:rPr>
              <a:t>“Generative AI and agentic AI models are</a:t>
            </a:r>
          </a:p>
          <a:p>
            <a:pPr algn="l">
              <a:lnSpc>
                <a:spcPct val="105000"/>
              </a:lnSpc>
              <a:spcBef>
                <a:spcPts val="300"/>
              </a:spcBef>
            </a:pPr>
            <a:r>
              <a:rPr sz="1700" b="1" i="1">
                <a:solidFill>
                  <a:srgbClr val="FFFFFF"/>
                </a:solidFill>
                <a:latin typeface="Calibri"/>
              </a:rPr>
              <a:t>not within the scope of this guidance.”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14600"/>
            <a:ext cx="10454335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E0F7F1"/>
                </a:solidFill>
                <a:latin typeface="Calibri"/>
              </a:rPr>
              <a:t>— OCC Bulletin 2026-13 / Fed SR 26-2 / FDIC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320040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3200400"/>
            <a:ext cx="82296" cy="22860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334670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vacuum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3877056"/>
            <a:ext cx="3106826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Banks own agentic-AI governance with no playbook.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 AI-specific RFI/rulemaking is coming next.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22978" y="320040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22978" y="3200400"/>
            <a:ext cx="82296" cy="228600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60722" y="334670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exam still happens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60722" y="3877056"/>
            <a:ext cx="3106826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“What is your monitoring framework?”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“What is your effective challenge?”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97316" y="3200400"/>
            <a:ext cx="3545738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97316" y="3200400"/>
            <a:ext cx="82296" cy="2286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5060" y="334670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opening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35060" y="3877056"/>
            <a:ext cx="3106826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First mover authors the standard.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“Whose name is on the examination finding?”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pain is deployed — and failing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Live, branded, autonomous — then breaking in untested ways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2153" cy="2194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975104"/>
            <a:ext cx="260215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B800"/>
                </a:solidFill>
                <a:latin typeface="Calibri"/>
              </a:rPr>
              <a:t>80%+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670048"/>
            <a:ext cx="2382697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of volume handled by live agents (Wendy's FreshAI, Mercedes MBUX)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9393" y="1737360"/>
            <a:ext cx="2602153" cy="2194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79393" y="1975104"/>
            <a:ext cx="260215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B800"/>
                </a:solidFill>
                <a:latin typeface="Calibri"/>
              </a:rPr>
              <a:t>40%+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9121" y="2670048"/>
            <a:ext cx="2382697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of agentic AI projects cancelled by 2027 (Gartner)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0147" y="1737360"/>
            <a:ext cx="2602153" cy="2194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0147" y="1975104"/>
            <a:ext cx="260215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B800"/>
                </a:solidFill>
                <a:latin typeface="Calibri"/>
              </a:rPr>
              <a:t>~100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9875" y="2670048"/>
            <a:ext cx="2382697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scenarios manual QA covers — vs millions users trigger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40901" y="1737360"/>
            <a:ext cx="2602153" cy="219456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0901" y="1975104"/>
            <a:ext cx="2602153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B800"/>
                </a:solidFill>
                <a:latin typeface="Calibri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50629" y="2670048"/>
            <a:ext cx="2382697" cy="11887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independent way to certify the autonomy today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297680"/>
            <a:ext cx="11094415" cy="7772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434840"/>
            <a:ext cx="1063721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'Deployed' is not 'validated.' SOAR agents act on production with no human in the loop.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Nobody independent can grade the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one claim none of the incumbents can make is independence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10047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Foundation labs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497113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Ship native guardrails — but can't certify their own ecosystem.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554480"/>
            <a:ext cx="5410047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82296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0078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Eval vendors (Braintrust, Patronus)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231136"/>
            <a:ext cx="497113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Sell tooling to the builder, not assurance to the buyer.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29000"/>
            <a:ext cx="5410047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29000"/>
            <a:ext cx="82296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6384" y="357530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Big 4 / MRM consultancies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105656"/>
            <a:ext cx="497113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Bespoke six-figure manual reviews — slow, unrepeatable, no standard.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3429000"/>
            <a:ext cx="5410047" cy="1737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3429000"/>
            <a:ext cx="82296" cy="17373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70751" y="357530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In-house model risk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0751" y="4105656"/>
            <a:ext cx="497113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agent-native method; first-line, not independent.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534924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9B82"/>
                </a:solidFill>
                <a:latin typeface="Calibri"/>
              </a:rPr>
              <a:t>→  Independence is our wedge.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9 positioning patterns — 8 are taken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Pattern 7 (Trust) is the open lane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673352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Adapter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24166" y="1691640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Glean, Cursor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554480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15887" y="1673352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New primitive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08533" y="1691640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LangChain, Browserbase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2166762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20" y="2285634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Services-as-software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24166" y="2303922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Sierra, Decagon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3007" y="2166762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15887" y="2285634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Sub-vertical squeeze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08533" y="2303922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EvenUp, Anterior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2779044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97916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Replacement / autopilot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4166" y="2916204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Cognition / Devin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33007" y="2779044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15887" y="2897916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Proprietary-data moat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08533" y="2916204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Harvey, OpenEvidence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48640" y="3391326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510198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Interface paradigm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4166" y="3528486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Lovable, Replit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33007" y="3391326"/>
            <a:ext cx="5410047" cy="56692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15887" y="3510198"/>
            <a:ext cx="2975526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Industrial intelligence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208533" y="3528486"/>
            <a:ext cx="2272219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5B6B7C"/>
                </a:solidFill>
                <a:latin typeface="Calibri"/>
              </a:rPr>
              <a:t>Skild, Physical Intelligence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8640" y="5074920"/>
            <a:ext cx="11094415" cy="77724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8640" y="5074920"/>
            <a:ext cx="109728" cy="7772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" y="5230368"/>
            <a:ext cx="1054577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FFB800"/>
                </a:solidFill>
                <a:latin typeface="Calibri"/>
              </a:rPr>
              <a:t>OPEN — Pattern 7: Trust. Certify the agent. Nobody owns it. The grader can't also be a player.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Defensible money lives in KEEP, not REPLACE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25-use-case scorecard sorts every deployed agent by moat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4573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301752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REPLACE — low moat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3106826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Commoditizing.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Labs + incumbents win.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Thin wrappers die.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Don't build a standalone agent here.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645920"/>
            <a:ext cx="354573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645920"/>
            <a:ext cx="82296" cy="30175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0722" y="179222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RENEGOTIATE — 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722" y="2322576"/>
            <a:ext cx="3106826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Co-exist with the system of record.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Drop the bolt-on seats.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Adapter / augment plays.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45920"/>
            <a:ext cx="354573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645920"/>
            <a:ext cx="82296" cy="30175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5060" y="179222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KEEP — high moat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5060" y="2322576"/>
            <a:ext cx="3106826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Proprietary data compounds.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defensible zone.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don't build an agent in any zone — we certify the ones others ship.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OUR POSITION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Certify the autonomous agent before it ships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68880"/>
            <a:ext cx="137160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2834640"/>
            <a:ext cx="5410047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2834640"/>
            <a:ext cx="82296" cy="23774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98094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move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511296"/>
            <a:ext cx="4971135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Package assurance as a hiring bar for the agent: 'passed before you deployed it.'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Sell to the risk owner, not the developer — that's where pricing power lives.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2834640"/>
            <a:ext cx="5410047" cy="2377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2834640"/>
            <a:ext cx="82296" cy="2377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298094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mechanism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3511296"/>
            <a:ext cx="4971135" cy="15544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Supervised validation + adversarial red-team + counterfactual provenance.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Output the buyer shows a regulator, a board, or a court.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are the referee, not another player.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are the UL / SOC-2 for AI agents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An independent authority whose stamp the market trusts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Independent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don't build agents.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don't resell a builder's tool.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9393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9393" y="173736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7137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Authoritative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7137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author the benchmark.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define 'safe to deploy.'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73736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7891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Continuous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7891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Pre-deploy validation +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ongoing assurance.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901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0901" y="173736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8645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Un-copyable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8645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Labs &amp; eval vendors can't claim independence.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It is the product.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28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examiner-ready validation dossier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Five components, mapped to what examiners already ask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00200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00200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746504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1 · Conceptual soundness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754880" y="1764792"/>
            <a:ext cx="66138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Design, data, guardrails, escalation paths.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87498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87498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3380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2 · Outcome testing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54880" y="2552090"/>
            <a:ext cx="66138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Vs our domain benchmark + adversarial / red-team suite.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174796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174796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321100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3 · Monitoring thresholds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3339388"/>
            <a:ext cx="66138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Drift + re-validation triggers on prompt/model change.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962094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962094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10839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4 · Counterfactual provenance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54880" y="4126686"/>
            <a:ext cx="66138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Why it acted — and why it didn't do the near-miss.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749392"/>
            <a:ext cx="11094415" cy="74980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749392"/>
            <a:ext cx="91440" cy="74980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89569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5 · Control attestations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54880" y="4913984"/>
            <a:ext cx="66138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Data handling, human-in-loop, fair-lending.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28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Beachhead: the SR 26-2 vacuum in banking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buyer and budget already exist — Model Risk is a mandated function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1004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32918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FS first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4971135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Banks must self-determine agentic controls — and have nothing.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Model-risk / AI-governance is a mandated, budgeted function.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We slot in as the independent validation it's required to obtain.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coming AI RFI is the deadline.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410047" cy="3291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45920"/>
            <a:ext cx="82296" cy="329184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now beats later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322576"/>
            <a:ext cx="4971135" cy="24688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vacuum is the opening.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First mover authors the standard before the rulebook lands.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Window: mid-2026 → mid-2027.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Then markets consolidate to 2–3 players.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12 / 28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We validate the agents MRM can't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Skip the BAU; lead with novel autonomy + high stakes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1004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554480"/>
            <a:ext cx="82296" cy="356616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0078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Drop (BAU / low pain)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231136"/>
            <a:ext cx="4971135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Generic support chatbots.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OCR / document extraction.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Solved, low-stakes, vendor-benchmarked.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Mild validation pain — weak wedge.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554480"/>
            <a:ext cx="5410047" cy="3566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554480"/>
            <a:ext cx="82296" cy="35661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0078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Lead with (acute pain)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231136"/>
            <a:ext cx="4971135" cy="2743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Advisory / action-taking agents → suitability, fair-lending.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Agentic decisioning → credit, collections, adverse-action.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AML / fraud investigation → SAR quality.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SecOps auto-remediation → audit risk.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13 / 28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Sell to the CRO; the examiner judges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Three-persona sale, one external judge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9260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Economic buyer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Head of Model Risk / CRO.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Holds budget + personal liability.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79393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79393" y="173736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17137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Champion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17137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AI-governance lead.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Job is impossible without us.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0147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0147" y="1737360"/>
            <a:ext cx="82296" cy="29260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47891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User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7891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line of business.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Must pass our gate to ship.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40901" y="1737360"/>
            <a:ext cx="2602153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040901" y="1737360"/>
            <a:ext cx="82296" cy="292608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78645" y="1883664"/>
            <a:ext cx="2190673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judge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78645" y="2414016"/>
            <a:ext cx="2163241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bank examiner (OCC/Fed/CFPB).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Our dossier must survive exams.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93776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1B2B3C"/>
                </a:solidFill>
                <a:latin typeface="Calibri"/>
              </a:rPr>
              <a:t>Survive exams once → become un-switchable. That bar is the forcing function and the moat.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14 / 28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Paid pilot first, assurance forever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Buyer-funded, in the audit / model-risk budget 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10047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29260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Pilot (the demand test)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497113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Fixed-fee validation of one agent → examiner-ready dossier.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Priced like an external model validation (5-figure).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If they won't pay, the pain isn't real.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410047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4592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Subscription (the annuity)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322576"/>
            <a:ext cx="4971135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Annual per-agent continuous assurance.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Drift, re-validation, exam support.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Same arc as pen-test → continuous monitoring.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15 / 28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moat compounds 5 ways — not the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 trust + data + standard flywheel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2087209" cy="2926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181288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Failure corpus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834640"/>
            <a:ext cx="1812889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Cross-customer view no bank or lab sees.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800441" y="1783080"/>
            <a:ext cx="2087209" cy="2926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800441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37601" y="2011680"/>
            <a:ext cx="181288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The benchmark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37601" y="2834640"/>
            <a:ext cx="1812889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We define 'good' — the Harvey LAB playbook.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52242" y="1783080"/>
            <a:ext cx="2087209" cy="2926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52242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89402" y="2011680"/>
            <a:ext cx="181288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Examiner trust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89402" y="2834640"/>
            <a:ext cx="1812889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A track record of surviving exams.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04044" y="1783080"/>
            <a:ext cx="2087209" cy="2926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04044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41204" y="2011680"/>
            <a:ext cx="181288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Independence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41204" y="2834640"/>
            <a:ext cx="1812889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Labs &amp; eval vendors structurally can't copy.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555845" y="1783080"/>
            <a:ext cx="2087209" cy="292608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555845" y="1783080"/>
            <a:ext cx="2087209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93005" y="2011680"/>
            <a:ext cx="1812889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FFB800"/>
                </a:solidFill>
                <a:latin typeface="Calibri"/>
              </a:rPr>
              <a:t>Workflow lock-in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93005" y="2834640"/>
            <a:ext cx="1812889" cy="17373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E0F7F1"/>
                </a:solidFill>
                <a:latin typeface="Calibri"/>
              </a:rPr>
              <a:t>Embedded in MRM process + board packs.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16 / 28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GTM: services-led, platform-destined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Build nothing reusable before pilot #1 is paid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292608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Phase 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14016"/>
            <a:ext cx="3106826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5+ discovery calls.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1 paid teardown.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Buy demand evidence with real fees.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12666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978" y="173736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22978" y="173736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60722" y="188366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Phase 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0722" y="2414016"/>
            <a:ext cx="3106826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Paid pilots seed the failure corpus.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Reference logos.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Draft benchmark v0.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87004" y="2926080"/>
            <a:ext cx="201168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4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7316" y="173736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97316" y="1737360"/>
            <a:ext cx="82296" cy="2926080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5060" y="188366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Phase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5060" y="2414016"/>
            <a:ext cx="3106826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Productize into a platform.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Publish the benchmark = set the standard.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Co-deliver with Big 4 / consultancies.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17 / 28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Demand is already moving in banking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Active agents AND a named model-risk function — qualified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37360"/>
            <a:ext cx="354573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737360"/>
            <a:ext cx="82296" cy="30175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88366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KeyBank · $189B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414016"/>
            <a:ext cx="3106826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40 AI POCs; hired an AI Risk Advisor.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AI Security Architect role: 'controlled autonomy of AI agents.'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JD names MRM + SR 11-7 + fair lending.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737360"/>
            <a:ext cx="354573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737360"/>
            <a:ext cx="82296" cy="30175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0722" y="188366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Fifth Third · $210B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722" y="2414016"/>
            <a:ext cx="3106826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Building 'governance, kill switches' for its agents.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Agentic commerce with Brex.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'Third part is agentic execution.'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737360"/>
            <a:ext cx="3545738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737360"/>
            <a:ext cx="82296" cy="30175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5060" y="188366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Regions · $160B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5060" y="2414016"/>
            <a:ext cx="3106826" cy="21945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AI-integrated lending platform launches Q2 2026.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AI governance framework + CDAO.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Decisioning is our wedge.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98348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1">
                <a:solidFill>
                  <a:srgbClr val="5B6B7C"/>
                </a:solidFill>
                <a:latin typeface="Calibri"/>
              </a:rPr>
              <a:t>GTM owns who to call — research handed over the accounts and the signals.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18 / 28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Captive auto-finance is the same buyer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One thesis, two regulated doors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10047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3108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Captive lenders = regulated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4971135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Toyota Financial Services / TMCC and Nissan Motor Acceptance / NMAC.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Same fair-lending, adverse-action, model-risk need.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Same SR 26-2 vacuum.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410047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45920"/>
            <a:ext cx="82296" cy="3108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Why it's an expansion, not a new company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322576"/>
            <a:ext cx="4971135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Identical buyer logic: Chief Risk / Model Risk.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Reuses the FS playbook + benchmark.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Lowest-friction first vertical expansion.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19 / 28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OEM agent fleets need a referee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TMNA runs a 'system of agents' — the governance layer is open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78308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0A1628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020824"/>
            <a:ext cx="3545738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900" b="1" i="0">
                <a:solidFill>
                  <a:srgbClr val="FFB800"/>
                </a:solidFill>
                <a:latin typeface="Calibri"/>
              </a:rPr>
              <a:t>2,300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2715768"/>
            <a:ext cx="3326282" cy="10972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0" i="0">
                <a:solidFill>
                  <a:srgbClr val="FFFFFF"/>
                </a:solidFill>
                <a:latin typeface="Calibri"/>
              </a:rPr>
              <a:t>dealers on Toyota's agent; 7,000+ interactions/mo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78308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783080"/>
            <a:ext cx="82296" cy="2926080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60722" y="192938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liability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60722" y="2459736"/>
            <a:ext cx="3106826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Toyota bakes legal disclaimers into the dealer agent.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Wrong spec/price/recall info = liability.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Multi-agent supply chain = error propagation.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7316" y="1783080"/>
            <a:ext cx="3545738" cy="29260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97316" y="1783080"/>
            <a:ext cx="82296" cy="292608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35060" y="192938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open lane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35060" y="2459736"/>
            <a:ext cx="3106826" cy="21031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Govern + validate the fleet: brand safety, legal compliance, provenance.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Avoid the crowded dealer-chat apps (Impel, Cerence).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Same thesis, above the BAU.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20 / 28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12-month window to author the standard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After mid-2027, verticals consolidate to 2–3 players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011680"/>
            <a:ext cx="2602153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194560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Apr 17,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2602153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SR 26-2 creates the agentic-AI vacuum.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105073" y="21031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79393" y="2011680"/>
            <a:ext cx="2602153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79393" y="2194560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79393" y="2743200"/>
            <a:ext cx="2602153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AI-specific RFI / rulemaking from the agencies.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35826" y="21031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0147" y="2011680"/>
            <a:ext cx="2602153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0147" y="2194560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Mid-2026 → mid-2027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0147" y="2743200"/>
            <a:ext cx="2602153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The window to own a vertical position.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766580" y="2103120"/>
            <a:ext cx="2286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000" b="0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40901" y="2011680"/>
            <a:ext cx="2602153" cy="9144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40901" y="2194560"/>
            <a:ext cx="2602153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After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40901" y="2743200"/>
            <a:ext cx="2602153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Standard-setter is decided — first mover who survives exams wins.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21 / 28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Why us: independence you can't fake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moat accrues as we operate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10047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3108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Structural advantages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4971135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pre-existing proprietary data needed — the corpus accrues as we run.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auditor cannot be the builder — permanent edge.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 small team can author a standard before incumbents productize.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410047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45920"/>
            <a:ext cx="82296" cy="3108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The one non-negotiable hire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322576"/>
            <a:ext cx="4971135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An ex-MRM / ex-examiner on the cap table.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Credibility to examiners IS the product.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Everything else is reversible; this hire is not.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22 / 28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Competition — and why we win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1094415" cy="457200"/>
          </a:xfrm>
          <a:prstGeom prst="roundRect">
            <a:avLst>
              <a:gd name="adj" fmla="val 4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45920"/>
            <a:ext cx="3328324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Competitor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59844" y="1645920"/>
            <a:ext cx="3550212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Their move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10057" y="1645920"/>
            <a:ext cx="4215877" cy="274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C9A7"/>
                </a:solidFill>
                <a:latin typeface="Calibri"/>
              </a:rPr>
              <a:t>Why we win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011680"/>
            <a:ext cx="11094415" cy="77724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2212848"/>
            <a:ext cx="33283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Big 4 / MRM consultancies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59844" y="2212848"/>
            <a:ext cx="355021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Bespoke manual reviews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10057" y="2212848"/>
            <a:ext cx="403299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We productize + arm them as channel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04464"/>
            <a:ext cx="1109441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3005632"/>
            <a:ext cx="33283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Patronus / eval vendors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59844" y="3005632"/>
            <a:ext cx="355021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Sell evals to the builder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10057" y="3005632"/>
            <a:ext cx="403299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We sell assurance to the buyer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97248"/>
            <a:ext cx="11094415" cy="77724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798416"/>
            <a:ext cx="33283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Foundation labs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59844" y="3798416"/>
            <a:ext cx="355021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Ship native guardrails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10057" y="3798416"/>
            <a:ext cx="403299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Can't certify their own ecosystem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390032"/>
            <a:ext cx="11094415" cy="7772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4591200"/>
            <a:ext cx="3328324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In-house model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59844" y="4591200"/>
            <a:ext cx="3550212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First-line build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10057" y="4591200"/>
            <a:ext cx="4032997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B82"/>
                </a:solidFill>
                <a:latin typeface="Calibri"/>
              </a:rPr>
              <a:t>Lacks independence + cross-bank corpus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23 / 28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honest risks — and the gates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Name the failure conditions up front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21031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Gate 1 —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3106826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5 calls must surface one blocked, paying buyer.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Else: pivot.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22978" y="164592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2978" y="1645920"/>
            <a:ext cx="82296" cy="21031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60722" y="179222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Gate 2 — Pilot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60722" y="2322576"/>
            <a:ext cx="3106826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Sign one paid teardown.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Else: pause.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7316" y="1645920"/>
            <a:ext cx="3545738" cy="2103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097316" y="1645920"/>
            <a:ext cx="82296" cy="2103120"/>
          </a:xfrm>
          <a:prstGeom prst="rect">
            <a:avLst/>
          </a:prstGeom>
          <a:solidFill>
            <a:srgbClr val="F2A8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35060" y="1792224"/>
            <a:ext cx="3134258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Gate 3 — Insider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5060" y="2322576"/>
            <a:ext cx="3106826" cy="12801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Commit an ex-MRM / ex-examiner.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Else: don't approach banks.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069080"/>
            <a:ext cx="11094415" cy="1005840"/>
          </a:xfrm>
          <a:prstGeom prst="roundRect">
            <a:avLst>
              <a:gd name="adj" fmla="val 5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10637215" cy="7772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1" i="0">
                <a:solidFill>
                  <a:srgbClr val="0A1628"/>
                </a:solidFill>
                <a:latin typeface="Calibri"/>
              </a:rPr>
              <a:t>Other risks: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Regulators bless self-attestation → kill signal. The 'services trap' → every engagement must templatize into the product, or stop.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5257800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09B82"/>
                </a:solidFill>
                <a:latin typeface="Calibri"/>
              </a:rPr>
              <a:t>Pass all three in 90 days → release platform funding.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24 / 28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Two golden rules that keep us honest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The discipline that prevents building on a hypothesis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5410047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82296" cy="310896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GR1 — Paid pilots force demand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2322576"/>
            <a:ext cx="4971135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Every conversation drives to a paid validation pilot.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The fee is the demand test.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No free pilots. Politeness isn't demand.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33007" y="1645920"/>
            <a:ext cx="5410047" cy="3108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>
            <a:outerShdw blurRad="80000" dist="30000" dir="5400000" rotWithShape="0">
              <a:srgbClr val="0A1628">
                <a:alpha val="2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33007" y="1645920"/>
            <a:ext cx="82296" cy="310896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70751" y="1792224"/>
            <a:ext cx="4998567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GR2 — GTM owns outreach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0751" y="2322576"/>
            <a:ext cx="4971135" cy="22860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Research hands over qualified accounts, signals, scripts.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GTM names and contacts the humans.</a:t>
            </a:r>
          </a:p>
          <a:p>
            <a:pPr algn="l">
              <a:lnSpc>
                <a:spcPct val="105000"/>
              </a:lnSpc>
              <a:spcBef>
                <a:spcPts val="400"/>
              </a:spcBef>
            </a:pPr>
            <a:r>
              <a:rPr sz="1150" b="0" i="0">
                <a:solidFill>
                  <a:srgbClr val="1B2B3C"/>
                </a:solidFill>
                <a:latin typeface="Calibri"/>
              </a:rPr>
              <a:t>Break either and we're back to slideware.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25 / 28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90 days: 5 calls, 1 paid pilot, 1 insider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Every milestone is observable, not aspirational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9164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91640"/>
            <a:ext cx="91440" cy="8412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93852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Weeks 1–4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938528"/>
            <a:ext cx="79854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5+ MRM/CRO discovery calls; find one currently blocked autonomous agent.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7495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574950"/>
            <a:ext cx="91440" cy="8412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82183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Weeks 1–8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83280" y="2821838"/>
            <a:ext cx="79854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Sign 1 paid 'Agent Validation Teardown.'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5826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458260"/>
            <a:ext cx="91440" cy="8412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70514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Weeks 1–8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83280" y="3705148"/>
            <a:ext cx="79854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Commit an ex-MRM / ex-examiner advisor or co-founder.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341570"/>
            <a:ext cx="11094415" cy="841248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4341570"/>
            <a:ext cx="91440" cy="84124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588458"/>
            <a:ext cx="23774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A1628"/>
                </a:solidFill>
                <a:latin typeface="Calibri"/>
              </a:rPr>
              <a:t>Parallel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4588458"/>
            <a:ext cx="7985455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50" b="0" i="0">
                <a:solidFill>
                  <a:srgbClr val="1B2B3C"/>
                </a:solidFill>
                <a:latin typeface="Calibri"/>
              </a:rPr>
              <a:t>Draft the FS Agent Validation Benchmark v0 — the teardown spine.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26 / 28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0C9A7"/>
                </a:solidFill>
                <a:latin typeface="Calibri"/>
              </a:rPr>
              <a:t>NEXT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0607040" cy="1463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400" b="1" i="0">
                <a:solidFill>
                  <a:srgbClr val="FFFFFF"/>
                </a:solidFill>
                <a:latin typeface="Calibri"/>
              </a:rPr>
              <a:t>Run the 5 discovery calls.
Sign one paid pilot. Land one insider.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3566160"/>
            <a:ext cx="11094415" cy="822960"/>
          </a:xfrm>
          <a:prstGeom prst="roundRect">
            <a:avLst>
              <a:gd name="adj" fmla="val 5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3749039"/>
            <a:ext cx="10545775" cy="5486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Everything else waits behind those three. The vacuum is open now — the standard gets written by whoever moves first and survives the exam.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75488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00C9A7"/>
                </a:solidFill>
                <a:latin typeface="Calibri"/>
              </a:rPr>
              <a:t>Let's go get the first paid pilot.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27 / 28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Appendix — the evidence 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Full chain lives in GBrain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645920"/>
            <a:ext cx="11094415" cy="676656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91440" cy="6766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Pattern library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837944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9 patterns + emerging patterns E1–E9.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356408"/>
            <a:ext cx="11094415" cy="676656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48640" y="2356408"/>
            <a:ext cx="91440" cy="6766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539288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10-company dossiers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6240" y="2548432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Harvey, Sierra, Cursor, Cognition live; 6 queued.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066896"/>
            <a:ext cx="11094415" cy="676656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48640" y="3066896"/>
            <a:ext cx="91440" cy="6766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3249776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Use-case 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06240" y="3258920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Mapped to the 25-use-case scorecard.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3777384"/>
            <a:ext cx="11094415" cy="676656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3777384"/>
            <a:ext cx="91440" cy="6766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3960264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GTM packages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0" y="3969408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FS bank targets + SR 26-2 reframe; automotive doors.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48640" y="4487872"/>
            <a:ext cx="11094415" cy="676656"/>
          </a:xfrm>
          <a:prstGeom prst="roundRect">
            <a:avLst>
              <a:gd name="adj" fmla="val 8000"/>
            </a:avLst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48640" y="4487872"/>
            <a:ext cx="91440" cy="676656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4670752"/>
            <a:ext cx="3291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50" b="1" i="0">
                <a:solidFill>
                  <a:srgbClr val="0A1628"/>
                </a:solidFill>
                <a:latin typeface="Calibri"/>
              </a:rPr>
              <a:t>Discipline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4679896"/>
            <a:ext cx="7162495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0" i="0">
                <a:solidFill>
                  <a:srgbClr val="1B2B3C"/>
                </a:solidFill>
                <a:latin typeface="Calibri"/>
              </a:rPr>
              <a:t>CEO kill-gates + two golden rules.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Agent Validation &amp; Assurance Authority · Positioning Thesis v1 · 2026-06-24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28 /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