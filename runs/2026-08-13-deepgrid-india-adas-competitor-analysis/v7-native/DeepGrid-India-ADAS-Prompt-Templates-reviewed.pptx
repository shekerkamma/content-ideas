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8dcc91431e4255" /><Relationship Type="http://schemas.openxmlformats.org/officeDocument/2006/relationships/extended-properties" Target="/docProps/app.xml" Id="R708b35405f8546dc" /><Relationship Type="http://schemas.openxmlformats.org/officeDocument/2006/relationships/officeDocument" Target="/ppt/presentation.xml" Id="R9fac03efa34c4834" /></Relationships>
</file>

<file path=ppt/presentation.xml><?xml version="1.0" encoding="utf-8"?>
<p:presentation xmlns:p="http://schemas.openxmlformats.org/presentationml/2006/main">
  <p:sldMasterIdLst>
    <p:sldMasterId xmlns:r="http://schemas.openxmlformats.org/officeDocument/2006/relationships" id="2147483648" r:id="Rd2799ab7e4af4576"/>
  </p:sldMasterIdLst>
  <p:notesMasterIdLst>
    <p:notesMasterId xmlns:r="http://schemas.openxmlformats.org/officeDocument/2006/relationships" r:id="R307dbc6571954ab6"/>
  </p:notesMasterIdLst>
  <p:sldIdLst>
    <p:sldId xmlns:r="http://schemas.openxmlformats.org/officeDocument/2006/relationships" id="256" r:id="R5b334f5ca8d744f8"/>
    <p:sldId xmlns:r="http://schemas.openxmlformats.org/officeDocument/2006/relationships" id="257" r:id="R93c506e469ca4f1f"/>
    <p:sldId xmlns:r="http://schemas.openxmlformats.org/officeDocument/2006/relationships" id="258" r:id="R12bb77d7acfa478e"/>
    <p:sldId xmlns:r="http://schemas.openxmlformats.org/officeDocument/2006/relationships" id="259" r:id="R27ddeebe95f54b2a"/>
    <p:sldId xmlns:r="http://schemas.openxmlformats.org/officeDocument/2006/relationships" id="260" r:id="Rd99739f5d57f48da"/>
    <p:sldId xmlns:r="http://schemas.openxmlformats.org/officeDocument/2006/relationships" id="261" r:id="R4f9c13e662274d64"/>
    <p:sldId xmlns:r="http://schemas.openxmlformats.org/officeDocument/2006/relationships" id="262" r:id="Rbc4595df1a6943de"/>
    <p:sldId xmlns:r="http://schemas.openxmlformats.org/officeDocument/2006/relationships" id="263" r:id="R5846f60c7c7c4f0f"/>
    <p:sldId xmlns:r="http://schemas.openxmlformats.org/officeDocument/2006/relationships" id="264" r:id="Rb319b9fc217649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a35d5771014ec8" /><Relationship Type="http://schemas.openxmlformats.org/officeDocument/2006/relationships/slideMaster" Target="/ppt/slideMasters/slideMaster1.xml" Id="Rd2799ab7e4af4576" /><Relationship Type="http://schemas.openxmlformats.org/officeDocument/2006/relationships/notesMaster" Target="/ppt/notesMasters/notesMaster1.xml" Id="R307dbc6571954ab6" /><Relationship Type="http://schemas.openxmlformats.org/officeDocument/2006/relationships/presProps" Target="/ppt/presProps.xml" Id="R4461cdb5070949b9" /><Relationship Type="http://schemas.openxmlformats.org/officeDocument/2006/relationships/tableStyles" Target="/ppt/tableStyles.xml" Id="Rc20386b3584046a4" /><Relationship Type="http://schemas.openxmlformats.org/officeDocument/2006/relationships/slide" Target="/ppt/slides/slide1.xml" Id="R5b334f5ca8d744f8" /><Relationship Type="http://schemas.openxmlformats.org/officeDocument/2006/relationships/slide" Target="/ppt/slides/slide2.xml" Id="R93c506e469ca4f1f" /><Relationship Type="http://schemas.openxmlformats.org/officeDocument/2006/relationships/slide" Target="/ppt/slides/slide3.xml" Id="R12bb77d7acfa478e" /><Relationship Type="http://schemas.openxmlformats.org/officeDocument/2006/relationships/slide" Target="/ppt/slides/slide4.xml" Id="R27ddeebe95f54b2a" /><Relationship Type="http://schemas.openxmlformats.org/officeDocument/2006/relationships/slide" Target="/ppt/slides/slide5.xml" Id="Rd99739f5d57f48da" /><Relationship Type="http://schemas.openxmlformats.org/officeDocument/2006/relationships/slide" Target="/ppt/slides/slide6.xml" Id="R4f9c13e662274d64" /><Relationship Type="http://schemas.openxmlformats.org/officeDocument/2006/relationships/slide" Target="/ppt/slides/slide7.xml" Id="Rbc4595df1a6943de" /><Relationship Type="http://schemas.openxmlformats.org/officeDocument/2006/relationships/slide" Target="/ppt/slides/slide8.xml" Id="R5846f60c7c7c4f0f" /><Relationship Type="http://schemas.openxmlformats.org/officeDocument/2006/relationships/slide" Target="/ppt/slides/slide9.xml" Id="Rb319b9fc217649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3edb09154149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31505f39294c80" /><Relationship Type="http://schemas.openxmlformats.org/officeDocument/2006/relationships/notesMaster" Target="/ppt/notesMasters/notesMaster1.xml" Id="R1ac2da0bdc804e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624c82737a43bc" /><Relationship Type="http://schemas.openxmlformats.org/officeDocument/2006/relationships/notesMaster" Target="/ppt/notesMasters/notesMaster1.xml" Id="R2e0db6bdab154e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45abb70fbf4a67" /><Relationship Type="http://schemas.openxmlformats.org/officeDocument/2006/relationships/notesMaster" Target="/ppt/notesMasters/notesMaster1.xml" Id="R92531a387a6340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fdeeedc5e94aec" /><Relationship Type="http://schemas.openxmlformats.org/officeDocument/2006/relationships/notesMaster" Target="/ppt/notesMasters/notesMaster1.xml" Id="Rc3b286b1039044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16a39bcb5144bf" /><Relationship Type="http://schemas.openxmlformats.org/officeDocument/2006/relationships/notesMaster" Target="/ppt/notesMasters/notesMaster1.xml" Id="R0cf576c9154941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26058064794390" /><Relationship Type="http://schemas.openxmlformats.org/officeDocument/2006/relationships/notesMaster" Target="/ppt/notesMasters/notesMaster1.xml" Id="R9490ec9407cd44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90ff97abfc43b2" /><Relationship Type="http://schemas.openxmlformats.org/officeDocument/2006/relationships/notesMaster" Target="/ppt/notesMasters/notesMaster1.xml" Id="R767d9dca57d944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1125c94cfc49a2" /><Relationship Type="http://schemas.openxmlformats.org/officeDocument/2006/relationships/notesMaster" Target="/ppt/notesMasters/notesMaster1.xml" Id="R521cd7b727a641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a2100728584ebd" /><Relationship Type="http://schemas.openxmlformats.org/officeDocument/2006/relationships/notesMaster" Target="/ppt/notesMasters/notesMaster1.xml" Id="R5a7e9c3a51a148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Format replicated from the supplied guide; patterns adapted to this deck’s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Contents: 7 patterns across 4 domains.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1: Evidence Posture — P1 · Evidence Ladder</a:t>
            </a:r>
          </a:p>
          <a:p xmlns:a="http://schemas.openxmlformats.org/drawingml/2006/main">
            <a:r>
              <a:t/>
            </a:r>
          </a:p>
          <a:p xmlns:a="http://schemas.openxmlformats.org/drawingml/2006/main">
            <a:r>
              <a:t>KEY PROMPT:</a:t>
            </a:r>
          </a:p>
          <a:p xmlns:a="http://schemas.openxmlformats.org/drawingml/2006/main">
            <a:r>
              <a:t>Build an evidence ladder for [subject] as of [date] using only [evidence IDs]. Produce four rungs ordered strongest to weakest. For each give the label, the statement in one sentence, its status, a confidence between 0 and 1, and the named artifact that would raise it. Do not merge rungs of different status. End with the response decision, the owner, and the artifact that moves the rating.</a:t>
            </a:r>
          </a:p>
          <a:p xmlns:a="http://schemas.openxmlformats.org/drawingml/2006/main">
            <a:r>
              <a:t/>
            </a:r>
          </a:p>
          <a:p xmlns:a="http://schemas.openxmlformats.org/drawingml/2006/main">
            <a:r>
              <a:t>OUTPUT INCLUDES:</a:t>
            </a:r>
          </a:p>
          <a:p xmlns:a="http://schemas.openxmlformats.org/drawingml/2006/main">
            <a:r>
              <a:t>- Observable Position (1 paragraph)</a:t>
            </a:r>
          </a:p>
          <a:p xmlns:a="http://schemas.openxmlformats.org/drawingml/2006/main">
            <a:r>
              <a:t>- Rungs[] with status + confidence</a:t>
            </a:r>
          </a:p>
          <a:p xmlns:a="http://schemas.openxmlformats.org/drawingml/2006/main">
            <a:r>
              <a:t>- Named artifact that raises each rung</a:t>
            </a:r>
          </a:p>
          <a:p xmlns:a="http://schemas.openxmlformats.org/drawingml/2006/main">
            <a:r>
              <a:t>- Evidence gap holding the rating</a:t>
            </a:r>
          </a:p>
          <a:p xmlns:a="http://schemas.openxmlformats.org/drawingml/2006/main">
            <a:r>
              <a:t>- Response decision · owner · trigger</a:t>
            </a:r>
          </a:p>
          <a:p xmlns:a="http://schemas.openxmlformats.org/drawingml/2006/main">
            <a:r>
              <a:t>- EXHIBIT: rung width = 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1: Evidence Posture — P7 · Confidence Register</a:t>
            </a:r>
          </a:p>
          <a:p xmlns:a="http://schemas.openxmlformats.org/drawingml/2006/main">
            <a:r>
              <a:t/>
            </a:r>
          </a:p>
          <a:p xmlns:a="http://schemas.openxmlformats.org/drawingml/2006/main">
            <a:r>
              <a:t>KEY PROMPT:</a:t>
            </a:r>
          </a:p>
          <a:p xmlns:a="http://schemas.openxmlformats.org/drawingml/2006/main">
            <a:r>
              <a:t>Register the load-bearing claims behind [plan]. Score each on importance 1–3 and evidence strength 1–3, using the same scale throughout. Identify which are load-bearing — high importance, low evidence. Convert those into a purge list and a test plan with owners. End with the rule for what may appear in client-facing material.</a:t>
            </a:r>
          </a:p>
          <a:p xmlns:a="http://schemas.openxmlformats.org/drawingml/2006/main">
            <a:r>
              <a:t/>
            </a:r>
          </a:p>
          <a:p xmlns:a="http://schemas.openxmlformats.org/drawingml/2006/main">
            <a:r>
              <a:t>OUTPUT INCLUDES:</a:t>
            </a:r>
          </a:p>
          <a:p xmlns:a="http://schemas.openxmlformats.org/drawingml/2006/main">
            <a:r>
              <a:t>- Claims[] scored importance × evidence</a:t>
            </a:r>
          </a:p>
          <a:p xmlns:a="http://schemas.openxmlformats.org/drawingml/2006/main">
            <a:r>
              <a:t>- Confidence band per claim</a:t>
            </a:r>
          </a:p>
          <a:p xmlns:a="http://schemas.openxmlformats.org/drawingml/2006/main">
            <a:r>
              <a:t>- Load-bearing claims flagged</a:t>
            </a:r>
          </a:p>
          <a:p xmlns:a="http://schemas.openxmlformats.org/drawingml/2006/main">
            <a:r>
              <a:t>- Purge list for external material</a:t>
            </a:r>
          </a:p>
          <a:p xmlns:a="http://schemas.openxmlformats.org/drawingml/2006/main">
            <a:r>
              <a:t>- Publication rule</a:t>
            </a:r>
          </a:p>
          <a:p xmlns:a="http://schemas.openxmlformats.org/drawingml/2006/main">
            <a:r>
              <a:t>- EXHIBIT: scored dot register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2: Competitive Structure — P2 · Threat × Arena Matrix</a:t>
            </a:r>
          </a:p>
          <a:p xmlns:a="http://schemas.openxmlformats.org/drawingml/2006/main">
            <a:r>
              <a:t/>
            </a:r>
          </a:p>
          <a:p xmlns:a="http://schemas.openxmlformats.org/drawingml/2006/main">
            <a:r>
              <a:t>KEY PROMPT:</a:t>
            </a:r>
          </a:p>
          <a:p xmlns:a="http://schemas.openxmlformats.org/drawingml/2006/main">
            <a:r>
              <a:t>Rate [competitor] across [arenas] on the control point each arena rewards. For every cell give a rating from HIGHEST / HIGH / MEDIUM-HIGH / MEDIUM / LOW-MEDIUM / LOW and the single fact behind it in under twelve words. Explain in one sentence why the rating changes between arenas — the mechanism, not a restatement. End with the arena to defend, the arena to concede, and the signal that would invert the ranking.</a:t>
            </a:r>
          </a:p>
          <a:p xmlns:a="http://schemas.openxmlformats.org/drawingml/2006/main">
            <a:r>
              <a:t/>
            </a:r>
          </a:p>
          <a:p xmlns:a="http://schemas.openxmlformats.org/drawingml/2006/main">
            <a:r>
              <a:t>OUTPUT INCLUDES:</a:t>
            </a:r>
          </a:p>
          <a:p xmlns:a="http://schemas.openxmlformats.org/drawingml/2006/main">
            <a:r>
              <a:t>- Matrix: arenas × dimensions</a:t>
            </a:r>
          </a:p>
          <a:p xmlns:a="http://schemas.openxmlformats.org/drawingml/2006/main">
            <a:r>
              <a:t>- Rating + supporting fact per cell</a:t>
            </a:r>
          </a:p>
          <a:p xmlns:a="http://schemas.openxmlformats.org/drawingml/2006/main">
            <a:r>
              <a:t>- Variance mechanism (1 sentence)</a:t>
            </a:r>
          </a:p>
          <a:p xmlns:a="http://schemas.openxmlformats.org/drawingml/2006/main">
            <a:r>
              <a:t>- Defend / concede verdict</a:t>
            </a:r>
          </a:p>
          <a:p xmlns:a="http://schemas.openxmlformats.org/drawingml/2006/main">
            <a:r>
              <a:t>- Inversion signal</a:t>
            </a:r>
          </a:p>
          <a:p xmlns:a="http://schemas.openxmlformats.org/drawingml/2006/main">
            <a:r>
              <a:t>- EXHIBIT: heatmap, colour = rating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3: Bounded Action — P3 · Staged Move</a:t>
            </a:r>
          </a:p>
          <a:p xmlns:a="http://schemas.openxmlformats.org/drawingml/2006/main">
            <a:r>
              <a:t/>
            </a:r>
          </a:p>
          <a:p xmlns:a="http://schemas.openxmlformats.org/drawingml/2006/main">
            <a:r>
              <a:t>KEY PROMPT:</a:t>
            </a:r>
          </a:p>
          <a:p xmlns:a="http://schemas.openxmlformats.org/drawingml/2006/main">
            <a:r>
              <a:t>Design a bounded staged move for [company] against [competitor]. Give 3–4 stages in order. For each: a label of at most 30 characters, what happens in one sentence, whether it is reversible, and its commitment level. The final stage must be a decision gate with an explicit escalate condition. State their advantage as a mechanism first. End with the abandonment rule — do not propose a feature-for-feature response.</a:t>
            </a:r>
          </a:p>
          <a:p xmlns:a="http://schemas.openxmlformats.org/drawingml/2006/main">
            <a:r>
              <a:t/>
            </a:r>
          </a:p>
          <a:p xmlns:a="http://schemas.openxmlformats.org/drawingml/2006/main">
            <a:r>
              <a:t>OUTPUT INCLUDES:</a:t>
            </a:r>
          </a:p>
          <a:p xmlns:a="http://schemas.openxmlformats.org/drawingml/2006/main">
            <a:r>
              <a:t>- Their mechanism (1 sentence)</a:t>
            </a:r>
          </a:p>
          <a:p xmlns:a="http://schemas.openxmlformats.org/drawingml/2006/main">
            <a:r>
              <a:t>- Stages[] with reversibility</a:t>
            </a:r>
          </a:p>
          <a:p xmlns:a="http://schemas.openxmlformats.org/drawingml/2006/main">
            <a:r>
              <a:t>- Commitment level per stage</a:t>
            </a:r>
          </a:p>
          <a:p xmlns:a="http://schemas.openxmlformats.org/drawingml/2006/main">
            <a:r>
              <a:t>- Escalate condition</a:t>
            </a:r>
          </a:p>
          <a:p xmlns:a="http://schemas.openxmlformats.org/drawingml/2006/main">
            <a:r>
              <a:t>- Abandonment rule</a:t>
            </a:r>
          </a:p>
          <a:p xmlns:a="http://schemas.openxmlformats.org/drawingml/2006/main">
            <a:r>
              <a:t>- EXHIBIT: numbered chain with arrows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3: Bounded Action — P4 · Bounded Argument</a:t>
            </a:r>
          </a:p>
          <a:p xmlns:a="http://schemas.openxmlformats.org/drawingml/2006/main">
            <a:r>
              <a:t/>
            </a:r>
          </a:p>
          <a:p xmlns:a="http://schemas.openxmlformats.org/drawingml/2006/main">
            <a:r>
              <a:t>KEY PROMPT:</a:t>
            </a:r>
          </a:p>
          <a:p xmlns:a="http://schemas.openxmlformats.org/drawingml/2006/main">
            <a:r>
              <a:t>Argue [position] for [audience]. Give exactly three stances: the position taken, the strongest opposing stance, and the bounded middle. For each give the claim in one sentence and what it rests on. Mark which stance the evidence currently supports. Do not hedge the losing stances — state them at full strength. End with the decision, the owner, and the observable that would overturn the chosen stance.</a:t>
            </a:r>
          </a:p>
          <a:p xmlns:a="http://schemas.openxmlformats.org/drawingml/2006/main">
            <a:r>
              <a:t/>
            </a:r>
          </a:p>
          <a:p xmlns:a="http://schemas.openxmlformats.org/drawingml/2006/main">
            <a:r>
              <a:t>OUTPUT INCLUDES:</a:t>
            </a:r>
          </a:p>
          <a:p xmlns:a="http://schemas.openxmlformats.org/drawingml/2006/main">
            <a:r>
              <a:t>- Three stances: taken / opposing / bounded</a:t>
            </a:r>
          </a:p>
          <a:p xmlns:a="http://schemas.openxmlformats.org/drawingml/2006/main">
            <a:r>
              <a:t>- What each rests on</a:t>
            </a:r>
          </a:p>
          <a:p xmlns:a="http://schemas.openxmlformats.org/drawingml/2006/main">
            <a:r>
              <a:t>- Which the evidence supports</a:t>
            </a:r>
          </a:p>
          <a:p xmlns:a="http://schemas.openxmlformats.org/drawingml/2006/main">
            <a:r>
              <a:t>- Overturning observable</a:t>
            </a:r>
          </a:p>
          <a:p xmlns:a="http://schemas.openxmlformats.org/drawingml/2006/main">
            <a:r>
              <a:t>- Decision · owner · trigger</a:t>
            </a:r>
          </a:p>
          <a:p xmlns:a="http://schemas.openxmlformats.org/drawingml/2006/main">
            <a:r>
              <a:t>- EXHIBIT: three-stance bar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4: Execution &amp; Economics — P5 · Dated Plan</a:t>
            </a:r>
          </a:p>
          <a:p xmlns:a="http://schemas.openxmlformats.org/drawingml/2006/main">
            <a:r>
              <a:t/>
            </a:r>
          </a:p>
          <a:p xmlns:a="http://schemas.openxmlformats.org/drawingml/2006/main">
            <a:r>
              <a:t>KEY PROMPT:</a:t>
            </a:r>
          </a:p>
          <a:p xmlns:a="http://schemas.openxmlformats.org/drawingml/2006/main">
            <a:r>
              <a:t>Build a [duration] plan for [company] that converts claims into reproducible artifacts. Give 3–5 phases. For each: the window as written on a chart, its span in weeks, the artifact it must produce, the owner, and the gate that releases the next phase. Sequence so each phase unlocks the following one. End with the condition under which the plan stops rather than continues.</a:t>
            </a:r>
          </a:p>
          <a:p xmlns:a="http://schemas.openxmlformats.org/drawingml/2006/main">
            <a:r>
              <a:t/>
            </a:r>
          </a:p>
          <a:p xmlns:a="http://schemas.openxmlformats.org/drawingml/2006/main">
            <a:r>
              <a:t>OUTPUT INCLUDES:</a:t>
            </a:r>
          </a:p>
          <a:p xmlns:a="http://schemas.openxmlformats.org/drawingml/2006/main">
            <a:r>
              <a:t>- Target outcome</a:t>
            </a:r>
          </a:p>
          <a:p xmlns:a="http://schemas.openxmlformats.org/drawingml/2006/main">
            <a:r>
              <a:t>- Phases[] with span in weeks</a:t>
            </a:r>
          </a:p>
          <a:p xmlns:a="http://schemas.openxmlformats.org/drawingml/2006/main">
            <a:r>
              <a:t>- Artifact per phase (never an activity)</a:t>
            </a:r>
          </a:p>
          <a:p xmlns:a="http://schemas.openxmlformats.org/drawingml/2006/main">
            <a:r>
              <a:t>- Gate and owner per phase</a:t>
            </a:r>
          </a:p>
          <a:p xmlns:a="http://schemas.openxmlformats.org/drawingml/2006/main">
            <a:r>
              <a:t>- Stop condition</a:t>
            </a:r>
          </a:p>
          <a:p xmlns:a="http://schemas.openxmlformats.org/drawingml/2006/main">
            <a:r>
              <a:t>- EXHIBIT: timeline rail, spans to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4: Execution &amp; Economics — P6 · Cost Bridge</a:t>
            </a:r>
          </a:p>
          <a:p xmlns:a="http://schemas.openxmlformats.org/drawingml/2006/main">
            <a:r>
              <a:t/>
            </a:r>
          </a:p>
          <a:p xmlns:a="http://schemas.openxmlformats.org/drawingml/2006/main">
            <a:r>
              <a:t>KEY PROMPT:</a:t>
            </a:r>
          </a:p>
          <a:p xmlns:a="http://schemas.openxmlformats.org/drawingml/2006/main">
            <a:r>
              <a:t>Build the cost bridge from [current] to [target] for [company]. Give each step as a label, a display amount, a numeric value for the bar height, and whether the magnitude is verified or directional. Carry every element that must be paid: NRE, yield, package, qualification, warranty, lifecycle. State explicitly whether a projected die price is comparable to a system price. End with the gate that must clear before capital is committed.</a:t>
            </a:r>
          </a:p>
          <a:p xmlns:a="http://schemas.openxmlformats.org/drawingml/2006/main">
            <a:r>
              <a:t/>
            </a:r>
          </a:p>
          <a:p xmlns:a="http://schemas.openxmlformats.org/drawingml/2006/main">
            <a:r>
              <a:t>OUTPUT INCLUDES:</a:t>
            </a:r>
          </a:p>
          <a:p xmlns:a="http://schemas.openxmlformats.org/drawingml/2006/main">
            <a:r>
              <a:t>- Steps[] with value and verified flag</a:t>
            </a:r>
          </a:p>
          <a:p xmlns:a="http://schemas.openxmlformats.org/drawingml/2006/main">
            <a:r>
              <a:t>- Base → add → target sequence</a:t>
            </a:r>
          </a:p>
          <a:p xmlns:a="http://schemas.openxmlformats.org/drawingml/2006/main">
            <a:r>
              <a:t>- Comparability rule</a:t>
            </a:r>
          </a:p>
          <a:p xmlns:a="http://schemas.openxmlformats.org/drawingml/2006/main">
            <a:r>
              <a:t>- Directional caveat where unverified</a:t>
            </a:r>
          </a:p>
          <a:p xmlns:a="http://schemas.openxmlformats.org/drawingml/2006/main">
            <a:r>
              <a:t>- Capital gate</a:t>
            </a:r>
          </a:p>
          <a:p xmlns:a="http://schemas.openxmlformats.org/drawingml/2006/main">
            <a:r>
              <a:t>- EXHIBIT: waterfall, height = magnitude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4d4628f4c443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1c592f4c7a4420" /><Relationship Type="http://schemas.openxmlformats.org/officeDocument/2006/relationships/slideLayout" Target="/ppt/slideLayouts/slideLayout1.xml" Id="R4748b394acc64b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48b394acc64b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94bed9a59d4a08" /><Relationship Type="http://schemas.openxmlformats.org/officeDocument/2006/relationships/notesSlide" Target="/ppt/notesSlides/notesSlide1.xml" Id="Rea73fe417bb140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90d001600147c3" /><Relationship Type="http://schemas.openxmlformats.org/officeDocument/2006/relationships/notesSlide" Target="/ppt/notesSlides/notesSlide2.xml" Id="R2da1a8783d4448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937bf1de0f4df0" /><Relationship Type="http://schemas.openxmlformats.org/officeDocument/2006/relationships/notesSlide" Target="/ppt/notesSlides/notesSlide3.xml" Id="R06d5153d4d3449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592cea58994ebb" /><Relationship Type="http://schemas.openxmlformats.org/officeDocument/2006/relationships/notesSlide" Target="/ppt/notesSlides/notesSlide4.xml" Id="Raeb1bffbae7a45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e6fee1723745f9" /><Relationship Type="http://schemas.openxmlformats.org/officeDocument/2006/relationships/notesSlide" Target="/ppt/notesSlides/notesSlide5.xml" Id="R8a14e6ebbb5740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e6417316c54409" /><Relationship Type="http://schemas.openxmlformats.org/officeDocument/2006/relationships/notesSlide" Target="/ppt/notesSlides/notesSlide6.xml" Id="Ra01a279037a242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a0f53a5a914bba" /><Relationship Type="http://schemas.openxmlformats.org/officeDocument/2006/relationships/notesSlide" Target="/ppt/notesSlides/notesSlide7.xml" Id="R63ae88988c3147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1f730710d0493e" /><Relationship Type="http://schemas.openxmlformats.org/officeDocument/2006/relationships/notesSlide" Target="/ppt/notesSlides/notesSlide8.xml" Id="R0bedf4df8e2741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d7d9ae294349a6" /><Relationship Type="http://schemas.openxmlformats.org/officeDocument/2006/relationships/notesSlide" Target="/ppt/notesSlides/notesSlide9.xml" Id="Rbcbc8ec52cf5400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D6A1E7F-6379-47E0-B5FB-D4D9548C02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5032AB-A3B5-4799-B6EA-12D813EC7C0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6ADE8D-3E58-4817-9BDC-2A7AEC3133A8}"/>
              </a:ext>
            </a:extLst>
          </p:cNvPr>
          <p:cNvSpPr>
            <a:spLocks xmlns:a="http://schemas.openxmlformats.org/drawingml/2006/main" noGrp="1"/>
          </p:cNvSpPr>
          <p:nvPr/>
        </p:nvSpPr>
        <p:spPr>
          <a:xfrm xmlns:a="http://schemas.openxmlformats.org/drawingml/2006/main">
            <a:off x="590550" y="1790700"/>
            <a:ext cx="857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C9A7"/>
                </a:solidFill>
                <a:latin typeface="Calibri"/>
                <a:ea typeface="Calibri"/>
                <a:cs typeface="Calibri"/>
              </a:defRPr>
            </a:pPr>
            <a:r>
              <a:t>PROMPT TEMPLATES FOR COMPETITOR DOSSIERS</a:t>
            </a:r>
          </a:p>
        </p:txBody>
      </p:sp>
      <p:sp>
        <p:nvSpPr>
          <p:cNvPr id="4" name="">
            <a:extLst xmlns:a="http://schemas.openxmlformats.org/drawingml/2006/main">
              <a:ext uri="{FF2B5EF4-FFF2-40B4-BE49-F238E27FC236}">
                <a16:creationId xmlns:a16="http://schemas.microsoft.com/office/drawing/2014/main" id="{A2FC70AE-2CC9-48A2-86E9-D315CDCA63D2}"/>
              </a:ext>
            </a:extLst>
          </p:cNvPr>
          <p:cNvSpPr>
            <a:spLocks xmlns:a="http://schemas.openxmlformats.org/drawingml/2006/main" noGrp="1"/>
          </p:cNvSpPr>
          <p:nvPr/>
        </p:nvSpPr>
        <p:spPr>
          <a:xfrm xmlns:a="http://schemas.openxmlformats.org/drawingml/2006/main">
            <a:off x="590550" y="2133600"/>
            <a:ext cx="8572500" cy="1809750"/>
          </a:xfrm>
          <a:prstGeom xmlns:a="http://schemas.openxmlformats.org/drawingml/2006/main" prst="rect">
            <a:avLst/>
          </a:prstGeom>
        </p:spPr>
        <p:txBody>
          <a:bodyPr xmlns:a="http://schemas.openxmlformats.org/drawingml/2006/main" lIns="0" tIns="0" rIns="0" bIns="0" anchor="t">
            <a:normAutofit fontScale="89962"/>
          </a:bodyPr>
          <a:lstStyle xmlns:a="http://schemas.openxmlformats.org/drawingml/2006/main"/>
          <a:p xmlns:a="http://schemas.openxmlformats.org/drawingml/2006/main">
            <a:pPr algn="l">
              <a:defRPr sz="4400" b="1">
                <a:solidFill>
                  <a:srgbClr val="FFFFFF"/>
                </a:solidFill>
                <a:latin typeface="Calibri"/>
                <a:ea typeface="Calibri"/>
                <a:cs typeface="Calibri"/>
              </a:defRPr>
            </a:pPr>
            <a:r>
              <a:t>The Adapted</a:t>
            </a:r>
          </a:p>
          <a:p xmlns:a="http://schemas.openxmlformats.org/drawingml/2006/main">
            <a:pPr algn="l">
              <a:defRPr sz="4400" b="1">
                <a:solidFill>
                  <a:srgbClr val="FFFFFF"/>
                </a:solidFill>
                <a:latin typeface="Calibri"/>
                <a:ea typeface="Calibri"/>
                <a:cs typeface="Calibri"/>
              </a:defRPr>
            </a:pPr>
            <a:r>
              <a:t>India ADAS</a:t>
            </a:r>
          </a:p>
          <a:p xmlns:a="http://schemas.openxmlformats.org/drawingml/2006/main">
            <a:pPr algn="l">
              <a:defRPr sz="4400" b="1">
                <a:solidFill>
                  <a:srgbClr val="FFFFFF"/>
                </a:solidFill>
                <a:latin typeface="Calibri"/>
                <a:ea typeface="Calibri"/>
                <a:cs typeface="Calibri"/>
              </a:defRPr>
            </a:pPr>
            <a:r>
              <a:t>Prompt Template Set</a:t>
            </a:r>
          </a:p>
        </p:txBody>
      </p:sp>
      <p:sp>
        <p:nvSpPr>
          <p:cNvPr id="5" name="">
            <a:extLst xmlns:a="http://schemas.openxmlformats.org/drawingml/2006/main">
              <a:ext uri="{FF2B5EF4-FFF2-40B4-BE49-F238E27FC236}">
                <a16:creationId xmlns:a16="http://schemas.microsoft.com/office/drawing/2014/main" id="{6121302B-1D43-477D-91AA-71CD97C8A005}"/>
              </a:ext>
            </a:extLst>
          </p:cNvPr>
          <p:cNvSpPr>
            <a:spLocks xmlns:a="http://schemas.openxmlformats.org/drawingml/2006/main" noGrp="1"/>
          </p:cNvSpPr>
          <p:nvPr/>
        </p:nvSpPr>
        <p:spPr>
          <a:xfrm xmlns:a="http://schemas.openxmlformats.org/drawingml/2006/main">
            <a:off x="590550" y="4114800"/>
            <a:ext cx="85725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00">
                <a:solidFill>
                  <a:srgbClr val="A3B5C8"/>
                </a:solidFill>
                <a:latin typeface="Calibri"/>
                <a:ea typeface="Calibri"/>
                <a:cs typeface="Calibri"/>
              </a:defRPr>
            </a:pPr>
            <a:r>
              <a:t>7 evidence patterns  ·  4 domains  ·  1 typed content envelope each</a:t>
            </a:r>
          </a:p>
        </p:txBody>
      </p:sp>
      <p:sp>
        <p:nvSpPr>
          <p:cNvPr id="6" name="">
            <a:extLst xmlns:a="http://schemas.openxmlformats.org/drawingml/2006/main">
              <a:ext uri="{FF2B5EF4-FFF2-40B4-BE49-F238E27FC236}">
                <a16:creationId xmlns:a16="http://schemas.microsoft.com/office/drawing/2014/main" id="{0823B054-23B4-4ADB-82CF-A58182F914DA}"/>
              </a:ext>
            </a:extLst>
          </p:cNvPr>
          <p:cNvSpPr>
            <a:spLocks xmlns:a="http://schemas.openxmlformats.org/drawingml/2006/main" noGrp="1"/>
          </p:cNvSpPr>
          <p:nvPr/>
        </p:nvSpPr>
        <p:spPr>
          <a:xfrm xmlns:a="http://schemas.openxmlformats.org/drawingml/2006/main">
            <a:off x="590550" y="4533900"/>
            <a:ext cx="838200"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6F3B18-5A32-46B9-99CD-90C806C4C358}"/>
              </a:ext>
            </a:extLst>
          </p:cNvPr>
          <p:cNvSpPr>
            <a:spLocks xmlns:a="http://schemas.openxmlformats.org/drawingml/2006/main" noGrp="1"/>
          </p:cNvSpPr>
          <p:nvPr/>
        </p:nvSpPr>
        <p:spPr>
          <a:xfrm xmlns:a="http://schemas.openxmlformats.org/drawingml/2006/main">
            <a:off x="590550" y="4876800"/>
            <a:ext cx="16192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0C9A7"/>
                </a:solidFill>
                <a:latin typeface="Calibri"/>
                <a:ea typeface="Calibri"/>
                <a:cs typeface="Calibri"/>
              </a:defRPr>
            </a:pPr>
            <a:r>
              <a:t>7</a:t>
            </a:r>
          </a:p>
        </p:txBody>
      </p:sp>
      <p:sp>
        <p:nvSpPr>
          <p:cNvPr id="8" name="">
            <a:extLst xmlns:a="http://schemas.openxmlformats.org/drawingml/2006/main">
              <a:ext uri="{FF2B5EF4-FFF2-40B4-BE49-F238E27FC236}">
                <a16:creationId xmlns:a16="http://schemas.microsoft.com/office/drawing/2014/main" id="{B1F4FA73-160E-410E-B69E-750DBA5A5914}"/>
              </a:ext>
            </a:extLst>
          </p:cNvPr>
          <p:cNvSpPr>
            <a:spLocks xmlns:a="http://schemas.openxmlformats.org/drawingml/2006/main" noGrp="1"/>
          </p:cNvSpPr>
          <p:nvPr/>
        </p:nvSpPr>
        <p:spPr>
          <a:xfrm xmlns:a="http://schemas.openxmlformats.org/drawingml/2006/main">
            <a:off x="590550" y="5353050"/>
            <a:ext cx="1619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b="1">
                <a:solidFill>
                  <a:srgbClr val="A3B5C8"/>
                </a:solidFill>
                <a:latin typeface="Calibri"/>
                <a:ea typeface="Calibri"/>
                <a:cs typeface="Calibri"/>
              </a:defRPr>
            </a:pPr>
            <a:r>
              <a:t>PATTERNS</a:t>
            </a:r>
          </a:p>
        </p:txBody>
      </p:sp>
      <p:sp>
        <p:nvSpPr>
          <p:cNvPr id="9" name="">
            <a:extLst xmlns:a="http://schemas.openxmlformats.org/drawingml/2006/main">
              <a:ext uri="{FF2B5EF4-FFF2-40B4-BE49-F238E27FC236}">
                <a16:creationId xmlns:a16="http://schemas.microsoft.com/office/drawing/2014/main" id="{5EEECAC5-7063-470F-BDDF-5362CBE88DF0}"/>
              </a:ext>
            </a:extLst>
          </p:cNvPr>
          <p:cNvSpPr>
            <a:spLocks xmlns:a="http://schemas.openxmlformats.org/drawingml/2006/main" noGrp="1"/>
          </p:cNvSpPr>
          <p:nvPr/>
        </p:nvSpPr>
        <p:spPr>
          <a:xfrm xmlns:a="http://schemas.openxmlformats.org/drawingml/2006/main">
            <a:off x="2400300" y="4876800"/>
            <a:ext cx="16192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0C9A7"/>
                </a:solidFill>
                <a:latin typeface="Calibri"/>
                <a:ea typeface="Calibri"/>
                <a:cs typeface="Calibri"/>
              </a:defRPr>
            </a:pPr>
            <a:r>
              <a:t>4</a:t>
            </a:r>
          </a:p>
        </p:txBody>
      </p:sp>
      <p:sp>
        <p:nvSpPr>
          <p:cNvPr id="10" name="">
            <a:extLst xmlns:a="http://schemas.openxmlformats.org/drawingml/2006/main">
              <a:ext uri="{FF2B5EF4-FFF2-40B4-BE49-F238E27FC236}">
                <a16:creationId xmlns:a16="http://schemas.microsoft.com/office/drawing/2014/main" id="{45BA5B1F-A77F-435B-992B-04E392F93255}"/>
              </a:ext>
            </a:extLst>
          </p:cNvPr>
          <p:cNvSpPr>
            <a:spLocks xmlns:a="http://schemas.openxmlformats.org/drawingml/2006/main" noGrp="1"/>
          </p:cNvSpPr>
          <p:nvPr/>
        </p:nvSpPr>
        <p:spPr>
          <a:xfrm xmlns:a="http://schemas.openxmlformats.org/drawingml/2006/main">
            <a:off x="2400300" y="5353050"/>
            <a:ext cx="1619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b="1">
                <a:solidFill>
                  <a:srgbClr val="A3B5C8"/>
                </a:solidFill>
                <a:latin typeface="Calibri"/>
                <a:ea typeface="Calibri"/>
                <a:cs typeface="Calibri"/>
              </a:defRPr>
            </a:pPr>
            <a:r>
              <a:t>DOMAINS</a:t>
            </a:r>
          </a:p>
        </p:txBody>
      </p:sp>
      <p:sp>
        <p:nvSpPr>
          <p:cNvPr id="11" name="">
            <a:extLst xmlns:a="http://schemas.openxmlformats.org/drawingml/2006/main">
              <a:ext uri="{FF2B5EF4-FFF2-40B4-BE49-F238E27FC236}">
                <a16:creationId xmlns:a16="http://schemas.microsoft.com/office/drawing/2014/main" id="{373F9A74-2C53-4D96-B5F9-F1C7A8CCAB32}"/>
              </a:ext>
            </a:extLst>
          </p:cNvPr>
          <p:cNvSpPr>
            <a:spLocks xmlns:a="http://schemas.openxmlformats.org/drawingml/2006/main" noGrp="1"/>
          </p:cNvSpPr>
          <p:nvPr/>
        </p:nvSpPr>
        <p:spPr>
          <a:xfrm xmlns:a="http://schemas.openxmlformats.org/drawingml/2006/main">
            <a:off x="4210050" y="4876800"/>
            <a:ext cx="16192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0C9A7"/>
                </a:solidFill>
                <a:latin typeface="Calibri"/>
                <a:ea typeface="Calibri"/>
                <a:cs typeface="Calibri"/>
              </a:defRPr>
            </a:pPr>
            <a:r>
              <a:t>73</a:t>
            </a:r>
          </a:p>
        </p:txBody>
      </p:sp>
      <p:sp>
        <p:nvSpPr>
          <p:cNvPr id="12" name="">
            <a:extLst xmlns:a="http://schemas.openxmlformats.org/drawingml/2006/main">
              <a:ext uri="{FF2B5EF4-FFF2-40B4-BE49-F238E27FC236}">
                <a16:creationId xmlns:a16="http://schemas.microsoft.com/office/drawing/2014/main" id="{17DFB7A4-2379-43E6-B2B2-D7B05C58D6BA}"/>
              </a:ext>
            </a:extLst>
          </p:cNvPr>
          <p:cNvSpPr>
            <a:spLocks xmlns:a="http://schemas.openxmlformats.org/drawingml/2006/main" noGrp="1"/>
          </p:cNvSpPr>
          <p:nvPr/>
        </p:nvSpPr>
        <p:spPr>
          <a:xfrm xmlns:a="http://schemas.openxmlformats.org/drawingml/2006/main">
            <a:off x="4210050" y="5353050"/>
            <a:ext cx="1619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b="1">
                <a:solidFill>
                  <a:srgbClr val="A3B5C8"/>
                </a:solidFill>
                <a:latin typeface="Calibri"/>
                <a:ea typeface="Calibri"/>
                <a:cs typeface="Calibri"/>
              </a:defRPr>
            </a:pPr>
            <a:r>
              <a:t>SLIDES PROFILED</a:t>
            </a:r>
          </a:p>
        </p:txBody>
      </p:sp>
      <p:sp>
        <p:nvSpPr>
          <p:cNvPr id="13" name="">
            <a:extLst xmlns:a="http://schemas.openxmlformats.org/drawingml/2006/main">
              <a:ext uri="{FF2B5EF4-FFF2-40B4-BE49-F238E27FC236}">
                <a16:creationId xmlns:a16="http://schemas.microsoft.com/office/drawing/2014/main" id="{649F510F-9331-405D-B49A-C7A82572B405}"/>
              </a:ext>
            </a:extLst>
          </p:cNvPr>
          <p:cNvSpPr>
            <a:spLocks xmlns:a="http://schemas.openxmlformats.org/drawingml/2006/main" noGrp="1"/>
          </p:cNvSpPr>
          <p:nvPr/>
        </p:nvSpPr>
        <p:spPr>
          <a:xfrm xmlns:a="http://schemas.openxmlformats.org/drawingml/2006/main">
            <a:off x="6019800" y="4876800"/>
            <a:ext cx="16192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0C9A7"/>
                </a:solidFill>
                <a:latin typeface="Calibri"/>
                <a:ea typeface="Calibri"/>
                <a:cs typeface="Calibri"/>
              </a:defRPr>
            </a:pPr>
            <a:r>
              <a:t>565</a:t>
            </a:r>
          </a:p>
        </p:txBody>
      </p:sp>
      <p:sp>
        <p:nvSpPr>
          <p:cNvPr id="14" name="">
            <a:extLst xmlns:a="http://schemas.openxmlformats.org/drawingml/2006/main">
              <a:ext uri="{FF2B5EF4-FFF2-40B4-BE49-F238E27FC236}">
                <a16:creationId xmlns:a16="http://schemas.microsoft.com/office/drawing/2014/main" id="{F70B5471-E812-485E-9EF7-5AB0B4A79705}"/>
              </a:ext>
            </a:extLst>
          </p:cNvPr>
          <p:cNvSpPr>
            <a:spLocks xmlns:a="http://schemas.openxmlformats.org/drawingml/2006/main" noGrp="1"/>
          </p:cNvSpPr>
          <p:nvPr/>
        </p:nvSpPr>
        <p:spPr>
          <a:xfrm xmlns:a="http://schemas.openxmlformats.org/drawingml/2006/main">
            <a:off x="6019800" y="5353050"/>
            <a:ext cx="1619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b="1">
                <a:solidFill>
                  <a:srgbClr val="A3B5C8"/>
                </a:solidFill>
                <a:latin typeface="Calibri"/>
                <a:ea typeface="Calibri"/>
                <a:cs typeface="Calibri"/>
              </a:defRPr>
            </a:pPr>
            <a:r>
              <a:t>LEDGER CLAIMS</a:t>
            </a:r>
          </a:p>
        </p:txBody>
      </p:sp>
      <p:sp>
        <p:nvSpPr>
          <p:cNvPr id="15" name="">
            <a:extLst xmlns:a="http://schemas.openxmlformats.org/drawingml/2006/main">
              <a:ext uri="{FF2B5EF4-FFF2-40B4-BE49-F238E27FC236}">
                <a16:creationId xmlns:a16="http://schemas.microsoft.com/office/drawing/2014/main" id="{B0E85A51-54B7-44A8-BAC7-51D54ABE60BB}"/>
              </a:ext>
            </a:extLst>
          </p:cNvPr>
          <p:cNvSpPr>
            <a:spLocks xmlns:a="http://schemas.openxmlformats.org/drawingml/2006/main" noGrp="1"/>
          </p:cNvSpPr>
          <p:nvPr/>
        </p:nvSpPr>
        <p:spPr>
          <a:xfrm xmlns:a="http://schemas.openxmlformats.org/drawingml/2006/main">
            <a:off x="552450" y="6477000"/>
            <a:ext cx="8572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A3B5C8"/>
                </a:solidFill>
                <a:latin typeface="Calibri"/>
                <a:ea typeface="Calibri"/>
                <a:cs typeface="Calibri"/>
              </a:defRPr>
            </a:pPr>
            <a:r>
              <a:t>Derived from the supplied Accenture-style guide  ·  adapted to this deck’s content</a:t>
            </a:r>
          </a:p>
        </p:txBody>
      </p:sp>
      <p:sp>
        <p:nvSpPr>
          <p:cNvPr id="16" name="">
            <a:extLst xmlns:a="http://schemas.openxmlformats.org/drawingml/2006/main">
              <a:ext uri="{FF2B5EF4-FFF2-40B4-BE49-F238E27FC236}">
                <a16:creationId xmlns:a16="http://schemas.microsoft.com/office/drawing/2014/main" id="{7CBF5586-7360-4E97-A985-1832B77680CA}"/>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A3B5C8"/>
                </a:solidFill>
                <a:latin typeface="Calibri"/>
                <a:ea typeface="Calibri"/>
                <a:cs typeface="Calibri"/>
              </a:defRPr>
            </a:pPr>
            <a:r>
              <a:t>1 / 9</a:t>
            </a:r>
          </a:p>
        </p:txBody>
      </p:sp>
    </p:spTree>
    <p:extLst>
      <p:ext uri="{BB962C8B-B14F-4D97-AF65-F5344CB8AC3E}">
        <p14:creationId xmlns:p14="http://schemas.microsoft.com/office/powerpoint/2010/main" val="1046645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B6D1DAC-7456-4C6C-9821-4D9DDD37A5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C9DB1B-55BF-4894-9787-881E35344D9A}"/>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C14B6B2-932A-4777-8828-D93EFFC1EB47}"/>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84FC21-8C80-4BE9-9527-7C3A7A05880F}"/>
              </a:ext>
            </a:extLst>
          </p:cNvPr>
          <p:cNvSpPr>
            <a:spLocks xmlns:a="http://schemas.openxmlformats.org/drawingml/2006/main" noGrp="1"/>
          </p:cNvSpPr>
          <p:nvPr/>
        </p:nvSpPr>
        <p:spPr>
          <a:xfrm xmlns:a="http://schemas.openxmlformats.org/drawingml/2006/main">
            <a:off x="552450" y="6477000"/>
            <a:ext cx="822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5B6B7C"/>
                </a:solidFill>
                <a:latin typeface="Calibri"/>
                <a:ea typeface="Calibri"/>
                <a:cs typeface="Calibri"/>
              </a:defRPr>
            </a:pPr>
            <a:r>
              <a:t>DeepGrid India ADAS Dossier  |  Adapted Prompt Templates</a:t>
            </a:r>
          </a:p>
        </p:txBody>
      </p:sp>
      <p:sp>
        <p:nvSpPr>
          <p:cNvPr id="5" name="">
            <a:extLst xmlns:a="http://schemas.openxmlformats.org/drawingml/2006/main">
              <a:ext uri="{FF2B5EF4-FFF2-40B4-BE49-F238E27FC236}">
                <a16:creationId xmlns:a16="http://schemas.microsoft.com/office/drawing/2014/main" id="{6D80BDA5-A15C-4FBE-A7DB-27F6DBEF5794}"/>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1B2B3C"/>
                </a:solidFill>
                <a:latin typeface="Calibri"/>
                <a:ea typeface="Calibri"/>
                <a:cs typeface="Calibri"/>
              </a:defRPr>
            </a:pPr>
            <a:r>
              <a:t>2 / 9</a:t>
            </a:r>
          </a:p>
        </p:txBody>
      </p:sp>
      <p:sp>
        <p:nvSpPr>
          <p:cNvPr id="6" name="">
            <a:extLst xmlns:a="http://schemas.openxmlformats.org/drawingml/2006/main">
              <a:ext uri="{FF2B5EF4-FFF2-40B4-BE49-F238E27FC236}">
                <a16:creationId xmlns:a16="http://schemas.microsoft.com/office/drawing/2014/main" id="{92D4226E-E4CE-4A27-A9C0-B95FFD8A5A7A}"/>
              </a:ext>
            </a:extLst>
          </p:cNvPr>
          <p:cNvSpPr>
            <a:spLocks xmlns:a="http://schemas.openxmlformats.org/drawingml/2006/main" noGrp="1"/>
          </p:cNvSpPr>
          <p:nvPr/>
        </p:nvSpPr>
        <p:spPr>
          <a:xfrm xmlns:a="http://schemas.openxmlformats.org/drawingml/2006/main">
            <a:off x="590550" y="381000"/>
            <a:ext cx="110680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00" b="1">
                <a:solidFill>
                  <a:srgbClr val="1B2B3C"/>
                </a:solidFill>
                <a:latin typeface="Calibri"/>
                <a:ea typeface="Calibri"/>
                <a:cs typeface="Calibri"/>
              </a:defRPr>
            </a:pPr>
            <a:r>
              <a:t>What’s Inside</a:t>
            </a:r>
          </a:p>
        </p:txBody>
      </p:sp>
      <p:sp>
        <p:nvSpPr>
          <p:cNvPr id="7" name="">
            <a:extLst xmlns:a="http://schemas.openxmlformats.org/drawingml/2006/main">
              <a:ext uri="{FF2B5EF4-FFF2-40B4-BE49-F238E27FC236}">
                <a16:creationId xmlns:a16="http://schemas.microsoft.com/office/drawing/2014/main" id="{192094D5-8968-4E3B-B529-E55856762417}"/>
              </a:ext>
            </a:extLst>
          </p:cNvPr>
          <p:cNvSpPr>
            <a:spLocks xmlns:a="http://schemas.openxmlformats.org/drawingml/2006/main" noGrp="1"/>
          </p:cNvSpPr>
          <p:nvPr/>
        </p:nvSpPr>
        <p:spPr>
          <a:xfrm xmlns:a="http://schemas.openxmlformats.org/drawingml/2006/main">
            <a:off x="590550" y="952500"/>
            <a:ext cx="9525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5B6B7C"/>
                </a:solidFill>
                <a:latin typeface="Calibri"/>
                <a:ea typeface="Calibri"/>
                <a:cs typeface="Calibri"/>
              </a:defRPr>
            </a:pPr>
            <a:r>
              <a:t>7 patterns  ·  4 domains  ·  each with a copy-paste prompt and a typed content envelope</a:t>
            </a:r>
          </a:p>
        </p:txBody>
      </p:sp>
      <p:sp>
        <p:nvSpPr>
          <p:cNvPr id="8" name="">
            <a:extLst xmlns:a="http://schemas.openxmlformats.org/drawingml/2006/main">
              <a:ext uri="{FF2B5EF4-FFF2-40B4-BE49-F238E27FC236}">
                <a16:creationId xmlns:a16="http://schemas.microsoft.com/office/drawing/2014/main" id="{F6BA13D1-04C7-4F89-9F7C-4BD3FE41CEFA}"/>
              </a:ext>
            </a:extLst>
          </p:cNvPr>
          <p:cNvSpPr>
            <a:spLocks xmlns:a="http://schemas.openxmlformats.org/drawingml/2006/main" noGrp="1"/>
          </p:cNvSpPr>
          <p:nvPr/>
        </p:nvSpPr>
        <p:spPr>
          <a:xfrm xmlns:a="http://schemas.openxmlformats.org/drawingml/2006/main">
            <a:off x="590550" y="1257300"/>
            <a:ext cx="200977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D3EA6B-5687-497F-B73A-5BAA835F2233}"/>
              </a:ext>
            </a:extLst>
          </p:cNvPr>
          <p:cNvSpPr>
            <a:spLocks xmlns:a="http://schemas.openxmlformats.org/drawingml/2006/main" noGrp="1"/>
          </p:cNvSpPr>
          <p:nvPr/>
        </p:nvSpPr>
        <p:spPr>
          <a:xfrm xmlns:a="http://schemas.openxmlformats.org/drawingml/2006/main">
            <a:off x="590550" y="1676400"/>
            <a:ext cx="533400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9ED1E35-47E4-40F1-8018-399DAFC89E65}"/>
              </a:ext>
            </a:extLst>
          </p:cNvPr>
          <p:cNvSpPr>
            <a:spLocks xmlns:a="http://schemas.openxmlformats.org/drawingml/2006/main" noGrp="1"/>
          </p:cNvSpPr>
          <p:nvPr/>
        </p:nvSpPr>
        <p:spPr>
          <a:xfrm xmlns:a="http://schemas.openxmlformats.org/drawingml/2006/main">
            <a:off x="704850" y="1724025"/>
            <a:ext cx="5143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695C"/>
                </a:solidFill>
                <a:latin typeface="Calibri"/>
                <a:ea typeface="Calibri"/>
                <a:cs typeface="Calibri"/>
              </a:defRPr>
            </a:pPr>
            <a:r>
              <a:t>01  EVIDENCE POSTURE</a:t>
            </a:r>
          </a:p>
        </p:txBody>
      </p:sp>
      <p:sp>
        <p:nvSpPr>
          <p:cNvPr id="11" name="">
            <a:extLst xmlns:a="http://schemas.openxmlformats.org/drawingml/2006/main">
              <a:ext uri="{FF2B5EF4-FFF2-40B4-BE49-F238E27FC236}">
                <a16:creationId xmlns:a16="http://schemas.microsoft.com/office/drawing/2014/main" id="{542190E4-679F-4160-8C4D-3C6C369EDDDB}"/>
              </a:ext>
            </a:extLst>
          </p:cNvPr>
          <p:cNvSpPr>
            <a:spLocks xmlns:a="http://schemas.openxmlformats.org/drawingml/2006/main" noGrp="1"/>
          </p:cNvSpPr>
          <p:nvPr/>
        </p:nvSpPr>
        <p:spPr>
          <a:xfrm xmlns:a="http://schemas.openxmlformats.org/drawingml/2006/main">
            <a:off x="590550" y="211455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5A33AA0-358E-413F-A260-87E5E9A6854C}"/>
              </a:ext>
            </a:extLst>
          </p:cNvPr>
          <p:cNvSpPr>
            <a:spLocks xmlns:a="http://schemas.openxmlformats.org/drawingml/2006/main" noGrp="1"/>
          </p:cNvSpPr>
          <p:nvPr/>
        </p:nvSpPr>
        <p:spPr>
          <a:xfrm xmlns:a="http://schemas.openxmlformats.org/drawingml/2006/main">
            <a:off x="742950" y="2038350"/>
            <a:ext cx="495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1B2B3C"/>
                </a:solidFill>
                <a:latin typeface="Calibri"/>
                <a:ea typeface="Calibri"/>
                <a:cs typeface="Calibri"/>
              </a:defRPr>
            </a:pPr>
            <a:r>
              <a:t>P1  Evidence Ladder — 21 slides</a:t>
            </a:r>
          </a:p>
        </p:txBody>
      </p:sp>
      <p:sp>
        <p:nvSpPr>
          <p:cNvPr id="13" name="">
            <a:extLst xmlns:a="http://schemas.openxmlformats.org/drawingml/2006/main">
              <a:ext uri="{FF2B5EF4-FFF2-40B4-BE49-F238E27FC236}">
                <a16:creationId xmlns:a16="http://schemas.microsoft.com/office/drawing/2014/main" id="{8732BE1D-1F8F-47BD-AFE3-5F51EFE66078}"/>
              </a:ext>
            </a:extLst>
          </p:cNvPr>
          <p:cNvSpPr>
            <a:spLocks xmlns:a="http://schemas.openxmlformats.org/drawingml/2006/main" noGrp="1"/>
          </p:cNvSpPr>
          <p:nvPr/>
        </p:nvSpPr>
        <p:spPr>
          <a:xfrm xmlns:a="http://schemas.openxmlformats.org/drawingml/2006/main">
            <a:off x="590550" y="249555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BF239A7-3FF1-4F96-9461-D7D7FA77EEAA}"/>
              </a:ext>
            </a:extLst>
          </p:cNvPr>
          <p:cNvSpPr>
            <a:spLocks xmlns:a="http://schemas.openxmlformats.org/drawingml/2006/main" noGrp="1"/>
          </p:cNvSpPr>
          <p:nvPr/>
        </p:nvSpPr>
        <p:spPr>
          <a:xfrm xmlns:a="http://schemas.openxmlformats.org/drawingml/2006/main">
            <a:off x="742950" y="2419350"/>
            <a:ext cx="495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1B2B3C"/>
                </a:solidFill>
                <a:latin typeface="Calibri"/>
                <a:ea typeface="Calibri"/>
                <a:cs typeface="Calibri"/>
              </a:defRPr>
            </a:pPr>
            <a:r>
              <a:t>P7  Confidence Register — 1 slide</a:t>
            </a:r>
          </a:p>
        </p:txBody>
      </p:sp>
      <p:sp>
        <p:nvSpPr>
          <p:cNvPr id="15" name="">
            <a:extLst xmlns:a="http://schemas.openxmlformats.org/drawingml/2006/main">
              <a:ext uri="{FF2B5EF4-FFF2-40B4-BE49-F238E27FC236}">
                <a16:creationId xmlns:a16="http://schemas.microsoft.com/office/drawing/2014/main" id="{60FB69F1-8396-44E8-B0D1-06C2019E9F6D}"/>
              </a:ext>
            </a:extLst>
          </p:cNvPr>
          <p:cNvSpPr>
            <a:spLocks xmlns:a="http://schemas.openxmlformats.org/drawingml/2006/main" noGrp="1"/>
          </p:cNvSpPr>
          <p:nvPr/>
        </p:nvSpPr>
        <p:spPr>
          <a:xfrm xmlns:a="http://schemas.openxmlformats.org/drawingml/2006/main">
            <a:off x="6305550" y="1676400"/>
            <a:ext cx="533400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FE0FF7A-0303-4F5D-98E5-B9859F9EA645}"/>
              </a:ext>
            </a:extLst>
          </p:cNvPr>
          <p:cNvSpPr>
            <a:spLocks xmlns:a="http://schemas.openxmlformats.org/drawingml/2006/main" noGrp="1"/>
          </p:cNvSpPr>
          <p:nvPr/>
        </p:nvSpPr>
        <p:spPr>
          <a:xfrm xmlns:a="http://schemas.openxmlformats.org/drawingml/2006/main">
            <a:off x="6419850" y="1724025"/>
            <a:ext cx="5143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695C"/>
                </a:solidFill>
                <a:latin typeface="Calibri"/>
                <a:ea typeface="Calibri"/>
                <a:cs typeface="Calibri"/>
              </a:defRPr>
            </a:pPr>
            <a:r>
              <a:t>02  COMPETITIVE STRUCTURE</a:t>
            </a:r>
          </a:p>
        </p:txBody>
      </p:sp>
      <p:sp>
        <p:nvSpPr>
          <p:cNvPr id="17" name="">
            <a:extLst xmlns:a="http://schemas.openxmlformats.org/drawingml/2006/main">
              <a:ext uri="{FF2B5EF4-FFF2-40B4-BE49-F238E27FC236}">
                <a16:creationId xmlns:a16="http://schemas.microsoft.com/office/drawing/2014/main" id="{81356D78-A11F-4CC8-96E1-A5843A0203F8}"/>
              </a:ext>
            </a:extLst>
          </p:cNvPr>
          <p:cNvSpPr>
            <a:spLocks xmlns:a="http://schemas.openxmlformats.org/drawingml/2006/main" noGrp="1"/>
          </p:cNvSpPr>
          <p:nvPr/>
        </p:nvSpPr>
        <p:spPr>
          <a:xfrm xmlns:a="http://schemas.openxmlformats.org/drawingml/2006/main">
            <a:off x="6305550" y="211455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C8A9D23-A9B9-4AAE-BE62-1C1B92CE0924}"/>
              </a:ext>
            </a:extLst>
          </p:cNvPr>
          <p:cNvSpPr>
            <a:spLocks xmlns:a="http://schemas.openxmlformats.org/drawingml/2006/main" noGrp="1"/>
          </p:cNvSpPr>
          <p:nvPr/>
        </p:nvSpPr>
        <p:spPr>
          <a:xfrm xmlns:a="http://schemas.openxmlformats.org/drawingml/2006/main">
            <a:off x="6457950" y="2038350"/>
            <a:ext cx="495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1B2B3C"/>
                </a:solidFill>
                <a:latin typeface="Calibri"/>
                <a:ea typeface="Calibri"/>
                <a:cs typeface="Calibri"/>
              </a:defRPr>
            </a:pPr>
            <a:r>
              <a:t>P2  Threat × Arena Matrix — 11 slides</a:t>
            </a:r>
          </a:p>
        </p:txBody>
      </p:sp>
      <p:sp>
        <p:nvSpPr>
          <p:cNvPr id="19" name="">
            <a:extLst xmlns:a="http://schemas.openxmlformats.org/drawingml/2006/main">
              <a:ext uri="{FF2B5EF4-FFF2-40B4-BE49-F238E27FC236}">
                <a16:creationId xmlns:a16="http://schemas.microsoft.com/office/drawing/2014/main" id="{A53E2B06-29FE-4333-A6C5-379D2B391492}"/>
              </a:ext>
            </a:extLst>
          </p:cNvPr>
          <p:cNvSpPr>
            <a:spLocks xmlns:a="http://schemas.openxmlformats.org/drawingml/2006/main" noGrp="1"/>
          </p:cNvSpPr>
          <p:nvPr/>
        </p:nvSpPr>
        <p:spPr>
          <a:xfrm xmlns:a="http://schemas.openxmlformats.org/drawingml/2006/main">
            <a:off x="590550" y="3581400"/>
            <a:ext cx="533400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8056F48-D35C-4741-A7F3-568CBFEFB916}"/>
              </a:ext>
            </a:extLst>
          </p:cNvPr>
          <p:cNvSpPr>
            <a:spLocks xmlns:a="http://schemas.openxmlformats.org/drawingml/2006/main" noGrp="1"/>
          </p:cNvSpPr>
          <p:nvPr/>
        </p:nvSpPr>
        <p:spPr>
          <a:xfrm xmlns:a="http://schemas.openxmlformats.org/drawingml/2006/main">
            <a:off x="704850" y="3629025"/>
            <a:ext cx="5143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695C"/>
                </a:solidFill>
                <a:latin typeface="Calibri"/>
                <a:ea typeface="Calibri"/>
                <a:cs typeface="Calibri"/>
              </a:defRPr>
            </a:pPr>
            <a:r>
              <a:t>03  BOUNDED ACTION</a:t>
            </a:r>
          </a:p>
        </p:txBody>
      </p:sp>
      <p:sp>
        <p:nvSpPr>
          <p:cNvPr id="21" name="">
            <a:extLst xmlns:a="http://schemas.openxmlformats.org/drawingml/2006/main">
              <a:ext uri="{FF2B5EF4-FFF2-40B4-BE49-F238E27FC236}">
                <a16:creationId xmlns:a16="http://schemas.microsoft.com/office/drawing/2014/main" id="{406292AB-A081-4BD4-9853-D76D3409B920}"/>
              </a:ext>
            </a:extLst>
          </p:cNvPr>
          <p:cNvSpPr>
            <a:spLocks xmlns:a="http://schemas.openxmlformats.org/drawingml/2006/main" noGrp="1"/>
          </p:cNvSpPr>
          <p:nvPr/>
        </p:nvSpPr>
        <p:spPr>
          <a:xfrm xmlns:a="http://schemas.openxmlformats.org/drawingml/2006/main">
            <a:off x="590550" y="401955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A5B1431-F0EC-4265-B3E6-B5EC61B3525E}"/>
              </a:ext>
            </a:extLst>
          </p:cNvPr>
          <p:cNvSpPr>
            <a:spLocks xmlns:a="http://schemas.openxmlformats.org/drawingml/2006/main" noGrp="1"/>
          </p:cNvSpPr>
          <p:nvPr/>
        </p:nvSpPr>
        <p:spPr>
          <a:xfrm xmlns:a="http://schemas.openxmlformats.org/drawingml/2006/main">
            <a:off x="742950" y="3943350"/>
            <a:ext cx="495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1B2B3C"/>
                </a:solidFill>
                <a:latin typeface="Calibri"/>
                <a:ea typeface="Calibri"/>
                <a:cs typeface="Calibri"/>
              </a:defRPr>
            </a:pPr>
            <a:r>
              <a:t>P3  Staged Move — 18 slides</a:t>
            </a:r>
          </a:p>
        </p:txBody>
      </p:sp>
      <p:sp>
        <p:nvSpPr>
          <p:cNvPr id="23" name="">
            <a:extLst xmlns:a="http://schemas.openxmlformats.org/drawingml/2006/main">
              <a:ext uri="{FF2B5EF4-FFF2-40B4-BE49-F238E27FC236}">
                <a16:creationId xmlns:a16="http://schemas.microsoft.com/office/drawing/2014/main" id="{DB987075-CE08-4864-93DB-8648F8A43B35}"/>
              </a:ext>
            </a:extLst>
          </p:cNvPr>
          <p:cNvSpPr>
            <a:spLocks xmlns:a="http://schemas.openxmlformats.org/drawingml/2006/main" noGrp="1"/>
          </p:cNvSpPr>
          <p:nvPr/>
        </p:nvSpPr>
        <p:spPr>
          <a:xfrm xmlns:a="http://schemas.openxmlformats.org/drawingml/2006/main">
            <a:off x="590550" y="440055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566F1CF-B7D3-430E-B344-42B39192F764}"/>
              </a:ext>
            </a:extLst>
          </p:cNvPr>
          <p:cNvSpPr>
            <a:spLocks xmlns:a="http://schemas.openxmlformats.org/drawingml/2006/main" noGrp="1"/>
          </p:cNvSpPr>
          <p:nvPr/>
        </p:nvSpPr>
        <p:spPr>
          <a:xfrm xmlns:a="http://schemas.openxmlformats.org/drawingml/2006/main">
            <a:off x="742950" y="4324350"/>
            <a:ext cx="495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1B2B3C"/>
                </a:solidFill>
                <a:latin typeface="Calibri"/>
                <a:ea typeface="Calibri"/>
                <a:cs typeface="Calibri"/>
              </a:defRPr>
            </a:pPr>
            <a:r>
              <a:t>P4  Bounded Argument — 18 slides</a:t>
            </a:r>
          </a:p>
        </p:txBody>
      </p:sp>
      <p:sp>
        <p:nvSpPr>
          <p:cNvPr id="25" name="">
            <a:extLst xmlns:a="http://schemas.openxmlformats.org/drawingml/2006/main">
              <a:ext uri="{FF2B5EF4-FFF2-40B4-BE49-F238E27FC236}">
                <a16:creationId xmlns:a16="http://schemas.microsoft.com/office/drawing/2014/main" id="{09193CBD-B503-4B36-AB16-9EF30F845A0E}"/>
              </a:ext>
            </a:extLst>
          </p:cNvPr>
          <p:cNvSpPr>
            <a:spLocks xmlns:a="http://schemas.openxmlformats.org/drawingml/2006/main" noGrp="1"/>
          </p:cNvSpPr>
          <p:nvPr/>
        </p:nvSpPr>
        <p:spPr>
          <a:xfrm xmlns:a="http://schemas.openxmlformats.org/drawingml/2006/main">
            <a:off x="6305550" y="3581400"/>
            <a:ext cx="533400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7251FEE-B349-4638-BE8F-CA545D9DCE80}"/>
              </a:ext>
            </a:extLst>
          </p:cNvPr>
          <p:cNvSpPr>
            <a:spLocks xmlns:a="http://schemas.openxmlformats.org/drawingml/2006/main" noGrp="1"/>
          </p:cNvSpPr>
          <p:nvPr/>
        </p:nvSpPr>
        <p:spPr>
          <a:xfrm xmlns:a="http://schemas.openxmlformats.org/drawingml/2006/main">
            <a:off x="6419850" y="3629025"/>
            <a:ext cx="5143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695C"/>
                </a:solidFill>
                <a:latin typeface="Calibri"/>
                <a:ea typeface="Calibri"/>
                <a:cs typeface="Calibri"/>
              </a:defRPr>
            </a:pPr>
            <a:r>
              <a:t>04  EXECUTION &amp; ECONOMICS</a:t>
            </a:r>
          </a:p>
        </p:txBody>
      </p:sp>
      <p:sp>
        <p:nvSpPr>
          <p:cNvPr id="27" name="">
            <a:extLst xmlns:a="http://schemas.openxmlformats.org/drawingml/2006/main">
              <a:ext uri="{FF2B5EF4-FFF2-40B4-BE49-F238E27FC236}">
                <a16:creationId xmlns:a16="http://schemas.microsoft.com/office/drawing/2014/main" id="{FB9A40F0-B747-4FF7-8EB6-37F2E6D02812}"/>
              </a:ext>
            </a:extLst>
          </p:cNvPr>
          <p:cNvSpPr>
            <a:spLocks xmlns:a="http://schemas.openxmlformats.org/drawingml/2006/main" noGrp="1"/>
          </p:cNvSpPr>
          <p:nvPr/>
        </p:nvSpPr>
        <p:spPr>
          <a:xfrm xmlns:a="http://schemas.openxmlformats.org/drawingml/2006/main">
            <a:off x="6305550" y="401955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87EE8B7-4C2B-4F00-8B7B-0FDB0E372E35}"/>
              </a:ext>
            </a:extLst>
          </p:cNvPr>
          <p:cNvSpPr>
            <a:spLocks xmlns:a="http://schemas.openxmlformats.org/drawingml/2006/main" noGrp="1"/>
          </p:cNvSpPr>
          <p:nvPr/>
        </p:nvSpPr>
        <p:spPr>
          <a:xfrm xmlns:a="http://schemas.openxmlformats.org/drawingml/2006/main">
            <a:off x="6457950" y="3943350"/>
            <a:ext cx="495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1B2B3C"/>
                </a:solidFill>
                <a:latin typeface="Calibri"/>
                <a:ea typeface="Calibri"/>
                <a:cs typeface="Calibri"/>
              </a:defRPr>
            </a:pPr>
            <a:r>
              <a:t>P5  Dated Plan — 2 slides</a:t>
            </a:r>
          </a:p>
        </p:txBody>
      </p:sp>
      <p:sp>
        <p:nvSpPr>
          <p:cNvPr id="29" name="">
            <a:extLst xmlns:a="http://schemas.openxmlformats.org/drawingml/2006/main">
              <a:ext uri="{FF2B5EF4-FFF2-40B4-BE49-F238E27FC236}">
                <a16:creationId xmlns:a16="http://schemas.microsoft.com/office/drawing/2014/main" id="{54F5424F-35F0-4E21-B9F0-F363F64F83A5}"/>
              </a:ext>
            </a:extLst>
          </p:cNvPr>
          <p:cNvSpPr>
            <a:spLocks xmlns:a="http://schemas.openxmlformats.org/drawingml/2006/main" noGrp="1"/>
          </p:cNvSpPr>
          <p:nvPr/>
        </p:nvSpPr>
        <p:spPr>
          <a:xfrm xmlns:a="http://schemas.openxmlformats.org/drawingml/2006/main">
            <a:off x="6305550" y="440055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99D9E04-9ED6-4D1D-B460-5D1DAD9DA3D6}"/>
              </a:ext>
            </a:extLst>
          </p:cNvPr>
          <p:cNvSpPr>
            <a:spLocks xmlns:a="http://schemas.openxmlformats.org/drawingml/2006/main" noGrp="1"/>
          </p:cNvSpPr>
          <p:nvPr/>
        </p:nvSpPr>
        <p:spPr>
          <a:xfrm xmlns:a="http://schemas.openxmlformats.org/drawingml/2006/main">
            <a:off x="6457950" y="4324350"/>
            <a:ext cx="495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1B2B3C"/>
                </a:solidFill>
                <a:latin typeface="Calibri"/>
                <a:ea typeface="Calibri"/>
                <a:cs typeface="Calibri"/>
              </a:defRPr>
            </a:pPr>
            <a:r>
              <a:t>P6  Cost Bridge — 2 slides</a:t>
            </a:r>
          </a:p>
        </p:txBody>
      </p:sp>
      <p:sp>
        <p:nvSpPr>
          <p:cNvPr id="31" name="">
            <a:extLst xmlns:a="http://schemas.openxmlformats.org/drawingml/2006/main">
              <a:ext uri="{FF2B5EF4-FFF2-40B4-BE49-F238E27FC236}">
                <a16:creationId xmlns:a16="http://schemas.microsoft.com/office/drawing/2014/main" id="{FDF92229-BCCE-4267-B73F-167C39A0A998}"/>
              </a:ext>
            </a:extLst>
          </p:cNvPr>
          <p:cNvSpPr>
            <a:spLocks xmlns:a="http://schemas.openxmlformats.org/drawingml/2006/main" noGrp="1"/>
          </p:cNvSpPr>
          <p:nvPr/>
        </p:nvSpPr>
        <p:spPr>
          <a:xfrm xmlns:a="http://schemas.openxmlformats.org/drawingml/2006/main">
            <a:off x="590550" y="5676900"/>
            <a:ext cx="11068050"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A44D7B5-4129-475D-8BBF-4AB5FD448946}"/>
              </a:ext>
            </a:extLst>
          </p:cNvPr>
          <p:cNvSpPr>
            <a:spLocks xmlns:a="http://schemas.openxmlformats.org/drawingml/2006/main" noGrp="1"/>
          </p:cNvSpPr>
          <p:nvPr/>
        </p:nvSpPr>
        <p:spPr>
          <a:xfrm xmlns:a="http://schemas.openxmlformats.org/drawingml/2006/main">
            <a:off x="590550" y="5829300"/>
            <a:ext cx="95250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5B6B7C"/>
                </a:solidFill>
                <a:latin typeface="Calibri"/>
                <a:ea typeface="Calibri"/>
                <a:cs typeface="Calibri"/>
              </a:defRPr>
            </a:pPr>
            <a:r>
              <a:t>Each pattern exists because profiling all 73 dossier slides found that structure in the content. A pattern earns its exhibit only when the evidence can actually draw it.</a:t>
            </a:r>
          </a:p>
        </p:txBody>
      </p:sp>
    </p:spTree>
    <p:extLst>
      <p:ext uri="{BB962C8B-B14F-4D97-AF65-F5344CB8AC3E}">
        <p14:creationId xmlns:p14="http://schemas.microsoft.com/office/powerpoint/2010/main" val="14339513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DE42669-0257-4507-87B2-6A24E4A8AD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C6A069-94D2-489F-B5BD-8207FD62E0B6}"/>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EC7BC67-2EF5-474B-8808-E3372A86DC28}"/>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391AD5-7D33-4608-8009-AA0DD2637735}"/>
              </a:ext>
            </a:extLst>
          </p:cNvPr>
          <p:cNvSpPr>
            <a:spLocks xmlns:a="http://schemas.openxmlformats.org/drawingml/2006/main" noGrp="1"/>
          </p:cNvSpPr>
          <p:nvPr/>
        </p:nvSpPr>
        <p:spPr>
          <a:xfrm xmlns:a="http://schemas.openxmlformats.org/drawingml/2006/main">
            <a:off x="552450" y="6477000"/>
            <a:ext cx="822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5B6B7C"/>
                </a:solidFill>
                <a:latin typeface="Calibri"/>
                <a:ea typeface="Calibri"/>
                <a:cs typeface="Calibri"/>
              </a:defRPr>
            </a:pPr>
            <a:r>
              <a:t>DeepGrid India ADAS Dossier  |  Adapted Prompt Templates</a:t>
            </a:r>
          </a:p>
        </p:txBody>
      </p:sp>
      <p:sp>
        <p:nvSpPr>
          <p:cNvPr id="5" name="">
            <a:extLst xmlns:a="http://schemas.openxmlformats.org/drawingml/2006/main">
              <a:ext uri="{FF2B5EF4-FFF2-40B4-BE49-F238E27FC236}">
                <a16:creationId xmlns:a16="http://schemas.microsoft.com/office/drawing/2014/main" id="{718A9072-7A2F-4C08-88EA-A7DE7DFCDC38}"/>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1B2B3C"/>
                </a:solidFill>
                <a:latin typeface="Calibri"/>
                <a:ea typeface="Calibri"/>
                <a:cs typeface="Calibri"/>
              </a:defRPr>
            </a:pPr>
            <a:r>
              <a:t>3 / 9</a:t>
            </a:r>
          </a:p>
        </p:txBody>
      </p:sp>
      <p:sp>
        <p:nvSpPr>
          <p:cNvPr id="6" name="">
            <a:extLst xmlns:a="http://schemas.openxmlformats.org/drawingml/2006/main">
              <a:ext uri="{FF2B5EF4-FFF2-40B4-BE49-F238E27FC236}">
                <a16:creationId xmlns:a16="http://schemas.microsoft.com/office/drawing/2014/main" id="{3E81D2BD-6382-498D-91A8-838D7BA9ED5D}"/>
              </a:ext>
            </a:extLst>
          </p:cNvPr>
          <p:cNvSpPr>
            <a:spLocks xmlns:a="http://schemas.openxmlformats.org/drawingml/2006/main" noGrp="1"/>
          </p:cNvSpPr>
          <p:nvPr/>
        </p:nvSpPr>
        <p:spPr>
          <a:xfrm xmlns:a="http://schemas.openxmlformats.org/drawingml/2006/main">
            <a:off x="590550" y="228600"/>
            <a:ext cx="421005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B5500E-E763-4257-BE2A-EA0B23DF7216}"/>
              </a:ext>
            </a:extLst>
          </p:cNvPr>
          <p:cNvSpPr>
            <a:spLocks xmlns:a="http://schemas.openxmlformats.org/drawingml/2006/main" noGrp="1"/>
          </p:cNvSpPr>
          <p:nvPr/>
        </p:nvSpPr>
        <p:spPr>
          <a:xfrm xmlns:a="http://schemas.openxmlformats.org/drawingml/2006/main">
            <a:off x="590550" y="276225"/>
            <a:ext cx="42100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0695C"/>
                </a:solidFill>
                <a:latin typeface="Calibri"/>
                <a:ea typeface="Calibri"/>
                <a:cs typeface="Calibri"/>
              </a:defRPr>
            </a:pPr>
            <a:r>
              <a:t>DOMAIN 1: EVIDENCE POSTURE</a:t>
            </a:r>
          </a:p>
        </p:txBody>
      </p:sp>
      <p:sp>
        <p:nvSpPr>
          <p:cNvPr id="8" name="">
            <a:extLst xmlns:a="http://schemas.openxmlformats.org/drawingml/2006/main">
              <a:ext uri="{FF2B5EF4-FFF2-40B4-BE49-F238E27FC236}">
                <a16:creationId xmlns:a16="http://schemas.microsoft.com/office/drawing/2014/main" id="{FC014AB8-2DD0-4EBE-A5B3-222381E28B62}"/>
              </a:ext>
            </a:extLst>
          </p:cNvPr>
          <p:cNvSpPr>
            <a:spLocks xmlns:a="http://schemas.openxmlformats.org/drawingml/2006/main" noGrp="1"/>
          </p:cNvSpPr>
          <p:nvPr/>
        </p:nvSpPr>
        <p:spPr>
          <a:xfrm xmlns:a="http://schemas.openxmlformats.org/drawingml/2006/main">
            <a:off x="590550" y="533400"/>
            <a:ext cx="11068050" cy="476250"/>
          </a:xfrm>
          <a:prstGeom xmlns:a="http://schemas.openxmlformats.org/drawingml/2006/main" prst="rect">
            <a:avLst/>
          </a:prstGeom>
        </p:spPr>
        <p:txBody>
          <a:bodyPr xmlns:a="http://schemas.openxmlformats.org/drawingml/2006/main" lIns="0" tIns="0" rIns="0" bIns="0" anchor="t">
            <a:normAutofit fontScale="97656"/>
          </a:bodyPr>
          <a:lstStyle xmlns:a="http://schemas.openxmlformats.org/drawingml/2006/main"/>
          <a:p xmlns:a="http://schemas.openxmlformats.org/drawingml/2006/main">
            <a:pPr algn="l">
              <a:defRPr sz="3200" b="1">
                <a:solidFill>
                  <a:srgbClr val="1B2B3C"/>
                </a:solidFill>
                <a:latin typeface="Calibri"/>
                <a:ea typeface="Calibri"/>
                <a:cs typeface="Calibri"/>
              </a:defRPr>
            </a:pPr>
            <a:r>
              <a:t>P1 · Evidence Ladder</a:t>
            </a:r>
          </a:p>
        </p:txBody>
      </p:sp>
      <p:sp>
        <p:nvSpPr>
          <p:cNvPr id="9" name="">
            <a:extLst xmlns:a="http://schemas.openxmlformats.org/drawingml/2006/main">
              <a:ext uri="{FF2B5EF4-FFF2-40B4-BE49-F238E27FC236}">
                <a16:creationId xmlns:a16="http://schemas.microsoft.com/office/drawing/2014/main" id="{D8C5C0CF-1EA7-4163-AD8E-5303629FA9C9}"/>
              </a:ext>
            </a:extLst>
          </p:cNvPr>
          <p:cNvSpPr>
            <a:spLocks xmlns:a="http://schemas.openxmlformats.org/drawingml/2006/main" noGrp="1"/>
          </p:cNvSpPr>
          <p:nvPr/>
        </p:nvSpPr>
        <p:spPr>
          <a:xfrm xmlns:a="http://schemas.openxmlformats.org/drawingml/2006/main">
            <a:off x="590550" y="1238250"/>
            <a:ext cx="200977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F548A5C-B54E-4E3F-B390-3FE74A6E6F76}"/>
              </a:ext>
            </a:extLst>
          </p:cNvPr>
          <p:cNvSpPr>
            <a:spLocks xmlns:a="http://schemas.openxmlformats.org/drawingml/2006/main" noGrp="1"/>
          </p:cNvSpPr>
          <p:nvPr/>
        </p:nvSpPr>
        <p:spPr>
          <a:xfrm xmlns:a="http://schemas.openxmlformats.org/drawingml/2006/main">
            <a:off x="590550" y="135255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WHEN TO USE</a:t>
            </a:r>
          </a:p>
        </p:txBody>
      </p:sp>
      <p:sp>
        <p:nvSpPr>
          <p:cNvPr id="11" name="">
            <a:extLst xmlns:a="http://schemas.openxmlformats.org/drawingml/2006/main">
              <a:ext uri="{FF2B5EF4-FFF2-40B4-BE49-F238E27FC236}">
                <a16:creationId xmlns:a16="http://schemas.microsoft.com/office/drawing/2014/main" id="{07B62C98-920A-41D5-BE00-F7849E196A1E}"/>
              </a:ext>
            </a:extLst>
          </p:cNvPr>
          <p:cNvSpPr>
            <a:spLocks xmlns:a="http://schemas.openxmlformats.org/drawingml/2006/main" noGrp="1"/>
          </p:cNvSpPr>
          <p:nvPr/>
        </p:nvSpPr>
        <p:spPr>
          <a:xfrm xmlns:a="http://schemas.openxmlformats.org/drawingml/2006/main">
            <a:off x="590550" y="15716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4A5E190-3F50-45E0-BEE7-C59F43B33DD4}"/>
              </a:ext>
            </a:extLst>
          </p:cNvPr>
          <p:cNvSpPr>
            <a:spLocks xmlns:a="http://schemas.openxmlformats.org/drawingml/2006/main" noGrp="1"/>
          </p:cNvSpPr>
          <p:nvPr/>
        </p:nvSpPr>
        <p:spPr>
          <a:xfrm xmlns:a="http://schemas.openxmlformats.org/drawingml/2006/main">
            <a:off x="590550" y="16478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A competitor or claim carries mixed-quality evidence</a:t>
            </a:r>
          </a:p>
        </p:txBody>
      </p:sp>
      <p:sp>
        <p:nvSpPr>
          <p:cNvPr id="13" name="">
            <a:extLst xmlns:a="http://schemas.openxmlformats.org/drawingml/2006/main">
              <a:ext uri="{FF2B5EF4-FFF2-40B4-BE49-F238E27FC236}">
                <a16:creationId xmlns:a16="http://schemas.microsoft.com/office/drawing/2014/main" id="{5703E451-FA55-494A-A703-13B94610A40C}"/>
              </a:ext>
            </a:extLst>
          </p:cNvPr>
          <p:cNvSpPr>
            <a:spLocks xmlns:a="http://schemas.openxmlformats.org/drawingml/2006/main" noGrp="1"/>
          </p:cNvSpPr>
          <p:nvPr/>
        </p:nvSpPr>
        <p:spPr>
          <a:xfrm xmlns:a="http://schemas.openxmlformats.org/drawingml/2006/main">
            <a:off x="590550" y="185737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Leadership is treating a company statement as verified fact</a:t>
            </a:r>
          </a:p>
        </p:txBody>
      </p:sp>
      <p:sp>
        <p:nvSpPr>
          <p:cNvPr id="14" name="">
            <a:extLst xmlns:a="http://schemas.openxmlformats.org/drawingml/2006/main">
              <a:ext uri="{FF2B5EF4-FFF2-40B4-BE49-F238E27FC236}">
                <a16:creationId xmlns:a16="http://schemas.microsoft.com/office/drawing/2014/main" id="{EB24F819-3CC5-4241-A4F7-981D4AD66DD2}"/>
              </a:ext>
            </a:extLst>
          </p:cNvPr>
          <p:cNvSpPr>
            <a:spLocks xmlns:a="http://schemas.openxmlformats.org/drawingml/2006/main" noGrp="1"/>
          </p:cNvSpPr>
          <p:nvPr/>
        </p:nvSpPr>
        <p:spPr>
          <a:xfrm xmlns:a="http://schemas.openxmlformats.org/drawingml/2006/main">
            <a:off x="590550" y="20669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The rating rests on what is known versus what is asserted</a:t>
            </a:r>
          </a:p>
        </p:txBody>
      </p:sp>
      <p:sp>
        <p:nvSpPr>
          <p:cNvPr id="15" name="">
            <a:extLst xmlns:a="http://schemas.openxmlformats.org/drawingml/2006/main">
              <a:ext uri="{FF2B5EF4-FFF2-40B4-BE49-F238E27FC236}">
                <a16:creationId xmlns:a16="http://schemas.microsoft.com/office/drawing/2014/main" id="{3FC46BF0-E58C-47CB-8953-8CAF0E1FF290}"/>
              </a:ext>
            </a:extLst>
          </p:cNvPr>
          <p:cNvSpPr>
            <a:spLocks xmlns:a="http://schemas.openxmlformats.org/drawingml/2006/main" noGrp="1"/>
          </p:cNvSpPr>
          <p:nvPr/>
        </p:nvSpPr>
        <p:spPr>
          <a:xfrm xmlns:a="http://schemas.openxmlformats.org/drawingml/2006/main">
            <a:off x="590550" y="2743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WORKFLOW</a:t>
            </a:r>
          </a:p>
        </p:txBody>
      </p:sp>
      <p:sp>
        <p:nvSpPr>
          <p:cNvPr id="16" name="">
            <a:extLst xmlns:a="http://schemas.openxmlformats.org/drawingml/2006/main">
              <a:ext uri="{FF2B5EF4-FFF2-40B4-BE49-F238E27FC236}">
                <a16:creationId xmlns:a16="http://schemas.microsoft.com/office/drawing/2014/main" id="{E3662CFA-092C-4C22-B308-999E8B84C053}"/>
              </a:ext>
            </a:extLst>
          </p:cNvPr>
          <p:cNvSpPr>
            <a:spLocks xmlns:a="http://schemas.openxmlformats.org/drawingml/2006/main" noGrp="1"/>
          </p:cNvSpPr>
          <p:nvPr/>
        </p:nvSpPr>
        <p:spPr>
          <a:xfrm xmlns:a="http://schemas.openxmlformats.org/drawingml/2006/main">
            <a:off x="590550" y="29432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5F9E517-DB74-4D8A-9584-7B7027FEE809}"/>
              </a:ext>
            </a:extLst>
          </p:cNvPr>
          <p:cNvSpPr>
            <a:spLocks xmlns:a="http://schemas.openxmlformats.org/drawingml/2006/main" noGrp="1"/>
          </p:cNvSpPr>
          <p:nvPr/>
        </p:nvSpPr>
        <p:spPr>
          <a:xfrm xmlns:a="http://schemas.openxmlformats.org/drawingml/2006/main">
            <a:off x="590550" y="30194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F77EC79-9604-4D7A-BFF6-896930927841}"/>
              </a:ext>
            </a:extLst>
          </p:cNvPr>
          <p:cNvSpPr>
            <a:spLocks xmlns:a="http://schemas.openxmlformats.org/drawingml/2006/main" noGrp="1"/>
          </p:cNvSpPr>
          <p:nvPr/>
        </p:nvSpPr>
        <p:spPr>
          <a:xfrm xmlns:a="http://schemas.openxmlformats.org/drawingml/2006/main">
            <a:off x="590550" y="30575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1</a:t>
            </a:r>
          </a:p>
        </p:txBody>
      </p:sp>
      <p:sp>
        <p:nvSpPr>
          <p:cNvPr id="19" name="">
            <a:extLst xmlns:a="http://schemas.openxmlformats.org/drawingml/2006/main">
              <a:ext uri="{FF2B5EF4-FFF2-40B4-BE49-F238E27FC236}">
                <a16:creationId xmlns:a16="http://schemas.microsoft.com/office/drawing/2014/main" id="{C0525BE2-4026-4ABE-8F65-9D2CDA2843D8}"/>
              </a:ext>
            </a:extLst>
          </p:cNvPr>
          <p:cNvSpPr>
            <a:spLocks xmlns:a="http://schemas.openxmlformats.org/drawingml/2006/main" noGrp="1"/>
          </p:cNvSpPr>
          <p:nvPr/>
        </p:nvSpPr>
        <p:spPr>
          <a:xfrm xmlns:a="http://schemas.openxmlformats.org/drawingml/2006/main">
            <a:off x="914400" y="30289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Split every statement into verified fact, attributed claim, qualified interpretation, insufficient evidence</a:t>
            </a:r>
          </a:p>
        </p:txBody>
      </p:sp>
      <p:sp>
        <p:nvSpPr>
          <p:cNvPr id="20" name="">
            <a:extLst xmlns:a="http://schemas.openxmlformats.org/drawingml/2006/main">
              <a:ext uri="{FF2B5EF4-FFF2-40B4-BE49-F238E27FC236}">
                <a16:creationId xmlns:a16="http://schemas.microsoft.com/office/drawing/2014/main" id="{C1A2918C-A172-4378-B6DB-5AFED9F2B04C}"/>
              </a:ext>
            </a:extLst>
          </p:cNvPr>
          <p:cNvSpPr>
            <a:spLocks xmlns:a="http://schemas.openxmlformats.org/drawingml/2006/main" noGrp="1"/>
          </p:cNvSpPr>
          <p:nvPr/>
        </p:nvSpPr>
        <p:spPr>
          <a:xfrm xmlns:a="http://schemas.openxmlformats.org/drawingml/2006/main">
            <a:off x="914400" y="349567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CE8B99-4AA5-4BED-9D15-6D6135B86424}"/>
              </a:ext>
            </a:extLst>
          </p:cNvPr>
          <p:cNvSpPr>
            <a:spLocks xmlns:a="http://schemas.openxmlformats.org/drawingml/2006/main" noGrp="1"/>
          </p:cNvSpPr>
          <p:nvPr/>
        </p:nvSpPr>
        <p:spPr>
          <a:xfrm xmlns:a="http://schemas.openxmlformats.org/drawingml/2006/main">
            <a:off x="590550" y="360997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D9E40A1-9984-4BE6-84C7-DB3FB90E94EB}"/>
              </a:ext>
            </a:extLst>
          </p:cNvPr>
          <p:cNvSpPr>
            <a:spLocks xmlns:a="http://schemas.openxmlformats.org/drawingml/2006/main" noGrp="1"/>
          </p:cNvSpPr>
          <p:nvPr/>
        </p:nvSpPr>
        <p:spPr>
          <a:xfrm xmlns:a="http://schemas.openxmlformats.org/drawingml/2006/main">
            <a:off x="590550" y="364807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2</a:t>
            </a:r>
          </a:p>
        </p:txBody>
      </p:sp>
      <p:sp>
        <p:nvSpPr>
          <p:cNvPr id="23" name="">
            <a:extLst xmlns:a="http://schemas.openxmlformats.org/drawingml/2006/main">
              <a:ext uri="{FF2B5EF4-FFF2-40B4-BE49-F238E27FC236}">
                <a16:creationId xmlns:a16="http://schemas.microsoft.com/office/drawing/2014/main" id="{FB0CCB05-2C8B-42E6-8D92-35D02506FC09}"/>
              </a:ext>
            </a:extLst>
          </p:cNvPr>
          <p:cNvSpPr>
            <a:spLocks xmlns:a="http://schemas.openxmlformats.org/drawingml/2006/main" noGrp="1"/>
          </p:cNvSpPr>
          <p:nvPr/>
        </p:nvSpPr>
        <p:spPr>
          <a:xfrm xmlns:a="http://schemas.openxmlformats.org/drawingml/2006/main">
            <a:off x="914400" y="361950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Assign each a confidence and name the artifact that would raise it</a:t>
            </a:r>
          </a:p>
        </p:txBody>
      </p:sp>
      <p:sp>
        <p:nvSpPr>
          <p:cNvPr id="24" name="">
            <a:extLst xmlns:a="http://schemas.openxmlformats.org/drawingml/2006/main">
              <a:ext uri="{FF2B5EF4-FFF2-40B4-BE49-F238E27FC236}">
                <a16:creationId xmlns:a16="http://schemas.microsoft.com/office/drawing/2014/main" id="{F9F958D6-A995-4B99-88F9-E0814059CC2A}"/>
              </a:ext>
            </a:extLst>
          </p:cNvPr>
          <p:cNvSpPr>
            <a:spLocks xmlns:a="http://schemas.openxmlformats.org/drawingml/2006/main" noGrp="1"/>
          </p:cNvSpPr>
          <p:nvPr/>
        </p:nvSpPr>
        <p:spPr>
          <a:xfrm xmlns:a="http://schemas.openxmlformats.org/drawingml/2006/main">
            <a:off x="914400" y="408622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C26A36-7393-45CD-97C3-B80A5A414ACC}"/>
              </a:ext>
            </a:extLst>
          </p:cNvPr>
          <p:cNvSpPr>
            <a:spLocks xmlns:a="http://schemas.openxmlformats.org/drawingml/2006/main" noGrp="1"/>
          </p:cNvSpPr>
          <p:nvPr/>
        </p:nvSpPr>
        <p:spPr>
          <a:xfrm xmlns:a="http://schemas.openxmlformats.org/drawingml/2006/main">
            <a:off x="590550" y="42005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BD53AB7-4E79-4AB4-AE1D-14521BEB053D}"/>
              </a:ext>
            </a:extLst>
          </p:cNvPr>
          <p:cNvSpPr>
            <a:spLocks xmlns:a="http://schemas.openxmlformats.org/drawingml/2006/main" noGrp="1"/>
          </p:cNvSpPr>
          <p:nvPr/>
        </p:nvSpPr>
        <p:spPr>
          <a:xfrm xmlns:a="http://schemas.openxmlformats.org/drawingml/2006/main">
            <a:off x="590550" y="42386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3</a:t>
            </a:r>
          </a:p>
        </p:txBody>
      </p:sp>
      <p:sp>
        <p:nvSpPr>
          <p:cNvPr id="27" name="">
            <a:extLst xmlns:a="http://schemas.openxmlformats.org/drawingml/2006/main">
              <a:ext uri="{FF2B5EF4-FFF2-40B4-BE49-F238E27FC236}">
                <a16:creationId xmlns:a16="http://schemas.microsoft.com/office/drawing/2014/main" id="{8EE749B0-C289-46A1-87CA-8FF68CA1B703}"/>
              </a:ext>
            </a:extLst>
          </p:cNvPr>
          <p:cNvSpPr>
            <a:spLocks xmlns:a="http://schemas.openxmlformats.org/drawingml/2006/main" noGrp="1"/>
          </p:cNvSpPr>
          <p:nvPr/>
        </p:nvSpPr>
        <p:spPr>
          <a:xfrm xmlns:a="http://schemas.openxmlformats.org/drawingml/2006/main">
            <a:off x="914400" y="42100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Convert the weakest load-bearing rung into the decision</a:t>
            </a:r>
          </a:p>
        </p:txBody>
      </p:sp>
      <p:sp>
        <p:nvSpPr>
          <p:cNvPr id="28" name="">
            <a:extLst xmlns:a="http://schemas.openxmlformats.org/drawingml/2006/main">
              <a:ext uri="{FF2B5EF4-FFF2-40B4-BE49-F238E27FC236}">
                <a16:creationId xmlns:a16="http://schemas.microsoft.com/office/drawing/2014/main" id="{D87FB744-679F-4327-AED1-6D975E49C94A}"/>
              </a:ext>
            </a:extLst>
          </p:cNvPr>
          <p:cNvSpPr>
            <a:spLocks xmlns:a="http://schemas.openxmlformats.org/drawingml/2006/main" noGrp="1"/>
          </p:cNvSpPr>
          <p:nvPr/>
        </p:nvSpPr>
        <p:spPr>
          <a:xfrm xmlns:a="http://schemas.openxmlformats.org/drawingml/2006/main">
            <a:off x="5581650" y="1352550"/>
            <a:ext cx="6219825" cy="24193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04E45A2-9237-4B6C-8AB5-3766EC4B78D5}"/>
              </a:ext>
            </a:extLst>
          </p:cNvPr>
          <p:cNvSpPr>
            <a:spLocks xmlns:a="http://schemas.openxmlformats.org/drawingml/2006/main" noGrp="1"/>
          </p:cNvSpPr>
          <p:nvPr/>
        </p:nvSpPr>
        <p:spPr>
          <a:xfrm xmlns:a="http://schemas.openxmlformats.org/drawingml/2006/main">
            <a:off x="5762625" y="1447800"/>
            <a:ext cx="5848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FFB800"/>
                </a:solidFill>
                <a:latin typeface="Calibri"/>
                <a:ea typeface="Calibri"/>
                <a:cs typeface="Calibri"/>
              </a:defRPr>
            </a:pPr>
            <a:r>
              <a:t>KEY PROMPT  →  TELL CLAUDE:</a:t>
            </a:r>
          </a:p>
        </p:txBody>
      </p:sp>
      <p:sp>
        <p:nvSpPr>
          <p:cNvPr id="30" name="">
            <a:extLst xmlns:a="http://schemas.openxmlformats.org/drawingml/2006/main">
              <a:ext uri="{FF2B5EF4-FFF2-40B4-BE49-F238E27FC236}">
                <a16:creationId xmlns:a16="http://schemas.microsoft.com/office/drawing/2014/main" id="{5D8E56FA-23C8-4290-B918-01F1F7FD1984}"/>
              </a:ext>
            </a:extLst>
          </p:cNvPr>
          <p:cNvSpPr>
            <a:spLocks xmlns:a="http://schemas.openxmlformats.org/drawingml/2006/main" noGrp="1"/>
          </p:cNvSpPr>
          <p:nvPr/>
        </p:nvSpPr>
        <p:spPr>
          <a:xfrm xmlns:a="http://schemas.openxmlformats.org/drawingml/2006/main">
            <a:off x="5762625" y="1733550"/>
            <a:ext cx="584835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FFFFFF"/>
                </a:solidFill>
                <a:latin typeface="Calibri"/>
                <a:ea typeface="Calibri"/>
                <a:cs typeface="Calibri"/>
              </a:defRPr>
            </a:pPr>
            <a:r>
              <a:t>"Build an evidence ladder for [subject] as of [date] using only [evidence IDs]. Produce four rungs ordered strongest to weakest. For each give the label, the statement in one sentence, its status, a confidence between 0 and 1, and the named artifact that would raise it. Do not merge rungs of different status. End with the response decision, the owner, and the artifact that moves the rating."</a:t>
            </a:r>
          </a:p>
        </p:txBody>
      </p:sp>
      <p:sp>
        <p:nvSpPr>
          <p:cNvPr id="31" name="">
            <a:extLst xmlns:a="http://schemas.openxmlformats.org/drawingml/2006/main">
              <a:ext uri="{FF2B5EF4-FFF2-40B4-BE49-F238E27FC236}">
                <a16:creationId xmlns:a16="http://schemas.microsoft.com/office/drawing/2014/main" id="{E90427A4-4BF7-48A9-BA27-946E829A739B}"/>
              </a:ext>
            </a:extLst>
          </p:cNvPr>
          <p:cNvSpPr>
            <a:spLocks xmlns:a="http://schemas.openxmlformats.org/drawingml/2006/main" noGrp="1"/>
          </p:cNvSpPr>
          <p:nvPr/>
        </p:nvSpPr>
        <p:spPr>
          <a:xfrm xmlns:a="http://schemas.openxmlformats.org/drawingml/2006/main">
            <a:off x="5581650" y="3886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OUTPUT INCLUDES</a:t>
            </a:r>
          </a:p>
        </p:txBody>
      </p:sp>
      <p:sp>
        <p:nvSpPr>
          <p:cNvPr id="32" name="">
            <a:extLst xmlns:a="http://schemas.openxmlformats.org/drawingml/2006/main">
              <a:ext uri="{FF2B5EF4-FFF2-40B4-BE49-F238E27FC236}">
                <a16:creationId xmlns:a16="http://schemas.microsoft.com/office/drawing/2014/main" id="{9EB569D9-3C7D-44B4-B2A0-2B6DF95A04C5}"/>
              </a:ext>
            </a:extLst>
          </p:cNvPr>
          <p:cNvSpPr>
            <a:spLocks xmlns:a="http://schemas.openxmlformats.org/drawingml/2006/main" noGrp="1"/>
          </p:cNvSpPr>
          <p:nvPr/>
        </p:nvSpPr>
        <p:spPr>
          <a:xfrm xmlns:a="http://schemas.openxmlformats.org/drawingml/2006/main">
            <a:off x="5581650" y="4086225"/>
            <a:ext cx="621982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0972987-7AB5-4678-A1E2-BF898044389B}"/>
              </a:ext>
            </a:extLst>
          </p:cNvPr>
          <p:cNvSpPr>
            <a:spLocks xmlns:a="http://schemas.openxmlformats.org/drawingml/2006/main" noGrp="1"/>
          </p:cNvSpPr>
          <p:nvPr/>
        </p:nvSpPr>
        <p:spPr>
          <a:xfrm xmlns:a="http://schemas.openxmlformats.org/drawingml/2006/main">
            <a:off x="55816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ED77C0D-5330-4F00-B0FF-54748BD3EE0E}"/>
              </a:ext>
            </a:extLst>
          </p:cNvPr>
          <p:cNvSpPr>
            <a:spLocks xmlns:a="http://schemas.openxmlformats.org/drawingml/2006/main" noGrp="1"/>
          </p:cNvSpPr>
          <p:nvPr/>
        </p:nvSpPr>
        <p:spPr>
          <a:xfrm xmlns:a="http://schemas.openxmlformats.org/drawingml/2006/main">
            <a:off x="57150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Observable Position (1 paragraph)</a:t>
            </a:r>
          </a:p>
        </p:txBody>
      </p:sp>
      <p:sp>
        <p:nvSpPr>
          <p:cNvPr id="35" name="">
            <a:extLst xmlns:a="http://schemas.openxmlformats.org/drawingml/2006/main">
              <a:ext uri="{FF2B5EF4-FFF2-40B4-BE49-F238E27FC236}">
                <a16:creationId xmlns:a16="http://schemas.microsoft.com/office/drawing/2014/main" id="{305E5A5A-D1EF-485F-9480-32C739200284}"/>
              </a:ext>
            </a:extLst>
          </p:cNvPr>
          <p:cNvSpPr>
            <a:spLocks xmlns:a="http://schemas.openxmlformats.org/drawingml/2006/main" noGrp="1"/>
          </p:cNvSpPr>
          <p:nvPr/>
        </p:nvSpPr>
        <p:spPr>
          <a:xfrm xmlns:a="http://schemas.openxmlformats.org/drawingml/2006/main">
            <a:off x="55816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FF70ACD-D370-4EFE-B36F-5101C131330D}"/>
              </a:ext>
            </a:extLst>
          </p:cNvPr>
          <p:cNvSpPr>
            <a:spLocks xmlns:a="http://schemas.openxmlformats.org/drawingml/2006/main" noGrp="1"/>
          </p:cNvSpPr>
          <p:nvPr/>
        </p:nvSpPr>
        <p:spPr>
          <a:xfrm xmlns:a="http://schemas.openxmlformats.org/drawingml/2006/main">
            <a:off x="57150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Rungs[] with status + confidence</a:t>
            </a:r>
          </a:p>
        </p:txBody>
      </p:sp>
      <p:sp>
        <p:nvSpPr>
          <p:cNvPr id="37" name="">
            <a:extLst xmlns:a="http://schemas.openxmlformats.org/drawingml/2006/main">
              <a:ext uri="{FF2B5EF4-FFF2-40B4-BE49-F238E27FC236}">
                <a16:creationId xmlns:a16="http://schemas.microsoft.com/office/drawing/2014/main" id="{18697A11-8F23-4582-8616-32FC4C5ED647}"/>
              </a:ext>
            </a:extLst>
          </p:cNvPr>
          <p:cNvSpPr>
            <a:spLocks xmlns:a="http://schemas.openxmlformats.org/drawingml/2006/main" noGrp="1"/>
          </p:cNvSpPr>
          <p:nvPr/>
        </p:nvSpPr>
        <p:spPr>
          <a:xfrm xmlns:a="http://schemas.openxmlformats.org/drawingml/2006/main">
            <a:off x="55816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865A254-0328-4672-B85E-612387E95A17}"/>
              </a:ext>
            </a:extLst>
          </p:cNvPr>
          <p:cNvSpPr>
            <a:spLocks xmlns:a="http://schemas.openxmlformats.org/drawingml/2006/main" noGrp="1"/>
          </p:cNvSpPr>
          <p:nvPr/>
        </p:nvSpPr>
        <p:spPr>
          <a:xfrm xmlns:a="http://schemas.openxmlformats.org/drawingml/2006/main">
            <a:off x="57150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Named artifact that raises each rung</a:t>
            </a:r>
          </a:p>
        </p:txBody>
      </p:sp>
      <p:sp>
        <p:nvSpPr>
          <p:cNvPr id="39" name="">
            <a:extLst xmlns:a="http://schemas.openxmlformats.org/drawingml/2006/main">
              <a:ext uri="{FF2B5EF4-FFF2-40B4-BE49-F238E27FC236}">
                <a16:creationId xmlns:a16="http://schemas.microsoft.com/office/drawing/2014/main" id="{0560DCFC-9F3A-47C6-85B7-872D6E9B1ED9}"/>
              </a:ext>
            </a:extLst>
          </p:cNvPr>
          <p:cNvSpPr>
            <a:spLocks xmlns:a="http://schemas.openxmlformats.org/drawingml/2006/main" noGrp="1"/>
          </p:cNvSpPr>
          <p:nvPr/>
        </p:nvSpPr>
        <p:spPr>
          <a:xfrm xmlns:a="http://schemas.openxmlformats.org/drawingml/2006/main">
            <a:off x="87820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CA66225-1B4B-4E56-90AA-D79C2A8C6765}"/>
              </a:ext>
            </a:extLst>
          </p:cNvPr>
          <p:cNvSpPr>
            <a:spLocks xmlns:a="http://schemas.openxmlformats.org/drawingml/2006/main" noGrp="1"/>
          </p:cNvSpPr>
          <p:nvPr/>
        </p:nvSpPr>
        <p:spPr>
          <a:xfrm xmlns:a="http://schemas.openxmlformats.org/drawingml/2006/main">
            <a:off x="89154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Evidence gap holding the rating</a:t>
            </a:r>
          </a:p>
        </p:txBody>
      </p:sp>
      <p:sp>
        <p:nvSpPr>
          <p:cNvPr id="41" name="">
            <a:extLst xmlns:a="http://schemas.openxmlformats.org/drawingml/2006/main">
              <a:ext uri="{FF2B5EF4-FFF2-40B4-BE49-F238E27FC236}">
                <a16:creationId xmlns:a16="http://schemas.microsoft.com/office/drawing/2014/main" id="{CE17DC7E-CD4E-4A46-8C9A-3C78643382EF}"/>
              </a:ext>
            </a:extLst>
          </p:cNvPr>
          <p:cNvSpPr>
            <a:spLocks xmlns:a="http://schemas.openxmlformats.org/drawingml/2006/main" noGrp="1"/>
          </p:cNvSpPr>
          <p:nvPr/>
        </p:nvSpPr>
        <p:spPr>
          <a:xfrm xmlns:a="http://schemas.openxmlformats.org/drawingml/2006/main">
            <a:off x="87820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27A428E-F3C5-4281-B152-CEE15C8D5DF2}"/>
              </a:ext>
            </a:extLst>
          </p:cNvPr>
          <p:cNvSpPr>
            <a:spLocks xmlns:a="http://schemas.openxmlformats.org/drawingml/2006/main" noGrp="1"/>
          </p:cNvSpPr>
          <p:nvPr/>
        </p:nvSpPr>
        <p:spPr>
          <a:xfrm xmlns:a="http://schemas.openxmlformats.org/drawingml/2006/main">
            <a:off x="89154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Response decision · owner · trigger</a:t>
            </a:r>
          </a:p>
        </p:txBody>
      </p:sp>
      <p:sp>
        <p:nvSpPr>
          <p:cNvPr id="43" name="">
            <a:extLst xmlns:a="http://schemas.openxmlformats.org/drawingml/2006/main">
              <a:ext uri="{FF2B5EF4-FFF2-40B4-BE49-F238E27FC236}">
                <a16:creationId xmlns:a16="http://schemas.microsoft.com/office/drawing/2014/main" id="{5A44E722-024D-40C6-8F27-859CE576EF1F}"/>
              </a:ext>
            </a:extLst>
          </p:cNvPr>
          <p:cNvSpPr>
            <a:spLocks xmlns:a="http://schemas.openxmlformats.org/drawingml/2006/main" noGrp="1"/>
          </p:cNvSpPr>
          <p:nvPr/>
        </p:nvSpPr>
        <p:spPr>
          <a:xfrm xmlns:a="http://schemas.openxmlformats.org/drawingml/2006/main">
            <a:off x="87820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8F234A4-08DE-4A27-B1A7-EDCC275831F6}"/>
              </a:ext>
            </a:extLst>
          </p:cNvPr>
          <p:cNvSpPr>
            <a:spLocks xmlns:a="http://schemas.openxmlformats.org/drawingml/2006/main" noGrp="1"/>
          </p:cNvSpPr>
          <p:nvPr/>
        </p:nvSpPr>
        <p:spPr>
          <a:xfrm xmlns:a="http://schemas.openxmlformats.org/drawingml/2006/main">
            <a:off x="89154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EXHIBIT: rung width = confidence</a:t>
            </a:r>
          </a:p>
        </p:txBody>
      </p:sp>
    </p:spTree>
    <p:extLst>
      <p:ext uri="{BB962C8B-B14F-4D97-AF65-F5344CB8AC3E}">
        <p14:creationId xmlns:p14="http://schemas.microsoft.com/office/powerpoint/2010/main" val="11544256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19190EAD-3F31-4390-9AEC-10B75B52E4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A41B94-8665-4FDF-BA06-52ABAB9E6558}"/>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DA6443-C797-4723-8E11-CBB8240576D8}"/>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A46030B-6663-4584-811F-AA7874112D78}"/>
              </a:ext>
            </a:extLst>
          </p:cNvPr>
          <p:cNvSpPr>
            <a:spLocks xmlns:a="http://schemas.openxmlformats.org/drawingml/2006/main" noGrp="1"/>
          </p:cNvSpPr>
          <p:nvPr/>
        </p:nvSpPr>
        <p:spPr>
          <a:xfrm xmlns:a="http://schemas.openxmlformats.org/drawingml/2006/main">
            <a:off x="552450" y="6477000"/>
            <a:ext cx="822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5B6B7C"/>
                </a:solidFill>
                <a:latin typeface="Calibri"/>
                <a:ea typeface="Calibri"/>
                <a:cs typeface="Calibri"/>
              </a:defRPr>
            </a:pPr>
            <a:r>
              <a:t>DeepGrid India ADAS Dossier  |  Adapted Prompt Templates</a:t>
            </a:r>
          </a:p>
        </p:txBody>
      </p:sp>
      <p:sp>
        <p:nvSpPr>
          <p:cNvPr id="5" name="">
            <a:extLst xmlns:a="http://schemas.openxmlformats.org/drawingml/2006/main">
              <a:ext uri="{FF2B5EF4-FFF2-40B4-BE49-F238E27FC236}">
                <a16:creationId xmlns:a16="http://schemas.microsoft.com/office/drawing/2014/main" id="{654D82F8-7BC7-4908-8E4B-146F1959DC9B}"/>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1B2B3C"/>
                </a:solidFill>
                <a:latin typeface="Calibri"/>
                <a:ea typeface="Calibri"/>
                <a:cs typeface="Calibri"/>
              </a:defRPr>
            </a:pPr>
            <a:r>
              <a:t>4 / 9</a:t>
            </a:r>
          </a:p>
        </p:txBody>
      </p:sp>
      <p:sp>
        <p:nvSpPr>
          <p:cNvPr id="6" name="">
            <a:extLst xmlns:a="http://schemas.openxmlformats.org/drawingml/2006/main">
              <a:ext uri="{FF2B5EF4-FFF2-40B4-BE49-F238E27FC236}">
                <a16:creationId xmlns:a16="http://schemas.microsoft.com/office/drawing/2014/main" id="{CCC7CC90-8AAA-40D9-A013-57A4329E13B8}"/>
              </a:ext>
            </a:extLst>
          </p:cNvPr>
          <p:cNvSpPr>
            <a:spLocks xmlns:a="http://schemas.openxmlformats.org/drawingml/2006/main" noGrp="1"/>
          </p:cNvSpPr>
          <p:nvPr/>
        </p:nvSpPr>
        <p:spPr>
          <a:xfrm xmlns:a="http://schemas.openxmlformats.org/drawingml/2006/main">
            <a:off x="590550" y="228600"/>
            <a:ext cx="421005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DA6E3F-4015-45F2-B4A0-AECBDBAB6088}"/>
              </a:ext>
            </a:extLst>
          </p:cNvPr>
          <p:cNvSpPr>
            <a:spLocks xmlns:a="http://schemas.openxmlformats.org/drawingml/2006/main" noGrp="1"/>
          </p:cNvSpPr>
          <p:nvPr/>
        </p:nvSpPr>
        <p:spPr>
          <a:xfrm xmlns:a="http://schemas.openxmlformats.org/drawingml/2006/main">
            <a:off x="590550" y="276225"/>
            <a:ext cx="42100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0695C"/>
                </a:solidFill>
                <a:latin typeface="Calibri"/>
                <a:ea typeface="Calibri"/>
                <a:cs typeface="Calibri"/>
              </a:defRPr>
            </a:pPr>
            <a:r>
              <a:t>DOMAIN 1: EVIDENCE POSTURE</a:t>
            </a:r>
          </a:p>
        </p:txBody>
      </p:sp>
      <p:sp>
        <p:nvSpPr>
          <p:cNvPr id="8" name="">
            <a:extLst xmlns:a="http://schemas.openxmlformats.org/drawingml/2006/main">
              <a:ext uri="{FF2B5EF4-FFF2-40B4-BE49-F238E27FC236}">
                <a16:creationId xmlns:a16="http://schemas.microsoft.com/office/drawing/2014/main" id="{A0BDCBAE-869B-4A55-A354-3861534CF457}"/>
              </a:ext>
            </a:extLst>
          </p:cNvPr>
          <p:cNvSpPr>
            <a:spLocks xmlns:a="http://schemas.openxmlformats.org/drawingml/2006/main" noGrp="1"/>
          </p:cNvSpPr>
          <p:nvPr/>
        </p:nvSpPr>
        <p:spPr>
          <a:xfrm xmlns:a="http://schemas.openxmlformats.org/drawingml/2006/main">
            <a:off x="590550" y="533400"/>
            <a:ext cx="11068050" cy="476250"/>
          </a:xfrm>
          <a:prstGeom xmlns:a="http://schemas.openxmlformats.org/drawingml/2006/main" prst="rect">
            <a:avLst/>
          </a:prstGeom>
        </p:spPr>
        <p:txBody>
          <a:bodyPr xmlns:a="http://schemas.openxmlformats.org/drawingml/2006/main" lIns="0" tIns="0" rIns="0" bIns="0" anchor="t">
            <a:normAutofit fontScale="97656"/>
          </a:bodyPr>
          <a:lstStyle xmlns:a="http://schemas.openxmlformats.org/drawingml/2006/main"/>
          <a:p xmlns:a="http://schemas.openxmlformats.org/drawingml/2006/main">
            <a:pPr algn="l">
              <a:defRPr sz="3200" b="1">
                <a:solidFill>
                  <a:srgbClr val="1B2B3C"/>
                </a:solidFill>
                <a:latin typeface="Calibri"/>
                <a:ea typeface="Calibri"/>
                <a:cs typeface="Calibri"/>
              </a:defRPr>
            </a:pPr>
            <a:r>
              <a:t>P7 · Confidence Register</a:t>
            </a:r>
          </a:p>
        </p:txBody>
      </p:sp>
      <p:sp>
        <p:nvSpPr>
          <p:cNvPr id="9" name="">
            <a:extLst xmlns:a="http://schemas.openxmlformats.org/drawingml/2006/main">
              <a:ext uri="{FF2B5EF4-FFF2-40B4-BE49-F238E27FC236}">
                <a16:creationId xmlns:a16="http://schemas.microsoft.com/office/drawing/2014/main" id="{3930779C-A136-4CC4-8925-A9D7F176B5A6}"/>
              </a:ext>
            </a:extLst>
          </p:cNvPr>
          <p:cNvSpPr>
            <a:spLocks xmlns:a="http://schemas.openxmlformats.org/drawingml/2006/main" noGrp="1"/>
          </p:cNvSpPr>
          <p:nvPr/>
        </p:nvSpPr>
        <p:spPr>
          <a:xfrm xmlns:a="http://schemas.openxmlformats.org/drawingml/2006/main">
            <a:off x="590550" y="1238250"/>
            <a:ext cx="200977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0A6639D-B637-40F9-9236-3088C347121F}"/>
              </a:ext>
            </a:extLst>
          </p:cNvPr>
          <p:cNvSpPr>
            <a:spLocks xmlns:a="http://schemas.openxmlformats.org/drawingml/2006/main" noGrp="1"/>
          </p:cNvSpPr>
          <p:nvPr/>
        </p:nvSpPr>
        <p:spPr>
          <a:xfrm xmlns:a="http://schemas.openxmlformats.org/drawingml/2006/main">
            <a:off x="590550" y="135255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WHEN TO USE</a:t>
            </a:r>
          </a:p>
        </p:txBody>
      </p:sp>
      <p:sp>
        <p:nvSpPr>
          <p:cNvPr id="11" name="">
            <a:extLst xmlns:a="http://schemas.openxmlformats.org/drawingml/2006/main">
              <a:ext uri="{FF2B5EF4-FFF2-40B4-BE49-F238E27FC236}">
                <a16:creationId xmlns:a16="http://schemas.microsoft.com/office/drawing/2014/main" id="{70247A76-AD1C-4C60-A3A6-864D55C0B23A}"/>
              </a:ext>
            </a:extLst>
          </p:cNvPr>
          <p:cNvSpPr>
            <a:spLocks xmlns:a="http://schemas.openxmlformats.org/drawingml/2006/main" noGrp="1"/>
          </p:cNvSpPr>
          <p:nvPr/>
        </p:nvSpPr>
        <p:spPr>
          <a:xfrm xmlns:a="http://schemas.openxmlformats.org/drawingml/2006/main">
            <a:off x="590550" y="15716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8793BB-50E6-4BB9-ABF4-53F73C95E218}"/>
              </a:ext>
            </a:extLst>
          </p:cNvPr>
          <p:cNvSpPr>
            <a:spLocks xmlns:a="http://schemas.openxmlformats.org/drawingml/2006/main" noGrp="1"/>
          </p:cNvSpPr>
          <p:nvPr/>
        </p:nvSpPr>
        <p:spPr>
          <a:xfrm xmlns:a="http://schemas.openxmlformats.org/drawingml/2006/main">
            <a:off x="590550" y="16478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Many claims of uneven quality must be prioritised for diligence</a:t>
            </a:r>
          </a:p>
        </p:txBody>
      </p:sp>
      <p:sp>
        <p:nvSpPr>
          <p:cNvPr id="13" name="">
            <a:extLst xmlns:a="http://schemas.openxmlformats.org/drawingml/2006/main">
              <a:ext uri="{FF2B5EF4-FFF2-40B4-BE49-F238E27FC236}">
                <a16:creationId xmlns:a16="http://schemas.microsoft.com/office/drawing/2014/main" id="{0B86F64B-D943-4D2E-BF93-0B49B43457A9}"/>
              </a:ext>
            </a:extLst>
          </p:cNvPr>
          <p:cNvSpPr>
            <a:spLocks xmlns:a="http://schemas.openxmlformats.org/drawingml/2006/main" noGrp="1"/>
          </p:cNvSpPr>
          <p:nvPr/>
        </p:nvSpPr>
        <p:spPr>
          <a:xfrm xmlns:a="http://schemas.openxmlformats.org/drawingml/2006/main">
            <a:off x="590550" y="185737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The team needs to know what to purge from client-facing material</a:t>
            </a:r>
          </a:p>
        </p:txBody>
      </p:sp>
      <p:sp>
        <p:nvSpPr>
          <p:cNvPr id="14" name="">
            <a:extLst xmlns:a="http://schemas.openxmlformats.org/drawingml/2006/main">
              <a:ext uri="{FF2B5EF4-FFF2-40B4-BE49-F238E27FC236}">
                <a16:creationId xmlns:a16="http://schemas.microsoft.com/office/drawing/2014/main" id="{81DCFE98-6100-4323-998B-5D597ED647DD}"/>
              </a:ext>
            </a:extLst>
          </p:cNvPr>
          <p:cNvSpPr>
            <a:spLocks xmlns:a="http://schemas.openxmlformats.org/drawingml/2006/main" noGrp="1"/>
          </p:cNvSpPr>
          <p:nvPr/>
        </p:nvSpPr>
        <p:spPr>
          <a:xfrm xmlns:a="http://schemas.openxmlformats.org/drawingml/2006/main">
            <a:off x="590550" y="20669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Before a board review or an external pitch</a:t>
            </a:r>
          </a:p>
        </p:txBody>
      </p:sp>
      <p:sp>
        <p:nvSpPr>
          <p:cNvPr id="15" name="">
            <a:extLst xmlns:a="http://schemas.openxmlformats.org/drawingml/2006/main">
              <a:ext uri="{FF2B5EF4-FFF2-40B4-BE49-F238E27FC236}">
                <a16:creationId xmlns:a16="http://schemas.microsoft.com/office/drawing/2014/main" id="{AC4DDA64-07C7-4687-9D30-21EFDFEABA1F}"/>
              </a:ext>
            </a:extLst>
          </p:cNvPr>
          <p:cNvSpPr>
            <a:spLocks xmlns:a="http://schemas.openxmlformats.org/drawingml/2006/main" noGrp="1"/>
          </p:cNvSpPr>
          <p:nvPr/>
        </p:nvSpPr>
        <p:spPr>
          <a:xfrm xmlns:a="http://schemas.openxmlformats.org/drawingml/2006/main">
            <a:off x="590550" y="2743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WORKFLOW</a:t>
            </a:r>
          </a:p>
        </p:txBody>
      </p:sp>
      <p:sp>
        <p:nvSpPr>
          <p:cNvPr id="16" name="">
            <a:extLst xmlns:a="http://schemas.openxmlformats.org/drawingml/2006/main">
              <a:ext uri="{FF2B5EF4-FFF2-40B4-BE49-F238E27FC236}">
                <a16:creationId xmlns:a16="http://schemas.microsoft.com/office/drawing/2014/main" id="{FE99DDF0-0651-4244-8C2A-14E7DDCF0511}"/>
              </a:ext>
            </a:extLst>
          </p:cNvPr>
          <p:cNvSpPr>
            <a:spLocks xmlns:a="http://schemas.openxmlformats.org/drawingml/2006/main" noGrp="1"/>
          </p:cNvSpPr>
          <p:nvPr/>
        </p:nvSpPr>
        <p:spPr>
          <a:xfrm xmlns:a="http://schemas.openxmlformats.org/drawingml/2006/main">
            <a:off x="590550" y="29432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FA03ED5-C7FB-44E5-B1B5-1A534AECF9DF}"/>
              </a:ext>
            </a:extLst>
          </p:cNvPr>
          <p:cNvSpPr>
            <a:spLocks xmlns:a="http://schemas.openxmlformats.org/drawingml/2006/main" noGrp="1"/>
          </p:cNvSpPr>
          <p:nvPr/>
        </p:nvSpPr>
        <p:spPr>
          <a:xfrm xmlns:a="http://schemas.openxmlformats.org/drawingml/2006/main">
            <a:off x="590550" y="30194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097653-5643-49AD-96AC-48F1E1CB121E}"/>
              </a:ext>
            </a:extLst>
          </p:cNvPr>
          <p:cNvSpPr>
            <a:spLocks xmlns:a="http://schemas.openxmlformats.org/drawingml/2006/main" noGrp="1"/>
          </p:cNvSpPr>
          <p:nvPr/>
        </p:nvSpPr>
        <p:spPr>
          <a:xfrm xmlns:a="http://schemas.openxmlformats.org/drawingml/2006/main">
            <a:off x="590550" y="30575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1</a:t>
            </a:r>
          </a:p>
        </p:txBody>
      </p:sp>
      <p:sp>
        <p:nvSpPr>
          <p:cNvPr id="19" name="">
            <a:extLst xmlns:a="http://schemas.openxmlformats.org/drawingml/2006/main">
              <a:ext uri="{FF2B5EF4-FFF2-40B4-BE49-F238E27FC236}">
                <a16:creationId xmlns:a16="http://schemas.microsoft.com/office/drawing/2014/main" id="{3A62ED0E-13A2-4E2F-8B0F-19BB254F5E1F}"/>
              </a:ext>
            </a:extLst>
          </p:cNvPr>
          <p:cNvSpPr>
            <a:spLocks xmlns:a="http://schemas.openxmlformats.org/drawingml/2006/main" noGrp="1"/>
          </p:cNvSpPr>
          <p:nvPr/>
        </p:nvSpPr>
        <p:spPr>
          <a:xfrm xmlns:a="http://schemas.openxmlformats.org/drawingml/2006/main">
            <a:off x="914400" y="30289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List the load-bearing claims behind the plan</a:t>
            </a:r>
          </a:p>
        </p:txBody>
      </p:sp>
      <p:sp>
        <p:nvSpPr>
          <p:cNvPr id="20" name="">
            <a:extLst xmlns:a="http://schemas.openxmlformats.org/drawingml/2006/main">
              <a:ext uri="{FF2B5EF4-FFF2-40B4-BE49-F238E27FC236}">
                <a16:creationId xmlns:a16="http://schemas.microsoft.com/office/drawing/2014/main" id="{5674A345-42C6-444B-9FB1-9D7BCBB75BFC}"/>
              </a:ext>
            </a:extLst>
          </p:cNvPr>
          <p:cNvSpPr>
            <a:spLocks xmlns:a="http://schemas.openxmlformats.org/drawingml/2006/main" noGrp="1"/>
          </p:cNvSpPr>
          <p:nvPr/>
        </p:nvSpPr>
        <p:spPr>
          <a:xfrm xmlns:a="http://schemas.openxmlformats.org/drawingml/2006/main">
            <a:off x="914400" y="349567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2C03E30-4A68-492C-8317-C36C3894D0FE}"/>
              </a:ext>
            </a:extLst>
          </p:cNvPr>
          <p:cNvSpPr>
            <a:spLocks xmlns:a="http://schemas.openxmlformats.org/drawingml/2006/main" noGrp="1"/>
          </p:cNvSpPr>
          <p:nvPr/>
        </p:nvSpPr>
        <p:spPr>
          <a:xfrm xmlns:a="http://schemas.openxmlformats.org/drawingml/2006/main">
            <a:off x="590550" y="360997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B376DCB-E129-430F-9F98-6B4424DE0FEA}"/>
              </a:ext>
            </a:extLst>
          </p:cNvPr>
          <p:cNvSpPr>
            <a:spLocks xmlns:a="http://schemas.openxmlformats.org/drawingml/2006/main" noGrp="1"/>
          </p:cNvSpPr>
          <p:nvPr/>
        </p:nvSpPr>
        <p:spPr>
          <a:xfrm xmlns:a="http://schemas.openxmlformats.org/drawingml/2006/main">
            <a:off x="590550" y="364807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2</a:t>
            </a:r>
          </a:p>
        </p:txBody>
      </p:sp>
      <p:sp>
        <p:nvSpPr>
          <p:cNvPr id="23" name="">
            <a:extLst xmlns:a="http://schemas.openxmlformats.org/drawingml/2006/main">
              <a:ext uri="{FF2B5EF4-FFF2-40B4-BE49-F238E27FC236}">
                <a16:creationId xmlns:a16="http://schemas.microsoft.com/office/drawing/2014/main" id="{35CFD1D1-F057-4DD7-8151-8EC059642A24}"/>
              </a:ext>
            </a:extLst>
          </p:cNvPr>
          <p:cNvSpPr>
            <a:spLocks xmlns:a="http://schemas.openxmlformats.org/drawingml/2006/main" noGrp="1"/>
          </p:cNvSpPr>
          <p:nvPr/>
        </p:nvSpPr>
        <p:spPr>
          <a:xfrm xmlns:a="http://schemas.openxmlformats.org/drawingml/2006/main">
            <a:off x="914400" y="361950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Score each by importance and evidence strength on the same 1–3 scale</a:t>
            </a:r>
          </a:p>
        </p:txBody>
      </p:sp>
      <p:sp>
        <p:nvSpPr>
          <p:cNvPr id="24" name="">
            <a:extLst xmlns:a="http://schemas.openxmlformats.org/drawingml/2006/main">
              <a:ext uri="{FF2B5EF4-FFF2-40B4-BE49-F238E27FC236}">
                <a16:creationId xmlns:a16="http://schemas.microsoft.com/office/drawing/2014/main" id="{1E17C808-F73C-4891-A9B4-0F25B8D72D5C}"/>
              </a:ext>
            </a:extLst>
          </p:cNvPr>
          <p:cNvSpPr>
            <a:spLocks xmlns:a="http://schemas.openxmlformats.org/drawingml/2006/main" noGrp="1"/>
          </p:cNvSpPr>
          <p:nvPr/>
        </p:nvSpPr>
        <p:spPr>
          <a:xfrm xmlns:a="http://schemas.openxmlformats.org/drawingml/2006/main">
            <a:off x="914400" y="408622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2811804-1F91-4557-B38E-864FB9B17CED}"/>
              </a:ext>
            </a:extLst>
          </p:cNvPr>
          <p:cNvSpPr>
            <a:spLocks xmlns:a="http://schemas.openxmlformats.org/drawingml/2006/main" noGrp="1"/>
          </p:cNvSpPr>
          <p:nvPr/>
        </p:nvSpPr>
        <p:spPr>
          <a:xfrm xmlns:a="http://schemas.openxmlformats.org/drawingml/2006/main">
            <a:off x="590550" y="42005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7E1B2E0-5CE0-4C39-B35E-6B8C103B8C5F}"/>
              </a:ext>
            </a:extLst>
          </p:cNvPr>
          <p:cNvSpPr>
            <a:spLocks xmlns:a="http://schemas.openxmlformats.org/drawingml/2006/main" noGrp="1"/>
          </p:cNvSpPr>
          <p:nvPr/>
        </p:nvSpPr>
        <p:spPr>
          <a:xfrm xmlns:a="http://schemas.openxmlformats.org/drawingml/2006/main">
            <a:off x="590550" y="42386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3</a:t>
            </a:r>
          </a:p>
        </p:txBody>
      </p:sp>
      <p:sp>
        <p:nvSpPr>
          <p:cNvPr id="27" name="">
            <a:extLst xmlns:a="http://schemas.openxmlformats.org/drawingml/2006/main">
              <a:ext uri="{FF2B5EF4-FFF2-40B4-BE49-F238E27FC236}">
                <a16:creationId xmlns:a16="http://schemas.microsoft.com/office/drawing/2014/main" id="{927F8241-9D9D-4EC8-BA53-1EC7A3C0E271}"/>
              </a:ext>
            </a:extLst>
          </p:cNvPr>
          <p:cNvSpPr>
            <a:spLocks xmlns:a="http://schemas.openxmlformats.org/drawingml/2006/main" noGrp="1"/>
          </p:cNvSpPr>
          <p:nvPr/>
        </p:nvSpPr>
        <p:spPr>
          <a:xfrm xmlns:a="http://schemas.openxmlformats.org/drawingml/2006/main">
            <a:off x="914400" y="42100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Purge high-importance, low-evidence claims and name the test</a:t>
            </a:r>
          </a:p>
        </p:txBody>
      </p:sp>
      <p:sp>
        <p:nvSpPr>
          <p:cNvPr id="28" name="">
            <a:extLst xmlns:a="http://schemas.openxmlformats.org/drawingml/2006/main">
              <a:ext uri="{FF2B5EF4-FFF2-40B4-BE49-F238E27FC236}">
                <a16:creationId xmlns:a16="http://schemas.microsoft.com/office/drawing/2014/main" id="{699ACDA9-846C-4122-A0C0-9C5F9E54D221}"/>
              </a:ext>
            </a:extLst>
          </p:cNvPr>
          <p:cNvSpPr>
            <a:spLocks xmlns:a="http://schemas.openxmlformats.org/drawingml/2006/main" noGrp="1"/>
          </p:cNvSpPr>
          <p:nvPr/>
        </p:nvSpPr>
        <p:spPr>
          <a:xfrm xmlns:a="http://schemas.openxmlformats.org/drawingml/2006/main">
            <a:off x="5581650" y="1352550"/>
            <a:ext cx="6219825" cy="24193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2F6D40D-43B7-4A38-B16B-C5D310388915}"/>
              </a:ext>
            </a:extLst>
          </p:cNvPr>
          <p:cNvSpPr>
            <a:spLocks xmlns:a="http://schemas.openxmlformats.org/drawingml/2006/main" noGrp="1"/>
          </p:cNvSpPr>
          <p:nvPr/>
        </p:nvSpPr>
        <p:spPr>
          <a:xfrm xmlns:a="http://schemas.openxmlformats.org/drawingml/2006/main">
            <a:off x="5762625" y="1447800"/>
            <a:ext cx="5848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FFB800"/>
                </a:solidFill>
                <a:latin typeface="Calibri"/>
                <a:ea typeface="Calibri"/>
                <a:cs typeface="Calibri"/>
              </a:defRPr>
            </a:pPr>
            <a:r>
              <a:t>KEY PROMPT  →  TELL CLAUDE:</a:t>
            </a:r>
          </a:p>
        </p:txBody>
      </p:sp>
      <p:sp>
        <p:nvSpPr>
          <p:cNvPr id="30" name="">
            <a:extLst xmlns:a="http://schemas.openxmlformats.org/drawingml/2006/main">
              <a:ext uri="{FF2B5EF4-FFF2-40B4-BE49-F238E27FC236}">
                <a16:creationId xmlns:a16="http://schemas.microsoft.com/office/drawing/2014/main" id="{C43356E7-34EF-4D85-8CEA-CFC092713664}"/>
              </a:ext>
            </a:extLst>
          </p:cNvPr>
          <p:cNvSpPr>
            <a:spLocks xmlns:a="http://schemas.openxmlformats.org/drawingml/2006/main" noGrp="1"/>
          </p:cNvSpPr>
          <p:nvPr/>
        </p:nvSpPr>
        <p:spPr>
          <a:xfrm xmlns:a="http://schemas.openxmlformats.org/drawingml/2006/main">
            <a:off x="5762625" y="1733550"/>
            <a:ext cx="584835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FFFFFF"/>
                </a:solidFill>
                <a:latin typeface="Calibri"/>
                <a:ea typeface="Calibri"/>
                <a:cs typeface="Calibri"/>
              </a:defRPr>
            </a:pPr>
            <a:r>
              <a:t>"Register the load-bearing claims behind [plan]. Score each on importance 1–3 and evidence strength 1–3, using the same scale throughout. Identify which are load-bearing — high importance, low evidence. Convert those into a purge list and a test plan with owners. End with the rule for what may appear in client-facing material."</a:t>
            </a:r>
          </a:p>
        </p:txBody>
      </p:sp>
      <p:sp>
        <p:nvSpPr>
          <p:cNvPr id="31" name="">
            <a:extLst xmlns:a="http://schemas.openxmlformats.org/drawingml/2006/main">
              <a:ext uri="{FF2B5EF4-FFF2-40B4-BE49-F238E27FC236}">
                <a16:creationId xmlns:a16="http://schemas.microsoft.com/office/drawing/2014/main" id="{9D68F788-51ED-475D-B4B9-A2C3353DC4C7}"/>
              </a:ext>
            </a:extLst>
          </p:cNvPr>
          <p:cNvSpPr>
            <a:spLocks xmlns:a="http://schemas.openxmlformats.org/drawingml/2006/main" noGrp="1"/>
          </p:cNvSpPr>
          <p:nvPr/>
        </p:nvSpPr>
        <p:spPr>
          <a:xfrm xmlns:a="http://schemas.openxmlformats.org/drawingml/2006/main">
            <a:off x="5581650" y="3886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OUTPUT INCLUDES</a:t>
            </a:r>
          </a:p>
        </p:txBody>
      </p:sp>
      <p:sp>
        <p:nvSpPr>
          <p:cNvPr id="32" name="">
            <a:extLst xmlns:a="http://schemas.openxmlformats.org/drawingml/2006/main">
              <a:ext uri="{FF2B5EF4-FFF2-40B4-BE49-F238E27FC236}">
                <a16:creationId xmlns:a16="http://schemas.microsoft.com/office/drawing/2014/main" id="{9B4EBAA3-A2B2-4651-BC70-16FF0443F7C3}"/>
              </a:ext>
            </a:extLst>
          </p:cNvPr>
          <p:cNvSpPr>
            <a:spLocks xmlns:a="http://schemas.openxmlformats.org/drawingml/2006/main" noGrp="1"/>
          </p:cNvSpPr>
          <p:nvPr/>
        </p:nvSpPr>
        <p:spPr>
          <a:xfrm xmlns:a="http://schemas.openxmlformats.org/drawingml/2006/main">
            <a:off x="5581650" y="4086225"/>
            <a:ext cx="621982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54BFB1B-F4D9-47FB-8D41-534AE7E25944}"/>
              </a:ext>
            </a:extLst>
          </p:cNvPr>
          <p:cNvSpPr>
            <a:spLocks xmlns:a="http://schemas.openxmlformats.org/drawingml/2006/main" noGrp="1"/>
          </p:cNvSpPr>
          <p:nvPr/>
        </p:nvSpPr>
        <p:spPr>
          <a:xfrm xmlns:a="http://schemas.openxmlformats.org/drawingml/2006/main">
            <a:off x="55816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F6A44F7-A23D-4391-ADD7-7350C38CCB0C}"/>
              </a:ext>
            </a:extLst>
          </p:cNvPr>
          <p:cNvSpPr>
            <a:spLocks xmlns:a="http://schemas.openxmlformats.org/drawingml/2006/main" noGrp="1"/>
          </p:cNvSpPr>
          <p:nvPr/>
        </p:nvSpPr>
        <p:spPr>
          <a:xfrm xmlns:a="http://schemas.openxmlformats.org/drawingml/2006/main">
            <a:off x="57150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Claims[] scored importance × evidence</a:t>
            </a:r>
          </a:p>
        </p:txBody>
      </p:sp>
      <p:sp>
        <p:nvSpPr>
          <p:cNvPr id="35" name="">
            <a:extLst xmlns:a="http://schemas.openxmlformats.org/drawingml/2006/main">
              <a:ext uri="{FF2B5EF4-FFF2-40B4-BE49-F238E27FC236}">
                <a16:creationId xmlns:a16="http://schemas.microsoft.com/office/drawing/2014/main" id="{5DC8DA5A-785A-4A45-9B47-49524B701DB4}"/>
              </a:ext>
            </a:extLst>
          </p:cNvPr>
          <p:cNvSpPr>
            <a:spLocks xmlns:a="http://schemas.openxmlformats.org/drawingml/2006/main" noGrp="1"/>
          </p:cNvSpPr>
          <p:nvPr/>
        </p:nvSpPr>
        <p:spPr>
          <a:xfrm xmlns:a="http://schemas.openxmlformats.org/drawingml/2006/main">
            <a:off x="55816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07D7A88-4F3E-4908-9C4D-007001499E3B}"/>
              </a:ext>
            </a:extLst>
          </p:cNvPr>
          <p:cNvSpPr>
            <a:spLocks xmlns:a="http://schemas.openxmlformats.org/drawingml/2006/main" noGrp="1"/>
          </p:cNvSpPr>
          <p:nvPr/>
        </p:nvSpPr>
        <p:spPr>
          <a:xfrm xmlns:a="http://schemas.openxmlformats.org/drawingml/2006/main">
            <a:off x="57150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Confidence band per claim</a:t>
            </a:r>
          </a:p>
        </p:txBody>
      </p:sp>
      <p:sp>
        <p:nvSpPr>
          <p:cNvPr id="37" name="">
            <a:extLst xmlns:a="http://schemas.openxmlformats.org/drawingml/2006/main">
              <a:ext uri="{FF2B5EF4-FFF2-40B4-BE49-F238E27FC236}">
                <a16:creationId xmlns:a16="http://schemas.microsoft.com/office/drawing/2014/main" id="{82924382-2BB8-4CF7-8B3F-4A42BC68BC9F}"/>
              </a:ext>
            </a:extLst>
          </p:cNvPr>
          <p:cNvSpPr>
            <a:spLocks xmlns:a="http://schemas.openxmlformats.org/drawingml/2006/main" noGrp="1"/>
          </p:cNvSpPr>
          <p:nvPr/>
        </p:nvSpPr>
        <p:spPr>
          <a:xfrm xmlns:a="http://schemas.openxmlformats.org/drawingml/2006/main">
            <a:off x="55816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CFD1D89-B3A2-442A-B94D-C47371D65BE5}"/>
              </a:ext>
            </a:extLst>
          </p:cNvPr>
          <p:cNvSpPr>
            <a:spLocks xmlns:a="http://schemas.openxmlformats.org/drawingml/2006/main" noGrp="1"/>
          </p:cNvSpPr>
          <p:nvPr/>
        </p:nvSpPr>
        <p:spPr>
          <a:xfrm xmlns:a="http://schemas.openxmlformats.org/drawingml/2006/main">
            <a:off x="57150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Load-bearing claims flagged</a:t>
            </a:r>
          </a:p>
        </p:txBody>
      </p:sp>
      <p:sp>
        <p:nvSpPr>
          <p:cNvPr id="39" name="">
            <a:extLst xmlns:a="http://schemas.openxmlformats.org/drawingml/2006/main">
              <a:ext uri="{FF2B5EF4-FFF2-40B4-BE49-F238E27FC236}">
                <a16:creationId xmlns:a16="http://schemas.microsoft.com/office/drawing/2014/main" id="{A8CE0AEC-DDC2-4182-A892-B23A6267E6EC}"/>
              </a:ext>
            </a:extLst>
          </p:cNvPr>
          <p:cNvSpPr>
            <a:spLocks xmlns:a="http://schemas.openxmlformats.org/drawingml/2006/main" noGrp="1"/>
          </p:cNvSpPr>
          <p:nvPr/>
        </p:nvSpPr>
        <p:spPr>
          <a:xfrm xmlns:a="http://schemas.openxmlformats.org/drawingml/2006/main">
            <a:off x="87820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A82EFC2-649B-490A-841D-0D10C30D77A6}"/>
              </a:ext>
            </a:extLst>
          </p:cNvPr>
          <p:cNvSpPr>
            <a:spLocks xmlns:a="http://schemas.openxmlformats.org/drawingml/2006/main" noGrp="1"/>
          </p:cNvSpPr>
          <p:nvPr/>
        </p:nvSpPr>
        <p:spPr>
          <a:xfrm xmlns:a="http://schemas.openxmlformats.org/drawingml/2006/main">
            <a:off x="89154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Purge list for external material</a:t>
            </a:r>
          </a:p>
        </p:txBody>
      </p:sp>
      <p:sp>
        <p:nvSpPr>
          <p:cNvPr id="41" name="">
            <a:extLst xmlns:a="http://schemas.openxmlformats.org/drawingml/2006/main">
              <a:ext uri="{FF2B5EF4-FFF2-40B4-BE49-F238E27FC236}">
                <a16:creationId xmlns:a16="http://schemas.microsoft.com/office/drawing/2014/main" id="{3621A84B-66B1-4AF8-B336-6A0D35DF9695}"/>
              </a:ext>
            </a:extLst>
          </p:cNvPr>
          <p:cNvSpPr>
            <a:spLocks xmlns:a="http://schemas.openxmlformats.org/drawingml/2006/main" noGrp="1"/>
          </p:cNvSpPr>
          <p:nvPr/>
        </p:nvSpPr>
        <p:spPr>
          <a:xfrm xmlns:a="http://schemas.openxmlformats.org/drawingml/2006/main">
            <a:off x="87820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E08E1F3-A60B-4BF9-BDC4-2E7C86252EDF}"/>
              </a:ext>
            </a:extLst>
          </p:cNvPr>
          <p:cNvSpPr>
            <a:spLocks xmlns:a="http://schemas.openxmlformats.org/drawingml/2006/main" noGrp="1"/>
          </p:cNvSpPr>
          <p:nvPr/>
        </p:nvSpPr>
        <p:spPr>
          <a:xfrm xmlns:a="http://schemas.openxmlformats.org/drawingml/2006/main">
            <a:off x="89154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Publication rule</a:t>
            </a:r>
          </a:p>
        </p:txBody>
      </p:sp>
      <p:sp>
        <p:nvSpPr>
          <p:cNvPr id="43" name="">
            <a:extLst xmlns:a="http://schemas.openxmlformats.org/drawingml/2006/main">
              <a:ext uri="{FF2B5EF4-FFF2-40B4-BE49-F238E27FC236}">
                <a16:creationId xmlns:a16="http://schemas.microsoft.com/office/drawing/2014/main" id="{2E905188-D40B-4AE2-840A-437B7A27F865}"/>
              </a:ext>
            </a:extLst>
          </p:cNvPr>
          <p:cNvSpPr>
            <a:spLocks xmlns:a="http://schemas.openxmlformats.org/drawingml/2006/main" noGrp="1"/>
          </p:cNvSpPr>
          <p:nvPr/>
        </p:nvSpPr>
        <p:spPr>
          <a:xfrm xmlns:a="http://schemas.openxmlformats.org/drawingml/2006/main">
            <a:off x="87820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4FB7BB5-EE15-4DC0-8FE7-3298C9F20885}"/>
              </a:ext>
            </a:extLst>
          </p:cNvPr>
          <p:cNvSpPr>
            <a:spLocks xmlns:a="http://schemas.openxmlformats.org/drawingml/2006/main" noGrp="1"/>
          </p:cNvSpPr>
          <p:nvPr/>
        </p:nvSpPr>
        <p:spPr>
          <a:xfrm xmlns:a="http://schemas.openxmlformats.org/drawingml/2006/main">
            <a:off x="89154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EXHIBIT: scored dot register</a:t>
            </a:r>
          </a:p>
        </p:txBody>
      </p:sp>
    </p:spTree>
    <p:extLst>
      <p:ext uri="{BB962C8B-B14F-4D97-AF65-F5344CB8AC3E}">
        <p14:creationId xmlns:p14="http://schemas.microsoft.com/office/powerpoint/2010/main" val="7427777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57DE729D-3A1F-4D9E-96EF-4747DA1A56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549997-9539-4024-AADD-D6D8B886F5E8}"/>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884743-4509-4335-BA9A-B9C8BE3E89BC}"/>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3FF439-F23D-42B8-9975-62D07B82D4D4}"/>
              </a:ext>
            </a:extLst>
          </p:cNvPr>
          <p:cNvSpPr>
            <a:spLocks xmlns:a="http://schemas.openxmlformats.org/drawingml/2006/main" noGrp="1"/>
          </p:cNvSpPr>
          <p:nvPr/>
        </p:nvSpPr>
        <p:spPr>
          <a:xfrm xmlns:a="http://schemas.openxmlformats.org/drawingml/2006/main">
            <a:off x="552450" y="6477000"/>
            <a:ext cx="822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5B6B7C"/>
                </a:solidFill>
                <a:latin typeface="Calibri"/>
                <a:ea typeface="Calibri"/>
                <a:cs typeface="Calibri"/>
              </a:defRPr>
            </a:pPr>
            <a:r>
              <a:t>DeepGrid India ADAS Dossier  |  Adapted Prompt Templates</a:t>
            </a:r>
          </a:p>
        </p:txBody>
      </p:sp>
      <p:sp>
        <p:nvSpPr>
          <p:cNvPr id="5" name="">
            <a:extLst xmlns:a="http://schemas.openxmlformats.org/drawingml/2006/main">
              <a:ext uri="{FF2B5EF4-FFF2-40B4-BE49-F238E27FC236}">
                <a16:creationId xmlns:a16="http://schemas.microsoft.com/office/drawing/2014/main" id="{1FEC127A-CF68-44EA-8C8D-1491C3F43F8F}"/>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1B2B3C"/>
                </a:solidFill>
                <a:latin typeface="Calibri"/>
                <a:ea typeface="Calibri"/>
                <a:cs typeface="Calibri"/>
              </a:defRPr>
            </a:pPr>
            <a:r>
              <a:t>5 / 9</a:t>
            </a:r>
          </a:p>
        </p:txBody>
      </p:sp>
      <p:sp>
        <p:nvSpPr>
          <p:cNvPr id="6" name="">
            <a:extLst xmlns:a="http://schemas.openxmlformats.org/drawingml/2006/main">
              <a:ext uri="{FF2B5EF4-FFF2-40B4-BE49-F238E27FC236}">
                <a16:creationId xmlns:a16="http://schemas.microsoft.com/office/drawing/2014/main" id="{A2DD8290-BEF4-4EE3-A6C5-6CEECF9EB748}"/>
              </a:ext>
            </a:extLst>
          </p:cNvPr>
          <p:cNvSpPr>
            <a:spLocks xmlns:a="http://schemas.openxmlformats.org/drawingml/2006/main" noGrp="1"/>
          </p:cNvSpPr>
          <p:nvPr/>
        </p:nvSpPr>
        <p:spPr>
          <a:xfrm xmlns:a="http://schemas.openxmlformats.org/drawingml/2006/main">
            <a:off x="590550" y="228600"/>
            <a:ext cx="421005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F56CB0-085F-4EE7-85EE-BC0D9CFC79DA}"/>
              </a:ext>
            </a:extLst>
          </p:cNvPr>
          <p:cNvSpPr>
            <a:spLocks xmlns:a="http://schemas.openxmlformats.org/drawingml/2006/main" noGrp="1"/>
          </p:cNvSpPr>
          <p:nvPr/>
        </p:nvSpPr>
        <p:spPr>
          <a:xfrm xmlns:a="http://schemas.openxmlformats.org/drawingml/2006/main">
            <a:off x="590550" y="276225"/>
            <a:ext cx="42100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0695C"/>
                </a:solidFill>
                <a:latin typeface="Calibri"/>
                <a:ea typeface="Calibri"/>
                <a:cs typeface="Calibri"/>
              </a:defRPr>
            </a:pPr>
            <a:r>
              <a:t>DOMAIN 2: COMPETITIVE STRUCTURE</a:t>
            </a:r>
          </a:p>
        </p:txBody>
      </p:sp>
      <p:sp>
        <p:nvSpPr>
          <p:cNvPr id="8" name="">
            <a:extLst xmlns:a="http://schemas.openxmlformats.org/drawingml/2006/main">
              <a:ext uri="{FF2B5EF4-FFF2-40B4-BE49-F238E27FC236}">
                <a16:creationId xmlns:a16="http://schemas.microsoft.com/office/drawing/2014/main" id="{F4329BBA-06A5-4410-9E81-EB73E3E9ED22}"/>
              </a:ext>
            </a:extLst>
          </p:cNvPr>
          <p:cNvSpPr>
            <a:spLocks xmlns:a="http://schemas.openxmlformats.org/drawingml/2006/main" noGrp="1"/>
          </p:cNvSpPr>
          <p:nvPr/>
        </p:nvSpPr>
        <p:spPr>
          <a:xfrm xmlns:a="http://schemas.openxmlformats.org/drawingml/2006/main">
            <a:off x="590550" y="533400"/>
            <a:ext cx="11068050" cy="476250"/>
          </a:xfrm>
          <a:prstGeom xmlns:a="http://schemas.openxmlformats.org/drawingml/2006/main" prst="rect">
            <a:avLst/>
          </a:prstGeom>
        </p:spPr>
        <p:txBody>
          <a:bodyPr xmlns:a="http://schemas.openxmlformats.org/drawingml/2006/main" lIns="0" tIns="0" rIns="0" bIns="0" anchor="t">
            <a:normAutofit fontScale="97656"/>
          </a:bodyPr>
          <a:lstStyle xmlns:a="http://schemas.openxmlformats.org/drawingml/2006/main"/>
          <a:p xmlns:a="http://schemas.openxmlformats.org/drawingml/2006/main">
            <a:pPr algn="l">
              <a:defRPr sz="3200" b="1">
                <a:solidFill>
                  <a:srgbClr val="1B2B3C"/>
                </a:solidFill>
                <a:latin typeface="Calibri"/>
                <a:ea typeface="Calibri"/>
                <a:cs typeface="Calibri"/>
              </a:defRPr>
            </a:pPr>
            <a:r>
              <a:t>P2 · Threat × Arena Matrix</a:t>
            </a:r>
          </a:p>
        </p:txBody>
      </p:sp>
      <p:sp>
        <p:nvSpPr>
          <p:cNvPr id="9" name="">
            <a:extLst xmlns:a="http://schemas.openxmlformats.org/drawingml/2006/main">
              <a:ext uri="{FF2B5EF4-FFF2-40B4-BE49-F238E27FC236}">
                <a16:creationId xmlns:a16="http://schemas.microsoft.com/office/drawing/2014/main" id="{5E26BC6B-3208-4154-B78F-7CD676211649}"/>
              </a:ext>
            </a:extLst>
          </p:cNvPr>
          <p:cNvSpPr>
            <a:spLocks xmlns:a="http://schemas.openxmlformats.org/drawingml/2006/main" noGrp="1"/>
          </p:cNvSpPr>
          <p:nvPr/>
        </p:nvSpPr>
        <p:spPr>
          <a:xfrm xmlns:a="http://schemas.openxmlformats.org/drawingml/2006/main">
            <a:off x="590550" y="1238250"/>
            <a:ext cx="200977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6CA53F-EEBF-4233-8CF8-931342922FA9}"/>
              </a:ext>
            </a:extLst>
          </p:cNvPr>
          <p:cNvSpPr>
            <a:spLocks xmlns:a="http://schemas.openxmlformats.org/drawingml/2006/main" noGrp="1"/>
          </p:cNvSpPr>
          <p:nvPr/>
        </p:nvSpPr>
        <p:spPr>
          <a:xfrm xmlns:a="http://schemas.openxmlformats.org/drawingml/2006/main">
            <a:off x="590550" y="135255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WHEN TO USE</a:t>
            </a:r>
          </a:p>
        </p:txBody>
      </p:sp>
      <p:sp>
        <p:nvSpPr>
          <p:cNvPr id="11" name="">
            <a:extLst xmlns:a="http://schemas.openxmlformats.org/drawingml/2006/main">
              <a:ext uri="{FF2B5EF4-FFF2-40B4-BE49-F238E27FC236}">
                <a16:creationId xmlns:a16="http://schemas.microsoft.com/office/drawing/2014/main" id="{F6193FB3-638C-4E38-9037-7132D04A60CA}"/>
              </a:ext>
            </a:extLst>
          </p:cNvPr>
          <p:cNvSpPr>
            <a:spLocks xmlns:a="http://schemas.openxmlformats.org/drawingml/2006/main" noGrp="1"/>
          </p:cNvSpPr>
          <p:nvPr/>
        </p:nvSpPr>
        <p:spPr>
          <a:xfrm xmlns:a="http://schemas.openxmlformats.org/drawingml/2006/main">
            <a:off x="590550" y="15716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A15BE50-6201-4F6F-8F7E-37371058CE8D}"/>
              </a:ext>
            </a:extLst>
          </p:cNvPr>
          <p:cNvSpPr>
            <a:spLocks xmlns:a="http://schemas.openxmlformats.org/drawingml/2006/main" noGrp="1"/>
          </p:cNvSpPr>
          <p:nvPr/>
        </p:nvSpPr>
        <p:spPr>
          <a:xfrm xmlns:a="http://schemas.openxmlformats.org/drawingml/2006/main">
            <a:off x="590550" y="16478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A competitor’s power differs by who is buying</a:t>
            </a:r>
          </a:p>
        </p:txBody>
      </p:sp>
      <p:sp>
        <p:nvSpPr>
          <p:cNvPr id="13" name="">
            <a:extLst xmlns:a="http://schemas.openxmlformats.org/drawingml/2006/main">
              <a:ext uri="{FF2B5EF4-FFF2-40B4-BE49-F238E27FC236}">
                <a16:creationId xmlns:a16="http://schemas.microsoft.com/office/drawing/2014/main" id="{99F60D49-382D-436F-8612-3687E1C18290}"/>
              </a:ext>
            </a:extLst>
          </p:cNvPr>
          <p:cNvSpPr>
            <a:spLocks xmlns:a="http://schemas.openxmlformats.org/drawingml/2006/main" noGrp="1"/>
          </p:cNvSpPr>
          <p:nvPr/>
        </p:nvSpPr>
        <p:spPr>
          <a:xfrm xmlns:a="http://schemas.openxmlformats.org/drawingml/2006/main">
            <a:off x="590550" y="185737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Effort is allocated by brand rather than by arena</a:t>
            </a:r>
          </a:p>
        </p:txBody>
      </p:sp>
      <p:sp>
        <p:nvSpPr>
          <p:cNvPr id="14" name="">
            <a:extLst xmlns:a="http://schemas.openxmlformats.org/drawingml/2006/main">
              <a:ext uri="{FF2B5EF4-FFF2-40B4-BE49-F238E27FC236}">
                <a16:creationId xmlns:a16="http://schemas.microsoft.com/office/drawing/2014/main" id="{20A45BFB-570C-4C0A-AC57-682586FA9889}"/>
              </a:ext>
            </a:extLst>
          </p:cNvPr>
          <p:cNvSpPr>
            <a:spLocks xmlns:a="http://schemas.openxmlformats.org/drawingml/2006/main" noGrp="1"/>
          </p:cNvSpPr>
          <p:nvPr/>
        </p:nvSpPr>
        <p:spPr>
          <a:xfrm xmlns:a="http://schemas.openxmlformats.org/drawingml/2006/main">
            <a:off x="590550" y="20669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One threat rating is hiding where exposure actually sits</a:t>
            </a:r>
          </a:p>
        </p:txBody>
      </p:sp>
      <p:sp>
        <p:nvSpPr>
          <p:cNvPr id="15" name="">
            <a:extLst xmlns:a="http://schemas.openxmlformats.org/drawingml/2006/main">
              <a:ext uri="{FF2B5EF4-FFF2-40B4-BE49-F238E27FC236}">
                <a16:creationId xmlns:a16="http://schemas.microsoft.com/office/drawing/2014/main" id="{85D8C008-3BDA-4A04-A6E6-A2BC1BF82197}"/>
              </a:ext>
            </a:extLst>
          </p:cNvPr>
          <p:cNvSpPr>
            <a:spLocks xmlns:a="http://schemas.openxmlformats.org/drawingml/2006/main" noGrp="1"/>
          </p:cNvSpPr>
          <p:nvPr/>
        </p:nvSpPr>
        <p:spPr>
          <a:xfrm xmlns:a="http://schemas.openxmlformats.org/drawingml/2006/main">
            <a:off x="590550" y="2743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WORKFLOW</a:t>
            </a:r>
          </a:p>
        </p:txBody>
      </p:sp>
      <p:sp>
        <p:nvSpPr>
          <p:cNvPr id="16" name="">
            <a:extLst xmlns:a="http://schemas.openxmlformats.org/drawingml/2006/main">
              <a:ext uri="{FF2B5EF4-FFF2-40B4-BE49-F238E27FC236}">
                <a16:creationId xmlns:a16="http://schemas.microsoft.com/office/drawing/2014/main" id="{1654ED04-2EE0-4AFC-889E-A6B3F9FB5DA0}"/>
              </a:ext>
            </a:extLst>
          </p:cNvPr>
          <p:cNvSpPr>
            <a:spLocks xmlns:a="http://schemas.openxmlformats.org/drawingml/2006/main" noGrp="1"/>
          </p:cNvSpPr>
          <p:nvPr/>
        </p:nvSpPr>
        <p:spPr>
          <a:xfrm xmlns:a="http://schemas.openxmlformats.org/drawingml/2006/main">
            <a:off x="590550" y="29432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36FD0A8-21AA-462D-A59F-8295F51FEFAA}"/>
              </a:ext>
            </a:extLst>
          </p:cNvPr>
          <p:cNvSpPr>
            <a:spLocks xmlns:a="http://schemas.openxmlformats.org/drawingml/2006/main" noGrp="1"/>
          </p:cNvSpPr>
          <p:nvPr/>
        </p:nvSpPr>
        <p:spPr>
          <a:xfrm xmlns:a="http://schemas.openxmlformats.org/drawingml/2006/main">
            <a:off x="590550" y="30194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9C205F-3C91-4A10-905D-CE765BBE6BE9}"/>
              </a:ext>
            </a:extLst>
          </p:cNvPr>
          <p:cNvSpPr>
            <a:spLocks xmlns:a="http://schemas.openxmlformats.org/drawingml/2006/main" noGrp="1"/>
          </p:cNvSpPr>
          <p:nvPr/>
        </p:nvSpPr>
        <p:spPr>
          <a:xfrm xmlns:a="http://schemas.openxmlformats.org/drawingml/2006/main">
            <a:off x="590550" y="30575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1</a:t>
            </a:r>
          </a:p>
        </p:txBody>
      </p:sp>
      <p:sp>
        <p:nvSpPr>
          <p:cNvPr id="19" name="">
            <a:extLst xmlns:a="http://schemas.openxmlformats.org/drawingml/2006/main">
              <a:ext uri="{FF2B5EF4-FFF2-40B4-BE49-F238E27FC236}">
                <a16:creationId xmlns:a16="http://schemas.microsoft.com/office/drawing/2014/main" id="{ACB96487-87B3-4398-88A4-DF1FA7A277D2}"/>
              </a:ext>
            </a:extLst>
          </p:cNvPr>
          <p:cNvSpPr>
            <a:spLocks xmlns:a="http://schemas.openxmlformats.org/drawingml/2006/main" noGrp="1"/>
          </p:cNvSpPr>
          <p:nvPr/>
        </p:nvSpPr>
        <p:spPr>
          <a:xfrm xmlns:a="http://schemas.openxmlformats.org/drawingml/2006/main">
            <a:off x="914400" y="30289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Fix the arenas and the control point each one rewards</a:t>
            </a:r>
          </a:p>
        </p:txBody>
      </p:sp>
      <p:sp>
        <p:nvSpPr>
          <p:cNvPr id="20" name="">
            <a:extLst xmlns:a="http://schemas.openxmlformats.org/drawingml/2006/main">
              <a:ext uri="{FF2B5EF4-FFF2-40B4-BE49-F238E27FC236}">
                <a16:creationId xmlns:a16="http://schemas.microsoft.com/office/drawing/2014/main" id="{C3E1AA39-872B-471D-93CF-6554AA2B9AF8}"/>
              </a:ext>
            </a:extLst>
          </p:cNvPr>
          <p:cNvSpPr>
            <a:spLocks xmlns:a="http://schemas.openxmlformats.org/drawingml/2006/main" noGrp="1"/>
          </p:cNvSpPr>
          <p:nvPr/>
        </p:nvSpPr>
        <p:spPr>
          <a:xfrm xmlns:a="http://schemas.openxmlformats.org/drawingml/2006/main">
            <a:off x="914400" y="349567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AB4356C-FABC-4483-A9A3-2E4F628F7950}"/>
              </a:ext>
            </a:extLst>
          </p:cNvPr>
          <p:cNvSpPr>
            <a:spLocks xmlns:a="http://schemas.openxmlformats.org/drawingml/2006/main" noGrp="1"/>
          </p:cNvSpPr>
          <p:nvPr/>
        </p:nvSpPr>
        <p:spPr>
          <a:xfrm xmlns:a="http://schemas.openxmlformats.org/drawingml/2006/main">
            <a:off x="590550" y="360997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E50D654-65B7-44EF-8A00-56B2A718A571}"/>
              </a:ext>
            </a:extLst>
          </p:cNvPr>
          <p:cNvSpPr>
            <a:spLocks xmlns:a="http://schemas.openxmlformats.org/drawingml/2006/main" noGrp="1"/>
          </p:cNvSpPr>
          <p:nvPr/>
        </p:nvSpPr>
        <p:spPr>
          <a:xfrm xmlns:a="http://schemas.openxmlformats.org/drawingml/2006/main">
            <a:off x="590550" y="364807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2</a:t>
            </a:r>
          </a:p>
        </p:txBody>
      </p:sp>
      <p:sp>
        <p:nvSpPr>
          <p:cNvPr id="23" name="">
            <a:extLst xmlns:a="http://schemas.openxmlformats.org/drawingml/2006/main">
              <a:ext uri="{FF2B5EF4-FFF2-40B4-BE49-F238E27FC236}">
                <a16:creationId xmlns:a16="http://schemas.microsoft.com/office/drawing/2014/main" id="{249E84B7-EB7A-49FB-A8E8-ABA4FAD23693}"/>
              </a:ext>
            </a:extLst>
          </p:cNvPr>
          <p:cNvSpPr>
            <a:spLocks xmlns:a="http://schemas.openxmlformats.org/drawingml/2006/main" noGrp="1"/>
          </p:cNvSpPr>
          <p:nvPr/>
        </p:nvSpPr>
        <p:spPr>
          <a:xfrm xmlns:a="http://schemas.openxmlformats.org/drawingml/2006/main">
            <a:off x="914400" y="361950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Rate the competitor per arena with the single fact behind each cell</a:t>
            </a:r>
          </a:p>
        </p:txBody>
      </p:sp>
      <p:sp>
        <p:nvSpPr>
          <p:cNvPr id="24" name="">
            <a:extLst xmlns:a="http://schemas.openxmlformats.org/drawingml/2006/main">
              <a:ext uri="{FF2B5EF4-FFF2-40B4-BE49-F238E27FC236}">
                <a16:creationId xmlns:a16="http://schemas.microsoft.com/office/drawing/2014/main" id="{B21C70A4-C379-43B7-980A-DE9CB3951024}"/>
              </a:ext>
            </a:extLst>
          </p:cNvPr>
          <p:cNvSpPr>
            <a:spLocks xmlns:a="http://schemas.openxmlformats.org/drawingml/2006/main" noGrp="1"/>
          </p:cNvSpPr>
          <p:nvPr/>
        </p:nvSpPr>
        <p:spPr>
          <a:xfrm xmlns:a="http://schemas.openxmlformats.org/drawingml/2006/main">
            <a:off x="914400" y="408622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C64FE80-4EC6-4666-B966-EC3AA9BA91C9}"/>
              </a:ext>
            </a:extLst>
          </p:cNvPr>
          <p:cNvSpPr>
            <a:spLocks xmlns:a="http://schemas.openxmlformats.org/drawingml/2006/main" noGrp="1"/>
          </p:cNvSpPr>
          <p:nvPr/>
        </p:nvSpPr>
        <p:spPr>
          <a:xfrm xmlns:a="http://schemas.openxmlformats.org/drawingml/2006/main">
            <a:off x="590550" y="42005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2D3A7FC-FDDC-471C-B6F6-17B2B17D3870}"/>
              </a:ext>
            </a:extLst>
          </p:cNvPr>
          <p:cNvSpPr>
            <a:spLocks xmlns:a="http://schemas.openxmlformats.org/drawingml/2006/main" noGrp="1"/>
          </p:cNvSpPr>
          <p:nvPr/>
        </p:nvSpPr>
        <p:spPr>
          <a:xfrm xmlns:a="http://schemas.openxmlformats.org/drawingml/2006/main">
            <a:off x="590550" y="42386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3</a:t>
            </a:r>
          </a:p>
        </p:txBody>
      </p:sp>
      <p:sp>
        <p:nvSpPr>
          <p:cNvPr id="27" name="">
            <a:extLst xmlns:a="http://schemas.openxmlformats.org/drawingml/2006/main">
              <a:ext uri="{FF2B5EF4-FFF2-40B4-BE49-F238E27FC236}">
                <a16:creationId xmlns:a16="http://schemas.microsoft.com/office/drawing/2014/main" id="{BCCABE8C-E536-45D6-9A6D-2A955D03AF8D}"/>
              </a:ext>
            </a:extLst>
          </p:cNvPr>
          <p:cNvSpPr>
            <a:spLocks xmlns:a="http://schemas.openxmlformats.org/drawingml/2006/main" noGrp="1"/>
          </p:cNvSpPr>
          <p:nvPr/>
        </p:nvSpPr>
        <p:spPr>
          <a:xfrm xmlns:a="http://schemas.openxmlformats.org/drawingml/2006/main">
            <a:off x="914400" y="42100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Name the arena to defend, to concede, and the inversion signal</a:t>
            </a:r>
          </a:p>
        </p:txBody>
      </p:sp>
      <p:sp>
        <p:nvSpPr>
          <p:cNvPr id="28" name="">
            <a:extLst xmlns:a="http://schemas.openxmlformats.org/drawingml/2006/main">
              <a:ext uri="{FF2B5EF4-FFF2-40B4-BE49-F238E27FC236}">
                <a16:creationId xmlns:a16="http://schemas.microsoft.com/office/drawing/2014/main" id="{084AA7BA-A547-4FC0-AE98-21AF4D324DD9}"/>
              </a:ext>
            </a:extLst>
          </p:cNvPr>
          <p:cNvSpPr>
            <a:spLocks xmlns:a="http://schemas.openxmlformats.org/drawingml/2006/main" noGrp="1"/>
          </p:cNvSpPr>
          <p:nvPr/>
        </p:nvSpPr>
        <p:spPr>
          <a:xfrm xmlns:a="http://schemas.openxmlformats.org/drawingml/2006/main">
            <a:off x="5581650" y="1352550"/>
            <a:ext cx="6219825" cy="24193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74327D1-6514-4673-BB6F-998744C37307}"/>
              </a:ext>
            </a:extLst>
          </p:cNvPr>
          <p:cNvSpPr>
            <a:spLocks xmlns:a="http://schemas.openxmlformats.org/drawingml/2006/main" noGrp="1"/>
          </p:cNvSpPr>
          <p:nvPr/>
        </p:nvSpPr>
        <p:spPr>
          <a:xfrm xmlns:a="http://schemas.openxmlformats.org/drawingml/2006/main">
            <a:off x="5762625" y="1447800"/>
            <a:ext cx="5848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FFB800"/>
                </a:solidFill>
                <a:latin typeface="Calibri"/>
                <a:ea typeface="Calibri"/>
                <a:cs typeface="Calibri"/>
              </a:defRPr>
            </a:pPr>
            <a:r>
              <a:t>KEY PROMPT  →  TELL CLAUDE:</a:t>
            </a:r>
          </a:p>
        </p:txBody>
      </p:sp>
      <p:sp>
        <p:nvSpPr>
          <p:cNvPr id="30" name="">
            <a:extLst xmlns:a="http://schemas.openxmlformats.org/drawingml/2006/main">
              <a:ext uri="{FF2B5EF4-FFF2-40B4-BE49-F238E27FC236}">
                <a16:creationId xmlns:a16="http://schemas.microsoft.com/office/drawing/2014/main" id="{E317271A-D01C-40F2-A7B4-576D24AD6E46}"/>
              </a:ext>
            </a:extLst>
          </p:cNvPr>
          <p:cNvSpPr>
            <a:spLocks xmlns:a="http://schemas.openxmlformats.org/drawingml/2006/main" noGrp="1"/>
          </p:cNvSpPr>
          <p:nvPr/>
        </p:nvSpPr>
        <p:spPr>
          <a:xfrm xmlns:a="http://schemas.openxmlformats.org/drawingml/2006/main">
            <a:off x="5762625" y="1733550"/>
            <a:ext cx="584835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FFFFFF"/>
                </a:solidFill>
                <a:latin typeface="Calibri"/>
                <a:ea typeface="Calibri"/>
                <a:cs typeface="Calibri"/>
              </a:defRPr>
            </a:pPr>
            <a:r>
              <a:t>"Rate [competitor] across [arenas] on the control point each arena rewards. For every cell give a rating from HIGHEST / HIGH / MEDIUM-HIGH / MEDIUM / LOW-MEDIUM / LOW and the single fact behind it in under twelve words. Explain in one sentence why the rating changes between arenas — the mechanism, not a restatement. End with the arena to defend, the arena to concede, and the signal that would invert the ranking."</a:t>
            </a:r>
          </a:p>
        </p:txBody>
      </p:sp>
      <p:sp>
        <p:nvSpPr>
          <p:cNvPr id="31" name="">
            <a:extLst xmlns:a="http://schemas.openxmlformats.org/drawingml/2006/main">
              <a:ext uri="{FF2B5EF4-FFF2-40B4-BE49-F238E27FC236}">
                <a16:creationId xmlns:a16="http://schemas.microsoft.com/office/drawing/2014/main" id="{32BA1F60-70C6-4ACD-91E0-2DFDDC6095D8}"/>
              </a:ext>
            </a:extLst>
          </p:cNvPr>
          <p:cNvSpPr>
            <a:spLocks xmlns:a="http://schemas.openxmlformats.org/drawingml/2006/main" noGrp="1"/>
          </p:cNvSpPr>
          <p:nvPr/>
        </p:nvSpPr>
        <p:spPr>
          <a:xfrm xmlns:a="http://schemas.openxmlformats.org/drawingml/2006/main">
            <a:off x="5581650" y="3886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OUTPUT INCLUDES</a:t>
            </a:r>
          </a:p>
        </p:txBody>
      </p:sp>
      <p:sp>
        <p:nvSpPr>
          <p:cNvPr id="32" name="">
            <a:extLst xmlns:a="http://schemas.openxmlformats.org/drawingml/2006/main">
              <a:ext uri="{FF2B5EF4-FFF2-40B4-BE49-F238E27FC236}">
                <a16:creationId xmlns:a16="http://schemas.microsoft.com/office/drawing/2014/main" id="{1677CEBD-79A9-4E94-8C86-0E5564930881}"/>
              </a:ext>
            </a:extLst>
          </p:cNvPr>
          <p:cNvSpPr>
            <a:spLocks xmlns:a="http://schemas.openxmlformats.org/drawingml/2006/main" noGrp="1"/>
          </p:cNvSpPr>
          <p:nvPr/>
        </p:nvSpPr>
        <p:spPr>
          <a:xfrm xmlns:a="http://schemas.openxmlformats.org/drawingml/2006/main">
            <a:off x="5581650" y="4086225"/>
            <a:ext cx="621982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54982F8-AAF1-4A68-BB0D-B44DBE8AFF94}"/>
              </a:ext>
            </a:extLst>
          </p:cNvPr>
          <p:cNvSpPr>
            <a:spLocks xmlns:a="http://schemas.openxmlformats.org/drawingml/2006/main" noGrp="1"/>
          </p:cNvSpPr>
          <p:nvPr/>
        </p:nvSpPr>
        <p:spPr>
          <a:xfrm xmlns:a="http://schemas.openxmlformats.org/drawingml/2006/main">
            <a:off x="55816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9ACB207-5387-42CD-99AC-A2080380AE47}"/>
              </a:ext>
            </a:extLst>
          </p:cNvPr>
          <p:cNvSpPr>
            <a:spLocks xmlns:a="http://schemas.openxmlformats.org/drawingml/2006/main" noGrp="1"/>
          </p:cNvSpPr>
          <p:nvPr/>
        </p:nvSpPr>
        <p:spPr>
          <a:xfrm xmlns:a="http://schemas.openxmlformats.org/drawingml/2006/main">
            <a:off x="57150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Matrix: arenas × dimensions</a:t>
            </a:r>
          </a:p>
        </p:txBody>
      </p:sp>
      <p:sp>
        <p:nvSpPr>
          <p:cNvPr id="35" name="">
            <a:extLst xmlns:a="http://schemas.openxmlformats.org/drawingml/2006/main">
              <a:ext uri="{FF2B5EF4-FFF2-40B4-BE49-F238E27FC236}">
                <a16:creationId xmlns:a16="http://schemas.microsoft.com/office/drawing/2014/main" id="{D8049C0A-1E4E-4173-95D5-27D42BDB1F82}"/>
              </a:ext>
            </a:extLst>
          </p:cNvPr>
          <p:cNvSpPr>
            <a:spLocks xmlns:a="http://schemas.openxmlformats.org/drawingml/2006/main" noGrp="1"/>
          </p:cNvSpPr>
          <p:nvPr/>
        </p:nvSpPr>
        <p:spPr>
          <a:xfrm xmlns:a="http://schemas.openxmlformats.org/drawingml/2006/main">
            <a:off x="55816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0257408-D894-416A-A4F5-823E091730F4}"/>
              </a:ext>
            </a:extLst>
          </p:cNvPr>
          <p:cNvSpPr>
            <a:spLocks xmlns:a="http://schemas.openxmlformats.org/drawingml/2006/main" noGrp="1"/>
          </p:cNvSpPr>
          <p:nvPr/>
        </p:nvSpPr>
        <p:spPr>
          <a:xfrm xmlns:a="http://schemas.openxmlformats.org/drawingml/2006/main">
            <a:off x="57150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Rating + supporting fact per cell</a:t>
            </a:r>
          </a:p>
        </p:txBody>
      </p:sp>
      <p:sp>
        <p:nvSpPr>
          <p:cNvPr id="37" name="">
            <a:extLst xmlns:a="http://schemas.openxmlformats.org/drawingml/2006/main">
              <a:ext uri="{FF2B5EF4-FFF2-40B4-BE49-F238E27FC236}">
                <a16:creationId xmlns:a16="http://schemas.microsoft.com/office/drawing/2014/main" id="{1A3E7FC6-1208-4211-B2C0-A3E4FA4E5CCC}"/>
              </a:ext>
            </a:extLst>
          </p:cNvPr>
          <p:cNvSpPr>
            <a:spLocks xmlns:a="http://schemas.openxmlformats.org/drawingml/2006/main" noGrp="1"/>
          </p:cNvSpPr>
          <p:nvPr/>
        </p:nvSpPr>
        <p:spPr>
          <a:xfrm xmlns:a="http://schemas.openxmlformats.org/drawingml/2006/main">
            <a:off x="55816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5A81295-064E-4903-9959-00B2A36DECE6}"/>
              </a:ext>
            </a:extLst>
          </p:cNvPr>
          <p:cNvSpPr>
            <a:spLocks xmlns:a="http://schemas.openxmlformats.org/drawingml/2006/main" noGrp="1"/>
          </p:cNvSpPr>
          <p:nvPr/>
        </p:nvSpPr>
        <p:spPr>
          <a:xfrm xmlns:a="http://schemas.openxmlformats.org/drawingml/2006/main">
            <a:off x="57150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Variance mechanism (1 sentence)</a:t>
            </a:r>
          </a:p>
        </p:txBody>
      </p:sp>
      <p:sp>
        <p:nvSpPr>
          <p:cNvPr id="39" name="">
            <a:extLst xmlns:a="http://schemas.openxmlformats.org/drawingml/2006/main">
              <a:ext uri="{FF2B5EF4-FFF2-40B4-BE49-F238E27FC236}">
                <a16:creationId xmlns:a16="http://schemas.microsoft.com/office/drawing/2014/main" id="{CF34E88D-BB1B-4AD5-96EA-E1A2E3116765}"/>
              </a:ext>
            </a:extLst>
          </p:cNvPr>
          <p:cNvSpPr>
            <a:spLocks xmlns:a="http://schemas.openxmlformats.org/drawingml/2006/main" noGrp="1"/>
          </p:cNvSpPr>
          <p:nvPr/>
        </p:nvSpPr>
        <p:spPr>
          <a:xfrm xmlns:a="http://schemas.openxmlformats.org/drawingml/2006/main">
            <a:off x="87820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94ED7ED-D98A-4107-B88F-439C55CA5468}"/>
              </a:ext>
            </a:extLst>
          </p:cNvPr>
          <p:cNvSpPr>
            <a:spLocks xmlns:a="http://schemas.openxmlformats.org/drawingml/2006/main" noGrp="1"/>
          </p:cNvSpPr>
          <p:nvPr/>
        </p:nvSpPr>
        <p:spPr>
          <a:xfrm xmlns:a="http://schemas.openxmlformats.org/drawingml/2006/main">
            <a:off x="89154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Defend / concede verdict</a:t>
            </a:r>
          </a:p>
        </p:txBody>
      </p:sp>
      <p:sp>
        <p:nvSpPr>
          <p:cNvPr id="41" name="">
            <a:extLst xmlns:a="http://schemas.openxmlformats.org/drawingml/2006/main">
              <a:ext uri="{FF2B5EF4-FFF2-40B4-BE49-F238E27FC236}">
                <a16:creationId xmlns:a16="http://schemas.microsoft.com/office/drawing/2014/main" id="{57873323-0667-42A1-A8D6-E4F91DDD1688}"/>
              </a:ext>
            </a:extLst>
          </p:cNvPr>
          <p:cNvSpPr>
            <a:spLocks xmlns:a="http://schemas.openxmlformats.org/drawingml/2006/main" noGrp="1"/>
          </p:cNvSpPr>
          <p:nvPr/>
        </p:nvSpPr>
        <p:spPr>
          <a:xfrm xmlns:a="http://schemas.openxmlformats.org/drawingml/2006/main">
            <a:off x="87820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27D8E25-D352-48E5-8FF2-CF64C50F8B96}"/>
              </a:ext>
            </a:extLst>
          </p:cNvPr>
          <p:cNvSpPr>
            <a:spLocks xmlns:a="http://schemas.openxmlformats.org/drawingml/2006/main" noGrp="1"/>
          </p:cNvSpPr>
          <p:nvPr/>
        </p:nvSpPr>
        <p:spPr>
          <a:xfrm xmlns:a="http://schemas.openxmlformats.org/drawingml/2006/main">
            <a:off x="89154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Inversion signal</a:t>
            </a:r>
          </a:p>
        </p:txBody>
      </p:sp>
      <p:sp>
        <p:nvSpPr>
          <p:cNvPr id="43" name="">
            <a:extLst xmlns:a="http://schemas.openxmlformats.org/drawingml/2006/main">
              <a:ext uri="{FF2B5EF4-FFF2-40B4-BE49-F238E27FC236}">
                <a16:creationId xmlns:a16="http://schemas.microsoft.com/office/drawing/2014/main" id="{BA9F40D3-A32E-4538-92C7-E5E140E38509}"/>
              </a:ext>
            </a:extLst>
          </p:cNvPr>
          <p:cNvSpPr>
            <a:spLocks xmlns:a="http://schemas.openxmlformats.org/drawingml/2006/main" noGrp="1"/>
          </p:cNvSpPr>
          <p:nvPr/>
        </p:nvSpPr>
        <p:spPr>
          <a:xfrm xmlns:a="http://schemas.openxmlformats.org/drawingml/2006/main">
            <a:off x="87820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311F876-DC79-4F3A-9B7F-3C0BE4461139}"/>
              </a:ext>
            </a:extLst>
          </p:cNvPr>
          <p:cNvSpPr>
            <a:spLocks xmlns:a="http://schemas.openxmlformats.org/drawingml/2006/main" noGrp="1"/>
          </p:cNvSpPr>
          <p:nvPr/>
        </p:nvSpPr>
        <p:spPr>
          <a:xfrm xmlns:a="http://schemas.openxmlformats.org/drawingml/2006/main">
            <a:off x="89154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EXHIBIT: heatmap, colour = rating</a:t>
            </a:r>
          </a:p>
        </p:txBody>
      </p:sp>
    </p:spTree>
    <p:extLst>
      <p:ext uri="{BB962C8B-B14F-4D97-AF65-F5344CB8AC3E}">
        <p14:creationId xmlns:p14="http://schemas.microsoft.com/office/powerpoint/2010/main" val="173243625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93B07DC-3A5B-42EA-994B-96EB82B709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BF89A6-D874-48CD-A4A7-29C1DA717DAA}"/>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7FA37EB-C22F-4864-A161-5934133A5963}"/>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CFD7F7-6E94-4C47-91BF-A2AC1738A80F}"/>
              </a:ext>
            </a:extLst>
          </p:cNvPr>
          <p:cNvSpPr>
            <a:spLocks xmlns:a="http://schemas.openxmlformats.org/drawingml/2006/main" noGrp="1"/>
          </p:cNvSpPr>
          <p:nvPr/>
        </p:nvSpPr>
        <p:spPr>
          <a:xfrm xmlns:a="http://schemas.openxmlformats.org/drawingml/2006/main">
            <a:off x="552450" y="6477000"/>
            <a:ext cx="822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5B6B7C"/>
                </a:solidFill>
                <a:latin typeface="Calibri"/>
                <a:ea typeface="Calibri"/>
                <a:cs typeface="Calibri"/>
              </a:defRPr>
            </a:pPr>
            <a:r>
              <a:t>DeepGrid India ADAS Dossier  |  Adapted Prompt Templates</a:t>
            </a:r>
          </a:p>
        </p:txBody>
      </p:sp>
      <p:sp>
        <p:nvSpPr>
          <p:cNvPr id="5" name="">
            <a:extLst xmlns:a="http://schemas.openxmlformats.org/drawingml/2006/main">
              <a:ext uri="{FF2B5EF4-FFF2-40B4-BE49-F238E27FC236}">
                <a16:creationId xmlns:a16="http://schemas.microsoft.com/office/drawing/2014/main" id="{711AA99B-6A66-47DF-92D8-A557067D67B3}"/>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1B2B3C"/>
                </a:solidFill>
                <a:latin typeface="Calibri"/>
                <a:ea typeface="Calibri"/>
                <a:cs typeface="Calibri"/>
              </a:defRPr>
            </a:pPr>
            <a:r>
              <a:t>6 / 9</a:t>
            </a:r>
          </a:p>
        </p:txBody>
      </p:sp>
      <p:sp>
        <p:nvSpPr>
          <p:cNvPr id="6" name="">
            <a:extLst xmlns:a="http://schemas.openxmlformats.org/drawingml/2006/main">
              <a:ext uri="{FF2B5EF4-FFF2-40B4-BE49-F238E27FC236}">
                <a16:creationId xmlns:a16="http://schemas.microsoft.com/office/drawing/2014/main" id="{17693216-6BBF-4625-A80C-E5C40190E4A3}"/>
              </a:ext>
            </a:extLst>
          </p:cNvPr>
          <p:cNvSpPr>
            <a:spLocks xmlns:a="http://schemas.openxmlformats.org/drawingml/2006/main" noGrp="1"/>
          </p:cNvSpPr>
          <p:nvPr/>
        </p:nvSpPr>
        <p:spPr>
          <a:xfrm xmlns:a="http://schemas.openxmlformats.org/drawingml/2006/main">
            <a:off x="590550" y="228600"/>
            <a:ext cx="421005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2772EEE-FEB7-4ADB-926B-B5C61A5421A3}"/>
              </a:ext>
            </a:extLst>
          </p:cNvPr>
          <p:cNvSpPr>
            <a:spLocks xmlns:a="http://schemas.openxmlformats.org/drawingml/2006/main" noGrp="1"/>
          </p:cNvSpPr>
          <p:nvPr/>
        </p:nvSpPr>
        <p:spPr>
          <a:xfrm xmlns:a="http://schemas.openxmlformats.org/drawingml/2006/main">
            <a:off x="590550" y="276225"/>
            <a:ext cx="42100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0695C"/>
                </a:solidFill>
                <a:latin typeface="Calibri"/>
                <a:ea typeface="Calibri"/>
                <a:cs typeface="Calibri"/>
              </a:defRPr>
            </a:pPr>
            <a:r>
              <a:t>DOMAIN 3: BOUNDED ACTION</a:t>
            </a:r>
          </a:p>
        </p:txBody>
      </p:sp>
      <p:sp>
        <p:nvSpPr>
          <p:cNvPr id="8" name="">
            <a:extLst xmlns:a="http://schemas.openxmlformats.org/drawingml/2006/main">
              <a:ext uri="{FF2B5EF4-FFF2-40B4-BE49-F238E27FC236}">
                <a16:creationId xmlns:a16="http://schemas.microsoft.com/office/drawing/2014/main" id="{5992DC7A-EB35-4784-A6B6-6FCC068168BD}"/>
              </a:ext>
            </a:extLst>
          </p:cNvPr>
          <p:cNvSpPr>
            <a:spLocks xmlns:a="http://schemas.openxmlformats.org/drawingml/2006/main" noGrp="1"/>
          </p:cNvSpPr>
          <p:nvPr/>
        </p:nvSpPr>
        <p:spPr>
          <a:xfrm xmlns:a="http://schemas.openxmlformats.org/drawingml/2006/main">
            <a:off x="590550" y="533400"/>
            <a:ext cx="11068050" cy="476250"/>
          </a:xfrm>
          <a:prstGeom xmlns:a="http://schemas.openxmlformats.org/drawingml/2006/main" prst="rect">
            <a:avLst/>
          </a:prstGeom>
        </p:spPr>
        <p:txBody>
          <a:bodyPr xmlns:a="http://schemas.openxmlformats.org/drawingml/2006/main" lIns="0" tIns="0" rIns="0" bIns="0" anchor="t">
            <a:normAutofit fontScale="97656"/>
          </a:bodyPr>
          <a:lstStyle xmlns:a="http://schemas.openxmlformats.org/drawingml/2006/main"/>
          <a:p xmlns:a="http://schemas.openxmlformats.org/drawingml/2006/main">
            <a:pPr algn="l">
              <a:defRPr sz="3200" b="1">
                <a:solidFill>
                  <a:srgbClr val="1B2B3C"/>
                </a:solidFill>
                <a:latin typeface="Calibri"/>
                <a:ea typeface="Calibri"/>
                <a:cs typeface="Calibri"/>
              </a:defRPr>
            </a:pPr>
            <a:r>
              <a:t>P3 · Staged Move</a:t>
            </a:r>
          </a:p>
        </p:txBody>
      </p:sp>
      <p:sp>
        <p:nvSpPr>
          <p:cNvPr id="9" name="">
            <a:extLst xmlns:a="http://schemas.openxmlformats.org/drawingml/2006/main">
              <a:ext uri="{FF2B5EF4-FFF2-40B4-BE49-F238E27FC236}">
                <a16:creationId xmlns:a16="http://schemas.microsoft.com/office/drawing/2014/main" id="{1B0AEB1F-9F42-4595-942E-34712A88220B}"/>
              </a:ext>
            </a:extLst>
          </p:cNvPr>
          <p:cNvSpPr>
            <a:spLocks xmlns:a="http://schemas.openxmlformats.org/drawingml/2006/main" noGrp="1"/>
          </p:cNvSpPr>
          <p:nvPr/>
        </p:nvSpPr>
        <p:spPr>
          <a:xfrm xmlns:a="http://schemas.openxmlformats.org/drawingml/2006/main">
            <a:off x="590550" y="1238250"/>
            <a:ext cx="200977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AC7AE5-66F6-4A7E-AA41-41D61B211220}"/>
              </a:ext>
            </a:extLst>
          </p:cNvPr>
          <p:cNvSpPr>
            <a:spLocks xmlns:a="http://schemas.openxmlformats.org/drawingml/2006/main" noGrp="1"/>
          </p:cNvSpPr>
          <p:nvPr/>
        </p:nvSpPr>
        <p:spPr>
          <a:xfrm xmlns:a="http://schemas.openxmlformats.org/drawingml/2006/main">
            <a:off x="590550" y="135255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WHEN TO USE</a:t>
            </a:r>
          </a:p>
        </p:txBody>
      </p:sp>
      <p:sp>
        <p:nvSpPr>
          <p:cNvPr id="11" name="">
            <a:extLst xmlns:a="http://schemas.openxmlformats.org/drawingml/2006/main">
              <a:ext uri="{FF2B5EF4-FFF2-40B4-BE49-F238E27FC236}">
                <a16:creationId xmlns:a16="http://schemas.microsoft.com/office/drawing/2014/main" id="{88370AD0-E08A-4D86-BA23-0F04C25ECF22}"/>
              </a:ext>
            </a:extLst>
          </p:cNvPr>
          <p:cNvSpPr>
            <a:spLocks xmlns:a="http://schemas.openxmlformats.org/drawingml/2006/main" noGrp="1"/>
          </p:cNvSpPr>
          <p:nvPr/>
        </p:nvSpPr>
        <p:spPr>
          <a:xfrm xmlns:a="http://schemas.openxmlformats.org/drawingml/2006/main">
            <a:off x="590550" y="15716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9EBFA42-587E-40D9-834B-31B80C0A200E}"/>
              </a:ext>
            </a:extLst>
          </p:cNvPr>
          <p:cNvSpPr>
            <a:spLocks xmlns:a="http://schemas.openxmlformats.org/drawingml/2006/main" noGrp="1"/>
          </p:cNvSpPr>
          <p:nvPr/>
        </p:nvSpPr>
        <p:spPr>
          <a:xfrm xmlns:a="http://schemas.openxmlformats.org/drawingml/2006/main">
            <a:off x="590550" y="16478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A bounded action is proposed against a rival or partner</a:t>
            </a:r>
          </a:p>
        </p:txBody>
      </p:sp>
      <p:sp>
        <p:nvSpPr>
          <p:cNvPr id="13" name="">
            <a:extLst xmlns:a="http://schemas.openxmlformats.org/drawingml/2006/main">
              <a:ext uri="{FF2B5EF4-FFF2-40B4-BE49-F238E27FC236}">
                <a16:creationId xmlns:a16="http://schemas.microsoft.com/office/drawing/2014/main" id="{6D89C6A1-0AA7-406E-A439-0867E28DA01F}"/>
              </a:ext>
            </a:extLst>
          </p:cNvPr>
          <p:cNvSpPr>
            <a:spLocks xmlns:a="http://schemas.openxmlformats.org/drawingml/2006/main" noGrp="1"/>
          </p:cNvSpPr>
          <p:nvPr/>
        </p:nvSpPr>
        <p:spPr>
          <a:xfrm xmlns:a="http://schemas.openxmlformats.org/drawingml/2006/main">
            <a:off x="590550" y="185737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The move must be testable and abandonable, not open-ended</a:t>
            </a:r>
          </a:p>
        </p:txBody>
      </p:sp>
      <p:sp>
        <p:nvSpPr>
          <p:cNvPr id="14" name="">
            <a:extLst xmlns:a="http://schemas.openxmlformats.org/drawingml/2006/main">
              <a:ext uri="{FF2B5EF4-FFF2-40B4-BE49-F238E27FC236}">
                <a16:creationId xmlns:a16="http://schemas.microsoft.com/office/drawing/2014/main" id="{FA37DE9F-7D8E-42C2-AB6E-10B76D854247}"/>
              </a:ext>
            </a:extLst>
          </p:cNvPr>
          <p:cNvSpPr>
            <a:spLocks xmlns:a="http://schemas.openxmlformats.org/drawingml/2006/main" noGrp="1"/>
          </p:cNvSpPr>
          <p:nvPr/>
        </p:nvSpPr>
        <p:spPr>
          <a:xfrm xmlns:a="http://schemas.openxmlformats.org/drawingml/2006/main">
            <a:off x="590550" y="20669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Sales or BD needs a sequence, not a feature comparison</a:t>
            </a:r>
          </a:p>
        </p:txBody>
      </p:sp>
      <p:sp>
        <p:nvSpPr>
          <p:cNvPr id="15" name="">
            <a:extLst xmlns:a="http://schemas.openxmlformats.org/drawingml/2006/main">
              <a:ext uri="{FF2B5EF4-FFF2-40B4-BE49-F238E27FC236}">
                <a16:creationId xmlns:a16="http://schemas.microsoft.com/office/drawing/2014/main" id="{FB95097A-159E-426F-A5CD-EE7EC633E445}"/>
              </a:ext>
            </a:extLst>
          </p:cNvPr>
          <p:cNvSpPr>
            <a:spLocks xmlns:a="http://schemas.openxmlformats.org/drawingml/2006/main" noGrp="1"/>
          </p:cNvSpPr>
          <p:nvPr/>
        </p:nvSpPr>
        <p:spPr>
          <a:xfrm xmlns:a="http://schemas.openxmlformats.org/drawingml/2006/main">
            <a:off x="590550" y="2743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WORKFLOW</a:t>
            </a:r>
          </a:p>
        </p:txBody>
      </p:sp>
      <p:sp>
        <p:nvSpPr>
          <p:cNvPr id="16" name="">
            <a:extLst xmlns:a="http://schemas.openxmlformats.org/drawingml/2006/main">
              <a:ext uri="{FF2B5EF4-FFF2-40B4-BE49-F238E27FC236}">
                <a16:creationId xmlns:a16="http://schemas.microsoft.com/office/drawing/2014/main" id="{BCCE34D0-9ABB-4D6A-BF97-5868A0E0F8A0}"/>
              </a:ext>
            </a:extLst>
          </p:cNvPr>
          <p:cNvSpPr>
            <a:spLocks xmlns:a="http://schemas.openxmlformats.org/drawingml/2006/main" noGrp="1"/>
          </p:cNvSpPr>
          <p:nvPr/>
        </p:nvSpPr>
        <p:spPr>
          <a:xfrm xmlns:a="http://schemas.openxmlformats.org/drawingml/2006/main">
            <a:off x="590550" y="29432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1B00689-08DB-475D-971D-54F5D230DE9F}"/>
              </a:ext>
            </a:extLst>
          </p:cNvPr>
          <p:cNvSpPr>
            <a:spLocks xmlns:a="http://schemas.openxmlformats.org/drawingml/2006/main" noGrp="1"/>
          </p:cNvSpPr>
          <p:nvPr/>
        </p:nvSpPr>
        <p:spPr>
          <a:xfrm xmlns:a="http://schemas.openxmlformats.org/drawingml/2006/main">
            <a:off x="590550" y="30194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2CF315D-50E5-40A8-B4BC-110F3659C9E9}"/>
              </a:ext>
            </a:extLst>
          </p:cNvPr>
          <p:cNvSpPr>
            <a:spLocks xmlns:a="http://schemas.openxmlformats.org/drawingml/2006/main" noGrp="1"/>
          </p:cNvSpPr>
          <p:nvPr/>
        </p:nvSpPr>
        <p:spPr>
          <a:xfrm xmlns:a="http://schemas.openxmlformats.org/drawingml/2006/main">
            <a:off x="590550" y="30575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1</a:t>
            </a:r>
          </a:p>
        </p:txBody>
      </p:sp>
      <p:sp>
        <p:nvSpPr>
          <p:cNvPr id="19" name="">
            <a:extLst xmlns:a="http://schemas.openxmlformats.org/drawingml/2006/main">
              <a:ext uri="{FF2B5EF4-FFF2-40B4-BE49-F238E27FC236}">
                <a16:creationId xmlns:a16="http://schemas.microsoft.com/office/drawing/2014/main" id="{DCDFE90A-CBE7-4118-A6D0-2619701AFD03}"/>
              </a:ext>
            </a:extLst>
          </p:cNvPr>
          <p:cNvSpPr>
            <a:spLocks xmlns:a="http://schemas.openxmlformats.org/drawingml/2006/main" noGrp="1"/>
          </p:cNvSpPr>
          <p:nvPr/>
        </p:nvSpPr>
        <p:spPr>
          <a:xfrm xmlns:a="http://schemas.openxmlformats.org/drawingml/2006/main">
            <a:off x="914400" y="30289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State the rival’s advantage as a mechanism</a:t>
            </a:r>
          </a:p>
        </p:txBody>
      </p:sp>
      <p:sp>
        <p:nvSpPr>
          <p:cNvPr id="20" name="">
            <a:extLst xmlns:a="http://schemas.openxmlformats.org/drawingml/2006/main">
              <a:ext uri="{FF2B5EF4-FFF2-40B4-BE49-F238E27FC236}">
                <a16:creationId xmlns:a16="http://schemas.microsoft.com/office/drawing/2014/main" id="{5A72803D-7CE2-499D-9EC6-E72824A4DC37}"/>
              </a:ext>
            </a:extLst>
          </p:cNvPr>
          <p:cNvSpPr>
            <a:spLocks xmlns:a="http://schemas.openxmlformats.org/drawingml/2006/main" noGrp="1"/>
          </p:cNvSpPr>
          <p:nvPr/>
        </p:nvSpPr>
        <p:spPr>
          <a:xfrm xmlns:a="http://schemas.openxmlformats.org/drawingml/2006/main">
            <a:off x="914400" y="349567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4745B61-6E23-47DB-B6F3-F5969D343A43}"/>
              </a:ext>
            </a:extLst>
          </p:cNvPr>
          <p:cNvSpPr>
            <a:spLocks xmlns:a="http://schemas.openxmlformats.org/drawingml/2006/main" noGrp="1"/>
          </p:cNvSpPr>
          <p:nvPr/>
        </p:nvSpPr>
        <p:spPr>
          <a:xfrm xmlns:a="http://schemas.openxmlformats.org/drawingml/2006/main">
            <a:off x="590550" y="360997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E72A47E-3DCE-4589-904F-F731B46F5563}"/>
              </a:ext>
            </a:extLst>
          </p:cNvPr>
          <p:cNvSpPr>
            <a:spLocks xmlns:a="http://schemas.openxmlformats.org/drawingml/2006/main" noGrp="1"/>
          </p:cNvSpPr>
          <p:nvPr/>
        </p:nvSpPr>
        <p:spPr>
          <a:xfrm xmlns:a="http://schemas.openxmlformats.org/drawingml/2006/main">
            <a:off x="590550" y="364807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2</a:t>
            </a:r>
          </a:p>
        </p:txBody>
      </p:sp>
      <p:sp>
        <p:nvSpPr>
          <p:cNvPr id="23" name="">
            <a:extLst xmlns:a="http://schemas.openxmlformats.org/drawingml/2006/main">
              <a:ext uri="{FF2B5EF4-FFF2-40B4-BE49-F238E27FC236}">
                <a16:creationId xmlns:a16="http://schemas.microsoft.com/office/drawing/2014/main" id="{E1081FE6-F9C7-4226-B15D-E62C71492BFC}"/>
              </a:ext>
            </a:extLst>
          </p:cNvPr>
          <p:cNvSpPr>
            <a:spLocks xmlns:a="http://schemas.openxmlformats.org/drawingml/2006/main" noGrp="1"/>
          </p:cNvSpPr>
          <p:nvPr/>
        </p:nvSpPr>
        <p:spPr>
          <a:xfrm xmlns:a="http://schemas.openxmlformats.org/drawingml/2006/main">
            <a:off x="914400" y="361950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Design the narrowest sequence that tests it, marking what is reversible</a:t>
            </a:r>
          </a:p>
        </p:txBody>
      </p:sp>
      <p:sp>
        <p:nvSpPr>
          <p:cNvPr id="24" name="">
            <a:extLst xmlns:a="http://schemas.openxmlformats.org/drawingml/2006/main">
              <a:ext uri="{FF2B5EF4-FFF2-40B4-BE49-F238E27FC236}">
                <a16:creationId xmlns:a16="http://schemas.microsoft.com/office/drawing/2014/main" id="{2998D4C8-0E12-4780-A49A-A9B9AE504D92}"/>
              </a:ext>
            </a:extLst>
          </p:cNvPr>
          <p:cNvSpPr>
            <a:spLocks xmlns:a="http://schemas.openxmlformats.org/drawingml/2006/main" noGrp="1"/>
          </p:cNvSpPr>
          <p:nvPr/>
        </p:nvSpPr>
        <p:spPr>
          <a:xfrm xmlns:a="http://schemas.openxmlformats.org/drawingml/2006/main">
            <a:off x="914400" y="408622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2945420-08BA-415F-9732-1A3C03F138DE}"/>
              </a:ext>
            </a:extLst>
          </p:cNvPr>
          <p:cNvSpPr>
            <a:spLocks xmlns:a="http://schemas.openxmlformats.org/drawingml/2006/main" noGrp="1"/>
          </p:cNvSpPr>
          <p:nvPr/>
        </p:nvSpPr>
        <p:spPr>
          <a:xfrm xmlns:a="http://schemas.openxmlformats.org/drawingml/2006/main">
            <a:off x="590550" y="42005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182EBFC-DECD-4FA1-88A9-8099322B9799}"/>
              </a:ext>
            </a:extLst>
          </p:cNvPr>
          <p:cNvSpPr>
            <a:spLocks xmlns:a="http://schemas.openxmlformats.org/drawingml/2006/main" noGrp="1"/>
          </p:cNvSpPr>
          <p:nvPr/>
        </p:nvSpPr>
        <p:spPr>
          <a:xfrm xmlns:a="http://schemas.openxmlformats.org/drawingml/2006/main">
            <a:off x="590550" y="42386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3</a:t>
            </a:r>
          </a:p>
        </p:txBody>
      </p:sp>
      <p:sp>
        <p:nvSpPr>
          <p:cNvPr id="27" name="">
            <a:extLst xmlns:a="http://schemas.openxmlformats.org/drawingml/2006/main">
              <a:ext uri="{FF2B5EF4-FFF2-40B4-BE49-F238E27FC236}">
                <a16:creationId xmlns:a16="http://schemas.microsoft.com/office/drawing/2014/main" id="{5C3D5BBF-0C40-4503-A383-E13FC021CF6E}"/>
              </a:ext>
            </a:extLst>
          </p:cNvPr>
          <p:cNvSpPr>
            <a:spLocks xmlns:a="http://schemas.openxmlformats.org/drawingml/2006/main" noGrp="1"/>
          </p:cNvSpPr>
          <p:nvPr/>
        </p:nvSpPr>
        <p:spPr>
          <a:xfrm xmlns:a="http://schemas.openxmlformats.org/drawingml/2006/main">
            <a:off x="914400" y="42100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Set the gate that escalates and the condition that abandons</a:t>
            </a:r>
          </a:p>
        </p:txBody>
      </p:sp>
      <p:sp>
        <p:nvSpPr>
          <p:cNvPr id="28" name="">
            <a:extLst xmlns:a="http://schemas.openxmlformats.org/drawingml/2006/main">
              <a:ext uri="{FF2B5EF4-FFF2-40B4-BE49-F238E27FC236}">
                <a16:creationId xmlns:a16="http://schemas.microsoft.com/office/drawing/2014/main" id="{C0BB708E-664C-466B-AF2F-245FCCAEDDC3}"/>
              </a:ext>
            </a:extLst>
          </p:cNvPr>
          <p:cNvSpPr>
            <a:spLocks xmlns:a="http://schemas.openxmlformats.org/drawingml/2006/main" noGrp="1"/>
          </p:cNvSpPr>
          <p:nvPr/>
        </p:nvSpPr>
        <p:spPr>
          <a:xfrm xmlns:a="http://schemas.openxmlformats.org/drawingml/2006/main">
            <a:off x="5581650" y="1352550"/>
            <a:ext cx="6219825" cy="24193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48462EB-5414-4C7F-8243-2021C7843E64}"/>
              </a:ext>
            </a:extLst>
          </p:cNvPr>
          <p:cNvSpPr>
            <a:spLocks xmlns:a="http://schemas.openxmlformats.org/drawingml/2006/main" noGrp="1"/>
          </p:cNvSpPr>
          <p:nvPr/>
        </p:nvSpPr>
        <p:spPr>
          <a:xfrm xmlns:a="http://schemas.openxmlformats.org/drawingml/2006/main">
            <a:off x="5762625" y="1447800"/>
            <a:ext cx="5848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FFB800"/>
                </a:solidFill>
                <a:latin typeface="Calibri"/>
                <a:ea typeface="Calibri"/>
                <a:cs typeface="Calibri"/>
              </a:defRPr>
            </a:pPr>
            <a:r>
              <a:t>KEY PROMPT  →  TELL CLAUDE:</a:t>
            </a:r>
          </a:p>
        </p:txBody>
      </p:sp>
      <p:sp>
        <p:nvSpPr>
          <p:cNvPr id="30" name="">
            <a:extLst xmlns:a="http://schemas.openxmlformats.org/drawingml/2006/main">
              <a:ext uri="{FF2B5EF4-FFF2-40B4-BE49-F238E27FC236}">
                <a16:creationId xmlns:a16="http://schemas.microsoft.com/office/drawing/2014/main" id="{E812D5F9-EF0C-4B36-BEFC-12A2A85AD3C8}"/>
              </a:ext>
            </a:extLst>
          </p:cNvPr>
          <p:cNvSpPr>
            <a:spLocks xmlns:a="http://schemas.openxmlformats.org/drawingml/2006/main" noGrp="1"/>
          </p:cNvSpPr>
          <p:nvPr/>
        </p:nvSpPr>
        <p:spPr>
          <a:xfrm xmlns:a="http://schemas.openxmlformats.org/drawingml/2006/main">
            <a:off x="5762625" y="1733550"/>
            <a:ext cx="584835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FFFFFF"/>
                </a:solidFill>
                <a:latin typeface="Calibri"/>
                <a:ea typeface="Calibri"/>
                <a:cs typeface="Calibri"/>
              </a:defRPr>
            </a:pPr>
            <a:r>
              <a:t>"Design a bounded staged move for [company] against [competitor]. Give 3–4 stages in order. For each: a label of at most 30 characters, what happens in one sentence, whether it is reversible, and its commitment level. The final stage must be a decision gate with an explicit escalate condition. State their advantage as a mechanism first. End with the abandonment rule — do not propose a feature-for-feature response."</a:t>
            </a:r>
          </a:p>
        </p:txBody>
      </p:sp>
      <p:sp>
        <p:nvSpPr>
          <p:cNvPr id="31" name="">
            <a:extLst xmlns:a="http://schemas.openxmlformats.org/drawingml/2006/main">
              <a:ext uri="{FF2B5EF4-FFF2-40B4-BE49-F238E27FC236}">
                <a16:creationId xmlns:a16="http://schemas.microsoft.com/office/drawing/2014/main" id="{6E146451-1A55-4290-922A-9E26D06734C6}"/>
              </a:ext>
            </a:extLst>
          </p:cNvPr>
          <p:cNvSpPr>
            <a:spLocks xmlns:a="http://schemas.openxmlformats.org/drawingml/2006/main" noGrp="1"/>
          </p:cNvSpPr>
          <p:nvPr/>
        </p:nvSpPr>
        <p:spPr>
          <a:xfrm xmlns:a="http://schemas.openxmlformats.org/drawingml/2006/main">
            <a:off x="5581650" y="3886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OUTPUT INCLUDES</a:t>
            </a:r>
          </a:p>
        </p:txBody>
      </p:sp>
      <p:sp>
        <p:nvSpPr>
          <p:cNvPr id="32" name="">
            <a:extLst xmlns:a="http://schemas.openxmlformats.org/drawingml/2006/main">
              <a:ext uri="{FF2B5EF4-FFF2-40B4-BE49-F238E27FC236}">
                <a16:creationId xmlns:a16="http://schemas.microsoft.com/office/drawing/2014/main" id="{20CA3A9E-B1BB-4A86-8120-35CECD1CB6C1}"/>
              </a:ext>
            </a:extLst>
          </p:cNvPr>
          <p:cNvSpPr>
            <a:spLocks xmlns:a="http://schemas.openxmlformats.org/drawingml/2006/main" noGrp="1"/>
          </p:cNvSpPr>
          <p:nvPr/>
        </p:nvSpPr>
        <p:spPr>
          <a:xfrm xmlns:a="http://schemas.openxmlformats.org/drawingml/2006/main">
            <a:off x="5581650" y="4086225"/>
            <a:ext cx="621982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03AB1C9-B475-46CB-B31C-BDA343C7E97D}"/>
              </a:ext>
            </a:extLst>
          </p:cNvPr>
          <p:cNvSpPr>
            <a:spLocks xmlns:a="http://schemas.openxmlformats.org/drawingml/2006/main" noGrp="1"/>
          </p:cNvSpPr>
          <p:nvPr/>
        </p:nvSpPr>
        <p:spPr>
          <a:xfrm xmlns:a="http://schemas.openxmlformats.org/drawingml/2006/main">
            <a:off x="55816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31570A0-6994-42CB-8B99-F7D8DC529253}"/>
              </a:ext>
            </a:extLst>
          </p:cNvPr>
          <p:cNvSpPr>
            <a:spLocks xmlns:a="http://schemas.openxmlformats.org/drawingml/2006/main" noGrp="1"/>
          </p:cNvSpPr>
          <p:nvPr/>
        </p:nvSpPr>
        <p:spPr>
          <a:xfrm xmlns:a="http://schemas.openxmlformats.org/drawingml/2006/main">
            <a:off x="57150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Their mechanism (1 sentence)</a:t>
            </a:r>
          </a:p>
        </p:txBody>
      </p:sp>
      <p:sp>
        <p:nvSpPr>
          <p:cNvPr id="35" name="">
            <a:extLst xmlns:a="http://schemas.openxmlformats.org/drawingml/2006/main">
              <a:ext uri="{FF2B5EF4-FFF2-40B4-BE49-F238E27FC236}">
                <a16:creationId xmlns:a16="http://schemas.microsoft.com/office/drawing/2014/main" id="{59C42321-E2BB-40A1-81D3-1CD4BDE57D46}"/>
              </a:ext>
            </a:extLst>
          </p:cNvPr>
          <p:cNvSpPr>
            <a:spLocks xmlns:a="http://schemas.openxmlformats.org/drawingml/2006/main" noGrp="1"/>
          </p:cNvSpPr>
          <p:nvPr/>
        </p:nvSpPr>
        <p:spPr>
          <a:xfrm xmlns:a="http://schemas.openxmlformats.org/drawingml/2006/main">
            <a:off x="55816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FFCC32F-6D2D-480D-9E9A-FEEAFF84CB31}"/>
              </a:ext>
            </a:extLst>
          </p:cNvPr>
          <p:cNvSpPr>
            <a:spLocks xmlns:a="http://schemas.openxmlformats.org/drawingml/2006/main" noGrp="1"/>
          </p:cNvSpPr>
          <p:nvPr/>
        </p:nvSpPr>
        <p:spPr>
          <a:xfrm xmlns:a="http://schemas.openxmlformats.org/drawingml/2006/main">
            <a:off x="57150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Stages[] with reversibility</a:t>
            </a:r>
          </a:p>
        </p:txBody>
      </p:sp>
      <p:sp>
        <p:nvSpPr>
          <p:cNvPr id="37" name="">
            <a:extLst xmlns:a="http://schemas.openxmlformats.org/drawingml/2006/main">
              <a:ext uri="{FF2B5EF4-FFF2-40B4-BE49-F238E27FC236}">
                <a16:creationId xmlns:a16="http://schemas.microsoft.com/office/drawing/2014/main" id="{0A1228AA-450F-474B-8E2F-8C77D694715B}"/>
              </a:ext>
            </a:extLst>
          </p:cNvPr>
          <p:cNvSpPr>
            <a:spLocks xmlns:a="http://schemas.openxmlformats.org/drawingml/2006/main" noGrp="1"/>
          </p:cNvSpPr>
          <p:nvPr/>
        </p:nvSpPr>
        <p:spPr>
          <a:xfrm xmlns:a="http://schemas.openxmlformats.org/drawingml/2006/main">
            <a:off x="55816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CAEFEF4-9AB6-42C9-9DA3-A67F436132FE}"/>
              </a:ext>
            </a:extLst>
          </p:cNvPr>
          <p:cNvSpPr>
            <a:spLocks xmlns:a="http://schemas.openxmlformats.org/drawingml/2006/main" noGrp="1"/>
          </p:cNvSpPr>
          <p:nvPr/>
        </p:nvSpPr>
        <p:spPr>
          <a:xfrm xmlns:a="http://schemas.openxmlformats.org/drawingml/2006/main">
            <a:off x="57150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Commitment level per stage</a:t>
            </a:r>
          </a:p>
        </p:txBody>
      </p:sp>
      <p:sp>
        <p:nvSpPr>
          <p:cNvPr id="39" name="">
            <a:extLst xmlns:a="http://schemas.openxmlformats.org/drawingml/2006/main">
              <a:ext uri="{FF2B5EF4-FFF2-40B4-BE49-F238E27FC236}">
                <a16:creationId xmlns:a16="http://schemas.microsoft.com/office/drawing/2014/main" id="{ED5DBF47-695C-4B0C-BC38-168CE34078EF}"/>
              </a:ext>
            </a:extLst>
          </p:cNvPr>
          <p:cNvSpPr>
            <a:spLocks xmlns:a="http://schemas.openxmlformats.org/drawingml/2006/main" noGrp="1"/>
          </p:cNvSpPr>
          <p:nvPr/>
        </p:nvSpPr>
        <p:spPr>
          <a:xfrm xmlns:a="http://schemas.openxmlformats.org/drawingml/2006/main">
            <a:off x="87820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D7D7ACB-3496-45B6-91CE-D290646B57FB}"/>
              </a:ext>
            </a:extLst>
          </p:cNvPr>
          <p:cNvSpPr>
            <a:spLocks xmlns:a="http://schemas.openxmlformats.org/drawingml/2006/main" noGrp="1"/>
          </p:cNvSpPr>
          <p:nvPr/>
        </p:nvSpPr>
        <p:spPr>
          <a:xfrm xmlns:a="http://schemas.openxmlformats.org/drawingml/2006/main">
            <a:off x="89154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Escalate condition</a:t>
            </a:r>
          </a:p>
        </p:txBody>
      </p:sp>
      <p:sp>
        <p:nvSpPr>
          <p:cNvPr id="41" name="">
            <a:extLst xmlns:a="http://schemas.openxmlformats.org/drawingml/2006/main">
              <a:ext uri="{FF2B5EF4-FFF2-40B4-BE49-F238E27FC236}">
                <a16:creationId xmlns:a16="http://schemas.microsoft.com/office/drawing/2014/main" id="{81286292-7D49-4C81-9378-E1D0E16F9A86}"/>
              </a:ext>
            </a:extLst>
          </p:cNvPr>
          <p:cNvSpPr>
            <a:spLocks xmlns:a="http://schemas.openxmlformats.org/drawingml/2006/main" noGrp="1"/>
          </p:cNvSpPr>
          <p:nvPr/>
        </p:nvSpPr>
        <p:spPr>
          <a:xfrm xmlns:a="http://schemas.openxmlformats.org/drawingml/2006/main">
            <a:off x="87820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5AB98DC-B060-4C3A-9F41-5AB283203679}"/>
              </a:ext>
            </a:extLst>
          </p:cNvPr>
          <p:cNvSpPr>
            <a:spLocks xmlns:a="http://schemas.openxmlformats.org/drawingml/2006/main" noGrp="1"/>
          </p:cNvSpPr>
          <p:nvPr/>
        </p:nvSpPr>
        <p:spPr>
          <a:xfrm xmlns:a="http://schemas.openxmlformats.org/drawingml/2006/main">
            <a:off x="89154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Abandonment rule</a:t>
            </a:r>
          </a:p>
        </p:txBody>
      </p:sp>
      <p:sp>
        <p:nvSpPr>
          <p:cNvPr id="43" name="">
            <a:extLst xmlns:a="http://schemas.openxmlformats.org/drawingml/2006/main">
              <a:ext uri="{FF2B5EF4-FFF2-40B4-BE49-F238E27FC236}">
                <a16:creationId xmlns:a16="http://schemas.microsoft.com/office/drawing/2014/main" id="{8663AE22-A5B4-4C24-B68A-DFF9D754075A}"/>
              </a:ext>
            </a:extLst>
          </p:cNvPr>
          <p:cNvSpPr>
            <a:spLocks xmlns:a="http://schemas.openxmlformats.org/drawingml/2006/main" noGrp="1"/>
          </p:cNvSpPr>
          <p:nvPr/>
        </p:nvSpPr>
        <p:spPr>
          <a:xfrm xmlns:a="http://schemas.openxmlformats.org/drawingml/2006/main">
            <a:off x="87820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E6CFE9A-A0B6-4BC0-B0B3-65B7715BABAB}"/>
              </a:ext>
            </a:extLst>
          </p:cNvPr>
          <p:cNvSpPr>
            <a:spLocks xmlns:a="http://schemas.openxmlformats.org/drawingml/2006/main" noGrp="1"/>
          </p:cNvSpPr>
          <p:nvPr/>
        </p:nvSpPr>
        <p:spPr>
          <a:xfrm xmlns:a="http://schemas.openxmlformats.org/drawingml/2006/main">
            <a:off x="89154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EXHIBIT: numbered chain with arrows</a:t>
            </a:r>
          </a:p>
        </p:txBody>
      </p:sp>
    </p:spTree>
    <p:extLst>
      <p:ext uri="{BB962C8B-B14F-4D97-AF65-F5344CB8AC3E}">
        <p14:creationId xmlns:p14="http://schemas.microsoft.com/office/powerpoint/2010/main" val="1908504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79104129-E83E-4D05-A410-A37BE42753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6DEAF9-CFC5-4619-9C0E-C61C11F572AC}"/>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C72C34-3B18-4435-B084-B805DC0AB9A7}"/>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CE0D80-7956-4857-AC92-7F0BF01F18D9}"/>
              </a:ext>
            </a:extLst>
          </p:cNvPr>
          <p:cNvSpPr>
            <a:spLocks xmlns:a="http://schemas.openxmlformats.org/drawingml/2006/main" noGrp="1"/>
          </p:cNvSpPr>
          <p:nvPr/>
        </p:nvSpPr>
        <p:spPr>
          <a:xfrm xmlns:a="http://schemas.openxmlformats.org/drawingml/2006/main">
            <a:off x="552450" y="6477000"/>
            <a:ext cx="822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5B6B7C"/>
                </a:solidFill>
                <a:latin typeface="Calibri"/>
                <a:ea typeface="Calibri"/>
                <a:cs typeface="Calibri"/>
              </a:defRPr>
            </a:pPr>
            <a:r>
              <a:t>DeepGrid India ADAS Dossier  |  Adapted Prompt Templates</a:t>
            </a:r>
          </a:p>
        </p:txBody>
      </p:sp>
      <p:sp>
        <p:nvSpPr>
          <p:cNvPr id="5" name="">
            <a:extLst xmlns:a="http://schemas.openxmlformats.org/drawingml/2006/main">
              <a:ext uri="{FF2B5EF4-FFF2-40B4-BE49-F238E27FC236}">
                <a16:creationId xmlns:a16="http://schemas.microsoft.com/office/drawing/2014/main" id="{3806838D-CF43-4DB6-80C2-5B43489F8B53}"/>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1B2B3C"/>
                </a:solidFill>
                <a:latin typeface="Calibri"/>
                <a:ea typeface="Calibri"/>
                <a:cs typeface="Calibri"/>
              </a:defRPr>
            </a:pPr>
            <a:r>
              <a:t>7 / 9</a:t>
            </a:r>
          </a:p>
        </p:txBody>
      </p:sp>
      <p:sp>
        <p:nvSpPr>
          <p:cNvPr id="6" name="">
            <a:extLst xmlns:a="http://schemas.openxmlformats.org/drawingml/2006/main">
              <a:ext uri="{FF2B5EF4-FFF2-40B4-BE49-F238E27FC236}">
                <a16:creationId xmlns:a16="http://schemas.microsoft.com/office/drawing/2014/main" id="{E5C8D742-354E-4E74-ACDA-5F556C17CB59}"/>
              </a:ext>
            </a:extLst>
          </p:cNvPr>
          <p:cNvSpPr>
            <a:spLocks xmlns:a="http://schemas.openxmlformats.org/drawingml/2006/main" noGrp="1"/>
          </p:cNvSpPr>
          <p:nvPr/>
        </p:nvSpPr>
        <p:spPr>
          <a:xfrm xmlns:a="http://schemas.openxmlformats.org/drawingml/2006/main">
            <a:off x="590550" y="228600"/>
            <a:ext cx="421005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C62E3B-51E1-44F7-BA41-73E60CC9B45D}"/>
              </a:ext>
            </a:extLst>
          </p:cNvPr>
          <p:cNvSpPr>
            <a:spLocks xmlns:a="http://schemas.openxmlformats.org/drawingml/2006/main" noGrp="1"/>
          </p:cNvSpPr>
          <p:nvPr/>
        </p:nvSpPr>
        <p:spPr>
          <a:xfrm xmlns:a="http://schemas.openxmlformats.org/drawingml/2006/main">
            <a:off x="590550" y="276225"/>
            <a:ext cx="42100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0695C"/>
                </a:solidFill>
                <a:latin typeface="Calibri"/>
                <a:ea typeface="Calibri"/>
                <a:cs typeface="Calibri"/>
              </a:defRPr>
            </a:pPr>
            <a:r>
              <a:t>DOMAIN 3: BOUNDED ACTION</a:t>
            </a:r>
          </a:p>
        </p:txBody>
      </p:sp>
      <p:sp>
        <p:nvSpPr>
          <p:cNvPr id="8" name="">
            <a:extLst xmlns:a="http://schemas.openxmlformats.org/drawingml/2006/main">
              <a:ext uri="{FF2B5EF4-FFF2-40B4-BE49-F238E27FC236}">
                <a16:creationId xmlns:a16="http://schemas.microsoft.com/office/drawing/2014/main" id="{D45208D3-CBC0-44CD-9834-AE720C76183E}"/>
              </a:ext>
            </a:extLst>
          </p:cNvPr>
          <p:cNvSpPr>
            <a:spLocks xmlns:a="http://schemas.openxmlformats.org/drawingml/2006/main" noGrp="1"/>
          </p:cNvSpPr>
          <p:nvPr/>
        </p:nvSpPr>
        <p:spPr>
          <a:xfrm xmlns:a="http://schemas.openxmlformats.org/drawingml/2006/main">
            <a:off x="590550" y="533400"/>
            <a:ext cx="11068050" cy="476250"/>
          </a:xfrm>
          <a:prstGeom xmlns:a="http://schemas.openxmlformats.org/drawingml/2006/main" prst="rect">
            <a:avLst/>
          </a:prstGeom>
        </p:spPr>
        <p:txBody>
          <a:bodyPr xmlns:a="http://schemas.openxmlformats.org/drawingml/2006/main" lIns="0" tIns="0" rIns="0" bIns="0" anchor="t">
            <a:normAutofit fontScale="97656"/>
          </a:bodyPr>
          <a:lstStyle xmlns:a="http://schemas.openxmlformats.org/drawingml/2006/main"/>
          <a:p xmlns:a="http://schemas.openxmlformats.org/drawingml/2006/main">
            <a:pPr algn="l">
              <a:defRPr sz="3200" b="1">
                <a:solidFill>
                  <a:srgbClr val="1B2B3C"/>
                </a:solidFill>
                <a:latin typeface="Calibri"/>
                <a:ea typeface="Calibri"/>
                <a:cs typeface="Calibri"/>
              </a:defRPr>
            </a:pPr>
            <a:r>
              <a:t>P4 · Bounded Argument</a:t>
            </a:r>
          </a:p>
        </p:txBody>
      </p:sp>
      <p:sp>
        <p:nvSpPr>
          <p:cNvPr id="9" name="">
            <a:extLst xmlns:a="http://schemas.openxmlformats.org/drawingml/2006/main">
              <a:ext uri="{FF2B5EF4-FFF2-40B4-BE49-F238E27FC236}">
                <a16:creationId xmlns:a16="http://schemas.microsoft.com/office/drawing/2014/main" id="{6C7E943E-6F33-4AFB-A35C-4D9803AE1449}"/>
              </a:ext>
            </a:extLst>
          </p:cNvPr>
          <p:cNvSpPr>
            <a:spLocks xmlns:a="http://schemas.openxmlformats.org/drawingml/2006/main" noGrp="1"/>
          </p:cNvSpPr>
          <p:nvPr/>
        </p:nvSpPr>
        <p:spPr>
          <a:xfrm xmlns:a="http://schemas.openxmlformats.org/drawingml/2006/main">
            <a:off x="590550" y="1238250"/>
            <a:ext cx="200977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523D9B6-D1F7-4D02-B8B4-48BCD90620AF}"/>
              </a:ext>
            </a:extLst>
          </p:cNvPr>
          <p:cNvSpPr>
            <a:spLocks xmlns:a="http://schemas.openxmlformats.org/drawingml/2006/main" noGrp="1"/>
          </p:cNvSpPr>
          <p:nvPr/>
        </p:nvSpPr>
        <p:spPr>
          <a:xfrm xmlns:a="http://schemas.openxmlformats.org/drawingml/2006/main">
            <a:off x="590550" y="135255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WHEN TO USE</a:t>
            </a:r>
          </a:p>
        </p:txBody>
      </p:sp>
      <p:sp>
        <p:nvSpPr>
          <p:cNvPr id="11" name="">
            <a:extLst xmlns:a="http://schemas.openxmlformats.org/drawingml/2006/main">
              <a:ext uri="{FF2B5EF4-FFF2-40B4-BE49-F238E27FC236}">
                <a16:creationId xmlns:a16="http://schemas.microsoft.com/office/drawing/2014/main" id="{A821CBD3-5358-4A00-BF4F-6EE145EEF4B6}"/>
              </a:ext>
            </a:extLst>
          </p:cNvPr>
          <p:cNvSpPr>
            <a:spLocks xmlns:a="http://schemas.openxmlformats.org/drawingml/2006/main" noGrp="1"/>
          </p:cNvSpPr>
          <p:nvPr/>
        </p:nvSpPr>
        <p:spPr>
          <a:xfrm xmlns:a="http://schemas.openxmlformats.org/drawingml/2006/main">
            <a:off x="590550" y="15716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FDA91C-26E0-40C7-944F-1C020B436207}"/>
              </a:ext>
            </a:extLst>
          </p:cNvPr>
          <p:cNvSpPr>
            <a:spLocks xmlns:a="http://schemas.openxmlformats.org/drawingml/2006/main" noGrp="1"/>
          </p:cNvSpPr>
          <p:nvPr/>
        </p:nvSpPr>
        <p:spPr>
          <a:xfrm xmlns:a="http://schemas.openxmlformats.org/drawingml/2006/main">
            <a:off x="590550" y="16478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The page carries an argument rather than a dataset</a:t>
            </a:r>
          </a:p>
        </p:txBody>
      </p:sp>
      <p:sp>
        <p:nvSpPr>
          <p:cNvPr id="13" name="">
            <a:extLst xmlns:a="http://schemas.openxmlformats.org/drawingml/2006/main">
              <a:ext uri="{FF2B5EF4-FFF2-40B4-BE49-F238E27FC236}">
                <a16:creationId xmlns:a16="http://schemas.microsoft.com/office/drawing/2014/main" id="{E76E5376-7228-4985-BA1B-DF95D2383FAE}"/>
              </a:ext>
            </a:extLst>
          </p:cNvPr>
          <p:cNvSpPr>
            <a:spLocks xmlns:a="http://schemas.openxmlformats.org/drawingml/2006/main" noGrp="1"/>
          </p:cNvSpPr>
          <p:nvPr/>
        </p:nvSpPr>
        <p:spPr>
          <a:xfrm xmlns:a="http://schemas.openxmlformats.org/drawingml/2006/main">
            <a:off x="590550" y="185737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A position must survive a hostile question</a:t>
            </a:r>
          </a:p>
        </p:txBody>
      </p:sp>
      <p:sp>
        <p:nvSpPr>
          <p:cNvPr id="14" name="">
            <a:extLst xmlns:a="http://schemas.openxmlformats.org/drawingml/2006/main">
              <a:ext uri="{FF2B5EF4-FFF2-40B4-BE49-F238E27FC236}">
                <a16:creationId xmlns:a16="http://schemas.microsoft.com/office/drawing/2014/main" id="{96313950-6651-4CA9-A952-4F1C95DAEC1C}"/>
              </a:ext>
            </a:extLst>
          </p:cNvPr>
          <p:cNvSpPr>
            <a:spLocks xmlns:a="http://schemas.openxmlformats.org/drawingml/2006/main" noGrp="1"/>
          </p:cNvSpPr>
          <p:nvPr/>
        </p:nvSpPr>
        <p:spPr>
          <a:xfrm xmlns:a="http://schemas.openxmlformats.org/drawingml/2006/main">
            <a:off x="590550" y="20669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No structured evidence exists — the reasoning is the exhibit</a:t>
            </a:r>
          </a:p>
        </p:txBody>
      </p:sp>
      <p:sp>
        <p:nvSpPr>
          <p:cNvPr id="15" name="">
            <a:extLst xmlns:a="http://schemas.openxmlformats.org/drawingml/2006/main">
              <a:ext uri="{FF2B5EF4-FFF2-40B4-BE49-F238E27FC236}">
                <a16:creationId xmlns:a16="http://schemas.microsoft.com/office/drawing/2014/main" id="{63D1CAC9-0D2A-47B7-85FE-CAD4FF8E4597}"/>
              </a:ext>
            </a:extLst>
          </p:cNvPr>
          <p:cNvSpPr>
            <a:spLocks xmlns:a="http://schemas.openxmlformats.org/drawingml/2006/main" noGrp="1"/>
          </p:cNvSpPr>
          <p:nvPr/>
        </p:nvSpPr>
        <p:spPr>
          <a:xfrm xmlns:a="http://schemas.openxmlformats.org/drawingml/2006/main">
            <a:off x="590550" y="2743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WORKFLOW</a:t>
            </a:r>
          </a:p>
        </p:txBody>
      </p:sp>
      <p:sp>
        <p:nvSpPr>
          <p:cNvPr id="16" name="">
            <a:extLst xmlns:a="http://schemas.openxmlformats.org/drawingml/2006/main">
              <a:ext uri="{FF2B5EF4-FFF2-40B4-BE49-F238E27FC236}">
                <a16:creationId xmlns:a16="http://schemas.microsoft.com/office/drawing/2014/main" id="{237F522A-682E-4BEB-9FEE-2E1645DE246B}"/>
              </a:ext>
            </a:extLst>
          </p:cNvPr>
          <p:cNvSpPr>
            <a:spLocks xmlns:a="http://schemas.openxmlformats.org/drawingml/2006/main" noGrp="1"/>
          </p:cNvSpPr>
          <p:nvPr/>
        </p:nvSpPr>
        <p:spPr>
          <a:xfrm xmlns:a="http://schemas.openxmlformats.org/drawingml/2006/main">
            <a:off x="590550" y="29432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6FAAF2-3075-4567-B3D6-9D7BB4531155}"/>
              </a:ext>
            </a:extLst>
          </p:cNvPr>
          <p:cNvSpPr>
            <a:spLocks xmlns:a="http://schemas.openxmlformats.org/drawingml/2006/main" noGrp="1"/>
          </p:cNvSpPr>
          <p:nvPr/>
        </p:nvSpPr>
        <p:spPr>
          <a:xfrm xmlns:a="http://schemas.openxmlformats.org/drawingml/2006/main">
            <a:off x="590550" y="30194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A989A31-7744-42EE-AFF3-90D88D6CCF17}"/>
              </a:ext>
            </a:extLst>
          </p:cNvPr>
          <p:cNvSpPr>
            <a:spLocks xmlns:a="http://schemas.openxmlformats.org/drawingml/2006/main" noGrp="1"/>
          </p:cNvSpPr>
          <p:nvPr/>
        </p:nvSpPr>
        <p:spPr>
          <a:xfrm xmlns:a="http://schemas.openxmlformats.org/drawingml/2006/main">
            <a:off x="590550" y="30575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1</a:t>
            </a:r>
          </a:p>
        </p:txBody>
      </p:sp>
      <p:sp>
        <p:nvSpPr>
          <p:cNvPr id="19" name="">
            <a:extLst xmlns:a="http://schemas.openxmlformats.org/drawingml/2006/main">
              <a:ext uri="{FF2B5EF4-FFF2-40B4-BE49-F238E27FC236}">
                <a16:creationId xmlns:a16="http://schemas.microsoft.com/office/drawing/2014/main" id="{86514D9C-C37F-4959-872C-4AD67276687D}"/>
              </a:ext>
            </a:extLst>
          </p:cNvPr>
          <p:cNvSpPr>
            <a:spLocks xmlns:a="http://schemas.openxmlformats.org/drawingml/2006/main" noGrp="1"/>
          </p:cNvSpPr>
          <p:nvPr/>
        </p:nvSpPr>
        <p:spPr>
          <a:xfrm xmlns:a="http://schemas.openxmlformats.org/drawingml/2006/main">
            <a:off x="914400" y="30289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State the position answer-first</a:t>
            </a:r>
          </a:p>
        </p:txBody>
      </p:sp>
      <p:sp>
        <p:nvSpPr>
          <p:cNvPr id="20" name="">
            <a:extLst xmlns:a="http://schemas.openxmlformats.org/drawingml/2006/main">
              <a:ext uri="{FF2B5EF4-FFF2-40B4-BE49-F238E27FC236}">
                <a16:creationId xmlns:a16="http://schemas.microsoft.com/office/drawing/2014/main" id="{1C53A61F-9FB5-47B1-9F19-B616F830D20D}"/>
              </a:ext>
            </a:extLst>
          </p:cNvPr>
          <p:cNvSpPr>
            <a:spLocks xmlns:a="http://schemas.openxmlformats.org/drawingml/2006/main" noGrp="1"/>
          </p:cNvSpPr>
          <p:nvPr/>
        </p:nvSpPr>
        <p:spPr>
          <a:xfrm xmlns:a="http://schemas.openxmlformats.org/drawingml/2006/main">
            <a:off x="914400" y="349567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78107FB-6D9D-469A-B948-3F7C593872BF}"/>
              </a:ext>
            </a:extLst>
          </p:cNvPr>
          <p:cNvSpPr>
            <a:spLocks xmlns:a="http://schemas.openxmlformats.org/drawingml/2006/main" noGrp="1"/>
          </p:cNvSpPr>
          <p:nvPr/>
        </p:nvSpPr>
        <p:spPr>
          <a:xfrm xmlns:a="http://schemas.openxmlformats.org/drawingml/2006/main">
            <a:off x="590550" y="360997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C991FD2-BDD3-46AD-A369-C3CD06135115}"/>
              </a:ext>
            </a:extLst>
          </p:cNvPr>
          <p:cNvSpPr>
            <a:spLocks xmlns:a="http://schemas.openxmlformats.org/drawingml/2006/main" noGrp="1"/>
          </p:cNvSpPr>
          <p:nvPr/>
        </p:nvSpPr>
        <p:spPr>
          <a:xfrm xmlns:a="http://schemas.openxmlformats.org/drawingml/2006/main">
            <a:off x="590550" y="364807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2</a:t>
            </a:r>
          </a:p>
        </p:txBody>
      </p:sp>
      <p:sp>
        <p:nvSpPr>
          <p:cNvPr id="23" name="">
            <a:extLst xmlns:a="http://schemas.openxmlformats.org/drawingml/2006/main">
              <a:ext uri="{FF2B5EF4-FFF2-40B4-BE49-F238E27FC236}">
                <a16:creationId xmlns:a16="http://schemas.microsoft.com/office/drawing/2014/main" id="{7CA28BED-C47B-4444-95DF-B302DFCAFD8C}"/>
              </a:ext>
            </a:extLst>
          </p:cNvPr>
          <p:cNvSpPr>
            <a:spLocks xmlns:a="http://schemas.openxmlformats.org/drawingml/2006/main" noGrp="1"/>
          </p:cNvSpPr>
          <p:nvPr/>
        </p:nvSpPr>
        <p:spPr>
          <a:xfrm xmlns:a="http://schemas.openxmlformats.org/drawingml/2006/main">
            <a:off x="914400" y="361950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Give the three stances a reader could take and what each rests on</a:t>
            </a:r>
          </a:p>
        </p:txBody>
      </p:sp>
      <p:sp>
        <p:nvSpPr>
          <p:cNvPr id="24" name="">
            <a:extLst xmlns:a="http://schemas.openxmlformats.org/drawingml/2006/main">
              <a:ext uri="{FF2B5EF4-FFF2-40B4-BE49-F238E27FC236}">
                <a16:creationId xmlns:a16="http://schemas.microsoft.com/office/drawing/2014/main" id="{AE3E8752-EEE5-409F-AC2A-8B1C95CD7C59}"/>
              </a:ext>
            </a:extLst>
          </p:cNvPr>
          <p:cNvSpPr>
            <a:spLocks xmlns:a="http://schemas.openxmlformats.org/drawingml/2006/main" noGrp="1"/>
          </p:cNvSpPr>
          <p:nvPr/>
        </p:nvSpPr>
        <p:spPr>
          <a:xfrm xmlns:a="http://schemas.openxmlformats.org/drawingml/2006/main">
            <a:off x="914400" y="408622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8D2A80D-7F15-4293-836B-0FD6FAFFB958}"/>
              </a:ext>
            </a:extLst>
          </p:cNvPr>
          <p:cNvSpPr>
            <a:spLocks xmlns:a="http://schemas.openxmlformats.org/drawingml/2006/main" noGrp="1"/>
          </p:cNvSpPr>
          <p:nvPr/>
        </p:nvSpPr>
        <p:spPr>
          <a:xfrm xmlns:a="http://schemas.openxmlformats.org/drawingml/2006/main">
            <a:off x="590550" y="42005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B0E4A71-22C2-4C39-A236-2A6450274A74}"/>
              </a:ext>
            </a:extLst>
          </p:cNvPr>
          <p:cNvSpPr>
            <a:spLocks xmlns:a="http://schemas.openxmlformats.org/drawingml/2006/main" noGrp="1"/>
          </p:cNvSpPr>
          <p:nvPr/>
        </p:nvSpPr>
        <p:spPr>
          <a:xfrm xmlns:a="http://schemas.openxmlformats.org/drawingml/2006/main">
            <a:off x="590550" y="42386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3</a:t>
            </a:r>
          </a:p>
        </p:txBody>
      </p:sp>
      <p:sp>
        <p:nvSpPr>
          <p:cNvPr id="27" name="">
            <a:extLst xmlns:a="http://schemas.openxmlformats.org/drawingml/2006/main">
              <a:ext uri="{FF2B5EF4-FFF2-40B4-BE49-F238E27FC236}">
                <a16:creationId xmlns:a16="http://schemas.microsoft.com/office/drawing/2014/main" id="{0C2A6DCE-86C4-417A-97D4-DDABD7249839}"/>
              </a:ext>
            </a:extLst>
          </p:cNvPr>
          <p:cNvSpPr>
            <a:spLocks xmlns:a="http://schemas.openxmlformats.org/drawingml/2006/main" noGrp="1"/>
          </p:cNvSpPr>
          <p:nvPr/>
        </p:nvSpPr>
        <p:spPr>
          <a:xfrm xmlns:a="http://schemas.openxmlformats.org/drawingml/2006/main">
            <a:off x="914400" y="42100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Close on the one that survives, and what would overturn it</a:t>
            </a:r>
          </a:p>
        </p:txBody>
      </p:sp>
      <p:sp>
        <p:nvSpPr>
          <p:cNvPr id="28" name="">
            <a:extLst xmlns:a="http://schemas.openxmlformats.org/drawingml/2006/main">
              <a:ext uri="{FF2B5EF4-FFF2-40B4-BE49-F238E27FC236}">
                <a16:creationId xmlns:a16="http://schemas.microsoft.com/office/drawing/2014/main" id="{99B4CE22-5BB4-497E-973C-8728C71241DE}"/>
              </a:ext>
            </a:extLst>
          </p:cNvPr>
          <p:cNvSpPr>
            <a:spLocks xmlns:a="http://schemas.openxmlformats.org/drawingml/2006/main" noGrp="1"/>
          </p:cNvSpPr>
          <p:nvPr/>
        </p:nvSpPr>
        <p:spPr>
          <a:xfrm xmlns:a="http://schemas.openxmlformats.org/drawingml/2006/main">
            <a:off x="5581650" y="1352550"/>
            <a:ext cx="6219825" cy="24193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E8DEBFE-CBC4-48D3-A805-82A2C66D0373}"/>
              </a:ext>
            </a:extLst>
          </p:cNvPr>
          <p:cNvSpPr>
            <a:spLocks xmlns:a="http://schemas.openxmlformats.org/drawingml/2006/main" noGrp="1"/>
          </p:cNvSpPr>
          <p:nvPr/>
        </p:nvSpPr>
        <p:spPr>
          <a:xfrm xmlns:a="http://schemas.openxmlformats.org/drawingml/2006/main">
            <a:off x="5762625" y="1447800"/>
            <a:ext cx="5848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FFB800"/>
                </a:solidFill>
                <a:latin typeface="Calibri"/>
                <a:ea typeface="Calibri"/>
                <a:cs typeface="Calibri"/>
              </a:defRPr>
            </a:pPr>
            <a:r>
              <a:t>KEY PROMPT  →  TELL CLAUDE:</a:t>
            </a:r>
          </a:p>
        </p:txBody>
      </p:sp>
      <p:sp>
        <p:nvSpPr>
          <p:cNvPr id="30" name="">
            <a:extLst xmlns:a="http://schemas.openxmlformats.org/drawingml/2006/main">
              <a:ext uri="{FF2B5EF4-FFF2-40B4-BE49-F238E27FC236}">
                <a16:creationId xmlns:a16="http://schemas.microsoft.com/office/drawing/2014/main" id="{30D26B24-5FBC-4B81-8826-1B541286D256}"/>
              </a:ext>
            </a:extLst>
          </p:cNvPr>
          <p:cNvSpPr>
            <a:spLocks xmlns:a="http://schemas.openxmlformats.org/drawingml/2006/main" noGrp="1"/>
          </p:cNvSpPr>
          <p:nvPr/>
        </p:nvSpPr>
        <p:spPr>
          <a:xfrm xmlns:a="http://schemas.openxmlformats.org/drawingml/2006/main">
            <a:off x="5762625" y="1733550"/>
            <a:ext cx="584835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FFFFFF"/>
                </a:solidFill>
                <a:latin typeface="Calibri"/>
                <a:ea typeface="Calibri"/>
                <a:cs typeface="Calibri"/>
              </a:defRPr>
            </a:pPr>
            <a:r>
              <a:t>"Argue [position] for [audience]. Give exactly three stances: the position taken, the strongest opposing stance, and the bounded middle. For each give the claim in one sentence and what it rests on. Mark which stance the evidence currently supports. Do not hedge the losing stances — state them at full strength. End with the decision, the owner, and the observable that would overturn the chosen stance."</a:t>
            </a:r>
          </a:p>
        </p:txBody>
      </p:sp>
      <p:sp>
        <p:nvSpPr>
          <p:cNvPr id="31" name="">
            <a:extLst xmlns:a="http://schemas.openxmlformats.org/drawingml/2006/main">
              <a:ext uri="{FF2B5EF4-FFF2-40B4-BE49-F238E27FC236}">
                <a16:creationId xmlns:a16="http://schemas.microsoft.com/office/drawing/2014/main" id="{0028EA3B-2386-4720-B8BD-E0F7DE033AE4}"/>
              </a:ext>
            </a:extLst>
          </p:cNvPr>
          <p:cNvSpPr>
            <a:spLocks xmlns:a="http://schemas.openxmlformats.org/drawingml/2006/main" noGrp="1"/>
          </p:cNvSpPr>
          <p:nvPr/>
        </p:nvSpPr>
        <p:spPr>
          <a:xfrm xmlns:a="http://schemas.openxmlformats.org/drawingml/2006/main">
            <a:off x="5581650" y="3886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OUTPUT INCLUDES</a:t>
            </a:r>
          </a:p>
        </p:txBody>
      </p:sp>
      <p:sp>
        <p:nvSpPr>
          <p:cNvPr id="32" name="">
            <a:extLst xmlns:a="http://schemas.openxmlformats.org/drawingml/2006/main">
              <a:ext uri="{FF2B5EF4-FFF2-40B4-BE49-F238E27FC236}">
                <a16:creationId xmlns:a16="http://schemas.microsoft.com/office/drawing/2014/main" id="{5B0BECE8-6226-4BE1-A1A8-CEE3DA870032}"/>
              </a:ext>
            </a:extLst>
          </p:cNvPr>
          <p:cNvSpPr>
            <a:spLocks xmlns:a="http://schemas.openxmlformats.org/drawingml/2006/main" noGrp="1"/>
          </p:cNvSpPr>
          <p:nvPr/>
        </p:nvSpPr>
        <p:spPr>
          <a:xfrm xmlns:a="http://schemas.openxmlformats.org/drawingml/2006/main">
            <a:off x="5581650" y="4086225"/>
            <a:ext cx="621982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23942A0-2EA7-4DBB-A72F-5D96507C976B}"/>
              </a:ext>
            </a:extLst>
          </p:cNvPr>
          <p:cNvSpPr>
            <a:spLocks xmlns:a="http://schemas.openxmlformats.org/drawingml/2006/main" noGrp="1"/>
          </p:cNvSpPr>
          <p:nvPr/>
        </p:nvSpPr>
        <p:spPr>
          <a:xfrm xmlns:a="http://schemas.openxmlformats.org/drawingml/2006/main">
            <a:off x="55816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85948BE-4BFA-4CAE-A594-7AFEB4A327F4}"/>
              </a:ext>
            </a:extLst>
          </p:cNvPr>
          <p:cNvSpPr>
            <a:spLocks xmlns:a="http://schemas.openxmlformats.org/drawingml/2006/main" noGrp="1"/>
          </p:cNvSpPr>
          <p:nvPr/>
        </p:nvSpPr>
        <p:spPr>
          <a:xfrm xmlns:a="http://schemas.openxmlformats.org/drawingml/2006/main">
            <a:off x="57150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Three stances: taken / opposing / bounded</a:t>
            </a:r>
          </a:p>
        </p:txBody>
      </p:sp>
      <p:sp>
        <p:nvSpPr>
          <p:cNvPr id="35" name="">
            <a:extLst xmlns:a="http://schemas.openxmlformats.org/drawingml/2006/main">
              <a:ext uri="{FF2B5EF4-FFF2-40B4-BE49-F238E27FC236}">
                <a16:creationId xmlns:a16="http://schemas.microsoft.com/office/drawing/2014/main" id="{34E6B5E6-C1C7-4043-9645-8B5D56D6A7CB}"/>
              </a:ext>
            </a:extLst>
          </p:cNvPr>
          <p:cNvSpPr>
            <a:spLocks xmlns:a="http://schemas.openxmlformats.org/drawingml/2006/main" noGrp="1"/>
          </p:cNvSpPr>
          <p:nvPr/>
        </p:nvSpPr>
        <p:spPr>
          <a:xfrm xmlns:a="http://schemas.openxmlformats.org/drawingml/2006/main">
            <a:off x="55816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D8CB6BF-BE58-44DE-9EAC-96DD5D968FDA}"/>
              </a:ext>
            </a:extLst>
          </p:cNvPr>
          <p:cNvSpPr>
            <a:spLocks xmlns:a="http://schemas.openxmlformats.org/drawingml/2006/main" noGrp="1"/>
          </p:cNvSpPr>
          <p:nvPr/>
        </p:nvSpPr>
        <p:spPr>
          <a:xfrm xmlns:a="http://schemas.openxmlformats.org/drawingml/2006/main">
            <a:off x="57150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What each rests on</a:t>
            </a:r>
          </a:p>
        </p:txBody>
      </p:sp>
      <p:sp>
        <p:nvSpPr>
          <p:cNvPr id="37" name="">
            <a:extLst xmlns:a="http://schemas.openxmlformats.org/drawingml/2006/main">
              <a:ext uri="{FF2B5EF4-FFF2-40B4-BE49-F238E27FC236}">
                <a16:creationId xmlns:a16="http://schemas.microsoft.com/office/drawing/2014/main" id="{3FA3D6AA-68DB-4C3F-A458-39B8F8C97054}"/>
              </a:ext>
            </a:extLst>
          </p:cNvPr>
          <p:cNvSpPr>
            <a:spLocks xmlns:a="http://schemas.openxmlformats.org/drawingml/2006/main" noGrp="1"/>
          </p:cNvSpPr>
          <p:nvPr/>
        </p:nvSpPr>
        <p:spPr>
          <a:xfrm xmlns:a="http://schemas.openxmlformats.org/drawingml/2006/main">
            <a:off x="55816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339CD2B-0500-4F26-8125-1399113B77E0}"/>
              </a:ext>
            </a:extLst>
          </p:cNvPr>
          <p:cNvSpPr>
            <a:spLocks xmlns:a="http://schemas.openxmlformats.org/drawingml/2006/main" noGrp="1"/>
          </p:cNvSpPr>
          <p:nvPr/>
        </p:nvSpPr>
        <p:spPr>
          <a:xfrm xmlns:a="http://schemas.openxmlformats.org/drawingml/2006/main">
            <a:off x="57150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Which the evidence supports</a:t>
            </a:r>
          </a:p>
        </p:txBody>
      </p:sp>
      <p:sp>
        <p:nvSpPr>
          <p:cNvPr id="39" name="">
            <a:extLst xmlns:a="http://schemas.openxmlformats.org/drawingml/2006/main">
              <a:ext uri="{FF2B5EF4-FFF2-40B4-BE49-F238E27FC236}">
                <a16:creationId xmlns:a16="http://schemas.microsoft.com/office/drawing/2014/main" id="{2B3A9E80-C47C-4F73-89CD-DA5B8793942B}"/>
              </a:ext>
            </a:extLst>
          </p:cNvPr>
          <p:cNvSpPr>
            <a:spLocks xmlns:a="http://schemas.openxmlformats.org/drawingml/2006/main" noGrp="1"/>
          </p:cNvSpPr>
          <p:nvPr/>
        </p:nvSpPr>
        <p:spPr>
          <a:xfrm xmlns:a="http://schemas.openxmlformats.org/drawingml/2006/main">
            <a:off x="87820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62DBBB6-8527-4B39-86CF-01241B2E45F6}"/>
              </a:ext>
            </a:extLst>
          </p:cNvPr>
          <p:cNvSpPr>
            <a:spLocks xmlns:a="http://schemas.openxmlformats.org/drawingml/2006/main" noGrp="1"/>
          </p:cNvSpPr>
          <p:nvPr/>
        </p:nvSpPr>
        <p:spPr>
          <a:xfrm xmlns:a="http://schemas.openxmlformats.org/drawingml/2006/main">
            <a:off x="89154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Overturning observable</a:t>
            </a:r>
          </a:p>
        </p:txBody>
      </p:sp>
      <p:sp>
        <p:nvSpPr>
          <p:cNvPr id="41" name="">
            <a:extLst xmlns:a="http://schemas.openxmlformats.org/drawingml/2006/main">
              <a:ext uri="{FF2B5EF4-FFF2-40B4-BE49-F238E27FC236}">
                <a16:creationId xmlns:a16="http://schemas.microsoft.com/office/drawing/2014/main" id="{A3DE8BB7-0584-47DC-BBD7-14D9FF0839FF}"/>
              </a:ext>
            </a:extLst>
          </p:cNvPr>
          <p:cNvSpPr>
            <a:spLocks xmlns:a="http://schemas.openxmlformats.org/drawingml/2006/main" noGrp="1"/>
          </p:cNvSpPr>
          <p:nvPr/>
        </p:nvSpPr>
        <p:spPr>
          <a:xfrm xmlns:a="http://schemas.openxmlformats.org/drawingml/2006/main">
            <a:off x="87820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D9C1BD7-C126-4265-99E5-C03C776E2B28}"/>
              </a:ext>
            </a:extLst>
          </p:cNvPr>
          <p:cNvSpPr>
            <a:spLocks xmlns:a="http://schemas.openxmlformats.org/drawingml/2006/main" noGrp="1"/>
          </p:cNvSpPr>
          <p:nvPr/>
        </p:nvSpPr>
        <p:spPr>
          <a:xfrm xmlns:a="http://schemas.openxmlformats.org/drawingml/2006/main">
            <a:off x="89154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Decision · owner · trigger</a:t>
            </a:r>
          </a:p>
        </p:txBody>
      </p:sp>
      <p:sp>
        <p:nvSpPr>
          <p:cNvPr id="43" name="">
            <a:extLst xmlns:a="http://schemas.openxmlformats.org/drawingml/2006/main">
              <a:ext uri="{FF2B5EF4-FFF2-40B4-BE49-F238E27FC236}">
                <a16:creationId xmlns:a16="http://schemas.microsoft.com/office/drawing/2014/main" id="{D1965C1D-6365-4FF5-8089-7DE85A4902B6}"/>
              </a:ext>
            </a:extLst>
          </p:cNvPr>
          <p:cNvSpPr>
            <a:spLocks xmlns:a="http://schemas.openxmlformats.org/drawingml/2006/main" noGrp="1"/>
          </p:cNvSpPr>
          <p:nvPr/>
        </p:nvSpPr>
        <p:spPr>
          <a:xfrm xmlns:a="http://schemas.openxmlformats.org/drawingml/2006/main">
            <a:off x="87820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E8B5648-C99A-489D-9C87-2421CA191737}"/>
              </a:ext>
            </a:extLst>
          </p:cNvPr>
          <p:cNvSpPr>
            <a:spLocks xmlns:a="http://schemas.openxmlformats.org/drawingml/2006/main" noGrp="1"/>
          </p:cNvSpPr>
          <p:nvPr/>
        </p:nvSpPr>
        <p:spPr>
          <a:xfrm xmlns:a="http://schemas.openxmlformats.org/drawingml/2006/main">
            <a:off x="89154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EXHIBIT: three-stance bar</a:t>
            </a:r>
          </a:p>
        </p:txBody>
      </p:sp>
    </p:spTree>
    <p:extLst>
      <p:ext uri="{BB962C8B-B14F-4D97-AF65-F5344CB8AC3E}">
        <p14:creationId xmlns:p14="http://schemas.microsoft.com/office/powerpoint/2010/main" val="13466835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7EDE4E38-BD3A-403C-BAF9-AA9B5BDB37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507163-2290-467B-9D59-C70129FB6604}"/>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F18DA89-0833-432A-B558-6D3384242FCD}"/>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A4E236-2C08-4234-86AD-65D9278535D7}"/>
              </a:ext>
            </a:extLst>
          </p:cNvPr>
          <p:cNvSpPr>
            <a:spLocks xmlns:a="http://schemas.openxmlformats.org/drawingml/2006/main" noGrp="1"/>
          </p:cNvSpPr>
          <p:nvPr/>
        </p:nvSpPr>
        <p:spPr>
          <a:xfrm xmlns:a="http://schemas.openxmlformats.org/drawingml/2006/main">
            <a:off x="552450" y="6477000"/>
            <a:ext cx="822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5B6B7C"/>
                </a:solidFill>
                <a:latin typeface="Calibri"/>
                <a:ea typeface="Calibri"/>
                <a:cs typeface="Calibri"/>
              </a:defRPr>
            </a:pPr>
            <a:r>
              <a:t>DeepGrid India ADAS Dossier  |  Adapted Prompt Templates</a:t>
            </a:r>
          </a:p>
        </p:txBody>
      </p:sp>
      <p:sp>
        <p:nvSpPr>
          <p:cNvPr id="5" name="">
            <a:extLst xmlns:a="http://schemas.openxmlformats.org/drawingml/2006/main">
              <a:ext uri="{FF2B5EF4-FFF2-40B4-BE49-F238E27FC236}">
                <a16:creationId xmlns:a16="http://schemas.microsoft.com/office/drawing/2014/main" id="{30281EDC-4987-4A47-B29D-C1BF77CB015E}"/>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1B2B3C"/>
                </a:solidFill>
                <a:latin typeface="Calibri"/>
                <a:ea typeface="Calibri"/>
                <a:cs typeface="Calibri"/>
              </a:defRPr>
            </a:pPr>
            <a:r>
              <a:t>8 / 9</a:t>
            </a:r>
          </a:p>
        </p:txBody>
      </p:sp>
      <p:sp>
        <p:nvSpPr>
          <p:cNvPr id="6" name="">
            <a:extLst xmlns:a="http://schemas.openxmlformats.org/drawingml/2006/main">
              <a:ext uri="{FF2B5EF4-FFF2-40B4-BE49-F238E27FC236}">
                <a16:creationId xmlns:a16="http://schemas.microsoft.com/office/drawing/2014/main" id="{72B155B1-9511-4708-B3ED-F3B7845F9897}"/>
              </a:ext>
            </a:extLst>
          </p:cNvPr>
          <p:cNvSpPr>
            <a:spLocks xmlns:a="http://schemas.openxmlformats.org/drawingml/2006/main" noGrp="1"/>
          </p:cNvSpPr>
          <p:nvPr/>
        </p:nvSpPr>
        <p:spPr>
          <a:xfrm xmlns:a="http://schemas.openxmlformats.org/drawingml/2006/main">
            <a:off x="590550" y="228600"/>
            <a:ext cx="421005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A1D7B9-7174-4A60-A5E3-760E52C48B3F}"/>
              </a:ext>
            </a:extLst>
          </p:cNvPr>
          <p:cNvSpPr>
            <a:spLocks xmlns:a="http://schemas.openxmlformats.org/drawingml/2006/main" noGrp="1"/>
          </p:cNvSpPr>
          <p:nvPr/>
        </p:nvSpPr>
        <p:spPr>
          <a:xfrm xmlns:a="http://schemas.openxmlformats.org/drawingml/2006/main">
            <a:off x="590550" y="276225"/>
            <a:ext cx="42100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0695C"/>
                </a:solidFill>
                <a:latin typeface="Calibri"/>
                <a:ea typeface="Calibri"/>
                <a:cs typeface="Calibri"/>
              </a:defRPr>
            </a:pPr>
            <a:r>
              <a:t>DOMAIN 4: EXECUTION &amp; ECONOMICS</a:t>
            </a:r>
          </a:p>
        </p:txBody>
      </p:sp>
      <p:sp>
        <p:nvSpPr>
          <p:cNvPr id="8" name="">
            <a:extLst xmlns:a="http://schemas.openxmlformats.org/drawingml/2006/main">
              <a:ext uri="{FF2B5EF4-FFF2-40B4-BE49-F238E27FC236}">
                <a16:creationId xmlns:a16="http://schemas.microsoft.com/office/drawing/2014/main" id="{74343295-6DB5-4642-97BB-786669F8D460}"/>
              </a:ext>
            </a:extLst>
          </p:cNvPr>
          <p:cNvSpPr>
            <a:spLocks xmlns:a="http://schemas.openxmlformats.org/drawingml/2006/main" noGrp="1"/>
          </p:cNvSpPr>
          <p:nvPr/>
        </p:nvSpPr>
        <p:spPr>
          <a:xfrm xmlns:a="http://schemas.openxmlformats.org/drawingml/2006/main">
            <a:off x="590550" y="533400"/>
            <a:ext cx="11068050" cy="476250"/>
          </a:xfrm>
          <a:prstGeom xmlns:a="http://schemas.openxmlformats.org/drawingml/2006/main" prst="rect">
            <a:avLst/>
          </a:prstGeom>
        </p:spPr>
        <p:txBody>
          <a:bodyPr xmlns:a="http://schemas.openxmlformats.org/drawingml/2006/main" lIns="0" tIns="0" rIns="0" bIns="0" anchor="t">
            <a:normAutofit fontScale="97656"/>
          </a:bodyPr>
          <a:lstStyle xmlns:a="http://schemas.openxmlformats.org/drawingml/2006/main"/>
          <a:p xmlns:a="http://schemas.openxmlformats.org/drawingml/2006/main">
            <a:pPr algn="l">
              <a:defRPr sz="3200" b="1">
                <a:solidFill>
                  <a:srgbClr val="1B2B3C"/>
                </a:solidFill>
                <a:latin typeface="Calibri"/>
                <a:ea typeface="Calibri"/>
                <a:cs typeface="Calibri"/>
              </a:defRPr>
            </a:pPr>
            <a:r>
              <a:t>P5 · Dated Plan</a:t>
            </a:r>
          </a:p>
        </p:txBody>
      </p:sp>
      <p:sp>
        <p:nvSpPr>
          <p:cNvPr id="9" name="">
            <a:extLst xmlns:a="http://schemas.openxmlformats.org/drawingml/2006/main">
              <a:ext uri="{FF2B5EF4-FFF2-40B4-BE49-F238E27FC236}">
                <a16:creationId xmlns:a16="http://schemas.microsoft.com/office/drawing/2014/main" id="{ACC6DFEA-1E00-4420-9D27-46F6BF9B5621}"/>
              </a:ext>
            </a:extLst>
          </p:cNvPr>
          <p:cNvSpPr>
            <a:spLocks xmlns:a="http://schemas.openxmlformats.org/drawingml/2006/main" noGrp="1"/>
          </p:cNvSpPr>
          <p:nvPr/>
        </p:nvSpPr>
        <p:spPr>
          <a:xfrm xmlns:a="http://schemas.openxmlformats.org/drawingml/2006/main">
            <a:off x="590550" y="1238250"/>
            <a:ext cx="200977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26E6AB-B06C-450F-BAA2-FDCAF38FDB21}"/>
              </a:ext>
            </a:extLst>
          </p:cNvPr>
          <p:cNvSpPr>
            <a:spLocks xmlns:a="http://schemas.openxmlformats.org/drawingml/2006/main" noGrp="1"/>
          </p:cNvSpPr>
          <p:nvPr/>
        </p:nvSpPr>
        <p:spPr>
          <a:xfrm xmlns:a="http://schemas.openxmlformats.org/drawingml/2006/main">
            <a:off x="590550" y="135255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WHEN TO USE</a:t>
            </a:r>
          </a:p>
        </p:txBody>
      </p:sp>
      <p:sp>
        <p:nvSpPr>
          <p:cNvPr id="11" name="">
            <a:extLst xmlns:a="http://schemas.openxmlformats.org/drawingml/2006/main">
              <a:ext uri="{FF2B5EF4-FFF2-40B4-BE49-F238E27FC236}">
                <a16:creationId xmlns:a16="http://schemas.microsoft.com/office/drawing/2014/main" id="{0C1036F9-A9E2-46C6-B22B-3CE9800AE0C0}"/>
              </a:ext>
            </a:extLst>
          </p:cNvPr>
          <p:cNvSpPr>
            <a:spLocks xmlns:a="http://schemas.openxmlformats.org/drawingml/2006/main" noGrp="1"/>
          </p:cNvSpPr>
          <p:nvPr/>
        </p:nvSpPr>
        <p:spPr>
          <a:xfrm xmlns:a="http://schemas.openxmlformats.org/drawingml/2006/main">
            <a:off x="590550" y="15716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552921-F03D-474D-BA12-E009C1949220}"/>
              </a:ext>
            </a:extLst>
          </p:cNvPr>
          <p:cNvSpPr>
            <a:spLocks xmlns:a="http://schemas.openxmlformats.org/drawingml/2006/main" noGrp="1"/>
          </p:cNvSpPr>
          <p:nvPr/>
        </p:nvSpPr>
        <p:spPr>
          <a:xfrm xmlns:a="http://schemas.openxmlformats.org/drawingml/2006/main">
            <a:off x="590550" y="16478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Claims must become artifacts inside a fixed window</a:t>
            </a:r>
          </a:p>
        </p:txBody>
      </p:sp>
      <p:sp>
        <p:nvSpPr>
          <p:cNvPr id="13" name="">
            <a:extLst xmlns:a="http://schemas.openxmlformats.org/drawingml/2006/main">
              <a:ext uri="{FF2B5EF4-FFF2-40B4-BE49-F238E27FC236}">
                <a16:creationId xmlns:a16="http://schemas.microsoft.com/office/drawing/2014/main" id="{6959A73C-015F-43A0-8014-B0B9C7EAD9E3}"/>
              </a:ext>
            </a:extLst>
          </p:cNvPr>
          <p:cNvSpPr>
            <a:spLocks xmlns:a="http://schemas.openxmlformats.org/drawingml/2006/main" noGrp="1"/>
          </p:cNvSpPr>
          <p:nvPr/>
        </p:nvSpPr>
        <p:spPr>
          <a:xfrm xmlns:a="http://schemas.openxmlformats.org/drawingml/2006/main">
            <a:off x="590550" y="185737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Funding should release on evidence rather than on calendar</a:t>
            </a:r>
          </a:p>
        </p:txBody>
      </p:sp>
      <p:sp>
        <p:nvSpPr>
          <p:cNvPr id="14" name="">
            <a:extLst xmlns:a="http://schemas.openxmlformats.org/drawingml/2006/main">
              <a:ext uri="{FF2B5EF4-FFF2-40B4-BE49-F238E27FC236}">
                <a16:creationId xmlns:a16="http://schemas.microsoft.com/office/drawing/2014/main" id="{27E507E8-9A55-4CBF-90DD-FC81B10DA039}"/>
              </a:ext>
            </a:extLst>
          </p:cNvPr>
          <p:cNvSpPr>
            <a:spLocks xmlns:a="http://schemas.openxmlformats.org/drawingml/2006/main" noGrp="1"/>
          </p:cNvSpPr>
          <p:nvPr/>
        </p:nvSpPr>
        <p:spPr>
          <a:xfrm xmlns:a="http://schemas.openxmlformats.org/drawingml/2006/main">
            <a:off x="590550" y="20669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Several workstreams are running without gates</a:t>
            </a:r>
          </a:p>
        </p:txBody>
      </p:sp>
      <p:sp>
        <p:nvSpPr>
          <p:cNvPr id="15" name="">
            <a:extLst xmlns:a="http://schemas.openxmlformats.org/drawingml/2006/main">
              <a:ext uri="{FF2B5EF4-FFF2-40B4-BE49-F238E27FC236}">
                <a16:creationId xmlns:a16="http://schemas.microsoft.com/office/drawing/2014/main" id="{F6407116-EBB4-4067-8A06-9E8F10D78DDE}"/>
              </a:ext>
            </a:extLst>
          </p:cNvPr>
          <p:cNvSpPr>
            <a:spLocks xmlns:a="http://schemas.openxmlformats.org/drawingml/2006/main" noGrp="1"/>
          </p:cNvSpPr>
          <p:nvPr/>
        </p:nvSpPr>
        <p:spPr>
          <a:xfrm xmlns:a="http://schemas.openxmlformats.org/drawingml/2006/main">
            <a:off x="590550" y="2743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WORKFLOW</a:t>
            </a:r>
          </a:p>
        </p:txBody>
      </p:sp>
      <p:sp>
        <p:nvSpPr>
          <p:cNvPr id="16" name="">
            <a:extLst xmlns:a="http://schemas.openxmlformats.org/drawingml/2006/main">
              <a:ext uri="{FF2B5EF4-FFF2-40B4-BE49-F238E27FC236}">
                <a16:creationId xmlns:a16="http://schemas.microsoft.com/office/drawing/2014/main" id="{47969B7F-9DE4-485A-B3D6-27074A93F31F}"/>
              </a:ext>
            </a:extLst>
          </p:cNvPr>
          <p:cNvSpPr>
            <a:spLocks xmlns:a="http://schemas.openxmlformats.org/drawingml/2006/main" noGrp="1"/>
          </p:cNvSpPr>
          <p:nvPr/>
        </p:nvSpPr>
        <p:spPr>
          <a:xfrm xmlns:a="http://schemas.openxmlformats.org/drawingml/2006/main">
            <a:off x="590550" y="29432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61E6A35-A70C-439A-996A-AD8CF0F1577E}"/>
              </a:ext>
            </a:extLst>
          </p:cNvPr>
          <p:cNvSpPr>
            <a:spLocks xmlns:a="http://schemas.openxmlformats.org/drawingml/2006/main" noGrp="1"/>
          </p:cNvSpPr>
          <p:nvPr/>
        </p:nvSpPr>
        <p:spPr>
          <a:xfrm xmlns:a="http://schemas.openxmlformats.org/drawingml/2006/main">
            <a:off x="590550" y="30194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0C33D7B-69A1-4B01-BF1B-3EF100AA7D92}"/>
              </a:ext>
            </a:extLst>
          </p:cNvPr>
          <p:cNvSpPr>
            <a:spLocks xmlns:a="http://schemas.openxmlformats.org/drawingml/2006/main" noGrp="1"/>
          </p:cNvSpPr>
          <p:nvPr/>
        </p:nvSpPr>
        <p:spPr>
          <a:xfrm xmlns:a="http://schemas.openxmlformats.org/drawingml/2006/main">
            <a:off x="590550" y="30575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1</a:t>
            </a:r>
          </a:p>
        </p:txBody>
      </p:sp>
      <p:sp>
        <p:nvSpPr>
          <p:cNvPr id="19" name="">
            <a:extLst xmlns:a="http://schemas.openxmlformats.org/drawingml/2006/main">
              <a:ext uri="{FF2B5EF4-FFF2-40B4-BE49-F238E27FC236}">
                <a16:creationId xmlns:a16="http://schemas.microsoft.com/office/drawing/2014/main" id="{9E47804B-77BE-4652-B851-7B0B88976E3A}"/>
              </a:ext>
            </a:extLst>
          </p:cNvPr>
          <p:cNvSpPr>
            <a:spLocks xmlns:a="http://schemas.openxmlformats.org/drawingml/2006/main" noGrp="1"/>
          </p:cNvSpPr>
          <p:nvPr/>
        </p:nvSpPr>
        <p:spPr>
          <a:xfrm xmlns:a="http://schemas.openxmlformats.org/drawingml/2006/main">
            <a:off x="914400" y="30289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Set the window and the artifact each phase must produce</a:t>
            </a:r>
          </a:p>
        </p:txBody>
      </p:sp>
      <p:sp>
        <p:nvSpPr>
          <p:cNvPr id="20" name="">
            <a:extLst xmlns:a="http://schemas.openxmlformats.org/drawingml/2006/main">
              <a:ext uri="{FF2B5EF4-FFF2-40B4-BE49-F238E27FC236}">
                <a16:creationId xmlns:a16="http://schemas.microsoft.com/office/drawing/2014/main" id="{68428750-2961-425D-96D1-21B7972FC356}"/>
              </a:ext>
            </a:extLst>
          </p:cNvPr>
          <p:cNvSpPr>
            <a:spLocks xmlns:a="http://schemas.openxmlformats.org/drawingml/2006/main" noGrp="1"/>
          </p:cNvSpPr>
          <p:nvPr/>
        </p:nvSpPr>
        <p:spPr>
          <a:xfrm xmlns:a="http://schemas.openxmlformats.org/drawingml/2006/main">
            <a:off x="914400" y="349567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CABEFBB-910C-4938-BA47-1A30F8FED94B}"/>
              </a:ext>
            </a:extLst>
          </p:cNvPr>
          <p:cNvSpPr>
            <a:spLocks xmlns:a="http://schemas.openxmlformats.org/drawingml/2006/main" noGrp="1"/>
          </p:cNvSpPr>
          <p:nvPr/>
        </p:nvSpPr>
        <p:spPr>
          <a:xfrm xmlns:a="http://schemas.openxmlformats.org/drawingml/2006/main">
            <a:off x="590550" y="360997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E383471-D771-47F2-A34C-084A07D5F3E6}"/>
              </a:ext>
            </a:extLst>
          </p:cNvPr>
          <p:cNvSpPr>
            <a:spLocks xmlns:a="http://schemas.openxmlformats.org/drawingml/2006/main" noGrp="1"/>
          </p:cNvSpPr>
          <p:nvPr/>
        </p:nvSpPr>
        <p:spPr>
          <a:xfrm xmlns:a="http://schemas.openxmlformats.org/drawingml/2006/main">
            <a:off x="590550" y="364807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2</a:t>
            </a:r>
          </a:p>
        </p:txBody>
      </p:sp>
      <p:sp>
        <p:nvSpPr>
          <p:cNvPr id="23" name="">
            <a:extLst xmlns:a="http://schemas.openxmlformats.org/drawingml/2006/main">
              <a:ext uri="{FF2B5EF4-FFF2-40B4-BE49-F238E27FC236}">
                <a16:creationId xmlns:a16="http://schemas.microsoft.com/office/drawing/2014/main" id="{8C40F325-B256-47EB-9230-00C91C80A1E8}"/>
              </a:ext>
            </a:extLst>
          </p:cNvPr>
          <p:cNvSpPr>
            <a:spLocks xmlns:a="http://schemas.openxmlformats.org/drawingml/2006/main" noGrp="1"/>
          </p:cNvSpPr>
          <p:nvPr/>
        </p:nvSpPr>
        <p:spPr>
          <a:xfrm xmlns:a="http://schemas.openxmlformats.org/drawingml/2006/main">
            <a:off x="914400" y="361950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Sequence so each phase unlocks the next</a:t>
            </a:r>
          </a:p>
        </p:txBody>
      </p:sp>
      <p:sp>
        <p:nvSpPr>
          <p:cNvPr id="24" name="">
            <a:extLst xmlns:a="http://schemas.openxmlformats.org/drawingml/2006/main">
              <a:ext uri="{FF2B5EF4-FFF2-40B4-BE49-F238E27FC236}">
                <a16:creationId xmlns:a16="http://schemas.microsoft.com/office/drawing/2014/main" id="{E56584F4-E25A-40DA-BA81-B759B61BB6D4}"/>
              </a:ext>
            </a:extLst>
          </p:cNvPr>
          <p:cNvSpPr>
            <a:spLocks xmlns:a="http://schemas.openxmlformats.org/drawingml/2006/main" noGrp="1"/>
          </p:cNvSpPr>
          <p:nvPr/>
        </p:nvSpPr>
        <p:spPr>
          <a:xfrm xmlns:a="http://schemas.openxmlformats.org/drawingml/2006/main">
            <a:off x="914400" y="408622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9658304-4E09-4AE6-BF89-27A799A1973E}"/>
              </a:ext>
            </a:extLst>
          </p:cNvPr>
          <p:cNvSpPr>
            <a:spLocks xmlns:a="http://schemas.openxmlformats.org/drawingml/2006/main" noGrp="1"/>
          </p:cNvSpPr>
          <p:nvPr/>
        </p:nvSpPr>
        <p:spPr>
          <a:xfrm xmlns:a="http://schemas.openxmlformats.org/drawingml/2006/main">
            <a:off x="590550" y="42005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73B6661-DFE6-4BFD-A502-DC1083A78B86}"/>
              </a:ext>
            </a:extLst>
          </p:cNvPr>
          <p:cNvSpPr>
            <a:spLocks xmlns:a="http://schemas.openxmlformats.org/drawingml/2006/main" noGrp="1"/>
          </p:cNvSpPr>
          <p:nvPr/>
        </p:nvSpPr>
        <p:spPr>
          <a:xfrm xmlns:a="http://schemas.openxmlformats.org/drawingml/2006/main">
            <a:off x="590550" y="42386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3</a:t>
            </a:r>
          </a:p>
        </p:txBody>
      </p:sp>
      <p:sp>
        <p:nvSpPr>
          <p:cNvPr id="27" name="">
            <a:extLst xmlns:a="http://schemas.openxmlformats.org/drawingml/2006/main">
              <a:ext uri="{FF2B5EF4-FFF2-40B4-BE49-F238E27FC236}">
                <a16:creationId xmlns:a16="http://schemas.microsoft.com/office/drawing/2014/main" id="{283A2ED5-1E10-491D-ABB4-B9868C445BB7}"/>
              </a:ext>
            </a:extLst>
          </p:cNvPr>
          <p:cNvSpPr>
            <a:spLocks xmlns:a="http://schemas.openxmlformats.org/drawingml/2006/main" noGrp="1"/>
          </p:cNvSpPr>
          <p:nvPr/>
        </p:nvSpPr>
        <p:spPr>
          <a:xfrm xmlns:a="http://schemas.openxmlformats.org/drawingml/2006/main">
            <a:off x="914400" y="42100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Attach a gate, an owner and a stop condition to every phase</a:t>
            </a:r>
          </a:p>
        </p:txBody>
      </p:sp>
      <p:sp>
        <p:nvSpPr>
          <p:cNvPr id="28" name="">
            <a:extLst xmlns:a="http://schemas.openxmlformats.org/drawingml/2006/main">
              <a:ext uri="{FF2B5EF4-FFF2-40B4-BE49-F238E27FC236}">
                <a16:creationId xmlns:a16="http://schemas.microsoft.com/office/drawing/2014/main" id="{7D92F922-EDC7-46B7-AC0E-B1C708DAFA33}"/>
              </a:ext>
            </a:extLst>
          </p:cNvPr>
          <p:cNvSpPr>
            <a:spLocks xmlns:a="http://schemas.openxmlformats.org/drawingml/2006/main" noGrp="1"/>
          </p:cNvSpPr>
          <p:nvPr/>
        </p:nvSpPr>
        <p:spPr>
          <a:xfrm xmlns:a="http://schemas.openxmlformats.org/drawingml/2006/main">
            <a:off x="5581650" y="1352550"/>
            <a:ext cx="6219825" cy="24193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564536D-AD1F-4949-AA66-DA3641C5442A}"/>
              </a:ext>
            </a:extLst>
          </p:cNvPr>
          <p:cNvSpPr>
            <a:spLocks xmlns:a="http://schemas.openxmlformats.org/drawingml/2006/main" noGrp="1"/>
          </p:cNvSpPr>
          <p:nvPr/>
        </p:nvSpPr>
        <p:spPr>
          <a:xfrm xmlns:a="http://schemas.openxmlformats.org/drawingml/2006/main">
            <a:off x="5762625" y="1447800"/>
            <a:ext cx="5848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FFB800"/>
                </a:solidFill>
                <a:latin typeface="Calibri"/>
                <a:ea typeface="Calibri"/>
                <a:cs typeface="Calibri"/>
              </a:defRPr>
            </a:pPr>
            <a:r>
              <a:t>KEY PROMPT  →  TELL CLAUDE:</a:t>
            </a:r>
          </a:p>
        </p:txBody>
      </p:sp>
      <p:sp>
        <p:nvSpPr>
          <p:cNvPr id="30" name="">
            <a:extLst xmlns:a="http://schemas.openxmlformats.org/drawingml/2006/main">
              <a:ext uri="{FF2B5EF4-FFF2-40B4-BE49-F238E27FC236}">
                <a16:creationId xmlns:a16="http://schemas.microsoft.com/office/drawing/2014/main" id="{4870E279-02D8-468B-B501-6D2E781BE5AA}"/>
              </a:ext>
            </a:extLst>
          </p:cNvPr>
          <p:cNvSpPr>
            <a:spLocks xmlns:a="http://schemas.openxmlformats.org/drawingml/2006/main" noGrp="1"/>
          </p:cNvSpPr>
          <p:nvPr/>
        </p:nvSpPr>
        <p:spPr>
          <a:xfrm xmlns:a="http://schemas.openxmlformats.org/drawingml/2006/main">
            <a:off x="5762625" y="1733550"/>
            <a:ext cx="584835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FFFFFF"/>
                </a:solidFill>
                <a:latin typeface="Calibri"/>
                <a:ea typeface="Calibri"/>
                <a:cs typeface="Calibri"/>
              </a:defRPr>
            </a:pPr>
            <a:r>
              <a:t>"Build a [duration] plan for [company] that converts claims into reproducible artifacts. Give 3–5 phases. For each: the window as written on a chart, its span in weeks, the artifact it must produce, the owner, and the gate that releases the next phase. Sequence so each phase unlocks the following one. End with the condition under which the plan stops rather than continues."</a:t>
            </a:r>
          </a:p>
        </p:txBody>
      </p:sp>
      <p:sp>
        <p:nvSpPr>
          <p:cNvPr id="31" name="">
            <a:extLst xmlns:a="http://schemas.openxmlformats.org/drawingml/2006/main">
              <a:ext uri="{FF2B5EF4-FFF2-40B4-BE49-F238E27FC236}">
                <a16:creationId xmlns:a16="http://schemas.microsoft.com/office/drawing/2014/main" id="{B805C1AC-3DEE-4FD3-A689-F7FE23885214}"/>
              </a:ext>
            </a:extLst>
          </p:cNvPr>
          <p:cNvSpPr>
            <a:spLocks xmlns:a="http://schemas.openxmlformats.org/drawingml/2006/main" noGrp="1"/>
          </p:cNvSpPr>
          <p:nvPr/>
        </p:nvSpPr>
        <p:spPr>
          <a:xfrm xmlns:a="http://schemas.openxmlformats.org/drawingml/2006/main">
            <a:off x="5581650" y="3886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OUTPUT INCLUDES</a:t>
            </a:r>
          </a:p>
        </p:txBody>
      </p:sp>
      <p:sp>
        <p:nvSpPr>
          <p:cNvPr id="32" name="">
            <a:extLst xmlns:a="http://schemas.openxmlformats.org/drawingml/2006/main">
              <a:ext uri="{FF2B5EF4-FFF2-40B4-BE49-F238E27FC236}">
                <a16:creationId xmlns:a16="http://schemas.microsoft.com/office/drawing/2014/main" id="{354ABC7F-4142-4E0A-9A32-99024FCC8282}"/>
              </a:ext>
            </a:extLst>
          </p:cNvPr>
          <p:cNvSpPr>
            <a:spLocks xmlns:a="http://schemas.openxmlformats.org/drawingml/2006/main" noGrp="1"/>
          </p:cNvSpPr>
          <p:nvPr/>
        </p:nvSpPr>
        <p:spPr>
          <a:xfrm xmlns:a="http://schemas.openxmlformats.org/drawingml/2006/main">
            <a:off x="5581650" y="4086225"/>
            <a:ext cx="621982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5B1F22D-AD04-49F0-8C77-8CDD71AC79B5}"/>
              </a:ext>
            </a:extLst>
          </p:cNvPr>
          <p:cNvSpPr>
            <a:spLocks xmlns:a="http://schemas.openxmlformats.org/drawingml/2006/main" noGrp="1"/>
          </p:cNvSpPr>
          <p:nvPr/>
        </p:nvSpPr>
        <p:spPr>
          <a:xfrm xmlns:a="http://schemas.openxmlformats.org/drawingml/2006/main">
            <a:off x="55816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F29F127-0C50-44F3-B49F-6DC4EFE4B846}"/>
              </a:ext>
            </a:extLst>
          </p:cNvPr>
          <p:cNvSpPr>
            <a:spLocks xmlns:a="http://schemas.openxmlformats.org/drawingml/2006/main" noGrp="1"/>
          </p:cNvSpPr>
          <p:nvPr/>
        </p:nvSpPr>
        <p:spPr>
          <a:xfrm xmlns:a="http://schemas.openxmlformats.org/drawingml/2006/main">
            <a:off x="57150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Target outcome</a:t>
            </a:r>
          </a:p>
        </p:txBody>
      </p:sp>
      <p:sp>
        <p:nvSpPr>
          <p:cNvPr id="35" name="">
            <a:extLst xmlns:a="http://schemas.openxmlformats.org/drawingml/2006/main">
              <a:ext uri="{FF2B5EF4-FFF2-40B4-BE49-F238E27FC236}">
                <a16:creationId xmlns:a16="http://schemas.microsoft.com/office/drawing/2014/main" id="{03C01397-A8F0-4340-86B6-21F22D886592}"/>
              </a:ext>
            </a:extLst>
          </p:cNvPr>
          <p:cNvSpPr>
            <a:spLocks xmlns:a="http://schemas.openxmlformats.org/drawingml/2006/main" noGrp="1"/>
          </p:cNvSpPr>
          <p:nvPr/>
        </p:nvSpPr>
        <p:spPr>
          <a:xfrm xmlns:a="http://schemas.openxmlformats.org/drawingml/2006/main">
            <a:off x="55816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6EFEA1A-7909-4AA3-9045-3F06A0FCFA39}"/>
              </a:ext>
            </a:extLst>
          </p:cNvPr>
          <p:cNvSpPr>
            <a:spLocks xmlns:a="http://schemas.openxmlformats.org/drawingml/2006/main" noGrp="1"/>
          </p:cNvSpPr>
          <p:nvPr/>
        </p:nvSpPr>
        <p:spPr>
          <a:xfrm xmlns:a="http://schemas.openxmlformats.org/drawingml/2006/main">
            <a:off x="57150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Phases[] with span in weeks</a:t>
            </a:r>
          </a:p>
        </p:txBody>
      </p:sp>
      <p:sp>
        <p:nvSpPr>
          <p:cNvPr id="37" name="">
            <a:extLst xmlns:a="http://schemas.openxmlformats.org/drawingml/2006/main">
              <a:ext uri="{FF2B5EF4-FFF2-40B4-BE49-F238E27FC236}">
                <a16:creationId xmlns:a16="http://schemas.microsoft.com/office/drawing/2014/main" id="{069078C9-CE05-4E25-90B8-92AA9ED1EDC9}"/>
              </a:ext>
            </a:extLst>
          </p:cNvPr>
          <p:cNvSpPr>
            <a:spLocks xmlns:a="http://schemas.openxmlformats.org/drawingml/2006/main" noGrp="1"/>
          </p:cNvSpPr>
          <p:nvPr/>
        </p:nvSpPr>
        <p:spPr>
          <a:xfrm xmlns:a="http://schemas.openxmlformats.org/drawingml/2006/main">
            <a:off x="55816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FEA1C25-1174-4912-9A8E-D2AD9BBAD55D}"/>
              </a:ext>
            </a:extLst>
          </p:cNvPr>
          <p:cNvSpPr>
            <a:spLocks xmlns:a="http://schemas.openxmlformats.org/drawingml/2006/main" noGrp="1"/>
          </p:cNvSpPr>
          <p:nvPr/>
        </p:nvSpPr>
        <p:spPr>
          <a:xfrm xmlns:a="http://schemas.openxmlformats.org/drawingml/2006/main">
            <a:off x="57150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Artifact per phase (never an activity)</a:t>
            </a:r>
          </a:p>
        </p:txBody>
      </p:sp>
      <p:sp>
        <p:nvSpPr>
          <p:cNvPr id="39" name="">
            <a:extLst xmlns:a="http://schemas.openxmlformats.org/drawingml/2006/main">
              <a:ext uri="{FF2B5EF4-FFF2-40B4-BE49-F238E27FC236}">
                <a16:creationId xmlns:a16="http://schemas.microsoft.com/office/drawing/2014/main" id="{69D4FCB9-FFB9-4B47-8BAC-0A0D521B580C}"/>
              </a:ext>
            </a:extLst>
          </p:cNvPr>
          <p:cNvSpPr>
            <a:spLocks xmlns:a="http://schemas.openxmlformats.org/drawingml/2006/main" noGrp="1"/>
          </p:cNvSpPr>
          <p:nvPr/>
        </p:nvSpPr>
        <p:spPr>
          <a:xfrm xmlns:a="http://schemas.openxmlformats.org/drawingml/2006/main">
            <a:off x="87820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9AE92E3-F16B-4C14-9EFE-D85562B93ECD}"/>
              </a:ext>
            </a:extLst>
          </p:cNvPr>
          <p:cNvSpPr>
            <a:spLocks xmlns:a="http://schemas.openxmlformats.org/drawingml/2006/main" noGrp="1"/>
          </p:cNvSpPr>
          <p:nvPr/>
        </p:nvSpPr>
        <p:spPr>
          <a:xfrm xmlns:a="http://schemas.openxmlformats.org/drawingml/2006/main">
            <a:off x="89154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Gate and owner per phase</a:t>
            </a:r>
          </a:p>
        </p:txBody>
      </p:sp>
      <p:sp>
        <p:nvSpPr>
          <p:cNvPr id="41" name="">
            <a:extLst xmlns:a="http://schemas.openxmlformats.org/drawingml/2006/main">
              <a:ext uri="{FF2B5EF4-FFF2-40B4-BE49-F238E27FC236}">
                <a16:creationId xmlns:a16="http://schemas.microsoft.com/office/drawing/2014/main" id="{0E8E941E-7AAD-44EE-A399-673289B07F0C}"/>
              </a:ext>
            </a:extLst>
          </p:cNvPr>
          <p:cNvSpPr>
            <a:spLocks xmlns:a="http://schemas.openxmlformats.org/drawingml/2006/main" noGrp="1"/>
          </p:cNvSpPr>
          <p:nvPr/>
        </p:nvSpPr>
        <p:spPr>
          <a:xfrm xmlns:a="http://schemas.openxmlformats.org/drawingml/2006/main">
            <a:off x="87820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6EFA81B-0C7F-4CE7-9B03-829F1038F903}"/>
              </a:ext>
            </a:extLst>
          </p:cNvPr>
          <p:cNvSpPr>
            <a:spLocks xmlns:a="http://schemas.openxmlformats.org/drawingml/2006/main" noGrp="1"/>
          </p:cNvSpPr>
          <p:nvPr/>
        </p:nvSpPr>
        <p:spPr>
          <a:xfrm xmlns:a="http://schemas.openxmlformats.org/drawingml/2006/main">
            <a:off x="89154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Stop condition</a:t>
            </a:r>
          </a:p>
        </p:txBody>
      </p:sp>
      <p:sp>
        <p:nvSpPr>
          <p:cNvPr id="43" name="">
            <a:extLst xmlns:a="http://schemas.openxmlformats.org/drawingml/2006/main">
              <a:ext uri="{FF2B5EF4-FFF2-40B4-BE49-F238E27FC236}">
                <a16:creationId xmlns:a16="http://schemas.microsoft.com/office/drawing/2014/main" id="{BE2E7A79-D7BA-400B-A382-59154A4F343E}"/>
              </a:ext>
            </a:extLst>
          </p:cNvPr>
          <p:cNvSpPr>
            <a:spLocks xmlns:a="http://schemas.openxmlformats.org/drawingml/2006/main" noGrp="1"/>
          </p:cNvSpPr>
          <p:nvPr/>
        </p:nvSpPr>
        <p:spPr>
          <a:xfrm xmlns:a="http://schemas.openxmlformats.org/drawingml/2006/main">
            <a:off x="87820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A5F89E1-D53A-41F9-8DBA-520AD7F08157}"/>
              </a:ext>
            </a:extLst>
          </p:cNvPr>
          <p:cNvSpPr>
            <a:spLocks xmlns:a="http://schemas.openxmlformats.org/drawingml/2006/main" noGrp="1"/>
          </p:cNvSpPr>
          <p:nvPr/>
        </p:nvSpPr>
        <p:spPr>
          <a:xfrm xmlns:a="http://schemas.openxmlformats.org/drawingml/2006/main">
            <a:off x="89154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EXHIBIT: timeline rail, spans to scale</a:t>
            </a:r>
          </a:p>
        </p:txBody>
      </p:sp>
    </p:spTree>
    <p:extLst>
      <p:ext uri="{BB962C8B-B14F-4D97-AF65-F5344CB8AC3E}">
        <p14:creationId xmlns:p14="http://schemas.microsoft.com/office/powerpoint/2010/main" val="121188330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067B390B-1ABD-4B54-A72B-06AA40C4BB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6AB56D6-9708-41C9-A21C-F14FAC6C237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D8CE35-C7AA-4746-B50B-336C8793A7D7}"/>
              </a:ext>
            </a:extLst>
          </p:cNvPr>
          <p:cNvSpPr>
            <a:spLocks xmlns:a="http://schemas.openxmlformats.org/drawingml/2006/main" noGrp="1"/>
          </p:cNvSpPr>
          <p:nvPr/>
        </p:nvSpPr>
        <p:spPr>
          <a:xfrm xmlns:a="http://schemas.openxmlformats.org/drawingml/2006/main">
            <a:off x="0" y="0"/>
            <a:ext cx="5715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85E79C-97EE-47C7-99A5-A26DA6C79947}"/>
              </a:ext>
            </a:extLst>
          </p:cNvPr>
          <p:cNvSpPr>
            <a:spLocks xmlns:a="http://schemas.openxmlformats.org/drawingml/2006/main" noGrp="1"/>
          </p:cNvSpPr>
          <p:nvPr/>
        </p:nvSpPr>
        <p:spPr>
          <a:xfrm xmlns:a="http://schemas.openxmlformats.org/drawingml/2006/main">
            <a:off x="552450" y="6477000"/>
            <a:ext cx="822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5B6B7C"/>
                </a:solidFill>
                <a:latin typeface="Calibri"/>
                <a:ea typeface="Calibri"/>
                <a:cs typeface="Calibri"/>
              </a:defRPr>
            </a:pPr>
            <a:r>
              <a:t>DeepGrid India ADAS Dossier  |  Adapted Prompt Templates</a:t>
            </a:r>
          </a:p>
        </p:txBody>
      </p:sp>
      <p:sp>
        <p:nvSpPr>
          <p:cNvPr id="5" name="">
            <a:extLst xmlns:a="http://schemas.openxmlformats.org/drawingml/2006/main">
              <a:ext uri="{FF2B5EF4-FFF2-40B4-BE49-F238E27FC236}">
                <a16:creationId xmlns:a16="http://schemas.microsoft.com/office/drawing/2014/main" id="{B69007E7-CB81-4E50-836F-42CC733EE311}"/>
              </a:ext>
            </a:extLst>
          </p:cNvPr>
          <p:cNvSpPr>
            <a:spLocks xmlns:a="http://schemas.openxmlformats.org/drawingml/2006/main" noGrp="1"/>
          </p:cNvSpPr>
          <p:nvPr/>
        </p:nvSpPr>
        <p:spPr>
          <a:xfrm xmlns:a="http://schemas.openxmlformats.org/drawingml/2006/main">
            <a:off x="11001375" y="6457950"/>
            <a:ext cx="638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b="1">
                <a:solidFill>
                  <a:srgbClr val="1B2B3C"/>
                </a:solidFill>
                <a:latin typeface="Calibri"/>
                <a:ea typeface="Calibri"/>
                <a:cs typeface="Calibri"/>
              </a:defRPr>
            </a:pPr>
            <a:r>
              <a:t>9 / 9</a:t>
            </a:r>
          </a:p>
        </p:txBody>
      </p:sp>
      <p:sp>
        <p:nvSpPr>
          <p:cNvPr id="6" name="">
            <a:extLst xmlns:a="http://schemas.openxmlformats.org/drawingml/2006/main">
              <a:ext uri="{FF2B5EF4-FFF2-40B4-BE49-F238E27FC236}">
                <a16:creationId xmlns:a16="http://schemas.microsoft.com/office/drawing/2014/main" id="{EC6BFBAF-806D-4CDE-B5EE-7FA935943069}"/>
              </a:ext>
            </a:extLst>
          </p:cNvPr>
          <p:cNvSpPr>
            <a:spLocks xmlns:a="http://schemas.openxmlformats.org/drawingml/2006/main" noGrp="1"/>
          </p:cNvSpPr>
          <p:nvPr/>
        </p:nvSpPr>
        <p:spPr>
          <a:xfrm xmlns:a="http://schemas.openxmlformats.org/drawingml/2006/main">
            <a:off x="590550" y="228600"/>
            <a:ext cx="4210050" cy="25717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58C8498-1F09-46C9-9832-A2F5F84F0BE6}"/>
              </a:ext>
            </a:extLst>
          </p:cNvPr>
          <p:cNvSpPr>
            <a:spLocks xmlns:a="http://schemas.openxmlformats.org/drawingml/2006/main" noGrp="1"/>
          </p:cNvSpPr>
          <p:nvPr/>
        </p:nvSpPr>
        <p:spPr>
          <a:xfrm xmlns:a="http://schemas.openxmlformats.org/drawingml/2006/main">
            <a:off x="590550" y="276225"/>
            <a:ext cx="42100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0695C"/>
                </a:solidFill>
                <a:latin typeface="Calibri"/>
                <a:ea typeface="Calibri"/>
                <a:cs typeface="Calibri"/>
              </a:defRPr>
            </a:pPr>
            <a:r>
              <a:t>DOMAIN 4: EXECUTION &amp; ECONOMICS</a:t>
            </a:r>
          </a:p>
        </p:txBody>
      </p:sp>
      <p:sp>
        <p:nvSpPr>
          <p:cNvPr id="8" name="">
            <a:extLst xmlns:a="http://schemas.openxmlformats.org/drawingml/2006/main">
              <a:ext uri="{FF2B5EF4-FFF2-40B4-BE49-F238E27FC236}">
                <a16:creationId xmlns:a16="http://schemas.microsoft.com/office/drawing/2014/main" id="{3487F7E8-03FC-4BE8-B734-59D7E9BF6EC3}"/>
              </a:ext>
            </a:extLst>
          </p:cNvPr>
          <p:cNvSpPr>
            <a:spLocks xmlns:a="http://schemas.openxmlformats.org/drawingml/2006/main" noGrp="1"/>
          </p:cNvSpPr>
          <p:nvPr/>
        </p:nvSpPr>
        <p:spPr>
          <a:xfrm xmlns:a="http://schemas.openxmlformats.org/drawingml/2006/main">
            <a:off x="590550" y="533400"/>
            <a:ext cx="11068050" cy="476250"/>
          </a:xfrm>
          <a:prstGeom xmlns:a="http://schemas.openxmlformats.org/drawingml/2006/main" prst="rect">
            <a:avLst/>
          </a:prstGeom>
        </p:spPr>
        <p:txBody>
          <a:bodyPr xmlns:a="http://schemas.openxmlformats.org/drawingml/2006/main" lIns="0" tIns="0" rIns="0" bIns="0" anchor="t">
            <a:normAutofit fontScale="97656"/>
          </a:bodyPr>
          <a:lstStyle xmlns:a="http://schemas.openxmlformats.org/drawingml/2006/main"/>
          <a:p xmlns:a="http://schemas.openxmlformats.org/drawingml/2006/main">
            <a:pPr algn="l">
              <a:defRPr sz="3200" b="1">
                <a:solidFill>
                  <a:srgbClr val="1B2B3C"/>
                </a:solidFill>
                <a:latin typeface="Calibri"/>
                <a:ea typeface="Calibri"/>
                <a:cs typeface="Calibri"/>
              </a:defRPr>
            </a:pPr>
            <a:r>
              <a:t>P6 · Cost Bridge</a:t>
            </a:r>
          </a:p>
        </p:txBody>
      </p:sp>
      <p:sp>
        <p:nvSpPr>
          <p:cNvPr id="9" name="">
            <a:extLst xmlns:a="http://schemas.openxmlformats.org/drawingml/2006/main">
              <a:ext uri="{FF2B5EF4-FFF2-40B4-BE49-F238E27FC236}">
                <a16:creationId xmlns:a16="http://schemas.microsoft.com/office/drawing/2014/main" id="{C15D5BB7-E4B3-4A08-8AEF-80C9CFDB2B70}"/>
              </a:ext>
            </a:extLst>
          </p:cNvPr>
          <p:cNvSpPr>
            <a:spLocks xmlns:a="http://schemas.openxmlformats.org/drawingml/2006/main" noGrp="1"/>
          </p:cNvSpPr>
          <p:nvPr/>
        </p:nvSpPr>
        <p:spPr>
          <a:xfrm xmlns:a="http://schemas.openxmlformats.org/drawingml/2006/main">
            <a:off x="590550" y="1238250"/>
            <a:ext cx="200977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E4C5C00-FC39-4608-ACFF-7838600C077B}"/>
              </a:ext>
            </a:extLst>
          </p:cNvPr>
          <p:cNvSpPr>
            <a:spLocks xmlns:a="http://schemas.openxmlformats.org/drawingml/2006/main" noGrp="1"/>
          </p:cNvSpPr>
          <p:nvPr/>
        </p:nvSpPr>
        <p:spPr>
          <a:xfrm xmlns:a="http://schemas.openxmlformats.org/drawingml/2006/main">
            <a:off x="590550" y="135255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WHEN TO USE</a:t>
            </a:r>
          </a:p>
        </p:txBody>
      </p:sp>
      <p:sp>
        <p:nvSpPr>
          <p:cNvPr id="11" name="">
            <a:extLst xmlns:a="http://schemas.openxmlformats.org/drawingml/2006/main">
              <a:ext uri="{FF2B5EF4-FFF2-40B4-BE49-F238E27FC236}">
                <a16:creationId xmlns:a16="http://schemas.microsoft.com/office/drawing/2014/main" id="{AB920497-390D-480F-82F4-5C91BAD0EF14}"/>
              </a:ext>
            </a:extLst>
          </p:cNvPr>
          <p:cNvSpPr>
            <a:spLocks xmlns:a="http://schemas.openxmlformats.org/drawingml/2006/main" noGrp="1"/>
          </p:cNvSpPr>
          <p:nvPr/>
        </p:nvSpPr>
        <p:spPr>
          <a:xfrm xmlns:a="http://schemas.openxmlformats.org/drawingml/2006/main">
            <a:off x="590550" y="15716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8EF4296-06A7-4E9E-B66F-A517BE33EA5E}"/>
              </a:ext>
            </a:extLst>
          </p:cNvPr>
          <p:cNvSpPr>
            <a:spLocks xmlns:a="http://schemas.openxmlformats.org/drawingml/2006/main" noGrp="1"/>
          </p:cNvSpPr>
          <p:nvPr/>
        </p:nvSpPr>
        <p:spPr>
          <a:xfrm xmlns:a="http://schemas.openxmlformats.org/drawingml/2006/main">
            <a:off x="590550" y="16478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A cost advantage is claimed but not modelled</a:t>
            </a:r>
          </a:p>
        </p:txBody>
      </p:sp>
      <p:sp>
        <p:nvSpPr>
          <p:cNvPr id="13" name="">
            <a:extLst xmlns:a="http://schemas.openxmlformats.org/drawingml/2006/main">
              <a:ext uri="{FF2B5EF4-FFF2-40B4-BE49-F238E27FC236}">
                <a16:creationId xmlns:a16="http://schemas.microsoft.com/office/drawing/2014/main" id="{E1C6C703-F193-4BA6-9EB6-AA9DBF4A663C}"/>
              </a:ext>
            </a:extLst>
          </p:cNvPr>
          <p:cNvSpPr>
            <a:spLocks xmlns:a="http://schemas.openxmlformats.org/drawingml/2006/main" noGrp="1"/>
          </p:cNvSpPr>
          <p:nvPr/>
        </p:nvSpPr>
        <p:spPr>
          <a:xfrm xmlns:a="http://schemas.openxmlformats.org/drawingml/2006/main">
            <a:off x="590550" y="185737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Capital is requested against a projected unit price</a:t>
            </a:r>
          </a:p>
        </p:txBody>
      </p:sp>
      <p:sp>
        <p:nvSpPr>
          <p:cNvPr id="14" name="">
            <a:extLst xmlns:a="http://schemas.openxmlformats.org/drawingml/2006/main">
              <a:ext uri="{FF2B5EF4-FFF2-40B4-BE49-F238E27FC236}">
                <a16:creationId xmlns:a16="http://schemas.microsoft.com/office/drawing/2014/main" id="{E7D2D7FA-267E-41C7-8058-6A30DE623FEB}"/>
              </a:ext>
            </a:extLst>
          </p:cNvPr>
          <p:cNvSpPr>
            <a:spLocks xmlns:a="http://schemas.openxmlformats.org/drawingml/2006/main" noGrp="1"/>
          </p:cNvSpPr>
          <p:nvPr/>
        </p:nvSpPr>
        <p:spPr>
          <a:xfrm xmlns:a="http://schemas.openxmlformats.org/drawingml/2006/main">
            <a:off x="590550" y="2066925"/>
            <a:ext cx="47529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  A die-level number is compared to a system price</a:t>
            </a:r>
          </a:p>
        </p:txBody>
      </p:sp>
      <p:sp>
        <p:nvSpPr>
          <p:cNvPr id="15" name="">
            <a:extLst xmlns:a="http://schemas.openxmlformats.org/drawingml/2006/main">
              <a:ext uri="{FF2B5EF4-FFF2-40B4-BE49-F238E27FC236}">
                <a16:creationId xmlns:a16="http://schemas.microsoft.com/office/drawing/2014/main" id="{7B87345B-F43C-47FB-A4C5-D3924CC7932F}"/>
              </a:ext>
            </a:extLst>
          </p:cNvPr>
          <p:cNvSpPr>
            <a:spLocks xmlns:a="http://schemas.openxmlformats.org/drawingml/2006/main" noGrp="1"/>
          </p:cNvSpPr>
          <p:nvPr/>
        </p:nvSpPr>
        <p:spPr>
          <a:xfrm xmlns:a="http://schemas.openxmlformats.org/drawingml/2006/main">
            <a:off x="590550" y="2743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WORKFLOW</a:t>
            </a:r>
          </a:p>
        </p:txBody>
      </p:sp>
      <p:sp>
        <p:nvSpPr>
          <p:cNvPr id="16" name="">
            <a:extLst xmlns:a="http://schemas.openxmlformats.org/drawingml/2006/main">
              <a:ext uri="{FF2B5EF4-FFF2-40B4-BE49-F238E27FC236}">
                <a16:creationId xmlns:a16="http://schemas.microsoft.com/office/drawing/2014/main" id="{8551395A-F5D1-41DC-926B-3A87077509F5}"/>
              </a:ext>
            </a:extLst>
          </p:cNvPr>
          <p:cNvSpPr>
            <a:spLocks xmlns:a="http://schemas.openxmlformats.org/drawingml/2006/main" noGrp="1"/>
          </p:cNvSpPr>
          <p:nvPr/>
        </p:nvSpPr>
        <p:spPr>
          <a:xfrm xmlns:a="http://schemas.openxmlformats.org/drawingml/2006/main">
            <a:off x="590550" y="2943225"/>
            <a:ext cx="4752975" cy="38100"/>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120B120-9228-427C-9ADD-DC217AF7EACA}"/>
              </a:ext>
            </a:extLst>
          </p:cNvPr>
          <p:cNvSpPr>
            <a:spLocks xmlns:a="http://schemas.openxmlformats.org/drawingml/2006/main" noGrp="1"/>
          </p:cNvSpPr>
          <p:nvPr/>
        </p:nvSpPr>
        <p:spPr>
          <a:xfrm xmlns:a="http://schemas.openxmlformats.org/drawingml/2006/main">
            <a:off x="590550" y="30194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4C7AEBC-AFE2-40B6-8CA9-67E896298BBA}"/>
              </a:ext>
            </a:extLst>
          </p:cNvPr>
          <p:cNvSpPr>
            <a:spLocks xmlns:a="http://schemas.openxmlformats.org/drawingml/2006/main" noGrp="1"/>
          </p:cNvSpPr>
          <p:nvPr/>
        </p:nvSpPr>
        <p:spPr>
          <a:xfrm xmlns:a="http://schemas.openxmlformats.org/drawingml/2006/main">
            <a:off x="590550" y="30575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1</a:t>
            </a:r>
          </a:p>
        </p:txBody>
      </p:sp>
      <p:sp>
        <p:nvSpPr>
          <p:cNvPr id="19" name="">
            <a:extLst xmlns:a="http://schemas.openxmlformats.org/drawingml/2006/main">
              <a:ext uri="{FF2B5EF4-FFF2-40B4-BE49-F238E27FC236}">
                <a16:creationId xmlns:a16="http://schemas.microsoft.com/office/drawing/2014/main" id="{FBC634B5-C6DB-4270-A6F4-AF71F6D31439}"/>
              </a:ext>
            </a:extLst>
          </p:cNvPr>
          <p:cNvSpPr>
            <a:spLocks xmlns:a="http://schemas.openxmlformats.org/drawingml/2006/main" noGrp="1"/>
          </p:cNvSpPr>
          <p:nvPr/>
        </p:nvSpPr>
        <p:spPr>
          <a:xfrm xmlns:a="http://schemas.openxmlformats.org/drawingml/2006/main">
            <a:off x="914400" y="30289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State today’s delivered cost and what it includes</a:t>
            </a:r>
          </a:p>
        </p:txBody>
      </p:sp>
      <p:sp>
        <p:nvSpPr>
          <p:cNvPr id="20" name="">
            <a:extLst xmlns:a="http://schemas.openxmlformats.org/drawingml/2006/main">
              <a:ext uri="{FF2B5EF4-FFF2-40B4-BE49-F238E27FC236}">
                <a16:creationId xmlns:a16="http://schemas.microsoft.com/office/drawing/2014/main" id="{D657A644-1190-43AC-BBD1-201F8A41646E}"/>
              </a:ext>
            </a:extLst>
          </p:cNvPr>
          <p:cNvSpPr>
            <a:spLocks xmlns:a="http://schemas.openxmlformats.org/drawingml/2006/main" noGrp="1"/>
          </p:cNvSpPr>
          <p:nvPr/>
        </p:nvSpPr>
        <p:spPr>
          <a:xfrm xmlns:a="http://schemas.openxmlformats.org/drawingml/2006/main">
            <a:off x="914400" y="349567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FC7BD91-DCC2-4046-BE2B-EB9427C64C8D}"/>
              </a:ext>
            </a:extLst>
          </p:cNvPr>
          <p:cNvSpPr>
            <a:spLocks xmlns:a="http://schemas.openxmlformats.org/drawingml/2006/main" noGrp="1"/>
          </p:cNvSpPr>
          <p:nvPr/>
        </p:nvSpPr>
        <p:spPr>
          <a:xfrm xmlns:a="http://schemas.openxmlformats.org/drawingml/2006/main">
            <a:off x="590550" y="360997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151EB0-B24F-4847-B501-E56965155BD8}"/>
              </a:ext>
            </a:extLst>
          </p:cNvPr>
          <p:cNvSpPr>
            <a:spLocks xmlns:a="http://schemas.openxmlformats.org/drawingml/2006/main" noGrp="1"/>
          </p:cNvSpPr>
          <p:nvPr/>
        </p:nvSpPr>
        <p:spPr>
          <a:xfrm xmlns:a="http://schemas.openxmlformats.org/drawingml/2006/main">
            <a:off x="590550" y="364807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2</a:t>
            </a:r>
          </a:p>
        </p:txBody>
      </p:sp>
      <p:sp>
        <p:nvSpPr>
          <p:cNvPr id="23" name="">
            <a:extLst xmlns:a="http://schemas.openxmlformats.org/drawingml/2006/main">
              <a:ext uri="{FF2B5EF4-FFF2-40B4-BE49-F238E27FC236}">
                <a16:creationId xmlns:a16="http://schemas.microsoft.com/office/drawing/2014/main" id="{6898421A-200D-4A49-97C9-6B35315C95F7}"/>
              </a:ext>
            </a:extLst>
          </p:cNvPr>
          <p:cNvSpPr>
            <a:spLocks xmlns:a="http://schemas.openxmlformats.org/drawingml/2006/main" noGrp="1"/>
          </p:cNvSpPr>
          <p:nvPr/>
        </p:nvSpPr>
        <p:spPr>
          <a:xfrm xmlns:a="http://schemas.openxmlformats.org/drawingml/2006/main">
            <a:off x="914400" y="361950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Bridge to the target through every element that must be carried</a:t>
            </a:r>
          </a:p>
        </p:txBody>
      </p:sp>
      <p:sp>
        <p:nvSpPr>
          <p:cNvPr id="24" name="">
            <a:extLst xmlns:a="http://schemas.openxmlformats.org/drawingml/2006/main">
              <a:ext uri="{FF2B5EF4-FFF2-40B4-BE49-F238E27FC236}">
                <a16:creationId xmlns:a16="http://schemas.microsoft.com/office/drawing/2014/main" id="{AD225220-C4F1-42C8-B05D-90EC84968D93}"/>
              </a:ext>
            </a:extLst>
          </p:cNvPr>
          <p:cNvSpPr>
            <a:spLocks xmlns:a="http://schemas.openxmlformats.org/drawingml/2006/main" noGrp="1"/>
          </p:cNvSpPr>
          <p:nvPr/>
        </p:nvSpPr>
        <p:spPr>
          <a:xfrm xmlns:a="http://schemas.openxmlformats.org/drawingml/2006/main">
            <a:off x="914400" y="4086225"/>
            <a:ext cx="4410075" cy="9525"/>
          </a:xfrm>
          <a:prstGeom xmlns:a="http://schemas.openxmlformats.org/drawingml/2006/main" prst="rect">
            <a:avLst/>
          </a:prstGeom>
          <a:solidFill xmlns:a="http://schemas.openxmlformats.org/drawingml/2006/main">
            <a:srgbClr val="E0F7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D6DC305-E6B9-4723-9127-0C4487F7269E}"/>
              </a:ext>
            </a:extLst>
          </p:cNvPr>
          <p:cNvSpPr>
            <a:spLocks xmlns:a="http://schemas.openxmlformats.org/drawingml/2006/main" noGrp="1"/>
          </p:cNvSpPr>
          <p:nvPr/>
        </p:nvSpPr>
        <p:spPr>
          <a:xfrm xmlns:a="http://schemas.openxmlformats.org/drawingml/2006/main">
            <a:off x="590550" y="4200525"/>
            <a:ext cx="257175" cy="257175"/>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CC57101-DD1B-4701-94BE-FF6904D4459A}"/>
              </a:ext>
            </a:extLst>
          </p:cNvPr>
          <p:cNvSpPr>
            <a:spLocks xmlns:a="http://schemas.openxmlformats.org/drawingml/2006/main" noGrp="1"/>
          </p:cNvSpPr>
          <p:nvPr/>
        </p:nvSpPr>
        <p:spPr>
          <a:xfrm xmlns:a="http://schemas.openxmlformats.org/drawingml/2006/main">
            <a:off x="590550" y="4238625"/>
            <a:ext cx="257175"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00" b="1">
                <a:solidFill>
                  <a:srgbClr val="0A1628"/>
                </a:solidFill>
                <a:latin typeface="Calibri"/>
                <a:ea typeface="Calibri"/>
                <a:cs typeface="Calibri"/>
              </a:defRPr>
            </a:pPr>
            <a:r>
              <a:t>3</a:t>
            </a:r>
          </a:p>
        </p:txBody>
      </p:sp>
      <p:sp>
        <p:nvSpPr>
          <p:cNvPr id="27" name="">
            <a:extLst xmlns:a="http://schemas.openxmlformats.org/drawingml/2006/main">
              <a:ext uri="{FF2B5EF4-FFF2-40B4-BE49-F238E27FC236}">
                <a16:creationId xmlns:a16="http://schemas.microsoft.com/office/drawing/2014/main" id="{8B263638-B0A3-49CE-981B-2CD560A39507}"/>
              </a:ext>
            </a:extLst>
          </p:cNvPr>
          <p:cNvSpPr>
            <a:spLocks xmlns:a="http://schemas.openxmlformats.org/drawingml/2006/main" noGrp="1"/>
          </p:cNvSpPr>
          <p:nvPr/>
        </p:nvSpPr>
        <p:spPr>
          <a:xfrm xmlns:a="http://schemas.openxmlformats.org/drawingml/2006/main">
            <a:off x="914400" y="4210050"/>
            <a:ext cx="441007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50">
                <a:solidFill>
                  <a:srgbClr val="1B2B3C"/>
                </a:solidFill>
                <a:latin typeface="Calibri"/>
                <a:ea typeface="Calibri"/>
                <a:cs typeface="Calibri"/>
              </a:defRPr>
            </a:pPr>
            <a:r>
              <a:t>Gate the commitment on the model, not on the direction</a:t>
            </a:r>
          </a:p>
        </p:txBody>
      </p:sp>
      <p:sp>
        <p:nvSpPr>
          <p:cNvPr id="28" name="">
            <a:extLst xmlns:a="http://schemas.openxmlformats.org/drawingml/2006/main">
              <a:ext uri="{FF2B5EF4-FFF2-40B4-BE49-F238E27FC236}">
                <a16:creationId xmlns:a16="http://schemas.microsoft.com/office/drawing/2014/main" id="{556ABFB3-6157-4334-9660-31202C51D2E6}"/>
              </a:ext>
            </a:extLst>
          </p:cNvPr>
          <p:cNvSpPr>
            <a:spLocks xmlns:a="http://schemas.openxmlformats.org/drawingml/2006/main" noGrp="1"/>
          </p:cNvSpPr>
          <p:nvPr/>
        </p:nvSpPr>
        <p:spPr>
          <a:xfrm xmlns:a="http://schemas.openxmlformats.org/drawingml/2006/main">
            <a:off x="5581650" y="1352550"/>
            <a:ext cx="6219825" cy="24193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5D9E560-070C-4D61-B865-435964E53DAF}"/>
              </a:ext>
            </a:extLst>
          </p:cNvPr>
          <p:cNvSpPr>
            <a:spLocks xmlns:a="http://schemas.openxmlformats.org/drawingml/2006/main" noGrp="1"/>
          </p:cNvSpPr>
          <p:nvPr/>
        </p:nvSpPr>
        <p:spPr>
          <a:xfrm xmlns:a="http://schemas.openxmlformats.org/drawingml/2006/main">
            <a:off x="5762625" y="1447800"/>
            <a:ext cx="5848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FFB800"/>
                </a:solidFill>
                <a:latin typeface="Calibri"/>
                <a:ea typeface="Calibri"/>
                <a:cs typeface="Calibri"/>
              </a:defRPr>
            </a:pPr>
            <a:r>
              <a:t>KEY PROMPT  →  TELL CLAUDE:</a:t>
            </a:r>
          </a:p>
        </p:txBody>
      </p:sp>
      <p:sp>
        <p:nvSpPr>
          <p:cNvPr id="30" name="">
            <a:extLst xmlns:a="http://schemas.openxmlformats.org/drawingml/2006/main">
              <a:ext uri="{FF2B5EF4-FFF2-40B4-BE49-F238E27FC236}">
                <a16:creationId xmlns:a16="http://schemas.microsoft.com/office/drawing/2014/main" id="{2B6816C6-44B5-4A6B-B151-D917566958C6}"/>
              </a:ext>
            </a:extLst>
          </p:cNvPr>
          <p:cNvSpPr>
            <a:spLocks xmlns:a="http://schemas.openxmlformats.org/drawingml/2006/main" noGrp="1"/>
          </p:cNvSpPr>
          <p:nvPr/>
        </p:nvSpPr>
        <p:spPr>
          <a:xfrm xmlns:a="http://schemas.openxmlformats.org/drawingml/2006/main">
            <a:off x="5762625" y="1733550"/>
            <a:ext cx="584835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50">
                <a:solidFill>
                  <a:srgbClr val="FFFFFF"/>
                </a:solidFill>
                <a:latin typeface="Calibri"/>
                <a:ea typeface="Calibri"/>
                <a:cs typeface="Calibri"/>
              </a:defRPr>
            </a:pPr>
            <a:r>
              <a:t>"Build the cost bridge from [current] to [target] for [company]. Give each step as a label, a display amount, a numeric value for the bar height, and whether the magnitude is verified or directional. Carry every element that must be paid: NRE, yield, package, qualification, warranty, lifecycle. State explicitly whether a projected die price is comparable to a system price. End with the gate that must clear before capital is committed."</a:t>
            </a:r>
          </a:p>
        </p:txBody>
      </p:sp>
      <p:sp>
        <p:nvSpPr>
          <p:cNvPr id="31" name="">
            <a:extLst xmlns:a="http://schemas.openxmlformats.org/drawingml/2006/main">
              <a:ext uri="{FF2B5EF4-FFF2-40B4-BE49-F238E27FC236}">
                <a16:creationId xmlns:a16="http://schemas.microsoft.com/office/drawing/2014/main" id="{FBCD7DD3-BBC4-412F-98D0-BA3D934413ED}"/>
              </a:ext>
            </a:extLst>
          </p:cNvPr>
          <p:cNvSpPr>
            <a:spLocks xmlns:a="http://schemas.openxmlformats.org/drawingml/2006/main" noGrp="1"/>
          </p:cNvSpPr>
          <p:nvPr/>
        </p:nvSpPr>
        <p:spPr>
          <a:xfrm xmlns:a="http://schemas.openxmlformats.org/drawingml/2006/main">
            <a:off x="5581650" y="3886200"/>
            <a:ext cx="54864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b="1">
                <a:solidFill>
                  <a:srgbClr val="00755F"/>
                </a:solidFill>
                <a:latin typeface="Calibri"/>
                <a:ea typeface="Calibri"/>
                <a:cs typeface="Calibri"/>
              </a:defRPr>
            </a:pPr>
            <a:r>
              <a:t>OUTPUT INCLUDES</a:t>
            </a:r>
          </a:p>
        </p:txBody>
      </p:sp>
      <p:sp>
        <p:nvSpPr>
          <p:cNvPr id="32" name="">
            <a:extLst xmlns:a="http://schemas.openxmlformats.org/drawingml/2006/main">
              <a:ext uri="{FF2B5EF4-FFF2-40B4-BE49-F238E27FC236}">
                <a16:creationId xmlns:a16="http://schemas.microsoft.com/office/drawing/2014/main" id="{BBB6286B-9D1E-49E5-AF5C-1AE14C5EBDF1}"/>
              </a:ext>
            </a:extLst>
          </p:cNvPr>
          <p:cNvSpPr>
            <a:spLocks xmlns:a="http://schemas.openxmlformats.org/drawingml/2006/main" noGrp="1"/>
          </p:cNvSpPr>
          <p:nvPr/>
        </p:nvSpPr>
        <p:spPr>
          <a:xfrm xmlns:a="http://schemas.openxmlformats.org/drawingml/2006/main">
            <a:off x="5581650" y="4086225"/>
            <a:ext cx="6219825" cy="3810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11D8391-D1A0-4914-B831-63D4B98AD6BE}"/>
              </a:ext>
            </a:extLst>
          </p:cNvPr>
          <p:cNvSpPr>
            <a:spLocks xmlns:a="http://schemas.openxmlformats.org/drawingml/2006/main" noGrp="1"/>
          </p:cNvSpPr>
          <p:nvPr/>
        </p:nvSpPr>
        <p:spPr>
          <a:xfrm xmlns:a="http://schemas.openxmlformats.org/drawingml/2006/main">
            <a:off x="55816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0804B57-00E1-433F-B755-403E117CDB88}"/>
              </a:ext>
            </a:extLst>
          </p:cNvPr>
          <p:cNvSpPr>
            <a:spLocks xmlns:a="http://schemas.openxmlformats.org/drawingml/2006/main" noGrp="1"/>
          </p:cNvSpPr>
          <p:nvPr/>
        </p:nvSpPr>
        <p:spPr>
          <a:xfrm xmlns:a="http://schemas.openxmlformats.org/drawingml/2006/main">
            <a:off x="57150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Steps[] with value and verified flag</a:t>
            </a:r>
          </a:p>
        </p:txBody>
      </p:sp>
      <p:sp>
        <p:nvSpPr>
          <p:cNvPr id="35" name="">
            <a:extLst xmlns:a="http://schemas.openxmlformats.org/drawingml/2006/main">
              <a:ext uri="{FF2B5EF4-FFF2-40B4-BE49-F238E27FC236}">
                <a16:creationId xmlns:a16="http://schemas.microsoft.com/office/drawing/2014/main" id="{6B4D9BBE-7ECD-4CB0-B258-3E2877B651C7}"/>
              </a:ext>
            </a:extLst>
          </p:cNvPr>
          <p:cNvSpPr>
            <a:spLocks xmlns:a="http://schemas.openxmlformats.org/drawingml/2006/main" noGrp="1"/>
          </p:cNvSpPr>
          <p:nvPr/>
        </p:nvSpPr>
        <p:spPr>
          <a:xfrm xmlns:a="http://schemas.openxmlformats.org/drawingml/2006/main">
            <a:off x="55816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412FE06-B2F4-4B8D-868F-063D46A472E7}"/>
              </a:ext>
            </a:extLst>
          </p:cNvPr>
          <p:cNvSpPr>
            <a:spLocks xmlns:a="http://schemas.openxmlformats.org/drawingml/2006/main" noGrp="1"/>
          </p:cNvSpPr>
          <p:nvPr/>
        </p:nvSpPr>
        <p:spPr>
          <a:xfrm xmlns:a="http://schemas.openxmlformats.org/drawingml/2006/main">
            <a:off x="57150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Base → add → target sequence</a:t>
            </a:r>
          </a:p>
        </p:txBody>
      </p:sp>
      <p:sp>
        <p:nvSpPr>
          <p:cNvPr id="37" name="">
            <a:extLst xmlns:a="http://schemas.openxmlformats.org/drawingml/2006/main">
              <a:ext uri="{FF2B5EF4-FFF2-40B4-BE49-F238E27FC236}">
                <a16:creationId xmlns:a16="http://schemas.microsoft.com/office/drawing/2014/main" id="{76DAE135-C67C-4AD1-9C19-5A40F1C29226}"/>
              </a:ext>
            </a:extLst>
          </p:cNvPr>
          <p:cNvSpPr>
            <a:spLocks xmlns:a="http://schemas.openxmlformats.org/drawingml/2006/main" noGrp="1"/>
          </p:cNvSpPr>
          <p:nvPr/>
        </p:nvSpPr>
        <p:spPr>
          <a:xfrm xmlns:a="http://schemas.openxmlformats.org/drawingml/2006/main">
            <a:off x="55816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F93A616-C298-47FF-96F9-32DE89799ABC}"/>
              </a:ext>
            </a:extLst>
          </p:cNvPr>
          <p:cNvSpPr>
            <a:spLocks xmlns:a="http://schemas.openxmlformats.org/drawingml/2006/main" noGrp="1"/>
          </p:cNvSpPr>
          <p:nvPr/>
        </p:nvSpPr>
        <p:spPr>
          <a:xfrm xmlns:a="http://schemas.openxmlformats.org/drawingml/2006/main">
            <a:off x="57150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Comparability rule</a:t>
            </a:r>
          </a:p>
        </p:txBody>
      </p:sp>
      <p:sp>
        <p:nvSpPr>
          <p:cNvPr id="39" name="">
            <a:extLst xmlns:a="http://schemas.openxmlformats.org/drawingml/2006/main">
              <a:ext uri="{FF2B5EF4-FFF2-40B4-BE49-F238E27FC236}">
                <a16:creationId xmlns:a16="http://schemas.microsoft.com/office/drawing/2014/main" id="{1E77A990-D90D-4471-926D-632D6926C92D}"/>
              </a:ext>
            </a:extLst>
          </p:cNvPr>
          <p:cNvSpPr>
            <a:spLocks xmlns:a="http://schemas.openxmlformats.org/drawingml/2006/main" noGrp="1"/>
          </p:cNvSpPr>
          <p:nvPr/>
        </p:nvSpPr>
        <p:spPr>
          <a:xfrm xmlns:a="http://schemas.openxmlformats.org/drawingml/2006/main">
            <a:off x="8782050" y="42291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0363FBB-B798-4D2D-A3AA-EEC244914E25}"/>
              </a:ext>
            </a:extLst>
          </p:cNvPr>
          <p:cNvSpPr>
            <a:spLocks xmlns:a="http://schemas.openxmlformats.org/drawingml/2006/main" noGrp="1"/>
          </p:cNvSpPr>
          <p:nvPr/>
        </p:nvSpPr>
        <p:spPr>
          <a:xfrm xmlns:a="http://schemas.openxmlformats.org/drawingml/2006/main">
            <a:off x="8915400" y="41719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Directional caveat where unverified</a:t>
            </a:r>
          </a:p>
        </p:txBody>
      </p:sp>
      <p:sp>
        <p:nvSpPr>
          <p:cNvPr id="41" name="">
            <a:extLst xmlns:a="http://schemas.openxmlformats.org/drawingml/2006/main">
              <a:ext uri="{FF2B5EF4-FFF2-40B4-BE49-F238E27FC236}">
                <a16:creationId xmlns:a16="http://schemas.microsoft.com/office/drawing/2014/main" id="{141197A4-C469-4BF9-AE58-AA6FCB5EAB00}"/>
              </a:ext>
            </a:extLst>
          </p:cNvPr>
          <p:cNvSpPr>
            <a:spLocks xmlns:a="http://schemas.openxmlformats.org/drawingml/2006/main" noGrp="1"/>
          </p:cNvSpPr>
          <p:nvPr/>
        </p:nvSpPr>
        <p:spPr>
          <a:xfrm xmlns:a="http://schemas.openxmlformats.org/drawingml/2006/main">
            <a:off x="8782050" y="45720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AF18865-F167-402A-8AF8-80AC5FA6C8C2}"/>
              </a:ext>
            </a:extLst>
          </p:cNvPr>
          <p:cNvSpPr>
            <a:spLocks xmlns:a="http://schemas.openxmlformats.org/drawingml/2006/main" noGrp="1"/>
          </p:cNvSpPr>
          <p:nvPr/>
        </p:nvSpPr>
        <p:spPr>
          <a:xfrm xmlns:a="http://schemas.openxmlformats.org/drawingml/2006/main">
            <a:off x="8915400" y="45148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Capital gate</a:t>
            </a:r>
          </a:p>
        </p:txBody>
      </p:sp>
      <p:sp>
        <p:nvSpPr>
          <p:cNvPr id="43" name="">
            <a:extLst xmlns:a="http://schemas.openxmlformats.org/drawingml/2006/main">
              <a:ext uri="{FF2B5EF4-FFF2-40B4-BE49-F238E27FC236}">
                <a16:creationId xmlns:a16="http://schemas.microsoft.com/office/drawing/2014/main" id="{CB8DD979-713A-4A83-B383-D8FCFFECA5E3}"/>
              </a:ext>
            </a:extLst>
          </p:cNvPr>
          <p:cNvSpPr>
            <a:spLocks xmlns:a="http://schemas.openxmlformats.org/drawingml/2006/main" noGrp="1"/>
          </p:cNvSpPr>
          <p:nvPr/>
        </p:nvSpPr>
        <p:spPr>
          <a:xfrm xmlns:a="http://schemas.openxmlformats.org/drawingml/2006/main">
            <a:off x="8782050" y="4914900"/>
            <a:ext cx="57150" cy="57150"/>
          </a:xfrm>
          <a:prstGeom xmlns:a="http://schemas.openxmlformats.org/drawingml/2006/main" prst="rect">
            <a:avLst/>
          </a:prstGeom>
          <a:solidFill xmlns:a="http://schemas.openxmlformats.org/drawingml/2006/main">
            <a:srgbClr val="00C9A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8EF6587-9897-418D-B66B-BE824E192F41}"/>
              </a:ext>
            </a:extLst>
          </p:cNvPr>
          <p:cNvSpPr>
            <a:spLocks xmlns:a="http://schemas.openxmlformats.org/drawingml/2006/main" noGrp="1"/>
          </p:cNvSpPr>
          <p:nvPr/>
        </p:nvSpPr>
        <p:spPr>
          <a:xfrm xmlns:a="http://schemas.openxmlformats.org/drawingml/2006/main">
            <a:off x="8915400" y="4857750"/>
            <a:ext cx="301942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00">
                <a:solidFill>
                  <a:srgbClr val="1B2B3C"/>
                </a:solidFill>
                <a:latin typeface="Calibri"/>
                <a:ea typeface="Calibri"/>
                <a:cs typeface="Calibri"/>
              </a:defRPr>
            </a:pPr>
            <a:r>
              <a:t>EXHIBIT: waterfall, height = magnitude</a:t>
            </a:r>
          </a:p>
        </p:txBody>
      </p:sp>
    </p:spTree>
    <p:extLst>
      <p:ext uri="{BB962C8B-B14F-4D97-AF65-F5344CB8AC3E}">
        <p14:creationId xmlns:p14="http://schemas.microsoft.com/office/powerpoint/2010/main" val="179699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2026-08-14T13:30:54.7470000Z</dcterms:created>
  <dcterms:modified xsi:type="dcterms:W3CDTF">2026-08-14T13:30:54.7480000Z</dcterms:modified>
</coreProperties>
</file>