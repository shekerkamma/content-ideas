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 for Starkenn. Verdict: The immediate India field competitor—and the most plausible radar-fusion partner. Evidence: starkenn.com/brakesafe · starkenn.com/mining · company claims, accessed Aug 2026. Boundary: AIS-162 type approval and independent homologation remain unverified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status and sources: starkenn.com/brakesafe · starkenn.com/mining · company claims, accessed Aug 2026</a:t>
            </a:r>
          </a:p>
          <a:p>
            <a:r>
              <a:t>Boundary: AIS-162 type approval and independent homologation remain unverified</a:t>
            </a:r>
          </a:p>
          <a:p>
            <a:r>
              <a:t>Response: Partner for radar and field access; counter only where vision VRU proof and lifecycle economics are visible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competitor narrative for Starkenn. Source basis: starkenn.com/brakesafe · starkenn.com/mining · company claims, accessed Aug 2026. Company-attributed claims remain bounded by: Independent AIS-162 type approval, production-grade safety architecture and named OEM nomination are not evidenced.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mechanism for Starkenn. Fact boundary: AIS-162 type approval and independent homologation remain unverified. Source: starkenn.com/brakesafe · starkenn.com/mining · company claims, accessed Aug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chain synthesis for Starkenn. Source: starkenn.com/brakesafe · starkenn.com/mining · company claims, accessed Aug 2026. Interpretation is bounded by: AIS-162 type approval and independent homologation remain unverified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battlecard for Starkenn. Concessions are evidence-aligned. Challenges must not be stated as disqualifications without buyer validation. Source: starkenn.com/brakesafe · starkenn.com/mining · company claims, accessed Aug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sales play for Starkenn. Response: Partner for radar and field access; counter only where vision VRU proof and lifecycle economics are visible. Evidence boundary: AIS-162 type approval and independent homologation remain unverified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Use-case conclusion for Starkenn. Use cases: [('MINING AEBS', 'Dust, vibration and low visibility', 'Radar-led BrakeSafe + fleet controls'), ('GOVT / PSU RETROFIT', 'Fast fitment and local service', 'Made-in-India radar AEBS stack'), ('CV VRU PROTECTION', 'Pedestrian and cyclist risk', 'Radar base; vision remains attach opportunity')]. DeepGrid response: Partner for radar and field access; counter only where vision VRU proof and lifecycle economics are visible. Source: starkenn.com/brakesafe · starkenn.com/mining · company claims, accessed Aug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 for Gahan AI. Verdict: A high-potential domestic radar challenger whose qualification claims must clear diligence. Evidence: gahanai.com/about · claims are company-attributed, accessed Aug 2026. Boundary: Certificate scope, qualified component and named programme status are not independently evidenced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status and sources: gahanai.com/about · claims are company-attributed, accessed Aug 2026</a:t>
            </a:r>
          </a:p>
          <a:p>
            <a:r>
              <a:t>Boundary: Certificate scope, qualified component and named programme status are not independently evidenced</a:t>
            </a:r>
          </a:p>
          <a:p>
            <a:r>
              <a:t>Response: Verify first; benchmark radar weather performance and OEM qualification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competitor narrative for Gahan AI. Source basis: gahanai.com/about · claims are company-attributed, accessed Aug 2026. Company-attributed claims remain bounded by: Certificate holder, qualified component, AEC-Q100 scope and named production nomination require primary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mechanism for Gahan AI. Fact boundary: Certificate scope, qualified component and named programme status are not independently evidenced. Source: gahanai.com/about · claims are company-attributed, accessed Aug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chain synthesis for Gahan AI. Source: gahanai.com/about · claims are company-attributed, accessed Aug 2026. Interpretation is bounded by: Certificate scope, qualified component and named programme status are not independently evidenced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battlecard for Gahan AI. Concessions are evidence-aligned. Challenges must not be stated as disqualifications without buyer validation. Source: gahanai.com/about · claims are company-attributed, accessed Aug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sales play for Gahan AI. Response: Verify first; benchmark radar weather performance and OEM qualification gates. Evidence boundary: Certificate scope, qualified component and named programme status are not independently evidenced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Use-case conclusion for Gahan AI. Use cases: [('OEM FRONT RADAR', 'All-weather ranging', 'DRWIG 77 GHz radar platform'), ('TWO-WHEELER SAFETY', 'Dense mixed traffic', 'Micro-Doppler and proximity claims'), ('DEFENCE / INFRA', 'Sovereign sensing', 'India-owned radar narrative')]. DeepGrid response: Verify first; benchmark radar weather performance and OEM qualification gates. Source: gahanai.com/about · claims are company-attributed, accessed Aug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 for drivebuddyAI. Verdict: The strongest integrated DMS and fleet-data proposition—not yet proven as an AEBS system owner. Evidence: Roadzen investor release · ARAI update · drivebuddyAI demonstration, 2024–2026. Boundary: DMS certification does not establish AEBS type approval or braking accountability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status and sources: Roadzen investor release · ARAI update · drivebuddyAI demonstration, 2024–2026</a:t>
            </a:r>
          </a:p>
          <a:p>
            <a:r>
              <a:t>Boundary: DMS certification does not establish AEBS type approval or braking accountability</a:t>
            </a:r>
          </a:p>
          <a:p>
            <a:r>
              <a:t>Response: Diligence OEM integration and fusion performance; avoid conflating DMS proof with AEBS readiness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competitor narrative for drivebuddyAI. Source basis: Roadzen investor release · ARAI update · drivebuddyAI demonstration, 2024–2026. Company-attributed claims remain bounded by: AEBS type approval, brake-actuation responsibility and exact OEM series-production boundary remain unproven.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mechanism for drivebuddyAI. Fact boundary: DMS certification does not establish AEBS type approval or braking accountability. Source: Roadzen investor release · ARAI update · drivebuddyAI demonstration, 2024–2026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chain synthesis for drivebuddyAI. Source: Roadzen investor release · ARAI update · drivebuddyAI demonstration, 2024–2026. Interpretation is bounded by: DMS certification does not establish AEBS type approval or braking accountability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battlecard for drivebuddyAI. Concessions are evidence-aligned. Challenges must not be stated as disqualifications without buyer validation. Source: Roadzen investor release · ARAI update · drivebuddyAI demonstration, 2024–2026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sales play for drivebuddyAI. Response: Diligence OEM integration and fusion performance; avoid conflating DMS proof with AEBS readiness. Evidence boundary: DMS certification does not establish AEBS type approval or braking accountability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Use-case conclusion for drivebuddyAI. Use cases: [('DMS / DDAWS', 'Fatigue and distraction', 'ARAI-certified AIS-184 DMS'), ('FLEET RISK', 'Driver behaviour and coaching', 'Continuously learning analytics'), ('HCV COMPLIANCE', 'Multiple warning functions', 'Camera–radar integrated platform')]. DeepGrid response: Diligence OEM integration and fusion performance; avoid conflating DMS proof with AEBS readiness. Source: Roadzen investor release · ARAI update · drivebuddyAI demonstration, 2024–2026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 for ZF CVCS India. Verdict: The reference system partner because it controls braking, validation and OEM accountability. Evidence: ZF CVCS India exchange filings, 3 Dec 2025 and 31 Mar 2026. Boundary: Programme customer, volumes and unit economics remain undisclosed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status and sources: ZF CVCS India exchange filings, 3 Dec 2025 and 31 Mar 2026</a:t>
            </a:r>
          </a:p>
          <a:p>
            <a:r>
              <a:t>Boundary: Programme customer, volumes and unit economics remain undisclosed</a:t>
            </a:r>
          </a:p>
          <a:p>
            <a:r>
              <a:t>Response: Attach DGS001 as a bounded camera-perception subsystem; do not compete for the full safety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competitor narrative for ZF CVCS India. Source basis: ZF CVCS India exchange filings, 3 Dec 2025 and 31 Mar 2026. Company-attributed claims remain bounded by: Customers, unit economics, programme volumes and the precise external perception-supplier boundary are undisclosed.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mechanism for ZF CVCS India. Fact boundary: Programme customer, volumes and unit economics remain undisclosed. Source: ZF CVCS India exchange filings, 3 Dec 2025 and 31 Mar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chain synthesis for ZF CVCS India. Source: ZF CVCS India exchange filings, 3 Dec 2025 and 31 Mar 2026. Interpretation is bounded by: Programme customer, volumes and unit economics remain undisclosed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battlecard for ZF CVCS India. Concessions are evidence-aligned. Challenges must not be stated as disqualifications without buyer validation. Source: ZF CVCS India exchange filings, 3 Dec 2025 and 31 Mar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sales play for ZF CVCS India. Response: Attach DGS001 as a bounded camera-perception subsystem; do not compete for the full safety case. Evidence boundary: Programme customer, volumes and unit economics remain undisclosed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Use-case conclusion for ZF CVCS India. Use cases: [('SERIES AEBS', 'N2/N3 braking intervention', 'Integrated ADAS + brake actuation'), ('BSIS / MOIS', 'VRU protection around trucks', 'Multi-sensor CV safety suite'), ('OEM HOMOLOGATION', 'Programme-level release', 'Validation and safety-case ownership')]. DeepGrid response: Attach DGS001 as a bounded camera-perception subsystem; do not compete for the full safety case. Source: ZF CVCS India exchange filings, 3 Dec 2025 and 31 Mar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 for Aptiv. Verdict: A turn-key platform benchmark already converting India regulation into multi-model OEM rollout. Evidence: Aptiv official release, 6 Jan 2026. Boundary: Named OEM, production economics and DeepGrid-comparable perception metrics are not public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status and sources: Aptiv official release, 6 Jan 2026</a:t>
            </a:r>
          </a:p>
          <a:p>
            <a:r>
              <a:t>Boundary: Named OEM, production economics and DeepGrid-comparable perception metrics are not public</a:t>
            </a:r>
          </a:p>
          <a:p>
            <a:r>
              <a:t>Response: Treat as benchmark and potential attach route; win on local data, bounded cost and integration speed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competitor narrative for Aptiv. Source basis: Aptiv official release, 6 Jan 2026. Company-attributed claims remain bounded by: Named customer, certification status, production pricing and directly comparable India-ODD performance are not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mechanism for Aptiv. Fact boundary: Named OEM, production economics and DeepGrid-comparable perception metrics are not public. Source: Aptiv official release, 6 Jan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chain synthesis for Aptiv. Source: Aptiv official release, 6 Jan 2026. Interpretation is bounded by: Named OEM, production economics and DeepGrid-comparable perception metrics are not public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battlecard for Aptiv. Concessions are evidence-aligned. Challenges must not be stated as disqualifications without buyer validation. Source: Aptiv official release, 6 Jan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sales play for Aptiv. Response: Treat as benchmark and potential attach route; win on local data, bounded cost and integration speed. Evidence boundary: Named OEM, production economics and DeepGrid-comparable perception metrics are not public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Use-case conclusion for Aptiv. Use cases: [('MULTI-MODEL CV ADAS', '14 models / 30+ variants', 'Modular Gen 6 platform'), ('REGULATORY COMPLIANCE', '2027 safety functions', 'Radar + smart camera + software'), ('INDIA ODD', 'Mixed roads and traffic', 'Localized platform tuning')]. DeepGrid response: Treat as benchmark and potential attach route; win on local data, bounded cost and integration speed. Source: Aptiv official release, 6 Jan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 for STRADVISION. Verdict: The closest software-layer substitute for DeepGrid on constrained automotive compute. Evidence: STRADVISION newsroom, 16 Apr 2026. Boundary: India programme volumes, hardware bill and customer identity are undisclosed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status and sources: STRADVISION newsroom, 16 Apr 2026</a:t>
            </a:r>
          </a:p>
          <a:p>
            <a:r>
              <a:t>Boundary: India programme volumes, hardware bill and customer identity are undisclosed</a:t>
            </a:r>
          </a:p>
          <a:p>
            <a:r>
              <a:t>Response: Benchmark accuracy-per-watt and Indian ODD; defend with owned compute economics only after measured proof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competitor narrative for STRADVISION. Source basis: STRADVISION newsroom, 16 Apr 2026. Company-attributed claims remain bounded by: India volumes, compute bill, local data depth and same-hardware performance versus DeepGrid are undisclosed.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mechanism for STRADVISION. Fact boundary: India programme volumes, hardware bill and customer identity are undisclosed. Source: STRADVISION newsroom, 16 Apr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chain synthesis for STRADVISION. Source: STRADVISION newsroom, 16 Apr 2026. Interpretation is bounded by: India programme volumes, hardware bill and customer identity are undisclosed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battlecard for STRADVISION. Concessions are evidence-aligned. Challenges must not be stated as disqualifications without buyer validation. Source: STRADVISION newsroom, 16 Apr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sales play for STRADVISION. Response: Benchmark accuracy-per-watt and Indian ODD; defend with owned compute economics only after measured proof. Evidence boundary: India programme volumes, hardware bill and customer identity are undisclosed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Use-case conclusion for STRADVISION. Use cases: [('FRONT VISION', 'Objects, lanes and VRUs', 'SVNet perception software'), ('LOW-COST COMPUTE', 'Resource-constrained ECUs', 'Optimized software architecture'), ('OEM SCALE', 'Cross-platform deployment', 'Automotive process and integration stack')]. DeepGrid response: Benchmark accuracy-per-watt and Indian ODD; defend with owned compute economics only after measured proof. Source: STRADVISION newsroom, 16 Apr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 for Sterling Tools × MINIEYE. Verdict: A credible local-channel vehicle for proven foreign ADAS IP—but still at MOU stage in India. Evidence: Sterling Tools NSE/BSE filing and MINIEYE HKEX announcement, Jan 2026. Boundary: MOU is market entry—not a disclosed India design win or production nomination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status and sources: Sterling Tools NSE/BSE filing and MINIEYE HKEX announcement, Jan 2026</a:t>
            </a:r>
          </a:p>
          <a:p>
            <a:r>
              <a:t>Boundary: MOU is market entry—not a disclosed India design win or production nomination</a:t>
            </a:r>
          </a:p>
          <a:p>
            <a:r>
              <a:t>Response: Track conversion from MOU to programme; counter through faster local proof and braking-channel partners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competitor narrative for Sterling Tools × MINIEYE. Source basis: Sterling Tools NSE/BSE filing and MINIEYE HKEX announcement, Jan 2026. Company-attributed claims remain bounded by: The MOU has not yet established a disclosed India design win, localized product baseline or production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mechanism for Sterling Tools × MINIEYE. Fact boundary: MOU is market entry—not a disclosed India design win or production nomination. Source: Sterling Tools NSE/BSE filing and MINIEYE HKEX announcement, Jan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chain synthesis for Sterling Tools × MINIEYE. Source: Sterling Tools NSE/BSE filing and MINIEYE HKEX announcement, Jan 2026. Interpretation is bounded by: MOU is market entry—not a disclosed India design win or production nomination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battlecard for Sterling Tools × MINIEYE. Concessions are evidence-aligned. Challenges must not be stated as disqualifications without buyer validation. Source: Sterling Tools NSE/BSE filing and MINIEYE HKEX announcement, Jan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sales play for Sterling Tools × MINIEYE. Response: Track conversion from MOU to programme; counter through faster local proof and braking-channel partners. Evidence boundary: MOU is market entry—not a disclosed India design win or production nomination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Use-case conclusion for Sterling Tools × MINIEYE. Use cases: [('OEM ADAS / DMS', 'Passenger and CV compliance', 'MINIEYE full-stack solutions'), ('INDIA LOCALIZATION', 'Mixed-traffic perception', 'Sterling tuning and engineering'), ('LOCAL SUPPLY', 'OEM procurement access', 'Tier-1 manufacturing relationships')]. DeepGrid response: Track conversion from MOU to programme; counter through faster local proof and braking-channel partners. Source: Sterling Tools NSE/BSE filing and MINIEYE HKEX announcement, Jan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 for bitsensing. Verdict: A practical retrofit warning benchmark with limited direct overlap with certified AEBS. Evidence: bitsensing official launch, 5 Feb 2026. Boundary: No India deployment or automatic-braking responsibility evidenced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status and sources: bitsensing official launch, 5 Feb 2026</a:t>
            </a:r>
          </a:p>
          <a:p>
            <a:r>
              <a:t>Boundary: No India deployment or automatic-braking responsibility evidenced</a:t>
            </a:r>
          </a:p>
          <a:p>
            <a:r>
              <a:t>Response: Use as demand and installation benchmark; monitor India entry rather than divert core OEM effort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competitor narrative for bitsensing. Source basis: bitsensing official launch, 5 Feb 2026. Company-attributed claims remain bounded by: Automatic braking, India fleet deployments and OEM series-production responsibility are not evidenced.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mechanism for bitsensing. Fact boundary: No India deployment or automatic-braking responsibility evidenced. Source: bitsensing official launch, 5 Feb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chain synthesis for bitsensing. Source: bitsensing official launch, 5 Feb 2026. Interpretation is bounded by: No India deployment or automatic-braking responsibility evidenced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battlecard for bitsensing. Concessions are evidence-aligned. Challenges must not be stated as disqualifications without buyer validation. Source: bitsensing official launch, 5 Feb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sales play for bitsensing. Response: Use as demand and installation benchmark; monitor India entry rather than divert core OEM effort. Evidence boundary: No India deployment or automatic-braking responsibility evidenced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Use-case conclusion for bitsensing. Use cases: [('BUS RETROFIT', 'Blind spots and collision alerts', 'Radar–camera ADAS kit'), ('FLEET MODERNIZATION', 'Minimal installation downtime', 'Controller, display and sensors'), ('URBAN VRU WARNING', 'Pedestrians and motorcycles', 'BSIS, MOIS and surround warnings')]. DeepGrid response: Use as demand and installation benchmark; monitor India entry rather than divert core OEM effort. Source: bitsensing official launch, 5 Feb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 for Netrasemi. Verdict: A future indigenous compute alternative—not yet a commercial-vehicle ADAS competitor. Evidence: Netrasemi official solutions and news pages, May 2026. Boundary: Automotive qualification, CV design win and 2027 production readiness remain open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status and sources: Netrasemi official solutions and news pages, May 2026</a:t>
            </a:r>
          </a:p>
          <a:p>
            <a:r>
              <a:t>Boundary: Automotive qualification, CV design win and 2027 production readiness remain open</a:t>
            </a:r>
          </a:p>
          <a:p>
            <a:r>
              <a:t>Response: Monitor qualification and production; compare silicon economics only when automotive proof emerges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competitor narrative for Netrasemi. Source basis: Netrasemi official solutions and news pages, May 2026. Company-attributed claims remain bounded by: AEC-Q100, ISO 26262 readiness, commercial-vehicle design wins and production ramp timing remain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mechanism for Netrasemi. Fact boundary: Automotive qualification, CV design win and 2027 production readiness remain open. Source: Netrasemi official solutions and news pages, May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chain synthesis for Netrasemi. Source: Netrasemi official solutions and news pages, May 2026. Interpretation is bounded by: Automotive qualification, CV design win and 2027 production readiness remain open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battlecard for Netrasemi. Concessions are evidence-aligned. Challenges must not be stated as disqualifications without buyer validation. Source: Netrasemi official solutions and news pages, May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sales play for Netrasemi. Response: Monitor qualification and production; compare silicon economics only when automotive proof emerges. Evidence boundary: Automotive qualification, CV design win and 2027 production readiness remain open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Use-case conclusion for Netrasemi. Use cases: [('DMS / OMS COMPUTE', 'On-device vision inference', 'A2000 edge-AI SoC'), ('SURROUND VIEW', 'Multi-camera processing', 'Integrated vision acceleration'), ('FLEET EDGE AI', 'Local analytics and telematics', 'Low-latency edge compute')]. DeepGrid response: Monitor qualification and production; compare silicon economics only when automotive proof emerges. Source: Netrasemi official solutions and news pages, May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 for Incumbent Tier-1 cohort. Verdict: The structural OEM gatekeepers; DeepGrid must enter through their open subsystem boundaries. Evidence: Bosch and Continental official CV pages · Valeo official India nomination, May 2026. Boundary: Cohort view masks company-specific India programme differences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status and sources: Bosch and Continental official CV pages · Valeo official India nomination, May 2026</a:t>
            </a:r>
          </a:p>
          <a:p>
            <a:r>
              <a:t>Boundary: Cohort view masks company-specific India programme differences</a:t>
            </a:r>
          </a:p>
          <a:p>
            <a:r>
              <a:t>Response: Do not displace the stack; attach at perception, data or cost control points with explicit safety boundaries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competitor narrative for Incumbent Tier-1 cohort. Source basis: Bosch and Continental official CV pages · Valeo official India nomination, May 2026. Company-attributed claims remain bounded by: Cohort-level comparison masks vendor-specific economics, architecture openness and exact India programme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mechanism for Incumbent Tier-1 cohort. Fact boundary: Cohort view masks company-specific India programme differences. Source: Bosch and Continental official CV pages · Valeo official India nomination, May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chain synthesis for Incumbent Tier-1 cohort. Source: Bosch and Continental official CV pages · Valeo official India nomination, May 2026. Interpretation is bounded by: Cohort view masks company-specific India programme differences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battlecard for Incumbent Tier-1 cohort. Concessions are evidence-aligned. Challenges must not be stated as disqualifications without buyer validation. Source: Bosch and Continental official CV pages · Valeo official India nomination, May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sales play for Incumbent Tier-1 cohort. Response: Do not displace the stack; attach at perception, data or cost control points with explicit safety boundaries. Evidence boundary: Cohort view masks company-specific India programme differences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Use-case conclusion for Incumbent Tier-1 cohort. Use cases: [('FULL CV ADAS', 'End-to-end safety functions', 'Sensors, compute and actuation'), ('OEM ACCOUNTABILITY', 'Global programme release', 'Validation and industrial supply'), ('LOCALIZED VSS360', 'India CV safety suite', 'Valeo one-box camera and radar architecture')]. DeepGrid response: Do not displace the stack; attach at perception, data or cost control points with explicit safety boundaries. Source: Bosch and Continental official CV pages · Valeo official India nomination, May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The immediate India field competitor—and the most plausible radar-fusion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Starkenn · management posture: PARTNER + COUNTER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01</a:t>
            </a:r>
          </a:p>
        </p:txBody>
      </p:sp>
      <p:pic>
        <p:nvPicPr>
          <p:cNvPr id="9" name="Picture 8" descr="starkenn-brakesafe-img-1.png"/>
          <p:cNvPicPr>
            <a:picLocks noChangeAspect="1"/>
          </p:cNvPicPr>
          <p:nvPr/>
        </p:nvPicPr>
        <p:blipFill>
          <a:blip r:embed="rId2"/>
          <a:srcRect l="28809" r="28809"/>
          <a:stretch>
            <a:fillRect/>
          </a:stretch>
        </p:blipFill>
        <p:spPr>
          <a:xfrm>
            <a:off x="310896" y="1499616"/>
            <a:ext cx="3657600" cy="27980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0896" y="4297680"/>
            <a:ext cx="3657600" cy="43891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425696"/>
            <a:ext cx="33284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81525"/>
                </a:solidFill>
                <a:latin typeface="Arial"/>
              </a:rPr>
              <a:t>PARTNER + COUNTER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36192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536192"/>
            <a:ext cx="64008" cy="768096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64207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36776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Company reports 2,500+ vehicles and deployment across mining, fleet and commercial 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2468880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2468880"/>
            <a:ext cx="64008" cy="76809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596896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IT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69464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Government · mining · retrofit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3401568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3401568"/>
            <a:ext cx="64008" cy="76809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529584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IS NOT 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5021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AIS-162 type approval and independent homologation remain unverified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4389120"/>
            <a:ext cx="76078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590288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498848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Partner for radar and field access; counter only where vision VRU proof and lifecycle economics are visible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" y="5285232"/>
            <a:ext cx="11576304" cy="71323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9554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EXECUTIVE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413248"/>
            <a:ext cx="9464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PARTNER + COUNTER · Evidence confidence: MEDIUM · Release resources only against a named buyer, proof metric and dated gate.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Starkenn owns the strongest India field narrative—but not the perception-silicon control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Starkenn · strongest arena: Government · mining · retrofit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02</a:t>
            </a:r>
          </a:p>
        </p:txBody>
      </p:sp>
      <p:pic>
        <p:nvPicPr>
          <p:cNvPr id="9" name="Picture 8" descr="starkenn-brakesafe-img-1.png"/>
          <p:cNvPicPr>
            <a:picLocks noChangeAspect="1"/>
          </p:cNvPicPr>
          <p:nvPr/>
        </p:nvPicPr>
        <p:blipFill>
          <a:blip r:embed="rId2"/>
          <a:srcRect l="24811" r="24811"/>
          <a:stretch>
            <a:fillRect/>
          </a:stretch>
        </p:blipFill>
        <p:spPr>
          <a:xfrm>
            <a:off x="256032" y="1481328"/>
            <a:ext cx="461772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4462272"/>
            <a:ext cx="4617720" cy="5029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59028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SOURCE-DERIVED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7200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starkenn.com/brakesafe · starkenn.com/mining · company claims, accessed Aug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52704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THEY 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755648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827"/>
                </a:solidFill>
                <a:latin typeface="Georgia"/>
              </a:rPr>
              <a:t>Radar-led BrakeSafe AEBS plus mining safety and fleet 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2450592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3792" y="2450592"/>
            <a:ext cx="54864" cy="62179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55117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542032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Company reports 2,500+ vehicles and deployment across mining, fleet and commercial 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3200400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3200400"/>
            <a:ext cx="54864" cy="62179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30098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ARENA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291840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Government · mining · retrofit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3950208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93792" y="3950208"/>
            <a:ext cx="54864" cy="62179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05079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041648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AIS-162 type approval and independent homologation remain unverified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184648"/>
            <a:ext cx="11658600" cy="9601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1324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321808"/>
            <a:ext cx="8458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Partner for radar and field access; counter only where vision VRU proof and lifecycle economics are visible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57607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A8B8C6"/>
                </a:solidFill>
                <a:latin typeface="Arial"/>
              </a:rPr>
              <a:t>THREAT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8208" y="595274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C62828"/>
                </a:solidFill>
                <a:latin typeface="Arial"/>
              </a:rPr>
              <a:t>HIGH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Starkenn connects radar-led AEB to fleet operations—field integration is its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What it does · customer focus · technology stack ·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472184"/>
            <a:ext cx="3675887" cy="1097280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691640"/>
            <a:ext cx="960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920240"/>
            <a:ext cx="32369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  <a:latin typeface="Arial"/>
              </a:rPr>
              <a:t>India-native vehicle-safety integrator built around retrofit collision mitigation for heavy vehicles, with mining and government fleets as its most visible beachhead.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724912"/>
            <a:ext cx="3675887" cy="117043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926080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CUSTOMER &amp; USE-CASE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18211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Commercial vehicles, mine haulage, buses and fleet operators that need a locally installed safety layer without waiting for a new-vehicle programme.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050791"/>
            <a:ext cx="3675887" cy="1152144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4251960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HOW IT MAKES MONEY / SCALES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50799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Sell a fitted system plus adjacent fleet-safety modules; use field access, installation capability and local service to expand account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51790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Arial"/>
              </a:rPr>
              <a:t>TECHNOLOGY &amp; DELIVERY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1847088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847088"/>
            <a:ext cx="73152" cy="40233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947672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29384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77 GHz / long-range radar sensing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2311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2377440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2377440"/>
            <a:ext cx="73152" cy="402336"/>
          </a:xfrm>
          <a:prstGeom prst="rect">
            <a:avLst/>
          </a:prstGeom>
          <a:solidFill>
            <a:srgbClr val="1A91A3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47802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459736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BrakeSafe collision logic and AEB intervention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761488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2907791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2907791"/>
            <a:ext cx="73152" cy="402336"/>
          </a:xfrm>
          <a:prstGeom prst="rect">
            <a:avLst/>
          </a:prstGeom>
          <a:solidFill>
            <a:srgbClr val="176C80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3008375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990087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Vehicle CAN / brake interface and retrofit fitment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29183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3438144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3438144"/>
            <a:ext cx="73152" cy="40233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3538727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520439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Attention DMS, Terralock and load / alcohol modules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3822191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9392" y="3968496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9392" y="3968496"/>
            <a:ext cx="73152" cy="402336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406908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050791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Stark-I fleet telemetry and analytics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62288" y="1481328"/>
            <a:ext cx="2743200" cy="179222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700784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002536"/>
            <a:ext cx="232257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FFFFFF"/>
                </a:solidFill>
                <a:latin typeface="Arial"/>
              </a:rPr>
              <a:t>Company reports 2,500+ fitted vehicles and deployments spanning mining, fleet and commercial use.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2288" y="3456432"/>
            <a:ext cx="2743200" cy="1746504"/>
          </a:xfrm>
          <a:prstGeom prst="roundRect">
            <a:avLst/>
          </a:prstGeom>
          <a:solidFill>
            <a:srgbClr val="FFF7EC"/>
          </a:solidFill>
          <a:ln>
            <a:solidFill>
              <a:srgbClr val="E8C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3675887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REMAINS UNKNOWN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977639"/>
            <a:ext cx="232257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101827"/>
                </a:solidFill>
                <a:latin typeface="Arial"/>
              </a:rPr>
              <a:t>Independent AIS-162 type approval, production-grade safety architecture and named OEM nomination are not evidenced.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5468112"/>
            <a:ext cx="11631168" cy="603504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565099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SO WHAT FOR DEEPGRID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5577840"/>
            <a:ext cx="9473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>
                <a:solidFill>
                  <a:srgbClr val="FFFFFF"/>
                </a:solidFill>
                <a:latin typeface="Arial"/>
              </a:rPr>
              <a:t>Partner for radar and field access; counter only where vision VRU proof and lifecycle economics are visible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THREAT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Starkenn wins only if its control point becomes the buyer’s deciding criterion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Threat mechanism → falsifier → management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81328"/>
            <a:ext cx="3794760" cy="228600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746504"/>
            <a:ext cx="33284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BUYER DECISION</a:t>
            </a:r>
            <a:br/>
            <a:r>
              <a:rPr sz="1500" b="1" i="0">
                <a:solidFill>
                  <a:srgbClr val="FFFFFF"/>
                </a:solidFill>
                <a:latin typeface="Georgia"/>
              </a:rPr>
              <a:t>Government · mining · retrofit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2688336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9C8D8"/>
                </a:solidFill>
                <a:latin typeface="Arial"/>
              </a:rPr>
              <a:t>The threat becomes material only when this arena—not standalone perception—sets the supplier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CONTROL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150 m radar → Fleet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CONVERSION 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Government · mining · retrofit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1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1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Arial"/>
              </a:rPr>
              <a:t>DISPLACEMENT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1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DeepGrid sits outside the chosen programme boundary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023360"/>
            <a:ext cx="11612880" cy="78638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206240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WHY THIS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123944"/>
            <a:ext cx="9555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The buyer can prefer Starkenn when government · mining · retrofit matters more than standalone perception ownership.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956048"/>
            <a:ext cx="11612880" cy="43891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09320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FALSIFIER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5029200"/>
            <a:ext cx="10012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AIS-162 type approval and independent homologation remain unverified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504688"/>
            <a:ext cx="11612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660136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MANAGEMENT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Partner for radar and field access; counter only where vision VRU proof and lifecycle economics are visible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PRODUCT &amp; CONTROL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Starkenn packages five control points—but only some create a defensible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Follow the system from sensing to the buyer relationship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05</a:t>
            </a:r>
          </a:p>
        </p:txBody>
      </p:sp>
      <p:pic>
        <p:nvPicPr>
          <p:cNvPr id="9" name="Picture 8" descr="starkenn-brakesafe-img-2.png"/>
          <p:cNvPicPr>
            <a:picLocks noChangeAspect="1"/>
          </p:cNvPicPr>
          <p:nvPr/>
        </p:nvPicPr>
        <p:blipFill>
          <a:blip r:embed="rId2"/>
          <a:srcRect l="23767" r="23767"/>
          <a:stretch>
            <a:fillRect/>
          </a:stretch>
        </p:blipFill>
        <p:spPr>
          <a:xfrm>
            <a:off x="256032" y="1481328"/>
            <a:ext cx="2788920" cy="39867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355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150 m radar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6519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7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BrakeSafe AEBS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683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Vehicle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Mining safety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Fleet analytics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3552" y="3611880"/>
            <a:ext cx="8641080" cy="71323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7764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WHERE VALUE ACCRUES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712463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Radar-led BrakeSafe AEBS plus mining safety and fleet analytics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3552" y="4535424"/>
            <a:ext cx="864108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473659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DEEPGRID OPENING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663440"/>
            <a:ext cx="6839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1827"/>
                </a:solidFill>
                <a:latin typeface="Arial"/>
              </a:rPr>
              <a:t>Partner for radar and field access; counter only where vision VRU proof and lifecycle economics are visible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5687568"/>
            <a:ext cx="11658600" cy="43891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824728"/>
            <a:ext cx="1143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SALES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5769864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Do not sell against the whole stack; isolate the control point that Starkenn cannot defend economically or locally.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BATTLECARD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Starkenn wins on india field access—and breaks at three proof or control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Sales battlecard: concede what is true, then move the buying criterion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6835C"/>
                </a:solidFill>
                <a:latin typeface="Arial"/>
              </a:rPr>
              <a:t>CONCEDE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India field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Harsh-environment radar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Retrofit installation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Arial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7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Homologation not evidenced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7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Merchant-silicon economics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3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7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No disclosed OEM nomination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" y="4553712"/>
            <a:ext cx="11338560" cy="50292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70916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4663440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AIS-162 type approval and independent homologation remain unverified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5230368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44982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REFRAME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7904" y="535838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Partner for radar and field access; counter only where vision VRU proof and lifecycle economics are visible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SALES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DeepGrid can change the Starkenn conversation with three persona-specific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Lead with the buyer’s objective; end with a measurable proof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36192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36192"/>
            <a:ext cx="64008" cy="932688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73351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4B3C7"/>
                </a:solidFill>
                <a:latin typeface="Arial"/>
              </a:rPr>
              <a:t>BUSINESS / 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645919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HSE: add vision-classified VRUs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45919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Lifecycle cost + local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" y="2651760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" y="2651760"/>
            <a:ext cx="64008" cy="932688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788920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C96A0A"/>
                </a:solidFill>
                <a:latin typeface="Arial"/>
              </a:rPr>
              <a:t>CHIEF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761488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Engineering: fuse camera + radar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6148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Same-ODD benchmark + integration effort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" y="3767328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" y="3767328"/>
            <a:ext cx="64008" cy="932688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04488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835C"/>
                </a:solidFill>
                <a:latin typeface="Arial"/>
              </a:rPr>
              <a:t>PROGRAMME /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387705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Procurement: compare lifecycle compute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0448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877056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Named responsibility matrix + release gate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" y="5010912"/>
            <a:ext cx="11338560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2120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STOP / ESCALATE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1389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Escalate only when the buyer values DeepGrid’s bounded perception advantage and accepts the evidence plan.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5806440"/>
            <a:ext cx="11658600" cy="32004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897880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81525"/>
                </a:solidFill>
                <a:latin typeface="Arial"/>
              </a:rPr>
              <a:t>NEXT MEETING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4" y="5861304"/>
            <a:ext cx="9692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1525"/>
                </a:solidFill>
                <a:latin typeface="Arial"/>
              </a:rPr>
              <a:t>A named owner, a vehicle or programme, the comparison metric, data rights and a dated go / no-go gate.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USE-CASE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Starkenn is differentiated in three use cases—but each creates a specific DeepGrid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Close the competitor discussion with a use-case choice, not a generic threat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72768"/>
            <a:ext cx="3584448" cy="7315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MINING AEBS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Dust, vibration and low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UNIQUE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Radar-led BrakeSafe + fleet controls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9663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9663" y="1572768"/>
            <a:ext cx="3584448" cy="7315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GOVT / PSU RETROFIT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Fast fitment and local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UNIQUE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Made-in-India radar AEBS stack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1572768"/>
            <a:ext cx="3584448" cy="7315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5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CV VRU PROTECTION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Pedestrian and cyclist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UNIQUE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Radar base; vision remains attach opportunity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" y="4681728"/>
            <a:ext cx="11503152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82896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DEEPGRID FITS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782312"/>
            <a:ext cx="9372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Georgia"/>
              </a:rPr>
              <a:t>Partner for radar and field access; counter only where vision VRU proof and lifecycle economics are visible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" y="5468112"/>
            <a:ext cx="1150315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650992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COMMERCIAL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568696"/>
            <a:ext cx="9528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1827"/>
                </a:solidFill>
                <a:latin typeface="Arial"/>
              </a:rPr>
              <a:t>Select one named government · mining · retrofit use case; agree the buyer metric, responsibility boundary and 90-day stop / scale gate.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A high-potential domestic radar challenger whose qualification claims must clear diligence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Gahan AI · management posture: VERIFY +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09</a:t>
            </a:r>
          </a:p>
        </p:txBody>
      </p:sp>
      <p:pic>
        <p:nvPicPr>
          <p:cNvPr id="9" name="Picture 8" descr="gahan-page-1.png"/>
          <p:cNvPicPr>
            <a:picLocks noChangeAspect="1"/>
          </p:cNvPicPr>
          <p:nvPr/>
        </p:nvPicPr>
        <p:blipFill>
          <a:blip r:embed="rId2"/>
          <a:srcRect l="9150" r="9150"/>
          <a:stretch>
            <a:fillRect/>
          </a:stretch>
        </p:blipFill>
        <p:spPr>
          <a:xfrm>
            <a:off x="310896" y="1499616"/>
            <a:ext cx="3657600" cy="27980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0896" y="4297680"/>
            <a:ext cx="3657600" cy="43891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425696"/>
            <a:ext cx="33284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81525"/>
                </a:solidFill>
                <a:latin typeface="Arial"/>
              </a:rPr>
              <a:t>VERIFY + BENCHMARK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36192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536192"/>
            <a:ext cx="64008" cy="768096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64207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36776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Company claims TRL-8, AEC-Q100 completion, TI partnership and OEM pilots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2468880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2468880"/>
            <a:ext cx="64008" cy="76809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596896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IT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69464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OEM qualification · defence · infrastructure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3401568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3401568"/>
            <a:ext cx="64008" cy="76809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529584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IS NOT 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5021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Certificate scope, qualified component and named programme status are not independently evidenced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4389120"/>
            <a:ext cx="76078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590288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498848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Verify first; benchmark radar weather performance and OEM qualification gates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" y="5285232"/>
            <a:ext cx="11576304" cy="71323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9554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EXECUTIVE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413248"/>
            <a:ext cx="9464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VERIFY + BENCHMARK · Evidence confidence: LOW–MED · Release resources only against a named buyer, proof metric and dated gate.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Gahan could become the domestic radar benchmark—but its qualification narrative needs primary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Gahan AI · strongest arena: OEM qualification · defence ·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10</a:t>
            </a:r>
          </a:p>
        </p:txBody>
      </p:sp>
      <p:pic>
        <p:nvPicPr>
          <p:cNvPr id="9" name="Picture 8" descr="gahan-page-1.png"/>
          <p:cNvPicPr>
            <a:picLocks noChangeAspect="1"/>
          </p:cNvPicPr>
          <p:nvPr/>
        </p:nvPicPr>
        <p:blipFill>
          <a:blip r:embed="rId2"/>
          <a:srcRect l="1442" r="1442"/>
          <a:stretch>
            <a:fillRect/>
          </a:stretch>
        </p:blipFill>
        <p:spPr>
          <a:xfrm>
            <a:off x="256032" y="1481328"/>
            <a:ext cx="461772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4462272"/>
            <a:ext cx="4617720" cy="5029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59028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SOURCE-DERIVED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7200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gahanai.com/about · claims are company-attributed, accessed Aug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52704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THEY 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755648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827"/>
                </a:solidFill>
                <a:latin typeface="Georgia"/>
              </a:rPr>
              <a:t>DRWIG indigenous 77 GHz radar platform on TI mmWave silicon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2450592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3792" y="2450592"/>
            <a:ext cx="54864" cy="62179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55117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542032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Company claims TRL-8, AEC-Q100 completion, TI partnership and OEM pilots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3200400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3200400"/>
            <a:ext cx="54864" cy="62179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30098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ARENA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291840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OEM qualification · defence · infrastructure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3950208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93792" y="3950208"/>
            <a:ext cx="54864" cy="62179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05079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041648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Certificate scope, qualified component and named programme status are not independently evidenced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184648"/>
            <a:ext cx="11658600" cy="9601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1324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321808"/>
            <a:ext cx="8458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Verify first; benchmark radar weather performance and OEM qualification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57607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A8B8C6"/>
                </a:solidFill>
                <a:latin typeface="Arial"/>
              </a:rPr>
              <a:t>THREAT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8208" y="595274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C62828"/>
                </a:solidFill>
                <a:latin typeface="Arial"/>
              </a:rPr>
              <a:t>HIGH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Gahan links indigenous 77 GHz radar to OEM applications—but qualification is the conversion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What it does · customer focus · technology stack ·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472184"/>
            <a:ext cx="3675887" cy="1097280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691640"/>
            <a:ext cx="960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920240"/>
            <a:ext cx="32369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  <a:latin typeface="Arial"/>
              </a:rPr>
              <a:t>Bengaluru radar venture positioning indigenous automotive sensing as a sovereign alternative for mobility, two-wheelers, infrastructure and defence.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724912"/>
            <a:ext cx="3675887" cy="117043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926080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CUSTOMER &amp; USE-CASE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18211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OEM and strategic programmes that value all-weather ranging, India-owned radar IP and a domestic engineering relationship.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050791"/>
            <a:ext cx="3675887" cy="1152144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4251960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HOW IT MAKES MONEY / SCALES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50799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Develop radar modules and perception IP, then convert pilots and qualification claims into OEM or strategic programme design-ins.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51790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Arial"/>
              </a:rPr>
              <a:t>TECHNOLOGY &amp; DELIVERY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1847088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847088"/>
            <a:ext cx="73152" cy="40233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947672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29384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TI mmWave radar silicon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2311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2377440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2377440"/>
            <a:ext cx="73152" cy="402336"/>
          </a:xfrm>
          <a:prstGeom prst="rect">
            <a:avLst/>
          </a:prstGeom>
          <a:solidFill>
            <a:srgbClr val="1A91A3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47802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459736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DRWIG 77 GHz radar hardware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761488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2907791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2907791"/>
            <a:ext cx="73152" cy="402336"/>
          </a:xfrm>
          <a:prstGeom prst="rect">
            <a:avLst/>
          </a:prstGeom>
          <a:solidFill>
            <a:srgbClr val="176C80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3008375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990087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Range / velocity / angle and micro-Doppler processing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29183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3438144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3438144"/>
            <a:ext cx="73152" cy="40233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3538727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520439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Radar perception and object-tracking software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3822191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9392" y="3968496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9392" y="3968496"/>
            <a:ext cx="73152" cy="402336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406908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050791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Vehicle, two-wheeler and infrastructure interfaces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62288" y="1481328"/>
            <a:ext cx="2743200" cy="179222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700784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002536"/>
            <a:ext cx="232257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FFFFFF"/>
                </a:solidFill>
                <a:latin typeface="Arial"/>
              </a:rPr>
              <a:t>Company states TRL-8 maturity, OEM pilots, TI collaboration and automotive qualification progress.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2288" y="3456432"/>
            <a:ext cx="2743200" cy="1746504"/>
          </a:xfrm>
          <a:prstGeom prst="roundRect">
            <a:avLst/>
          </a:prstGeom>
          <a:solidFill>
            <a:srgbClr val="FFF7EC"/>
          </a:solidFill>
          <a:ln>
            <a:solidFill>
              <a:srgbClr val="E8C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3675887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REMAINS UNKNOWN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977639"/>
            <a:ext cx="232257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101827"/>
                </a:solidFill>
                <a:latin typeface="Arial"/>
              </a:rPr>
              <a:t>Certificate holder, qualified component, AEC-Q100 scope and named production nomination require primary verification.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5468112"/>
            <a:ext cx="11631168" cy="603504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565099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SO WHAT FOR DEEPGRID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5577840"/>
            <a:ext cx="9473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>
                <a:solidFill>
                  <a:srgbClr val="FFFFFF"/>
                </a:solidFill>
                <a:latin typeface="Arial"/>
              </a:rPr>
              <a:t>Verify first; benchmark radar weather performance and OEM qualification gates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THREAT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Gahan AI wins only if its control point becomes the buyer’s deciding criterion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Threat mechanism → falsifier → management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81328"/>
            <a:ext cx="3794760" cy="228600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746504"/>
            <a:ext cx="33284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BUYER DECISION</a:t>
            </a:r>
            <a:br/>
            <a:r>
              <a:rPr sz="1500" b="1" i="0">
                <a:solidFill>
                  <a:srgbClr val="FFFFFF"/>
                </a:solidFill>
                <a:latin typeface="Georgia"/>
              </a:rPr>
              <a:t>OEM qualification · defence ·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2688336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9C8D8"/>
                </a:solidFill>
                <a:latin typeface="Arial"/>
              </a:rPr>
              <a:t>The threat becomes material only when this arena—not standalone perception—sets the supplier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CONTROL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TI mmWave SoC → Defence / mobility 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CONVERSION 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OEM qualification · defence ·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1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1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Arial"/>
              </a:rPr>
              <a:t>DISPLACEMENT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1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DeepGrid sits outside the chosen programme boundary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023360"/>
            <a:ext cx="11612880" cy="78638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206240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WHY THIS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123944"/>
            <a:ext cx="9555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The buyer can prefer Gahan AI when oem qualification · defence · infrastructure matters more than standalone perception ownership.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956048"/>
            <a:ext cx="11612880" cy="43891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09320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FALSIFIER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5029200"/>
            <a:ext cx="10012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Certificate scope, qualified component and named programme status are not independently evidenced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504688"/>
            <a:ext cx="11612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660136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MANAGEMENT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Verify first; benchmark radar weather performance and OEM qualification gates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PRODUCT &amp; CONTROL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Gahan AI packages five control points—but only some create a defensible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Follow the system from sensing to the buyer relationship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13</a:t>
            </a:r>
          </a:p>
        </p:txBody>
      </p:sp>
      <p:pic>
        <p:nvPicPr>
          <p:cNvPr id="9" name="Picture 8" descr="gahan-page-2.png"/>
          <p:cNvPicPr>
            <a:picLocks noChangeAspect="1"/>
          </p:cNvPicPr>
          <p:nvPr/>
        </p:nvPicPr>
        <p:blipFill>
          <a:blip r:embed="rId2"/>
          <a:srcRect l="28139" r="28139"/>
          <a:stretch>
            <a:fillRect/>
          </a:stretch>
        </p:blipFill>
        <p:spPr>
          <a:xfrm>
            <a:off x="256032" y="1481328"/>
            <a:ext cx="2788920" cy="39867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355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TI mmWave SoC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6519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7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DRWIG radar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683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Radar perception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OEM qualification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Defence / mobility routes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3552" y="3611880"/>
            <a:ext cx="8641080" cy="71323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7764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WHERE VALUE ACCRUES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712463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DRWIG indigenous 77 GHz radar platform on TI mmWave silicon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3552" y="4535424"/>
            <a:ext cx="864108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473659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DEEPGRID OPENING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663440"/>
            <a:ext cx="6839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1827"/>
                </a:solidFill>
                <a:latin typeface="Arial"/>
              </a:rPr>
              <a:t>Verify first; benchmark radar weather performance and OEM qualification gates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5687568"/>
            <a:ext cx="11658600" cy="43891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824728"/>
            <a:ext cx="1143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SALES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5769864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Do not sell against the whole stack; isolate the control point that Gahan AI cannot defend economically or locally.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BATTLECARD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Gahan AI wins on indigenous radar narrative—and breaks at three proof or control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Sales battlecard: concede what is true, then move the buying criterion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6835C"/>
                </a:solidFill>
                <a:latin typeface="Arial"/>
              </a:rPr>
              <a:t>CONCEDE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Indigenous radar narrative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Weather resilience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Claimed OEM pilots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Arial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7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Qualification scope unclear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7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No public production nomination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3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7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Claims mostly self-published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" y="4553712"/>
            <a:ext cx="11338560" cy="50292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70916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4663440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Certificate scope, qualified component and named programme status are not independently evidenced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5230368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44982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REFRAME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7904" y="535838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Verify first; benchmark radar weather performance and OEM qualification gates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SALES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DeepGrid can change the Gahan AI conversation with three persona-specific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Lead with the buyer’s objective; end with a measurable proof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36192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36192"/>
            <a:ext cx="64008" cy="932688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73351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4B3C7"/>
                </a:solidFill>
                <a:latin typeface="Arial"/>
              </a:rPr>
              <a:t>BUSINESS / 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645919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OEM: verify certificate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45919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Lifecycle cost + local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" y="2651760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" y="2651760"/>
            <a:ext cx="64008" cy="932688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788920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C96A0A"/>
                </a:solidFill>
                <a:latin typeface="Arial"/>
              </a:rPr>
              <a:t>CHIEF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761488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Engineering: benchmark monsoon clutter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6148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Same-ODD benchmark + integration effort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" y="3767328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" y="3767328"/>
            <a:ext cx="64008" cy="932688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04488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835C"/>
                </a:solidFill>
                <a:latin typeface="Arial"/>
              </a:rPr>
              <a:t>PROGRAMME /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387705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Board: monitor qualification conversion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0448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877056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Named responsibility matrix + release gate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" y="5010912"/>
            <a:ext cx="11338560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2120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STOP / ESCALATE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1389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Escalate only when the buyer values DeepGrid’s bounded perception advantage and accepts the evidence plan.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5806440"/>
            <a:ext cx="11658600" cy="32004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897880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81525"/>
                </a:solidFill>
                <a:latin typeface="Arial"/>
              </a:rPr>
              <a:t>NEXT MEETING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4" y="5861304"/>
            <a:ext cx="9692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1525"/>
                </a:solidFill>
                <a:latin typeface="Arial"/>
              </a:rPr>
              <a:t>A named owner, a vehicle or programme, the comparison metric, data rights and a dated go / no-go gate.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USE-CASE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Gahan AI is differentiated in three use cases—but each creates a specific DeepGrid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Close the competitor discussion with a use-case choice, not a generic threat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72768"/>
            <a:ext cx="3584448" cy="7315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OEM FRONT RADAR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All-weather ranging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UNIQUE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DRWIG 77 GHz radar platform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9663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9663" y="1572768"/>
            <a:ext cx="3584448" cy="7315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TWO-WHEELER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Dense mixed traffic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UNIQUE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Micro-Doppler and proximity claims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1572768"/>
            <a:ext cx="3584448" cy="7315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5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DEFENCE / INFRA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Sovereign sensing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UNIQUE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India-owned radar narrative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" y="4681728"/>
            <a:ext cx="11503152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82896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DEEPGRID FITS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782312"/>
            <a:ext cx="9372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Georgia"/>
              </a:rPr>
              <a:t>Verify first; benchmark radar weather performance and OEM qualification gates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" y="5468112"/>
            <a:ext cx="1150315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650992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COMMERCIAL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568696"/>
            <a:ext cx="9528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1827"/>
                </a:solidFill>
                <a:latin typeface="Arial"/>
              </a:rPr>
              <a:t>Select one named oem qualification · defence · infrastructure use case; agree the buyer metric, responsibility boundary and 90-day stop / scale gate.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The strongest integrated DMS and fleet-data proposition—not yet proven as an AEBS system owner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drivebuddyAI · management posture: DILIGENCE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17</a:t>
            </a:r>
          </a:p>
        </p:txBody>
      </p:sp>
      <p:pic>
        <p:nvPicPr>
          <p:cNvPr id="9" name="Picture 8" descr="drivebuddy-hcv.jpg"/>
          <p:cNvPicPr>
            <a:picLocks noChangeAspect="1"/>
          </p:cNvPicPr>
          <p:nvPr/>
        </p:nvPicPr>
        <p:blipFill>
          <a:blip r:embed="rId2"/>
          <a:srcRect l="12786" r="12786"/>
          <a:stretch>
            <a:fillRect/>
          </a:stretch>
        </p:blipFill>
        <p:spPr>
          <a:xfrm>
            <a:off x="310896" y="1499616"/>
            <a:ext cx="3657600" cy="27980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0896" y="4297680"/>
            <a:ext cx="3657600" cy="43891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425696"/>
            <a:ext cx="33284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81525"/>
                </a:solidFill>
                <a:latin typeface="Arial"/>
              </a:rPr>
              <a:t>DILIGENCE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36192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536192"/>
            <a:ext cx="64008" cy="768096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64207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36776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ARAI-certified AIS-184 DMS; company reports 1bn km data and live HCV demonstrations at ADAS Test 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2468880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2468880"/>
            <a:ext cx="64008" cy="76809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596896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IT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69464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Fleet · compliance · HCV demonstration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3401568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3401568"/>
            <a:ext cx="64008" cy="76809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529584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IS NOT 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5021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DMS certification does not establish AEBS type approval or braking accountability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4389120"/>
            <a:ext cx="76078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590288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498848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Diligence OEM integration and fusion performance; avoid conflating DMS proof with AEBS readiness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" y="5285232"/>
            <a:ext cx="11576304" cy="71323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9554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EXECUTIVE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413248"/>
            <a:ext cx="9464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DILIGENCE · Evidence confidence: MED–HIGH · Release resources only against a named buyer, proof metric and dated gate.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drivebuddyAI converts Indian-road data into a credible integrated compliance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drivebuddyAI · strongest arena: Fleet · compliance · HCV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18</a:t>
            </a:r>
          </a:p>
        </p:txBody>
      </p:sp>
      <p:pic>
        <p:nvPicPr>
          <p:cNvPr id="9" name="Picture 8" descr="drivebuddy-hcv.jpg"/>
          <p:cNvPicPr>
            <a:picLocks noChangeAspect="1"/>
          </p:cNvPicPr>
          <p:nvPr/>
        </p:nvPicPr>
        <p:blipFill>
          <a:blip r:embed="rId2"/>
          <a:srcRect l="5764" r="5764"/>
          <a:stretch>
            <a:fillRect/>
          </a:stretch>
        </p:blipFill>
        <p:spPr>
          <a:xfrm>
            <a:off x="256032" y="1481328"/>
            <a:ext cx="461772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4462272"/>
            <a:ext cx="4617720" cy="5029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59028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SOURCE-DERIVED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7200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Roadzen investor release · ARAI update · drivebuddyAI demonstration, 2024–2026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52704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THEY 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755648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827"/>
                </a:solidFill>
                <a:latin typeface="Georgia"/>
              </a:rPr>
              <a:t>Camera–radar ADAS, DMS and fleet intelligence in one operating stack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2450592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3792" y="2450592"/>
            <a:ext cx="54864" cy="62179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55117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542032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ARAI-certified AIS-184 DMS; company reports 1bn km data and live HCV demonstrations at ADAS Test City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3200400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3200400"/>
            <a:ext cx="54864" cy="62179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30098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ARENA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291840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Fleet · compliance · HCV demonstration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3950208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93792" y="3950208"/>
            <a:ext cx="54864" cy="62179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05079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041648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DMS certification does not establish AEBS type approval or braking accountability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184648"/>
            <a:ext cx="11658600" cy="9601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1324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321808"/>
            <a:ext cx="8458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Diligence OEM integration and fusion performance; avoid conflating DMS proof with AEBS readiness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57607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A8B8C6"/>
                </a:solidFill>
                <a:latin typeface="Arial"/>
              </a:rPr>
              <a:t>THREAT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8208" y="595274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C96A0A"/>
                </a:solidFill>
                <a:latin typeface="Arial"/>
              </a:rPr>
              <a:t>MEDIUM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drivebuddyAI unifies road sensing, DMS and fleet analytics around an India-data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What it does · customer focus · technology stack ·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472184"/>
            <a:ext cx="3675887" cy="1097280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691640"/>
            <a:ext cx="960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920240"/>
            <a:ext cx="32369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  <a:latin typeface="Arial"/>
              </a:rPr>
              <a:t>India-focused ADAS and driver-intelligence platform combining camera, radar, DMS and fleet analytics around a continuously learning road-data layer.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724912"/>
            <a:ext cx="3675887" cy="117043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926080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CUSTOMER &amp; USE-CASE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18211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Heavy commercial fleets and OEMs seeking driver monitoring, warning functions, compliance evidence and operational risk reduction in one platform.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050791"/>
            <a:ext cx="3675887" cy="1152144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4251960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HOW IT MAKES MONEY / SCALES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50799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Deploy hardware into fleets, capture Indian-road data, monetize analytics and use operating proof to move upstream toward OEM integration.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51790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Arial"/>
              </a:rPr>
              <a:t>TECHNOLOGY &amp; DELIVERY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1847088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847088"/>
            <a:ext cx="73152" cy="40233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947672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29384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Road-facing cameras and radar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2311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2377440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2377440"/>
            <a:ext cx="73152" cy="402336"/>
          </a:xfrm>
          <a:prstGeom prst="rect">
            <a:avLst/>
          </a:prstGeom>
          <a:solidFill>
            <a:srgbClr val="1A91A3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47802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459736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Cabin-facing DMS sensing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761488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2907791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2907791"/>
            <a:ext cx="73152" cy="402336"/>
          </a:xfrm>
          <a:prstGeom prst="rect">
            <a:avLst/>
          </a:prstGeom>
          <a:solidFill>
            <a:srgbClr val="176C80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3008375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990087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ADAS / DMS perception and sensor fusion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29183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3438144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3438144"/>
            <a:ext cx="73152" cy="40233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3538727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520439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Driver-risk scoring and event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3822191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9392" y="3968496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9392" y="3968496"/>
            <a:ext cx="73152" cy="402336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406908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050791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Cloud fleet portal, coaching and OEM interfaces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62288" y="1481328"/>
            <a:ext cx="2743200" cy="179222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700784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002536"/>
            <a:ext cx="232257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FFFFFF"/>
                </a:solidFill>
                <a:latin typeface="Arial"/>
              </a:rPr>
              <a:t>ARAI-certified AIS-184 DMS, reported large-scale road-data corpus, HCV demonstrations and a reported multi-thousand-truck contract.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2288" y="3456432"/>
            <a:ext cx="2743200" cy="1746504"/>
          </a:xfrm>
          <a:prstGeom prst="roundRect">
            <a:avLst/>
          </a:prstGeom>
          <a:solidFill>
            <a:srgbClr val="FFF7EC"/>
          </a:solidFill>
          <a:ln>
            <a:solidFill>
              <a:srgbClr val="E8C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3675887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REMAINS UNKNOWN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977639"/>
            <a:ext cx="232257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101827"/>
                </a:solidFill>
                <a:latin typeface="Arial"/>
              </a:rPr>
              <a:t>AEBS type approval, brake-actuation responsibility and exact OEM series-production boundary remain unproven.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5468112"/>
            <a:ext cx="11631168" cy="603504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565099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SO WHAT FOR DEEPGRID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5577840"/>
            <a:ext cx="9473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>
                <a:solidFill>
                  <a:srgbClr val="FFFFFF"/>
                </a:solidFill>
                <a:latin typeface="Arial"/>
              </a:rPr>
              <a:t>Diligence OEM integration and fusion performance; avoid conflating DMS proof with AEBS readiness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THREAT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drivebuddyAI wins only if its control point becomes the buyer’s deciding criterion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Threat mechanism → falsifier → management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81328"/>
            <a:ext cx="3794760" cy="228600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746504"/>
            <a:ext cx="33284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BUYER DECISION</a:t>
            </a:r>
            <a:br/>
            <a:r>
              <a:rPr sz="1500" b="1" i="0">
                <a:solidFill>
                  <a:srgbClr val="FFFFFF"/>
                </a:solidFill>
                <a:latin typeface="Georgia"/>
              </a:rPr>
              <a:t>Fleet · compliance · HCV 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2688336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9C8D8"/>
                </a:solidFill>
                <a:latin typeface="Arial"/>
              </a:rPr>
              <a:t>The threat becomes material only when this arena—not standalone perception—sets the supplier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CONTROL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Camera + radar → Fleet / OEM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CONVERSION 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Fleet · compliance · HCV demonstration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1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1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Arial"/>
              </a:rPr>
              <a:t>DISPLACEMENT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1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DeepGrid sits outside the chosen programme boundary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023360"/>
            <a:ext cx="11612880" cy="78638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206240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WHY THIS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123944"/>
            <a:ext cx="9555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The buyer can prefer drivebuddyAI when fleet · compliance · hcv demonstration matters more than standalone perception ownership.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956048"/>
            <a:ext cx="11612880" cy="43891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09320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FALSIFIER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5029200"/>
            <a:ext cx="10012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DMS certification does not establish AEBS type approval or braking accountability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504688"/>
            <a:ext cx="11612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660136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MANAGEMENT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Diligence OEM integration and fusion performance; avoid conflating DMS proof with AEBS readiness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PRODUCT &amp; CONTROL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drivebuddyAI packages five control points—but only some create a defensible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Follow the system from sensing to the buyer relationship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21</a:t>
            </a:r>
          </a:p>
        </p:txBody>
      </p:sp>
      <p:pic>
        <p:nvPicPr>
          <p:cNvPr id="9" name="Picture 8" descr="drivebuddy-page-2.png"/>
          <p:cNvPicPr>
            <a:picLocks noChangeAspect="1"/>
          </p:cNvPicPr>
          <p:nvPr/>
        </p:nvPicPr>
        <p:blipFill>
          <a:blip r:embed="rId2"/>
          <a:srcRect l="28139" r="28139"/>
          <a:stretch>
            <a:fillRect/>
          </a:stretch>
        </p:blipFill>
        <p:spPr>
          <a:xfrm>
            <a:off x="256032" y="1481328"/>
            <a:ext cx="2788920" cy="39867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355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Camera + radar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6519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7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ADAS / DMS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683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Driver-risk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ARAI AIS-184 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Fleet / OEM interface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3552" y="3611880"/>
            <a:ext cx="8641080" cy="71323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7764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WHERE VALUE ACCRUES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712463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Camera–radar ADAS, DMS and fleet intelligence in one operating stack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3552" y="4535424"/>
            <a:ext cx="864108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473659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DEEPGRID OPENING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663440"/>
            <a:ext cx="6839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1827"/>
                </a:solidFill>
                <a:latin typeface="Arial"/>
              </a:rPr>
              <a:t>Diligence OEM integration and fusion performance; avoid conflating DMS proof with AEBS readiness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5687568"/>
            <a:ext cx="11658600" cy="43891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824728"/>
            <a:ext cx="1143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SALES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5769864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Do not sell against the whole stack; isolate the control point that drivebuddyAI cannot defend economically or locally.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BATTLECARD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drivebuddyAI wins on indian-road data—and breaks at three proof or control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Sales battlecard: concede what is true, then move the buying criterion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6835C"/>
                </a:solidFill>
                <a:latin typeface="Arial"/>
              </a:rPr>
              <a:t>CONCEDE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Indian-road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Certified DMS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Live HCV demonstration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Arial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7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DMS ≠ AEBS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7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Braking boundary unclear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3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7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OEM nomination undisclosed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" y="4553712"/>
            <a:ext cx="11338560" cy="50292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70916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4663440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DMS certification does not establish AEBS type approval or braking accountability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5230368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44982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REFRAME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7904" y="535838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Diligence OEM integration and fusion performance; avoid conflating DMS proof with AEBS readiness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SALES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DeepGrid can change the drivebuddyAI conversation with three persona-specific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Lead with the buyer’s objective; end with a measurable proof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36192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36192"/>
            <a:ext cx="64008" cy="932688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73351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4B3C7"/>
                </a:solidFill>
                <a:latin typeface="Arial"/>
              </a:rPr>
              <a:t>BUSINESS / 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645919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Fleet: lead with risk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45919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Lifecycle cost + local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" y="2651760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" y="2651760"/>
            <a:ext cx="64008" cy="932688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788920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C96A0A"/>
                </a:solidFill>
                <a:latin typeface="Arial"/>
              </a:rPr>
              <a:t>CHIEF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761488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OEM: separate DMS and AEBS 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6148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Same-ODD benchmark + integration effort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" y="3767328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" y="3767328"/>
            <a:ext cx="64008" cy="932688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04488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835C"/>
                </a:solidFill>
                <a:latin typeface="Arial"/>
              </a:rPr>
              <a:t>PROGRAMME /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387705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Engineering: test false interventions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0448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877056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Named responsibility matrix + release gate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" y="5010912"/>
            <a:ext cx="11338560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2120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STOP / ESCALATE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1389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Escalate only when the buyer values DeepGrid’s bounded perception advantage and accepts the evidence plan.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5806440"/>
            <a:ext cx="11658600" cy="32004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897880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81525"/>
                </a:solidFill>
                <a:latin typeface="Arial"/>
              </a:rPr>
              <a:t>NEXT MEETING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4" y="5861304"/>
            <a:ext cx="9692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1525"/>
                </a:solidFill>
                <a:latin typeface="Arial"/>
              </a:rPr>
              <a:t>A named owner, a vehicle or programme, the comparison metric, data rights and a dated go / no-go gate.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USE-CASE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drivebuddyAI is differentiated in three use cases—but each creates a specific DeepGrid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Close the competitor discussion with a use-case choice, not a generic threat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72768"/>
            <a:ext cx="3584448" cy="7315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DMS / DDAWS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Fatigue and distraction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UNIQUE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ARAI-certified AIS-184 DMS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9663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9663" y="1572768"/>
            <a:ext cx="3584448" cy="7315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FLEET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Driver behaviour and coaching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UNIQUE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Continuously learning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1572768"/>
            <a:ext cx="3584448" cy="7315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5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HCV 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Multiple warning functions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UNIQUE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Camera–radar integrated platform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" y="4681728"/>
            <a:ext cx="11503152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82896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DEEPGRID FITS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782312"/>
            <a:ext cx="9372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Georgia"/>
              </a:rPr>
              <a:t>Diligence OEM integration and fusion performance; avoid conflating DMS proof with AEBS readiness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" y="5468112"/>
            <a:ext cx="1150315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650992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COMMERCIAL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568696"/>
            <a:ext cx="9528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1827"/>
                </a:solidFill>
                <a:latin typeface="Arial"/>
              </a:rPr>
              <a:t>Select one named fleet · compliance · hcv demonstration use case; agree the buyer metric, responsibility boundary and 90-day stop / scale gate.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The reference system partner because it controls braking, validation and OEM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ZF CVCS India · management posture: ATTACH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25</a:t>
            </a:r>
          </a:p>
        </p:txBody>
      </p:sp>
      <p:pic>
        <p:nvPicPr>
          <p:cNvPr id="9" name="Picture 8" descr="zf-truck.jpg"/>
          <p:cNvPicPr>
            <a:picLocks noChangeAspect="1"/>
          </p:cNvPicPr>
          <p:nvPr/>
        </p:nvPicPr>
        <p:blipFill>
          <a:blip r:embed="rId2"/>
          <a:srcRect l="3793" r="3793"/>
          <a:stretch>
            <a:fillRect/>
          </a:stretch>
        </p:blipFill>
        <p:spPr>
          <a:xfrm>
            <a:off x="310896" y="1499616"/>
            <a:ext cx="3657600" cy="27980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0896" y="4297680"/>
            <a:ext cx="3657600" cy="43891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425696"/>
            <a:ext cx="33284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81525"/>
                </a:solidFill>
                <a:latin typeface="Arial"/>
              </a:rPr>
              <a:t>ATTACH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36192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536192"/>
            <a:ext cx="64008" cy="768096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64207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36776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Two disclosed Indian CV OEM ADAS nominations; India validation and production-readiness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2468880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2468880"/>
            <a:ext cx="64008" cy="76809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596896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IT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69464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N2/N3 OEM programmes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3401568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3401568"/>
            <a:ext cx="64008" cy="76809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529584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IS NOT 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5021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Programme customer, volumes and unit economics remain undisclosed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4389120"/>
            <a:ext cx="76078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590288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498848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Attach DGS001 as a bounded camera-perception subsystem; do not compete for the full safety case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" y="5285232"/>
            <a:ext cx="11576304" cy="71323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9554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EXECUTIVE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413248"/>
            <a:ext cx="9464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ATTACH · Evidence confidence: HIGH · Release resources only against a named buyer, proof metric and dated gate.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ZF’s advantage is not perception alone—it already owns the braking channel and OEM safety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ZF CVCS India · strongest arena: N2/N3 OEM programmes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26</a:t>
            </a:r>
          </a:p>
        </p:txBody>
      </p:sp>
      <p:pic>
        <p:nvPicPr>
          <p:cNvPr id="9" name="Picture 8" descr="zf-truck.jpg"/>
          <p:cNvPicPr>
            <a:picLocks noChangeAspect="1"/>
          </p:cNvPicPr>
          <p:nvPr/>
        </p:nvPicPr>
        <p:blipFill>
          <a:blip r:embed="rId2"/>
          <a:srcRect t="4484" b="4484"/>
          <a:stretch>
            <a:fillRect/>
          </a:stretch>
        </p:blipFill>
        <p:spPr>
          <a:xfrm>
            <a:off x="256032" y="1481328"/>
            <a:ext cx="461772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4462272"/>
            <a:ext cx="4617720" cy="5029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59028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SOURCE-DERIVED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7200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ZF CVCS India exchange filings, 3 Dec 2025 and 31 Mar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52704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THEY 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755648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827"/>
                </a:solidFill>
                <a:latin typeface="Georgia"/>
              </a:rPr>
              <a:t>Integrated CV ADAS tied to braking, actuation, validation and homologation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2450592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3792" y="2450592"/>
            <a:ext cx="54864" cy="62179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55117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542032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Two disclosed Indian CV OEM ADAS nominations; India validation and production-readiness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3200400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3200400"/>
            <a:ext cx="54864" cy="62179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30098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ARENA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291840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N2/N3 OEM programmes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3950208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93792" y="3950208"/>
            <a:ext cx="54864" cy="62179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05079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041648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Programme customer, volumes and unit economics remain undisclosed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184648"/>
            <a:ext cx="11658600" cy="9601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1324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321808"/>
            <a:ext cx="8458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Attach DGS001 as a bounded camera-perception subsystem; do not compete for the full safety 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57607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A8B8C6"/>
                </a:solidFill>
                <a:latin typeface="Arial"/>
              </a:rPr>
              <a:t>THREAT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8208" y="595274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C62828"/>
                </a:solidFill>
                <a:latin typeface="Arial"/>
              </a:rPr>
              <a:t>HIGH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ZF connects sensing to braking and homologation—owning the complete CV safety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What it does · customer focus · technology stack ·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472184"/>
            <a:ext cx="3675887" cy="1097280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691640"/>
            <a:ext cx="960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920240"/>
            <a:ext cx="32369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  <a:latin typeface="Arial"/>
              </a:rPr>
              <a:t>Commercial-vehicle systems Tier-1 that joins perception to braking, actuation, validation and OEM release responsibility.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724912"/>
            <a:ext cx="3675887" cy="117043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926080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CUSTOMER &amp; USE-CASE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18211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N2/N3 OEM programmes that require multiple mandated safety functions, system-level homologation and a supplier able to own the braking interface.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050791"/>
            <a:ext cx="3675887" cy="1152144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4251960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HOW IT MAKES MONEY / SCALES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50799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Win platform nominations by bundling safety functions with entrenched braking relationships and programme-level engineering accountability.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51790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Arial"/>
              </a:rPr>
              <a:t>TECHNOLOGY &amp; DELIVERY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1847088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847088"/>
            <a:ext cx="73152" cy="40233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947672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29384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Radar, camera and vehicle sensors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2311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2377440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2377440"/>
            <a:ext cx="73152" cy="402336"/>
          </a:xfrm>
          <a:prstGeom prst="rect">
            <a:avLst/>
          </a:prstGeom>
          <a:solidFill>
            <a:srgbClr val="1A91A3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47802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459736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CV ADAS perception and decision 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761488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2907791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2907791"/>
            <a:ext cx="73152" cy="402336"/>
          </a:xfrm>
          <a:prstGeom prst="rect">
            <a:avLst/>
          </a:prstGeom>
          <a:solidFill>
            <a:srgbClr val="176C80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3008375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990087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Electronic braking / actuation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29183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3438144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3438144"/>
            <a:ext cx="73152" cy="40233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3538727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520439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Vehicle integration and India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3822191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9392" y="3968496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9392" y="3968496"/>
            <a:ext cx="73152" cy="402336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406908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050791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Homologation, production release and lifecycle supply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62288" y="1481328"/>
            <a:ext cx="2743200" cy="179222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700784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002536"/>
            <a:ext cx="232257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FFFFFF"/>
                </a:solidFill>
                <a:latin typeface="Arial"/>
              </a:rPr>
              <a:t>Two disclosed Indian CV OEM ADAS nominations, extensive India validation and a stated multi-feature safety suite.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2288" y="3456432"/>
            <a:ext cx="2743200" cy="1746504"/>
          </a:xfrm>
          <a:prstGeom prst="roundRect">
            <a:avLst/>
          </a:prstGeom>
          <a:solidFill>
            <a:srgbClr val="FFF7EC"/>
          </a:solidFill>
          <a:ln>
            <a:solidFill>
              <a:srgbClr val="E8C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3675887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REMAINS UNKNOWN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977639"/>
            <a:ext cx="232257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101827"/>
                </a:solidFill>
                <a:latin typeface="Arial"/>
              </a:rPr>
              <a:t>Customers, unit economics, programme volumes and the precise external perception-supplier boundary are undisclosed.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5468112"/>
            <a:ext cx="11631168" cy="603504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565099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SO WHAT FOR DEEPGRID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5577840"/>
            <a:ext cx="9473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>
                <a:solidFill>
                  <a:srgbClr val="FFFFFF"/>
                </a:solidFill>
                <a:latin typeface="Arial"/>
              </a:rPr>
              <a:t>Attach DGS001 as a bounded camera-perception subsystem; do not compete for the full safety case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THREAT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ZF CVCS India wins only if its control point becomes the buyer’s deciding criterion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Threat mechanism → falsifier → management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81328"/>
            <a:ext cx="3794760" cy="228600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746504"/>
            <a:ext cx="33284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BUYER DECISION</a:t>
            </a:r>
            <a:br/>
            <a:r>
              <a:rPr sz="1500" b="1" i="0">
                <a:solidFill>
                  <a:srgbClr val="FFFFFF"/>
                </a:solidFill>
                <a:latin typeface="Georgia"/>
              </a:rPr>
              <a:t>N2/N3 OEM programmes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2688336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9C8D8"/>
                </a:solidFill>
                <a:latin typeface="Arial"/>
              </a:rPr>
              <a:t>The threat becomes material only when this arena—not standalone perception—sets the supplier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CONTROL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Radar + camera → OEM series programme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CONVERSION 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N2/N3 OEM programmes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1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1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Arial"/>
              </a:rPr>
              <a:t>DISPLACEMENT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1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DeepGrid sits outside the chosen programme boundary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023360"/>
            <a:ext cx="11612880" cy="78638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206240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WHY THIS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123944"/>
            <a:ext cx="9555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The buyer can prefer ZF CVCS India when n2/n3 oem programmes matters more than standalone perception ownership.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956048"/>
            <a:ext cx="11612880" cy="43891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09320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FALSIFIER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5029200"/>
            <a:ext cx="10012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Programme customer, volumes and unit economics remain undisclosed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504688"/>
            <a:ext cx="11612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660136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MANAGEMENT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Attach DGS001 as a bounded camera-perception subsystem; do not compete for the full safety case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PRODUCT &amp; CONTROL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ZF CVCS India packages five control points—but only some create a defensible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Follow the system from sensing to the buyer relationship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29</a:t>
            </a:r>
          </a:p>
        </p:txBody>
      </p:sp>
      <p:pic>
        <p:nvPicPr>
          <p:cNvPr id="9" name="Picture 8" descr="zf-nomination-1.png"/>
          <p:cNvPicPr>
            <a:picLocks noChangeAspect="1"/>
          </p:cNvPicPr>
          <p:nvPr/>
        </p:nvPicPr>
        <p:blipFill>
          <a:blip r:embed="rId2"/>
          <a:srcRect l="532" r="532"/>
          <a:stretch>
            <a:fillRect/>
          </a:stretch>
        </p:blipFill>
        <p:spPr>
          <a:xfrm>
            <a:off x="256032" y="1481328"/>
            <a:ext cx="2788920" cy="39867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355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Radar + 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6519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7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ADAS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683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Brake actuation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Homologation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OEM series programme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3552" y="3611880"/>
            <a:ext cx="8641080" cy="71323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7764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WHERE VALUE ACCRUES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712463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Integrated CV ADAS tied to braking, actuation, validation and homologation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3552" y="4535424"/>
            <a:ext cx="864108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473659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DEEPGRID OPENING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663440"/>
            <a:ext cx="6839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1827"/>
                </a:solidFill>
                <a:latin typeface="Arial"/>
              </a:rPr>
              <a:t>Attach DGS001 as a bounded camera-perception subsystem; do not compete for the full safety case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5687568"/>
            <a:ext cx="11658600" cy="43891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824728"/>
            <a:ext cx="1143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SALES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5769864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Do not sell against the whole stack; isolate the control point that ZF CVCS India cannot defend economically or locally.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BATTLECARD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ZF CVCS India wins on braking-system control—and breaks at three proof or control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Sales battlecard: concede what is true, then move the buying criterion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6835C"/>
                </a:solidFill>
                <a:latin typeface="Arial"/>
              </a:rPr>
              <a:t>CONCEDE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Braking-system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Disclosed nominations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India validation 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Arial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7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Closed supplier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7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Economics undisclosed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3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7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Perception source not differentiating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" y="4553712"/>
            <a:ext cx="11338560" cy="50292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70916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4663440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Programme customer, volumes and unit economics remain undisclosed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5230368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44982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REFRAME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7904" y="535838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Attach DGS001 as a bounded camera-perception subsystem; do not compete for the full safety case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SALES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DeepGrid can change the ZF CVCS India conversation with three persona-specific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Lead with the buyer’s objective; end with a measurable proof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36192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36192"/>
            <a:ext cx="64008" cy="932688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73351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4B3C7"/>
                </a:solidFill>
                <a:latin typeface="Arial"/>
              </a:rPr>
              <a:t>BUSINESS / 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645919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OEM: attach, do not replace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45919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Lifecycle cost + local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" y="2651760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" y="2651760"/>
            <a:ext cx="64008" cy="932688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788920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C96A0A"/>
                </a:solidFill>
                <a:latin typeface="Arial"/>
              </a:rPr>
              <a:t>CHIEF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761488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Engineering: offer bounded perception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6148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Same-ODD benchmark + integration effort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" y="3767328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" y="3767328"/>
            <a:ext cx="64008" cy="932688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04488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835C"/>
                </a:solidFill>
                <a:latin typeface="Arial"/>
              </a:rPr>
              <a:t>PROGRAMME /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387705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Purchasing: prove cost-down curve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0448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877056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Named responsibility matrix + release gate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" y="5010912"/>
            <a:ext cx="11338560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2120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STOP / ESCALATE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1389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Escalate only when the buyer values DeepGrid’s bounded perception advantage and accepts the evidence plan.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5806440"/>
            <a:ext cx="11658600" cy="32004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897880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81525"/>
                </a:solidFill>
                <a:latin typeface="Arial"/>
              </a:rPr>
              <a:t>NEXT MEETING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4" y="5861304"/>
            <a:ext cx="9692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1525"/>
                </a:solidFill>
                <a:latin typeface="Arial"/>
              </a:rPr>
              <a:t>A named owner, a vehicle or programme, the comparison metric, data rights and a dated go / no-go gate.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USE-CASE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ZF CVCS India is differentiated in three use cases—but each creates a specific DeepGrid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Close the competitor discussion with a use-case choice, not a generic threat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72768"/>
            <a:ext cx="3584448" cy="7315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SERIES AEBS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N2/N3 braking intervention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UNIQUE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Integrated ADAS + brake actuation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9663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9663" y="1572768"/>
            <a:ext cx="3584448" cy="7315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BSIS / MOIS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VRU protection around trucks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UNIQUE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Multi-sensor CV safety suite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1572768"/>
            <a:ext cx="3584448" cy="7315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5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OEM HOMOLOGATION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Programme-level 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UNIQUE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Validation and safety-case ownership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" y="4681728"/>
            <a:ext cx="11503152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82896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DEEPGRID FITS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782312"/>
            <a:ext cx="9372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Georgia"/>
              </a:rPr>
              <a:t>Attach DGS001 as a bounded camera-perception subsystem; do not compete for the full safety case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" y="5468112"/>
            <a:ext cx="1150315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650992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COMMERCIAL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568696"/>
            <a:ext cx="9528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1827"/>
                </a:solidFill>
                <a:latin typeface="Arial"/>
              </a:rPr>
              <a:t>Select one named n2/n3 oem programmes use case; agree the buyer metric, responsibility boundary and 90-day stop / scale gate.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A turn-key platform benchmark already converting India regulation into multi-model OEM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Aptiv · management posture: ATTACH /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33</a:t>
            </a:r>
          </a:p>
        </p:txBody>
      </p:sp>
      <p:pic>
        <p:nvPicPr>
          <p:cNvPr id="9" name="Picture 8" descr="aptiv-vehicle.jpg"/>
          <p:cNvPicPr>
            <a:picLocks noChangeAspect="1"/>
          </p:cNvPicPr>
          <p:nvPr/>
        </p:nvPicPr>
        <p:blipFill>
          <a:blip r:embed="rId2"/>
          <a:srcRect l="10708" r="10708"/>
          <a:stretch>
            <a:fillRect/>
          </a:stretch>
        </p:blipFill>
        <p:spPr>
          <a:xfrm>
            <a:off x="310896" y="1499616"/>
            <a:ext cx="3657600" cy="27980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0896" y="4297680"/>
            <a:ext cx="3657600" cy="43891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425696"/>
            <a:ext cx="33284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81525"/>
                </a:solidFill>
                <a:latin typeface="Arial"/>
              </a:rPr>
              <a:t>ATTACH / BENCHMARK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36192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536192"/>
            <a:ext cx="64008" cy="768096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64207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36776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Official selection by a leading commercial-vehicle OEM for future trucks and buses in India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2468880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2468880"/>
            <a:ext cx="64008" cy="76809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596896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IT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69464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OEM platform · 14 models / 30+ variants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3401568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3401568"/>
            <a:ext cx="64008" cy="76809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529584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IS NOT 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5021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Named OEM, production economics and DeepGrid-comparable perception metrics are not public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4389120"/>
            <a:ext cx="76078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590288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498848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Treat as benchmark and potential attach route; win on local data, bounded cost and integration speed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" y="5285232"/>
            <a:ext cx="11576304" cy="71323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9554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EXECUTIVE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413248"/>
            <a:ext cx="9464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ATTACH / BENCHMARK · Evidence confidence: HIGH · Release resources only against a named buyer, proof metric and dated gate.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Aptiv has converted a scalable global platform into an India commercial-vehicle design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Aptiv · strongest arena: OEM platform · 14 models / 30+ variants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34</a:t>
            </a:r>
          </a:p>
        </p:txBody>
      </p:sp>
      <p:pic>
        <p:nvPicPr>
          <p:cNvPr id="9" name="Picture 8" descr="aptiv-vehicle.jpg"/>
          <p:cNvPicPr>
            <a:picLocks noChangeAspect="1"/>
          </p:cNvPicPr>
          <p:nvPr/>
        </p:nvPicPr>
        <p:blipFill>
          <a:blip r:embed="rId2"/>
          <a:srcRect l="3293" r="3293"/>
          <a:stretch>
            <a:fillRect/>
          </a:stretch>
        </p:blipFill>
        <p:spPr>
          <a:xfrm>
            <a:off x="256032" y="1481328"/>
            <a:ext cx="461772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4462272"/>
            <a:ext cx="4617720" cy="5029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59028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SOURCE-DERIVED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7200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Aptiv official release, 6 Jan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52704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THEY 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755648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827"/>
                </a:solidFill>
                <a:latin typeface="Georgia"/>
              </a:rPr>
              <a:t>Gen 6 radar, smart camera, STRADVISION vision and modular ADAS software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2450592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3792" y="2450592"/>
            <a:ext cx="54864" cy="62179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55117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542032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Official selection by a leading commercial-vehicle OEM for future trucks and buses in India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3200400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3200400"/>
            <a:ext cx="54864" cy="62179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30098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ARENA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291840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OEM platform · 14 models / 30+ variants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3950208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93792" y="3950208"/>
            <a:ext cx="54864" cy="62179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05079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041648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Named OEM, production economics and DeepGrid-comparable perception metrics are not public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184648"/>
            <a:ext cx="11658600" cy="9601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1324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321808"/>
            <a:ext cx="8458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Treat as benchmark and potential attach route; win on local data, bounded cost and integration speed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57607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A8B8C6"/>
                </a:solidFill>
                <a:latin typeface="Arial"/>
              </a:rPr>
              <a:t>THREAT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8208" y="595274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C62828"/>
                </a:solidFill>
                <a:latin typeface="Arial"/>
              </a:rPr>
              <a:t>HIGH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Aptiv turns modular sensing and software into a multi-model OEM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What it does · customer focus · technology stack ·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472184"/>
            <a:ext cx="3675887" cy="1097280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691640"/>
            <a:ext cx="960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920240"/>
            <a:ext cx="32369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  <a:latin typeface="Arial"/>
              </a:rPr>
              <a:t>Global ADAS platform supplier bringing a modular Gen 6 sensing, compute and software stack into a broad Indian commercial-vehicle rollout.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724912"/>
            <a:ext cx="3675887" cy="117043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926080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CUSTOMER &amp; USE-CASE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18211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Large OEM platforms that need one architecture reused across many truck and bus models while meeting future safety requirements.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050791"/>
            <a:ext cx="3675887" cy="1152144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4251960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HOW IT MAKES MONEY / SCALES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50799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Reuse a standardized platform across high-variant OEM portfolios, localize it through India engineering and deliver at automotive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51790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Arial"/>
              </a:rPr>
              <a:t>TECHNOLOGY &amp; DELIVERY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1847088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847088"/>
            <a:ext cx="73152" cy="40233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947672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29384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Gen 6 radar and smart-camera sensors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2311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2377440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2377440"/>
            <a:ext cx="73152" cy="402336"/>
          </a:xfrm>
          <a:prstGeom prst="rect">
            <a:avLst/>
          </a:prstGeom>
          <a:solidFill>
            <a:srgbClr val="1A91A3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47802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459736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STRADVISION SVNet vision 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761488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2907791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2907791"/>
            <a:ext cx="73152" cy="402336"/>
          </a:xfrm>
          <a:prstGeom prst="rect">
            <a:avLst/>
          </a:prstGeom>
          <a:solidFill>
            <a:srgbClr val="176C80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3008375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990087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Sensor fusion and modular ADAS applications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29183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3438144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3438144"/>
            <a:ext cx="73152" cy="40233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3538727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520439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Vehicle network / compute 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3822191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9392" y="3968496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9392" y="3968496"/>
            <a:ext cx="73152" cy="402336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406908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050791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Global validation, manufacturing and programme support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62288" y="1481328"/>
            <a:ext cx="2743200" cy="179222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700784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002536"/>
            <a:ext cx="232257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FFFFFF"/>
                </a:solidFill>
                <a:latin typeface="Arial"/>
              </a:rPr>
              <a:t>Official India CV OEM selection covering 14 models and more than 30 variants.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2288" y="3456432"/>
            <a:ext cx="2743200" cy="1746504"/>
          </a:xfrm>
          <a:prstGeom prst="roundRect">
            <a:avLst/>
          </a:prstGeom>
          <a:solidFill>
            <a:srgbClr val="FFF7EC"/>
          </a:solidFill>
          <a:ln>
            <a:solidFill>
              <a:srgbClr val="E8C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3675887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REMAINS UNKNOWN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977639"/>
            <a:ext cx="232257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101827"/>
                </a:solidFill>
                <a:latin typeface="Arial"/>
              </a:rPr>
              <a:t>Named customer, certification status, production pricing and directly comparable India-ODD performance are not public.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5468112"/>
            <a:ext cx="11631168" cy="603504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565099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SO WHAT FOR DEEPGRID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5577840"/>
            <a:ext cx="9473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>
                <a:solidFill>
                  <a:srgbClr val="FFFFFF"/>
                </a:solidFill>
                <a:latin typeface="Arial"/>
              </a:rPr>
              <a:t>Treat as benchmark and potential attach route; win on local data, bounded cost and integration speed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THREAT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Aptiv wins only if its control point becomes the buyer’s deciding criterion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Threat mechanism → falsifier → management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81328"/>
            <a:ext cx="3794760" cy="228600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746504"/>
            <a:ext cx="33284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BUYER DECISION</a:t>
            </a:r>
            <a:br/>
            <a:r>
              <a:rPr sz="1500" b="1" i="0">
                <a:solidFill>
                  <a:srgbClr val="FFFFFF"/>
                </a:solidFill>
                <a:latin typeface="Georgia"/>
              </a:rPr>
              <a:t>OEM platform · 14 models / 30+ 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2688336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9C8D8"/>
                </a:solidFill>
                <a:latin typeface="Arial"/>
              </a:rPr>
              <a:t>The threat becomes material only when this arena—not standalone perception—sets the supplier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CONTROL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Gen 6 radar → Multi-model OEM rollout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CONVERSION 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OEM platform · 14 models / 30+ variants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1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1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Arial"/>
              </a:rPr>
              <a:t>DISPLACEMENT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1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DeepGrid sits outside the chosen programme boundary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023360"/>
            <a:ext cx="11612880" cy="78638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206240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WHY THIS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123944"/>
            <a:ext cx="9555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The buyer can prefer Aptiv when oem platform · 14 models / 30+ variants matters more than standalone perception ownership.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956048"/>
            <a:ext cx="11612880" cy="43891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09320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FALSIFIER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5029200"/>
            <a:ext cx="10012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Named OEM, production economics and DeepGrid-comparable perception metrics are not public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504688"/>
            <a:ext cx="11612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660136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MANAGEMENT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Treat as benchmark and potential attach route; win on local data, bounded cost and integration speed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PRODUCT &amp; CONTROL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Aptiv packages five control points—but only some create a defensible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Follow the system from sensing to the buyer relationship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37</a:t>
            </a:r>
          </a:p>
        </p:txBody>
      </p:sp>
      <p:pic>
        <p:nvPicPr>
          <p:cNvPr id="9" name="Picture 8" descr="aptiv-gen6-img-1.png"/>
          <p:cNvPicPr>
            <a:picLocks noChangeAspect="1"/>
          </p:cNvPicPr>
          <p:nvPr/>
        </p:nvPicPr>
        <p:blipFill>
          <a:blip r:embed="rId2"/>
          <a:srcRect l="30319" r="30319"/>
          <a:stretch>
            <a:fillRect/>
          </a:stretch>
        </p:blipFill>
        <p:spPr>
          <a:xfrm>
            <a:off x="256032" y="1481328"/>
            <a:ext cx="2788920" cy="39867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355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Gen 6 radar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6519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7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Smart camera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683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STRADVISION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Modular ADAS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Multi-model OEM rollout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3552" y="3611880"/>
            <a:ext cx="8641080" cy="71323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7764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WHERE VALUE ACCRUES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712463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Gen 6 radar, smart camera, STRADVISION vision and modular ADAS software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3552" y="4535424"/>
            <a:ext cx="864108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473659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DEEPGRID OPENING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663440"/>
            <a:ext cx="6839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1827"/>
                </a:solidFill>
                <a:latin typeface="Arial"/>
              </a:rPr>
              <a:t>Treat as benchmark and potential attach route; win on local data, bounded cost and integration speed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5687568"/>
            <a:ext cx="11658600" cy="43891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824728"/>
            <a:ext cx="1143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SALES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5769864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Do not sell against the whole stack; isolate the control point that Aptiv cannot defend economically or locally.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BATTLECARD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Aptiv wins on turn-key platform—and breaks at three proof or control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Sales battlecard: concede what is true, then move the buying criterion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6835C"/>
                </a:solidFill>
                <a:latin typeface="Arial"/>
              </a:rPr>
              <a:t>CONCEDE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Turn-key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Indian CV design 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Global industrial 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Arial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7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Named OEM undisclosed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7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Global-stack cost burden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3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7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Local-data advantage contestable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" y="4553712"/>
            <a:ext cx="11338560" cy="50292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70916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4663440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Named OEM, production economics and DeepGrid-comparable perception metrics are not public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5230368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44982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REFRAME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7904" y="535838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Treat as benchmark and potential attach route; win on local data, bounded cost and integration speed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SALES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DeepGrid can change the Aptiv conversation with three persona-specific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Lead with the buyer’s objective; end with a measurable proof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36192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36192"/>
            <a:ext cx="64008" cy="932688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73351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4B3C7"/>
                </a:solidFill>
                <a:latin typeface="Arial"/>
              </a:rPr>
              <a:t>BUSINESS / 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645919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OEM: sell faster local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45919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Lifecycle cost + local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" y="2651760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" y="2651760"/>
            <a:ext cx="64008" cy="932688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788920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C96A0A"/>
                </a:solidFill>
                <a:latin typeface="Arial"/>
              </a:rPr>
              <a:t>CHIEF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761488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Engineering: benchmark accuracy/watt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6148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Same-ODD benchmark + integration effort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" y="3767328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" y="3767328"/>
            <a:ext cx="64008" cy="932688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04488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835C"/>
                </a:solidFill>
                <a:latin typeface="Arial"/>
              </a:rPr>
              <a:t>PROGRAMME /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387705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Purchasing: quantify subsystem savings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0448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877056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Named responsibility matrix + release gate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" y="5010912"/>
            <a:ext cx="11338560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2120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STOP / ESCALATE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1389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Escalate only when the buyer values DeepGrid’s bounded perception advantage and accepts the evidence plan.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5806440"/>
            <a:ext cx="11658600" cy="32004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897880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81525"/>
                </a:solidFill>
                <a:latin typeface="Arial"/>
              </a:rPr>
              <a:t>NEXT MEETING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4" y="5861304"/>
            <a:ext cx="9692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1525"/>
                </a:solidFill>
                <a:latin typeface="Arial"/>
              </a:rPr>
              <a:t>A named owner, a vehicle or programme, the comparison metric, data rights and a dated go / no-go gate.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USE-CASE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Aptiv is differentiated in three use cases—but each creates a specific DeepGrid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Close the competitor discussion with a use-case choice, not a generic threat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72768"/>
            <a:ext cx="3584448" cy="7315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MULTI-MODEL CV 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14 models / 30+ variants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UNIQUE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Modular Gen 6 platform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9663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9663" y="1572768"/>
            <a:ext cx="3584448" cy="7315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REGULATORY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2027 safety functions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UNIQUE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Radar + smart camera + software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1572768"/>
            <a:ext cx="3584448" cy="7315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5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INDIA ODD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Mixed roads and traffic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UNIQUE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Localized platform tuning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" y="4681728"/>
            <a:ext cx="11503152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82896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DEEPGRID FITS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782312"/>
            <a:ext cx="9372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Georgia"/>
              </a:rPr>
              <a:t>Treat as benchmark and potential attach route; win on local data, bounded cost and integration speed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" y="5468112"/>
            <a:ext cx="1150315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650992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COMMERCIAL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568696"/>
            <a:ext cx="9528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1827"/>
                </a:solidFill>
                <a:latin typeface="Arial"/>
              </a:rPr>
              <a:t>Select one named oem platform · 14 models / 30+ variants use case; agree the buyer metric, responsibility boundary and 90-day stop / scale gate.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The closest software-layer substitute for DeepGrid on constrained automotive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STRADVISION · management posture: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41</a:t>
            </a:r>
          </a:p>
        </p:txBody>
      </p:sp>
      <p:pic>
        <p:nvPicPr>
          <p:cNvPr id="9" name="Picture 8" descr="stradvision-page.png"/>
          <p:cNvPicPr>
            <a:picLocks noChangeAspect="1"/>
          </p:cNvPicPr>
          <p:nvPr/>
        </p:nvPicPr>
        <p:blipFill>
          <a:blip r:embed="rId2"/>
          <a:srcRect l="9150" r="9150"/>
          <a:stretch>
            <a:fillRect/>
          </a:stretch>
        </p:blipFill>
        <p:spPr>
          <a:xfrm>
            <a:off x="310896" y="1499616"/>
            <a:ext cx="3657600" cy="27980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0896" y="4297680"/>
            <a:ext cx="3657600" cy="43891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425696"/>
            <a:ext cx="33284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81525"/>
                </a:solidFill>
                <a:latin typeface="Arial"/>
              </a:rPr>
              <a:t>BENCHMARK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36192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536192"/>
            <a:ext cx="64008" cy="768096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64207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36776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Official India commercial-vehicle supply programme with a global OEM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2468880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2468880"/>
            <a:ext cx="64008" cy="76809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596896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IT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69464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OEM perception software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3401568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3401568"/>
            <a:ext cx="64008" cy="76809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529584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IS NOT 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5021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India programme volumes, hardware bill and customer identity are undisclosed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4389120"/>
            <a:ext cx="76078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590288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498848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Benchmark accuracy-per-watt and Indian ODD; defend with owned compute economics only after measured proof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" y="5285232"/>
            <a:ext cx="11576304" cy="71323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9554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EXECUTIVE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413248"/>
            <a:ext cx="9464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BENCHMARK · Evidence confidence: HIGH · Release resources only against a named buyer, proof metric and dated gate.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STRADVISION attacks DeepGrid’s core layer: efficient vision software on constrained automotive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STRADVISION · strongest arena: OEM perception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42</a:t>
            </a:r>
          </a:p>
        </p:txBody>
      </p:sp>
      <p:pic>
        <p:nvPicPr>
          <p:cNvPr id="9" name="Picture 8" descr="stradvision-page.png"/>
          <p:cNvPicPr>
            <a:picLocks noChangeAspect="1"/>
          </p:cNvPicPr>
          <p:nvPr/>
        </p:nvPicPr>
        <p:blipFill>
          <a:blip r:embed="rId2"/>
          <a:srcRect l="1442" r="1442"/>
          <a:stretch>
            <a:fillRect/>
          </a:stretch>
        </p:blipFill>
        <p:spPr>
          <a:xfrm>
            <a:off x="256032" y="1481328"/>
            <a:ext cx="461772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4462272"/>
            <a:ext cx="4617720" cy="5029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59028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SOURCE-DERIVED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7200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STRADVISION newsroom, 16 Apr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52704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THEY 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755648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827"/>
                </a:solidFill>
                <a:latin typeface="Georgia"/>
              </a:rPr>
              <a:t>SVNet perception software designed for scalable, resource-constrained hardware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2450592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3792" y="2450592"/>
            <a:ext cx="54864" cy="62179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55117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542032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Official India commercial-vehicle supply programme with a global OEM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3200400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3200400"/>
            <a:ext cx="54864" cy="62179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30098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ARENA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291840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OEM perception software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3950208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93792" y="3950208"/>
            <a:ext cx="54864" cy="62179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05079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041648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India programme volumes, hardware bill and customer identity are undisclosed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184648"/>
            <a:ext cx="11658600" cy="9601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1324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321808"/>
            <a:ext cx="8458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Benchmark accuracy-per-watt and Indian ODD; defend with owned compute economics only after measured 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57607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A8B8C6"/>
                </a:solidFill>
                <a:latin typeface="Arial"/>
              </a:rPr>
              <a:t>THREAT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8208" y="595274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C96A0A"/>
                </a:solidFill>
                <a:latin typeface="Arial"/>
              </a:rPr>
              <a:t>MED–HIGH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STRADVISION supplies the efficient vision layer inside a partner-owned vehicle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What it does · customer focus · technology stack ·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472184"/>
            <a:ext cx="3675887" cy="1097280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691640"/>
            <a:ext cx="960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920240"/>
            <a:ext cx="32369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  <a:latin typeface="Arial"/>
              </a:rPr>
              <a:t>Automotive perception-software specialist selling deployable vision intelligence rather than a complete sensor-to-brake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724912"/>
            <a:ext cx="3675887" cy="117043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926080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CUSTOMER &amp; USE-CASE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18211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OEMs and Tier-1s needing production-grade camera perception on low-cost or resource-constrained automotive compute.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050791"/>
            <a:ext cx="3675887" cy="1152144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4251960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HOW IT MAKES MONEY / SCALES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50799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License and integrate perception software across hardware platforms; scale through Tier-1 and OEM production programmes.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51790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Arial"/>
              </a:rPr>
              <a:t>TECHNOLOGY &amp; DELIVERY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1847088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847088"/>
            <a:ext cx="73152" cy="40233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947672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29384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Camera image 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2311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2377440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2377440"/>
            <a:ext cx="73152" cy="402336"/>
          </a:xfrm>
          <a:prstGeom prst="rect">
            <a:avLst/>
          </a:prstGeom>
          <a:solidFill>
            <a:srgbClr val="1A91A3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47802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459736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SVNet neural-network perception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761488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2907791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2907791"/>
            <a:ext cx="73152" cy="402336"/>
          </a:xfrm>
          <a:prstGeom prst="rect">
            <a:avLst/>
          </a:prstGeom>
          <a:solidFill>
            <a:srgbClr val="176C80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3008375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990087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Objects, lanes, freespace and VRU outputs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29183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3438144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3438144"/>
            <a:ext cx="73152" cy="40233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3538727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520439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Hardware abstraction and SoC optimization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3822191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9392" y="3968496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9392" y="3968496"/>
            <a:ext cx="73152" cy="402336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406908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050791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Safety process, tooling and OEM integration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62288" y="1481328"/>
            <a:ext cx="2743200" cy="179222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700784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002536"/>
            <a:ext cx="232257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FFFFFF"/>
                </a:solidFill>
                <a:latin typeface="Arial"/>
              </a:rPr>
              <a:t>Official commercial-vehicle India supply programme and production use through global automotive partners.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2288" y="3456432"/>
            <a:ext cx="2743200" cy="1746504"/>
          </a:xfrm>
          <a:prstGeom prst="roundRect">
            <a:avLst/>
          </a:prstGeom>
          <a:solidFill>
            <a:srgbClr val="FFF7EC"/>
          </a:solidFill>
          <a:ln>
            <a:solidFill>
              <a:srgbClr val="E8C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3675887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REMAINS UNKNOWN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977639"/>
            <a:ext cx="232257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101827"/>
                </a:solidFill>
                <a:latin typeface="Arial"/>
              </a:rPr>
              <a:t>India volumes, compute bill, local data depth and same-hardware performance versus DeepGrid are undisclosed.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5468112"/>
            <a:ext cx="11631168" cy="603504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565099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SO WHAT FOR DEEPGRID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5577840"/>
            <a:ext cx="9473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>
                <a:solidFill>
                  <a:srgbClr val="FFFFFF"/>
                </a:solidFill>
                <a:latin typeface="Arial"/>
              </a:rPr>
              <a:t>Benchmark accuracy-per-watt and Indian ODD; defend with owned compute economics only after measured proof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THREAT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STRADVISION wins only if its control point becomes the buyer’s deciding criterion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Threat mechanism → falsifier → management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81328"/>
            <a:ext cx="3794760" cy="228600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746504"/>
            <a:ext cx="33284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BUYER DECISION</a:t>
            </a:r>
            <a:br/>
            <a:r>
              <a:rPr sz="1500" b="1" i="0">
                <a:solidFill>
                  <a:srgbClr val="FFFFFF"/>
                </a:solidFill>
                <a:latin typeface="Georgia"/>
              </a:rPr>
              <a:t>OEM perception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2688336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9C8D8"/>
                </a:solidFill>
                <a:latin typeface="Arial"/>
              </a:rPr>
              <a:t>The threat becomes material only when this arena—not standalone perception—sets the supplier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CONTROL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Camera input → OEM production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CONVERSION 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OEM perception software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1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1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Arial"/>
              </a:rPr>
              <a:t>DISPLACEMENT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1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DeepGrid sits outside the chosen programme boundary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023360"/>
            <a:ext cx="11612880" cy="78638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206240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WHY THIS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123944"/>
            <a:ext cx="9555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The buyer can prefer STRADVISION when oem perception software matters more than standalone perception ownership.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956048"/>
            <a:ext cx="11612880" cy="43891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09320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FALSIFIER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5029200"/>
            <a:ext cx="10012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India programme volumes, hardware bill and customer identity are undisclosed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504688"/>
            <a:ext cx="11612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660136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MANAGEMENT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Benchmark accuracy-per-watt and Indian ODD; defend with owned compute economics only after measured proof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PRODUCT &amp; CONTROL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STRADVISION packages five control points—but only some create a defensible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Follow the system from sensing to the buyer relationship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45</a:t>
            </a:r>
          </a:p>
        </p:txBody>
      </p:sp>
      <p:pic>
        <p:nvPicPr>
          <p:cNvPr id="9" name="Picture 8" descr="stradvision-page.png"/>
          <p:cNvPicPr>
            <a:picLocks noChangeAspect="1"/>
          </p:cNvPicPr>
          <p:nvPr/>
        </p:nvPicPr>
        <p:blipFill>
          <a:blip r:embed="rId2"/>
          <a:srcRect l="28139" r="28139"/>
          <a:stretch>
            <a:fillRect/>
          </a:stretch>
        </p:blipFill>
        <p:spPr>
          <a:xfrm>
            <a:off x="256032" y="1481328"/>
            <a:ext cx="2788920" cy="39867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355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Camera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6519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7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SVNet perception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683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Hardware abstraction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Safety-certified 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OEM production 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3552" y="3611880"/>
            <a:ext cx="8641080" cy="71323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7764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WHERE VALUE ACCRUES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712463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SVNet perception software designed for scalable, resource-constrained hardware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3552" y="4535424"/>
            <a:ext cx="864108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473659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DEEPGRID OPENING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663440"/>
            <a:ext cx="6839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1827"/>
                </a:solidFill>
                <a:latin typeface="Arial"/>
              </a:rPr>
              <a:t>Benchmark accuracy-per-watt and Indian ODD; defend with owned compute economics only after measured proof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5687568"/>
            <a:ext cx="11658600" cy="43891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824728"/>
            <a:ext cx="1143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SALES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5769864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Do not sell against the whole stack; isolate the control point that STRADVISION cannot defend economically or locally.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BATTLECARD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STRADVISION wins on efficient vision software—and breaks at three proof or control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Sales battlecard: concede what is true, then move the buying criterion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6835C"/>
                </a:solidFill>
                <a:latin typeface="Arial"/>
              </a:rPr>
              <a:t>CONCEDE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Efficient vision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Automotive process maturity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India supply programme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Arial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7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No owned sensor/actuation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7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Depends on compute partner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3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7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India economics undisclosed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" y="4553712"/>
            <a:ext cx="11338560" cy="50292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70916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4663440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India programme volumes, hardware bill and customer identity are undisclosed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5230368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44982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REFRAME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7904" y="535838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Benchmark accuracy-per-watt and Indian ODD; defend with owned compute economics only after measured proof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SALES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DeepGrid can change the STRADVISION conversation with three persona-specific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Lead with the buyer’s objective; end with a measurable proof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36192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36192"/>
            <a:ext cx="64008" cy="932688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73351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4B3C7"/>
                </a:solidFill>
                <a:latin typeface="Arial"/>
              </a:rPr>
              <a:t>BUSINESS / 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645919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Engineering: benchmark on same silicon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45919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Lifecycle cost + local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" y="2651760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" y="2651760"/>
            <a:ext cx="64008" cy="932688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788920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C96A0A"/>
                </a:solidFill>
                <a:latin typeface="Arial"/>
              </a:rPr>
              <a:t>CHIEF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761488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OEM: contrast local ODD 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6148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Same-ODD benchmark + integration effort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" y="3767328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" y="3767328"/>
            <a:ext cx="64008" cy="932688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04488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835C"/>
                </a:solidFill>
                <a:latin typeface="Arial"/>
              </a:rPr>
              <a:t>PROGRAMME /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387705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Board: defend only measured advantage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0448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877056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Named responsibility matrix + release gate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" y="5010912"/>
            <a:ext cx="11338560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2120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STOP / ESCALATE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1389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Escalate only when the buyer values DeepGrid’s bounded perception advantage and accepts the evidence plan.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5806440"/>
            <a:ext cx="11658600" cy="32004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897880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81525"/>
                </a:solidFill>
                <a:latin typeface="Arial"/>
              </a:rPr>
              <a:t>NEXT MEETING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4" y="5861304"/>
            <a:ext cx="9692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1525"/>
                </a:solidFill>
                <a:latin typeface="Arial"/>
              </a:rPr>
              <a:t>A named owner, a vehicle or programme, the comparison metric, data rights and a dated go / no-go gate.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USE-CASE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STRADVISION is differentiated in three use cases—but each creates a specific DeepGrid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Close the competitor discussion with a use-case choice, not a generic threat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72768"/>
            <a:ext cx="3584448" cy="7315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FRONT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Objects, lanes and VRUs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UNIQUE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SVNet perception software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9663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9663" y="1572768"/>
            <a:ext cx="3584448" cy="7315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LOW-COST COMPUTE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Resource-constrained ECUs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UNIQUE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Optimized software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1572768"/>
            <a:ext cx="3584448" cy="7315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5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OEM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Cross-platform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UNIQUE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Automotive process and integration stack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" y="4681728"/>
            <a:ext cx="11503152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82896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DEEPGRID FITS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782312"/>
            <a:ext cx="9372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Georgia"/>
              </a:rPr>
              <a:t>Benchmark accuracy-per-watt and Indian ODD; defend with owned compute economics only after measured proof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" y="5468112"/>
            <a:ext cx="1150315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650992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COMMERCIAL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568696"/>
            <a:ext cx="9528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1827"/>
                </a:solidFill>
                <a:latin typeface="Arial"/>
              </a:rPr>
              <a:t>Select one named oem perception software use case; agree the buyer metric, responsibility boundary and 90-day stop / scale gate.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A credible local-channel vehicle for proven foreign ADAS IP—but still at MOU stage in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Sterling Tools × MINIEYE · management posture: TRACK CONVERSION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49</a:t>
            </a:r>
          </a:p>
        </p:txBody>
      </p:sp>
      <p:pic>
        <p:nvPicPr>
          <p:cNvPr id="9" name="Picture 8" descr="sterling-signing.jpg"/>
          <p:cNvPicPr>
            <a:picLocks noChangeAspect="1"/>
          </p:cNvPicPr>
          <p:nvPr/>
        </p:nvPicPr>
        <p:blipFill>
          <a:blip r:embed="rId2"/>
          <a:srcRect l="7298" r="7298"/>
          <a:stretch>
            <a:fillRect/>
          </a:stretch>
        </p:blipFill>
        <p:spPr>
          <a:xfrm>
            <a:off x="310896" y="1499616"/>
            <a:ext cx="3657600" cy="27980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0896" y="4297680"/>
            <a:ext cx="3657600" cy="43891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425696"/>
            <a:ext cx="33284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81525"/>
                </a:solidFill>
                <a:latin typeface="Arial"/>
              </a:rPr>
              <a:t>TRACK CONVERSION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36192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536192"/>
            <a:ext cx="64008" cy="768096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64207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36776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Formal MOU disclosed to NSE/BSE; covers passenger and commercial vehicles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2468880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2468880"/>
            <a:ext cx="64008" cy="76809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596896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IT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69464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OEM channel · localization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3401568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3401568"/>
            <a:ext cx="64008" cy="76809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529584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IS NOT 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5021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MOU is market entry—not a disclosed India design win or production nomination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4389120"/>
            <a:ext cx="76078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590288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498848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Track conversion from MOU to programme; counter through faster local proof and braking-channel partners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" y="5285232"/>
            <a:ext cx="11576304" cy="71323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9554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EXECUTIVE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413248"/>
            <a:ext cx="9464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TRACK CONVERSION · Evidence confidence: HIGH · Release resources only against a named buyer, proof metric and dated gate.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Sterling–MINIEYE combines production ADAS IP with a local Tier-1 route into Indian OEMs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Sterling Tools × MINIEYE · strongest arena: OEM channel · localization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50</a:t>
            </a:r>
          </a:p>
        </p:txBody>
      </p:sp>
      <p:pic>
        <p:nvPicPr>
          <p:cNvPr id="9" name="Picture 8" descr="sterling-signing.jpg"/>
          <p:cNvPicPr>
            <a:picLocks noChangeAspect="1"/>
          </p:cNvPicPr>
          <p:nvPr/>
        </p:nvPicPr>
        <p:blipFill>
          <a:blip r:embed="rId2"/>
          <a:srcRect t="748" b="748"/>
          <a:stretch>
            <a:fillRect/>
          </a:stretch>
        </p:blipFill>
        <p:spPr>
          <a:xfrm>
            <a:off x="256032" y="1481328"/>
            <a:ext cx="461772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4462272"/>
            <a:ext cx="4617720" cy="5029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59028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SOURCE-DERIVED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7200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Sterling Tools NSE/BSE filing and MINIEYE HKEX announcement, Jan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52704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THEY 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755648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827"/>
                </a:solidFill>
                <a:latin typeface="Georgia"/>
              </a:rPr>
              <a:t>Full-stack ADAS/DMS from MINIEYE; localization and OEM engagement from Sterling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2450592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3792" y="2450592"/>
            <a:ext cx="54864" cy="62179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55117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542032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Formal MOU disclosed to NSE/BSE; covers passenger and commercial vehicles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3200400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3200400"/>
            <a:ext cx="54864" cy="62179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30098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ARENA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291840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OEM channel · localization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3950208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93792" y="3950208"/>
            <a:ext cx="54864" cy="62179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05079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041648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MOU is market entry—not a disclosed India design win or production nomination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184648"/>
            <a:ext cx="11658600" cy="9601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1324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321808"/>
            <a:ext cx="8458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Track conversion from MOU to programme; counter through faster local proof and braking-channel partners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57607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A8B8C6"/>
                </a:solidFill>
                <a:latin typeface="Arial"/>
              </a:rPr>
              <a:t>THREAT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8208" y="595274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C96A0A"/>
                </a:solidFill>
                <a:latin typeface="Arial"/>
              </a:rPr>
              <a:t>MEDIUM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Sterling–MINIEYE joins production ADAS IP to an Indian Tier-1 route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What it does · customer focus · technology stack ·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472184"/>
            <a:ext cx="3675887" cy="1097280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691640"/>
            <a:ext cx="960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920240"/>
            <a:ext cx="32369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  <a:latin typeface="Arial"/>
              </a:rPr>
              <a:t>Market-entry alliance pairing MINIEYE’s production ADAS / DMS portfolio with Sterling’s India Tier-1 relationships, localization and manufacturing route.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724912"/>
            <a:ext cx="3675887" cy="117043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926080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CUSTOMER &amp; USE-CASE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18211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Indian passenger- and commercial-vehicle OEMs seeking established ADAS IP with a domestic commercial and industrial interface.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050791"/>
            <a:ext cx="3675887" cy="1152144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4251960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HOW IT MAKES MONEY / SCALES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50799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Import proven technology and localize engineering, sourcing and customer access through an established Indian component supplier.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51790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Arial"/>
              </a:rPr>
              <a:t>TECHNOLOGY &amp; DELIVERY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1847088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847088"/>
            <a:ext cx="73152" cy="40233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947672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29384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MINIEYE cameras, radar and DMS 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2311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2377440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2377440"/>
            <a:ext cx="73152" cy="402336"/>
          </a:xfrm>
          <a:prstGeom prst="rect">
            <a:avLst/>
          </a:prstGeom>
          <a:solidFill>
            <a:srgbClr val="1A91A3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47802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459736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Perception, fusion and driver-monitoring 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761488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2907791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2907791"/>
            <a:ext cx="73152" cy="402336"/>
          </a:xfrm>
          <a:prstGeom prst="rect">
            <a:avLst/>
          </a:prstGeom>
          <a:solidFill>
            <a:srgbClr val="176C80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3008375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990087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India calibration and application engineering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29183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3438144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3438144"/>
            <a:ext cx="73152" cy="40233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3538727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520439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Sterling manufacturing / supply-chain interface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3822191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9392" y="3968496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9392" y="3968496"/>
            <a:ext cx="73152" cy="402336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406908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050791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OEM integration and commercial account access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62288" y="1481328"/>
            <a:ext cx="2743200" cy="179222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700784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002536"/>
            <a:ext cx="232257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FFFFFF"/>
                </a:solidFill>
                <a:latin typeface="Arial"/>
              </a:rPr>
              <a:t>Formal exchange-disclosed MOU covering ADAS and DMS for Indian passenger and commercial vehicles.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2288" y="3456432"/>
            <a:ext cx="2743200" cy="1746504"/>
          </a:xfrm>
          <a:prstGeom prst="roundRect">
            <a:avLst/>
          </a:prstGeom>
          <a:solidFill>
            <a:srgbClr val="FFF7EC"/>
          </a:solidFill>
          <a:ln>
            <a:solidFill>
              <a:srgbClr val="E8C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3675887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REMAINS UNKNOWN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977639"/>
            <a:ext cx="232257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101827"/>
                </a:solidFill>
                <a:latin typeface="Arial"/>
              </a:rPr>
              <a:t>The MOU has not yet established a disclosed India design win, localized product baseline or production certification.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5468112"/>
            <a:ext cx="11631168" cy="603504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565099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SO WHAT FOR DEEPGRID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5577840"/>
            <a:ext cx="9473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>
                <a:solidFill>
                  <a:srgbClr val="FFFFFF"/>
                </a:solidFill>
                <a:latin typeface="Arial"/>
              </a:rPr>
              <a:t>Track conversion from MOU to programme; counter through faster local proof and braking-channel partners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THREAT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Sterling Tools × MINIEYE wins only if its control point becomes the buyer’s deciding criterion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Threat mechanism → falsifier → management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81328"/>
            <a:ext cx="3794760" cy="228600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746504"/>
            <a:ext cx="33284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BUYER DECISION</a:t>
            </a:r>
            <a:br/>
            <a:r>
              <a:rPr sz="1500" b="1" i="0">
                <a:solidFill>
                  <a:srgbClr val="FFFFFF"/>
                </a:solidFill>
                <a:latin typeface="Georgia"/>
              </a:rPr>
              <a:t>OEM channel · localization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2688336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9C8D8"/>
                </a:solidFill>
                <a:latin typeface="Arial"/>
              </a:rPr>
              <a:t>The threat becomes material only when this arena—not standalone perception—sets the supplier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CONTROL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MINIEYE ADAS/DMS → OEM commercialisation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CONVERSION 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OEM channel · localization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1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1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Arial"/>
              </a:rPr>
              <a:t>DISPLACEMENT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1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DeepGrid sits outside the chosen programme boundary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023360"/>
            <a:ext cx="11612880" cy="78638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206240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WHY THIS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123944"/>
            <a:ext cx="9555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The buyer can prefer Sterling Tools × MINIEYE when oem channel · localization matters more than standalone perception ownership.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956048"/>
            <a:ext cx="11612880" cy="43891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09320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FALSIFIER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5029200"/>
            <a:ext cx="10012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MOU is market entry—not a disclosed India design win or production nomination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504688"/>
            <a:ext cx="11612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660136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MANAGEMENT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Track conversion from MOU to programme; counter through faster local proof and braking-channel partners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PRODUCT &amp; CONTROL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Sterling Tools × MINIEYE packages five control points—but only some create a defensible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Follow the system from sensing to the buyer relationship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53</a:t>
            </a:r>
          </a:p>
        </p:txBody>
      </p:sp>
      <p:pic>
        <p:nvPicPr>
          <p:cNvPr id="9" name="Picture 8" descr="sterling-page.png"/>
          <p:cNvPicPr>
            <a:picLocks noChangeAspect="1"/>
          </p:cNvPicPr>
          <p:nvPr/>
        </p:nvPicPr>
        <p:blipFill>
          <a:blip r:embed="rId2"/>
          <a:srcRect l="28139" r="28139"/>
          <a:stretch>
            <a:fillRect/>
          </a:stretch>
        </p:blipFill>
        <p:spPr>
          <a:xfrm>
            <a:off x="256032" y="1481328"/>
            <a:ext cx="2788920" cy="39867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355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MINIEYE ADAS/DMS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6519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7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India perception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683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Sterling application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Local manufacturing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OEM commercialisation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3552" y="3611880"/>
            <a:ext cx="8641080" cy="71323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7764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WHERE VALUE ACCRUES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712463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Full-stack ADAS/DMS from MINIEYE; localization and OEM engagement from Sterling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3552" y="4535424"/>
            <a:ext cx="864108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473659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DEEPGRID OPENING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663440"/>
            <a:ext cx="6839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1827"/>
                </a:solidFill>
                <a:latin typeface="Arial"/>
              </a:rPr>
              <a:t>Track conversion from MOU to programme; counter through faster local proof and braking-channel partners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5687568"/>
            <a:ext cx="11658600" cy="43891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824728"/>
            <a:ext cx="1143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SALES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5769864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Do not sell against the whole stack; isolate the control point that Sterling Tools × MINIEYE cannot defend economically or locally.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BATTLECARD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Sterling Tools × MINIEYE wins on existing oem relationships—and breaks at three proof or control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Sales battlecard: concede what is true, then move the buying criterion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6835C"/>
                </a:solidFill>
                <a:latin typeface="Arial"/>
              </a:rPr>
              <a:t>CONCEDE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Existing OEM relationships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Production-grade foreign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Local industrial footprint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Arial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7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MOU not design 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7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India tuning still ahead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3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7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Partner dependency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" y="4553712"/>
            <a:ext cx="11338560" cy="50292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70916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4663440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MOU is market entry—not a disclosed India design win or production nomination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5230368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44982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REFRAME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7904" y="535838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Track conversion from MOU to programme; counter through faster local proof and braking-channel partners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SALES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DeepGrid can change the Sterling Tools × MINIEYE conversation with three persona-specific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Lead with the buyer’s objective; end with a measurable proof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36192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36192"/>
            <a:ext cx="64008" cy="932688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73351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4B3C7"/>
                </a:solidFill>
                <a:latin typeface="Arial"/>
              </a:rPr>
              <a:t>BUSINESS / 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645919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OEM: ask programme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45919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Lifecycle cost + local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" y="2651760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" y="2651760"/>
            <a:ext cx="64008" cy="932688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788920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C96A0A"/>
                </a:solidFill>
                <a:latin typeface="Arial"/>
              </a:rPr>
              <a:t>CHIEF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761488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Purchasing: expose imported-IP economics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6148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Same-ODD benchmark + integration effort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" y="3767328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" y="3767328"/>
            <a:ext cx="64008" cy="932688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04488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835C"/>
                </a:solidFill>
                <a:latin typeface="Arial"/>
              </a:rPr>
              <a:t>PROGRAMME /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387705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BD: race to braking-channel alliance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0448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877056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Named responsibility matrix + release gate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" y="5010912"/>
            <a:ext cx="11338560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2120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STOP / ESCALATE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1389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Escalate only when the buyer values DeepGrid’s bounded perception advantage and accepts the evidence plan.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5806440"/>
            <a:ext cx="11658600" cy="32004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897880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81525"/>
                </a:solidFill>
                <a:latin typeface="Arial"/>
              </a:rPr>
              <a:t>NEXT MEETING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4" y="5861304"/>
            <a:ext cx="9692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1525"/>
                </a:solidFill>
                <a:latin typeface="Arial"/>
              </a:rPr>
              <a:t>A named owner, a vehicle or programme, the comparison metric, data rights and a dated go / no-go gate.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USE-CASE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Sterling Tools × MINIEYE is differentiated in three use cases—but each creates a specific DeepGrid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Close the competitor discussion with a use-case choice, not a generic threat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72768"/>
            <a:ext cx="3584448" cy="7315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OEM ADAS / DMS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Passenger and CV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UNIQUE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MINIEYE full-stack solutions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9663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9663" y="1572768"/>
            <a:ext cx="3584448" cy="7315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INDIA LOCALIZATION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Mixed-traffic perception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UNIQUE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Sterling tuning and engineering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1572768"/>
            <a:ext cx="3584448" cy="7315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5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LOCAL SUPPLY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OEM procurement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UNIQUE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Tier-1 manufacturing relationships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" y="4681728"/>
            <a:ext cx="11503152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82896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DEEPGRID FITS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782312"/>
            <a:ext cx="9372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Georgia"/>
              </a:rPr>
              <a:t>Track conversion from MOU to programme; counter through faster local proof and braking-channel partners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" y="5468112"/>
            <a:ext cx="1150315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650992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COMMERCIAL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568696"/>
            <a:ext cx="9528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1827"/>
                </a:solidFill>
                <a:latin typeface="Arial"/>
              </a:rPr>
              <a:t>Select one named oem channel · localization use case; agree the buyer metric, responsibility boundary and 90-day stop / scale gate.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A practical retrofit warning benchmark with limited direct overlap with certified AEBS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bitsensing · management posture: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57</a:t>
            </a:r>
          </a:p>
        </p:txBody>
      </p:sp>
      <p:pic>
        <p:nvPicPr>
          <p:cNvPr id="9" name="Picture 8" descr="bitsensing-kit.png"/>
          <p:cNvPicPr>
            <a:picLocks noChangeAspect="1"/>
          </p:cNvPicPr>
          <p:nvPr/>
        </p:nvPicPr>
        <p:blipFill>
          <a:blip r:embed="rId2"/>
          <a:srcRect l="6427" r="6427"/>
          <a:stretch>
            <a:fillRect/>
          </a:stretch>
        </p:blipFill>
        <p:spPr>
          <a:xfrm>
            <a:off x="310896" y="1499616"/>
            <a:ext cx="3657600" cy="27980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0896" y="4297680"/>
            <a:ext cx="3657600" cy="43891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425696"/>
            <a:ext cx="33284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81525"/>
                </a:solidFill>
                <a:latin typeface="Arial"/>
              </a:rPr>
              <a:t>MONITOR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36192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536192"/>
            <a:ext cx="64008" cy="768096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64207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36776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Official 500+ bus expansion objective after Korea pilot; UNECE R151/R159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2468880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2468880"/>
            <a:ext cx="64008" cy="76809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596896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IT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69464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Aftermarket fleet warning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3401568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3401568"/>
            <a:ext cx="64008" cy="76809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529584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IS NOT 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5021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No India deployment or automatic-braking responsibility evidenced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4389120"/>
            <a:ext cx="76078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590288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498848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Use as demand and installation benchmark; monitor India entry rather than divert core OEM effort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" y="5285232"/>
            <a:ext cx="11576304" cy="71323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9554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EXECUTIVE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413248"/>
            <a:ext cx="9464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MONITOR · Evidence confidence: HIGH · Release resources only against a named buyer, proof metric and dated gate.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bitsensing validates retrofit demand—but its warning-led kit stops short of an AEBS safety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bitsensing · strongest arena: Aftermarket fleet warning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58</a:t>
            </a:r>
          </a:p>
        </p:txBody>
      </p:sp>
      <p:pic>
        <p:nvPicPr>
          <p:cNvPr id="9" name="Picture 8" descr="bitsensing-kit.png"/>
          <p:cNvPicPr>
            <a:picLocks noChangeAspect="1"/>
          </p:cNvPicPr>
          <p:nvPr/>
        </p:nvPicPr>
        <p:blipFill>
          <a:blip r:embed="rId2"/>
          <a:srcRect t="1733" b="1733"/>
          <a:stretch>
            <a:fillRect/>
          </a:stretch>
        </p:blipFill>
        <p:spPr>
          <a:xfrm>
            <a:off x="256032" y="1481328"/>
            <a:ext cx="461772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4462272"/>
            <a:ext cx="4617720" cy="5029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59028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SOURCE-DERIVED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7200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bitsensing official launch, 5 Feb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52704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THEY 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755648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827"/>
                </a:solidFill>
                <a:latin typeface="Georgia"/>
              </a:rPr>
              <a:t>Radar–camera commercial-vehicle ADAS kit with driver warnings and easy retrofit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2450592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3792" y="2450592"/>
            <a:ext cx="54864" cy="62179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55117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542032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Official 500+ bus expansion objective after Korea pilot; UNECE R151/R159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3200400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3200400"/>
            <a:ext cx="54864" cy="62179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30098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ARENA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291840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Aftermarket fleet warning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3950208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93792" y="3950208"/>
            <a:ext cx="54864" cy="62179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05079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041648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No India deployment or automatic-braking responsibility evidenced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184648"/>
            <a:ext cx="11658600" cy="9601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1324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321808"/>
            <a:ext cx="8458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Use as demand and installation benchmark; monitor India entry rather than divert core OEM effort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57607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A8B8C6"/>
                </a:solidFill>
                <a:latin typeface="Arial"/>
              </a:rPr>
              <a:t>THREAT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8208" y="595274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16835C"/>
                </a:solidFill>
                <a:latin typeface="Arial"/>
              </a:rPr>
              <a:t>LOW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bitsensing packages radar–camera warnings for rapid commercial-fleet retrofit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What it does · customer focus · technology stack ·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472184"/>
            <a:ext cx="3675887" cy="1097280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691640"/>
            <a:ext cx="960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920240"/>
            <a:ext cx="32369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  <a:latin typeface="Arial"/>
              </a:rPr>
              <a:t>Radar-specialist offering a practical camera–radar warning kit that modernizes existing commercial fleets without assuming the brake safety case.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724912"/>
            <a:ext cx="3675887" cy="117043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926080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CUSTOMER &amp; USE-CASE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18211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Bus and fleet operators needing fast retrofit coverage for blind spots, forward collision and vulnerable-road-user warnings.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050791"/>
            <a:ext cx="3675887" cy="1152144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4251960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HOW IT MAKES MONEY / SCALES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50799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Sell through fleet and channel partners with low installation downtime; expand vehicle coverage through repeatable retrofit packages.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51790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Arial"/>
              </a:rPr>
              <a:t>TECHNOLOGY &amp; DELIVERY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1847088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847088"/>
            <a:ext cx="73152" cy="40233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947672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29384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NXP-based radar sensors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2311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2377440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2377440"/>
            <a:ext cx="73152" cy="402336"/>
          </a:xfrm>
          <a:prstGeom prst="rect">
            <a:avLst/>
          </a:prstGeom>
          <a:solidFill>
            <a:srgbClr val="1A91A3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47802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459736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Camera context and object 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761488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2907791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2907791"/>
            <a:ext cx="73152" cy="402336"/>
          </a:xfrm>
          <a:prstGeom prst="rect">
            <a:avLst/>
          </a:prstGeom>
          <a:solidFill>
            <a:srgbClr val="176C80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3008375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990087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Warning-level sensor fusion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29183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3438144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3438144"/>
            <a:ext cx="73152" cy="40233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3538727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520439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Cab display / audible driver alerts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3822191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9392" y="3968496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9392" y="3968496"/>
            <a:ext cx="73152" cy="402336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406908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050791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Retrofit controller, harness and installation kit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62288" y="1481328"/>
            <a:ext cx="2743200" cy="179222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700784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002536"/>
            <a:ext cx="232257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FFFFFF"/>
                </a:solidFill>
                <a:latin typeface="Arial"/>
              </a:rPr>
              <a:t>Official commercial-vehicle kit, Korean bus pilot and stated 500+ bus expansion objective; India channel relationship reported.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2288" y="3456432"/>
            <a:ext cx="2743200" cy="1746504"/>
          </a:xfrm>
          <a:prstGeom prst="roundRect">
            <a:avLst/>
          </a:prstGeom>
          <a:solidFill>
            <a:srgbClr val="FFF7EC"/>
          </a:solidFill>
          <a:ln>
            <a:solidFill>
              <a:srgbClr val="E8C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3675887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REMAINS UNKNOWN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977639"/>
            <a:ext cx="232257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101827"/>
                </a:solidFill>
                <a:latin typeface="Arial"/>
              </a:rPr>
              <a:t>Automatic braking, India fleet deployments and OEM series-production responsibility are not evidenced.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5468112"/>
            <a:ext cx="11631168" cy="603504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565099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SO WHAT FOR DEEPGRID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5577840"/>
            <a:ext cx="9473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>
                <a:solidFill>
                  <a:srgbClr val="FFFFFF"/>
                </a:solidFill>
                <a:latin typeface="Arial"/>
              </a:rPr>
              <a:t>Use as demand and installation benchmark; monitor India entry rather than divert core OEM effort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THREAT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bitsensing wins only if its control point becomes the buyer’s deciding criterion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Threat mechanism → falsifier → management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81328"/>
            <a:ext cx="3794760" cy="228600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746504"/>
            <a:ext cx="33284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BUYER DECISION</a:t>
            </a:r>
            <a:br/>
            <a:r>
              <a:rPr sz="1500" b="1" i="0">
                <a:solidFill>
                  <a:srgbClr val="FFFFFF"/>
                </a:solidFill>
                <a:latin typeface="Georgia"/>
              </a:rPr>
              <a:t>Aftermarket fleet 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2688336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9C8D8"/>
                </a:solidFill>
                <a:latin typeface="Arial"/>
              </a:rPr>
              <a:t>The threat becomes material only when this arena—not standalone perception—sets the supplier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CONTROL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NXP radar → Retrofit fleet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CONVERSION 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Aftermarket fleet warning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1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1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Arial"/>
              </a:rPr>
              <a:t>DISPLACEMENT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1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DeepGrid sits outside the chosen programme boundary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023360"/>
            <a:ext cx="11612880" cy="78638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206240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WHY THIS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123944"/>
            <a:ext cx="9555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The buyer can prefer bitsensing when aftermarket fleet warning matters more than standalone perception ownership.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956048"/>
            <a:ext cx="11612880" cy="43891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09320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FALSIFIER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5029200"/>
            <a:ext cx="10012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No India deployment or automatic-braking responsibility evidenced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504688"/>
            <a:ext cx="11612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660136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MANAGEMENT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Use as demand and installation benchmark; monitor India entry rather than divert core OEM effort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PRODUCT &amp; CONTROL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bitsensing packages five control points—but only some create a defensible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Follow the system from sensing to the buyer relationship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61</a:t>
            </a:r>
          </a:p>
        </p:txBody>
      </p:sp>
      <p:pic>
        <p:nvPicPr>
          <p:cNvPr id="9" name="Picture 8" descr="bitsensing-kit.png"/>
          <p:cNvPicPr>
            <a:picLocks noChangeAspect="1"/>
          </p:cNvPicPr>
          <p:nvPr/>
        </p:nvPicPr>
        <p:blipFill>
          <a:blip r:embed="rId2"/>
          <a:srcRect l="26682" r="26682"/>
          <a:stretch>
            <a:fillRect/>
          </a:stretch>
        </p:blipFill>
        <p:spPr>
          <a:xfrm>
            <a:off x="256032" y="1481328"/>
            <a:ext cx="2788920" cy="39867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355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NXP radar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6519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7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Camera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683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Warning 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Driver display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Retrofit fleet deployment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3552" y="3611880"/>
            <a:ext cx="8641080" cy="71323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7764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WHERE VALUE ACCRUES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712463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Radar–camera commercial-vehicle ADAS kit with driver warnings and easy retrofit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3552" y="4535424"/>
            <a:ext cx="864108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473659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DEEPGRID OPENING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663440"/>
            <a:ext cx="6839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1827"/>
                </a:solidFill>
                <a:latin typeface="Arial"/>
              </a:rPr>
              <a:t>Use as demand and installation benchmark; monitor India entry rather than divert core OEM effort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5687568"/>
            <a:ext cx="11658600" cy="43891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824728"/>
            <a:ext cx="1143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SALES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5769864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Do not sell against the whole stack; isolate the control point that bitsensing cannot defend economically or locally.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BATTLECARD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bitsensing wins on simple installation—and breaks at three proof or control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Sales battlecard: concede what is true, then move the buying criterion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6835C"/>
                </a:solidFill>
                <a:latin typeface="Arial"/>
              </a:rPr>
              <a:t>CONCEDE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Simple installation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Radar-camera package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500-bus expansion 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Arial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7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Warning-led, not AEBS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7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No India operating 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3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7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Actuation absent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" y="4553712"/>
            <a:ext cx="11338560" cy="50292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70916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4663440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No India deployment or automatic-braking responsibility evidenced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5230368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44982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REFRAME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7904" y="535838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Use as demand and installation benchmark; monitor India entry rather than divert core OEM effort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SALES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DeepGrid can change the bitsensing conversation with three persona-specific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Lead with the buyer’s objective; end with a measurable proof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36192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36192"/>
            <a:ext cx="64008" cy="932688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73351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4B3C7"/>
                </a:solidFill>
                <a:latin typeface="Arial"/>
              </a:rPr>
              <a:t>BUSINESS / 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645919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Fleet: compare warning adoption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45919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Lifecycle cost + local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" y="2651760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" y="2651760"/>
            <a:ext cx="64008" cy="932688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788920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C96A0A"/>
                </a:solidFill>
                <a:latin typeface="Arial"/>
              </a:rPr>
              <a:t>CHIEF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761488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OEM: distinguish retrofit from series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6148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Same-ODD benchmark + integration effort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" y="3767328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" y="3767328"/>
            <a:ext cx="64008" cy="932688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04488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835C"/>
                </a:solidFill>
                <a:latin typeface="Arial"/>
              </a:rPr>
              <a:t>PROGRAMME /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387705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Sales: use as market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0448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877056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Named responsibility matrix + release gate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" y="5010912"/>
            <a:ext cx="11338560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2120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STOP / ESCALATE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1389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Escalate only when the buyer values DeepGrid’s bounded perception advantage and accepts the evidence plan.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5806440"/>
            <a:ext cx="11658600" cy="32004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897880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81525"/>
                </a:solidFill>
                <a:latin typeface="Arial"/>
              </a:rPr>
              <a:t>NEXT MEETING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4" y="5861304"/>
            <a:ext cx="9692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1525"/>
                </a:solidFill>
                <a:latin typeface="Arial"/>
              </a:rPr>
              <a:t>A named owner, a vehicle or programme, the comparison metric, data rights and a dated go / no-go gate.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USE-CASE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bitsensing is differentiated in three use cases—but each creates a specific DeepGrid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Close the competitor discussion with a use-case choice, not a generic threat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72768"/>
            <a:ext cx="3584448" cy="7315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BUS RETROFIT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Blind spots and collision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UNIQUE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Radar–camera ADAS kit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9663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9663" y="1572768"/>
            <a:ext cx="3584448" cy="7315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FLEET MODERNIZATION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Minimal installation downtime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UNIQUE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Controller, display and sensors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1572768"/>
            <a:ext cx="3584448" cy="7315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5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URBAN VRU WARNING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Pedestrians and motorcycles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UNIQUE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BSIS, MOIS and surround warnings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" y="4681728"/>
            <a:ext cx="11503152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82896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DEEPGRID FITS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782312"/>
            <a:ext cx="9372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Georgia"/>
              </a:rPr>
              <a:t>Use as demand and installation benchmark; monitor India entry rather than divert core OEM effort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" y="5468112"/>
            <a:ext cx="1150315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650992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COMMERCIAL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568696"/>
            <a:ext cx="9528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1827"/>
                </a:solidFill>
                <a:latin typeface="Arial"/>
              </a:rPr>
              <a:t>Select one named aftermarket fleet warning use case; agree the buyer metric, responsibility boundary and 90-day stop / scale gate.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A future indigenous compute alternative—not yet a commercial-vehicle ADAS competitor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Netrasemi · management posture: MONITOR QUALIFICATION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65</a:t>
            </a:r>
          </a:p>
        </p:txBody>
      </p:sp>
      <p:pic>
        <p:nvPicPr>
          <p:cNvPr id="9" name="Picture 8" descr="netrasemi-chip.jpg"/>
          <p:cNvPicPr>
            <a:picLocks noChangeAspect="1"/>
          </p:cNvPicPr>
          <p:nvPr/>
        </p:nvPicPr>
        <p:blipFill>
          <a:blip r:embed="rId2"/>
          <a:srcRect t="11116" b="11116"/>
          <a:stretch>
            <a:fillRect/>
          </a:stretch>
        </p:blipFill>
        <p:spPr>
          <a:xfrm>
            <a:off x="310896" y="1499616"/>
            <a:ext cx="3657600" cy="27980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0896" y="4297680"/>
            <a:ext cx="3657600" cy="43891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425696"/>
            <a:ext cx="33284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81525"/>
                </a:solidFill>
                <a:latin typeface="Arial"/>
              </a:rPr>
              <a:t>MONITOR QUALIFICATION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36192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536192"/>
            <a:ext cx="64008" cy="768096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64207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36776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Successful silicon bring-up; early customer trials reported in automotive and surveillance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2468880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2468880"/>
            <a:ext cx="64008" cy="76809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596896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IT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69464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Edge compute · component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3401568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3401568"/>
            <a:ext cx="64008" cy="76809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529584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IS NOT 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5021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Automotive qualification, CV design win and 2027 production readiness remain open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4389120"/>
            <a:ext cx="76078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590288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498848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Monitor qualification and production; compare silicon economics only when automotive proof emerges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" y="5285232"/>
            <a:ext cx="11576304" cy="71323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9554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EXECUTIVE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413248"/>
            <a:ext cx="9464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MONITOR QUALIFICATION · Evidence confidence: MEDIUM · Release resources only against a named buyer, proof metric and dated gate.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Netrasemi is a structural silicon option, not yet a proven India commercial-vehicle ADAS 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Netrasemi · strongest arena: Edge compute · component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66</a:t>
            </a:r>
          </a:p>
        </p:txBody>
      </p:sp>
      <p:pic>
        <p:nvPicPr>
          <p:cNvPr id="9" name="Picture 8" descr="netrasemi-chip.jpg"/>
          <p:cNvPicPr>
            <a:picLocks noChangeAspect="1"/>
          </p:cNvPicPr>
          <p:nvPr/>
        </p:nvPicPr>
        <p:blipFill>
          <a:blip r:embed="rId2"/>
          <a:srcRect t="17289" b="17289"/>
          <a:stretch>
            <a:fillRect/>
          </a:stretch>
        </p:blipFill>
        <p:spPr>
          <a:xfrm>
            <a:off x="256032" y="1481328"/>
            <a:ext cx="461772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4462272"/>
            <a:ext cx="4617720" cy="5029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59028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SOURCE-DERIVED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7200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Netrasemi official solutions and news pages,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52704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THEY 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755648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827"/>
                </a:solidFill>
                <a:latin typeface="Georgia"/>
              </a:rPr>
              <a:t>A2000 indigenous edge-AI SoC for vision, DMS, surround view and fleet use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2450592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3792" y="2450592"/>
            <a:ext cx="54864" cy="62179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55117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542032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Successful silicon bring-up; early customer trials reported in automotive and surveillance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3200400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3200400"/>
            <a:ext cx="54864" cy="62179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30098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ARENA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291840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Edge compute · component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3950208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93792" y="3950208"/>
            <a:ext cx="54864" cy="62179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05079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041648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Automotive qualification, CV design win and 2027 production readiness remain open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184648"/>
            <a:ext cx="11658600" cy="9601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1324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321808"/>
            <a:ext cx="8458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Monitor qualification and production; compare silicon economics only when automotive proof emerges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57607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A8B8C6"/>
                </a:solidFill>
                <a:latin typeface="Arial"/>
              </a:rPr>
              <a:t>THREAT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8208" y="595274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16835C"/>
                </a:solidFill>
                <a:latin typeface="Arial"/>
              </a:rPr>
              <a:t>LOW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Netrasemi provides indigenous edge-AI compute—not yet an automotive safety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What it does · customer focus · technology stack ·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472184"/>
            <a:ext cx="3675887" cy="1097280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691640"/>
            <a:ext cx="960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920240"/>
            <a:ext cx="32369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  <a:latin typeface="Arial"/>
              </a:rPr>
              <a:t>Indian fabless edge-AI semiconductor company building general-purpose on-device vision compute that could enable automotive applications.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724912"/>
            <a:ext cx="3675887" cy="117043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926080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CUSTOMER &amp; USE-CASE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18211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OEMs and device makers seeking indigenous, low-latency AI compute for DMS, surround view, telematics and broader edge workloads.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050791"/>
            <a:ext cx="3675887" cy="1152144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4251960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HOW IT MAKES MONEY / SCALES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50799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Sell silicon and development platforms to solution builders; convert engineering trials into volume programmes across several edge sectors.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51790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Arial"/>
              </a:rPr>
              <a:t>TECHNOLOGY &amp; DELIVERY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1847088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847088"/>
            <a:ext cx="73152" cy="40233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947672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29384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A2000 edge-AI SoC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2311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2377440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2377440"/>
            <a:ext cx="73152" cy="402336"/>
          </a:xfrm>
          <a:prstGeom prst="rect">
            <a:avLst/>
          </a:prstGeom>
          <a:solidFill>
            <a:srgbClr val="1A91A3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47802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459736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CPU / AI acceleration and vision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761488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2907791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2907791"/>
            <a:ext cx="73152" cy="402336"/>
          </a:xfrm>
          <a:prstGeom prst="rect">
            <a:avLst/>
          </a:prstGeom>
          <a:solidFill>
            <a:srgbClr val="176C80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3008375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990087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Multi-camera and on-device inference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29183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3438144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3438144"/>
            <a:ext cx="73152" cy="40233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3538727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520439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SDK, model deployment and application tooling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3822191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9392" y="3968496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9392" y="3968496"/>
            <a:ext cx="73152" cy="402336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406908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050791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Board / module integration into customer products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62288" y="1481328"/>
            <a:ext cx="2743200" cy="179222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700784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002536"/>
            <a:ext cx="232257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FFFFFF"/>
                </a:solidFill>
                <a:latin typeface="Arial"/>
              </a:rPr>
              <a:t>Successful silicon bring-up, fundraising and company-reported early trials in automotive and surveillance use cases.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2288" y="3456432"/>
            <a:ext cx="2743200" cy="1746504"/>
          </a:xfrm>
          <a:prstGeom prst="roundRect">
            <a:avLst/>
          </a:prstGeom>
          <a:solidFill>
            <a:srgbClr val="FFF7EC"/>
          </a:solidFill>
          <a:ln>
            <a:solidFill>
              <a:srgbClr val="E8C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3675887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REMAINS UNKNOWN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977639"/>
            <a:ext cx="232257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101827"/>
                </a:solidFill>
                <a:latin typeface="Arial"/>
              </a:rPr>
              <a:t>AEC-Q100, ISO 26262 readiness, commercial-vehicle design wins and production ramp timing remain open.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5468112"/>
            <a:ext cx="11631168" cy="603504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565099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SO WHAT FOR DEEPGRID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5577840"/>
            <a:ext cx="9473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>
                <a:solidFill>
                  <a:srgbClr val="FFFFFF"/>
                </a:solidFill>
                <a:latin typeface="Arial"/>
              </a:rPr>
              <a:t>Monitor qualification and production; compare silicon economics only when automotive proof emerges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THREAT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Netrasemi wins only if its control point becomes the buyer’s deciding criterion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Threat mechanism → falsifier → management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81328"/>
            <a:ext cx="3794760" cy="228600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746504"/>
            <a:ext cx="33284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BUYER DECISION</a:t>
            </a:r>
            <a:br/>
            <a:r>
              <a:rPr sz="1500" b="1" i="0">
                <a:solidFill>
                  <a:srgbClr val="FFFFFF"/>
                </a:solidFill>
                <a:latin typeface="Georgia"/>
              </a:rPr>
              <a:t>Edge compute · component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2688336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9C8D8"/>
                </a:solidFill>
                <a:latin typeface="Arial"/>
              </a:rPr>
              <a:t>The threat becomes material only when this arena—not standalone perception—sets the supplier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CONTROL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A2000 edge SoC → 2027 production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CONVERSION 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Edge compute · component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1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1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Arial"/>
              </a:rPr>
              <a:t>DISPLACEMENT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1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DeepGrid sits outside the chosen programme boundary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023360"/>
            <a:ext cx="11612880" cy="78638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206240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WHY THIS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123944"/>
            <a:ext cx="9555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The buyer can prefer Netrasemi when edge compute · component layer matters more than standalone perception ownership.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956048"/>
            <a:ext cx="11612880" cy="43891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09320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FALSIFIER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5029200"/>
            <a:ext cx="10012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Automotive qualification, CV design win and 2027 production readiness remain open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504688"/>
            <a:ext cx="11612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660136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MANAGEMENT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Monitor qualification and production; compare silicon economics only when automotive proof emerges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PRODUCT &amp; CONTROL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Netrasemi packages five control points—but only some create a defensible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Follow the system from sensing to the buyer relationship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69</a:t>
            </a:r>
          </a:p>
        </p:txBody>
      </p:sp>
      <p:pic>
        <p:nvPicPr>
          <p:cNvPr id="9" name="Picture 8" descr="netrasemi-chip.jpg"/>
          <p:cNvPicPr>
            <a:picLocks noChangeAspect="1"/>
          </p:cNvPicPr>
          <p:nvPr/>
        </p:nvPicPr>
        <p:blipFill>
          <a:blip r:embed="rId2"/>
          <a:srcRect l="15593" r="15593"/>
          <a:stretch>
            <a:fillRect/>
          </a:stretch>
        </p:blipFill>
        <p:spPr>
          <a:xfrm>
            <a:off x="256032" y="1481328"/>
            <a:ext cx="2788920" cy="39867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355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A2000 edge SoC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6519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7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Vision acceleration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683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Automotive use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Early customer trials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2027 production target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3552" y="3611880"/>
            <a:ext cx="8641080" cy="71323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7764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WHERE VALUE ACCRUES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712463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A2000 indigenous edge-AI SoC for vision, DMS, surround view and fleet use cases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3552" y="4535424"/>
            <a:ext cx="864108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473659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DEEPGRID OPENING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663440"/>
            <a:ext cx="6839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1827"/>
                </a:solidFill>
                <a:latin typeface="Arial"/>
              </a:rPr>
              <a:t>Monitor qualification and production; compare silicon economics only when automotive proof emerges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5687568"/>
            <a:ext cx="11658600" cy="43891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824728"/>
            <a:ext cx="1143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SALES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5769864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Do not sell against the whole stack; isolate the control point that Netrasemi cannot defend economically or locally.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BATTLECARD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Netrasemi wins on india silicon narrative—and breaks at three proof or control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Sales battlecard: concede what is true, then move the buying criterion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6835C"/>
                </a:solidFill>
                <a:latin typeface="Arial"/>
              </a:rPr>
              <a:t>CONCEDE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India silicon narrative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Broad edge-AI applicability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Successful bring-up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Arial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7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Qualification not public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7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No CV design win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3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7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Production ramp ahead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" y="4553712"/>
            <a:ext cx="11338560" cy="50292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70916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4663440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Automotive qualification, CV design win and 2027 production readiness remain open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5230368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44982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REFRAME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7904" y="535838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Monitor qualification and production; compare silicon economics only when automotive proof emerges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SALES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DeepGrid can change the Netrasemi conversation with three persona-specific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Lead with the buyer’s objective; end with a measurable proof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36192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36192"/>
            <a:ext cx="64008" cy="932688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73351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4B3C7"/>
                </a:solidFill>
                <a:latin typeface="Arial"/>
              </a:rPr>
              <a:t>BUSINESS / 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645919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Engineering: compare toolchain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45919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Lifecycle cost + local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" y="2651760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" y="2651760"/>
            <a:ext cx="64008" cy="932688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788920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C96A0A"/>
                </a:solidFill>
                <a:latin typeface="Arial"/>
              </a:rPr>
              <a:t>CHIEF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761488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OEM: ask qualification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6148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Same-ODD benchmark + integration effort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" y="3767328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" y="3767328"/>
            <a:ext cx="64008" cy="932688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04488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835C"/>
                </a:solidFill>
                <a:latin typeface="Arial"/>
              </a:rPr>
              <a:t>PROGRAMME /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387705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Board: monitor, do not overreact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0448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877056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Named responsibility matrix + release gate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" y="5010912"/>
            <a:ext cx="11338560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2120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STOP / ESCALATE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1389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Escalate only when the buyer values DeepGrid’s bounded perception advantage and accepts the evidence plan.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5806440"/>
            <a:ext cx="11658600" cy="32004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897880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81525"/>
                </a:solidFill>
                <a:latin typeface="Arial"/>
              </a:rPr>
              <a:t>NEXT MEETING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4" y="5861304"/>
            <a:ext cx="9692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1525"/>
                </a:solidFill>
                <a:latin typeface="Arial"/>
              </a:rPr>
              <a:t>A named owner, a vehicle or programme, the comparison metric, data rights and a dated go / no-go gate.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USE-CASE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Netrasemi is differentiated in three use cases—but each creates a specific DeepGrid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Close the competitor discussion with a use-case choice, not a generic threat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72768"/>
            <a:ext cx="3584448" cy="7315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DMS / OMS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On-device vision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UNIQUE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A2000 edge-AI SoC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9663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9663" y="1572768"/>
            <a:ext cx="3584448" cy="7315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SURROUND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Multi-camera 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UNIQUE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Integrated vision acceleration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1572768"/>
            <a:ext cx="3584448" cy="7315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5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FLEET EDGE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Local analytics and telematics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UNIQUE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Low-latency edge compute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" y="4681728"/>
            <a:ext cx="11503152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82896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DEEPGRID FITS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782312"/>
            <a:ext cx="9372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Georgia"/>
              </a:rPr>
              <a:t>Monitor qualification and production; compare silicon economics only when automotive proof emerges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" y="5468112"/>
            <a:ext cx="1150315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650992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COMMERCIAL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568696"/>
            <a:ext cx="9528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1827"/>
                </a:solidFill>
                <a:latin typeface="Arial"/>
              </a:rPr>
              <a:t>Select one named edge compute · component layer use case; agree the buyer metric, responsibility boundary and 90-day stop / scale gate.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The structural OEM gatekeepers; DeepGrid must enter through their open subsystem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Incumbent Tier-1 cohort · management posture: ATTACH /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73</a:t>
            </a:r>
          </a:p>
        </p:txBody>
      </p:sp>
      <p:pic>
        <p:nvPicPr>
          <p:cNvPr id="9" name="Picture 8" descr="continental-truck.jpg"/>
          <p:cNvPicPr>
            <a:picLocks noChangeAspect="1"/>
          </p:cNvPicPr>
          <p:nvPr/>
        </p:nvPicPr>
        <p:blipFill>
          <a:blip r:embed="rId2"/>
          <a:srcRect l="12990" r="12990"/>
          <a:stretch>
            <a:fillRect/>
          </a:stretch>
        </p:blipFill>
        <p:spPr>
          <a:xfrm>
            <a:off x="310896" y="1499616"/>
            <a:ext cx="3657600" cy="27980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0896" y="4297680"/>
            <a:ext cx="3657600" cy="43891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425696"/>
            <a:ext cx="33284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81525"/>
                </a:solidFill>
                <a:latin typeface="Arial"/>
              </a:rPr>
              <a:t>ATTACH / BOUNDARY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36192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536192"/>
            <a:ext cx="64008" cy="768096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64207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36776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Bosch and Continental offer CV ADAS stacks; Valeo has an India CV nomination and localized VSS360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2468880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2468880"/>
            <a:ext cx="64008" cy="76809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596896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IT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69464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OEM accountability · industrial scale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3401568"/>
            <a:ext cx="7607808" cy="768096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3401568"/>
            <a:ext cx="64008" cy="76809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529584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IS NOT 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5021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Cohort view masks company-specific India programme differences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4389120"/>
            <a:ext cx="76078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590288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498848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Do not displace the stack; attach at perception, data or cost control points with explicit safety boundaries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" y="5285232"/>
            <a:ext cx="11576304" cy="71323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9554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EXECUTIVE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413248"/>
            <a:ext cx="9464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ATTACH / BOUNDARY · Evidence confidence: HIGH · Release resources only against a named buyer, proof metric and dated gate.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Bosch, Continental and Valeo win by controlling the complete OEM integration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Incumbent Tier-1 cohort · strongest arena: OEM accountability · industrial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74</a:t>
            </a:r>
          </a:p>
        </p:txBody>
      </p:sp>
      <p:pic>
        <p:nvPicPr>
          <p:cNvPr id="9" name="Picture 8" descr="continental-truck.jpg"/>
          <p:cNvPicPr>
            <a:picLocks noChangeAspect="1"/>
          </p:cNvPicPr>
          <p:nvPr/>
        </p:nvPicPr>
        <p:blipFill>
          <a:blip r:embed="rId2"/>
          <a:srcRect l="6007" r="6007"/>
          <a:stretch>
            <a:fillRect/>
          </a:stretch>
        </p:blipFill>
        <p:spPr>
          <a:xfrm>
            <a:off x="256032" y="1481328"/>
            <a:ext cx="461772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4462272"/>
            <a:ext cx="4617720" cy="5029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59028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SOURCE-DERIVED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7200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Bosch and Continental official CV pages · Valeo official India nomination,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52704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THEY 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755648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827"/>
                </a:solidFill>
                <a:latin typeface="Georgia"/>
              </a:rPr>
              <a:t>Sensors, compute, software, braking/chassis integration, validation and global supply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2450592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3792" y="2450592"/>
            <a:ext cx="54864" cy="62179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55117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542032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Bosch and Continental offer CV ADAS stacks; Valeo has an India CV nomination and localized VSS360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3200400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3200400"/>
            <a:ext cx="54864" cy="62179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30098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ARENA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291840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OEM accountability · industrial scale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3950208"/>
            <a:ext cx="6720840" cy="62179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93792" y="3950208"/>
            <a:ext cx="54864" cy="62179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05079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041648"/>
            <a:ext cx="49560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01827"/>
                </a:solidFill>
                <a:latin typeface="Arial"/>
              </a:rPr>
              <a:t>Cohort view masks company-specific India programme differences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184648"/>
            <a:ext cx="11658600" cy="960120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1324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DEEPGRID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321808"/>
            <a:ext cx="8458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Do not displace the stack; attach at perception, data or cost control points with explicit safety boundaries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57607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A8B8C6"/>
                </a:solidFill>
                <a:latin typeface="Arial"/>
              </a:rPr>
              <a:t>THREAT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8208" y="595274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C62828"/>
                </a:solidFill>
                <a:latin typeface="Arial"/>
              </a:rPr>
              <a:t>STRUCTURAL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COMPETITOR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Incumbent Tier-1s win by owning the complete sensor-to-actuation integration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What it does · customer focus · technology stack ·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472184"/>
            <a:ext cx="3675887" cy="1097280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691640"/>
            <a:ext cx="960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920240"/>
            <a:ext cx="32369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  <a:latin typeface="Arial"/>
              </a:rPr>
              <a:t>Bosch, Continental and Valeo represent the full-stack incumbent model: sensors, compute, software, actuation and global programme accountability.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724912"/>
            <a:ext cx="3675887" cy="1170432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926080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CUSTOMER &amp; USE-CASE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18211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OEM platforms prioritizing one accountable supplier, validated safety functions, industrial capacity and worldwide lifecycle support.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050791"/>
            <a:ext cx="3675887" cy="1152144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4251960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HOW IT MAKES MONEY / SCALES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507992"/>
            <a:ext cx="32369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01827"/>
                </a:solidFill>
                <a:latin typeface="Arial"/>
              </a:rPr>
              <a:t>Bundle system breadth with embedded OEM relationships, amortize engineering across platforms and defend the integration boundary.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51790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Arial"/>
              </a:rPr>
              <a:t>TECHNOLOGY &amp; DELIVERY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1847088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847088"/>
            <a:ext cx="73152" cy="402336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947672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29384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Radar, cameras and surround sensing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2311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2377440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2377440"/>
            <a:ext cx="73152" cy="402336"/>
          </a:xfrm>
          <a:prstGeom prst="rect">
            <a:avLst/>
          </a:prstGeom>
          <a:solidFill>
            <a:srgbClr val="1A91A3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47802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459736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Central / domain compute and ADAS 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761488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2907791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2907791"/>
            <a:ext cx="73152" cy="402336"/>
          </a:xfrm>
          <a:prstGeom prst="rect">
            <a:avLst/>
          </a:prstGeom>
          <a:solidFill>
            <a:srgbClr val="176C80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3008375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990087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Vehicle network, braking and chassis interfaces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29183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3438144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3438144"/>
            <a:ext cx="73152" cy="402336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3538727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520439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Simulation, validation and homologation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3822191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5707E"/>
                </a:solidFill>
                <a:latin typeface="Arial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9392" y="3968496"/>
            <a:ext cx="4608576" cy="402336"/>
          </a:xfrm>
          <a:prstGeom prst="roundRect">
            <a:avLst/>
          </a:prstGeom>
          <a:solidFill>
            <a:srgbClr val="F5F9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9392" y="3968496"/>
            <a:ext cx="73152" cy="402336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406908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050791"/>
            <a:ext cx="3803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101827"/>
                </a:solidFill>
                <a:latin typeface="Arial"/>
              </a:rPr>
              <a:t>Global manufacturing, quality and OEM programme teams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62288" y="1481328"/>
            <a:ext cx="2743200" cy="179222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700784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6835C"/>
                </a:solidFill>
                <a:latin typeface="Arial"/>
              </a:rPr>
              <a:t>OPERATING 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002536"/>
            <a:ext cx="232257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FFFFFF"/>
                </a:solidFill>
                <a:latin typeface="Arial"/>
              </a:rPr>
              <a:t>Established global CV safety portfolios, India engineering footprints and disclosed India-specific activity including Valeo’s CV nomination.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2288" y="3456432"/>
            <a:ext cx="2743200" cy="1746504"/>
          </a:xfrm>
          <a:prstGeom prst="roundRect">
            <a:avLst/>
          </a:prstGeom>
          <a:solidFill>
            <a:srgbClr val="FFF7EC"/>
          </a:solidFill>
          <a:ln>
            <a:solidFill>
              <a:srgbClr val="E8C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3675887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WHAT REMAINS UNKNOWN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977639"/>
            <a:ext cx="232257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101827"/>
                </a:solidFill>
                <a:latin typeface="Arial"/>
              </a:rPr>
              <a:t>Cohort-level comparison masks vendor-specific economics, architecture openness and exact India programme status.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5468112"/>
            <a:ext cx="11631168" cy="603504"/>
          </a:xfrm>
          <a:prstGeom prst="round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565099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SO WHAT FOR DEEPGRID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5577840"/>
            <a:ext cx="9473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>
                <a:solidFill>
                  <a:srgbClr val="FFFFFF"/>
                </a:solidFill>
                <a:latin typeface="Arial"/>
              </a:rPr>
              <a:t>Do not displace the stack; attach at perception, data or cost control points with explicit safety boundaries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THREAT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Incumbent Tier-1 cohort wins only if its control point becomes the buyer’s deciding criterion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Threat mechanism → falsifier → management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81328"/>
            <a:ext cx="3794760" cy="228600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746504"/>
            <a:ext cx="33284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BUYER DECISION</a:t>
            </a:r>
            <a:br/>
            <a:r>
              <a:rPr sz="1500" b="1" i="0">
                <a:solidFill>
                  <a:srgbClr val="FFFFFF"/>
                </a:solidFill>
                <a:latin typeface="Georgia"/>
              </a:rPr>
              <a:t>OEM accountability · industrial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2688336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9C8D8"/>
                </a:solidFill>
                <a:latin typeface="Arial"/>
              </a:rPr>
              <a:t>The threat becomes material only when this arena—not standalone perception—sets the supplier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CONTROL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Multi-modal sensors → Global OEM accountability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CONVERSION 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OEM accountability · industrial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1627632"/>
            <a:ext cx="2267712" cy="19933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1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1" y="2212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Arial"/>
              </a:rPr>
              <a:t>DISPLACEMENT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1" y="254203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DeepGrid sits outside the chosen programme boundary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023360"/>
            <a:ext cx="11612880" cy="786384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206240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WHY THIS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123944"/>
            <a:ext cx="9555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The buyer can prefer Incumbent Tier-1 cohort when oem accountability · industrial scale matters more than standalone perception ownership.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956048"/>
            <a:ext cx="11612880" cy="43891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09320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FALSIFIER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5029200"/>
            <a:ext cx="10012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Cohort view masks company-specific India programme differences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504688"/>
            <a:ext cx="11612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660136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MANAGEMENT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Do not displace the stack; attach at perception, data or cost control points with explicit safety boundaries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PRODUCT &amp; CONTROL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Incumbent Tier-1 cohort packages five control points—but only some create a defensible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Follow the system from sensing to the buyer relationship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77</a:t>
            </a:r>
          </a:p>
        </p:txBody>
      </p:sp>
      <p:pic>
        <p:nvPicPr>
          <p:cNvPr id="9" name="Picture 8" descr="valeo-vss360.png"/>
          <p:cNvPicPr>
            <a:picLocks noChangeAspect="1"/>
          </p:cNvPicPr>
          <p:nvPr/>
        </p:nvPicPr>
        <p:blipFill>
          <a:blip r:embed="rId2"/>
          <a:srcRect l="26682" r="26682"/>
          <a:stretch>
            <a:fillRect/>
          </a:stretch>
        </p:blipFill>
        <p:spPr>
          <a:xfrm>
            <a:off x="256032" y="1481328"/>
            <a:ext cx="2788920" cy="39867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355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Multi-modal sensors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6519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A9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7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91A3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Central 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683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17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6C80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ADAS software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96A0A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Brake / chassis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4B3C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1847088"/>
            <a:ext cx="1389888" cy="1417320"/>
          </a:xfrm>
          <a:prstGeom prst="roundRect">
            <a:avLst/>
          </a:prstGeom>
          <a:solidFill>
            <a:srgbClr val="F1F7F9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19933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2441448"/>
            <a:ext cx="11155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1827"/>
                </a:solidFill>
                <a:latin typeface="Arial"/>
              </a:rPr>
              <a:t>Global OEM accountability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3552" y="3611880"/>
            <a:ext cx="8641080" cy="71323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7764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WHERE VALUE ACCRUES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712463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Sensors, compute, software, braking/chassis integration, validation and global supply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3552" y="4535424"/>
            <a:ext cx="864108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473659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DEEPGRID OPENING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663440"/>
            <a:ext cx="6839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1827"/>
                </a:solidFill>
                <a:latin typeface="Arial"/>
              </a:rPr>
              <a:t>Do not displace the stack; attach at perception, data or cost control points with explicit safety boundaries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5687568"/>
            <a:ext cx="11658600" cy="43891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824728"/>
            <a:ext cx="1143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SALES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5769864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Do not sell against the whole stack; isolate the control point that Incumbent Tier-1 cohort cannot defend economically or locally.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BUYER BATTLECARD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Incumbent Tier-1 cohort wins on complete safety case—and breaks at three proof or control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8B8C6"/>
                </a:solidFill>
                <a:latin typeface="Arial"/>
              </a:rPr>
              <a:t>Sales battlecard: concede what is true, then move the buying criterion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2A3A4B"/>
          </a:solidFill>
          <a:ln>
            <a:solidFill>
              <a:srgbClr val="2A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8EA0B2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8EA0B2"/>
                </a:solidFill>
                <a:latin typeface="Arial"/>
              </a:rPr>
              <a:t>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6835C"/>
                </a:solidFill>
                <a:latin typeface="Arial"/>
              </a:rPr>
              <a:t>CONCEDE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Complete safety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Industrial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Entrenched OEM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554480"/>
            <a:ext cx="5532120" cy="2907792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17739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6A0A"/>
                </a:solidFill>
                <a:latin typeface="Arial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21762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7" y="213969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Higher organisational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27980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7" y="2761488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Slower India-specific iteration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3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6A0A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7" y="3383280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Closed-stack incentives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" y="4553712"/>
            <a:ext cx="11338560" cy="502920"/>
          </a:xfrm>
          <a:prstGeom prst="roundRect">
            <a:avLst/>
          </a:prstGeom>
          <a:solidFill>
            <a:srgbClr val="10263A"/>
          </a:solidFill>
          <a:ln>
            <a:solidFill>
              <a:srgbClr val="2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70916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6A0A"/>
                </a:solidFill>
                <a:latin typeface="Arial"/>
              </a:rPr>
              <a:t>EVIDENCE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4663440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Cohort view masks company-specific India programme differences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5230368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44982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REFRAME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7904" y="535838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Do not displace the stack; attach at perception, data or cost control points with explicit safety boundaries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SALES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DeepGrid can change the Incumbent Tier-1 cohort conversation with three persona-specific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Lead with the buyer’s objective; end with a measurable proof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36192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36192"/>
            <a:ext cx="64008" cy="932688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73351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4B3C7"/>
                </a:solidFill>
                <a:latin typeface="Arial"/>
              </a:rPr>
              <a:t>BUSINESS / 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645919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OEM: sell the missing local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45919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Lifecycle cost + local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" y="2651760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" y="2651760"/>
            <a:ext cx="64008" cy="932688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788920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C96A0A"/>
                </a:solidFill>
                <a:latin typeface="Arial"/>
              </a:rPr>
              <a:t>CHIEF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761488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Tier-1: make integration bounded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6148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Same-ODD benchmark + integration effort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" y="3767328"/>
            <a:ext cx="11338560" cy="93268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" y="3767328"/>
            <a:ext cx="64008" cy="932688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04488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835C"/>
                </a:solidFill>
                <a:latin typeface="Arial"/>
              </a:rPr>
              <a:t>PROGRAMME /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387705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827"/>
                </a:solidFill>
                <a:latin typeface="Georgia"/>
              </a:rPr>
              <a:t>Board: fund attach proof, not displacement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0448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5707E"/>
                </a:solidFill>
                <a:latin typeface="Arial"/>
              </a:rPr>
              <a:t>PROOF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877056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01827"/>
                </a:solidFill>
                <a:latin typeface="Arial"/>
              </a:rPr>
              <a:t>Named responsibility matrix + release gate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" y="5010912"/>
            <a:ext cx="11338560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2120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4B3C7"/>
                </a:solidFill>
                <a:latin typeface="Arial"/>
              </a:rPr>
              <a:t>STOP / ESCALATE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1389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Escalate only when the buyer values DeepGrid’s bounded perception advantage and accepts the evidence plan.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5806440"/>
            <a:ext cx="11658600" cy="320040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897880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81525"/>
                </a:solidFill>
                <a:latin typeface="Arial"/>
              </a:rPr>
              <a:t>NEXT MEETING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4" y="5861304"/>
            <a:ext cx="9692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1525"/>
                </a:solidFill>
                <a:latin typeface="Arial"/>
              </a:rPr>
              <a:t>A named owner, a vehicle or programme, the comparison metric, data rights and a dated go / no-go gate.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USE-CASE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65760"/>
            <a:ext cx="11612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1827"/>
                </a:solidFill>
                <a:latin typeface="Georgia"/>
              </a:rPr>
              <a:t>Incumbent Tier-1 cohort is differentiated in three use cases—but each creates a specific DeepGrid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669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707E"/>
                </a:solidFill>
                <a:latin typeface="Arial"/>
              </a:rPr>
              <a:t>Close the competitor discussion with a use-case choice, not a generic threat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61872"/>
            <a:ext cx="11686032" cy="22860"/>
          </a:xfrm>
          <a:prstGeom prst="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528816"/>
            <a:ext cx="11686032" cy="9144"/>
          </a:xfrm>
          <a:prstGeom prst="rect">
            <a:avLst/>
          </a:prstGeom>
          <a:solidFill>
            <a:srgbClr val="D8E2E7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11112"/>
            <a:ext cx="8229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 i="0">
                <a:solidFill>
                  <a:srgbClr val="65707E"/>
                </a:solidFill>
                <a:latin typeface="Arial"/>
              </a:rPr>
              <a:t>DEEPGRID SEMI · INDIA ADAS COMPETITOR DOSSIER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6111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80" b="1" i="0">
                <a:solidFill>
                  <a:srgbClr val="65707E"/>
                </a:solidFill>
                <a:latin typeface="Arial"/>
              </a:rPr>
              <a:t>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572768"/>
            <a:ext cx="3584448" cy="73152"/>
          </a:xfrm>
          <a:prstGeom prst="rect">
            <a:avLst/>
          </a:prstGeom>
          <a:solidFill>
            <a:srgbClr val="04B3C7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4B3C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FULL CV 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End-to-end safety functions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4B3C7"/>
                </a:solidFill>
                <a:latin typeface="Arial"/>
              </a:rPr>
              <a:t>UNIQUE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Sensors, compute and actuation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9663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9663" y="1572768"/>
            <a:ext cx="3584448" cy="73152"/>
          </a:xfrm>
          <a:prstGeom prst="rect">
            <a:avLst/>
          </a:prstGeom>
          <a:solidFill>
            <a:srgbClr val="C96A0A"/>
          </a:solidFill>
          <a:ln>
            <a:solidFill>
              <a:srgbClr val="C9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96A0A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OEM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Global programme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6A0A"/>
                </a:solidFill>
                <a:latin typeface="Arial"/>
              </a:rPr>
              <a:t>UNIQUE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Validation and industrial supply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572768"/>
            <a:ext cx="3584448" cy="2852928"/>
          </a:xfrm>
          <a:prstGeom prst="roundRect">
            <a:avLst/>
          </a:prstGeom>
          <a:solidFill>
            <a:srgbClr val="F1F7F9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1572768"/>
            <a:ext cx="3584448" cy="73152"/>
          </a:xfrm>
          <a:prstGeom prst="rect">
            <a:avLst/>
          </a:prstGeom>
          <a:solidFill>
            <a:srgbClr val="16835C"/>
          </a:solidFill>
          <a:ln>
            <a:solidFill>
              <a:srgbClr val="168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810512"/>
            <a:ext cx="475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835C"/>
                </a:solidFill>
                <a:latin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5" y="1856231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Arial"/>
              </a:rPr>
              <a:t>LOCALIZED VSS360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774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5707E"/>
                </a:solidFill>
                <a:latin typeface="Arial"/>
              </a:rPr>
              <a:t>BUYER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1518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827"/>
                </a:solidFill>
                <a:latin typeface="Georgia"/>
              </a:rPr>
              <a:t>India CV safety suite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6835C"/>
                </a:solidFill>
                <a:latin typeface="Arial"/>
              </a:rPr>
              <a:t>UNIQUE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472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827"/>
                </a:solidFill>
                <a:latin typeface="Georgia"/>
              </a:rPr>
              <a:t>Valeo one-box camera and radar architecture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" y="4681728"/>
            <a:ext cx="11503152" cy="621792"/>
          </a:xfrm>
          <a:prstGeom prst="rect">
            <a:avLst/>
          </a:prstGeom>
          <a:solidFill>
            <a:srgbClr val="081525"/>
          </a:solidFill>
          <a:ln>
            <a:solidFill>
              <a:srgbClr val="081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82896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WHERE DEEPGRID FITS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782312"/>
            <a:ext cx="9372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Georgia"/>
              </a:rPr>
              <a:t>Do not displace the stack; attach at perception, data or cost control points with explicit safety boundaries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" y="5468112"/>
            <a:ext cx="1150315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4B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650992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4B3C7"/>
                </a:solidFill>
                <a:latin typeface="Arial"/>
              </a:rPr>
              <a:t>COMMERCIAL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568696"/>
            <a:ext cx="9528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1827"/>
                </a:solidFill>
                <a:latin typeface="Arial"/>
              </a:rPr>
              <a:t>Select one named oem accountability · industrial scale use case; agree the buyer metric, responsibility boundary and 90-day stop / scale gate.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