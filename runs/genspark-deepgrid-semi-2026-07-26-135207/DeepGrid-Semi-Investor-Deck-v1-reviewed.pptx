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10591535" cy="4095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E8EEF4"/>
                </a:solidFill>
                <a:latin typeface="Segoe UI"/>
              </a:rPr>
              <a:t>DeepGrid Semi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0191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Edge-AI Silicon for Autonomous &amp; 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8192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GTM Decision: Proceed with Conditions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The FPGA Paradox → Custom ASIC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Validation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39.3 TOPS INT8</a:t>
            </a:r>
            <a:r>
              <a:rPr sz="1200" b="0">
                <a:solidFill>
                  <a:srgbClr val="E8EEF4"/>
                </a:solidFill>
                <a:latin typeface="Segoe UI"/>
              </a:rPr>
              <a:t> architecture proven on FPGA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Dual-issue 600MHz, 64×512 MAC lattice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41452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FPGA boards: </a:t>
            </a:r>
            <a:r>
              <a:rPr sz="1200" b="1">
                <a:solidFill>
                  <a:srgbClr val="FF6363"/>
                </a:solidFill>
                <a:latin typeface="Segoe UI"/>
              </a:rPr>
              <a:t>~₹35,000/unit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61454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Uneconomic at volume; kills software stack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Solution: 28nm 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5268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Die cost $3.876</a:t>
            </a:r>
            <a:r>
              <a:rPr sz="1200" b="0">
                <a:solidFill>
                  <a:srgbClr val="E8EEF4"/>
                </a:solidFill>
                <a:latin typeface="Segoe UI"/>
              </a:rPr>
              <a:t> (&lt;$4) @ 1M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5270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Board BOM ~$30</a:t>
            </a:r>
            <a:r>
              <a:rPr sz="1200" b="0">
                <a:solidFill>
                  <a:srgbClr val="E8EEF4"/>
                </a:solidFill>
                <a:latin typeface="Segoe UI"/>
              </a:rPr>
              <a:t> | 96.7% yield predicted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The Merchant Silicon Squeeze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2A541"/>
                </a:solidFill>
                <a:latin typeface="Segoe UI"/>
              </a:rPr>
              <a:t>Pure-Play AI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2A541"/>
                </a:solidFill>
                <a:latin typeface="Segoe UI"/>
              </a:rPr>
              <a:t>ML stack vendors, zero silicon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The Squeeze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383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Merchant SoC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Economics 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9383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1384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3384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Sales limited to developed economies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5384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Emerging markets priced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DGrid Alpha: 3D Systolic Tensor 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Compute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39.3 TOPS INT8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64×512×600MHz dual-issue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Process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383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TSMC 28nm HPC+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383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~57.1mm² die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Cost @ 1M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29383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$3.876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1384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(Under $4, Muse validated)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3384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Board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5384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~$30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37384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Combo-die + minimal discrete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39384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Yield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1385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96.7%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43385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Murphy 0.1/cm²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45385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Batch Firmware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7385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200×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49385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vs naive 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Vertically Integrated: Six Chiplets, One Combo-Die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2A541"/>
                </a:solidFill>
                <a:latin typeface="Segoe UI"/>
              </a:rPr>
              <a:t>A100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ADAS/AI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382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39.3 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383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383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Radar DSP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383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77 GHz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29383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Thermal/LiDAR DSP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1384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3384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Secure Enclave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5384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Lockstep RISC-V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37384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39384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SDV Telematics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13850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AIS-140 compliant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433852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H100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45385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Health/Bio-ADC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7385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Drowsiness detect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Corrections from Earlier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Earlier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1117" y="1557298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Corrected Figure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1350" y="1557298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Source/Reason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776368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₹25 Cr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1117" y="1776368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₹55 Cr blended</a:t>
            </a:r>
            <a:r>
              <a:rPr sz="1200" b="0">
                <a:solidFill>
                  <a:srgbClr val="FF6363"/>
                </a:solidFill>
                <a:latin typeface="Segoe UI"/>
              </a:rPr>
              <a:t> (₹45 CCPS + ₹10 CGTMSE)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1350" y="1776368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Use of Funds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1995437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&lt;$3 die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1117" y="1995437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$3.876</a:t>
            </a:r>
            <a:r>
              <a:rPr sz="1200" b="0">
                <a:solidFill>
                  <a:srgbClr val="FF6363"/>
                </a:solidFill>
                <a:latin typeface="Segoe UI"/>
              </a:rPr>
              <a:t> @ 1M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1350" y="1995437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Muse/GSME quote,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214507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774× cost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1117" y="2214507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12.9×</a:t>
            </a:r>
            <a:r>
              <a:rPr sz="1200" b="0">
                <a:solidFill>
                  <a:srgbClr val="FF6363"/>
                </a:solidFill>
                <a:latin typeface="Segoe UI"/>
              </a:rPr>
              <a:t> vs Mobileye ASP $50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1350" y="2214507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Sourced comparison, unsourced figure retracted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433576"/>
            <a:ext cx="141293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~₹35,000 FPGA/unit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1117" y="2433576"/>
            <a:ext cx="29011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FPGA cost basis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350" y="2433576"/>
            <a:ext cx="324258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Cost delta = $3.876 die + $30 BOM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265264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GLOBAL RULE:</a:t>
            </a:r>
            <a:r>
              <a:rPr sz="1200" b="0">
                <a:solidFill>
                  <a:srgbClr val="E8EEF4"/>
                </a:solidFill>
                <a:latin typeface="Segoe UI"/>
              </a:rPr>
              <a:t> Every correction appears on-slide, never silent swaps. Do not repeat banned figures outside their correction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GTM Pipeline: 5-Stage Gate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Stage 0-1:</a:t>
            </a:r>
            <a:r>
              <a:rPr sz="1200" b="0">
                <a:solidFill>
                  <a:srgbClr val="E8EEF4"/>
                </a:solidFill>
                <a:latin typeface="Segoe UI"/>
              </a:rPr>
              <a:t> Source Intake (34 claims) → </a:t>
            </a:r>
            <a:r>
              <a:rPr sz="1200" b="1">
                <a:solidFill>
                  <a:srgbClr val="E8EEF4"/>
                </a:solidFill>
                <a:latin typeface="Segoe UI"/>
              </a:rPr>
              <a:t>Stage 2:</a:t>
            </a:r>
            <a:r>
              <a:rPr sz="1200" b="0">
                <a:solidFill>
                  <a:srgbClr val="E8EEF4"/>
                </a:solidFill>
                <a:latin typeface="Segoe UI"/>
              </a:rPr>
              <a:t> ICP Score (10-dim) → </a:t>
            </a:r>
            <a:r>
              <a:rPr sz="1200" b="1">
                <a:solidFill>
                  <a:srgbClr val="E8EEF4"/>
                </a:solidFill>
                <a:latin typeface="Segoe UI"/>
              </a:rPr>
              <a:t>Gate 1:</a:t>
            </a:r>
            <a:r>
              <a:rPr sz="1200" b="0">
                <a:solidFill>
                  <a:srgbClr val="E8EEF4"/>
                </a:solidFill>
                <a:latin typeface="Segoe UI"/>
              </a:rPr>
              <a:t>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382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Stage 3:</a:t>
            </a:r>
            <a:r>
              <a:rPr sz="1200" b="0">
                <a:solidFill>
                  <a:srgbClr val="E8EEF4"/>
                </a:solidFill>
                <a:latin typeface="Segoe UI"/>
              </a:rPr>
              <a:t> Validation (27 Qs) → </a:t>
            </a:r>
            <a:r>
              <a:rPr sz="1200" b="1">
                <a:solidFill>
                  <a:srgbClr val="E8EEF4"/>
                </a:solidFill>
                <a:latin typeface="Segoe UI"/>
              </a:rPr>
              <a:t>Stages 4-5:</a:t>
            </a:r>
            <a:r>
              <a:rPr sz="1200" b="0">
                <a:solidFill>
                  <a:srgbClr val="E8EEF4"/>
                </a:solidFill>
                <a:latin typeface="Segoe UI"/>
              </a:rPr>
              <a:t> GTM System (pricing, 13-wk)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Methodology: 10 Weighted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Core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73836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Added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Weighted ICP Scorecard (10 Segments, 5-Point Scale)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2021630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7522" y="2021630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9109" y="2021630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% Blended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9246" y="2021630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9246" y="2240700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AD4BF"/>
                </a:solidFill>
                <a:latin typeface="Segoe UI"/>
              </a:rPr>
              <a:t>PRIMARY ICP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29" y="2459769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3PL / Dedicated Fleet Retrofit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22" y="2459769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3.40 / 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9109" y="2459769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68.0%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9246" y="2459769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Secondary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678839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AD0 Owner-Operator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7522" y="2678839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2.62 / 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9109" y="2678839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52.4%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9246" y="2678839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Below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2897908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Automobile OEM / Tier-1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7522" y="2897908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2.32 / 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9109" y="2897908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46.4%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9246" y="2897908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Deferred (high friction)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3116978"/>
            <a:ext cx="265934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Commercial Motor Insurers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22" y="3116978"/>
            <a:ext cx="6725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2.15 / 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9109" y="3116978"/>
            <a:ext cx="76108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43.0%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9246" y="3116978"/>
            <a:ext cx="153601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ANTI-ICP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Option A: Tactical Defense &amp; Robotics (Primary, 79.2%)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Sovereign UGVs / border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Seaport AGVs, constrained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Winning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7885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Evidence Strength: </a:t>
            </a:r>
            <a:r>
              <a:rPr sz="1200" b="1">
                <a:solidFill>
                  <a:srgbClr val="E8EEF4"/>
                </a:solidFill>
                <a:latin typeface="Segoe UI"/>
              </a:rPr>
              <a:t>5/5</a:t>
            </a:r>
            <a:r>
              <a:rPr sz="1200" b="0">
                <a:solidFill>
                  <a:srgbClr val="E8EEF4"/>
                </a:solidFill>
                <a:latin typeface="Segoe UI"/>
              </a:rPr>
              <a:t> (Real ₹1 Cr revenue booked)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7887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Budget Authority: </a:t>
            </a:r>
            <a:r>
              <a:rPr sz="1200" b="1">
                <a:solidFill>
                  <a:srgbClr val="E8EEF4"/>
                </a:solidFill>
                <a:latin typeface="Segoe UI"/>
              </a:rPr>
              <a:t>5/5</a:t>
            </a:r>
            <a:r>
              <a:rPr sz="1200" b="0">
                <a:solidFill>
                  <a:srgbClr val="E8EEF4"/>
                </a:solidFill>
                <a:latin typeface="Segoe UI"/>
              </a:rPr>
              <a:t> (Cost-insensitive sovereign)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7889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Technical Fit: </a:t>
            </a:r>
            <a:r>
              <a:rPr sz="1200" b="1">
                <a:solidFill>
                  <a:srgbClr val="E8EEF4"/>
                </a:solidFill>
                <a:latin typeface="Segoe UI"/>
              </a:rPr>
              <a:t>5/5</a:t>
            </a:r>
            <a:r>
              <a:rPr sz="1200" b="0">
                <a:solidFill>
                  <a:srgbClr val="E8EEF4"/>
                </a:solidFill>
                <a:latin typeface="Segoe UI"/>
              </a:rPr>
              <a:t> (Ships today, FPGA-validated)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7891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Data Sovereignty: </a:t>
            </a:r>
            <a:r>
              <a:rPr sz="1200" b="1">
                <a:solidFill>
                  <a:srgbClr val="E8EEF4"/>
                </a:solidFill>
                <a:latin typeface="Segoe UI"/>
              </a:rPr>
              <a:t>D100 lockstep enclave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7893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Red Team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91705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CRITICAL OPEN:</a:t>
            </a:r>
            <a:r>
              <a:rPr sz="1200" b="0">
                <a:solidFill>
                  <a:srgbClr val="E8EEF4"/>
                </a:solidFill>
                <a:latin typeface="Segoe UI"/>
              </a:rPr>
              <a:t> Nature of ₹1 Cr revenue unconfirmed (commercial sale vs grant/subsidy?) — gates Defense resourcing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Option B: Non-Discretionary Aftermarket Fleet (Secondary, 68.0%)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466913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705032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/ Heavy trucks (N2/N3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905052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Highly cost-sensitive, retrofit aftermarket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3105072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Founder's Working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334319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is the long-term, 5M+ vehicle scale opportunity. But currently </a:t>
            </a:r>
            <a:r>
              <a:rPr sz="1200" b="1">
                <a:solidFill>
                  <a:srgbClr val="E8EEF4"/>
                </a:solidFill>
                <a:latin typeface="Segoe UI"/>
              </a:rPr>
              <a:t>ZERO signed customers</a:t>
            </a:r>
            <a:r>
              <a:rPr sz="1200" b="0">
                <a:solidFill>
                  <a:srgbClr val="E8EEF4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54321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Kill Criterion (Hard Gate)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98135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If this fails, Fleet stays secondary; escalate Defense resourcing.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418137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Pricing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441948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Retrofkit priced ₹2–2.5 Lakh (roadmap figure, not yet validated in market)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Option C: OEM Factory Line-Fit (Deferred, 46.4%)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Target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Automobile OEMs / Tier-1 suppliers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Factory line-fit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Why Deferred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897908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70" y="2897908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3116978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Certification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70" y="3116978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1/5 (worst)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3336047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Sales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70" y="3336047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1/5 (worst)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3555117"/>
            <a:ext cx="137469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Competitor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70" y="3555117"/>
            <a:ext cx="72611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3774186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Entry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Deferred &amp; Anti-ICP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OEM / Tier-1 (Deferred)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46.4%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High cert friction (1/5), long sales cycle (1/5). Real scale opportunity but wrong timing.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Signed partnership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Commercial Insurers (Anti-ICP)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61454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43.0% (Lowest score)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CARRYING UNVALIDATED CLAIM:</a:t>
            </a:r>
            <a:r>
              <a:rPr sz="1200" b="0">
                <a:solidFill>
                  <a:srgbClr val="FF6363"/>
                </a:solidFill>
                <a:latin typeface="Segoe UI"/>
              </a:rPr>
              <a:t> "Insurance premium reductions via loss history"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Zero insurer-revenue rows in financial model.</a:t>
            </a:r>
            <a:r>
              <a:rPr sz="1200" b="0">
                <a:solidFill>
                  <a:srgbClr val="FF6363"/>
                </a:solidFill>
                <a:latin typeface="Segoe UI"/>
              </a:rPr>
              <a:t> May be evidence partner or pilot, never primary customer until revenue is proven.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ICP Synthesis: Defense + Fleet Two-Track (Not a Pivot)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The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Defense wins on evidence, budget, fit.</a:t>
            </a:r>
            <a:r>
              <a:rPr sz="1200" b="0">
                <a:solidFill>
                  <a:srgbClr val="E8EEF4"/>
                </a:solidFill>
                <a:latin typeface="Segoe UI"/>
              </a:rPr>
              <a:t> But worst repeatability (2/5) — contracts are lumpy, don't scale to the 88%-systems-revenue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Fleet has the 5M+ market scale.</a:t>
            </a:r>
            <a:r>
              <a:rPr sz="1200" b="0">
                <a:solidFill>
                  <a:srgbClr val="E8EEF4"/>
                </a:solidFill>
                <a:latin typeface="Segoe UI"/>
              </a:rPr>
              <a:t> But zero signed customers — needs pilot validation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Resolution: Sequenced Two-Track (NOT a flat pivot)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87885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Months 0–6: Defense resourced primary</a:t>
            </a:r>
            <a:r>
              <a:rPr sz="1200" b="0">
                <a:solidFill>
                  <a:srgbClr val="E8EEF4"/>
                </a:solidFill>
                <a:latin typeface="Segoe UI"/>
              </a:rPr>
              <a:t> (fastest path to evidence, validates ₹1 Cr revenue nature, proves demand)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307887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Parallel: Fleet runs as secondary experiment</a:t>
            </a:r>
            <a:r>
              <a:rPr sz="1200" b="0">
                <a:solidFill>
                  <a:srgbClr val="E8EEF4"/>
                </a:solidFill>
                <a:latin typeface="Segoe UI"/>
              </a:rPr>
              <a:t> (discovery interviews, first pilot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327889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Day-90 checkpoint:</a:t>
            </a:r>
            <a:r>
              <a:rPr sz="1200" b="0">
                <a:solidFill>
                  <a:srgbClr val="E8EEF4"/>
                </a:solidFill>
                <a:latin typeface="Segoe UI"/>
              </a:rPr>
              <a:t> If Fleet pilot converts, escalate; if not, stay Defense-primary through Series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7891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Strongest Counter-Case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71703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Defense-first motion risks the narrative built on a 5M+ truck TAM — this ONLY holds as a sequenced two-track plan, never a flat pivot.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Buyer Committee Roles: Tactical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7578" y="1557298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Title /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7387" y="1557298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Primary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529" y="1557298"/>
            <a:ext cx="11786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Blocker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7578" y="1776368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Defense procurement / port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7387" y="1776368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Vendor lock-in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578" y="1995437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Systems integration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387" y="1995437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Undocumented failure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214507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D4BF"/>
                </a:solidFill>
                <a:latin typeface="Segoe UI"/>
              </a:rPr>
              <a:t>Champion</a:t>
            </a:r>
            <a:r>
              <a:rPr sz="1200" b="0">
                <a:solidFill>
                  <a:srgbClr val="2AD4BF"/>
                </a:solidFill>
                <a:latin typeface="Segoe UI"/>
              </a:rPr>
              <a:t> (TBD)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7578" y="2214507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Program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7387" y="2214507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Advocacy and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529" y="2214507"/>
            <a:ext cx="11786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Not yet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7578" y="2433576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Security / compliance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7387" y="2433576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Clearances,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529" y="2433576"/>
            <a:ext cx="11786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Mandatory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7578" y="2652646"/>
            <a:ext cx="253075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UGV / AGV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387" y="2652646"/>
            <a:ext cx="200109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Reliability in 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2871715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Minimum proof to advance:</a:t>
            </a:r>
            <a:r>
              <a:rPr sz="1200" b="0">
                <a:solidFill>
                  <a:srgbClr val="E8EEF4"/>
                </a:solidFill>
                <a:latin typeface="Segoe UI"/>
              </a:rPr>
              <a:t> Second signed contract OR audited confirmation of ₹1 Cr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Buyer Committee Roles: 3PL / Fleet Retrofit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7578" y="1557298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Title /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4099" y="1557298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Primary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3786" y="1557298"/>
            <a:ext cx="18772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Kill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7578" y="1776368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owner /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4099" y="1776368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Unproven ROI, payback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7578" y="1995437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maintenance / telematics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4099" y="1995437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Integration burden, downtime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214507"/>
            <a:ext cx="113939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AD4BF"/>
                </a:solidFill>
                <a:latin typeface="Segoe UI"/>
              </a:rPr>
              <a:t>Champion</a:t>
            </a:r>
            <a:r>
              <a:rPr sz="1200" b="0">
                <a:solidFill>
                  <a:srgbClr val="2AD4BF"/>
                </a:solidFill>
                <a:latin typeface="Segoe UI"/>
              </a:rPr>
              <a:t> (TBD)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7578" y="2214507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Safety / compliance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4099" y="2214507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Mandate readiness (AIS-184 etc.)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3786" y="2214507"/>
            <a:ext cx="18772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Mandated upgrade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7578" y="2433576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Procurement / vehicle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4099" y="2433576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Attached fleet vendor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3786" y="2433576"/>
            <a:ext cx="18772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Fleet lease restrictions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7578" y="2652646"/>
            <a:ext cx="268747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4099" y="2652646"/>
            <a:ext cx="221063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Cabin tech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2871715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Minimum proof to advance:</a:t>
            </a:r>
            <a:r>
              <a:rPr sz="1200" b="0">
                <a:solidFill>
                  <a:srgbClr val="E8EEF4"/>
                </a:solidFill>
                <a:latin typeface="Segoe UI"/>
              </a:rPr>
              <a:t> 1 signed paid pilot from first 20 discovery interviews (90-day kill gate)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Positioning: Two Independent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Defense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"Sovereign data-security edge-AI silicon via D100 lockstep enclave"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Emphasis: data sovereignty, security-cleared supply chain, no foreign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Kill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Second signed defense contract OR audited ₹1 Cr revenue confirmation within 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7644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Fleet 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"Disruptive retrofit price point (₹2–2.5 Lakh) pending market validation"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Emphasis: cost leadership, mandate readiness, insurance premium partner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1460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Kill 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41462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Paid pilot from first 20 interviews within 90 days, or deprioritize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Five Claims to Stop Using (Effective Immediately)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264341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1598" y="1557298"/>
            <a:ext cx="36984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Why Banned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9082" y="1557298"/>
            <a:ext cx="41734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Use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776368"/>
            <a:ext cx="264341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"84% ASIC-stage gross margin"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1598" y="1776368"/>
            <a:ext cx="36984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Unreconciled; implies 92–93% in text, inconsistency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9082" y="1776368"/>
            <a:ext cx="417348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FY32 gross margin: 88% (from P&amp;L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29" y="1995437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Any "insurance-premium-reduction %" (10%, 15%,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1598" y="1995437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Unvalidated; insurers carry zero revenue rows in model; partner-test-only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9082" y="1995437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"Insurer as evidence partner pending premium-data pilot results"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414527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"Mandate-ready for AD2"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98" y="2414527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Unvalidated against MoRTH actual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9082" y="2414527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"Roadmap targets AD2 (Oct 2027 AEBS+ESC, Jan 2028 all functions)"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833616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Any "accident-reduction %"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98" y="2833616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Nothing measured; no vehicle trials 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9082" y="2833616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"Theoretical ADAS performance per chiplet spec; real-world validation pending fleet pilot"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29" y="3252706"/>
            <a:ext cx="2643419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"5M+ truck TAM as pipeline"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1598" y="3252706"/>
            <a:ext cx="36984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Market forecast, not validated demand; treated as pipeline implies orders exist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9082" y="3252706"/>
            <a:ext cx="417348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"₹55 Cr raise funds 90-day Fleet discovery test (20 interviews, 1 pilot gate)"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Pricing Logic &amp; 90-Day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Pricing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AD2 retrofit: ₹2–2.5 Lakh</a:t>
            </a:r>
            <a:r>
              <a:rPr sz="1200" b="0">
                <a:solidFill>
                  <a:srgbClr val="E8EEF4"/>
                </a:solidFill>
                <a:latin typeface="Segoe UI"/>
              </a:rPr>
              <a:t> is a roadmap figure, not yet market-validated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97638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Output: data-collection plan (willingness-to-pay questions in 27-question discovery guide), not false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76408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Defense: contract-negotiated</a:t>
            </a:r>
            <a:r>
              <a:rPr sz="1200" b="0">
                <a:solidFill>
                  <a:srgbClr val="E8EEF4"/>
                </a:solidFill>
                <a:latin typeface="Segoe UI"/>
              </a:rPr>
              <a:t> pricing per sovereign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Channel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261454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Direct (Defense):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Recommended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281456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Direct (Fleet):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Recommended for pilot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24" y="301458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System integrators:</a:t>
            </a:r>
            <a:r>
              <a:rPr sz="1200" b="0">
                <a:solidFill>
                  <a:srgbClr val="E8EEF4"/>
                </a:solidFill>
                <a:latin typeface="Segoe UI"/>
              </a:rPr>
              <a:t> Not yet (no partner identified)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321460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Defense primes:</a:t>
            </a:r>
            <a:r>
              <a:rPr sz="1200" b="0">
                <a:solidFill>
                  <a:srgbClr val="E8EEF4"/>
                </a:solidFill>
                <a:latin typeface="Segoe UI"/>
              </a:rPr>
              <a:t> Only after 2+ Defense contracts 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41462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90-Day Execution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65274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Weeks 1–4: Evidence Gathering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Revenue audit (₹1 Cr nature confirmed), 10 buyer interviews, 3 named accounts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05278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Weeks 5–9: Conversion Attempts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First Fleet pilot sold, Defense technical evaluation advances, second contract pipeline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45282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Weeks 10–13: Governance &amp; Re-Scoring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 Day-90 checkpoint, hard gate decision (Fleet continues vs deprioritized), Series A narrative lock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Competitive Strategic Playbooks (Global ADAS Tier)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Aurora (USA)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Heavy-haul long-distance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Dual NVIDIA DRIVE Thor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BOM:</a:t>
            </a:r>
            <a:r>
              <a:rPr sz="1200" b="0">
                <a:solidFill>
                  <a:srgbClr val="E8EEF4"/>
                </a:solidFill>
                <a:latin typeface="Segoe UI"/>
              </a:rPr>
              <a:t> $6,000+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OEM Partner:</a:t>
            </a:r>
            <a:r>
              <a:rPr sz="1200" b="0">
                <a:solidFill>
                  <a:srgbClr val="E8EEF4"/>
                </a:solidFill>
                <a:latin typeface="Segoe UI"/>
              </a:rPr>
              <a:t> Continental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Kodiak Robotics (USA/DoD)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Dual-use (freight + defense)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Ambarella CV3-AD685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Route: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Highway freight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Gatik (USA)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027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Constrained middle-mile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028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NVIDIA DRIVE AGX Orin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4028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Fleet Partner:</a:t>
            </a:r>
            <a:r>
              <a:rPr sz="1200" b="0">
                <a:solidFill>
                  <a:srgbClr val="E8EEF4"/>
                </a:solidFill>
                <a:latin typeface="Segoe UI"/>
              </a:rPr>
              <a:t> Walmart, Kroger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6028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DeepWay (China)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79" y="48028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Wedge: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Domestic fleet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50028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Baidu Apollo + Xingtu NPU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52029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EV Platform:</a:t>
            </a:r>
            <a:r>
              <a:rPr sz="1200" b="0">
                <a:solidFill>
                  <a:srgbClr val="E8EEF4"/>
                </a:solidFill>
                <a:latin typeface="Segoe UI"/>
              </a:rPr>
              <a:t> Electric truck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54029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Lesson: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Every credible player picks ONE lane. None run all three at DeepGrid's ~$30 BOM.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Silicon Dependency &amp; Economics Across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1557298"/>
            <a:ext cx="107183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0012" y="1557298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Silicon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5527" y="1557298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Compute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7584" y="1557298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BOM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8498" y="1557298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Integration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0012" y="1776368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NVIDIA (USA)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5527" y="1776368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2× DRIVE 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584" y="1776368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$6,000+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8498" y="1776368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High (vendor lock-in)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0012" y="1995437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Ambarella (USA)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527" y="1995437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CV3-AD685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584" y="1995437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$4,500–5,500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8498" y="1995437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(limited upgrade)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0012" y="2214507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NVIDIA (USA)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5527" y="2214507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DRIVE AGX Orin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584" y="2214507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$3,500–4,500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8498" y="2214507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(margin squeeze)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0012" y="2433576"/>
            <a:ext cx="21564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In-house (China) + Baidu Apollo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5527" y="2433576"/>
            <a:ext cx="1803007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Xingtu NPU family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584" y="2433576"/>
            <a:ext cx="168186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$2,000–3,000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8498" y="2433576"/>
            <a:ext cx="2257368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Low (domestic stack)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India's Semiconductor Wave: Young but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Netrasemi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Product:</a:t>
            </a:r>
            <a:r>
              <a:rPr sz="1200" b="0">
                <a:solidFill>
                  <a:srgbClr val="E8EEF4"/>
                </a:solidFill>
                <a:latin typeface="Segoe UI"/>
              </a:rPr>
              <a:t> A2000 SoC (TSMC 12nm)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Raised:</a:t>
            </a:r>
            <a:r>
              <a:rPr sz="1200" b="0">
                <a:solidFill>
                  <a:srgbClr val="E8EEF4"/>
                </a:solidFill>
                <a:latin typeface="Segoe UI"/>
              </a:rPr>
              <a:t> ₹125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Timeline:</a:t>
            </a:r>
            <a:r>
              <a:rPr sz="1200" b="0">
                <a:solidFill>
                  <a:srgbClr val="E8EEF4"/>
                </a:solidFill>
                <a:latin typeface="Segoe UI"/>
              </a:rPr>
              <a:t> Mid-2027 launch (1 year behind DeepGrid)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Mindgrove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Product:</a:t>
            </a:r>
            <a:r>
              <a:rPr sz="1200" b="0">
                <a:solidFill>
                  <a:srgbClr val="E8EEF4"/>
                </a:solidFill>
                <a:latin typeface="Segoe UI"/>
              </a:rPr>
              <a:t> RISC-V MCU (TSMC 28nm)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Partner:</a:t>
            </a:r>
            <a:r>
              <a:rPr sz="1200" b="0">
                <a:solidFill>
                  <a:srgbClr val="E8EEF4"/>
                </a:solidFill>
                <a:latin typeface="Segoe UI"/>
              </a:rPr>
              <a:t> Bosch MoU 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Raised:</a:t>
            </a:r>
            <a:r>
              <a:rPr sz="1200" b="0">
                <a:solidFill>
                  <a:srgbClr val="E8EEF4"/>
                </a:solidFill>
                <a:latin typeface="Segoe UI"/>
              </a:rPr>
              <a:t> $10.3M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Agnit Semiconductors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Product:</a:t>
            </a:r>
            <a:r>
              <a:rPr sz="1200" b="0">
                <a:solidFill>
                  <a:srgbClr val="E8EEF4"/>
                </a:solidFill>
                <a:latin typeface="Segoe UI"/>
              </a:rPr>
              <a:t> GaN devices for RF/power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027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Focus:</a:t>
            </a:r>
            <a:r>
              <a:rPr sz="1200" b="0">
                <a:solidFill>
                  <a:srgbClr val="E8EEF4"/>
                </a:solidFill>
                <a:latin typeface="Segoe UI"/>
              </a:rPr>
              <a:t> Defense radar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028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Raised:</a:t>
            </a:r>
            <a:r>
              <a:rPr sz="1200" b="0">
                <a:solidFill>
                  <a:srgbClr val="E8EEF4"/>
                </a:solidFill>
                <a:latin typeface="Segoe UI"/>
              </a:rPr>
              <a:t> $7.47M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402821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India's advantage: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Real wave, but nascent. DeepGrid's already-revenue-generating position places it ~1 year ahead of the next credible domestic ASIC competitor.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Software-First Autonomy: Hardware-Agnostic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Minus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Pure-play ADAS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Inherits merchant-silicon BOM cost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Swaayatt Robots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Constrained-route autonomy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Algorithm quality ≠ cost advantage (uses standard SoCs)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RoshAI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Fleet autonomy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Hardware-agnostic: no chip economics 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Key insight:</a:t>
            </a:r>
            <a:r>
              <a:rPr sz="1200" b="0">
                <a:solidFill>
                  <a:srgbClr val="E8EEF4"/>
                </a:solidFill>
                <a:latin typeface="Segoe UI"/>
              </a:rPr>
              <a:t> Without vertically integrated silicon, software-only players cannot escape the $6,000+ BOM trap, no matter how good their algorithm.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DeepGrid's Unique Position: Only Vertically Integrated ASIC Combo-Die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466913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Silicon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705032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Only Indian startup with a single-die, vertically integrated ADAS combo-die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905052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vs Aurora/Kodiak/Gatik (merchant silicon dependency)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3105072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vs DeepWay (China-domestic, no export positioning)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3305092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Cost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54321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~$30 die + board BOM vs $3,500–6,000+ tier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743231"/>
            <a:ext cx="10591535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12.9× cost advantage vs Mobileye ASP $50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4343291"/>
            <a:ext cx="10591535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3–7× vs company-stated imported ADAS retrofit bands (₹5–18L)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494335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Market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518147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First-mover in India + GCC for retrofittable, mandate-ready 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538149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Competitor launches 12–24 months behind (Netrasemi mid-2027)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Phase 1 (Months 0–6): Tactical Defense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177636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Direct FPGA field deployments (proof-of-concept with sovereign buyers)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197638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Tactical defense positioning (data sovereignty via D100 enclave)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17640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Revenue model validation (confirm ₹1 Cr revenue nature: commercial vs grant)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2A541"/>
                </a:solidFill>
                <a:latin typeface="Segoe UI"/>
              </a:rPr>
              <a:t>Metrics /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61454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Gate 1: ₹1 Cr revenue audited (confirm nature)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Gate 2: Second signed contract or contract 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Gate 3: First Fleet pilot in pipeline (secondary experiment)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1460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Open question: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452726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₹1 Cr already generated — commercial sale or grant/subsidy? Critical for Defense scoring.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Phase 2 (Months 6–18): Regulatory Aftermarket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2407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6:</a:t>
            </a:r>
            <a:r>
              <a:rPr sz="1200" b="0">
                <a:solidFill>
                  <a:srgbClr val="E8EEF4"/>
                </a:solidFill>
                <a:latin typeface="Segoe UI"/>
              </a:rPr>
              <a:t> Series A raise close (₹55 Cr blended)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8:</a:t>
            </a:r>
            <a:r>
              <a:rPr sz="1200" b="0">
                <a:solidFill>
                  <a:srgbClr val="E8EEF4"/>
                </a:solidFill>
                <a:latin typeface="Segoe UI"/>
              </a:rPr>
              <a:t> MeitY Design Linked Incentive application submitted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64074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9:</a:t>
            </a:r>
            <a:r>
              <a:rPr sz="1200" b="0">
                <a:solidFill>
                  <a:srgbClr val="E8EEF4"/>
                </a:solidFill>
                <a:latin typeface="Segoe UI"/>
              </a:rPr>
              <a:t> TSMC 28nm HPC+ MPW tape-out (A100+R100 dual validate)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84076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14:</a:t>
            </a:r>
            <a:r>
              <a:rPr sz="1200" b="0">
                <a:solidFill>
                  <a:srgbClr val="E8EEF4"/>
                </a:solidFill>
                <a:latin typeface="Segoe UI"/>
              </a:rPr>
              <a:t> Full-die MPW results, design-for-manufacture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304078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Month 16–18:</a:t>
            </a:r>
            <a:r>
              <a:rPr sz="1200" b="0">
                <a:solidFill>
                  <a:srgbClr val="E8EEF4"/>
                </a:solidFill>
                <a:latin typeface="Segoe UI"/>
              </a:rPr>
              <a:t> Retrofit kit launch (₹2–2.5 Lakh, market-validated pricing)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4080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Parallel: Fleet Pilot Conversion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7891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First 20 buyer interviews; kill gate = 1 paid pilot within 90 days (by ~Month 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Phase 3 (Months 18–36): OEM &amp; Tier-1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Strategic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177636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Tier-1 partnerships signed (Uno Minda, Spark Minda, Bosch India preferred)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197638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Sovereign OEM line-fit wins (Mahindra EV, Ashok Leyland new platform)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17640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Production ramp to 1M+ units annually (TSMC 28nm full fab allocation)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37642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Shift to recurring SaaS revenue (sovereign data moat, ₹10K–25K/vehicle/year tiers)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7644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81456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By end of Phase 3: FY32 revenue ₹1,387.95 Cr achieved, EBITDA ₹536.63 Cr (39%), net income positive sustained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Regulatory Mandate: India Automotive (Corrected Timeline)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2021630"/>
            <a:ext cx="1392996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1175" y="2021630"/>
            <a:ext cx="3758262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8487" y="2021630"/>
            <a:ext cx="241601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Chiplet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3552" y="2021630"/>
            <a:ext cx="109638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Operative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8991" y="2021630"/>
            <a:ext cx="1813574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29" y="2240700"/>
            <a:ext cx="139299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75" y="2240700"/>
            <a:ext cx="375826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AEBS (Autonomous Emergency Braking)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8487" y="2240700"/>
            <a:ext cx="241601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(primary) + R100 (radar)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8991" y="2240700"/>
            <a:ext cx="18135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Compulsory M2/M3/N2/N3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" y="2659789"/>
            <a:ext cx="139299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75" y="2659789"/>
            <a:ext cx="375826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ESC (Electronic Stability Control)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8487" y="2659789"/>
            <a:ext cx="241601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+ D100 (lockstep) + H100 (sensors)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8991" y="2659789"/>
            <a:ext cx="18135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Compulsory M2/M3/N2/N3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3078879"/>
            <a:ext cx="139299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AIS-187, 188, 189, 190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75" y="3078879"/>
            <a:ext cx="3758262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Lane Keeping, Curve Speed, Fatigue Detection, AIS-140 Telematics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8487" y="3078879"/>
            <a:ext cx="241601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+ S100 (telematics)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8991" y="3078879"/>
            <a:ext cx="18135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Phased M3/N3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" y="3497968"/>
            <a:ext cx="10553436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 </a:t>
            </a:r>
            <a:r>
              <a:rPr sz="1200" b="1">
                <a:solidFill>
                  <a:srgbClr val="FF6363"/>
                </a:solidFill>
                <a:latin typeface="Segoe UI"/>
              </a:rPr>
              <a:t>CORRECTION:</a:t>
            </a:r>
            <a:r>
              <a:rPr sz="1200" b="0">
                <a:solidFill>
                  <a:srgbClr val="FF6363"/>
                </a:solidFill>
                <a:latin typeface="Segoe UI"/>
              </a:rPr>
              <a:t> Earlier materials cited 2026 dates (incorrect draft MoRTH). </a:t>
            </a:r>
            <a:r>
              <a:rPr sz="1200" b="1">
                <a:solidFill>
                  <a:srgbClr val="FF6363"/>
                </a:solidFill>
                <a:latin typeface="Segoe UI"/>
              </a:rPr>
              <a:t>Verified operative dates: Oct 2027 (AEBS+ESC) and Jan 2028 (all functions).</a:t>
            </a:r>
            <a:r>
              <a:rPr sz="1200" b="0">
                <a:solidFill>
                  <a:srgbClr val="FF6363"/>
                </a:solidFill>
                <a:latin typeface="Segoe UI"/>
              </a:rPr>
              <a:t> Confirm against final MoRTH Gazette before 2027 execution.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Regulatory Mandate: GCC (Saudi Arabia, UAE)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Saudi Arabia (TGA / WASL)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177636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ADAS Mandate: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TGA 2027+ (enterprise delivery vehicles mandatory)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197638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Telematics:</a:t>
            </a:r>
            <a:r>
              <a:rPr sz="1200" b="0">
                <a:solidFill>
                  <a:srgbClr val="E8EEF4"/>
                </a:solidFill>
                <a:latin typeface="Segoe UI"/>
              </a:rPr>
              <a:t> WASL fleet tracking compulsory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176408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DeepGrid Advantage:</a:t>
            </a:r>
            <a:r>
              <a:rPr sz="1200" b="0">
                <a:solidFill>
                  <a:srgbClr val="E8EEF4"/>
                </a:solidFill>
                <a:latin typeface="Segoe UI"/>
              </a:rPr>
              <a:t> S100 (AIS-140 compliant telematics) eliminates need for secondary tracker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37642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UAE (FMSA / DTA)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261454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ADAS Roadmap:</a:t>
            </a:r>
            <a:r>
              <a:rPr sz="1200" b="0">
                <a:solidFill>
                  <a:srgbClr val="E8EEF4"/>
                </a:solidFill>
                <a:latin typeface="Segoe UI"/>
              </a:rPr>
              <a:t> 2028+ for commercial fleets (tighter than India timelines)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2814567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Insurance Premium Link:</a:t>
            </a:r>
            <a:r>
              <a:rPr sz="1200" b="0">
                <a:solidFill>
                  <a:srgbClr val="E8EEF4"/>
                </a:solidFill>
                <a:latin typeface="Segoe UI"/>
              </a:rPr>
              <a:t> Potential future integration (zero current evidence)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01458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GCC market entry deferred to Phase 3; beachhead remains India + domestic fleet.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Hardware Unit Economics: Die to Retrofit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ASIC Die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$3.876</a:t>
            </a:r>
            <a:r>
              <a:rPr sz="1200" b="0">
                <a:solidFill>
                  <a:srgbClr val="E8EEF4"/>
                </a:solidFill>
                <a:latin typeface="Segoe UI"/>
              </a:rPr>
              <a:t> @ 1M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TSMC 28nm HPC+, Muse quote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CORRECTION:</a:t>
            </a:r>
            <a:r>
              <a:rPr sz="1200" b="0">
                <a:solidFill>
                  <a:srgbClr val="FF6363"/>
                </a:solidFill>
                <a:latin typeface="Segoe UI"/>
              </a:rPr>
              <a:t> Earlier claim "&lt;$3" retracted. Verified figure: $3.876 (under $4)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Board &amp; Integration BOM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~$30</a:t>
            </a:r>
            <a:r>
              <a:rPr sz="1200" b="0">
                <a:solidFill>
                  <a:srgbClr val="E8EEF4"/>
                </a:solidFill>
                <a:latin typeface="Segoe UI"/>
              </a:rPr>
              <a:t>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Power delivery, DDR4, RF shielding, connectors, thermal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Retrofit Kit (Landed)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~₹2–2.5 Lakh</a:t>
            </a:r>
            <a:r>
              <a:rPr sz="1200" b="0">
                <a:solidFill>
                  <a:srgbClr val="E8EEF4"/>
                </a:solidFill>
                <a:latin typeface="Segoe UI"/>
              </a:rPr>
              <a:t> (roadmap target, not yet validated)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ASIC $30 + Radar $100 + Cameras $50 + Enclosure/labor $20 = ~$200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40027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Installed: ₹2–2.5L ÷ $30 BOM = 266–333× markup for integration/IP/support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42028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Cost Advantage vs Mobileye ASP $50:</a:t>
            </a:r>
            <a:r>
              <a:rPr sz="1200" b="0">
                <a:solidFill>
                  <a:srgbClr val="E8EEF4"/>
                </a:solidFill>
                <a:latin typeface="Segoe UI"/>
              </a:rPr>
              <a:t> </a:t>
            </a:r>
            <a:r>
              <a:rPr sz="1200" b="1">
                <a:solidFill>
                  <a:srgbClr val="E8EEF4"/>
                </a:solidFill>
                <a:latin typeface="Segoe UI"/>
              </a:rPr>
              <a:t>12.9×</a:t>
            </a:r>
            <a:r>
              <a:rPr sz="1200" b="0">
                <a:solidFill>
                  <a:srgbClr val="E8EEF4"/>
                </a:solidFill>
                <a:latin typeface="Segoe UI"/>
              </a:rPr>
              <a:t> (die level) | 3–7× (retrofit kit vs ₹5–18L import bands)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Tapeout NRE &amp; Break-Even: Full Phasing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NRE Phasing (Total $3.17M)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29" y="1795417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3120" y="1795417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175" y="1795417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014487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A100 MPW +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3120" y="2014487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$69K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175" y="2014487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At-risk: compute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" y="2233556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R100 MPW +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3120" y="2233556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$69K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175" y="2233556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At-risk: routing &amp;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" y="2452626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Full-Die MPW +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3120" y="2452626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$232K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175" y="2452626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At-risk: yield &amp; power (370K = 11.7% of total)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" y="2671695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Backend → GDSII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120" y="2671695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$1.0M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175" y="2671695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Post-MPW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29" y="2890765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Mask &amp; Reticle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3120" y="2890765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$1.0M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175" y="2890765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Production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" y="3109834"/>
            <a:ext cx="268494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IP Licensing (PrimeSoC + Terminus PHY)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3120" y="3109834"/>
            <a:ext cx="41700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$800K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175" y="3109834"/>
            <a:ext cx="3048221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Full-die validated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79" y="3328904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Break-even:</a:t>
            </a:r>
            <a:r>
              <a:rPr sz="1200" b="0">
                <a:solidFill>
                  <a:srgbClr val="E8EEF4"/>
                </a:solidFill>
                <a:latin typeface="Segoe UI"/>
              </a:rPr>
              <a:t> ~174,908 chips @ $18.12 margin = crossing in FY2032 (per reviewed analysis)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79" y="3528924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MARQUEE CORRECTION:</a:t>
            </a:r>
            <a:r>
              <a:rPr sz="1200" b="0">
                <a:solidFill>
                  <a:srgbClr val="FF6363"/>
                </a:solidFill>
                <a:latin typeface="Segoe UI"/>
              </a:rPr>
              <a:t> Earlier "$8M NRE, 3,636-unit break-even" figure RETRACTED entirely. Do not repeat.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6-Year Revenue Ramp (Management Projection, Unaudited)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340272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Gross Margin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384086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Driven by TSMC 28nm volume ramps and manufacturing automation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Profitability Path: FY2029 Breakeven, FY32 EBITDA 39%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FY32 EBITDA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026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₹536.63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4026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39% of revenue (≈ gross margin 88% − opex)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6026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FY32 Net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026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₹381.37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00268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27.5% of revenue (after D&amp;A, tax)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0270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363"/>
                </a:solidFill>
                <a:latin typeface="Segoe UI"/>
              </a:rPr>
              <a:t>Profitable from FY2029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0272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Year 3 of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60274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6363"/>
                </a:solidFill>
                <a:latin typeface="Segoe UI"/>
              </a:rPr>
              <a:t>Post-Series A, pre-Series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802761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Label:</a:t>
            </a:r>
            <a:r>
              <a:rPr sz="1200" b="0">
                <a:solidFill>
                  <a:srgbClr val="E8EEF4"/>
                </a:solidFill>
                <a:latin typeface="Segoe UI"/>
              </a:rPr>
              <a:t> All projections are management estimates, unaudited. Actual results subject to regulatory, competitive, and capital-availability risks.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SaaS Monetization: Sovereign Data Moat &amp; Recurring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29" y="2021630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828" y="2021630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Annual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1161" y="2021630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2151" y="2021630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Market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29" y="2240700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2828" y="2240700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₹10,000/year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1161" y="2240700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Telemetry + basic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2151" y="2240700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Individual owner-operators, small fleets (&lt;20)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2459769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Advanced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2828" y="2459769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₹15,000/year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1161" y="2459769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Telematics + compliance reporting (AIS-140) + insurance integration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2151" y="2459769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Medium fleets (20–100 vehicles)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678839"/>
            <a:ext cx="664649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2828" y="2678839"/>
            <a:ext cx="869283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₹25,000/year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1161" y="2678839"/>
            <a:ext cx="512194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Custom dashboards + fleet analytics + OTA chip updates + data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2151" y="2678839"/>
            <a:ext cx="304896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Large fleets (100+ vehicles) + OEMs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2897908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Sovereign data moat:</a:t>
            </a:r>
            <a:r>
              <a:rPr sz="1200" b="0">
                <a:solidFill>
                  <a:srgbClr val="E8EEF4"/>
                </a:solidFill>
                <a:latin typeface="Segoe UI"/>
              </a:rPr>
              <a:t> All telematics &amp; behavioral data remain on-device / in-India (D100 enclave), never exported. Enables premium pricing &amp; regulatory advantage.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Capital Efficiency: Subsidies, Debt, &amp;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₹55 Cr Blended Raise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6407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Expected Subsidies (if applied)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87885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P-DLI:</a:t>
            </a:r>
            <a:r>
              <a:rPr sz="1200" b="0">
                <a:solidFill>
                  <a:srgbClr val="E8EEF4"/>
                </a:solidFill>
                <a:latin typeface="Segoe UI"/>
              </a:rPr>
              <a:t> Up to 50% design cost reimbursement, capped ₹15 Cr (covers NRE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307887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Deployment-Linked Incentive:</a:t>
            </a:r>
            <a:r>
              <a:rPr sz="1200" b="0">
                <a:solidFill>
                  <a:srgbClr val="E8EEF4"/>
                </a:solidFill>
                <a:latin typeface="Segoe UI"/>
              </a:rPr>
              <a:t> 4–6% of net sales capped ₹30 Cr (phase 2–3)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327889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ChipIN Centre EDA support:</a:t>
            </a:r>
            <a:r>
              <a:rPr sz="1200" b="0">
                <a:solidFill>
                  <a:srgbClr val="E8EEF4"/>
                </a:solidFill>
                <a:latin typeface="Segoe UI"/>
              </a:rPr>
              <a:t> Tool licensing &amp; academic access (minimal direct $ impact)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347891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Planning assumption: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Subsidies are upside; raise is sized standalone at ₹55 Cr blended.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Red Team Findings &amp; Critical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538249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Gap #1: Indian Defense Primes Absent from Competitive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1776368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A startup vs an established security-cleared incumbent is a different competitive problem than vs Netrasemi/Minus Zero. </a:t>
            </a:r>
            <a:r>
              <a:rPr sz="1200" b="1">
                <a:solidFill>
                  <a:srgbClr val="E8EEF4"/>
                </a:solidFill>
                <a:latin typeface="Segoe UI"/>
              </a:rPr>
              <a:t>Action: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Add HAL, Bharat Electronics, Godrej Defence to competitor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2176408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Gap #2: ₹1 Cr Revenue Nature Unconfirmed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414527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If revenue is grant/subsidy, not commercial sale, re-score Defense ICP as evidence-equal with Fleet. </a:t>
            </a:r>
            <a:r>
              <a:rPr sz="1200" b="1">
                <a:solidFill>
                  <a:srgbClr val="E8EEF4"/>
                </a:solidFill>
                <a:latin typeface="Segoe UI"/>
              </a:rPr>
              <a:t>Kill gate:</a:t>
            </a:r>
            <a:r>
              <a:rPr sz="1200" b="0">
                <a:solidFill>
                  <a:srgbClr val="E8EEF4"/>
                </a:solidFill>
                <a:latin typeface="Segoe UI"/>
              </a:rPr>
              <a:t> Confirm within 1 week of Series A close.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614547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Circular Evidence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852666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ICP scorecard methodology assumes independence; but Defense evidence (₹1 Cr) is the same revenue that justifies Defense weighting. If revenue is unconfirmed, scoring is circular.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252706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363"/>
                </a:solidFill>
                <a:latin typeface="Segoe UI"/>
              </a:rPr>
              <a:t>Working Capital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490825"/>
            <a:ext cx="10591535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₹2.48 Cr raised to date vs ₹55 Cr ask. Government payment cycles 90–180+ days. Working capital burn: ~₹15 Cr across FY27–28. Cash flow positive not until FY2029.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609584"/>
            <a:ext cx="5040236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8EEF4"/>
                </a:solidFill>
                <a:latin typeface="Segoe UI"/>
              </a:rPr>
              <a:t>GTM Decision: Proceed With Conditions (NOT Unconditional)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02581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EF4"/>
                </a:solidFill>
                <a:latin typeface="Segoe UI"/>
              </a:rPr>
              <a:t>Decision Status: </a:t>
            </a:r>
            <a:r>
              <a:rPr sz="1400" b="1">
                <a:solidFill>
                  <a:srgbClr val="E8EEF4"/>
                </a:solidFill>
                <a:latin typeface="Segoe UI"/>
              </a:rPr>
              <a:t>PROCEED WITH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40700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Five Conditions in Priority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24" y="24407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Confirm ₹1 Cr revenue nature within 1 week.</a:t>
            </a:r>
            <a:r>
              <a:rPr sz="1200" b="0">
                <a:solidFill>
                  <a:srgbClr val="E8EEF4"/>
                </a:solidFill>
                <a:latin typeface="Segoe UI"/>
              </a:rPr>
              <a:t> Commercial sale or grant? Gates Defense resourcing.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24" y="264074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Add Indian defense primes to competitive benchmark.</a:t>
            </a:r>
            <a:r>
              <a:rPr sz="1200" b="0">
                <a:solidFill>
                  <a:srgbClr val="E8EEF4"/>
                </a:solidFill>
                <a:latin typeface="Segoe UI"/>
              </a:rPr>
              <a:t> HAL, BEL, Godrej Defence assessment by day-30 Series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24" y="2840760"/>
            <a:ext cx="10381990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Model working-capital exposure to government payment-cycle delay.</a:t>
            </a:r>
            <a:r>
              <a:rPr sz="1200" b="0">
                <a:solidFill>
                  <a:srgbClr val="E8EEF4"/>
                </a:solidFill>
                <a:latin typeface="Segoe UI"/>
              </a:rPr>
              <a:t> Cash flow forecast to profitability (FY2029) under 90–180-day payment assumption.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24" y="324080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Keep all external documents in sequenced-plan framing, never flat-pivot narrative.</a:t>
            </a:r>
            <a:r>
              <a:rPr sz="1200" b="0">
                <a:solidFill>
                  <a:srgbClr val="E8EEF4"/>
                </a:solidFill>
                <a:latin typeface="Segoe UI"/>
              </a:rPr>
              <a:t> Communicate Defense-first Phase 1 as tactic, not strategy pivot.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24" y="3440820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Day-90 checkpoint as hard re-scoring gate.</a:t>
            </a:r>
            <a:r>
              <a:rPr sz="1200" b="0">
                <a:solidFill>
                  <a:srgbClr val="E8EEF4"/>
                </a:solidFill>
                <a:latin typeface="Segoe UI"/>
              </a:rPr>
              <a:t> If Fleet pilot does not convert by day 90, formally demote; update Series A narrative at that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640840"/>
            <a:ext cx="10591535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AD4BF"/>
                </a:solidFill>
                <a:latin typeface="Segoe UI"/>
              </a:rPr>
              <a:t>Four Pillars of This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387895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Eliminating the hardware squeeze zone:</a:t>
            </a:r>
            <a:r>
              <a:rPr sz="1200" b="0">
                <a:solidFill>
                  <a:srgbClr val="E8EEF4"/>
                </a:solidFill>
                <a:latin typeface="Segoe UI"/>
              </a:rPr>
              <a:t> $30 die + board BOM vs $6,000+ incumbent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24" y="407897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De-risked technical validation:</a:t>
            </a:r>
            <a:r>
              <a:rPr sz="1200" b="0">
                <a:solidFill>
                  <a:srgbClr val="E8EEF4"/>
                </a:solidFill>
                <a:latin typeface="Segoe UI"/>
              </a:rPr>
              <a:t> FPGA-proven 39.3 TOPS, one open risk (MPW yield)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24" y="427899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Non-discretionary mandate capture:</a:t>
            </a:r>
            <a:r>
              <a:rPr sz="1200" b="0">
                <a:solidFill>
                  <a:srgbClr val="E8EEF4"/>
                </a:solidFill>
                <a:latin typeface="Segoe UI"/>
              </a:rPr>
              <a:t> India AEBS/ESC Oct 2027 + GCC 2027–2028 mandates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24" y="4479019"/>
            <a:ext cx="10381990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Capital-efficient engineering:</a:t>
            </a:r>
            <a:r>
              <a:rPr sz="1200" b="0">
                <a:solidFill>
                  <a:srgbClr val="E8EEF4"/>
                </a:solidFill>
                <a:latin typeface="Segoe UI"/>
              </a:rPr>
              <a:t> $3.17M NRE funded 90% by raise, evidence-gated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79" y="467903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EEF4"/>
                </a:solidFill>
                <a:latin typeface="Segoe UI"/>
              </a:rPr>
              <a:t>Closing KPI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879059"/>
            <a:ext cx="10591535" cy="2000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EF4"/>
                </a:solidFill>
                <a:latin typeface="Segoe UI"/>
              </a:rPr>
              <a:t>₹55 Cr blended ask | 79.2% primary ICP score | 5 conditions to proceed | FY2029 profitable from | Series A valuation TBD pending Day-1 technical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