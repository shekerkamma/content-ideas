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241280" y="0"/>
            <a:ext cx="1947672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CLIENT-READY IMPLEMENTATION SOP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813816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Hermes Agent
Use Cases &amp; Realization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44368"/>
            <a:ext cx="146304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310128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E0F7F1"/>
                </a:solidFill>
                <a:latin typeface="Calibri"/>
              </a:rPr>
              <a:t>Spec-driven operating model for implementing personal-agent workflows with You.com search, GBrain memory, model routing, cron jobs, and approval gates.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74920"/>
            <a:ext cx="2057400" cy="384048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5193792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FFFFFF"/>
                </a:solidFill>
                <a:latin typeface="Calibri"/>
              </a:rPr>
              <a:t>Goal-loop controlled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5074920"/>
            <a:ext cx="2057400" cy="384048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5193792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FFFFFF"/>
                </a:solidFill>
                <a:latin typeface="Calibri"/>
              </a:rPr>
              <a:t>AI-analyst synthesized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79" y="5074920"/>
            <a:ext cx="2057400" cy="384048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0952" y="5193792"/>
            <a:ext cx="182880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FFFFFF"/>
                </a:solidFill>
                <a:latin typeface="Calibri"/>
              </a:rPr>
              <a:t>Branded PPTX reviewed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Hermes Agent Use Cases &amp; Realization SOP | 2026-07-01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Implementation Object Is An Operating SOP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Every use case needs trigger, source order, output, autonomy level, and verification gate.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783080"/>
            <a:ext cx="73152" cy="1234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0664" y="1929384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956816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1892807"/>
            <a:ext cx="177393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1. Goal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240280"/>
            <a:ext cx="2157984" cy="7040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Define outcome, artifacts, constraints, acceptance criteria, verification, loop budget, and stop conditions.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178308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83080"/>
            <a:ext cx="73152" cy="12344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47872" y="1929384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1956816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1892807"/>
            <a:ext cx="177393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2. Chain Contract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2736" y="2240280"/>
            <a:ext cx="2157984" cy="7040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Define what each skill consumes, produces, and hands to the next consumer before execution.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178308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8776" y="1783080"/>
            <a:ext cx="73152" cy="123444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55080" y="1929384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956816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1892807"/>
            <a:ext cx="177393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3. Use-Case Spec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240280"/>
            <a:ext cx="2157984" cy="7040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Declare trigger, inputs, source order, autonomy level, human approval rules, and output artifact.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15984" y="178308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15984" y="1783080"/>
            <a:ext cx="73152" cy="123444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62288" y="1929384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1956816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892807"/>
            <a:ext cx="177393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4. Runbook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17152" y="2240280"/>
            <a:ext cx="2157984" cy="7040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Operationalize cron, model routing, cost controls, credential boundaries, and failure handling.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794760"/>
            <a:ext cx="11094415" cy="10515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041648"/>
            <a:ext cx="6858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BLUF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3950208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40" b="0" i="0">
                <a:solidFill>
                  <a:srgbClr val="FFFFFF"/>
                </a:solidFill>
                <a:latin typeface="Calibri"/>
              </a:rPr>
              <a:t>Hermes is implemented as a repeatable system: install the harness, wire search and memory, launch read-only routines, then move into draft and approval-gated execution.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&amp; Realization SOP | 2026-07-01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72768"/>
            <a:ext cx="7955279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 i="0">
                <a:solidFill>
                  <a:srgbClr val="FFFFFF"/>
                </a:solidFill>
                <a:latin typeface="Calibri"/>
              </a:rPr>
              <a:t>Hermes Is The Agent Operating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743200"/>
            <a:ext cx="1463040" cy="457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063240"/>
            <a:ext cx="71323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E0F7F1"/>
                </a:solidFill>
                <a:latin typeface="Calibri"/>
              </a:rPr>
              <a:t>The harness gives the model tools, files, search, schedules, and memory.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Hermes Agent Use Cases &amp; Realization SOP | 2026-07-01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Reference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Search, memory, scheduled routines, and approval gates.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645920"/>
            <a:ext cx="365760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1728216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User / 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709928"/>
            <a:ext cx="1901952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Goals, approvals, corrections, final sends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2212848"/>
            <a:ext cx="201168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5B6B7C"/>
                </a:solidFill>
                <a:latin typeface="Calibri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359152"/>
            <a:ext cx="3657600" cy="56692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2441448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Hermes Harness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423160"/>
            <a:ext cx="1901952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FFFFFF"/>
                </a:solidFill>
                <a:latin typeface="Calibri"/>
              </a:rPr>
              <a:t>CLI/desktop, shell, files, browser, plugins, cron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2926080"/>
            <a:ext cx="201168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5B6B7C"/>
                </a:solidFill>
                <a:latin typeface="Calibri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072384"/>
            <a:ext cx="365760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3154680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Model Router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3136392"/>
            <a:ext cx="1901952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Sonnet default, Opus for code, Haiku for parsing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8608" y="3639312"/>
            <a:ext cx="201168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5B6B7C"/>
                </a:solidFill>
                <a:latin typeface="Calibri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785616"/>
            <a:ext cx="365760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3867912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Search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849624"/>
            <a:ext cx="1901952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You.com first; Exa/Firecrawl as specialists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8608" y="4352544"/>
            <a:ext cx="201168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5B6B7C"/>
                </a:solidFill>
                <a:latin typeface="Calibri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498848"/>
            <a:ext cx="365760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581144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Memory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4562856"/>
            <a:ext cx="1901952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GBrain markdown graph + Obsidian visibility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78608" y="5065776"/>
            <a:ext cx="201168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5B6B7C"/>
                </a:solidFill>
                <a:latin typeface="Calibri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212080"/>
            <a:ext cx="365760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" y="5294376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Connected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5276088"/>
            <a:ext cx="1901952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1B2B3C"/>
                </a:solidFill>
                <a:latin typeface="Calibri"/>
              </a:rPr>
              <a:t>Email, calendar, Slack/Teams, Zoom, CRM, social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0" y="1737360"/>
            <a:ext cx="566928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6440" y="1993392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Operating Loop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06440" y="2514600"/>
            <a:ext cx="932688" cy="566928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79592" y="2706624"/>
            <a:ext cx="786384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Observe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93992" y="2679192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68312" y="2514600"/>
            <a:ext cx="932688" cy="566928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41464" y="2706624"/>
            <a:ext cx="786384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Recall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55863" y="2679192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30183" y="2514600"/>
            <a:ext cx="932688" cy="566928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03336" y="2706624"/>
            <a:ext cx="786384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Search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17736" y="2679192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92055" y="2514600"/>
            <a:ext cx="932688" cy="566928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65207" y="2706624"/>
            <a:ext cx="786384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Synthesize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06440" y="3648456"/>
            <a:ext cx="932688" cy="566928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79592" y="3840480"/>
            <a:ext cx="786384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Draft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93992" y="3813048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068312" y="3648456"/>
            <a:ext cx="932688" cy="566928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41464" y="3840480"/>
            <a:ext cx="786384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Approve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55863" y="3813048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30183" y="3648456"/>
            <a:ext cx="932688" cy="566928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03336" y="3840480"/>
            <a:ext cx="786384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Execute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17736" y="3813048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592055" y="3648456"/>
            <a:ext cx="932688" cy="566928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65207" y="3840480"/>
            <a:ext cx="786384" cy="137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Learn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&amp; Realization SOP | 2026-07-01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Source And Tool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Policy prevents fallback to generic web search by habit.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64208"/>
            <a:ext cx="242316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64208"/>
            <a:ext cx="73152" cy="9875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1810512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837944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1773936"/>
            <a:ext cx="163677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Local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121408"/>
            <a:ext cx="2020824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Run docs, SOPs, prior artifacts, configs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664208"/>
            <a:ext cx="242316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1664208"/>
            <a:ext cx="73152" cy="9875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21024" y="1810512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37944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6511" y="1773936"/>
            <a:ext cx="163677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GBrain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7" y="2121408"/>
            <a:ext cx="2020824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Semantic memory for people, companies, verticals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664208"/>
            <a:ext cx="242316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664208"/>
            <a:ext cx="73152" cy="9875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9944" y="1810512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9944" y="1837944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1" y="1773936"/>
            <a:ext cx="163677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You.com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7" y="2121408"/>
            <a:ext cx="2020824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Current web, livecrawl, research, finance research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59" y="1664208"/>
            <a:ext cx="242316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59" y="1664208"/>
            <a:ext cx="73152" cy="987552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98863" y="1810512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8863" y="1837944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4351" y="1773936"/>
            <a:ext cx="163677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Exa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3728" y="2121408"/>
            <a:ext cx="2020824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Semantic/source discovery and candidate leads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3172968"/>
            <a:ext cx="242316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3172968"/>
            <a:ext cx="73152" cy="987552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32104" y="3319272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" y="3346703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07592" y="3282696"/>
            <a:ext cx="163677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Firecrawl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3630168"/>
            <a:ext cx="2020824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Full-page capture after candidate URLs are known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74720" y="3172968"/>
            <a:ext cx="242316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0" y="3172968"/>
            <a:ext cx="73152" cy="987552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621024" y="3319272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21024" y="3346703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96511" y="3282696"/>
            <a:ext cx="163677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Specialists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75887" y="3630168"/>
            <a:ext cx="2020824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GitHub, docs, Drive, browser, Reddit tools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3172968"/>
            <a:ext cx="242316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63640" y="3172968"/>
            <a:ext cx="73152" cy="987552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409944" y="3319272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9944" y="3346703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85431" y="3282696"/>
            <a:ext cx="163677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Generic Web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64807" y="3630168"/>
            <a:ext cx="2020824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Last fallback only; label limitations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5074920"/>
            <a:ext cx="11094415" cy="65836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5285232"/>
            <a:ext cx="64008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B800"/>
                </a:solidFill>
                <a:latin typeface="Calibri"/>
              </a:rPr>
              <a:t>Policy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00200" y="5202936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FFFFFF"/>
                </a:solidFill>
                <a:latin typeface="Calibri"/>
              </a:rPr>
              <a:t>Generic WebSearch/search_web is last-resort only; label those outputs as fallback-sourced.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&amp; Realization SOP | 2026-07-01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You.com Search Backend Spec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You.com is the current-web layer; Exa/Firecrawl remain specialist routes.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19072"/>
            <a:ext cx="324612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19072"/>
            <a:ext cx="73152" cy="10607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828800"/>
            <a:ext cx="284378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Search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76272"/>
            <a:ext cx="2843784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Default current-web grounding for agent loops; configure Hermes `web.search_backend: you`.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719072"/>
            <a:ext cx="324612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719072"/>
            <a:ext cx="73152" cy="10607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828800"/>
            <a:ext cx="284378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livecrawl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76272"/>
            <a:ext cx="2843784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One-shot full-page markdown retrieval when Hermes needs source content, not snippets.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719072"/>
            <a:ext cx="324612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1719072"/>
            <a:ext cx="73152" cy="10607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828800"/>
            <a:ext cx="284378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Research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176272"/>
            <a:ext cx="2843784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Offload exhaustive multi-query research into a cited report for deep dives.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27832"/>
            <a:ext cx="324612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227832"/>
            <a:ext cx="73152" cy="10607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337560"/>
            <a:ext cx="284378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Finance Research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3685031"/>
            <a:ext cx="2843784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Use for investor research, fundamentals, filings, macro/news, and finance-heavy workflows.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3227832"/>
            <a:ext cx="324612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0832" y="3227832"/>
            <a:ext cx="73152" cy="10607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337560"/>
            <a:ext cx="284378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Freshness filters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685031"/>
            <a:ext cx="2843784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Day/week/month or date windows keep agent claims anchored to recency.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1583" y="3227832"/>
            <a:ext cx="324612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01583" y="3227832"/>
            <a:ext cx="73152" cy="10607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2" y="3337560"/>
            <a:ext cx="284378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Domain/geo targeting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3685031"/>
            <a:ext cx="2843784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Tighten account, region, and category research without bloated query hacks.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102352"/>
            <a:ext cx="11094415" cy="621792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257800"/>
            <a:ext cx="104698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40" b="1" i="0">
                <a:solidFill>
                  <a:srgbClr val="FFFFFF"/>
                </a:solidFill>
                <a:latin typeface="Calibri"/>
              </a:rPr>
              <a:t>Implementation rule: store the key outside repo files and verify real URLs before wiring use cases.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&amp; Realization SOP | 2026-07-01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GBrain Memory Spec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Memory is a governed knowledge layer, not a pile of chat logs.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19072"/>
            <a:ext cx="26060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19072"/>
            <a:ext cx="73152" cy="1188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1865376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892807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1828800"/>
            <a:ext cx="181965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Knowledge 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176272"/>
            <a:ext cx="2203704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Parse people, companies, projects, and relationships into connected entity notes.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719072"/>
            <a:ext cx="26060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1719072"/>
            <a:ext cx="73152" cy="11887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12463" y="1865376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2463" y="1892807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7952" y="1828800"/>
            <a:ext cx="181965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Dream Cycle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2176272"/>
            <a:ext cx="2203704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Background cleanup flags contradictions, duplicates, stale facts, and messy formatting.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1719072"/>
            <a:ext cx="26060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1719072"/>
            <a:ext cx="73152" cy="11887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92824" y="1865376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92824" y="1892807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312" y="1828800"/>
            <a:ext cx="181965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Git-Backed 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7688" y="2176272"/>
            <a:ext cx="2203704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Store memory in human-readable markdown that can be inspected, corrected, and reviewed.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1719072"/>
            <a:ext cx="21488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26880" y="1719072"/>
            <a:ext cx="73152" cy="118872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73184" y="1865376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73184" y="1892807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48672" y="1828800"/>
            <a:ext cx="136245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Token Discipline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8048" y="2176272"/>
            <a:ext cx="1746504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Use deterministic links where possible; reserve LLM work for higher-value synthesis.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65760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Memory SOP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06908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Recall before research for recurring people, companies, verticals, and prospects.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Write back durable findings only when they will matter across sessions.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Keep deliverables in repo/run files; GBrain is memory, not the system of record.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80" b="0" i="0">
                <a:solidFill>
                  <a:srgbClr val="1B2B3C"/>
                </a:solidFill>
                <a:latin typeface="Calibri"/>
              </a:rPr>
              <a:t>•  Record provenance and source dates for enriched contacts/entities.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&amp; Realization SOP | 2026-07-01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Governance: Autonomy Ladder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Move from observe to draft to approval-gated 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28800"/>
            <a:ext cx="2240280" cy="107899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874519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Observe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468880"/>
            <a:ext cx="19202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0A1628"/>
                </a:solidFill>
                <a:latin typeface="Calibri"/>
              </a:rPr>
              <a:t>Read-only monitoring, briefs, scans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2112" y="2176272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828800"/>
            <a:ext cx="2240280" cy="1078992"/>
          </a:xfrm>
          <a:prstGeom prst="roundRect">
            <a:avLst>
              <a:gd name="adj" fmla="val 8000"/>
            </a:avLst>
          </a:prstGeom>
          <a:solidFill>
            <a:srgbClr val="009B82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79" y="2057400"/>
            <a:ext cx="1874519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Draft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2468880"/>
            <a:ext cx="19202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0A1628"/>
                </a:solidFill>
                <a:latin typeface="Calibri"/>
              </a:rPr>
              <a:t>Prepare messages, notes, updates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1031" y="2176272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828800"/>
            <a:ext cx="2240280" cy="1078992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057400"/>
            <a:ext cx="1874519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Approve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468880"/>
            <a:ext cx="19202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0A1628"/>
                </a:solidFill>
                <a:latin typeface="Calibri"/>
              </a:rPr>
              <a:t>Human approves sends, publishes, config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2176272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39" y="1828800"/>
            <a:ext cx="2240280" cy="1078992"/>
          </a:xfrm>
          <a:prstGeom prst="roundRect">
            <a:avLst>
              <a:gd name="adj" fmla="val 8000"/>
            </a:avLst>
          </a:prstGeom>
          <a:solidFill>
            <a:srgbClr val="F2A83B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19" y="2057400"/>
            <a:ext cx="1874519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Execute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8" y="2468880"/>
            <a:ext cx="192024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0A1628"/>
                </a:solidFill>
                <a:latin typeface="Calibri"/>
              </a:rPr>
              <a:t>Narrow autonomous actions with rollback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94760"/>
            <a:ext cx="11094415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041648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Approval-gated by default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3968496"/>
            <a:ext cx="818387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80" b="0" i="0">
                <a:solidFill>
                  <a:srgbClr val="1B2B3C"/>
                </a:solidFill>
                <a:latin typeface="Calibri"/>
              </a:rPr>
              <a:t>Publishing, investor emails, client messages, credential changes, file deletion, and config edits require explicit approval until rollback is tested.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&amp; Realization SOP | 2026-07-01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Implementation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Conservative sequencing reduces cost, permission, and trust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2450592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64208"/>
            <a:ext cx="73152" cy="9875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1810512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837944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773936"/>
            <a:ext cx="1664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121408"/>
            <a:ext cx="2048256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Install Hermes, local setup, model provider, owner/host machine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664208"/>
            <a:ext cx="2450592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1664208"/>
            <a:ext cx="73152" cy="9875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21024" y="1810512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37944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6511" y="1773936"/>
            <a:ext cx="1664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7" y="2121408"/>
            <a:ext cx="2048256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You.com backend, extraction fallback, key stored outside repo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1664208"/>
            <a:ext cx="2450592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2" y="1664208"/>
            <a:ext cx="73152" cy="9875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37376" y="1810512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1837944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12864" y="1773936"/>
            <a:ext cx="1664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121408"/>
            <a:ext cx="2048256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GBrain install, Obsidian visibility, recall/write-back rules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07424" y="1664208"/>
            <a:ext cx="2450592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07424" y="1664208"/>
            <a:ext cx="73152" cy="9875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53728" y="1810512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53728" y="1837944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9216" y="1773936"/>
            <a:ext cx="1664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2121408"/>
            <a:ext cx="2048256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Model routing, spend caps, credential inventory, audit cron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3081528"/>
            <a:ext cx="2450592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3081528"/>
            <a:ext cx="73152" cy="9875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4672" y="3227832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3255264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3191256"/>
            <a:ext cx="1664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Read-Only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3538728"/>
            <a:ext cx="2048256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Daily brief, pre-call brief, signal monitor, contact reports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74720" y="3081528"/>
            <a:ext cx="2450592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0" y="3081528"/>
            <a:ext cx="73152" cy="9875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621024" y="3227832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21024" y="3255264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96511" y="3191256"/>
            <a:ext cx="1664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Draft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75887" y="3538728"/>
            <a:ext cx="2048256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Investor hooks, content drafts, CRM updates, follow-ups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91072" y="3081528"/>
            <a:ext cx="2450592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91072" y="3081528"/>
            <a:ext cx="73152" cy="9875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437376" y="3227832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37376" y="3255264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12864" y="3191256"/>
            <a:ext cx="1664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Execute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3538728"/>
            <a:ext cx="2048256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Approval-gated sends, publishes, external writes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07424" y="3081528"/>
            <a:ext cx="2450592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07424" y="3081528"/>
            <a:ext cx="73152" cy="9875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253728" y="3227832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53728" y="3255264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29216" y="3191256"/>
            <a:ext cx="1664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Improve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08592" y="3538728"/>
            <a:ext cx="2048256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Weekly QA, cron health, memory dreaming review, backlog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&amp; Realization SOP | 2026-07-01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Use-Case Portfolio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Start with high-value, lower-risk read-only or draft workflows.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1033272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44752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Higher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583387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Higher Risk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783080"/>
            <a:ext cx="27432" cy="3977639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767328"/>
            <a:ext cx="10332720" cy="2743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28800" y="2286000"/>
            <a:ext cx="1234440" cy="384048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01952" y="2414016"/>
            <a:ext cx="1078992" cy="91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0A1628"/>
                </a:solidFill>
                <a:latin typeface="Calibri"/>
              </a:rPr>
              <a:t>Daily brief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148840"/>
            <a:ext cx="1234440" cy="384048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0752" y="2276856"/>
            <a:ext cx="1078992" cy="91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0A1628"/>
                </a:solidFill>
                <a:latin typeface="Calibri"/>
              </a:rPr>
              <a:t>Smart contacts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2971800"/>
            <a:ext cx="1234440" cy="384048"/>
          </a:xfrm>
          <a:prstGeom prst="roundRect">
            <a:avLst>
              <a:gd name="adj" fmla="val 8000"/>
            </a:avLst>
          </a:prstGeom>
          <a:solidFill>
            <a:srgbClr val="009B82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3099816"/>
            <a:ext cx="1078992" cy="91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0A1628"/>
                </a:solidFill>
                <a:latin typeface="Calibri"/>
              </a:rPr>
              <a:t>Pre-call brief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2834640"/>
            <a:ext cx="1234440" cy="384048"/>
          </a:xfrm>
          <a:prstGeom prst="roundRect">
            <a:avLst>
              <a:gd name="adj" fmla="val 8000"/>
            </a:avLst>
          </a:prstGeom>
          <a:solidFill>
            <a:srgbClr val="009B82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76672" y="2962656"/>
            <a:ext cx="1078992" cy="91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0A1628"/>
                </a:solidFill>
                <a:latin typeface="Calibri"/>
              </a:rPr>
              <a:t>Investor research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4480560"/>
            <a:ext cx="1234440" cy="38404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4608576"/>
            <a:ext cx="1078992" cy="91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0A1628"/>
                </a:solidFill>
                <a:latin typeface="Calibri"/>
              </a:rPr>
              <a:t>Signal monitor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926080"/>
            <a:ext cx="1234440" cy="384048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3054096"/>
            <a:ext cx="1078992" cy="91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0A1628"/>
                </a:solidFill>
                <a:latin typeface="Calibri"/>
              </a:rPr>
              <a:t>Content drafts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977639"/>
            <a:ext cx="1234440" cy="384048"/>
          </a:xfrm>
          <a:prstGeom prst="roundRect">
            <a:avLst>
              <a:gd name="adj" fmla="val 8000"/>
            </a:avLst>
          </a:prstGeom>
          <a:solidFill>
            <a:srgbClr val="F2A83B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9872" y="4105655"/>
            <a:ext cx="1078992" cy="91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0A1628"/>
                </a:solidFill>
                <a:latin typeface="Calibri"/>
              </a:rPr>
              <a:t>App builder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9680" y="2240280"/>
            <a:ext cx="1234440" cy="384048"/>
          </a:xfrm>
          <a:prstGeom prst="roundRect">
            <a:avLst>
              <a:gd name="adj" fmla="val 8000"/>
            </a:avLst>
          </a:prstGeom>
          <a:solidFill>
            <a:srgbClr val="E05A6B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42832" y="2368296"/>
            <a:ext cx="1078992" cy="91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0A1628"/>
                </a:solidFill>
                <a:latin typeface="Calibri"/>
              </a:rPr>
              <a:t>Auto-publish/sends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069080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Recommended start zone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407408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Read-only and draft-only routines create trust while proving the operating loop.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&amp; Realization SOP | 2026-07-01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Use Case 01: Daily Executive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Scheduled read-only intelligence layer.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926080" cy="457200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874519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40280"/>
            <a:ext cx="242316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Executives lose time reconstructing priorities from inbox, calendar, chat, and meeting records.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822191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Realization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187952"/>
            <a:ext cx="242316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0A1628"/>
                </a:solidFill>
                <a:latin typeface="Calibri"/>
              </a:rPr>
              <a:t>Hermes runs a morning/afternoon cron, recalls context from GBrain, searches only for fresh deltas, and emits a concise prioritized brief.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1700784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2139696"/>
            <a:ext cx="10972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67912" y="2249424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2776" y="2359152"/>
            <a:ext cx="84124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0" b="1" i="0">
                <a:solidFill>
                  <a:srgbClr val="1B2B3C"/>
                </a:solidFill>
                <a:latin typeface="Calibri"/>
              </a:rPr>
              <a:t>Trigger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3752" y="2331720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38344" y="2139696"/>
            <a:ext cx="10972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11496" y="2249424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359152"/>
            <a:ext cx="84124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0" b="1" i="0">
                <a:solidFill>
                  <a:srgbClr val="1B2B3C"/>
                </a:solidFill>
                <a:latin typeface="Calibri"/>
              </a:rPr>
              <a:t>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331720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2139696"/>
            <a:ext cx="10972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249424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359152"/>
            <a:ext cx="84124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0" b="1" i="0">
                <a:solidFill>
                  <a:srgbClr val="1B2B3C"/>
                </a:solidFill>
                <a:latin typeface="Calibri"/>
              </a:rPr>
              <a:t>Scan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331720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2139696"/>
            <a:ext cx="10972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98664" y="2249424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3528" y="2359152"/>
            <a:ext cx="84124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0" b="1" i="0">
                <a:solidFill>
                  <a:srgbClr val="1B2B3C"/>
                </a:solidFill>
                <a:latin typeface="Calibri"/>
              </a:rPr>
              <a:t>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04504" y="2331720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69096" y="2139696"/>
            <a:ext cx="10972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2248" y="2249424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7112" y="2359152"/>
            <a:ext cx="84124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0" b="1" i="0">
                <a:solidFill>
                  <a:srgbClr val="1B2B3C"/>
                </a:solidFill>
                <a:latin typeface="Calibri"/>
              </a:rPr>
              <a:t>Brief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94760" y="3364992"/>
            <a:ext cx="4297680" cy="5943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05072" y="3538728"/>
            <a:ext cx="385876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FFFFFF"/>
                </a:solidFill>
                <a:latin typeface="Calibri"/>
              </a:rPr>
              <a:t>Calendar + Inbox + Slack/Teams + Zoom + GBrain + You.com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94760" y="4270248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94760" y="4270248"/>
            <a:ext cx="73152" cy="114300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95928" y="4379976"/>
            <a:ext cx="16093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95928" y="4727448"/>
            <a:ext cx="160934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Calendar, email, chat, transcripts, memory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80760" y="4270248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80760" y="4270248"/>
            <a:ext cx="73152" cy="1143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81928" y="4379976"/>
            <a:ext cx="16093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1928" y="4727448"/>
            <a:ext cx="160934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No sends; cite source links; stale-source flag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49640" y="1600200"/>
            <a:ext cx="3063240" cy="4572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23960" y="1874519"/>
            <a:ext cx="2514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SOP Acceptance Gate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233172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Trigger is explicit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Inputs and owners are listed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Source order is wired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Output artifact is named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Autonomy level is declared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Approval rules are written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Verification is repeatable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&amp; Realization SOP | 2026-07-01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Use Case 02: Smart Contacts &amp; Entities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Relationship intelligence that stays fresh.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926080" cy="457200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874519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40280"/>
            <a:ext cx="242316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CRM/contact data decays quickly, and important context is scattered across meetings, messages, social posts, and the public web.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822191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Realization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187952"/>
            <a:ext cx="242316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0A1628"/>
                </a:solidFill>
                <a:latin typeface="Calibri"/>
              </a:rPr>
              <a:t>Hermes enriches people and organizations, writes durable entity notes to GBrain, and lets Obsidian expose relationship graph structure.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1700784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2139696"/>
            <a:ext cx="10972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67912" y="2249424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2776" y="2359152"/>
            <a:ext cx="84124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0" b="1" i="0">
                <a:solidFill>
                  <a:srgbClr val="1B2B3C"/>
                </a:solidFill>
                <a:latin typeface="Calibri"/>
              </a:rPr>
              <a:t>Ingest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3752" y="2331720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38344" y="2139696"/>
            <a:ext cx="10972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11496" y="2249424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359152"/>
            <a:ext cx="84124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0" b="1" i="0">
                <a:solidFill>
                  <a:srgbClr val="1B2B3C"/>
                </a:solidFill>
                <a:latin typeface="Calibri"/>
              </a:rPr>
              <a:t>Enrich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331720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2139696"/>
            <a:ext cx="10972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249424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359152"/>
            <a:ext cx="84124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0" b="1" i="0">
                <a:solidFill>
                  <a:srgbClr val="1B2B3C"/>
                </a:solidFill>
                <a:latin typeface="Calibri"/>
              </a:rPr>
              <a:t>Link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331720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2139696"/>
            <a:ext cx="10972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98664" y="2249424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3528" y="2359152"/>
            <a:ext cx="84124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0" b="1" i="0">
                <a:solidFill>
                  <a:srgbClr val="1B2B3C"/>
                </a:solidFill>
                <a:latin typeface="Calibri"/>
              </a:rPr>
              <a:t>Store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04504" y="2331720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69096" y="2139696"/>
            <a:ext cx="10972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2248" y="2249424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7112" y="2359152"/>
            <a:ext cx="84124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0" b="1" i="0">
                <a:solidFill>
                  <a:srgbClr val="1B2B3C"/>
                </a:solidFill>
                <a:latin typeface="Calibri"/>
              </a:rPr>
              <a:t>Surface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94760" y="3364992"/>
            <a:ext cx="4297680" cy="5943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05072" y="3538728"/>
            <a:ext cx="385876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FFFFFF"/>
                </a:solidFill>
                <a:latin typeface="Calibri"/>
              </a:rPr>
              <a:t>Email + Calendar + Zoom + LinkedIn/X + You.com Research + GBrain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94760" y="4270248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94760" y="4270248"/>
            <a:ext cx="73152" cy="114300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95928" y="4379976"/>
            <a:ext cx="16093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95928" y="4727448"/>
            <a:ext cx="160934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Contacts, calendar, public web, entity notes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80760" y="4270248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80760" y="4270248"/>
            <a:ext cx="73152" cy="1143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81928" y="4379976"/>
            <a:ext cx="16093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1928" y="4727448"/>
            <a:ext cx="160934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Provenance; source dates; no overwrite without review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49640" y="1600200"/>
            <a:ext cx="3063240" cy="4572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23960" y="1874519"/>
            <a:ext cx="2514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SOP Acceptance Gate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233172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Trigger is explicit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Inputs and owners are listed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Source order is wired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Output artifact is named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Autonomy level is declared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Approval rules are written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Verification is repeatable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&amp; Realization SOP | 2026-07-01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Use Case 03: Pre-Call &amp; Investor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Draft-only relationship preparation.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926080" cy="457200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874519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40280"/>
            <a:ext cx="242316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Pre-call prep and investor outreach require repetitive research, thesis matching, prior investment review, and custom hooks.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822191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Realization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187952"/>
            <a:ext cx="242316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0A1628"/>
                </a:solidFill>
                <a:latin typeface="Calibri"/>
              </a:rPr>
              <a:t>Hermes builds briefings, ranks fit, drafts hooks, and queues outreach for human review instead of sending automatically.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1700784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2139696"/>
            <a:ext cx="10972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67912" y="2249424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2776" y="2359152"/>
            <a:ext cx="84124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0" b="1" i="0">
                <a:solidFill>
                  <a:srgbClr val="1B2B3C"/>
                </a:solidFill>
                <a:latin typeface="Calibri"/>
              </a:rPr>
              <a:t>Event/List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3752" y="2331720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38344" y="2139696"/>
            <a:ext cx="10972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11496" y="2249424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359152"/>
            <a:ext cx="84124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0" b="1" i="0">
                <a:solidFill>
                  <a:srgbClr val="1B2B3C"/>
                </a:solidFill>
                <a:latin typeface="Calibri"/>
              </a:rPr>
              <a:t>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331720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2139696"/>
            <a:ext cx="10972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249424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359152"/>
            <a:ext cx="84124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0" b="1" i="0">
                <a:solidFill>
                  <a:srgbClr val="1B2B3C"/>
                </a:solidFill>
                <a:latin typeface="Calibri"/>
              </a:rPr>
              <a:t>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331720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2139696"/>
            <a:ext cx="10972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98664" y="2249424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3528" y="2359152"/>
            <a:ext cx="84124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0" b="1" i="0">
                <a:solidFill>
                  <a:srgbClr val="1B2B3C"/>
                </a:solidFill>
                <a:latin typeface="Calibri"/>
              </a:rPr>
              <a:t>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04504" y="2331720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69096" y="2139696"/>
            <a:ext cx="10972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2248" y="2249424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7112" y="2359152"/>
            <a:ext cx="84124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0" b="1" i="0">
                <a:solidFill>
                  <a:srgbClr val="1B2B3C"/>
                </a:solidFill>
                <a:latin typeface="Calibri"/>
              </a:rPr>
              <a:t>Draft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94760" y="3364992"/>
            <a:ext cx="4297680" cy="5943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05072" y="3538728"/>
            <a:ext cx="385876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FFFFFF"/>
                </a:solidFill>
                <a:latin typeface="Calibri"/>
              </a:rPr>
              <a:t>Calendar + GBrain + You.com/Finance Research + inbox + investor tracker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94760" y="4270248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94760" y="4270248"/>
            <a:ext cx="73152" cy="114300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95928" y="4379976"/>
            <a:ext cx="16093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95928" y="4727448"/>
            <a:ext cx="160934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Calendar, investor data, news, prior interactions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80760" y="4270248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80760" y="4270248"/>
            <a:ext cx="73152" cy="1143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81928" y="4379976"/>
            <a:ext cx="16093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1928" y="4727448"/>
            <a:ext cx="160934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Draft-only; user sends; low-confidence claims flagged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49640" y="1600200"/>
            <a:ext cx="3063240" cy="4572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23960" y="1874519"/>
            <a:ext cx="2514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SOP Acceptance Gate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233172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Trigger is explicit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Inputs and owners are listed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Source order is wired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Output artifact is named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Autonomy level is declared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Approval rules are written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Verification is repeatable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&amp; Realization SOP | 2026-07-01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Use Case 04: Signal &amp; Content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Current-web sensing without living on feeds.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926080" cy="457200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874519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40280"/>
            <a:ext cx="242316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Teams need market and social signal, but raw feeds are noisy and reactive.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822191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Realization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187952"/>
            <a:ext cx="242316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0A1628"/>
                </a:solidFill>
                <a:latin typeface="Calibri"/>
              </a:rPr>
              <a:t>Hermes monitors web/news/social/creator clusters, ranks topic salience, performs deep research, and drafts content variants.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1700784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2139696"/>
            <a:ext cx="10972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67912" y="2249424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2776" y="2359152"/>
            <a:ext cx="84124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0" b="1" i="0">
                <a:solidFill>
                  <a:srgbClr val="1B2B3C"/>
                </a:solidFill>
                <a:latin typeface="Calibri"/>
              </a:rPr>
              <a:t>Watch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3752" y="2331720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38344" y="2139696"/>
            <a:ext cx="10972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11496" y="2249424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359152"/>
            <a:ext cx="84124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0" b="1" i="0">
                <a:solidFill>
                  <a:srgbClr val="1B2B3C"/>
                </a:solidFill>
                <a:latin typeface="Calibri"/>
              </a:rPr>
              <a:t>Cluster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331720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2139696"/>
            <a:ext cx="10972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249424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359152"/>
            <a:ext cx="84124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0" b="1" i="0">
                <a:solidFill>
                  <a:srgbClr val="1B2B3C"/>
                </a:solidFill>
                <a:latin typeface="Calibri"/>
              </a:rPr>
              <a:t>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331720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2139696"/>
            <a:ext cx="10972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98664" y="2249424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3528" y="2359152"/>
            <a:ext cx="84124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0" b="1" i="0">
                <a:solidFill>
                  <a:srgbClr val="1B2B3C"/>
                </a:solidFill>
                <a:latin typeface="Calibri"/>
              </a:rPr>
              <a:t>Draft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04504" y="2331720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69096" y="2139696"/>
            <a:ext cx="10972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2248" y="2249424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7112" y="2359152"/>
            <a:ext cx="84124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0" b="1" i="0">
                <a:solidFill>
                  <a:srgbClr val="1B2B3C"/>
                </a:solidFill>
                <a:latin typeface="Calibri"/>
              </a:rPr>
              <a:t>Review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94760" y="3364992"/>
            <a:ext cx="4297680" cy="5943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05072" y="3538728"/>
            <a:ext cx="385876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FFFFFF"/>
                </a:solidFill>
                <a:latin typeface="Calibri"/>
              </a:rPr>
              <a:t>YouTube + web/news + social + You.com Research + GBrain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94760" y="4270248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94760" y="4270248"/>
            <a:ext cx="73152" cy="114300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95928" y="4379976"/>
            <a:ext cx="16093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95928" y="4727448"/>
            <a:ext cx="160934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Creator transcripts, news, social signals, source pack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80760" y="4270248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80760" y="4270248"/>
            <a:ext cx="73152" cy="1143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81928" y="4379976"/>
            <a:ext cx="16093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1928" y="4727448"/>
            <a:ext cx="160934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Editorial approval; cite sources; no auto-publish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49640" y="1600200"/>
            <a:ext cx="3063240" cy="4572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23960" y="1874519"/>
            <a:ext cx="2514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SOP Acceptance Gate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233172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Trigger is explicit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Inputs and owners are listed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Source order is wired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Output artifact is named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Autonomy level is declared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Approval rules are written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Verification is repeatable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&amp; Realization SOP | 2026-07-01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Use Case 05: Cost, Model Health &amp;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operating system must inspect itself.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926080" cy="457200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874519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40280"/>
            <a:ext cx="242316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Autonomous loops can drift into expensive models, broken cron, stale credentials, or risky permissions.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822191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Realization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187952"/>
            <a:ext cx="242316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0A1628"/>
                </a:solidFill>
                <a:latin typeface="Calibri"/>
              </a:rPr>
              <a:t>Hermes runs nightly health scans, reports model-route drift, itemizes spend, checks MCP/plugin health, and queues fixes.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1700784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2139696"/>
            <a:ext cx="10972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67912" y="2249424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2776" y="2359152"/>
            <a:ext cx="84124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0" b="1" i="0">
                <a:solidFill>
                  <a:srgbClr val="1B2B3C"/>
                </a:solidFill>
                <a:latin typeface="Calibri"/>
              </a:rPr>
              <a:t>Inspect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3752" y="2331720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38344" y="2139696"/>
            <a:ext cx="10972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11496" y="2249424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359152"/>
            <a:ext cx="84124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0" b="1" i="0">
                <a:solidFill>
                  <a:srgbClr val="1B2B3C"/>
                </a:solidFill>
                <a:latin typeface="Calibri"/>
              </a:rPr>
              <a:t>Detect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331720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2139696"/>
            <a:ext cx="10972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249424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359152"/>
            <a:ext cx="84124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0" b="1" i="0">
                <a:solidFill>
                  <a:srgbClr val="1B2B3C"/>
                </a:solidFill>
                <a:latin typeface="Calibri"/>
              </a:rPr>
              <a:t>Rank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331720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2139696"/>
            <a:ext cx="10972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98664" y="2249424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3528" y="2359152"/>
            <a:ext cx="84124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0" b="1" i="0">
                <a:solidFill>
                  <a:srgbClr val="1B2B3C"/>
                </a:solidFill>
                <a:latin typeface="Calibri"/>
              </a:rPr>
              <a:t>Notify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04504" y="2331720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69096" y="2139696"/>
            <a:ext cx="10972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2248" y="2249424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7112" y="2359152"/>
            <a:ext cx="84124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0" b="1" i="0">
                <a:solidFill>
                  <a:srgbClr val="1B2B3C"/>
                </a:solidFill>
                <a:latin typeface="Calibri"/>
              </a:rPr>
              <a:t>Approve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94760" y="3364992"/>
            <a:ext cx="4297680" cy="5943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05072" y="3538728"/>
            <a:ext cx="385876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FFFFFF"/>
                </a:solidFill>
                <a:latin typeface="Calibri"/>
              </a:rPr>
              <a:t>Hermes logs + API usage + config + cron + credential inventory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94760" y="4270248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94760" y="4270248"/>
            <a:ext cx="73152" cy="114300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95928" y="4379976"/>
            <a:ext cx="16093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95928" y="4727448"/>
            <a:ext cx="160934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Logs, cost data, model routes, plugin health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80760" y="4270248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80760" y="4270248"/>
            <a:ext cx="73152" cy="1143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81928" y="4379976"/>
            <a:ext cx="16093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1928" y="4727448"/>
            <a:ext cx="160934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Notify before risky fixes; no secret exposure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49640" y="1600200"/>
            <a:ext cx="3063240" cy="4572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23960" y="1874519"/>
            <a:ext cx="2514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SOP Acceptance Gate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233172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Trigger is explicit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Inputs and owners are listed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Source order is wired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Output artifact is named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Autonomy level is declared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Approval rules are written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Verification is repeatable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&amp; Realization SOP | 2026-07-01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Use Case 06: App Builder &amp; Compaction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Delegate implementation while preserving verification.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926080" cy="457200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874519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40280"/>
            <a:ext cx="242316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A1628"/>
                </a:solidFill>
                <a:latin typeface="Calibri"/>
              </a:rPr>
              <a:t>Internal tools and knowledge cleanup sit in backlog because they require context loading, code writing, and verification.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822191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Realization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187952"/>
            <a:ext cx="242316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0A1628"/>
                </a:solidFill>
                <a:latin typeface="Calibri"/>
              </a:rPr>
              <a:t>Hermes uses repo skills to build small tools, runs checks, and compacts notes/research into git-backed memory.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1700784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2139696"/>
            <a:ext cx="10972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67912" y="2249424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2776" y="2359152"/>
            <a:ext cx="84124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0" b="1" i="0">
                <a:solidFill>
                  <a:srgbClr val="1B2B3C"/>
                </a:solidFill>
                <a:latin typeface="Calibri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3752" y="2331720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38344" y="2139696"/>
            <a:ext cx="10972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11496" y="2249424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359152"/>
            <a:ext cx="84124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0" b="1" i="0">
                <a:solidFill>
                  <a:srgbClr val="1B2B3C"/>
                </a:solidFill>
                <a:latin typeface="Calibri"/>
              </a:rPr>
              <a:t>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331720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2139696"/>
            <a:ext cx="10972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249424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359152"/>
            <a:ext cx="84124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0" b="1" i="0">
                <a:solidFill>
                  <a:srgbClr val="1B2B3C"/>
                </a:solidFill>
                <a:latin typeface="Calibri"/>
              </a:rPr>
              <a:t>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331720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2139696"/>
            <a:ext cx="10972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98664" y="2249424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3528" y="2359152"/>
            <a:ext cx="84124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0" b="1" i="0">
                <a:solidFill>
                  <a:srgbClr val="1B2B3C"/>
                </a:solidFill>
                <a:latin typeface="Calibri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04504" y="2331720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69096" y="2139696"/>
            <a:ext cx="10972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2248" y="2249424"/>
            <a:ext cx="21945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7112" y="2359152"/>
            <a:ext cx="841248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10" b="1" i="0">
                <a:solidFill>
                  <a:srgbClr val="1B2B3C"/>
                </a:solidFill>
                <a:latin typeface="Calibri"/>
              </a:rPr>
              <a:t>Write-back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94760" y="3364992"/>
            <a:ext cx="4297680" cy="5943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05072" y="3538728"/>
            <a:ext cx="385876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FFFFFF"/>
                </a:solidFill>
                <a:latin typeface="Calibri"/>
              </a:rPr>
              <a:t>Repo files + shell + browser checks + GBrain + Obsidian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94760" y="4270248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94760" y="4270248"/>
            <a:ext cx="73152" cy="114300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95928" y="4379976"/>
            <a:ext cx="16093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95928" y="4727448"/>
            <a:ext cx="160934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Codebase, run files, tests, memory graph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80760" y="4270248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80760" y="4270248"/>
            <a:ext cx="73152" cy="1143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81928" y="4379976"/>
            <a:ext cx="160934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1928" y="4727448"/>
            <a:ext cx="1609344" cy="6126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1B2B3C"/>
                </a:solidFill>
                <a:latin typeface="Calibri"/>
              </a:rPr>
              <a:t>Worktree isolation; tests; human review before merge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49640" y="1600200"/>
            <a:ext cx="3063240" cy="4572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23960" y="1874519"/>
            <a:ext cx="2514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SOP Acceptance Gate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2331720"/>
            <a:ext cx="2514600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Trigger is explicit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Inputs and owners are listed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Source order is wired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Output artifact is named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Autonomy level is declared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Approval rules are written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940" b="0" i="0">
                <a:solidFill>
                  <a:srgbClr val="FFFFFF"/>
                </a:solidFill>
                <a:latin typeface="Calibri"/>
              </a:rPr>
              <a:t>•  Verification is repeatable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&amp; Realization SOP | 2026-07-01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Spec Template For Every Hermes Use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Production-ready means each field is written and testable.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245059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64208"/>
            <a:ext cx="73152" cy="941832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1810512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837944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773936"/>
            <a:ext cx="1664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Trigger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121408"/>
            <a:ext cx="2048256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Cron, calendar event, user command, folder drop,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664208"/>
            <a:ext cx="245059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1664208"/>
            <a:ext cx="73152" cy="941832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21024" y="1810512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837944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6511" y="1773936"/>
            <a:ext cx="1664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Inputs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7" y="2121408"/>
            <a:ext cx="2048256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Systems, owners, credentials, freshness, sensitivity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1664208"/>
            <a:ext cx="245059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2" y="1664208"/>
            <a:ext cx="73152" cy="941832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37376" y="1810512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1837944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12864" y="1773936"/>
            <a:ext cx="1664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Source 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121408"/>
            <a:ext cx="2048256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GBrain → You.com → Exa → Firecrawl → specialists → fallback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07424" y="1664208"/>
            <a:ext cx="245059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07424" y="1664208"/>
            <a:ext cx="73152" cy="941832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53728" y="1810512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53728" y="1837944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9216" y="1773936"/>
            <a:ext cx="1664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2121408"/>
            <a:ext cx="2048256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Named artifact path, format, owner, retention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3054096"/>
            <a:ext cx="245059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3054096"/>
            <a:ext cx="73152" cy="941832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4672" y="3200400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3227832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3163824"/>
            <a:ext cx="1664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Autonomy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3511296"/>
            <a:ext cx="2048256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Read-only, draft, approval-gated, autonomous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74720" y="3054096"/>
            <a:ext cx="245059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0" y="3054096"/>
            <a:ext cx="73152" cy="941832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621024" y="3200400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21024" y="3227832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96511" y="3163824"/>
            <a:ext cx="1664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75887" y="3511296"/>
            <a:ext cx="2048256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Model route, spend cap, approval gate, rollback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91072" y="3054096"/>
            <a:ext cx="245059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91072" y="3054096"/>
            <a:ext cx="73152" cy="941832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437376" y="3200400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37376" y="3227832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12864" y="3163824"/>
            <a:ext cx="1664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Failures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3511296"/>
            <a:ext cx="2048256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Stale source, blocked key, low confidence, runaway cost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07424" y="3054096"/>
            <a:ext cx="245059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07424" y="3054096"/>
            <a:ext cx="73152" cy="941832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253728" y="3200400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53728" y="3227832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29216" y="3163824"/>
            <a:ext cx="16642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Verification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08592" y="3511296"/>
            <a:ext cx="2048256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Checks before live status and cadence after launch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&amp; Realization SOP | 2026-07-01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Skill Chaining QA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orchestrator must prove that skills compound.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01952"/>
            <a:ext cx="1554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B800"/>
                </a:solidFill>
                <a:latin typeface="Calibri"/>
              </a:rPr>
              <a:t>Chain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847088"/>
            <a:ext cx="80467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1" i="0">
                <a:solidFill>
                  <a:srgbClr val="FFFFFF"/>
                </a:solidFill>
                <a:latin typeface="Calibri"/>
              </a:rPr>
              <a:t>Skill/action → Consumes → Produces → Next consumer → Value 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63240"/>
            <a:ext cx="32461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063240"/>
            <a:ext cx="73152" cy="80467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172968"/>
            <a:ext cx="284378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compound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520440"/>
            <a:ext cx="284378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1B2B3C"/>
                </a:solidFill>
                <a:latin typeface="Calibri"/>
              </a:rPr>
              <a:t>Output is ready for the next consumer and advances acceptance criteria.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063240"/>
            <a:ext cx="32461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3063240"/>
            <a:ext cx="73152" cy="804672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3172968"/>
            <a:ext cx="284378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isolated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3520440"/>
            <a:ext cx="284378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1B2B3C"/>
                </a:solidFill>
                <a:latin typeface="Calibri"/>
              </a:rPr>
              <a:t>Skill completed but produced no useful handoff.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3063240"/>
            <a:ext cx="32461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9872" y="3063240"/>
            <a:ext cx="73152" cy="804672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172968"/>
            <a:ext cx="284378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duplicate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520440"/>
            <a:ext cx="284378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1B2B3C"/>
                </a:solidFill>
                <a:latin typeface="Calibri"/>
              </a:rPr>
              <a:t>Repeats prior work without material improvement.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206240"/>
            <a:ext cx="32461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206240"/>
            <a:ext cx="73152" cy="80467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315968"/>
            <a:ext cx="284378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blocked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4663440"/>
            <a:ext cx="284378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1B2B3C"/>
                </a:solidFill>
                <a:latin typeface="Calibri"/>
              </a:rPr>
              <a:t>Cannot produce the required handoff.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4206240"/>
            <a:ext cx="32461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4206240"/>
            <a:ext cx="73152" cy="80467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0288" y="4315968"/>
            <a:ext cx="284378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reroute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4663440"/>
            <a:ext cx="284378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1B2B3C"/>
                </a:solidFill>
                <a:latin typeface="Calibri"/>
              </a:rPr>
              <a:t>Wrong skill for the phase; revise the chain.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&amp; Realization SOP | 2026-07-01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30-Day Rollout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From install to governed use-case backlog.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47088"/>
            <a:ext cx="235915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847088"/>
            <a:ext cx="73152" cy="21488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9536" y="1993392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020824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1956816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04288"/>
            <a:ext cx="1956816" cy="1618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Install Hermes; configure model provider; wire You.com; inventory credentials; choose host machine.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2152" y="1847088"/>
            <a:ext cx="235915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2152" y="1847088"/>
            <a:ext cx="73152" cy="21488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48456" y="1993392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8456" y="2020824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23944" y="1956816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Week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304288"/>
            <a:ext cx="1956816" cy="1618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Install GBrain; create entity schema; configure Obsidian; run recall/write-back smoke tests.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1847088"/>
            <a:ext cx="235915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2" y="1847088"/>
            <a:ext cx="73152" cy="21488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37376" y="1993392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2020824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12864" y="1956816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Week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04288"/>
            <a:ext cx="1956816" cy="1618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Launch read-only briefs, contact enrichment reports, signal monitor, and nightly cost/model scan.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79991" y="1847088"/>
            <a:ext cx="235915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79991" y="1847088"/>
            <a:ext cx="73152" cy="21488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26295" y="1993392"/>
            <a:ext cx="384048" cy="25603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26295" y="2020824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1783" y="1956816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Week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59" y="2304288"/>
            <a:ext cx="1956816" cy="1618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Promote top workflows to draft mode; add approval queues; establish weekly QA and backlog review.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800600"/>
            <a:ext cx="11094415" cy="65836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965192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Exit criterion: three live routines with source tieout, approval gates, and weekly operating cadence.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Agent Use Cases &amp; Realization SOP | 2026-07-01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DECISION AND NEXT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7315200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FFFF"/>
                </a:solidFill>
                <a:latin typeface="Calibri"/>
              </a:rPr>
              <a:t>Approve The Hermes SOP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76272"/>
            <a:ext cx="7955279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Start with low-risk read-only and draft workflows. Expand only after spec, chain QA, and verification gates pass.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154680"/>
            <a:ext cx="4892040" cy="822960"/>
          </a:xfrm>
          <a:prstGeom prst="roundRect">
            <a:avLst>
              <a:gd name="adj" fmla="val 7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10128"/>
            <a:ext cx="19202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Select 3 pilot use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3291840"/>
            <a:ext cx="22402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Daily brief, smart contacts, and pre-call/investor research are the recommended first lane.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154680"/>
            <a:ext cx="4892040" cy="822960"/>
          </a:xfrm>
          <a:prstGeom prst="roundRect">
            <a:avLst>
              <a:gd name="adj" fmla="val 7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3310128"/>
            <a:ext cx="19202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Confirm credentials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3291840"/>
            <a:ext cx="22402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Approve only the minimum data sources required for those use cases.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97680"/>
            <a:ext cx="4892040" cy="822960"/>
          </a:xfrm>
          <a:prstGeom prst="roundRect">
            <a:avLst>
              <a:gd name="adj" fmla="val 7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53128"/>
            <a:ext cx="19202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Set approval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434840"/>
            <a:ext cx="22402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Define which actions are draft-only versus externally executable.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297680"/>
            <a:ext cx="4892040" cy="822960"/>
          </a:xfrm>
          <a:prstGeom prst="roundRect">
            <a:avLst>
              <a:gd name="adj" fmla="val 7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453128"/>
            <a:ext cx="19202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Schedule week-1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434840"/>
            <a:ext cx="22402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Install, wire You.com, verify search, and create the first runbook.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Hermes Agent Use Cases &amp; Realization SOP | 2026-07-01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