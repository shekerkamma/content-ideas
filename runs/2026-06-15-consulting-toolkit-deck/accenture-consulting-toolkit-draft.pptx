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39935" y="0"/>
            <a:ext cx="26517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39935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100425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CONSULTING INTELLIGENCE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7100425" cy="2148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Accenture-Style
AI Consulting
Skill Packs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58768"/>
            <a:ext cx="710042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5 Skill Packs  ·  51 Skills  ·  Full Engagement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5967" y="1234440"/>
            <a:ext cx="21031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200" b="1" i="0">
                <a:solidFill>
                  <a:srgbClr val="FFB800"/>
                </a:solidFill>
                <a:latin typeface="Calibri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5967" y="2578608"/>
            <a:ext cx="2103120" cy="3017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TOTAL 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11435" y="2999232"/>
            <a:ext cx="1472184" cy="36576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5967" y="310896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5 PACKS  ·  17 DOMAINS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strategy-consulting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0441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0441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8457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8457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ai-transformation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2242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2242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0258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0258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solution-delivery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4044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4044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2060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2060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engagement-mgmt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845" y="5074920"/>
            <a:ext cx="2087209" cy="96012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845" y="5074920"/>
            <a:ext cx="64008" cy="9601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3861" y="5111496"/>
            <a:ext cx="1922617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861" y="5586984"/>
            <a:ext cx="192261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continuous-impr.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51 Skills Covering the Full Consulting Engagement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engagement-management runs in parallel with all other packs  ·  all other packs chain left to 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strategy-
consulting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Diagnose → Strategise
→ Execute → Communicate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03" y="2587752"/>
            <a:ext cx="1188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8819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8819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8547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7187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ai-
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8547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Maturity → Use Cases
→ Operating Model →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0983" y="2587752"/>
            <a:ext cx="1188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727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solution-
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Blueprint → Govern
→ Change → Value Realise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163" y="2587752"/>
            <a:ext cx="11887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9179" y="1783080"/>
            <a:ext cx="2663875" cy="19659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79179" y="1783080"/>
            <a:ext cx="266387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8907" y="1856232"/>
            <a:ext cx="50292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8907" y="2441448"/>
            <a:ext cx="502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547" y="1874520"/>
            <a:ext cx="191406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continuous-
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8907" y="2761488"/>
            <a:ext cx="248099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Operate → Improve
→ Mature → Exit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05072"/>
            <a:ext cx="11094415" cy="914400"/>
          </a:xfrm>
          <a:prstGeom prst="roundRect">
            <a:avLst>
              <a:gd name="adj" fmla="val 3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05072"/>
            <a:ext cx="11094415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096512"/>
            <a:ext cx="10728655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◀  engagement-management  ·  /win-strategy  →  /commercial-structuring  →  /engagement-kickoff  →  /stakeholder-cadence  →  /progress-reporting  →  /engagement-closeout  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553712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Cross-cutting: runs in parallel with all other packs — from first pursuit conversation to final client sign-off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Strategy outputs chain into AI Transformation  ·  AI Transformation chains into Solution Delivery  ·  Solution Delivery chains into Continuous Improvement  ·  Continuous Improvement loops back to Strategy (next cycle)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strategy-consulting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21 structured analytical frameworks for diagnosis, market intelligence, strategic choice, execution planning, risk governance, and executive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/strategy-consulting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Entry point for any engagement — outputs chain into ai-transformation and solution-delivery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6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Diagnosis &amp;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strategy-consulting  ·  Stabilise the fact base before deciding what 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/situation-assessment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Situation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Business reviews, turnaround diagnosis, board prep — when the fact base is contested or unclear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Fact base table, momentum signals, key issues list, initial hypotheses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/growth-barriers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Growth Barriers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Revenue has plateaued or growth is below expectation — diagnose the real 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Barrier map (demand / supply / capability), evidence register, highest-leverage unlock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/assumption-audit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Assumption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a major investment or board approval — stress-test the plan's hidden assumptions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Assumption register with confidence/impact scoring, red-flag list, pressure-test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Market &amp; Competitive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strategy-consulting  ·  Understand the landscape before committing to a 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/market-mapping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Market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Market entry, expansion planning, or TAM/SAM/SOM sizing for an investment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Market size (TAM/SAM/SOM), profit pool distribution, segment map, entry barriers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/competitive-intel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Competitive Intel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a product launch, pricing change, or when a competitor makes a significant 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Competitor profiles, strength/weakness matrix, differentiation map, counter-moves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/customer-segmentation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Customer 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Defining the ICP, designing go-to-market focus, or building a retention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Segment profiles (value/need/behaviour), ICP definition, GTM priorities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/profit-pool-analysis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Profit Pool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Market entry, product portfolio decisions, or channel strategy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Profit pool distribution across value chain, winner characteristics, strategic implications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Choice &amp;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strategy-consulting  ·  Generate options and quantify the economics before committing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/strategic-options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Strategic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Multiple credible strategic paths exist — build-buy-partner, market choices, product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Long-list to shortlist, evaluation against criteria, recommendation with rationale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/business-case-builder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Business Case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 investment needs NPV/ROI quantification for board or leadership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Business case with NPV/IRR, cost-benefit table, scenario analysis, sensitivity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/portfolio-review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Portfolio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Annual planning or capital allocation — where to invest, hold, or exit across the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Portfolio matrix, strategic fit vs financial contribution, reallocation recommendation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/pricing-strategy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Pricing 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Price increase, discount leakage, packaging redesign, or new product pricing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Pricing model recommendation, discount policy, price-to-value positioning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Operating Model &amp;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strategy-consulting  ·  Define how the organisation executes — structure, roadmap,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/operating-model-design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Operating Model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Transformation, new business unit, or functional redesign requiring a new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Target operating model, capability map, governance design, transition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/transformation-roadmap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Transformation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Major change programme requiring phased, fundable waves with clear sequencing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Phased roadmap, initiative register, dependency map, success metrics per phase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/initiative-prioritizer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Initiative Prioritizer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Too many competing initiatives — rank and sequence when capacity and budget are constrained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Scored initiative register, recommended portfolio, sequencing rationale, quick wins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Risk, Performance &amp; Value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strategy-consulting  ·  Govern risk, measure performance, and prove value over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/kpi-architect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KPI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Metrics redesign, dashboard build, OKR planning, or performance management overhaul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KPI hierarchy (lagging/leading), measurement definitions, accountability map, reporting 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/risk-and-mitigation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Risk &amp;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Strategy approval, launch risk, or board risk review requiring a structured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Risk register with P×I scores, mitigation plans, residual risk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/value-realization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Value Realization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Tracking whether a transformation is delivering the promised business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Benefits tracker, variance analysis, corrective actions register, revised forecast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/war-gaming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War Gaming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Pressure-test a strategy by simulating competitor and market responses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Scenario outcomes, vulnerability map, strategy adjustments, early-warning signals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Alignment &amp; Executive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strategy-consulting  ·  Turn findings into decisions and decisions into aligned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/decision-memo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Decision Memo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 decision requires executive or board approval — produce a structured briefing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One-page memo: issue framing, options, recommendation, ask, risk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/narrative-builder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Narrative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Building a Pyramid Principle story arc for a strategy presentation or board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Story arc, storyboard outline with beats, slide-by-slide narrative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/stakeholder-alignment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Stakeholder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Executive buy-in, board approval, or change management requiring a structured alignment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Stakeholder map, influence/interest grid, engagement plan, objection 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ai-transformation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6 AI-specific frameworks for maturity assessment, data readiness, use case prioritisation, operating model design, responsible AI, and build-buy-partner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/ai-transformation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Chains from strategy-consulting → outputs chain into solution-delivery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Maturity &amp;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ai-transformation  ·  Anchor the AI strategy in what is actually possible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/ai-maturity-assessment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Maturity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Start of any AI strategy engagement — before recommending investments or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Maturity scorecard (5 dimensions × 1–4 levels), blocker analysis, priority investments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/data-readiness-assessment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Data Readiness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committing to AI use cases — assess data fitness for each planned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Readiness verdict per use case (Ready/Conditional/Blocked), gaps register, remediation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&amp;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ai-transformation  ·  Select the right use cases and organise the AI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/ai-use-case-prioritiser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Use Case Prioritiser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Long list of AI candidates must be narrowed to a funded, sequenced delivery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Scored register, Value × Feasibility 2×2 map, Wave 1/2/3 portfolio, parking 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/ai-operating-model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Operating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Organisation ready to industrialise AI — design CoE / Federated / Embedded / Hybrid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Archetype evaluation, governance design, role requirements, capability build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Governance &amp;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ai-transformation  ·  Govern AI responsibly and make defensible sourcing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/responsible-ai-framework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Responsible AI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any customer-facing or high-stakes AI deployment — or when regulators require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6-principle framework, 4-tier risk taxonomy, use case risk register, review board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/ai-build-buy-partner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AI Build-Buy-Partner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Sourcing decisions needed for each AI capability — build, buy a product, or partner?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Build/Buy/Partner decision per capability, vendor shortlist, commercial model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solution-delivery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13 implementation frameworks covering solution design, delivery governance, change management, and value realization — from blueprint to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/solution-delivery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Chains from ai-transformation → outputs chain into continuous-improvement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4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Solution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solution-delivery  ·  Translate strategy into a structured, sequenced delivery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/solution-blueprint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Solution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Strategic option chosen — translate it into capabilities, components, workstreams, and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Capability map, component register, dependency map, phased delivery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/architecture-decision-record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Architecture Decision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 major technical decision must be documented, challenged, and available for later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ADR: context, options evaluated, decision, consequences, review trigger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/integration-sequencing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Integration Sequencing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Multiple systems must be integrated — sequence the work to de-risk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Thin thread, P1/P2/P3 integration phases, dependency map, test gates, rollback 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Delivery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solution-delivery  ·  Track risks, gates, and accountability from kickoff to go-live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/raid-log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RAID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Project kickoff and ongoing weekly — maintain risks/assumptions/issues/dependencies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RAID register with RAG status, P×I risk scores (≥12 = mandatory mitigation), owner assignments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4247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4247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9695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2847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/stage-gate-review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Stage Gate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95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End of each delivery phase — assess whether exit criteria are met before advancing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695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695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Gate verdict (Go / Conditional Go / No-Go), exit criteria scorecard, lessons captured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9855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5303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/delivery-risk-assessment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303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Delivery Risk Assessment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Project start and whenever a major risk surfaces — build a structured risk 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303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Risk register (5 categories, P×I scored), heat map, top-5 critical risks with mitigations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5463" y="1664208"/>
            <a:ext cx="267759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5463" y="1664208"/>
            <a:ext cx="267759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0911" y="1810512"/>
            <a:ext cx="236669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4063" y="1837944"/>
            <a:ext cx="22752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/raci-design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0911" y="2167128"/>
            <a:ext cx="236669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RACI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0911" y="2788920"/>
            <a:ext cx="236669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After blueprint and operating model — assign R/A/C/I for each decision and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911" y="5010912"/>
            <a:ext cx="236669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911" y="5212080"/>
            <a:ext cx="236669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RACI matrix, constraint validation (one A per row), role workload summary, escalation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Change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solution-delivery  ·  Build the will and skill to change — before, during, and after go-live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/change-readiness-assessment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Change Readiness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Before designing the adoption plan — identify where resistance will emerge by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ADKAR scorecard per group (1–5 per dimension), active barrier point, targeted interventions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/change-impact-assessment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Change Impact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Assess the severity of change across process, technology, role, and behaviour dimensions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Impact severity matrix (H/M/L per dimension per group), compounding impact identification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/adoption-plan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Adoption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Once impacts and readiness are understood — design activities that drive genuine adoption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Activity schedule, comms plan, training plan, reinforcement mechanisms, adoption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Value Realization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solution-delivery  ·  Prove the business case was delivered — track and sustain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/benefits-register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Benefits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Project start — translate the business case into tracked benefits with owners and milestones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Benefits register with baseline/target/owner, 30/90/180-day milestones, disbenefit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/post-implementation-review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Post-Implementation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90 days post go-live — compare actuals against the business case, identify corrective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Actuals vs target table, variance root-cause (five-why), forward actions register, revised forecast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/hypercare-plan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Hypercare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2 weeks before go-live — design the intensive support model bridging go-live and BAU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L1/L2/L3 support model, triage SLAs, KT schedule, hypercare exit criteria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engagement-management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6 engagement lifecycle frameworks covering pursuit, delivery governance, and closeout — runs in parallel with all other packs from first pursuit conversation to final sign-off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/engagement-management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Cross-cutting — runs in parallel with all other packs throughout the full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Pursuit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engagement-management  ·  Win the right work at the right terms before the proposal is written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/win-strategy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Win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Opportunity qualified — define competitive positioning before the proposal team starts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Client hot buttons, competitor analysis, 3–4 win themes, vulnerabilities neutralisation plan, Go/No-Go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/commercial-structuring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Commercial Structuring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Win strategy set — design the fee model, resource plan, and margin scenarios before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3 commercial model options, P&amp;L at three scenarios, negotiation brief, walk-away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engagement-management  ·  Run the engagement — governance, stakeholders, and weekly 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/engagement-kickoff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Engagement 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Week before the engagement starts — plan the kick-off meeting and first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Kick-off meeting agenda, governance cadence design, ways of working charter, 30-day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1642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090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0242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/stakeholder-cadence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7090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Stakeholder 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7090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Day 1 — design the forum architecture that governs the engagement from kick-off to closeout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090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090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Forum architecture (governance vs collaboration), agenda templates, escalation path, 90-day calendar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1664208"/>
            <a:ext cx="3588410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4644" y="1664208"/>
            <a:ext cx="3588410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0092" y="1810512"/>
            <a:ext cx="3277514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1837944"/>
            <a:ext cx="318607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/progress-reporting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0092" y="2167128"/>
            <a:ext cx="3277514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Progress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2788920"/>
            <a:ext cx="3277514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Weekly or monthly — produce the RAG status dashboard and steering committee pack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5010912"/>
            <a:ext cx="327751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0092" y="5212080"/>
            <a:ext cx="3277514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RAG dashboard with trend arrows, milestone tracker, top-3 issues, decisions needed, budget burn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Closeout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engagement-management  ·  Close cleanly and secure the next commercial opportunity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1299" y="1664208"/>
            <a:ext cx="5769095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1299" y="1664208"/>
            <a:ext cx="576909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6747" y="1810512"/>
            <a:ext cx="5458199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9899" y="1837944"/>
            <a:ext cx="53667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/engagement-closeout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6747" y="2167128"/>
            <a:ext cx="5458199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Engagement Closeout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6747" y="2788920"/>
            <a:ext cx="5458199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Final 2 weeks — deliverable sign-off, satisfaction capture, reference case, follow-on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6747" y="5010912"/>
            <a:ext cx="545819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747" y="5212080"/>
            <a:ext cx="5458199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Deliverable sign-off record, client satisfaction scorecard (5 dimensions), reference case, follow-on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9601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371600"/>
            <a:ext cx="8098922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continuous-improvement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2724912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2889504"/>
            <a:ext cx="7987978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5 post-delivery frameworks for BAU operating rhythm, quarterly performance reviews, improvement backlog, maturity progression, and consulting exit — closes the loop back to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4069080"/>
            <a:ext cx="3291840" cy="33832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11480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/continuous-improvement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4590288"/>
            <a:ext cx="798797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⛓  Chains from solution-delivery → loops back to strategy-consulting (next engagement cycle)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5655" y="1371600"/>
            <a:ext cx="228600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6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5655" y="3154680"/>
            <a:ext cx="2286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5655" y="35661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3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continuous-improvement  ·  Design and run the BAU governance that sustains delivered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/operating-rhythm-design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Operating Rhythm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End of hypercare — design the BAU meeting cadence and governance that replaces consulting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3-layer operating rhythm (operational/performance/strategic), forum design, CI loop, exit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/performance-review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Performance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Monthly or quarterly — review KPI actuals vs targets and drive corrective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KPI scorecard with RAG and trend arrows, benefits update, variance root-cause, forward corrective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continuous-improvement  ·  Score, sequence, and sustain post-delivery improvements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/continuous-improvement-backlog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CI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Ongoing post go-live — capture, score, and sequence enhancement ideas before they are lost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Scored backlog (Value+Urgency+Effort+Risk), Horizon 1/2/3 roadmap, parking lot with reasons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664208"/>
            <a:ext cx="5464911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8143" y="1664208"/>
            <a:ext cx="5464911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3591" y="1810512"/>
            <a:ext cx="5154015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43" y="1837944"/>
            <a:ext cx="50625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/capability-maturity-progression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3591" y="2167128"/>
            <a:ext cx="515401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Capability Maturity Progression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2788920"/>
            <a:ext cx="5154015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Annual — assess maturity level and plan the investments needed to reach the next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5010912"/>
            <a:ext cx="515401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5212080"/>
            <a:ext cx="5154015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Maturity scorecard (CMM 1–5 per dimension), blocker analysis, progression roadmap, leading indicators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Transition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continuous-improvement  ·  Exit with confidence — knowledge transferred, governance 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1299" y="1664208"/>
            <a:ext cx="5769095" cy="473659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11299" y="1664208"/>
            <a:ext cx="5769095" cy="822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6747" y="1810512"/>
            <a:ext cx="5458199" cy="26517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9899" y="1837944"/>
            <a:ext cx="5366759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/exit-strategy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6747" y="2167128"/>
            <a:ext cx="5458199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Exit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6747" y="2788920"/>
            <a:ext cx="5458199" cy="1420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4–6 weeks before consulting exit — plan knowledge transfer, retained advisory, and BAU handover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6747" y="5010912"/>
            <a:ext cx="545819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PRODUCES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747" y="5212080"/>
            <a:ext cx="5458199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Exit readiness scorecard (Ready/Conditional/Not Ready), KT plan, retained advisory model, re-engagement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Accenture-Style AI Consulting Toolkit  ·  shekerkamma@gmail.com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