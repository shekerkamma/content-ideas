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539935" y="0"/>
            <a:ext cx="2651760" cy="6858000"/>
          </a:xfrm>
          <a:prstGeom prst="rect">
            <a:avLst/>
          </a:prstGeom>
          <a:solidFill>
            <a:srgbClr val="12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539935" y="0"/>
            <a:ext cx="91440" cy="685800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7100425" cy="3383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00C9A7"/>
                </a:solidFill>
                <a:latin typeface="Calibri"/>
              </a:rPr>
              <a:t>CONSULTING INTELLIGENCE TOOLKIT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44752"/>
            <a:ext cx="7100425" cy="21488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4400" b="1" i="0">
                <a:solidFill>
                  <a:srgbClr val="FFFFFF"/>
                </a:solidFill>
                <a:latin typeface="Calibri"/>
              </a:rPr>
              <a:t>AI Consulting
Skill Packs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703320"/>
            <a:ext cx="1554480" cy="5486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3858768"/>
            <a:ext cx="7100425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0" i="0">
                <a:solidFill>
                  <a:srgbClr val="E0F7F1"/>
                </a:solidFill>
                <a:latin typeface="Calibri"/>
              </a:rPr>
              <a:t>5 Skill Packs  ·  51 Skills  ·  Full Engagement Lifecycle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95967" y="1234440"/>
            <a:ext cx="2103120" cy="1325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9200" b="1" i="0">
                <a:solidFill>
                  <a:srgbClr val="FFB800"/>
                </a:solidFill>
                <a:latin typeface="Calibri"/>
              </a:rPr>
              <a:t>51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95967" y="2578608"/>
            <a:ext cx="2103120" cy="30175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5B6B7C"/>
                </a:solidFill>
                <a:latin typeface="Calibri"/>
              </a:rPr>
              <a:t>TOTAL SKILLS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111435" y="2999232"/>
            <a:ext cx="1472184" cy="36576"/>
          </a:xfrm>
          <a:prstGeom prst="rect">
            <a:avLst/>
          </a:prstGeom>
          <a:solidFill>
            <a:srgbClr val="5B6B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795967" y="3108960"/>
            <a:ext cx="210312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950" b="0" i="0">
                <a:solidFill>
                  <a:srgbClr val="5B6B7C"/>
                </a:solidFill>
                <a:latin typeface="Calibri"/>
              </a:rPr>
              <a:t>5 PACKS  ·  17 DOMAINS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5074920"/>
            <a:ext cx="2087209" cy="960120"/>
          </a:xfrm>
          <a:prstGeom prst="roundRect">
            <a:avLst>
              <a:gd name="adj" fmla="val 4000"/>
            </a:avLst>
          </a:prstGeom>
          <a:solidFill>
            <a:srgbClr val="12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5074920"/>
            <a:ext cx="64008" cy="9601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6656" y="5111496"/>
            <a:ext cx="1922617" cy="4754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600" b="1" i="0">
                <a:solidFill>
                  <a:srgbClr val="FFB800"/>
                </a:solidFill>
                <a:latin typeface="Calibri"/>
              </a:rPr>
              <a:t>21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" y="5586984"/>
            <a:ext cx="1922617" cy="3840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FFFFFF"/>
                </a:solidFill>
                <a:latin typeface="Calibri"/>
              </a:rPr>
              <a:t>strategy-consulting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800441" y="5074920"/>
            <a:ext cx="2087209" cy="960120"/>
          </a:xfrm>
          <a:prstGeom prst="roundRect">
            <a:avLst>
              <a:gd name="adj" fmla="val 4000"/>
            </a:avLst>
          </a:prstGeom>
          <a:solidFill>
            <a:srgbClr val="12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800441" y="5074920"/>
            <a:ext cx="64008" cy="9601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928457" y="5111496"/>
            <a:ext cx="1922617" cy="4754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600" b="1" i="0">
                <a:solidFill>
                  <a:srgbClr val="FFB800"/>
                </a:solidFill>
                <a:latin typeface="Calibri"/>
              </a:rPr>
              <a:t>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28457" y="5586984"/>
            <a:ext cx="1922617" cy="3840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FFFFFF"/>
                </a:solidFill>
                <a:latin typeface="Calibri"/>
              </a:rPr>
              <a:t>ai-transformation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52242" y="5074920"/>
            <a:ext cx="2087209" cy="960120"/>
          </a:xfrm>
          <a:prstGeom prst="roundRect">
            <a:avLst>
              <a:gd name="adj" fmla="val 4000"/>
            </a:avLst>
          </a:prstGeom>
          <a:solidFill>
            <a:srgbClr val="12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52242" y="5074920"/>
            <a:ext cx="64008" cy="9601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180258" y="5111496"/>
            <a:ext cx="1922617" cy="4754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600" b="1" i="0">
                <a:solidFill>
                  <a:srgbClr val="FFB800"/>
                </a:solidFill>
                <a:latin typeface="Calibri"/>
              </a:rPr>
              <a:t>13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80258" y="5586984"/>
            <a:ext cx="1922617" cy="3840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FFFFFF"/>
                </a:solidFill>
                <a:latin typeface="Calibri"/>
              </a:rPr>
              <a:t>solution-delivery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04044" y="5074920"/>
            <a:ext cx="2087209" cy="960120"/>
          </a:xfrm>
          <a:prstGeom prst="roundRect">
            <a:avLst>
              <a:gd name="adj" fmla="val 4000"/>
            </a:avLst>
          </a:prstGeom>
          <a:solidFill>
            <a:srgbClr val="12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04044" y="5074920"/>
            <a:ext cx="64008" cy="9601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32060" y="5111496"/>
            <a:ext cx="1922617" cy="4754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600" b="1" i="0">
                <a:solidFill>
                  <a:srgbClr val="FFB800"/>
                </a:solidFill>
                <a:latin typeface="Calibri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32060" y="5586984"/>
            <a:ext cx="1922617" cy="3840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FFFFFF"/>
                </a:solidFill>
                <a:latin typeface="Calibri"/>
              </a:rPr>
              <a:t>engagement-mgmt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555845" y="5074920"/>
            <a:ext cx="2087209" cy="960120"/>
          </a:xfrm>
          <a:prstGeom prst="roundRect">
            <a:avLst>
              <a:gd name="adj" fmla="val 4000"/>
            </a:avLst>
          </a:prstGeom>
          <a:solidFill>
            <a:srgbClr val="12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555845" y="5074920"/>
            <a:ext cx="64008" cy="9601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683861" y="5111496"/>
            <a:ext cx="1922617" cy="4754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600" b="1" i="0">
                <a:solidFill>
                  <a:srgbClr val="FFB800"/>
                </a:solidFill>
                <a:latin typeface="Calibri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83861" y="5586984"/>
            <a:ext cx="1922617" cy="3840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FFFFFF"/>
                </a:solidFill>
                <a:latin typeface="Calibri"/>
              </a:rPr>
              <a:t>continuous-impr.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889098"/>
                </a:solidFill>
                <a:latin typeface="Calibri"/>
              </a:rPr>
              <a:t>AI Consulting Toolkit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889098"/>
                </a:solidFill>
                <a:latin typeface="Calibri"/>
              </a:rPr>
              <a:t>1 / 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51 Skills Covering the Full Consulting Engagement Lifecycle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engagement-management runs in parallel with all other packs  ·  all other packs chain left to right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83080"/>
            <a:ext cx="2663875" cy="1965960"/>
          </a:xfrm>
          <a:prstGeom prst="roundRect">
            <a:avLst>
              <a:gd name="adj" fmla="val 4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783080"/>
            <a:ext cx="2663875" cy="82296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856232"/>
            <a:ext cx="502920" cy="5669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400" b="1" i="0">
                <a:solidFill>
                  <a:srgbClr val="FFB800"/>
                </a:solidFill>
                <a:latin typeface="Calibri"/>
              </a:rPr>
              <a:t>21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441448"/>
            <a:ext cx="50292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skills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07008" y="1874520"/>
            <a:ext cx="1914067" cy="7315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FFFFFF"/>
                </a:solidFill>
                <a:latin typeface="Calibri"/>
              </a:rPr>
              <a:t>strategy-
consulting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2761488"/>
            <a:ext cx="2480995" cy="8412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000" b="0" i="0">
                <a:solidFill>
                  <a:srgbClr val="E0F7F1"/>
                </a:solidFill>
                <a:latin typeface="Calibri"/>
              </a:rPr>
              <a:t>Diagnose → Strategise
→ Execute → Communicate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30803" y="2587752"/>
            <a:ext cx="118872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700" b="1" i="0">
                <a:solidFill>
                  <a:srgbClr val="00C9A7"/>
                </a:solidFill>
                <a:latin typeface="Calibri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58819" y="1783080"/>
            <a:ext cx="2663875" cy="1965960"/>
          </a:xfrm>
          <a:prstGeom prst="roundRect">
            <a:avLst>
              <a:gd name="adj" fmla="val 4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358819" y="1783080"/>
            <a:ext cx="2663875" cy="82296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68547" y="1856232"/>
            <a:ext cx="502920" cy="5669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400" b="1" i="0">
                <a:solidFill>
                  <a:srgbClr val="FFB800"/>
                </a:solidFill>
                <a:latin typeface="Calibri"/>
              </a:rPr>
              <a:t>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68547" y="2441448"/>
            <a:ext cx="50292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skills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17187" y="1874520"/>
            <a:ext cx="1914067" cy="7315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FFFFFF"/>
                </a:solidFill>
                <a:latin typeface="Calibri"/>
              </a:rPr>
              <a:t>ai-
transformation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68547" y="2761488"/>
            <a:ext cx="2480995" cy="8412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000" b="0" i="0">
                <a:solidFill>
                  <a:srgbClr val="E0F7F1"/>
                </a:solidFill>
                <a:latin typeface="Calibri"/>
              </a:rPr>
              <a:t>Maturity → Use Cases
→ Operating Model → Governance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40983" y="2587752"/>
            <a:ext cx="118872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700" b="1" i="0">
                <a:solidFill>
                  <a:srgbClr val="00C9A7"/>
                </a:solidFill>
                <a:latin typeface="Calibri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68999" y="1783080"/>
            <a:ext cx="2663875" cy="1965960"/>
          </a:xfrm>
          <a:prstGeom prst="roundRect">
            <a:avLst>
              <a:gd name="adj" fmla="val 4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68999" y="1783080"/>
            <a:ext cx="2663875" cy="82296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78727" y="1856232"/>
            <a:ext cx="502920" cy="5669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400" b="1" i="0">
                <a:solidFill>
                  <a:srgbClr val="FFB800"/>
                </a:solidFill>
                <a:latin typeface="Calibri"/>
              </a:rPr>
              <a:t>13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78727" y="2441448"/>
            <a:ext cx="50292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skills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27367" y="1874520"/>
            <a:ext cx="1914067" cy="7315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FFFFFF"/>
                </a:solidFill>
                <a:latin typeface="Calibri"/>
              </a:rPr>
              <a:t>solution-
delivery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78727" y="2761488"/>
            <a:ext cx="2480995" cy="8412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000" b="0" i="0">
                <a:solidFill>
                  <a:srgbClr val="E0F7F1"/>
                </a:solidFill>
                <a:latin typeface="Calibri"/>
              </a:rPr>
              <a:t>Blueprint → Govern
→ Change → Value Realise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51163" y="2587752"/>
            <a:ext cx="118872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700" b="1" i="0">
                <a:solidFill>
                  <a:srgbClr val="00C9A7"/>
                </a:solidFill>
                <a:latin typeface="Calibri"/>
              </a:rPr>
              <a:t>→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979179" y="1783080"/>
            <a:ext cx="2663875" cy="1965960"/>
          </a:xfrm>
          <a:prstGeom prst="roundRect">
            <a:avLst>
              <a:gd name="adj" fmla="val 4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979179" y="1783080"/>
            <a:ext cx="2663875" cy="82296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088907" y="1856232"/>
            <a:ext cx="502920" cy="5669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400" b="1" i="0">
                <a:solidFill>
                  <a:srgbClr val="FFB800"/>
                </a:solidFill>
                <a:latin typeface="Calibri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88907" y="2441448"/>
            <a:ext cx="50292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skills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37547" y="1874520"/>
            <a:ext cx="1914067" cy="7315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FFFFFF"/>
                </a:solidFill>
                <a:latin typeface="Calibri"/>
              </a:rPr>
              <a:t>continuous-
improvement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88907" y="2761488"/>
            <a:ext cx="2480995" cy="8412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000" b="0" i="0">
                <a:solidFill>
                  <a:srgbClr val="E0F7F1"/>
                </a:solidFill>
                <a:latin typeface="Calibri"/>
              </a:rPr>
              <a:t>Operate → Improve
→ Mature → Exit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48640" y="4005072"/>
            <a:ext cx="11094415" cy="914400"/>
          </a:xfrm>
          <a:prstGeom prst="roundRect">
            <a:avLst>
              <a:gd name="adj" fmla="val 3000"/>
            </a:avLst>
          </a:prstGeom>
          <a:solidFill>
            <a:srgbClr val="008F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48640" y="4005072"/>
            <a:ext cx="11094415" cy="73152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31520" y="4096512"/>
            <a:ext cx="10728655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◀  engagement-management  ·  /win-strategy  →  /commercial-structuring  →  /engagement-kickoff  →  /stakeholder-cadence  →  /progress-reporting  →  /engagement-closeout  ▶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520" y="4553712"/>
            <a:ext cx="10728655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E0F7F1"/>
                </a:solidFill>
                <a:latin typeface="Calibri"/>
              </a:rPr>
              <a:t>Cross-cutting: runs in parallel with all other packs — from first pursuit conversation to final client sign-off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5120640"/>
            <a:ext cx="11094415" cy="5029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050" b="0" i="0">
                <a:solidFill>
                  <a:srgbClr val="5B6B7C"/>
                </a:solidFill>
                <a:latin typeface="Calibri"/>
              </a:rPr>
              <a:t>Strategy outputs chain into AI Transformation  ·  AI Transformation chains into Solution Delivery  ·  Solution Delivery chains into Continuous Improvement  ·  Continuous Improvement loops back to Strategy (next cycle)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AI Consulting Toolkit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2 / 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9184" y="960120"/>
            <a:ext cx="11094415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00C9A7"/>
                </a:solidFill>
                <a:latin typeface="Calibri"/>
              </a:rPr>
              <a:t>SECTION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" y="1371600"/>
            <a:ext cx="8098922" cy="12801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4200" b="1" i="0">
                <a:solidFill>
                  <a:srgbClr val="FFFFFF"/>
                </a:solidFill>
                <a:latin typeface="Calibri"/>
              </a:rPr>
              <a:t>Strategy &amp; Advisory</a:t>
            </a:r>
          </a:p>
        </p:txBody>
      </p:sp>
      <p:sp>
        <p:nvSpPr>
          <p:cNvPr id="6" name="Rectangle 5"/>
          <p:cNvSpPr/>
          <p:nvPr/>
        </p:nvSpPr>
        <p:spPr>
          <a:xfrm>
            <a:off x="329184" y="2724912"/>
            <a:ext cx="1371600" cy="5486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9184" y="2889504"/>
            <a:ext cx="7987978" cy="10515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sz="1400" b="0" i="0">
                <a:solidFill>
                  <a:srgbClr val="E0F7F1"/>
                </a:solidFill>
                <a:latin typeface="Calibri"/>
              </a:rPr>
              <a:t>21 structured analytical frameworks for diagnosis, market intelligence, strategic choice, execution planning, risk governance, and executive communication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9184" y="4069080"/>
            <a:ext cx="3291840" cy="338328"/>
          </a:xfrm>
          <a:prstGeom prst="roundRect">
            <a:avLst>
              <a:gd name="adj" fmla="val 5000"/>
            </a:avLst>
          </a:prstGeom>
          <a:solidFill>
            <a:srgbClr val="12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" y="4114800"/>
            <a:ext cx="3017520" cy="2468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F2A83B"/>
                </a:solidFill>
                <a:latin typeface="Calibri"/>
              </a:rPr>
              <a:t>/strategy-consulting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9184" y="4590288"/>
            <a:ext cx="7987978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5B6B7C"/>
                </a:solidFill>
                <a:latin typeface="Calibri"/>
              </a:rPr>
              <a:t>⛓  Entry point for any engagement — outputs chain into ai-transformation and solution-delivery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85655" y="1371600"/>
            <a:ext cx="2286000" cy="17373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600" b="1" i="0">
                <a:solidFill>
                  <a:srgbClr val="FFB800"/>
                </a:solidFill>
                <a:latin typeface="Calibri"/>
              </a:rPr>
              <a:t>21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85655" y="3154680"/>
            <a:ext cx="2286000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5B6B7C"/>
                </a:solidFill>
                <a:latin typeface="Calibri"/>
              </a:rPr>
              <a:t>SKILLS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85655" y="3566160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5B6B7C"/>
                </a:solidFill>
                <a:latin typeface="Calibri"/>
              </a:rPr>
              <a:t>6 domains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889098"/>
                </a:solidFill>
                <a:latin typeface="Calibri"/>
              </a:rPr>
              <a:t>AI Consulting Toolkit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889098"/>
                </a:solidFill>
                <a:latin typeface="Calibri"/>
              </a:rPr>
              <a:t>3 / 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Diagnosis &amp; Framing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Strategy &amp; Advisory  ·  Stabilise the fact base before deciding what to do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64208"/>
            <a:ext cx="3588410" cy="4736592"/>
          </a:xfrm>
          <a:prstGeom prst="roundRect">
            <a:avLst>
              <a:gd name="adj" fmla="val 4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64208"/>
            <a:ext cx="3588410" cy="82296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04088" y="1810512"/>
            <a:ext cx="3277514" cy="265176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837944"/>
            <a:ext cx="3186074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00C9A7"/>
                </a:solidFill>
                <a:latin typeface="Calibri"/>
              </a:rPr>
              <a:t>/situation-assessment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" y="2167128"/>
            <a:ext cx="3277514" cy="5943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250" b="1" i="0">
                <a:solidFill>
                  <a:srgbClr val="1B2B3C"/>
                </a:solidFill>
                <a:latin typeface="Calibri"/>
              </a:rPr>
              <a:t>Situation Assessment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788920"/>
            <a:ext cx="3277514" cy="142097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000" b="0" i="0">
                <a:solidFill>
                  <a:srgbClr val="5B6B7C"/>
                </a:solidFill>
                <a:latin typeface="Calibri"/>
              </a:rPr>
              <a:t>Business reviews, turnaround diagnosis, board prep — when the fact base is contested or unclear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" y="5010912"/>
            <a:ext cx="3277514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1" i="0">
                <a:solidFill>
                  <a:srgbClr val="00C9A7"/>
                </a:solidFill>
                <a:latin typeface="Calibri"/>
              </a:rPr>
              <a:t>PRODUCES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088" y="5212080"/>
            <a:ext cx="3277514" cy="10241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Fact base table, momentum signals, key issues list, initial hypotheses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01642" y="1664208"/>
            <a:ext cx="3588410" cy="4736592"/>
          </a:xfrm>
          <a:prstGeom prst="roundRect">
            <a:avLst>
              <a:gd name="adj" fmla="val 4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01642" y="1664208"/>
            <a:ext cx="3588410" cy="82296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457090" y="1810512"/>
            <a:ext cx="3277514" cy="265176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30242" y="1837944"/>
            <a:ext cx="3186074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00C9A7"/>
                </a:solidFill>
                <a:latin typeface="Calibri"/>
              </a:rPr>
              <a:t>/growth-barriers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57090" y="2167128"/>
            <a:ext cx="3277514" cy="5943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250" b="1" i="0">
                <a:solidFill>
                  <a:srgbClr val="1B2B3C"/>
                </a:solidFill>
                <a:latin typeface="Calibri"/>
              </a:rPr>
              <a:t>Growth Barriers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57090" y="2788920"/>
            <a:ext cx="3277514" cy="142097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000" b="0" i="0">
                <a:solidFill>
                  <a:srgbClr val="5B6B7C"/>
                </a:solidFill>
                <a:latin typeface="Calibri"/>
              </a:rPr>
              <a:t>Revenue has plateaued or growth is below expectation — diagnose the real constraint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57090" y="5010912"/>
            <a:ext cx="3277514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1" i="0">
                <a:solidFill>
                  <a:srgbClr val="00C9A7"/>
                </a:solidFill>
                <a:latin typeface="Calibri"/>
              </a:rPr>
              <a:t>PRODUCES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57090" y="5212080"/>
            <a:ext cx="3277514" cy="10241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Barrier map (demand / supply / capability), evidence register, highest-leverage unlock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54644" y="1664208"/>
            <a:ext cx="3588410" cy="4736592"/>
          </a:xfrm>
          <a:prstGeom prst="roundRect">
            <a:avLst>
              <a:gd name="adj" fmla="val 4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054644" y="1664208"/>
            <a:ext cx="3588410" cy="82296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210092" y="1810512"/>
            <a:ext cx="3277514" cy="265176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83244" y="1837944"/>
            <a:ext cx="3186074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00C9A7"/>
                </a:solidFill>
                <a:latin typeface="Calibri"/>
              </a:rPr>
              <a:t>/assumption-audit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10092" y="2167128"/>
            <a:ext cx="3277514" cy="5943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250" b="1" i="0">
                <a:solidFill>
                  <a:srgbClr val="1B2B3C"/>
                </a:solidFill>
                <a:latin typeface="Calibri"/>
              </a:rPr>
              <a:t>Assumption Audit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10092" y="2788920"/>
            <a:ext cx="3277514" cy="142097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000" b="0" i="0">
                <a:solidFill>
                  <a:srgbClr val="5B6B7C"/>
                </a:solidFill>
                <a:latin typeface="Calibri"/>
              </a:rPr>
              <a:t>Before a major investment or board approval — stress-test the plan's hidden assumptions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10092" y="5010912"/>
            <a:ext cx="3277514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1" i="0">
                <a:solidFill>
                  <a:srgbClr val="00C9A7"/>
                </a:solidFill>
                <a:latin typeface="Calibri"/>
              </a:rPr>
              <a:t>PRODUCES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10092" y="5212080"/>
            <a:ext cx="3277514" cy="10241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Assumption register with confidence/impact scoring, red-flag list, pressure-test questions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AI Consulting Toolkit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4 / 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Market &amp; Competitive Intelligence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Strategy &amp; Advisory  ·  Understand the landscape before committing to a position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64208"/>
            <a:ext cx="2677591" cy="4736592"/>
          </a:xfrm>
          <a:prstGeom prst="roundRect">
            <a:avLst>
              <a:gd name="adj" fmla="val 4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64208"/>
            <a:ext cx="2677591" cy="82296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04088" y="1810512"/>
            <a:ext cx="2366695" cy="265176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837944"/>
            <a:ext cx="2275255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00C9A7"/>
                </a:solidFill>
                <a:latin typeface="Calibri"/>
              </a:rPr>
              <a:t>/market-mapping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" y="2167128"/>
            <a:ext cx="2366695" cy="5943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250" b="1" i="0">
                <a:solidFill>
                  <a:srgbClr val="1B2B3C"/>
                </a:solidFill>
                <a:latin typeface="Calibri"/>
              </a:rPr>
              <a:t>Market Mapping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788920"/>
            <a:ext cx="2366695" cy="142097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000" b="0" i="0">
                <a:solidFill>
                  <a:srgbClr val="5B6B7C"/>
                </a:solidFill>
                <a:latin typeface="Calibri"/>
              </a:rPr>
              <a:t>Market entry, expansion planning, or TAM/SAM/SOM sizing for an investment case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" y="5010912"/>
            <a:ext cx="2366695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1" i="0">
                <a:solidFill>
                  <a:srgbClr val="00C9A7"/>
                </a:solidFill>
                <a:latin typeface="Calibri"/>
              </a:rPr>
              <a:t>PRODUCES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088" y="5212080"/>
            <a:ext cx="2366695" cy="10241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Market size (TAM/SAM/SOM), profit pool distribution, segment map, entry barriers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54247" y="1664208"/>
            <a:ext cx="2677591" cy="4736592"/>
          </a:xfrm>
          <a:prstGeom prst="roundRect">
            <a:avLst>
              <a:gd name="adj" fmla="val 4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354247" y="1664208"/>
            <a:ext cx="2677591" cy="82296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509695" y="1810512"/>
            <a:ext cx="2366695" cy="265176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82847" y="1837944"/>
            <a:ext cx="2275255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00C9A7"/>
                </a:solidFill>
                <a:latin typeface="Calibri"/>
              </a:rPr>
              <a:t>/competitive-intel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09695" y="2167128"/>
            <a:ext cx="2366695" cy="5943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250" b="1" i="0">
                <a:solidFill>
                  <a:srgbClr val="1B2B3C"/>
                </a:solidFill>
                <a:latin typeface="Calibri"/>
              </a:rPr>
              <a:t>Competitive Intel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09695" y="2788920"/>
            <a:ext cx="2366695" cy="142097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000" b="0" i="0">
                <a:solidFill>
                  <a:srgbClr val="5B6B7C"/>
                </a:solidFill>
                <a:latin typeface="Calibri"/>
              </a:rPr>
              <a:t>Before a product launch, pricing change, or when a competitor makes a significant move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09695" y="5010912"/>
            <a:ext cx="2366695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1" i="0">
                <a:solidFill>
                  <a:srgbClr val="00C9A7"/>
                </a:solidFill>
                <a:latin typeface="Calibri"/>
              </a:rPr>
              <a:t>PRODUCES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09695" y="5212080"/>
            <a:ext cx="2366695" cy="10241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Competitor profiles, strength/weakness matrix, differentiation map, counter-moves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59855" y="1664208"/>
            <a:ext cx="2677591" cy="4736592"/>
          </a:xfrm>
          <a:prstGeom prst="roundRect">
            <a:avLst>
              <a:gd name="adj" fmla="val 4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59855" y="1664208"/>
            <a:ext cx="2677591" cy="82296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315303" y="1810512"/>
            <a:ext cx="2366695" cy="265176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88455" y="1837944"/>
            <a:ext cx="2275255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00C9A7"/>
                </a:solidFill>
                <a:latin typeface="Calibri"/>
              </a:rPr>
              <a:t>/customer-segmentation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15303" y="2167128"/>
            <a:ext cx="2366695" cy="5943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250" b="1" i="0">
                <a:solidFill>
                  <a:srgbClr val="1B2B3C"/>
                </a:solidFill>
                <a:latin typeface="Calibri"/>
              </a:rPr>
              <a:t>Customer Segmentation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15303" y="2788920"/>
            <a:ext cx="2366695" cy="142097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000" b="0" i="0">
                <a:solidFill>
                  <a:srgbClr val="5B6B7C"/>
                </a:solidFill>
                <a:latin typeface="Calibri"/>
              </a:rPr>
              <a:t>Defining the ICP, designing go-to-market focus, or building a retention strategy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15303" y="5010912"/>
            <a:ext cx="2366695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1" i="0">
                <a:solidFill>
                  <a:srgbClr val="00C9A7"/>
                </a:solidFill>
                <a:latin typeface="Calibri"/>
              </a:rPr>
              <a:t>PRODUCES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15303" y="5212080"/>
            <a:ext cx="2366695" cy="10241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Segment profiles (value/need/behaviour), ICP definition, GTM priorities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965463" y="1664208"/>
            <a:ext cx="2677591" cy="4736592"/>
          </a:xfrm>
          <a:prstGeom prst="roundRect">
            <a:avLst>
              <a:gd name="adj" fmla="val 4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965463" y="1664208"/>
            <a:ext cx="2677591" cy="82296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9120911" y="1810512"/>
            <a:ext cx="2366695" cy="265176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94063" y="1837944"/>
            <a:ext cx="2275255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00C9A7"/>
                </a:solidFill>
                <a:latin typeface="Calibri"/>
              </a:rPr>
              <a:t>/profit-pool-analysis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20911" y="2167128"/>
            <a:ext cx="2366695" cy="5943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250" b="1" i="0">
                <a:solidFill>
                  <a:srgbClr val="1B2B3C"/>
                </a:solidFill>
                <a:latin typeface="Calibri"/>
              </a:rPr>
              <a:t>Profit Pool Analysis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20911" y="2788920"/>
            <a:ext cx="2366695" cy="142097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000" b="0" i="0">
                <a:solidFill>
                  <a:srgbClr val="5B6B7C"/>
                </a:solidFill>
                <a:latin typeface="Calibri"/>
              </a:rPr>
              <a:t>Market entry, product portfolio decisions, or channel strategy evaluation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20911" y="5010912"/>
            <a:ext cx="2366695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1" i="0">
                <a:solidFill>
                  <a:srgbClr val="00C9A7"/>
                </a:solidFill>
                <a:latin typeface="Calibri"/>
              </a:rPr>
              <a:t>PRODUCES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20911" y="5212080"/>
            <a:ext cx="2366695" cy="10241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Profit pool distribution across value chain, winner characteristics, strategic implications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AI Consulting Toolkit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5 / 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Strategic Choice &amp; Economics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Strategy &amp; Advisory  ·  Generate options and quantify the economics before committing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64208"/>
            <a:ext cx="2677591" cy="4736592"/>
          </a:xfrm>
          <a:prstGeom prst="roundRect">
            <a:avLst>
              <a:gd name="adj" fmla="val 4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64208"/>
            <a:ext cx="2677591" cy="82296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04088" y="1810512"/>
            <a:ext cx="2366695" cy="265176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837944"/>
            <a:ext cx="2275255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00C9A7"/>
                </a:solidFill>
                <a:latin typeface="Calibri"/>
              </a:rPr>
              <a:t>/strategic-options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" y="2167128"/>
            <a:ext cx="2366695" cy="5943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250" b="1" i="0">
                <a:solidFill>
                  <a:srgbClr val="1B2B3C"/>
                </a:solidFill>
                <a:latin typeface="Calibri"/>
              </a:rPr>
              <a:t>Strategic Options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788920"/>
            <a:ext cx="2366695" cy="142097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000" b="0" i="0">
                <a:solidFill>
                  <a:srgbClr val="5B6B7C"/>
                </a:solidFill>
                <a:latin typeface="Calibri"/>
              </a:rPr>
              <a:t>Multiple credible strategic paths exist — build-buy-partner, market choices, product direction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" y="5010912"/>
            <a:ext cx="2366695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1" i="0">
                <a:solidFill>
                  <a:srgbClr val="00C9A7"/>
                </a:solidFill>
                <a:latin typeface="Calibri"/>
              </a:rPr>
              <a:t>PRODUCES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088" y="5212080"/>
            <a:ext cx="2366695" cy="10241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Long-list to shortlist, evaluation against criteria, recommendation with rationale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54247" y="1664208"/>
            <a:ext cx="2677591" cy="4736592"/>
          </a:xfrm>
          <a:prstGeom prst="roundRect">
            <a:avLst>
              <a:gd name="adj" fmla="val 4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354247" y="1664208"/>
            <a:ext cx="2677591" cy="82296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509695" y="1810512"/>
            <a:ext cx="2366695" cy="265176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82847" y="1837944"/>
            <a:ext cx="2275255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00C9A7"/>
                </a:solidFill>
                <a:latin typeface="Calibri"/>
              </a:rPr>
              <a:t>/business-case-builder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09695" y="2167128"/>
            <a:ext cx="2366695" cy="5943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250" b="1" i="0">
                <a:solidFill>
                  <a:srgbClr val="1B2B3C"/>
                </a:solidFill>
                <a:latin typeface="Calibri"/>
              </a:rPr>
              <a:t>Business Case Builder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09695" y="2788920"/>
            <a:ext cx="2366695" cy="142097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000" b="0" i="0">
                <a:solidFill>
                  <a:srgbClr val="5B6B7C"/>
                </a:solidFill>
                <a:latin typeface="Calibri"/>
              </a:rPr>
              <a:t>An investment needs NPV/ROI quantification for board or leadership approval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09695" y="5010912"/>
            <a:ext cx="2366695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1" i="0">
                <a:solidFill>
                  <a:srgbClr val="00C9A7"/>
                </a:solidFill>
                <a:latin typeface="Calibri"/>
              </a:rPr>
              <a:t>PRODUCES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09695" y="5212080"/>
            <a:ext cx="2366695" cy="10241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Business case with NPV/IRR, cost-benefit table, scenario analysis, sensitivity table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59855" y="1664208"/>
            <a:ext cx="2677591" cy="4736592"/>
          </a:xfrm>
          <a:prstGeom prst="roundRect">
            <a:avLst>
              <a:gd name="adj" fmla="val 4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59855" y="1664208"/>
            <a:ext cx="2677591" cy="82296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315303" y="1810512"/>
            <a:ext cx="2366695" cy="265176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88455" y="1837944"/>
            <a:ext cx="2275255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00C9A7"/>
                </a:solidFill>
                <a:latin typeface="Calibri"/>
              </a:rPr>
              <a:t>/portfolio-review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15303" y="2167128"/>
            <a:ext cx="2366695" cy="5943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250" b="1" i="0">
                <a:solidFill>
                  <a:srgbClr val="1B2B3C"/>
                </a:solidFill>
                <a:latin typeface="Calibri"/>
              </a:rPr>
              <a:t>Portfolio Review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15303" y="2788920"/>
            <a:ext cx="2366695" cy="142097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000" b="0" i="0">
                <a:solidFill>
                  <a:srgbClr val="5B6B7C"/>
                </a:solidFill>
                <a:latin typeface="Calibri"/>
              </a:rPr>
              <a:t>Annual planning or capital allocation — where to invest, hold, or exit across the portfolio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15303" y="5010912"/>
            <a:ext cx="2366695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1" i="0">
                <a:solidFill>
                  <a:srgbClr val="00C9A7"/>
                </a:solidFill>
                <a:latin typeface="Calibri"/>
              </a:rPr>
              <a:t>PRODUCES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15303" y="5212080"/>
            <a:ext cx="2366695" cy="10241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Portfolio matrix, strategic fit vs financial contribution, reallocation recommendation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965463" y="1664208"/>
            <a:ext cx="2677591" cy="4736592"/>
          </a:xfrm>
          <a:prstGeom prst="roundRect">
            <a:avLst>
              <a:gd name="adj" fmla="val 4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965463" y="1664208"/>
            <a:ext cx="2677591" cy="82296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9120911" y="1810512"/>
            <a:ext cx="2366695" cy="265176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94063" y="1837944"/>
            <a:ext cx="2275255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00C9A7"/>
                </a:solidFill>
                <a:latin typeface="Calibri"/>
              </a:rPr>
              <a:t>/pricing-strategy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20911" y="2167128"/>
            <a:ext cx="2366695" cy="5943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250" b="1" i="0">
                <a:solidFill>
                  <a:srgbClr val="1B2B3C"/>
                </a:solidFill>
                <a:latin typeface="Calibri"/>
              </a:rPr>
              <a:t>Pricing Strategy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20911" y="2788920"/>
            <a:ext cx="2366695" cy="142097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000" b="0" i="0">
                <a:solidFill>
                  <a:srgbClr val="5B6B7C"/>
                </a:solidFill>
                <a:latin typeface="Calibri"/>
              </a:rPr>
              <a:t>Price increase, discount leakage, packaging redesign, or new product pricing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20911" y="5010912"/>
            <a:ext cx="2366695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1" i="0">
                <a:solidFill>
                  <a:srgbClr val="00C9A7"/>
                </a:solidFill>
                <a:latin typeface="Calibri"/>
              </a:rPr>
              <a:t>PRODUCES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20911" y="5212080"/>
            <a:ext cx="2366695" cy="10241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Pricing model recommendation, discount policy, price-to-value positioning map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AI Consulting Toolkit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6 / 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Operating Model &amp; Execution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Strategy &amp; Advisory  ·  Define how the organisation executes — structure, roadmap, priorities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64208"/>
            <a:ext cx="3588410" cy="4736592"/>
          </a:xfrm>
          <a:prstGeom prst="roundRect">
            <a:avLst>
              <a:gd name="adj" fmla="val 4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64208"/>
            <a:ext cx="3588410" cy="82296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04088" y="1810512"/>
            <a:ext cx="3277514" cy="265176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837944"/>
            <a:ext cx="3186074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00C9A7"/>
                </a:solidFill>
                <a:latin typeface="Calibri"/>
              </a:rPr>
              <a:t>/operating-model-design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" y="2167128"/>
            <a:ext cx="3277514" cy="5943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250" b="1" i="0">
                <a:solidFill>
                  <a:srgbClr val="1B2B3C"/>
                </a:solidFill>
                <a:latin typeface="Calibri"/>
              </a:rPr>
              <a:t>Operating Model Design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788920"/>
            <a:ext cx="3277514" cy="142097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000" b="0" i="0">
                <a:solidFill>
                  <a:srgbClr val="5B6B7C"/>
                </a:solidFill>
                <a:latin typeface="Calibri"/>
              </a:rPr>
              <a:t>Transformation, new business unit, or functional redesign requiring a new structure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" y="5010912"/>
            <a:ext cx="3277514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1" i="0">
                <a:solidFill>
                  <a:srgbClr val="00C9A7"/>
                </a:solidFill>
                <a:latin typeface="Calibri"/>
              </a:rPr>
              <a:t>PRODUCES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088" y="5212080"/>
            <a:ext cx="3277514" cy="10241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Target operating model, capability map, governance design, transition path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01642" y="1664208"/>
            <a:ext cx="3588410" cy="4736592"/>
          </a:xfrm>
          <a:prstGeom prst="roundRect">
            <a:avLst>
              <a:gd name="adj" fmla="val 4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01642" y="1664208"/>
            <a:ext cx="3588410" cy="82296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457090" y="1810512"/>
            <a:ext cx="3277514" cy="265176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30242" y="1837944"/>
            <a:ext cx="3186074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00C9A7"/>
                </a:solidFill>
                <a:latin typeface="Calibri"/>
              </a:rPr>
              <a:t>/transformation-roadmap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57090" y="2167128"/>
            <a:ext cx="3277514" cy="5943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250" b="1" i="0">
                <a:solidFill>
                  <a:srgbClr val="1B2B3C"/>
                </a:solidFill>
                <a:latin typeface="Calibri"/>
              </a:rPr>
              <a:t>Transformation Roadmap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57090" y="2788920"/>
            <a:ext cx="3277514" cy="142097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000" b="0" i="0">
                <a:solidFill>
                  <a:srgbClr val="5B6B7C"/>
                </a:solidFill>
                <a:latin typeface="Calibri"/>
              </a:rPr>
              <a:t>Major change programme requiring phased, fundable waves with clear sequencing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57090" y="5010912"/>
            <a:ext cx="3277514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1" i="0">
                <a:solidFill>
                  <a:srgbClr val="00C9A7"/>
                </a:solidFill>
                <a:latin typeface="Calibri"/>
              </a:rPr>
              <a:t>PRODUCES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57090" y="5212080"/>
            <a:ext cx="3277514" cy="10241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Phased roadmap, initiative register, dependency map, success metrics per phase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54644" y="1664208"/>
            <a:ext cx="3588410" cy="4736592"/>
          </a:xfrm>
          <a:prstGeom prst="roundRect">
            <a:avLst>
              <a:gd name="adj" fmla="val 4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054644" y="1664208"/>
            <a:ext cx="3588410" cy="82296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210092" y="1810512"/>
            <a:ext cx="3277514" cy="265176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83244" y="1837944"/>
            <a:ext cx="3186074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00C9A7"/>
                </a:solidFill>
                <a:latin typeface="Calibri"/>
              </a:rPr>
              <a:t>/initiative-prioritizer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10092" y="2167128"/>
            <a:ext cx="3277514" cy="5943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250" b="1" i="0">
                <a:solidFill>
                  <a:srgbClr val="1B2B3C"/>
                </a:solidFill>
                <a:latin typeface="Calibri"/>
              </a:rPr>
              <a:t>Initiative Prioritizer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10092" y="2788920"/>
            <a:ext cx="3277514" cy="142097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000" b="0" i="0">
                <a:solidFill>
                  <a:srgbClr val="5B6B7C"/>
                </a:solidFill>
                <a:latin typeface="Calibri"/>
              </a:rPr>
              <a:t>Too many competing initiatives — rank and sequence when capacity and budget are constrained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10092" y="5010912"/>
            <a:ext cx="3277514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1" i="0">
                <a:solidFill>
                  <a:srgbClr val="00C9A7"/>
                </a:solidFill>
                <a:latin typeface="Calibri"/>
              </a:rPr>
              <a:t>PRODUCES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10092" y="5212080"/>
            <a:ext cx="3277514" cy="10241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Scored initiative register, recommended portfolio, sequencing rationale, quick wins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AI Consulting Toolkit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7 / 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Risk, Performance &amp; Value Governance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Strategy &amp; Advisory  ·  Govern risk, measure performance, and prove value over time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64208"/>
            <a:ext cx="2677591" cy="4736592"/>
          </a:xfrm>
          <a:prstGeom prst="roundRect">
            <a:avLst>
              <a:gd name="adj" fmla="val 4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64208"/>
            <a:ext cx="2677591" cy="82296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04088" y="1810512"/>
            <a:ext cx="2366695" cy="265176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837944"/>
            <a:ext cx="2275255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00C9A7"/>
                </a:solidFill>
                <a:latin typeface="Calibri"/>
              </a:rPr>
              <a:t>/kpi-architect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" y="2167128"/>
            <a:ext cx="2366695" cy="5943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250" b="1" i="0">
                <a:solidFill>
                  <a:srgbClr val="1B2B3C"/>
                </a:solidFill>
                <a:latin typeface="Calibri"/>
              </a:rPr>
              <a:t>KPI Architect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788920"/>
            <a:ext cx="2366695" cy="142097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000" b="0" i="0">
                <a:solidFill>
                  <a:srgbClr val="5B6B7C"/>
                </a:solidFill>
                <a:latin typeface="Calibri"/>
              </a:rPr>
              <a:t>Metrics redesign, dashboard build, OKR planning, or performance management overhaul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" y="5010912"/>
            <a:ext cx="2366695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1" i="0">
                <a:solidFill>
                  <a:srgbClr val="00C9A7"/>
                </a:solidFill>
                <a:latin typeface="Calibri"/>
              </a:rPr>
              <a:t>PRODUCES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088" y="5212080"/>
            <a:ext cx="2366695" cy="10241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KPI hierarchy (lagging/leading), measurement definitions, accountability map, reporting cadence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54247" y="1664208"/>
            <a:ext cx="2677591" cy="4736592"/>
          </a:xfrm>
          <a:prstGeom prst="roundRect">
            <a:avLst>
              <a:gd name="adj" fmla="val 4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354247" y="1664208"/>
            <a:ext cx="2677591" cy="82296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509695" y="1810512"/>
            <a:ext cx="2366695" cy="265176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82847" y="1837944"/>
            <a:ext cx="2275255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00C9A7"/>
                </a:solidFill>
                <a:latin typeface="Calibri"/>
              </a:rPr>
              <a:t>/risk-and-mitigation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09695" y="2167128"/>
            <a:ext cx="2366695" cy="5943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250" b="1" i="0">
                <a:solidFill>
                  <a:srgbClr val="1B2B3C"/>
                </a:solidFill>
                <a:latin typeface="Calibri"/>
              </a:rPr>
              <a:t>Risk &amp; Mitigation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09695" y="2788920"/>
            <a:ext cx="2366695" cy="142097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000" b="0" i="0">
                <a:solidFill>
                  <a:srgbClr val="5B6B7C"/>
                </a:solidFill>
                <a:latin typeface="Calibri"/>
              </a:rPr>
              <a:t>Strategy approval, launch risk, or board risk review requiring a structured register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09695" y="5010912"/>
            <a:ext cx="2366695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1" i="0">
                <a:solidFill>
                  <a:srgbClr val="00C9A7"/>
                </a:solidFill>
                <a:latin typeface="Calibri"/>
              </a:rPr>
              <a:t>PRODUCES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09695" y="5212080"/>
            <a:ext cx="2366695" cy="10241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Risk register with P×I scores, mitigation plans, residual risk assessment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59855" y="1664208"/>
            <a:ext cx="2677591" cy="4736592"/>
          </a:xfrm>
          <a:prstGeom prst="roundRect">
            <a:avLst>
              <a:gd name="adj" fmla="val 4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59855" y="1664208"/>
            <a:ext cx="2677591" cy="82296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315303" y="1810512"/>
            <a:ext cx="2366695" cy="265176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88455" y="1837944"/>
            <a:ext cx="2275255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00C9A7"/>
                </a:solidFill>
                <a:latin typeface="Calibri"/>
              </a:rPr>
              <a:t>/value-realization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15303" y="2167128"/>
            <a:ext cx="2366695" cy="5943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250" b="1" i="0">
                <a:solidFill>
                  <a:srgbClr val="1B2B3C"/>
                </a:solidFill>
                <a:latin typeface="Calibri"/>
              </a:rPr>
              <a:t>Value Realization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15303" y="2788920"/>
            <a:ext cx="2366695" cy="142097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000" b="0" i="0">
                <a:solidFill>
                  <a:srgbClr val="5B6B7C"/>
                </a:solidFill>
                <a:latin typeface="Calibri"/>
              </a:rPr>
              <a:t>Tracking whether a transformation is delivering the promised business case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15303" y="5010912"/>
            <a:ext cx="2366695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1" i="0">
                <a:solidFill>
                  <a:srgbClr val="00C9A7"/>
                </a:solidFill>
                <a:latin typeface="Calibri"/>
              </a:rPr>
              <a:t>PRODUCES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15303" y="5212080"/>
            <a:ext cx="2366695" cy="10241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Benefits tracker, variance analysis, corrective actions register, revised forecast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965463" y="1664208"/>
            <a:ext cx="2677591" cy="4736592"/>
          </a:xfrm>
          <a:prstGeom prst="roundRect">
            <a:avLst>
              <a:gd name="adj" fmla="val 4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965463" y="1664208"/>
            <a:ext cx="2677591" cy="82296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9120911" y="1810512"/>
            <a:ext cx="2366695" cy="265176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94063" y="1837944"/>
            <a:ext cx="2275255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00C9A7"/>
                </a:solidFill>
                <a:latin typeface="Calibri"/>
              </a:rPr>
              <a:t>/war-gaming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20911" y="2167128"/>
            <a:ext cx="2366695" cy="5943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250" b="1" i="0">
                <a:solidFill>
                  <a:srgbClr val="1B2B3C"/>
                </a:solidFill>
                <a:latin typeface="Calibri"/>
              </a:rPr>
              <a:t>War Gaming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20911" y="2788920"/>
            <a:ext cx="2366695" cy="142097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000" b="0" i="0">
                <a:solidFill>
                  <a:srgbClr val="5B6B7C"/>
                </a:solidFill>
                <a:latin typeface="Calibri"/>
              </a:rPr>
              <a:t>Pressure-test a strategy by simulating competitor and market responses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20911" y="5010912"/>
            <a:ext cx="2366695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1" i="0">
                <a:solidFill>
                  <a:srgbClr val="00C9A7"/>
                </a:solidFill>
                <a:latin typeface="Calibri"/>
              </a:rPr>
              <a:t>PRODUCES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20911" y="5212080"/>
            <a:ext cx="2366695" cy="10241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Scenario outcomes, vulnerability map, strategy adjustments, early-warning signals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AI Consulting Toolkit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8 / 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Alignment &amp; Executive Communication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Strategy &amp; Advisory  ·  Turn findings into decisions and decisions into aligned action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64208"/>
            <a:ext cx="3588410" cy="4736592"/>
          </a:xfrm>
          <a:prstGeom prst="roundRect">
            <a:avLst>
              <a:gd name="adj" fmla="val 4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64208"/>
            <a:ext cx="3588410" cy="82296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04088" y="1810512"/>
            <a:ext cx="3277514" cy="265176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837944"/>
            <a:ext cx="3186074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00C9A7"/>
                </a:solidFill>
                <a:latin typeface="Calibri"/>
              </a:rPr>
              <a:t>/decision-memo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" y="2167128"/>
            <a:ext cx="3277514" cy="5943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250" b="1" i="0">
                <a:solidFill>
                  <a:srgbClr val="1B2B3C"/>
                </a:solidFill>
                <a:latin typeface="Calibri"/>
              </a:rPr>
              <a:t>Decision Memo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788920"/>
            <a:ext cx="3277514" cy="142097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000" b="0" i="0">
                <a:solidFill>
                  <a:srgbClr val="5B6B7C"/>
                </a:solidFill>
                <a:latin typeface="Calibri"/>
              </a:rPr>
              <a:t>A decision requires executive or board approval — produce a structured briefing note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" y="5010912"/>
            <a:ext cx="3277514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1" i="0">
                <a:solidFill>
                  <a:srgbClr val="00C9A7"/>
                </a:solidFill>
                <a:latin typeface="Calibri"/>
              </a:rPr>
              <a:t>PRODUCES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088" y="5212080"/>
            <a:ext cx="3277514" cy="10241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One-page memo: issue framing, options, recommendation, ask, risk summary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01642" y="1664208"/>
            <a:ext cx="3588410" cy="4736592"/>
          </a:xfrm>
          <a:prstGeom prst="roundRect">
            <a:avLst>
              <a:gd name="adj" fmla="val 4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01642" y="1664208"/>
            <a:ext cx="3588410" cy="82296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457090" y="1810512"/>
            <a:ext cx="3277514" cy="265176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30242" y="1837944"/>
            <a:ext cx="3186074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00C9A7"/>
                </a:solidFill>
                <a:latin typeface="Calibri"/>
              </a:rPr>
              <a:t>/narrative-builder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57090" y="2167128"/>
            <a:ext cx="3277514" cy="5943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250" b="1" i="0">
                <a:solidFill>
                  <a:srgbClr val="1B2B3C"/>
                </a:solidFill>
                <a:latin typeface="Calibri"/>
              </a:rPr>
              <a:t>Narrative Builder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57090" y="2788920"/>
            <a:ext cx="3277514" cy="142097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000" b="0" i="0">
                <a:solidFill>
                  <a:srgbClr val="5B6B7C"/>
                </a:solidFill>
                <a:latin typeface="Calibri"/>
              </a:rPr>
              <a:t>Building a Pyramid Principle story arc for a strategy presentation or board deck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57090" y="5010912"/>
            <a:ext cx="3277514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1" i="0">
                <a:solidFill>
                  <a:srgbClr val="00C9A7"/>
                </a:solidFill>
                <a:latin typeface="Calibri"/>
              </a:rPr>
              <a:t>PRODUCES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57090" y="5212080"/>
            <a:ext cx="3277514" cy="10241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Story arc, storyboard outline with beats, slide-by-slide narrative flow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54644" y="1664208"/>
            <a:ext cx="3588410" cy="4736592"/>
          </a:xfrm>
          <a:prstGeom prst="roundRect">
            <a:avLst>
              <a:gd name="adj" fmla="val 4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054644" y="1664208"/>
            <a:ext cx="3588410" cy="82296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210092" y="1810512"/>
            <a:ext cx="3277514" cy="265176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83244" y="1837944"/>
            <a:ext cx="3186074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00C9A7"/>
                </a:solidFill>
                <a:latin typeface="Calibri"/>
              </a:rPr>
              <a:t>/stakeholder-alignment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10092" y="2167128"/>
            <a:ext cx="3277514" cy="5943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250" b="1" i="0">
                <a:solidFill>
                  <a:srgbClr val="1B2B3C"/>
                </a:solidFill>
                <a:latin typeface="Calibri"/>
              </a:rPr>
              <a:t>Stakeholder Alignment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10092" y="2788920"/>
            <a:ext cx="3277514" cy="142097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000" b="0" i="0">
                <a:solidFill>
                  <a:srgbClr val="5B6B7C"/>
                </a:solidFill>
                <a:latin typeface="Calibri"/>
              </a:rPr>
              <a:t>Executive buy-in, board approval, or change management requiring a structured alignment plan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10092" y="5010912"/>
            <a:ext cx="3277514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1" i="0">
                <a:solidFill>
                  <a:srgbClr val="00C9A7"/>
                </a:solidFill>
                <a:latin typeface="Calibri"/>
              </a:rPr>
              <a:t>PRODUCES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10092" y="5212080"/>
            <a:ext cx="3277514" cy="10241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Stakeholder map, influence/interest grid, engagement plan, objection responses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AI Consulting Toolkit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9 / 26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9184" y="960120"/>
            <a:ext cx="11094415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00C9A7"/>
                </a:solidFill>
                <a:latin typeface="Calibri"/>
              </a:rPr>
              <a:t>SECTION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" y="1371600"/>
            <a:ext cx="8098922" cy="12801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4200" b="1" i="0">
                <a:solidFill>
                  <a:srgbClr val="FFFFFF"/>
                </a:solidFill>
                <a:latin typeface="Calibri"/>
              </a:rPr>
              <a:t>AI &amp; Digital Transformation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329184" y="2724912"/>
            <a:ext cx="1371600" cy="5486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9184" y="2889504"/>
            <a:ext cx="7987978" cy="10515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sz="1400" b="0" i="0">
                <a:solidFill>
                  <a:srgbClr val="E0F7F1"/>
                </a:solidFill>
                <a:latin typeface="Calibri"/>
              </a:rPr>
              <a:t>6 AI-specific frameworks for maturity assessment, data readiness, use case prioritisation, operating model design, responsible AI, and build-buy-partner decisions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9184" y="4069080"/>
            <a:ext cx="3291840" cy="338328"/>
          </a:xfrm>
          <a:prstGeom prst="roundRect">
            <a:avLst>
              <a:gd name="adj" fmla="val 5000"/>
            </a:avLst>
          </a:prstGeom>
          <a:solidFill>
            <a:srgbClr val="12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" y="4114800"/>
            <a:ext cx="3017520" cy="2468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F2A83B"/>
                </a:solidFill>
                <a:latin typeface="Calibri"/>
              </a:rPr>
              <a:t>/ai-transformation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9184" y="4590288"/>
            <a:ext cx="7987978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5B6B7C"/>
                </a:solidFill>
                <a:latin typeface="Calibri"/>
              </a:rPr>
              <a:t>⛓  Chains from strategy-consulting → outputs chain into solution-delivery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85655" y="1371600"/>
            <a:ext cx="2286000" cy="17373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600" b="1" i="0">
                <a:solidFill>
                  <a:srgbClr val="FFB800"/>
                </a:solidFill>
                <a:latin typeface="Calibri"/>
              </a:rPr>
              <a:t>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85655" y="3154680"/>
            <a:ext cx="2286000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5B6B7C"/>
                </a:solidFill>
                <a:latin typeface="Calibri"/>
              </a:rPr>
              <a:t>SKILLS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85655" y="3566160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5B6B7C"/>
                </a:solidFill>
                <a:latin typeface="Calibri"/>
              </a:rPr>
              <a:t>3 domains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889098"/>
                </a:solidFill>
                <a:latin typeface="Calibri"/>
              </a:rPr>
              <a:t>AI Consulting Toolkit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889098"/>
                </a:solidFill>
                <a:latin typeface="Calibri"/>
              </a:rPr>
              <a:t>10 / 26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Maturity &amp; Readiness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AI &amp; Digital Transformation  ·  Anchor the AI strategy in what is actually possible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64208"/>
            <a:ext cx="5464911" cy="4736592"/>
          </a:xfrm>
          <a:prstGeom prst="roundRect">
            <a:avLst>
              <a:gd name="adj" fmla="val 4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64208"/>
            <a:ext cx="5464911" cy="82296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04088" y="1810512"/>
            <a:ext cx="5154015" cy="265176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837944"/>
            <a:ext cx="5062575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00C9A7"/>
                </a:solidFill>
                <a:latin typeface="Calibri"/>
              </a:rPr>
              <a:t>/ai-maturity-assessment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" y="2167128"/>
            <a:ext cx="5154015" cy="5943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250" b="1" i="0">
                <a:solidFill>
                  <a:srgbClr val="1B2B3C"/>
                </a:solidFill>
                <a:latin typeface="Calibri"/>
              </a:rPr>
              <a:t>AI Maturity Assessment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788920"/>
            <a:ext cx="5154015" cy="142097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000" b="0" i="0">
                <a:solidFill>
                  <a:srgbClr val="5B6B7C"/>
                </a:solidFill>
                <a:latin typeface="Calibri"/>
              </a:rPr>
              <a:t>Start of any AI strategy engagement — before recommending investments or use cases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" y="5010912"/>
            <a:ext cx="5154015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1" i="0">
                <a:solidFill>
                  <a:srgbClr val="00C9A7"/>
                </a:solidFill>
                <a:latin typeface="Calibri"/>
              </a:rPr>
              <a:t>PRODUCES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088" y="5212080"/>
            <a:ext cx="5154015" cy="10241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Maturity scorecard (5 dimensions × 1–4 levels), blocker analysis, priority investments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8143" y="1664208"/>
            <a:ext cx="5464911" cy="4736592"/>
          </a:xfrm>
          <a:prstGeom prst="roundRect">
            <a:avLst>
              <a:gd name="adj" fmla="val 4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8143" y="1664208"/>
            <a:ext cx="5464911" cy="82296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333591" y="1810512"/>
            <a:ext cx="5154015" cy="265176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6743" y="1837944"/>
            <a:ext cx="5062575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00C9A7"/>
                </a:solidFill>
                <a:latin typeface="Calibri"/>
              </a:rPr>
              <a:t>/data-readiness-assessment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33591" y="2167128"/>
            <a:ext cx="5154015" cy="5943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250" b="1" i="0">
                <a:solidFill>
                  <a:srgbClr val="1B2B3C"/>
                </a:solidFill>
                <a:latin typeface="Calibri"/>
              </a:rPr>
              <a:t>Data Readiness Assessment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33591" y="2788920"/>
            <a:ext cx="5154015" cy="142097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000" b="0" i="0">
                <a:solidFill>
                  <a:srgbClr val="5B6B7C"/>
                </a:solidFill>
                <a:latin typeface="Calibri"/>
              </a:rPr>
              <a:t>Before committing to AI use cases — assess data fitness for each planned use case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33591" y="5010912"/>
            <a:ext cx="5154015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1" i="0">
                <a:solidFill>
                  <a:srgbClr val="00C9A7"/>
                </a:solidFill>
                <a:latin typeface="Calibri"/>
              </a:rPr>
              <a:t>PRODUCES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33591" y="5212080"/>
            <a:ext cx="5154015" cy="10241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Readiness verdict per use case (Ready/Conditional/Blocked), gaps register, remediation roadmap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AI Consulting Toolkit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11 / 26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Use Case &amp; Operating Model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AI &amp; Digital Transformation  ·  Select the right use cases and organise the AI function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64208"/>
            <a:ext cx="5464911" cy="4736592"/>
          </a:xfrm>
          <a:prstGeom prst="roundRect">
            <a:avLst>
              <a:gd name="adj" fmla="val 4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64208"/>
            <a:ext cx="5464911" cy="82296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04088" y="1810512"/>
            <a:ext cx="5154015" cy="265176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837944"/>
            <a:ext cx="5062575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00C9A7"/>
                </a:solidFill>
                <a:latin typeface="Calibri"/>
              </a:rPr>
              <a:t>/ai-use-case-prioritiser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" y="2167128"/>
            <a:ext cx="5154015" cy="5943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250" b="1" i="0">
                <a:solidFill>
                  <a:srgbClr val="1B2B3C"/>
                </a:solidFill>
                <a:latin typeface="Calibri"/>
              </a:rPr>
              <a:t>AI Use Case Prioritiser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788920"/>
            <a:ext cx="5154015" cy="142097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000" b="0" i="0">
                <a:solidFill>
                  <a:srgbClr val="5B6B7C"/>
                </a:solidFill>
                <a:latin typeface="Calibri"/>
              </a:rPr>
              <a:t>Long list of AI candidates must be narrowed to a funded, sequenced delivery portfolio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" y="5010912"/>
            <a:ext cx="5154015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1" i="0">
                <a:solidFill>
                  <a:srgbClr val="00C9A7"/>
                </a:solidFill>
                <a:latin typeface="Calibri"/>
              </a:rPr>
              <a:t>PRODUCES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088" y="5212080"/>
            <a:ext cx="5154015" cy="10241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Scored register, Value × Feasibility 2×2 map, Wave 1/2/3 portfolio, parking lot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8143" y="1664208"/>
            <a:ext cx="5464911" cy="4736592"/>
          </a:xfrm>
          <a:prstGeom prst="roundRect">
            <a:avLst>
              <a:gd name="adj" fmla="val 4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8143" y="1664208"/>
            <a:ext cx="5464911" cy="82296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333591" y="1810512"/>
            <a:ext cx="5154015" cy="265176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6743" y="1837944"/>
            <a:ext cx="5062575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00C9A7"/>
                </a:solidFill>
                <a:latin typeface="Calibri"/>
              </a:rPr>
              <a:t>/ai-operating-model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33591" y="2167128"/>
            <a:ext cx="5154015" cy="5943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250" b="1" i="0">
                <a:solidFill>
                  <a:srgbClr val="1B2B3C"/>
                </a:solidFill>
                <a:latin typeface="Calibri"/>
              </a:rPr>
              <a:t>AI Operating Model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33591" y="2788920"/>
            <a:ext cx="5154015" cy="142097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000" b="0" i="0">
                <a:solidFill>
                  <a:srgbClr val="5B6B7C"/>
                </a:solidFill>
                <a:latin typeface="Calibri"/>
              </a:rPr>
              <a:t>Organisation ready to industrialise AI — design CoE / Federated / Embedded / Hybrid model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33591" y="5010912"/>
            <a:ext cx="5154015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1" i="0">
                <a:solidFill>
                  <a:srgbClr val="00C9A7"/>
                </a:solidFill>
                <a:latin typeface="Calibri"/>
              </a:rPr>
              <a:t>PRODUCES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33591" y="5212080"/>
            <a:ext cx="5154015" cy="10241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Archetype evaluation, governance design, role requirements, capability build sequence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AI Consulting Toolkit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12 / 26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Governance &amp; Decisions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AI &amp; Digital Transformation  ·  Govern AI responsibly and make defensible sourcing decisions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64208"/>
            <a:ext cx="5464911" cy="4736592"/>
          </a:xfrm>
          <a:prstGeom prst="roundRect">
            <a:avLst>
              <a:gd name="adj" fmla="val 4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64208"/>
            <a:ext cx="5464911" cy="82296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04088" y="1810512"/>
            <a:ext cx="5154015" cy="265176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837944"/>
            <a:ext cx="5062575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00C9A7"/>
                </a:solidFill>
                <a:latin typeface="Calibri"/>
              </a:rPr>
              <a:t>/responsible-ai-framework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" y="2167128"/>
            <a:ext cx="5154015" cy="5943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250" b="1" i="0">
                <a:solidFill>
                  <a:srgbClr val="1B2B3C"/>
                </a:solidFill>
                <a:latin typeface="Calibri"/>
              </a:rPr>
              <a:t>Responsible AI Framework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788920"/>
            <a:ext cx="5154015" cy="142097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000" b="0" i="0">
                <a:solidFill>
                  <a:srgbClr val="5B6B7C"/>
                </a:solidFill>
                <a:latin typeface="Calibri"/>
              </a:rPr>
              <a:t>Before any customer-facing or high-stakes AI deployment — or when regulators require 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" y="5010912"/>
            <a:ext cx="5154015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1" i="0">
                <a:solidFill>
                  <a:srgbClr val="00C9A7"/>
                </a:solidFill>
                <a:latin typeface="Calibri"/>
              </a:rPr>
              <a:t>PRODUCES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088" y="5212080"/>
            <a:ext cx="5154015" cy="10241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6-principle framework, 4-tier risk taxonomy, use case risk register, review board design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8143" y="1664208"/>
            <a:ext cx="5464911" cy="4736592"/>
          </a:xfrm>
          <a:prstGeom prst="roundRect">
            <a:avLst>
              <a:gd name="adj" fmla="val 4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8143" y="1664208"/>
            <a:ext cx="5464911" cy="82296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333591" y="1810512"/>
            <a:ext cx="5154015" cy="265176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6743" y="1837944"/>
            <a:ext cx="5062575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00C9A7"/>
                </a:solidFill>
                <a:latin typeface="Calibri"/>
              </a:rPr>
              <a:t>/ai-build-buy-partner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33591" y="2167128"/>
            <a:ext cx="5154015" cy="5943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250" b="1" i="0">
                <a:solidFill>
                  <a:srgbClr val="1B2B3C"/>
                </a:solidFill>
                <a:latin typeface="Calibri"/>
              </a:rPr>
              <a:t>AI Build-Buy-Partner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33591" y="2788920"/>
            <a:ext cx="5154015" cy="142097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000" b="0" i="0">
                <a:solidFill>
                  <a:srgbClr val="5B6B7C"/>
                </a:solidFill>
                <a:latin typeface="Calibri"/>
              </a:rPr>
              <a:t>Sourcing decisions needed for each AI capability — build, buy a product, or partner?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33591" y="5010912"/>
            <a:ext cx="5154015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1" i="0">
                <a:solidFill>
                  <a:srgbClr val="00C9A7"/>
                </a:solidFill>
                <a:latin typeface="Calibri"/>
              </a:rPr>
              <a:t>PRODUCES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33591" y="5212080"/>
            <a:ext cx="5154015" cy="10241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Build/Buy/Partner decision per capability, vendor shortlist, commercial model recommendation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AI Consulting Toolkit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13 / 26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9184" y="960120"/>
            <a:ext cx="11094415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00C9A7"/>
                </a:solidFill>
                <a:latin typeface="Calibri"/>
              </a:rPr>
              <a:t>SECTION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" y="1371600"/>
            <a:ext cx="8098922" cy="12801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4200" b="1" i="0">
                <a:solidFill>
                  <a:srgbClr val="FFFFFF"/>
                </a:solidFill>
                <a:latin typeface="Calibri"/>
              </a:rPr>
              <a:t>Solution Delivery</a:t>
            </a:r>
          </a:p>
        </p:txBody>
      </p:sp>
      <p:sp>
        <p:nvSpPr>
          <p:cNvPr id="6" name="Rectangle 5"/>
          <p:cNvSpPr/>
          <p:nvPr/>
        </p:nvSpPr>
        <p:spPr>
          <a:xfrm>
            <a:off x="329184" y="2724912"/>
            <a:ext cx="1371600" cy="5486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9184" y="2889504"/>
            <a:ext cx="7987978" cy="10515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sz="1400" b="0" i="0">
                <a:solidFill>
                  <a:srgbClr val="E0F7F1"/>
                </a:solidFill>
                <a:latin typeface="Calibri"/>
              </a:rPr>
              <a:t>13 implementation frameworks covering solution design, delivery governance, change management, and value realization — from blueprint to benefits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9184" y="4069080"/>
            <a:ext cx="3291840" cy="338328"/>
          </a:xfrm>
          <a:prstGeom prst="roundRect">
            <a:avLst>
              <a:gd name="adj" fmla="val 5000"/>
            </a:avLst>
          </a:prstGeom>
          <a:solidFill>
            <a:srgbClr val="12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" y="4114800"/>
            <a:ext cx="3017520" cy="2468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F2A83B"/>
                </a:solidFill>
                <a:latin typeface="Calibri"/>
              </a:rPr>
              <a:t>/solution-delivery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9184" y="4590288"/>
            <a:ext cx="7987978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5B6B7C"/>
                </a:solidFill>
                <a:latin typeface="Calibri"/>
              </a:rPr>
              <a:t>⛓  Chains from ai-transformation → outputs chain into continuous-improvement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85655" y="1371600"/>
            <a:ext cx="2286000" cy="17373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600" b="1" i="0">
                <a:solidFill>
                  <a:srgbClr val="FFB800"/>
                </a:solidFill>
                <a:latin typeface="Calibri"/>
              </a:rPr>
              <a:t>13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85655" y="3154680"/>
            <a:ext cx="2286000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5B6B7C"/>
                </a:solidFill>
                <a:latin typeface="Calibri"/>
              </a:rPr>
              <a:t>SKILLS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85655" y="3566160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5B6B7C"/>
                </a:solidFill>
                <a:latin typeface="Calibri"/>
              </a:rPr>
              <a:t>4 domains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889098"/>
                </a:solidFill>
                <a:latin typeface="Calibri"/>
              </a:rPr>
              <a:t>AI Consulting Toolkit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889098"/>
                </a:solidFill>
                <a:latin typeface="Calibri"/>
              </a:rPr>
              <a:t>14 / 26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Solution Design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Solution Delivery  ·  Translate strategy into a structured, sequenced delivery design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64208"/>
            <a:ext cx="3588410" cy="4736592"/>
          </a:xfrm>
          <a:prstGeom prst="roundRect">
            <a:avLst>
              <a:gd name="adj" fmla="val 4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64208"/>
            <a:ext cx="3588410" cy="82296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04088" y="1810512"/>
            <a:ext cx="3277514" cy="265176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837944"/>
            <a:ext cx="3186074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00C9A7"/>
                </a:solidFill>
                <a:latin typeface="Calibri"/>
              </a:rPr>
              <a:t>/solution-blueprint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" y="2167128"/>
            <a:ext cx="3277514" cy="5943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250" b="1" i="0">
                <a:solidFill>
                  <a:srgbClr val="1B2B3C"/>
                </a:solidFill>
                <a:latin typeface="Calibri"/>
              </a:rPr>
              <a:t>Solution Blueprint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788920"/>
            <a:ext cx="3277514" cy="142097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000" b="0" i="0">
                <a:solidFill>
                  <a:srgbClr val="5B6B7C"/>
                </a:solidFill>
                <a:latin typeface="Calibri"/>
              </a:rPr>
              <a:t>Strategic option chosen — translate it into capabilities, components, workstreams, and phases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" y="5010912"/>
            <a:ext cx="3277514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1" i="0">
                <a:solidFill>
                  <a:srgbClr val="00C9A7"/>
                </a:solidFill>
                <a:latin typeface="Calibri"/>
              </a:rPr>
              <a:t>PRODUCES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088" y="5212080"/>
            <a:ext cx="3277514" cy="10241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Capability map, component register, dependency map, phased delivery plan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01642" y="1664208"/>
            <a:ext cx="3588410" cy="4736592"/>
          </a:xfrm>
          <a:prstGeom prst="roundRect">
            <a:avLst>
              <a:gd name="adj" fmla="val 4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01642" y="1664208"/>
            <a:ext cx="3588410" cy="82296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457090" y="1810512"/>
            <a:ext cx="3277514" cy="265176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30242" y="1837944"/>
            <a:ext cx="3186074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00C9A7"/>
                </a:solidFill>
                <a:latin typeface="Calibri"/>
              </a:rPr>
              <a:t>/architecture-decision-record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57090" y="2167128"/>
            <a:ext cx="3277514" cy="5943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250" b="1" i="0">
                <a:solidFill>
                  <a:srgbClr val="1B2B3C"/>
                </a:solidFill>
                <a:latin typeface="Calibri"/>
              </a:rPr>
              <a:t>Architecture Decision Record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57090" y="2788920"/>
            <a:ext cx="3277514" cy="142097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000" b="0" i="0">
                <a:solidFill>
                  <a:srgbClr val="5B6B7C"/>
                </a:solidFill>
                <a:latin typeface="Calibri"/>
              </a:rPr>
              <a:t>A major technical decision must be documented, challenged, and available for later review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57090" y="5010912"/>
            <a:ext cx="3277514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1" i="0">
                <a:solidFill>
                  <a:srgbClr val="00C9A7"/>
                </a:solidFill>
                <a:latin typeface="Calibri"/>
              </a:rPr>
              <a:t>PRODUCES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57090" y="5212080"/>
            <a:ext cx="3277514" cy="10241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ADR: context, options evaluated, decision, consequences, review trigger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54644" y="1664208"/>
            <a:ext cx="3588410" cy="4736592"/>
          </a:xfrm>
          <a:prstGeom prst="roundRect">
            <a:avLst>
              <a:gd name="adj" fmla="val 4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054644" y="1664208"/>
            <a:ext cx="3588410" cy="82296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210092" y="1810512"/>
            <a:ext cx="3277514" cy="265176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83244" y="1837944"/>
            <a:ext cx="3186074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00C9A7"/>
                </a:solidFill>
                <a:latin typeface="Calibri"/>
              </a:rPr>
              <a:t>/integration-sequencing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10092" y="2167128"/>
            <a:ext cx="3277514" cy="5943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250" b="1" i="0">
                <a:solidFill>
                  <a:srgbClr val="1B2B3C"/>
                </a:solidFill>
                <a:latin typeface="Calibri"/>
              </a:rPr>
              <a:t>Integration Sequencing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10092" y="2788920"/>
            <a:ext cx="3277514" cy="142097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000" b="0" i="0">
                <a:solidFill>
                  <a:srgbClr val="5B6B7C"/>
                </a:solidFill>
                <a:latin typeface="Calibri"/>
              </a:rPr>
              <a:t>Multiple systems must be integrated — sequence the work to de-risk delivery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10092" y="5010912"/>
            <a:ext cx="3277514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1" i="0">
                <a:solidFill>
                  <a:srgbClr val="00C9A7"/>
                </a:solidFill>
                <a:latin typeface="Calibri"/>
              </a:rPr>
              <a:t>PRODUCES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10092" y="5212080"/>
            <a:ext cx="3277514" cy="10241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Thin thread, P1/P2/P3 integration phases, dependency map, test gates, rollback positions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AI Consulting Toolkit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15 / 26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Delivery Governance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Solution Delivery  ·  Track risks, gates, and accountability from kickoff to go-live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64208"/>
            <a:ext cx="2677591" cy="4736592"/>
          </a:xfrm>
          <a:prstGeom prst="roundRect">
            <a:avLst>
              <a:gd name="adj" fmla="val 4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64208"/>
            <a:ext cx="2677591" cy="82296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04088" y="1810512"/>
            <a:ext cx="2366695" cy="265176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837944"/>
            <a:ext cx="2275255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00C9A7"/>
                </a:solidFill>
                <a:latin typeface="Calibri"/>
              </a:rPr>
              <a:t>/raid-log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" y="2167128"/>
            <a:ext cx="2366695" cy="5943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250" b="1" i="0">
                <a:solidFill>
                  <a:srgbClr val="1B2B3C"/>
                </a:solidFill>
                <a:latin typeface="Calibri"/>
              </a:rPr>
              <a:t>RAID Log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788920"/>
            <a:ext cx="2366695" cy="142097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000" b="0" i="0">
                <a:solidFill>
                  <a:srgbClr val="5B6B7C"/>
                </a:solidFill>
                <a:latin typeface="Calibri"/>
              </a:rPr>
              <a:t>Project kickoff and ongoing weekly — maintain risks/assumptions/issues/dependencies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" y="5010912"/>
            <a:ext cx="2366695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1" i="0">
                <a:solidFill>
                  <a:srgbClr val="00C9A7"/>
                </a:solidFill>
                <a:latin typeface="Calibri"/>
              </a:rPr>
              <a:t>PRODUCES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088" y="5212080"/>
            <a:ext cx="2366695" cy="10241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RAID register with RAG status, P×I risk scores (≥12 = mandatory mitigation), owner assignments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54247" y="1664208"/>
            <a:ext cx="2677591" cy="4736592"/>
          </a:xfrm>
          <a:prstGeom prst="roundRect">
            <a:avLst>
              <a:gd name="adj" fmla="val 4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354247" y="1664208"/>
            <a:ext cx="2677591" cy="82296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509695" y="1810512"/>
            <a:ext cx="2366695" cy="265176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82847" y="1837944"/>
            <a:ext cx="2275255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00C9A7"/>
                </a:solidFill>
                <a:latin typeface="Calibri"/>
              </a:rPr>
              <a:t>/stage-gate-review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09695" y="2167128"/>
            <a:ext cx="2366695" cy="5943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250" b="1" i="0">
                <a:solidFill>
                  <a:srgbClr val="1B2B3C"/>
                </a:solidFill>
                <a:latin typeface="Calibri"/>
              </a:rPr>
              <a:t>Stage Gate Review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09695" y="2788920"/>
            <a:ext cx="2366695" cy="142097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000" b="0" i="0">
                <a:solidFill>
                  <a:srgbClr val="5B6B7C"/>
                </a:solidFill>
                <a:latin typeface="Calibri"/>
              </a:rPr>
              <a:t>End of each delivery phase — assess whether exit criteria are met before advancing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09695" y="5010912"/>
            <a:ext cx="2366695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1" i="0">
                <a:solidFill>
                  <a:srgbClr val="00C9A7"/>
                </a:solidFill>
                <a:latin typeface="Calibri"/>
              </a:rPr>
              <a:t>PRODUCES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09695" y="5212080"/>
            <a:ext cx="2366695" cy="10241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Gate verdict (Go / Conditional Go / No-Go), exit criteria scorecard, lessons captured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59855" y="1664208"/>
            <a:ext cx="2677591" cy="4736592"/>
          </a:xfrm>
          <a:prstGeom prst="roundRect">
            <a:avLst>
              <a:gd name="adj" fmla="val 4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59855" y="1664208"/>
            <a:ext cx="2677591" cy="82296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315303" y="1810512"/>
            <a:ext cx="2366695" cy="265176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88455" y="1837944"/>
            <a:ext cx="2275255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00C9A7"/>
                </a:solidFill>
                <a:latin typeface="Calibri"/>
              </a:rPr>
              <a:t>/delivery-risk-assessment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15303" y="2167128"/>
            <a:ext cx="2366695" cy="5943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250" b="1" i="0">
                <a:solidFill>
                  <a:srgbClr val="1B2B3C"/>
                </a:solidFill>
                <a:latin typeface="Calibri"/>
              </a:rPr>
              <a:t>Delivery Risk Assessment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15303" y="2788920"/>
            <a:ext cx="2366695" cy="142097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000" b="0" i="0">
                <a:solidFill>
                  <a:srgbClr val="5B6B7C"/>
                </a:solidFill>
                <a:latin typeface="Calibri"/>
              </a:rPr>
              <a:t>Project start and whenever a major risk surfaces — build a structured risk register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15303" y="5010912"/>
            <a:ext cx="2366695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1" i="0">
                <a:solidFill>
                  <a:srgbClr val="00C9A7"/>
                </a:solidFill>
                <a:latin typeface="Calibri"/>
              </a:rPr>
              <a:t>PRODUCES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15303" y="5212080"/>
            <a:ext cx="2366695" cy="10241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Risk register (5 categories, P×I scored), heat map, top-5 critical risks with mitigations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965463" y="1664208"/>
            <a:ext cx="2677591" cy="4736592"/>
          </a:xfrm>
          <a:prstGeom prst="roundRect">
            <a:avLst>
              <a:gd name="adj" fmla="val 4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965463" y="1664208"/>
            <a:ext cx="2677591" cy="82296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9120911" y="1810512"/>
            <a:ext cx="2366695" cy="265176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94063" y="1837944"/>
            <a:ext cx="2275255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00C9A7"/>
                </a:solidFill>
                <a:latin typeface="Calibri"/>
              </a:rPr>
              <a:t>/raci-design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20911" y="2167128"/>
            <a:ext cx="2366695" cy="5943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250" b="1" i="0">
                <a:solidFill>
                  <a:srgbClr val="1B2B3C"/>
                </a:solidFill>
                <a:latin typeface="Calibri"/>
              </a:rPr>
              <a:t>RACI Design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20911" y="2788920"/>
            <a:ext cx="2366695" cy="142097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000" b="0" i="0">
                <a:solidFill>
                  <a:srgbClr val="5B6B7C"/>
                </a:solidFill>
                <a:latin typeface="Calibri"/>
              </a:rPr>
              <a:t>After blueprint and operating model — assign R/A/C/I for each decision and deliverable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20911" y="5010912"/>
            <a:ext cx="2366695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1" i="0">
                <a:solidFill>
                  <a:srgbClr val="00C9A7"/>
                </a:solidFill>
                <a:latin typeface="Calibri"/>
              </a:rPr>
              <a:t>PRODUCES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20911" y="5212080"/>
            <a:ext cx="2366695" cy="10241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RACI matrix, constraint validation (one A per row), role workload summary, escalation path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AI Consulting Toolkit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16 / 26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Change Management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Solution Delivery  ·  Build the will and skill to change — before, during, and after go-live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64208"/>
            <a:ext cx="3588410" cy="4736592"/>
          </a:xfrm>
          <a:prstGeom prst="roundRect">
            <a:avLst>
              <a:gd name="adj" fmla="val 4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64208"/>
            <a:ext cx="3588410" cy="82296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04088" y="1810512"/>
            <a:ext cx="3277514" cy="265176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837944"/>
            <a:ext cx="3186074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00C9A7"/>
                </a:solidFill>
                <a:latin typeface="Calibri"/>
              </a:rPr>
              <a:t>/change-readiness-assessment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" y="2167128"/>
            <a:ext cx="3277514" cy="5943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250" b="1" i="0">
                <a:solidFill>
                  <a:srgbClr val="1B2B3C"/>
                </a:solidFill>
                <a:latin typeface="Calibri"/>
              </a:rPr>
              <a:t>Change Readiness Assessment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788920"/>
            <a:ext cx="3277514" cy="142097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000" b="0" i="0">
                <a:solidFill>
                  <a:srgbClr val="5B6B7C"/>
                </a:solidFill>
                <a:latin typeface="Calibri"/>
              </a:rPr>
              <a:t>Before designing the adoption plan — identify where resistance will emerge by group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" y="5010912"/>
            <a:ext cx="3277514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1" i="0">
                <a:solidFill>
                  <a:srgbClr val="00C9A7"/>
                </a:solidFill>
                <a:latin typeface="Calibri"/>
              </a:rPr>
              <a:t>PRODUCES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088" y="5212080"/>
            <a:ext cx="3277514" cy="10241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ADKAR scorecard per group (1–5 per dimension), active barrier point, targeted interventions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01642" y="1664208"/>
            <a:ext cx="3588410" cy="4736592"/>
          </a:xfrm>
          <a:prstGeom prst="roundRect">
            <a:avLst>
              <a:gd name="adj" fmla="val 4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01642" y="1664208"/>
            <a:ext cx="3588410" cy="82296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457090" y="1810512"/>
            <a:ext cx="3277514" cy="265176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30242" y="1837944"/>
            <a:ext cx="3186074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00C9A7"/>
                </a:solidFill>
                <a:latin typeface="Calibri"/>
              </a:rPr>
              <a:t>/change-impact-assessment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57090" y="2167128"/>
            <a:ext cx="3277514" cy="5943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250" b="1" i="0">
                <a:solidFill>
                  <a:srgbClr val="1B2B3C"/>
                </a:solidFill>
                <a:latin typeface="Calibri"/>
              </a:rPr>
              <a:t>Change Impact Assessment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57090" y="2788920"/>
            <a:ext cx="3277514" cy="142097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000" b="0" i="0">
                <a:solidFill>
                  <a:srgbClr val="5B6B7C"/>
                </a:solidFill>
                <a:latin typeface="Calibri"/>
              </a:rPr>
              <a:t>Assess the severity of change across process, technology, role, and behaviour dimensions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57090" y="5010912"/>
            <a:ext cx="3277514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1" i="0">
                <a:solidFill>
                  <a:srgbClr val="00C9A7"/>
                </a:solidFill>
                <a:latin typeface="Calibri"/>
              </a:rPr>
              <a:t>PRODUCES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57090" y="5212080"/>
            <a:ext cx="3277514" cy="10241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Impact severity matrix (H/M/L per dimension per group), compounding impact identification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54644" y="1664208"/>
            <a:ext cx="3588410" cy="4736592"/>
          </a:xfrm>
          <a:prstGeom prst="roundRect">
            <a:avLst>
              <a:gd name="adj" fmla="val 4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054644" y="1664208"/>
            <a:ext cx="3588410" cy="82296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210092" y="1810512"/>
            <a:ext cx="3277514" cy="265176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83244" y="1837944"/>
            <a:ext cx="3186074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00C9A7"/>
                </a:solidFill>
                <a:latin typeface="Calibri"/>
              </a:rPr>
              <a:t>/adoption-plan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10092" y="2167128"/>
            <a:ext cx="3277514" cy="5943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250" b="1" i="0">
                <a:solidFill>
                  <a:srgbClr val="1B2B3C"/>
                </a:solidFill>
                <a:latin typeface="Calibri"/>
              </a:rPr>
              <a:t>Adoption Plan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10092" y="2788920"/>
            <a:ext cx="3277514" cy="142097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000" b="0" i="0">
                <a:solidFill>
                  <a:srgbClr val="5B6B7C"/>
                </a:solidFill>
                <a:latin typeface="Calibri"/>
              </a:rPr>
              <a:t>Once impacts and readiness are understood — design activities that drive genuine adoption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10092" y="5010912"/>
            <a:ext cx="3277514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1" i="0">
                <a:solidFill>
                  <a:srgbClr val="00C9A7"/>
                </a:solidFill>
                <a:latin typeface="Calibri"/>
              </a:rPr>
              <a:t>PRODUCES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10092" y="5212080"/>
            <a:ext cx="3277514" cy="10241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Activity schedule, comms plan, training plan, reinforcement mechanisms, adoption metrics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AI Consulting Toolkit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17 / 26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Value Realization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Solution Delivery  ·  Prove the business case was delivered — track and sustain benefits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64208"/>
            <a:ext cx="3588410" cy="4736592"/>
          </a:xfrm>
          <a:prstGeom prst="roundRect">
            <a:avLst>
              <a:gd name="adj" fmla="val 4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64208"/>
            <a:ext cx="3588410" cy="82296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04088" y="1810512"/>
            <a:ext cx="3277514" cy="265176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837944"/>
            <a:ext cx="3186074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00C9A7"/>
                </a:solidFill>
                <a:latin typeface="Calibri"/>
              </a:rPr>
              <a:t>/benefits-register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" y="2167128"/>
            <a:ext cx="3277514" cy="5943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250" b="1" i="0">
                <a:solidFill>
                  <a:srgbClr val="1B2B3C"/>
                </a:solidFill>
                <a:latin typeface="Calibri"/>
              </a:rPr>
              <a:t>Benefits Register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788920"/>
            <a:ext cx="3277514" cy="142097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000" b="0" i="0">
                <a:solidFill>
                  <a:srgbClr val="5B6B7C"/>
                </a:solidFill>
                <a:latin typeface="Calibri"/>
              </a:rPr>
              <a:t>Project start — translate the business case into tracked benefits with owners and milestones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" y="5010912"/>
            <a:ext cx="3277514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1" i="0">
                <a:solidFill>
                  <a:srgbClr val="00C9A7"/>
                </a:solidFill>
                <a:latin typeface="Calibri"/>
              </a:rPr>
              <a:t>PRODUCES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088" y="5212080"/>
            <a:ext cx="3277514" cy="10241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Benefits register with baseline/target/owner, 30/90/180-day milestones, disbenefit register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01642" y="1664208"/>
            <a:ext cx="3588410" cy="4736592"/>
          </a:xfrm>
          <a:prstGeom prst="roundRect">
            <a:avLst>
              <a:gd name="adj" fmla="val 4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01642" y="1664208"/>
            <a:ext cx="3588410" cy="82296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457090" y="1810512"/>
            <a:ext cx="3277514" cy="265176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30242" y="1837944"/>
            <a:ext cx="3186074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00C9A7"/>
                </a:solidFill>
                <a:latin typeface="Calibri"/>
              </a:rPr>
              <a:t>/post-implementation-review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57090" y="2167128"/>
            <a:ext cx="3277514" cy="5943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250" b="1" i="0">
                <a:solidFill>
                  <a:srgbClr val="1B2B3C"/>
                </a:solidFill>
                <a:latin typeface="Calibri"/>
              </a:rPr>
              <a:t>Post-Implementation Review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57090" y="2788920"/>
            <a:ext cx="3277514" cy="142097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000" b="0" i="0">
                <a:solidFill>
                  <a:srgbClr val="5B6B7C"/>
                </a:solidFill>
                <a:latin typeface="Calibri"/>
              </a:rPr>
              <a:t>90 days post go-live — compare actuals against the business case, identify corrective actions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57090" y="5010912"/>
            <a:ext cx="3277514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1" i="0">
                <a:solidFill>
                  <a:srgbClr val="00C9A7"/>
                </a:solidFill>
                <a:latin typeface="Calibri"/>
              </a:rPr>
              <a:t>PRODUCES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57090" y="5212080"/>
            <a:ext cx="3277514" cy="10241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Actuals vs target table, variance root-cause (five-why), forward actions register, revised forecast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54644" y="1664208"/>
            <a:ext cx="3588410" cy="4736592"/>
          </a:xfrm>
          <a:prstGeom prst="roundRect">
            <a:avLst>
              <a:gd name="adj" fmla="val 4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054644" y="1664208"/>
            <a:ext cx="3588410" cy="82296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210092" y="1810512"/>
            <a:ext cx="3277514" cy="265176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83244" y="1837944"/>
            <a:ext cx="3186074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00C9A7"/>
                </a:solidFill>
                <a:latin typeface="Calibri"/>
              </a:rPr>
              <a:t>/hypercare-plan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10092" y="2167128"/>
            <a:ext cx="3277514" cy="5943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250" b="1" i="0">
                <a:solidFill>
                  <a:srgbClr val="1B2B3C"/>
                </a:solidFill>
                <a:latin typeface="Calibri"/>
              </a:rPr>
              <a:t>Hypercare Plan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10092" y="2788920"/>
            <a:ext cx="3277514" cy="142097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000" b="0" i="0">
                <a:solidFill>
                  <a:srgbClr val="5B6B7C"/>
                </a:solidFill>
                <a:latin typeface="Calibri"/>
              </a:rPr>
              <a:t>2 weeks before go-live — design the intensive support model bridging go-live and BAU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10092" y="5010912"/>
            <a:ext cx="3277514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1" i="0">
                <a:solidFill>
                  <a:srgbClr val="00C9A7"/>
                </a:solidFill>
                <a:latin typeface="Calibri"/>
              </a:rPr>
              <a:t>PRODUCES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10092" y="5212080"/>
            <a:ext cx="3277514" cy="10241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L1/L2/L3 support model, triage SLAs, KT schedule, hypercare exit criteria dashboard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AI Consulting Toolkit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18 / 26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9184" y="960120"/>
            <a:ext cx="11094415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00C9A7"/>
                </a:solidFill>
                <a:latin typeface="Calibri"/>
              </a:rPr>
              <a:t>SECTION 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" y="1371600"/>
            <a:ext cx="8098922" cy="12801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4200" b="1" i="0">
                <a:solidFill>
                  <a:srgbClr val="FFFFFF"/>
                </a:solidFill>
                <a:latin typeface="Calibri"/>
              </a:rPr>
              <a:t>Engagement Management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329184" y="2724912"/>
            <a:ext cx="1371600" cy="5486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9184" y="2889504"/>
            <a:ext cx="7987978" cy="10515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sz="1400" b="0" i="0">
                <a:solidFill>
                  <a:srgbClr val="E0F7F1"/>
                </a:solidFill>
                <a:latin typeface="Calibri"/>
              </a:rPr>
              <a:t>6 engagement lifecycle frameworks covering pursuit, delivery governance, and closeout — runs in parallel with all other packs from first pursuit conversation to final sign-off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9184" y="4069080"/>
            <a:ext cx="3291840" cy="338328"/>
          </a:xfrm>
          <a:prstGeom prst="roundRect">
            <a:avLst>
              <a:gd name="adj" fmla="val 5000"/>
            </a:avLst>
          </a:prstGeom>
          <a:solidFill>
            <a:srgbClr val="12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" y="4114800"/>
            <a:ext cx="3017520" cy="2468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F2A83B"/>
                </a:solidFill>
                <a:latin typeface="Calibri"/>
              </a:rPr>
              <a:t>/engagement-management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9184" y="4590288"/>
            <a:ext cx="7987978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5B6B7C"/>
                </a:solidFill>
                <a:latin typeface="Calibri"/>
              </a:rPr>
              <a:t>⛓  Cross-cutting — runs in parallel with all other packs throughout the full engagement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85655" y="1371600"/>
            <a:ext cx="2286000" cy="17373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600" b="1" i="0">
                <a:solidFill>
                  <a:srgbClr val="FFB800"/>
                </a:solidFill>
                <a:latin typeface="Calibri"/>
              </a:rPr>
              <a:t>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85655" y="3154680"/>
            <a:ext cx="2286000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5B6B7C"/>
                </a:solidFill>
                <a:latin typeface="Calibri"/>
              </a:rPr>
              <a:t>SKILLS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85655" y="3566160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5B6B7C"/>
                </a:solidFill>
                <a:latin typeface="Calibri"/>
              </a:rPr>
              <a:t>3 domains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889098"/>
                </a:solidFill>
                <a:latin typeface="Calibri"/>
              </a:rPr>
              <a:t>AI Consulting Toolkit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889098"/>
                </a:solidFill>
                <a:latin typeface="Calibri"/>
              </a:rPr>
              <a:t>19 / 26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Pursuit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Engagement Management  ·  Win the right work at the right terms before the proposal is written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64208"/>
            <a:ext cx="5464911" cy="4736592"/>
          </a:xfrm>
          <a:prstGeom prst="roundRect">
            <a:avLst>
              <a:gd name="adj" fmla="val 4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64208"/>
            <a:ext cx="5464911" cy="82296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04088" y="1810512"/>
            <a:ext cx="5154015" cy="265176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837944"/>
            <a:ext cx="5062575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00C9A7"/>
                </a:solidFill>
                <a:latin typeface="Calibri"/>
              </a:rPr>
              <a:t>/win-strategy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" y="2167128"/>
            <a:ext cx="5154015" cy="5943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250" b="1" i="0">
                <a:solidFill>
                  <a:srgbClr val="1B2B3C"/>
                </a:solidFill>
                <a:latin typeface="Calibri"/>
              </a:rPr>
              <a:t>Win Strategy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788920"/>
            <a:ext cx="5154015" cy="142097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000" b="0" i="0">
                <a:solidFill>
                  <a:srgbClr val="5B6B7C"/>
                </a:solidFill>
                <a:latin typeface="Calibri"/>
              </a:rPr>
              <a:t>Opportunity qualified — define competitive positioning before the proposal team starts writing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" y="5010912"/>
            <a:ext cx="5154015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1" i="0">
                <a:solidFill>
                  <a:srgbClr val="00C9A7"/>
                </a:solidFill>
                <a:latin typeface="Calibri"/>
              </a:rPr>
              <a:t>PRODUCES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088" y="5212080"/>
            <a:ext cx="5154015" cy="10241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Client hot buttons, competitor analysis, 3–4 win themes, vulnerabilities neutralisation plan, Go/No-Go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8143" y="1664208"/>
            <a:ext cx="5464911" cy="4736592"/>
          </a:xfrm>
          <a:prstGeom prst="roundRect">
            <a:avLst>
              <a:gd name="adj" fmla="val 4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8143" y="1664208"/>
            <a:ext cx="5464911" cy="82296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333591" y="1810512"/>
            <a:ext cx="5154015" cy="265176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6743" y="1837944"/>
            <a:ext cx="5062575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00C9A7"/>
                </a:solidFill>
                <a:latin typeface="Calibri"/>
              </a:rPr>
              <a:t>/commercial-structuring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33591" y="2167128"/>
            <a:ext cx="5154015" cy="5943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250" b="1" i="0">
                <a:solidFill>
                  <a:srgbClr val="1B2B3C"/>
                </a:solidFill>
                <a:latin typeface="Calibri"/>
              </a:rPr>
              <a:t>Commercial Structuring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33591" y="2788920"/>
            <a:ext cx="5154015" cy="142097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000" b="0" i="0">
                <a:solidFill>
                  <a:srgbClr val="5B6B7C"/>
                </a:solidFill>
                <a:latin typeface="Calibri"/>
              </a:rPr>
              <a:t>Win strategy set — design the fee model, resource plan, and margin scenarios before pricing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33591" y="5010912"/>
            <a:ext cx="5154015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1" i="0">
                <a:solidFill>
                  <a:srgbClr val="00C9A7"/>
                </a:solidFill>
                <a:latin typeface="Calibri"/>
              </a:rPr>
              <a:t>PRODUCES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33591" y="5212080"/>
            <a:ext cx="5154015" cy="10241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3 commercial model options, P&amp;L at three scenarios, negotiation brief, walk-away price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AI Consulting Toolkit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20 / 26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Delivery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Engagement Management  ·  Run the engagement — governance, stakeholders, and weekly reporting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64208"/>
            <a:ext cx="3588410" cy="4736592"/>
          </a:xfrm>
          <a:prstGeom prst="roundRect">
            <a:avLst>
              <a:gd name="adj" fmla="val 4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64208"/>
            <a:ext cx="3588410" cy="82296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04088" y="1810512"/>
            <a:ext cx="3277514" cy="265176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837944"/>
            <a:ext cx="3186074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00C9A7"/>
                </a:solidFill>
                <a:latin typeface="Calibri"/>
              </a:rPr>
              <a:t>/engagement-kickoff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" y="2167128"/>
            <a:ext cx="3277514" cy="5943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250" b="1" i="0">
                <a:solidFill>
                  <a:srgbClr val="1B2B3C"/>
                </a:solidFill>
                <a:latin typeface="Calibri"/>
              </a:rPr>
              <a:t>Engagement Kickoff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788920"/>
            <a:ext cx="3277514" cy="142097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000" b="0" i="0">
                <a:solidFill>
                  <a:srgbClr val="5B6B7C"/>
                </a:solidFill>
                <a:latin typeface="Calibri"/>
              </a:rPr>
              <a:t>Week before the engagement starts — plan the kick-off meeting and first 30 days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" y="5010912"/>
            <a:ext cx="3277514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1" i="0">
                <a:solidFill>
                  <a:srgbClr val="00C9A7"/>
                </a:solidFill>
                <a:latin typeface="Calibri"/>
              </a:rPr>
              <a:t>PRODUCES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088" y="5212080"/>
            <a:ext cx="3277514" cy="10241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Kick-off meeting agenda, governance cadence design, ways of working charter, 30-day plan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01642" y="1664208"/>
            <a:ext cx="3588410" cy="4736592"/>
          </a:xfrm>
          <a:prstGeom prst="roundRect">
            <a:avLst>
              <a:gd name="adj" fmla="val 4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01642" y="1664208"/>
            <a:ext cx="3588410" cy="82296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457090" y="1810512"/>
            <a:ext cx="3277514" cy="265176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30242" y="1837944"/>
            <a:ext cx="3186074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00C9A7"/>
                </a:solidFill>
                <a:latin typeface="Calibri"/>
              </a:rPr>
              <a:t>/stakeholder-cadence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57090" y="2167128"/>
            <a:ext cx="3277514" cy="5943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250" b="1" i="0">
                <a:solidFill>
                  <a:srgbClr val="1B2B3C"/>
                </a:solidFill>
                <a:latin typeface="Calibri"/>
              </a:rPr>
              <a:t>Stakeholder Cadence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57090" y="2788920"/>
            <a:ext cx="3277514" cy="142097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000" b="0" i="0">
                <a:solidFill>
                  <a:srgbClr val="5B6B7C"/>
                </a:solidFill>
                <a:latin typeface="Calibri"/>
              </a:rPr>
              <a:t>Day 1 — design the forum architecture that governs the engagement from kick-off to closeout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57090" y="5010912"/>
            <a:ext cx="3277514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1" i="0">
                <a:solidFill>
                  <a:srgbClr val="00C9A7"/>
                </a:solidFill>
                <a:latin typeface="Calibri"/>
              </a:rPr>
              <a:t>PRODUCES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57090" y="5212080"/>
            <a:ext cx="3277514" cy="10241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Forum architecture (governance vs collaboration), agenda templates, escalation path, 90-day calendar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54644" y="1664208"/>
            <a:ext cx="3588410" cy="4736592"/>
          </a:xfrm>
          <a:prstGeom prst="roundRect">
            <a:avLst>
              <a:gd name="adj" fmla="val 4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054644" y="1664208"/>
            <a:ext cx="3588410" cy="82296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210092" y="1810512"/>
            <a:ext cx="3277514" cy="265176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83244" y="1837944"/>
            <a:ext cx="3186074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00C9A7"/>
                </a:solidFill>
                <a:latin typeface="Calibri"/>
              </a:rPr>
              <a:t>/progress-reporting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10092" y="2167128"/>
            <a:ext cx="3277514" cy="5943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250" b="1" i="0">
                <a:solidFill>
                  <a:srgbClr val="1B2B3C"/>
                </a:solidFill>
                <a:latin typeface="Calibri"/>
              </a:rPr>
              <a:t>Progress Reporting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10092" y="2788920"/>
            <a:ext cx="3277514" cy="142097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000" b="0" i="0">
                <a:solidFill>
                  <a:srgbClr val="5B6B7C"/>
                </a:solidFill>
                <a:latin typeface="Calibri"/>
              </a:rPr>
              <a:t>Weekly or monthly — produce the RAG status dashboard and steering committee pack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10092" y="5010912"/>
            <a:ext cx="3277514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1" i="0">
                <a:solidFill>
                  <a:srgbClr val="00C9A7"/>
                </a:solidFill>
                <a:latin typeface="Calibri"/>
              </a:rPr>
              <a:t>PRODUCES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10092" y="5212080"/>
            <a:ext cx="3277514" cy="10241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RAG dashboard with trend arrows, milestone tracker, top-3 issues, decisions needed, budget burn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AI Consulting Toolkit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21 / 26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Closeout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Engagement Management  ·  Close cleanly and secure the next commercial opportunity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11299" y="1664208"/>
            <a:ext cx="5769095" cy="4736592"/>
          </a:xfrm>
          <a:prstGeom prst="roundRect">
            <a:avLst>
              <a:gd name="adj" fmla="val 4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11299" y="1664208"/>
            <a:ext cx="5769095" cy="82296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366747" y="1810512"/>
            <a:ext cx="5458199" cy="265176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39899" y="1837944"/>
            <a:ext cx="5366759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00C9A7"/>
                </a:solidFill>
                <a:latin typeface="Calibri"/>
              </a:rPr>
              <a:t>/engagement-closeout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66747" y="2167128"/>
            <a:ext cx="5458199" cy="5943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250" b="1" i="0">
                <a:solidFill>
                  <a:srgbClr val="1B2B3C"/>
                </a:solidFill>
                <a:latin typeface="Calibri"/>
              </a:rPr>
              <a:t>Engagement Closeout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66747" y="2788920"/>
            <a:ext cx="5458199" cy="142097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000" b="0" i="0">
                <a:solidFill>
                  <a:srgbClr val="5B6B7C"/>
                </a:solidFill>
                <a:latin typeface="Calibri"/>
              </a:rPr>
              <a:t>Final 2 weeks — deliverable sign-off, satisfaction capture, reference case, follow-on pipeline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66747" y="5010912"/>
            <a:ext cx="5458199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1" i="0">
                <a:solidFill>
                  <a:srgbClr val="00C9A7"/>
                </a:solidFill>
                <a:latin typeface="Calibri"/>
              </a:rPr>
              <a:t>PRODUCES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66747" y="5212080"/>
            <a:ext cx="5458199" cy="10241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Deliverable sign-off record, client satisfaction scorecard (5 dimensions), reference case, follow-on brief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AI Consulting Toolkit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22 / 26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9184" y="960120"/>
            <a:ext cx="11094415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00C9A7"/>
                </a:solidFill>
                <a:latin typeface="Calibri"/>
              </a:rPr>
              <a:t>SECTION 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" y="1371600"/>
            <a:ext cx="8098922" cy="12801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4200" b="1" i="0">
                <a:solidFill>
                  <a:srgbClr val="FFFFFF"/>
                </a:solidFill>
                <a:latin typeface="Calibri"/>
              </a:rPr>
              <a:t>Continuous Improvement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329184" y="2724912"/>
            <a:ext cx="1371600" cy="5486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9184" y="2889504"/>
            <a:ext cx="7987978" cy="10515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sz="1400" b="0" i="0">
                <a:solidFill>
                  <a:srgbClr val="E0F7F1"/>
                </a:solidFill>
                <a:latin typeface="Calibri"/>
              </a:rPr>
              <a:t>5 post-delivery frameworks for BAU operating rhythm, quarterly performance reviews, improvement backlog, maturity progression, and consulting exit — closes the loop back to strategy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9184" y="4069080"/>
            <a:ext cx="3291840" cy="338328"/>
          </a:xfrm>
          <a:prstGeom prst="roundRect">
            <a:avLst>
              <a:gd name="adj" fmla="val 5000"/>
            </a:avLst>
          </a:prstGeom>
          <a:solidFill>
            <a:srgbClr val="12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" y="4114800"/>
            <a:ext cx="3017520" cy="2468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F2A83B"/>
                </a:solidFill>
                <a:latin typeface="Calibri"/>
              </a:rPr>
              <a:t>/continuous-improvement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9184" y="4590288"/>
            <a:ext cx="7987978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5B6B7C"/>
                </a:solidFill>
                <a:latin typeface="Calibri"/>
              </a:rPr>
              <a:t>⛓  Chains from solution-delivery → loops back to strategy-consulting (next engagement cycle)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85655" y="1371600"/>
            <a:ext cx="2286000" cy="17373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600" b="1" i="0">
                <a:solidFill>
                  <a:srgbClr val="FFB800"/>
                </a:solidFill>
                <a:latin typeface="Calibri"/>
              </a:rPr>
              <a:t>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85655" y="3154680"/>
            <a:ext cx="2286000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5B6B7C"/>
                </a:solidFill>
                <a:latin typeface="Calibri"/>
              </a:rPr>
              <a:t>SKILLS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85655" y="3566160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5B6B7C"/>
                </a:solidFill>
                <a:latin typeface="Calibri"/>
              </a:rPr>
              <a:t>3 domains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889098"/>
                </a:solidFill>
                <a:latin typeface="Calibri"/>
              </a:rPr>
              <a:t>AI Consulting Toolkit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889098"/>
                </a:solidFill>
                <a:latin typeface="Calibri"/>
              </a:rPr>
              <a:t>23 / 26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Operations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Continuous Improvement  ·  Design and run the BAU governance that sustains delivered capability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64208"/>
            <a:ext cx="5464911" cy="4736592"/>
          </a:xfrm>
          <a:prstGeom prst="roundRect">
            <a:avLst>
              <a:gd name="adj" fmla="val 4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64208"/>
            <a:ext cx="5464911" cy="82296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04088" y="1810512"/>
            <a:ext cx="5154015" cy="265176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837944"/>
            <a:ext cx="5062575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00C9A7"/>
                </a:solidFill>
                <a:latin typeface="Calibri"/>
              </a:rPr>
              <a:t>/operating-rhythm-design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" y="2167128"/>
            <a:ext cx="5154015" cy="5943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250" b="1" i="0">
                <a:solidFill>
                  <a:srgbClr val="1B2B3C"/>
                </a:solidFill>
                <a:latin typeface="Calibri"/>
              </a:rPr>
              <a:t>Operating Rhythm Design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788920"/>
            <a:ext cx="5154015" cy="142097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000" b="0" i="0">
                <a:solidFill>
                  <a:srgbClr val="5B6B7C"/>
                </a:solidFill>
                <a:latin typeface="Calibri"/>
              </a:rPr>
              <a:t>End of hypercare — design the BAU meeting cadence and governance that replaces consulting oversight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" y="5010912"/>
            <a:ext cx="5154015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1" i="0">
                <a:solidFill>
                  <a:srgbClr val="00C9A7"/>
                </a:solidFill>
                <a:latin typeface="Calibri"/>
              </a:rPr>
              <a:t>PRODUCES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088" y="5212080"/>
            <a:ext cx="5154015" cy="10241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3-layer operating rhythm (operational/performance/strategic), forum design, CI loop, exit checklist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8143" y="1664208"/>
            <a:ext cx="5464911" cy="4736592"/>
          </a:xfrm>
          <a:prstGeom prst="roundRect">
            <a:avLst>
              <a:gd name="adj" fmla="val 4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8143" y="1664208"/>
            <a:ext cx="5464911" cy="82296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333591" y="1810512"/>
            <a:ext cx="5154015" cy="265176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6743" y="1837944"/>
            <a:ext cx="5062575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00C9A7"/>
                </a:solidFill>
                <a:latin typeface="Calibri"/>
              </a:rPr>
              <a:t>/performance-review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33591" y="2167128"/>
            <a:ext cx="5154015" cy="5943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250" b="1" i="0">
                <a:solidFill>
                  <a:srgbClr val="1B2B3C"/>
                </a:solidFill>
                <a:latin typeface="Calibri"/>
              </a:rPr>
              <a:t>Performance Review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33591" y="2788920"/>
            <a:ext cx="5154015" cy="142097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000" b="0" i="0">
                <a:solidFill>
                  <a:srgbClr val="5B6B7C"/>
                </a:solidFill>
                <a:latin typeface="Calibri"/>
              </a:rPr>
              <a:t>Monthly or quarterly — review KPI actuals vs targets and drive corrective actions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33591" y="5010912"/>
            <a:ext cx="5154015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1" i="0">
                <a:solidFill>
                  <a:srgbClr val="00C9A7"/>
                </a:solidFill>
                <a:latin typeface="Calibri"/>
              </a:rPr>
              <a:t>PRODUCES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33591" y="5212080"/>
            <a:ext cx="5154015" cy="10241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KPI scorecard with RAG and trend arrows, benefits update, variance root-cause, forward corrective actions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AI Consulting Toolkit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24 / 26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Improvement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Continuous Improvement  ·  Score, sequence, and sustain post-delivery improvements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64208"/>
            <a:ext cx="5464911" cy="4736592"/>
          </a:xfrm>
          <a:prstGeom prst="roundRect">
            <a:avLst>
              <a:gd name="adj" fmla="val 4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64208"/>
            <a:ext cx="5464911" cy="82296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04088" y="1810512"/>
            <a:ext cx="5154015" cy="265176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837944"/>
            <a:ext cx="5062575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00C9A7"/>
                </a:solidFill>
                <a:latin typeface="Calibri"/>
              </a:rPr>
              <a:t>/continuous-improvement-backlog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" y="2167128"/>
            <a:ext cx="5154015" cy="5943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250" b="1" i="0">
                <a:solidFill>
                  <a:srgbClr val="1B2B3C"/>
                </a:solidFill>
                <a:latin typeface="Calibri"/>
              </a:rPr>
              <a:t>CI Backlog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788920"/>
            <a:ext cx="5154015" cy="142097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000" b="0" i="0">
                <a:solidFill>
                  <a:srgbClr val="5B6B7C"/>
                </a:solidFill>
                <a:latin typeface="Calibri"/>
              </a:rPr>
              <a:t>Ongoing post go-live — capture, score, and sequence enhancement ideas before they are lost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" y="5010912"/>
            <a:ext cx="5154015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1" i="0">
                <a:solidFill>
                  <a:srgbClr val="00C9A7"/>
                </a:solidFill>
                <a:latin typeface="Calibri"/>
              </a:rPr>
              <a:t>PRODUCES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088" y="5212080"/>
            <a:ext cx="5154015" cy="10241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Scored backlog (Value+Urgency+Effort+Risk), Horizon 1/2/3 roadmap, parking lot with reasons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8143" y="1664208"/>
            <a:ext cx="5464911" cy="4736592"/>
          </a:xfrm>
          <a:prstGeom prst="roundRect">
            <a:avLst>
              <a:gd name="adj" fmla="val 4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8143" y="1664208"/>
            <a:ext cx="5464911" cy="82296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333591" y="1810512"/>
            <a:ext cx="5154015" cy="265176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6743" y="1837944"/>
            <a:ext cx="5062575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00C9A7"/>
                </a:solidFill>
                <a:latin typeface="Calibri"/>
              </a:rPr>
              <a:t>/capability-maturity-progression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33591" y="2167128"/>
            <a:ext cx="5154015" cy="5943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250" b="1" i="0">
                <a:solidFill>
                  <a:srgbClr val="1B2B3C"/>
                </a:solidFill>
                <a:latin typeface="Calibri"/>
              </a:rPr>
              <a:t>Capability Maturity Progression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33591" y="2788920"/>
            <a:ext cx="5154015" cy="142097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000" b="0" i="0">
                <a:solidFill>
                  <a:srgbClr val="5B6B7C"/>
                </a:solidFill>
                <a:latin typeface="Calibri"/>
              </a:rPr>
              <a:t>Annual — assess maturity level and plan the investments needed to reach the next level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33591" y="5010912"/>
            <a:ext cx="5154015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1" i="0">
                <a:solidFill>
                  <a:srgbClr val="00C9A7"/>
                </a:solidFill>
                <a:latin typeface="Calibri"/>
              </a:rPr>
              <a:t>PRODUCES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33591" y="5212080"/>
            <a:ext cx="5154015" cy="10241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Maturity scorecard (CMM 1–5 per dimension), blocker analysis, progression roadmap, leading indicators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AI Consulting Toolkit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25 / 26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Transition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Continuous Improvement  ·  Exit with confidence — knowledge transferred, governance running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11299" y="1664208"/>
            <a:ext cx="5769095" cy="4736592"/>
          </a:xfrm>
          <a:prstGeom prst="roundRect">
            <a:avLst>
              <a:gd name="adj" fmla="val 4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11299" y="1664208"/>
            <a:ext cx="5769095" cy="82296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366747" y="1810512"/>
            <a:ext cx="5458199" cy="265176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39899" y="1837944"/>
            <a:ext cx="5366759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00C9A7"/>
                </a:solidFill>
                <a:latin typeface="Calibri"/>
              </a:rPr>
              <a:t>/exit-strategy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66747" y="2167128"/>
            <a:ext cx="5458199" cy="5943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250" b="1" i="0">
                <a:solidFill>
                  <a:srgbClr val="1B2B3C"/>
                </a:solidFill>
                <a:latin typeface="Calibri"/>
              </a:rPr>
              <a:t>Exit Strategy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66747" y="2788920"/>
            <a:ext cx="5458199" cy="142097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000" b="0" i="0">
                <a:solidFill>
                  <a:srgbClr val="5B6B7C"/>
                </a:solidFill>
                <a:latin typeface="Calibri"/>
              </a:rPr>
              <a:t>4–6 weeks before consulting exit — plan knowledge transfer, retained advisory, and BAU handover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66747" y="5010912"/>
            <a:ext cx="5458199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1" i="0">
                <a:solidFill>
                  <a:srgbClr val="00C9A7"/>
                </a:solidFill>
                <a:latin typeface="Calibri"/>
              </a:rPr>
              <a:t>PRODUCES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66747" y="5212080"/>
            <a:ext cx="5458199" cy="10241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Exit readiness scorecard (Ready/Conditional/Not Ready), KT plan, retained advisory model, re-engagement conditions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AI Consulting Toolkit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26 / 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