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1463040" cy="347472"/>
          </a:xfrm>
          <a:prstGeom prst="roundRect">
            <a:avLst>
              <a:gd name="adj" fmla="val 5000"/>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338328"/>
            <a:ext cx="1426464" cy="310896"/>
          </a:xfrm>
          <a:prstGeom prst="rect">
            <a:avLst/>
          </a:prstGeom>
          <a:noFill/>
        </p:spPr>
        <p:txBody>
          <a:bodyPr wrap="square" anchor="t" lIns="0" rIns="0" tIns="0" bIns="0">
            <a:noAutofit/>
          </a:bodyPr>
          <a:lstStyle/>
          <a:p>
            <a:pPr algn="ctr">
              <a:lnSpc>
                <a:spcPct val="105000"/>
              </a:lnSpc>
              <a:spcBef>
                <a:spcPts val="0"/>
              </a:spcBef>
            </a:pPr>
            <a:r>
              <a:rPr sz="1100" b="1" i="0">
                <a:solidFill>
                  <a:srgbClr val="FFFFFF"/>
                </a:solidFill>
                <a:latin typeface="Calibri"/>
              </a:rPr>
              <a:t>BCG-STYLE</a:t>
            </a:r>
          </a:p>
        </p:txBody>
      </p:sp>
      <p:sp>
        <p:nvSpPr>
          <p:cNvPr id="6" name="TextBox 5"/>
          <p:cNvSpPr txBox="1"/>
          <p:nvPr/>
        </p:nvSpPr>
        <p:spPr>
          <a:xfrm>
            <a:off x="457200" y="804672"/>
            <a:ext cx="11094415"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996B"/>
                </a:solidFill>
                <a:latin typeface="Calibri"/>
              </a:rPr>
              <a:t>02 / MARKET INTELLIGENCE</a:t>
            </a:r>
          </a:p>
        </p:txBody>
      </p:sp>
      <p:sp>
        <p:nvSpPr>
          <p:cNvPr id="7" name="TextBox 6"/>
          <p:cNvSpPr txBox="1"/>
          <p:nvPr/>
        </p:nvSpPr>
        <p:spPr>
          <a:xfrm>
            <a:off x="457200" y="1280160"/>
            <a:ext cx="9601200" cy="2560320"/>
          </a:xfrm>
          <a:prstGeom prst="rect">
            <a:avLst/>
          </a:prstGeom>
          <a:noFill/>
        </p:spPr>
        <p:txBody>
          <a:bodyPr wrap="square" anchor="t" lIns="0" rIns="0" tIns="0" bIns="0">
            <a:normAutofit/>
          </a:bodyPr>
          <a:lstStyle/>
          <a:p>
            <a:pPr algn="l">
              <a:lnSpc>
                <a:spcPct val="105000"/>
              </a:lnSpc>
              <a:spcBef>
                <a:spcPts val="0"/>
              </a:spcBef>
            </a:pPr>
            <a:r>
              <a:rPr sz="4200" b="1" i="0">
                <a:solidFill>
                  <a:srgbClr val="FFFFFF"/>
                </a:solidFill>
                <a:latin typeface="Calibri"/>
              </a:rPr>
              <a:t>Customer Segmentation — Prism Analytics</a:t>
            </a:r>
          </a:p>
        </p:txBody>
      </p:sp>
      <p:sp>
        <p:nvSpPr>
          <p:cNvPr id="8" name="Rectangle 7"/>
          <p:cNvSpPr/>
          <p:nvPr/>
        </p:nvSpPr>
        <p:spPr>
          <a:xfrm>
            <a:off x="457200" y="4023360"/>
            <a:ext cx="2743200"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251960"/>
            <a:ext cx="7315200" cy="411480"/>
          </a:xfrm>
          <a:prstGeom prst="rect">
            <a:avLst/>
          </a:prstGeom>
          <a:noFill/>
        </p:spPr>
        <p:txBody>
          <a:bodyPr wrap="square" anchor="t" lIns="0" rIns="0" tIns="0" bIns="0">
            <a:noAutofit/>
          </a:bodyPr>
          <a:lstStyle/>
          <a:p>
            <a:pPr algn="l">
              <a:lnSpc>
                <a:spcPct val="105000"/>
              </a:lnSpc>
              <a:spcBef>
                <a:spcPts val="0"/>
              </a:spcBef>
            </a:pPr>
            <a:r>
              <a:rPr sz="1800" b="0" i="0">
                <a:solidFill>
                  <a:srgbClr val="CCEEE4"/>
                </a:solidFill>
                <a:latin typeface="Calibri"/>
              </a:rPr>
              <a:t>Prism Analytics</a:t>
            </a:r>
          </a:p>
        </p:txBody>
      </p:sp>
      <p:sp>
        <p:nvSpPr>
          <p:cNvPr id="10" name="TextBox 9"/>
          <p:cNvSpPr txBox="1"/>
          <p:nvPr/>
        </p:nvSpPr>
        <p:spPr>
          <a:xfrm>
            <a:off x="457200" y="4709160"/>
            <a:ext cx="7315200" cy="347472"/>
          </a:xfrm>
          <a:prstGeom prst="rect">
            <a:avLst/>
          </a:prstGeom>
          <a:noFill/>
        </p:spPr>
        <p:txBody>
          <a:bodyPr wrap="square" anchor="t" lIns="0" rIns="0" tIns="0" bIns="0">
            <a:noAutofit/>
          </a:bodyPr>
          <a:lstStyle/>
          <a:p>
            <a:pPr algn="l">
              <a:lnSpc>
                <a:spcPct val="105000"/>
              </a:lnSpc>
              <a:spcBef>
                <a:spcPts val="0"/>
              </a:spcBef>
            </a:pPr>
            <a:r>
              <a:rPr sz="1300" b="0" i="0">
                <a:solidFill>
                  <a:srgbClr val="5B6B7C"/>
                </a:solidFill>
                <a:latin typeface="Calibri"/>
              </a:rPr>
              <a:t>2026-06-18</a:t>
            </a:r>
          </a:p>
        </p:txBody>
      </p:sp>
      <p:sp>
        <p:nvSpPr>
          <p:cNvPr id="11" name="TextBox 10"/>
          <p:cNvSpPr txBox="1"/>
          <p:nvPr/>
        </p:nvSpPr>
        <p:spPr>
          <a:xfrm>
            <a:off x="457200" y="6217920"/>
            <a:ext cx="914400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Powered by The Consultant's Guide to Claude · 21 BCG-Style Skills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347472"/>
          </a:xfrm>
          <a:prstGeom prst="rect">
            <a:avLst/>
          </a:prstGeom>
          <a:noFill/>
        </p:spPr>
        <p:txBody>
          <a:bodyPr wrap="square" anchor="t" lIns="0" rIns="0" tIns="0" bIns="0">
            <a:noAutofit/>
          </a:bodyPr>
          <a:lstStyle/>
          <a:p>
            <a:pPr algn="l">
              <a:lnSpc>
                <a:spcPct val="105000"/>
              </a:lnSpc>
              <a:spcBef>
                <a:spcPts val="0"/>
              </a:spcBef>
            </a:pPr>
            <a:r>
              <a:rPr sz="1200" b="1" i="0">
                <a:solidFill>
                  <a:srgbClr val="00996B"/>
                </a:solidFill>
                <a:latin typeface="Calibri"/>
              </a:rPr>
              <a:t>EXECUTIVE SUMMARY</a:t>
            </a:r>
          </a:p>
        </p:txBody>
      </p:sp>
      <p:sp>
        <p:nvSpPr>
          <p:cNvPr id="5" name="TextBox 4"/>
          <p:cNvSpPr txBox="1"/>
          <p:nvPr/>
        </p:nvSpPr>
        <p:spPr>
          <a:xfrm>
            <a:off x="548640" y="749808"/>
            <a:ext cx="11094415" cy="713232"/>
          </a:xfrm>
          <a:prstGeom prst="rect">
            <a:avLst/>
          </a:prstGeom>
          <a:noFill/>
        </p:spPr>
        <p:txBody>
          <a:bodyPr wrap="square" anchor="t" lIns="0" rIns="0" tIns="0" bIns="0">
            <a:normAutofit/>
          </a:bodyPr>
          <a:lstStyle/>
          <a:p>
            <a:pPr algn="l">
              <a:lnSpc>
                <a:spcPct val="105000"/>
              </a:lnSpc>
              <a:spcBef>
                <a:spcPts val="0"/>
              </a:spcBef>
            </a:pPr>
            <a:r>
              <a:rPr sz="3000" b="1" i="0">
                <a:solidFill>
                  <a:srgbClr val="FFFFFF"/>
                </a:solidFill>
                <a:latin typeface="Calibri"/>
              </a:rPr>
              <a:t>Segmentation Objective</a:t>
            </a:r>
          </a:p>
        </p:txBody>
      </p:sp>
      <p:sp>
        <p:nvSpPr>
          <p:cNvPr id="6" name="Rectangle 5"/>
          <p:cNvSpPr/>
          <p:nvPr/>
        </p:nvSpPr>
        <p:spPr>
          <a:xfrm>
            <a:off x="548640" y="1572768"/>
            <a:ext cx="2286000"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83080"/>
            <a:ext cx="11094415" cy="2011680"/>
          </a:xfrm>
          <a:prstGeom prst="rect">
            <a:avLst/>
          </a:prstGeom>
          <a:noFill/>
        </p:spPr>
        <p:txBody>
          <a:bodyPr wrap="square" anchor="t" lIns="0" rIns="0" tIns="0" bIns="0">
            <a:normAutofit/>
          </a:bodyPr>
          <a:lstStyle/>
          <a:p>
            <a:pPr algn="l">
              <a:lnSpc>
                <a:spcPct val="105000"/>
              </a:lnSpc>
              <a:spcBef>
                <a:spcPts val="0"/>
              </a:spcBef>
            </a:pPr>
            <a:r>
              <a:rPr sz="1300" b="0" i="0">
                <a:solidFill>
                  <a:srgbClr val="CCEEE4"/>
                </a:solidFill>
                <a:latin typeface="Calibri"/>
              </a:rPr>
              <a:t>This segmentation supports three simultaneous decisions: (1) where to focus retention investment to arrest NRR compression from 104% toward a 108%+ target; (2) which segments to prioritize in new logo acquisition to improve the 31% win rate; and (3) which segment profiles to lead with in the M&amp;A narrative to maximize perceived ARR quality. The segmentation must explain why gross churn is concentrated in certain accounts, where expansion revenue is actually coming from, and which accounts have the highest LTV relative to cost to serve.</a:t>
            </a:r>
          </a:p>
        </p:txBody>
      </p:sp>
      <p:sp>
        <p:nvSpPr>
          <p:cNvPr id="8" name="Rounded Rectangle 7"/>
          <p:cNvSpPr/>
          <p:nvPr/>
        </p:nvSpPr>
        <p:spPr>
          <a:xfrm>
            <a:off x="9265615" y="256032"/>
            <a:ext cx="2377440" cy="347472"/>
          </a:xfrm>
          <a:prstGeom prst="roundRect">
            <a:avLst>
              <a:gd name="adj" fmla="val 4000"/>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57055" y="274320"/>
            <a:ext cx="2194560" cy="310896"/>
          </a:xfrm>
          <a:prstGeom prst="rect">
            <a:avLst/>
          </a:prstGeom>
          <a:noFill/>
        </p:spPr>
        <p:txBody>
          <a:bodyPr wrap="square" anchor="t" lIns="0" rIns="0" tIns="0" bIns="0">
            <a:noAutofit/>
          </a:bodyPr>
          <a:lstStyle/>
          <a:p>
            <a:pPr algn="ctr">
              <a:lnSpc>
                <a:spcPct val="105000"/>
              </a:lnSpc>
              <a:spcBef>
                <a:spcPts val="0"/>
              </a:spcBef>
            </a:pPr>
            <a:r>
              <a:rPr sz="1100" b="1" i="0">
                <a:solidFill>
                  <a:srgbClr val="001824"/>
                </a:solidFill>
                <a:latin typeface="Calibri"/>
              </a:rPr>
              <a:t>Prism Analytics</a:t>
            </a:r>
          </a:p>
        </p:txBody>
      </p:sp>
      <p:sp>
        <p:nvSpPr>
          <p:cNvPr id="10" name="TextBox 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BCG Consulting Framework · Prism Analytics · 2026-06-18</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658368"/>
          </a:xfrm>
          <a:prstGeom prst="rect">
            <a:avLst/>
          </a:prstGeom>
          <a:noFill/>
        </p:spPr>
        <p:txBody>
          <a:bodyPr wrap="square" anchor="t" lIns="0" rIns="0" tIns="0" bIns="0">
            <a:normAutofit/>
          </a:bodyPr>
          <a:lstStyle/>
          <a:p>
            <a:pPr algn="l">
              <a:lnSpc>
                <a:spcPct val="105000"/>
              </a:lnSpc>
              <a:spcBef>
                <a:spcPts val="0"/>
              </a:spcBef>
            </a:pPr>
            <a:r>
              <a:rPr sz="2600" b="1" i="0">
                <a:solidFill>
                  <a:srgbClr val="001824"/>
                </a:solidFill>
                <a:latin typeface="Calibri"/>
              </a:rPr>
              <a:t>Segment Definitions</a:t>
            </a:r>
          </a:p>
        </p:txBody>
      </p:sp>
      <p:sp>
        <p:nvSpPr>
          <p:cNvPr id="5" name="Rectangle 4"/>
          <p:cNvSpPr/>
          <p:nvPr/>
        </p:nvSpPr>
        <p:spPr>
          <a:xfrm>
            <a:off x="548640" y="1078992"/>
            <a:ext cx="1280160" cy="4572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256032"/>
            <a:ext cx="2011680" cy="347472"/>
          </a:xfrm>
          <a:prstGeom prst="roundRect">
            <a:avLst>
              <a:gd name="adj" fmla="val 4000"/>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04527" y="274320"/>
            <a:ext cx="1865376" cy="310896"/>
          </a:xfrm>
          <a:prstGeom prst="rect">
            <a:avLst/>
          </a:prstGeom>
          <a:noFill/>
        </p:spPr>
        <p:txBody>
          <a:bodyPr wrap="square" anchor="t" lIns="0" rIns="0" tIns="0" bIns="0">
            <a:noAutofit/>
          </a:bodyPr>
          <a:lstStyle/>
          <a:p>
            <a:pPr algn="ctr">
              <a:lnSpc>
                <a:spcPct val="105000"/>
              </a:lnSpc>
              <a:spcBef>
                <a:spcPts val="0"/>
              </a:spcBef>
            </a:pPr>
            <a:r>
              <a:rPr sz="1050" b="1" i="0">
                <a:solidFill>
                  <a:srgbClr val="00996B"/>
                </a:solidFill>
                <a:latin typeface="Calibri"/>
              </a:rPr>
              <a:t>Prism Analytics</a:t>
            </a:r>
          </a:p>
        </p:txBody>
      </p:sp>
      <p:sp>
        <p:nvSpPr>
          <p:cNvPr id="8" name="Rectangle 7"/>
          <p:cNvSpPr/>
          <p:nvPr/>
        </p:nvSpPr>
        <p:spPr>
          <a:xfrm>
            <a:off x="548640" y="1298448"/>
            <a:ext cx="11094415" cy="384048"/>
          </a:xfrm>
          <a:prstGeom prst="rect">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Segment</a:t>
            </a:r>
          </a:p>
        </p:txBody>
      </p:sp>
      <p:sp>
        <p:nvSpPr>
          <p:cNvPr id="10" name="TextBox 9"/>
          <p:cNvSpPr txBox="1"/>
          <p:nvPr/>
        </p:nvSpPr>
        <p:spPr>
          <a:xfrm>
            <a:off x="2822387"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Defining Traits</a:t>
            </a:r>
          </a:p>
        </p:txBody>
      </p:sp>
      <p:sp>
        <p:nvSpPr>
          <p:cNvPr id="11" name="TextBox 10"/>
          <p:cNvSpPr txBox="1"/>
          <p:nvPr/>
        </p:nvSpPr>
        <p:spPr>
          <a:xfrm>
            <a:off x="5041270"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Needs</a:t>
            </a:r>
          </a:p>
        </p:txBody>
      </p:sp>
      <p:sp>
        <p:nvSpPr>
          <p:cNvPr id="12" name="TextBox 11"/>
          <p:cNvSpPr txBox="1"/>
          <p:nvPr/>
        </p:nvSpPr>
        <p:spPr>
          <a:xfrm>
            <a:off x="7260153"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Economics</a:t>
            </a:r>
          </a:p>
        </p:txBody>
      </p:sp>
      <p:sp>
        <p:nvSpPr>
          <p:cNvPr id="13" name="TextBox 12"/>
          <p:cNvSpPr txBox="1"/>
          <p:nvPr/>
        </p:nvSpPr>
        <p:spPr>
          <a:xfrm>
            <a:off x="9479036"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Behavior</a:t>
            </a:r>
          </a:p>
        </p:txBody>
      </p:sp>
      <p:sp>
        <p:nvSpPr>
          <p:cNvPr id="14" name="Rectangle 13"/>
          <p:cNvSpPr/>
          <p:nvPr/>
        </p:nvSpPr>
        <p:spPr>
          <a:xfrm>
            <a:off x="548640" y="1682496"/>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Tier 1 Bank Compliance Anchors</a:t>
            </a:r>
          </a:p>
        </p:txBody>
      </p:sp>
      <p:sp>
        <p:nvSpPr>
          <p:cNvPr id="16" name="TextBox 15"/>
          <p:cNvSpPr txBox="1"/>
          <p:nvPr/>
        </p:nvSpPr>
        <p:spPr>
          <a:xfrm>
            <a:off x="2822387"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Top 10 US banks by assets (&gt;$100…</a:t>
            </a:r>
          </a:p>
        </p:txBody>
      </p:sp>
      <p:sp>
        <p:nvSpPr>
          <p:cNvPr id="17" name="TextBox 16"/>
          <p:cNvSpPr txBox="1"/>
          <p:nvPr/>
        </p:nvSpPr>
        <p:spPr>
          <a:xfrm>
            <a:off x="5041270"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Non-negotiable Basel III/IV, DFA…</a:t>
            </a:r>
          </a:p>
        </p:txBody>
      </p:sp>
      <p:sp>
        <p:nvSpPr>
          <p:cNvPr id="18" name="TextBox 17"/>
          <p:cNvSpPr txBox="1"/>
          <p:nvPr/>
        </p:nvSpPr>
        <p:spPr>
          <a:xfrm>
            <a:off x="7260153"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 ACV ($450–$700K); low churn…</a:t>
            </a:r>
          </a:p>
        </p:txBody>
      </p:sp>
      <p:sp>
        <p:nvSpPr>
          <p:cNvPr id="19" name="TextBox 18"/>
          <p:cNvSpPr txBox="1"/>
          <p:nvPr/>
        </p:nvSpPr>
        <p:spPr>
          <a:xfrm>
            <a:off x="9479036"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E05A6B"/>
                </a:solidFill>
                <a:latin typeface="Calibri"/>
              </a:rPr>
              <a:t>Slow to buy, slow to churn; buy …</a:t>
            </a:r>
          </a:p>
        </p:txBody>
      </p:sp>
      <p:sp>
        <p:nvSpPr>
          <p:cNvPr id="20" name="Rectangle 19"/>
          <p:cNvSpPr/>
          <p:nvPr/>
        </p:nvSpPr>
        <p:spPr>
          <a:xfrm>
            <a:off x="548640" y="2157984"/>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Regional Bank Growth Clients</a:t>
            </a:r>
          </a:p>
        </p:txBody>
      </p:sp>
      <p:sp>
        <p:nvSpPr>
          <p:cNvPr id="22" name="TextBox 21"/>
          <p:cNvSpPr txBox="1"/>
          <p:nvPr/>
        </p:nvSpPr>
        <p:spPr>
          <a:xfrm>
            <a:off x="2822387"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Banks with $5B–$100B assets; 41%…</a:t>
            </a:r>
          </a:p>
        </p:txBody>
      </p:sp>
      <p:sp>
        <p:nvSpPr>
          <p:cNvPr id="23" name="TextBox 22"/>
          <p:cNvSpPr txBox="1"/>
          <p:nvPr/>
        </p:nvSpPr>
        <p:spPr>
          <a:xfrm>
            <a:off x="5041270"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Basel IV readiness, CECL loan lo…</a:t>
            </a:r>
          </a:p>
        </p:txBody>
      </p:sp>
      <p:sp>
        <p:nvSpPr>
          <p:cNvPr id="24" name="TextBox 23"/>
          <p:cNvSpPr txBox="1"/>
          <p:nvPr/>
        </p:nvSpPr>
        <p:spPr>
          <a:xfrm>
            <a:off x="7260153"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Medium-High ACV ($250–$400K); mo…</a:t>
            </a:r>
          </a:p>
        </p:txBody>
      </p:sp>
      <p:sp>
        <p:nvSpPr>
          <p:cNvPr id="25" name="TextBox 24"/>
          <p:cNvSpPr txBox="1"/>
          <p:nvPr/>
        </p:nvSpPr>
        <p:spPr>
          <a:xfrm>
            <a:off x="9479036"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Active budget cycles; CFO + Chie…</a:t>
            </a:r>
          </a:p>
        </p:txBody>
      </p:sp>
      <p:sp>
        <p:nvSpPr>
          <p:cNvPr id="26" name="Rectangle 25"/>
          <p:cNvSpPr/>
          <p:nvPr/>
        </p:nvSpPr>
        <p:spPr>
          <a:xfrm>
            <a:off x="548640" y="2633472"/>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Small Regional and Community Ban…</a:t>
            </a:r>
          </a:p>
        </p:txBody>
      </p:sp>
      <p:sp>
        <p:nvSpPr>
          <p:cNvPr id="28" name="TextBox 27"/>
          <p:cNvSpPr txBox="1"/>
          <p:nvPr/>
        </p:nvSpPr>
        <p:spPr>
          <a:xfrm>
            <a:off x="2822387"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Banks with $500M–$5B assets; cur…</a:t>
            </a:r>
          </a:p>
        </p:txBody>
      </p:sp>
      <p:sp>
        <p:nvSpPr>
          <p:cNvPr id="29" name="TextBox 28"/>
          <p:cNvSpPr txBox="1"/>
          <p:nvPr/>
        </p:nvSpPr>
        <p:spPr>
          <a:xfrm>
            <a:off x="5041270"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Regulatory compliance checkbox f…</a:t>
            </a:r>
          </a:p>
        </p:txBody>
      </p:sp>
      <p:sp>
        <p:nvSpPr>
          <p:cNvPr id="30" name="TextBox 29"/>
          <p:cNvSpPr txBox="1"/>
          <p:nvPr/>
        </p:nvSpPr>
        <p:spPr>
          <a:xfrm>
            <a:off x="7260153"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Low ACV ($100–$175K); high churn…</a:t>
            </a:r>
          </a:p>
        </p:txBody>
      </p:sp>
      <p:sp>
        <p:nvSpPr>
          <p:cNvPr id="31" name="TextBox 30"/>
          <p:cNvSpPr txBox="1"/>
          <p:nvPr/>
        </p:nvSpPr>
        <p:spPr>
          <a:xfrm>
            <a:off x="9479036"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Buy on price and simplicity; chu…</a:t>
            </a:r>
          </a:p>
        </p:txBody>
      </p:sp>
      <p:sp>
        <p:nvSpPr>
          <p:cNvPr id="32" name="Rectangle 31"/>
          <p:cNvSpPr/>
          <p:nvPr/>
        </p:nvSpPr>
        <p:spPr>
          <a:xfrm>
            <a:off x="548640" y="3108960"/>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504"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Insurance Carrier Prospects</a:t>
            </a:r>
          </a:p>
        </p:txBody>
      </p:sp>
      <p:sp>
        <p:nvSpPr>
          <p:cNvPr id="34" name="TextBox 33"/>
          <p:cNvSpPr txBox="1"/>
          <p:nvPr/>
        </p:nvSpPr>
        <p:spPr>
          <a:xfrm>
            <a:off x="2822387"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P&amp;C and life insurance carriers …</a:t>
            </a:r>
          </a:p>
        </p:txBody>
      </p:sp>
      <p:sp>
        <p:nvSpPr>
          <p:cNvPr id="35" name="TextBox 34"/>
          <p:cNvSpPr txBox="1"/>
          <p:nvPr/>
        </p:nvSpPr>
        <p:spPr>
          <a:xfrm>
            <a:off x="5041270"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IFRS 9 credit risk for invested …</a:t>
            </a:r>
          </a:p>
        </p:txBody>
      </p:sp>
      <p:sp>
        <p:nvSpPr>
          <p:cNvPr id="36" name="TextBox 35"/>
          <p:cNvSpPr txBox="1"/>
          <p:nvPr/>
        </p:nvSpPr>
        <p:spPr>
          <a:xfrm>
            <a:off x="7260153"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Medium-High ACV ($300–$450K); lo…</a:t>
            </a:r>
          </a:p>
        </p:txBody>
      </p:sp>
      <p:sp>
        <p:nvSpPr>
          <p:cNvPr id="37" name="TextBox 36"/>
          <p:cNvSpPr txBox="1"/>
          <p:nvPr/>
        </p:nvSpPr>
        <p:spPr>
          <a:xfrm>
            <a:off x="9479036"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Buy through Chief Actuary and CF…</a:t>
            </a:r>
          </a:p>
        </p:txBody>
      </p:sp>
      <p:sp>
        <p:nvSpPr>
          <p:cNvPr id="38" name="Rectangle 37"/>
          <p:cNvSpPr/>
          <p:nvPr/>
        </p:nvSpPr>
        <p:spPr>
          <a:xfrm>
            <a:off x="548640" y="3584448"/>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3504"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Wealth Management / RIA Accounts</a:t>
            </a:r>
          </a:p>
        </p:txBody>
      </p:sp>
      <p:sp>
        <p:nvSpPr>
          <p:cNvPr id="40" name="TextBox 39"/>
          <p:cNvSpPr txBox="1"/>
          <p:nvPr/>
        </p:nvSpPr>
        <p:spPr>
          <a:xfrm>
            <a:off x="2822387"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Family offices, RIAs, and boutiq…</a:t>
            </a:r>
          </a:p>
        </p:txBody>
      </p:sp>
      <p:sp>
        <p:nvSpPr>
          <p:cNvPr id="41" name="TextBox 40"/>
          <p:cNvSpPr txBox="1"/>
          <p:nvPr/>
        </p:nvSpPr>
        <p:spPr>
          <a:xfrm>
            <a:off x="5041270"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Portfolio risk dashboards, perfo…</a:t>
            </a:r>
          </a:p>
        </p:txBody>
      </p:sp>
      <p:sp>
        <p:nvSpPr>
          <p:cNvPr id="42" name="TextBox 41"/>
          <p:cNvSpPr txBox="1"/>
          <p:nvPr/>
        </p:nvSpPr>
        <p:spPr>
          <a:xfrm>
            <a:off x="7260153"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E05A6B"/>
                </a:solidFill>
                <a:latin typeface="Calibri"/>
              </a:rPr>
              <a:t>Low-Medium ACV ($200–$280K); mod…</a:t>
            </a:r>
          </a:p>
        </p:txBody>
      </p:sp>
      <p:sp>
        <p:nvSpPr>
          <p:cNvPr id="43" name="TextBox 42"/>
          <p:cNvSpPr txBox="1"/>
          <p:nvPr/>
        </p:nvSpPr>
        <p:spPr>
          <a:xfrm>
            <a:off x="9479036"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Buy on dashboard UX and ease of …</a:t>
            </a:r>
          </a:p>
        </p:txBody>
      </p:sp>
      <p:sp>
        <p:nvSpPr>
          <p:cNvPr id="44" name="TextBox 4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BCG Consulting Framework · Prism Analytics · 2026-06-18</a:t>
            </a:r>
          </a:p>
        </p:txBody>
      </p:sp>
      <p:sp>
        <p:nvSpPr>
          <p:cNvPr id="45" name="TextBox 4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658368"/>
          </a:xfrm>
          <a:prstGeom prst="rect">
            <a:avLst/>
          </a:prstGeom>
          <a:noFill/>
        </p:spPr>
        <p:txBody>
          <a:bodyPr wrap="square" anchor="t" lIns="0" rIns="0" tIns="0" bIns="0">
            <a:normAutofit/>
          </a:bodyPr>
          <a:lstStyle/>
          <a:p>
            <a:pPr algn="l">
              <a:lnSpc>
                <a:spcPct val="105000"/>
              </a:lnSpc>
              <a:spcBef>
                <a:spcPts val="0"/>
              </a:spcBef>
            </a:pPr>
            <a:r>
              <a:rPr sz="2600" b="1" i="0">
                <a:solidFill>
                  <a:srgbClr val="001824"/>
                </a:solidFill>
                <a:latin typeface="Calibri"/>
              </a:rPr>
              <a:t>Segment Prioritization</a:t>
            </a:r>
          </a:p>
        </p:txBody>
      </p:sp>
      <p:sp>
        <p:nvSpPr>
          <p:cNvPr id="5" name="Rectangle 4"/>
          <p:cNvSpPr/>
          <p:nvPr/>
        </p:nvSpPr>
        <p:spPr>
          <a:xfrm>
            <a:off x="548640" y="1078992"/>
            <a:ext cx="1280160" cy="4572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256032"/>
            <a:ext cx="2011680" cy="347472"/>
          </a:xfrm>
          <a:prstGeom prst="roundRect">
            <a:avLst>
              <a:gd name="adj" fmla="val 4000"/>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04527" y="274320"/>
            <a:ext cx="1865376" cy="310896"/>
          </a:xfrm>
          <a:prstGeom prst="rect">
            <a:avLst/>
          </a:prstGeom>
          <a:noFill/>
        </p:spPr>
        <p:txBody>
          <a:bodyPr wrap="square" anchor="t" lIns="0" rIns="0" tIns="0" bIns="0">
            <a:noAutofit/>
          </a:bodyPr>
          <a:lstStyle/>
          <a:p>
            <a:pPr algn="ctr">
              <a:lnSpc>
                <a:spcPct val="105000"/>
              </a:lnSpc>
              <a:spcBef>
                <a:spcPts val="0"/>
              </a:spcBef>
            </a:pPr>
            <a:r>
              <a:rPr sz="1050" b="1" i="0">
                <a:solidFill>
                  <a:srgbClr val="00996B"/>
                </a:solidFill>
                <a:latin typeface="Calibri"/>
              </a:rPr>
              <a:t>Prism Analytics</a:t>
            </a:r>
          </a:p>
        </p:txBody>
      </p:sp>
      <p:sp>
        <p:nvSpPr>
          <p:cNvPr id="8" name="Rectangle 7"/>
          <p:cNvSpPr/>
          <p:nvPr/>
        </p:nvSpPr>
        <p:spPr>
          <a:xfrm>
            <a:off x="548640" y="1298448"/>
            <a:ext cx="11094415" cy="384048"/>
          </a:xfrm>
          <a:prstGeom prst="rect">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 y="1344168"/>
            <a:ext cx="1757629"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Segment</a:t>
            </a:r>
          </a:p>
        </p:txBody>
      </p:sp>
      <p:sp>
        <p:nvSpPr>
          <p:cNvPr id="10" name="TextBox 9"/>
          <p:cNvSpPr txBox="1"/>
          <p:nvPr/>
        </p:nvSpPr>
        <p:spPr>
          <a:xfrm>
            <a:off x="2452573" y="1344168"/>
            <a:ext cx="1757629"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Size (ARR)</a:t>
            </a:r>
          </a:p>
        </p:txBody>
      </p:sp>
      <p:sp>
        <p:nvSpPr>
          <p:cNvPr id="11" name="TextBox 10"/>
          <p:cNvSpPr txBox="1"/>
          <p:nvPr/>
        </p:nvSpPr>
        <p:spPr>
          <a:xfrm>
            <a:off x="4301642" y="1344168"/>
            <a:ext cx="1757629"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Growth</a:t>
            </a:r>
          </a:p>
        </p:txBody>
      </p:sp>
      <p:sp>
        <p:nvSpPr>
          <p:cNvPr id="12" name="TextBox 11"/>
          <p:cNvSpPr txBox="1"/>
          <p:nvPr/>
        </p:nvSpPr>
        <p:spPr>
          <a:xfrm>
            <a:off x="6150711" y="1344168"/>
            <a:ext cx="1757629"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Profitability</a:t>
            </a:r>
          </a:p>
        </p:txBody>
      </p:sp>
      <p:sp>
        <p:nvSpPr>
          <p:cNvPr id="13" name="TextBox 12"/>
          <p:cNvSpPr txBox="1"/>
          <p:nvPr/>
        </p:nvSpPr>
        <p:spPr>
          <a:xfrm>
            <a:off x="7999780" y="1344168"/>
            <a:ext cx="1757629"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Fit (Product + Sales)</a:t>
            </a:r>
          </a:p>
        </p:txBody>
      </p:sp>
      <p:sp>
        <p:nvSpPr>
          <p:cNvPr id="14" name="TextBox 13"/>
          <p:cNvSpPr txBox="1"/>
          <p:nvPr/>
        </p:nvSpPr>
        <p:spPr>
          <a:xfrm>
            <a:off x="9848849" y="1344168"/>
            <a:ext cx="1757629"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Priority</a:t>
            </a:r>
          </a:p>
        </p:txBody>
      </p:sp>
      <p:sp>
        <p:nvSpPr>
          <p:cNvPr id="15" name="Rectangle 14"/>
          <p:cNvSpPr/>
          <p:nvPr/>
        </p:nvSpPr>
        <p:spPr>
          <a:xfrm>
            <a:off x="548640" y="1682496"/>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 y="1728216"/>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Regional Bank Growth Clients</a:t>
            </a:r>
          </a:p>
        </p:txBody>
      </p:sp>
      <p:sp>
        <p:nvSpPr>
          <p:cNvPr id="17" name="TextBox 16"/>
          <p:cNvSpPr txBox="1"/>
          <p:nvPr/>
        </p:nvSpPr>
        <p:spPr>
          <a:xfrm>
            <a:off x="2452573" y="1728216"/>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$19.7M (41%)</a:t>
            </a:r>
          </a:p>
        </p:txBody>
      </p:sp>
      <p:sp>
        <p:nvSpPr>
          <p:cNvPr id="18" name="TextBox 17"/>
          <p:cNvSpPr txBox="1"/>
          <p:nvPr/>
        </p:nvSpPr>
        <p:spPr>
          <a:xfrm>
            <a:off x="4301642" y="1728216"/>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Medium (14–18% if win rate recov…</a:t>
            </a:r>
          </a:p>
        </p:txBody>
      </p:sp>
      <p:sp>
        <p:nvSpPr>
          <p:cNvPr id="19" name="TextBox 18"/>
          <p:cNvSpPr txBox="1"/>
          <p:nvPr/>
        </p:nvSpPr>
        <p:spPr>
          <a:xfrm>
            <a:off x="6150711" y="1728216"/>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 — core product fit, reasona…</a:t>
            </a:r>
          </a:p>
        </p:txBody>
      </p:sp>
      <p:sp>
        <p:nvSpPr>
          <p:cNvPr id="20" name="TextBox 19"/>
          <p:cNvSpPr txBox="1"/>
          <p:nvPr/>
        </p:nvSpPr>
        <p:spPr>
          <a:xfrm>
            <a:off x="7999780" y="1728216"/>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 — LLM interface is precisel…</a:t>
            </a:r>
          </a:p>
        </p:txBody>
      </p:sp>
      <p:sp>
        <p:nvSpPr>
          <p:cNvPr id="21" name="TextBox 20"/>
          <p:cNvSpPr txBox="1"/>
          <p:nvPr/>
        </p:nvSpPr>
        <p:spPr>
          <a:xfrm>
            <a:off x="9848849" y="1728216"/>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P1 — Defend and expand; primary …</a:t>
            </a:r>
          </a:p>
        </p:txBody>
      </p:sp>
      <p:sp>
        <p:nvSpPr>
          <p:cNvPr id="22" name="Rectangle 21"/>
          <p:cNvSpPr/>
          <p:nvPr/>
        </p:nvSpPr>
        <p:spPr>
          <a:xfrm>
            <a:off x="548640" y="2157984"/>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2203704"/>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Tier 1 Bank Compliance Anchors</a:t>
            </a:r>
          </a:p>
        </p:txBody>
      </p:sp>
      <p:sp>
        <p:nvSpPr>
          <p:cNvPr id="24" name="TextBox 23"/>
          <p:cNvSpPr txBox="1"/>
          <p:nvPr/>
        </p:nvSpPr>
        <p:spPr>
          <a:xfrm>
            <a:off x="2452573" y="2203704"/>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$15.4M (32%)</a:t>
            </a:r>
          </a:p>
        </p:txBody>
      </p:sp>
      <p:sp>
        <p:nvSpPr>
          <p:cNvPr id="25" name="TextBox 24"/>
          <p:cNvSpPr txBox="1"/>
          <p:nvPr/>
        </p:nvSpPr>
        <p:spPr>
          <a:xfrm>
            <a:off x="4301642" y="2203704"/>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E05A6B"/>
                </a:solidFill>
                <a:latin typeface="Calibri"/>
              </a:rPr>
              <a:t>Low-Medium (8–10%; stable base)</a:t>
            </a:r>
          </a:p>
        </p:txBody>
      </p:sp>
      <p:sp>
        <p:nvSpPr>
          <p:cNvPr id="26" name="TextBox 25"/>
          <p:cNvSpPr txBox="1"/>
          <p:nvPr/>
        </p:nvSpPr>
        <p:spPr>
          <a:xfrm>
            <a:off x="6150711" y="2203704"/>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Very High — highest ACV, lowest …</a:t>
            </a:r>
          </a:p>
        </p:txBody>
      </p:sp>
      <p:sp>
        <p:nvSpPr>
          <p:cNvPr id="27" name="TextBox 26"/>
          <p:cNvSpPr txBox="1"/>
          <p:nvPr/>
        </p:nvSpPr>
        <p:spPr>
          <a:xfrm>
            <a:off x="7999780" y="2203704"/>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 on retention; Low on new lo…</a:t>
            </a:r>
          </a:p>
        </p:txBody>
      </p:sp>
      <p:sp>
        <p:nvSpPr>
          <p:cNvPr id="28" name="TextBox 27"/>
          <p:cNvSpPr txBox="1"/>
          <p:nvPr/>
        </p:nvSpPr>
        <p:spPr>
          <a:xfrm>
            <a:off x="9848849" y="2203704"/>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P1 — Lock in with multi-year ren…</a:t>
            </a:r>
          </a:p>
        </p:txBody>
      </p:sp>
      <p:sp>
        <p:nvSpPr>
          <p:cNvPr id="29" name="Rectangle 28"/>
          <p:cNvSpPr/>
          <p:nvPr/>
        </p:nvSpPr>
        <p:spPr>
          <a:xfrm>
            <a:off x="548640" y="2633472"/>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 y="2679192"/>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Insurance Carrier Prospects</a:t>
            </a:r>
          </a:p>
        </p:txBody>
      </p:sp>
      <p:sp>
        <p:nvSpPr>
          <p:cNvPr id="31" name="TextBox 30"/>
          <p:cNvSpPr txBox="1"/>
          <p:nvPr/>
        </p:nvSpPr>
        <p:spPr>
          <a:xfrm>
            <a:off x="2452573" y="2679192"/>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$8.6M (18%)</a:t>
            </a:r>
          </a:p>
        </p:txBody>
      </p:sp>
      <p:sp>
        <p:nvSpPr>
          <p:cNvPr id="32" name="TextBox 31"/>
          <p:cNvSpPr txBox="1"/>
          <p:nvPr/>
        </p:nvSpPr>
        <p:spPr>
          <a:xfrm>
            <a:off x="4301642" y="2679192"/>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 potential (15–20% if proper…</a:t>
            </a:r>
          </a:p>
        </p:txBody>
      </p:sp>
      <p:sp>
        <p:nvSpPr>
          <p:cNvPr id="33" name="TextBox 32"/>
          <p:cNvSpPr txBox="1"/>
          <p:nvPr/>
        </p:nvSpPr>
        <p:spPr>
          <a:xfrm>
            <a:off x="6150711" y="2679192"/>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 — strong margin, differenti…</a:t>
            </a:r>
          </a:p>
        </p:txBody>
      </p:sp>
      <p:sp>
        <p:nvSpPr>
          <p:cNvPr id="34" name="TextBox 33"/>
          <p:cNvSpPr txBox="1"/>
          <p:nvPr/>
        </p:nvSpPr>
        <p:spPr>
          <a:xfrm>
            <a:off x="7999780" y="2679192"/>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Medium — requires IFRS 17 produc…</a:t>
            </a:r>
          </a:p>
        </p:txBody>
      </p:sp>
      <p:sp>
        <p:nvSpPr>
          <p:cNvPr id="35" name="TextBox 34"/>
          <p:cNvSpPr txBox="1"/>
          <p:nvPr/>
        </p:nvSpPr>
        <p:spPr>
          <a:xfrm>
            <a:off x="9848849" y="2679192"/>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P2 — Strategic expansion; target…</a:t>
            </a:r>
          </a:p>
        </p:txBody>
      </p:sp>
      <p:sp>
        <p:nvSpPr>
          <p:cNvPr id="36" name="Rectangle 35"/>
          <p:cNvSpPr/>
          <p:nvPr/>
        </p:nvSpPr>
        <p:spPr>
          <a:xfrm>
            <a:off x="548640" y="3108960"/>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3504" y="3154680"/>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Small Regional and Community Banks</a:t>
            </a:r>
          </a:p>
        </p:txBody>
      </p:sp>
      <p:sp>
        <p:nvSpPr>
          <p:cNvPr id="38" name="TextBox 37"/>
          <p:cNvSpPr txBox="1"/>
          <p:nvPr/>
        </p:nvSpPr>
        <p:spPr>
          <a:xfrm>
            <a:off x="2452573" y="3154680"/>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~$6.2M (estimated ~13%)</a:t>
            </a:r>
          </a:p>
        </p:txBody>
      </p:sp>
      <p:sp>
        <p:nvSpPr>
          <p:cNvPr id="39" name="TextBox 38"/>
          <p:cNvSpPr txBox="1"/>
          <p:nvPr/>
        </p:nvSpPr>
        <p:spPr>
          <a:xfrm>
            <a:off x="4301642" y="3154680"/>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Negative-to-flat (high churn off…</a:t>
            </a:r>
          </a:p>
        </p:txBody>
      </p:sp>
      <p:sp>
        <p:nvSpPr>
          <p:cNvPr id="40" name="TextBox 39"/>
          <p:cNvSpPr txBox="1"/>
          <p:nvPr/>
        </p:nvSpPr>
        <p:spPr>
          <a:xfrm>
            <a:off x="6150711" y="3154680"/>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E05A6B"/>
                </a:solidFill>
                <a:latin typeface="Calibri"/>
              </a:rPr>
              <a:t>Low-Medium — cost to serve erode…</a:t>
            </a:r>
          </a:p>
        </p:txBody>
      </p:sp>
      <p:sp>
        <p:nvSpPr>
          <p:cNvPr id="41" name="TextBox 40"/>
          <p:cNvSpPr txBox="1"/>
          <p:nvPr/>
        </p:nvSpPr>
        <p:spPr>
          <a:xfrm>
            <a:off x="7999780" y="3154680"/>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E05A6B"/>
                </a:solidFill>
                <a:latin typeface="Calibri"/>
              </a:rPr>
              <a:t>Low — difficult to retain; Clear…</a:t>
            </a:r>
          </a:p>
        </p:txBody>
      </p:sp>
      <p:sp>
        <p:nvSpPr>
          <p:cNvPr id="42" name="TextBox 41"/>
          <p:cNvSpPr txBox="1"/>
          <p:nvPr/>
        </p:nvSpPr>
        <p:spPr>
          <a:xfrm>
            <a:off x="9848849" y="3154680"/>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P3 — Manage churn, do not invest…</a:t>
            </a:r>
          </a:p>
        </p:txBody>
      </p:sp>
      <p:sp>
        <p:nvSpPr>
          <p:cNvPr id="43" name="Rectangle 42"/>
          <p:cNvSpPr/>
          <p:nvPr/>
        </p:nvSpPr>
        <p:spPr>
          <a:xfrm>
            <a:off x="548640" y="3584448"/>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3504" y="3630168"/>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Wealth Management / RIA</a:t>
            </a:r>
          </a:p>
        </p:txBody>
      </p:sp>
      <p:sp>
        <p:nvSpPr>
          <p:cNvPr id="45" name="TextBox 44"/>
          <p:cNvSpPr txBox="1"/>
          <p:nvPr/>
        </p:nvSpPr>
        <p:spPr>
          <a:xfrm>
            <a:off x="2452573" y="3630168"/>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$4.3M (9%)</a:t>
            </a:r>
          </a:p>
        </p:txBody>
      </p:sp>
      <p:sp>
        <p:nvSpPr>
          <p:cNvPr id="46" name="TextBox 45"/>
          <p:cNvSpPr txBox="1"/>
          <p:nvPr/>
        </p:nvSpPr>
        <p:spPr>
          <a:xfrm>
            <a:off x="4301642" y="3630168"/>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E05A6B"/>
                </a:solidFill>
                <a:latin typeface="Calibri"/>
              </a:rPr>
              <a:t>Low (10–12%); flat NRR</a:t>
            </a:r>
          </a:p>
        </p:txBody>
      </p:sp>
      <p:sp>
        <p:nvSpPr>
          <p:cNvPr id="47" name="TextBox 46"/>
          <p:cNvSpPr txBox="1"/>
          <p:nvPr/>
        </p:nvSpPr>
        <p:spPr>
          <a:xfrm>
            <a:off x="6150711" y="3630168"/>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Medium — acceptable ACV but requ…</a:t>
            </a:r>
          </a:p>
        </p:txBody>
      </p:sp>
      <p:sp>
        <p:nvSpPr>
          <p:cNvPr id="48" name="TextBox 47"/>
          <p:cNvSpPr txBox="1"/>
          <p:nvPr/>
        </p:nvSpPr>
        <p:spPr>
          <a:xfrm>
            <a:off x="7999780" y="3630168"/>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Low-Medium — highest displacemen…</a:t>
            </a:r>
          </a:p>
        </p:txBody>
      </p:sp>
      <p:sp>
        <p:nvSpPr>
          <p:cNvPr id="49" name="TextBox 48"/>
          <p:cNvSpPr txBox="1"/>
          <p:nvPr/>
        </p:nvSpPr>
        <p:spPr>
          <a:xfrm>
            <a:off x="9848849" y="3630168"/>
            <a:ext cx="1757629"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P3 — Hold current accounts; no n…</a:t>
            </a:r>
          </a:p>
        </p:txBody>
      </p:sp>
      <p:sp>
        <p:nvSpPr>
          <p:cNvPr id="50" name="TextBox 4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BCG Consulting Framework · Prism Analytics · 2026-06-18</a:t>
            </a:r>
          </a:p>
        </p:txBody>
      </p:sp>
      <p:sp>
        <p:nvSpPr>
          <p:cNvPr id="51" name="TextBox 5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658368"/>
          </a:xfrm>
          <a:prstGeom prst="rect">
            <a:avLst/>
          </a:prstGeom>
          <a:noFill/>
        </p:spPr>
        <p:txBody>
          <a:bodyPr wrap="square" anchor="t" lIns="0" rIns="0" tIns="0" bIns="0">
            <a:normAutofit/>
          </a:bodyPr>
          <a:lstStyle/>
          <a:p>
            <a:pPr algn="l">
              <a:lnSpc>
                <a:spcPct val="105000"/>
              </a:lnSpc>
              <a:spcBef>
                <a:spcPts val="0"/>
              </a:spcBef>
            </a:pPr>
            <a:r>
              <a:rPr sz="2600" b="1" i="0">
                <a:solidFill>
                  <a:srgbClr val="001824"/>
                </a:solidFill>
                <a:latin typeface="Calibri"/>
              </a:rPr>
              <a:t>Strategic Implications</a:t>
            </a:r>
          </a:p>
        </p:txBody>
      </p:sp>
      <p:sp>
        <p:nvSpPr>
          <p:cNvPr id="5" name="Rectangle 4"/>
          <p:cNvSpPr/>
          <p:nvPr/>
        </p:nvSpPr>
        <p:spPr>
          <a:xfrm>
            <a:off x="548640" y="1078992"/>
            <a:ext cx="1280160" cy="4572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256032"/>
            <a:ext cx="2011680" cy="347472"/>
          </a:xfrm>
          <a:prstGeom prst="roundRect">
            <a:avLst>
              <a:gd name="adj" fmla="val 4000"/>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04527" y="274320"/>
            <a:ext cx="1865376" cy="310896"/>
          </a:xfrm>
          <a:prstGeom prst="rect">
            <a:avLst/>
          </a:prstGeom>
          <a:noFill/>
        </p:spPr>
        <p:txBody>
          <a:bodyPr wrap="square" anchor="t" lIns="0" rIns="0" tIns="0" bIns="0">
            <a:noAutofit/>
          </a:bodyPr>
          <a:lstStyle/>
          <a:p>
            <a:pPr algn="ctr">
              <a:lnSpc>
                <a:spcPct val="105000"/>
              </a:lnSpc>
              <a:spcBef>
                <a:spcPts val="0"/>
              </a:spcBef>
            </a:pPr>
            <a:r>
              <a:rPr sz="1050" b="1" i="0">
                <a:solidFill>
                  <a:srgbClr val="00996B"/>
                </a:solidFill>
                <a:latin typeface="Calibri"/>
              </a:rPr>
              <a:t>Prism Analytics</a:t>
            </a:r>
          </a:p>
        </p:txBody>
      </p:sp>
      <p:sp>
        <p:nvSpPr>
          <p:cNvPr id="8" name="TextBox 7"/>
          <p:cNvSpPr txBox="1"/>
          <p:nvPr/>
        </p:nvSpPr>
        <p:spPr>
          <a:xfrm>
            <a:off x="548640" y="1298448"/>
            <a:ext cx="11094415" cy="142646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Targeting: Concentrate 70%+ of new logo sales investment on Regional Bank Growth Clients ($5B–$100B assets) where Prism's compliance depth is a genuine differentiator and the LLM interface can change the buying calculus. Deprioritize community bank prospecting immediately — the economics do not support it and churn will continue regardless.</a:t>
            </a:r>
          </a:p>
        </p:txBody>
      </p:sp>
      <p:sp>
        <p:nvSpPr>
          <p:cNvPr id="9" name="TextBox 8"/>
          <p:cNvSpPr txBox="1"/>
          <p:nvPr/>
        </p:nvSpPr>
        <p:spPr>
          <a:xfrm>
            <a:off x="548640" y="2798064"/>
            <a:ext cx="11094415" cy="115214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Retention: Tier 1 banks must be treated as irreplaceable; losing one account at $500K+ ACV requires 3–4 new regional bank logos to replace. Proactive multi-year renewal outreach should begin for any Tier 1 account within 18 months of renewal. Offer LLM beta access as a retention lever before the commercial launch.</a:t>
            </a:r>
          </a:p>
        </p:txBody>
      </p:sp>
      <p:sp>
        <p:nvSpPr>
          <p:cNvPr id="10" name="TextBox 9"/>
          <p:cNvSpPr txBox="1"/>
          <p:nvPr/>
        </p:nvSpPr>
        <p:spPr>
          <a:xfrm>
            <a:off x="548640" y="4023360"/>
            <a:ext cx="11094415" cy="115214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Product roadmap: The LLM interface rollout should be sequenced to Regional Bank accounts first — they are the most price-competitive segment where a differentiated demo changes deal outcomes. Tier 1 banks will be more skeptical of LLM features; they need examiner validation first.</a:t>
            </a:r>
          </a:p>
        </p:txBody>
      </p:sp>
      <p:sp>
        <p:nvSpPr>
          <p:cNvPr id="11" name="TextBox 10"/>
          <p:cNvSpPr txBox="1"/>
          <p:nvPr/>
        </p:nvSpPr>
        <p:spPr>
          <a:xfrm>
            <a:off x="548640" y="5248656"/>
            <a:ext cx="11094415" cy="142646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Pricing: Small Regional and Community Banks below $150K ACV are structurally unprofitable once CSM cost, support overhead, and implementation cost are fully loaded. Consider a tiered "Prism Essentials" offering at $80–$100K ACV with limited feature access and self-serve support, or a resale partnership with FIS/nCino to serve this segment without direct cost.</a:t>
            </a:r>
          </a:p>
        </p:txBody>
      </p:sp>
      <p:sp>
        <p:nvSpPr>
          <p:cNvPr id="12" name="TextBox 1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BCG Consulting Framework · Prism Analytics · 2026-06-18</a:t>
            </a:r>
          </a:p>
        </p:txBody>
      </p:sp>
      <p:sp>
        <p:nvSpPr>
          <p:cNvPr id="13" name="TextBox 1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