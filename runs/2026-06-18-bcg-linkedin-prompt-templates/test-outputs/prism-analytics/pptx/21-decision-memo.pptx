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320040"/>
            <a:ext cx="1463040" cy="347472"/>
          </a:xfrm>
          <a:prstGeom prst="roundRect">
            <a:avLst>
              <a:gd name="adj" fmla="val 5000"/>
            </a:avLst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338328"/>
            <a:ext cx="1426464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BCG-STYLE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04672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996B"/>
                </a:solidFill>
                <a:latin typeface="Calibri"/>
              </a:rPr>
              <a:t>06 / EXECUTIVE COMMS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9601200" cy="2560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4200" b="1" i="0">
                <a:solidFill>
                  <a:srgbClr val="FFFFFF"/>
                </a:solidFill>
                <a:latin typeface="Calibri"/>
              </a:rPr>
              <a:t>Decision Memo — Prism Analytics LLM Acceleration Investment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023360"/>
            <a:ext cx="2743200" cy="54864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4251960"/>
            <a:ext cx="731520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800" b="0" i="0">
                <a:solidFill>
                  <a:srgbClr val="CCEEE4"/>
                </a:solidFill>
                <a:latin typeface="Calibri"/>
              </a:rPr>
              <a:t>Prism Analytics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709160"/>
            <a:ext cx="7315200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5B6B7C"/>
                </a:solidFill>
                <a:latin typeface="Calibri"/>
              </a:rPr>
              <a:t>2026-06-18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21792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5B6B7C"/>
                </a:solidFill>
                <a:latin typeface="Calibri"/>
              </a:rPr>
              <a:t>Powered by The Consultant's Guide to Claude · 21 BCG-Style Skills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4415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96B"/>
                </a:solidFill>
                <a:latin typeface="Calibri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094415" cy="7132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FFFFFF"/>
                </a:solidFill>
                <a:latin typeface="Calibri"/>
              </a:rPr>
              <a:t>Recommendation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72768"/>
            <a:ext cx="2286000" cy="54864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783080"/>
            <a:ext cx="11094415" cy="2011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CCEEE4"/>
                </a:solidFill>
                <a:latin typeface="Calibri"/>
              </a:rPr>
              <a:t>Approve $3.2M to accelerate the LLM natural language query interface by 2 months (target GA: Q4 2026 vs. current Q1 2027 plan), hire 4 sales engineers to convert the $28M qualified pipeline, and formally defer real-time data replatforming until Prism reaches $65M ARR. Structure the investment as two tranches: $1.8M at Board approval, $1.4M upon hitting the Q3 2026 LLM engineering milestone. This is the fastest path to restoring Prism's growth trajectory, win rate, and NRR — and to creating an optionality-rich position for a premium strategic exit or Series D raise.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265615" y="256032"/>
            <a:ext cx="2377440" cy="347472"/>
          </a:xfrm>
          <a:prstGeom prst="roundRect">
            <a:avLst>
              <a:gd name="adj" fmla="val 4000"/>
            </a:avLst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57055" y="274320"/>
            <a:ext cx="219456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01824"/>
                </a:solidFill>
                <a:latin typeface="Calibri"/>
              </a:rPr>
              <a:t>Prism Analytics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BCG Consulting Framework · Prism Analytics · 2026-06-18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2 /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001824"/>
                </a:solidFill>
                <a:latin typeface="Calibri"/>
              </a:rPr>
              <a:t>Decision Required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280160" cy="45720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31375" y="256032"/>
            <a:ext cx="2011680" cy="347472"/>
          </a:xfrm>
          <a:prstGeom prst="roundRect">
            <a:avLst>
              <a:gd name="adj" fmla="val 4000"/>
            </a:avLst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04527" y="274320"/>
            <a:ext cx="1865376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0996B"/>
                </a:solidFill>
                <a:latin typeface="Calibri"/>
              </a:rPr>
              <a:t>Prism Analytics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98448"/>
            <a:ext cx="11094415" cy="11521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1B2B3C"/>
                </a:solidFill>
                <a:latin typeface="Calibri"/>
              </a:rPr>
              <a:t>The Board must approve Tranche 1 of $3.2M ($1.8M) by June 30, 2026. Approval authorizes the CTO to begin engineering reallocation immediately and the VP Sales to open the four sales engineer requisitions. Tranche 2 ($1.4M) is subject to the CTO confirming the Q3 2026 LLM milestone at the August Board review.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BCG Consulting Framework · Prism Analytics · 2026-06-18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3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001824"/>
                </a:solidFill>
                <a:latin typeface="Calibri"/>
              </a:rPr>
              <a:t>Context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280160" cy="45720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31375" y="256032"/>
            <a:ext cx="2011680" cy="347472"/>
          </a:xfrm>
          <a:prstGeom prst="roundRect">
            <a:avLst>
              <a:gd name="adj" fmla="val 4000"/>
            </a:avLst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04527" y="274320"/>
            <a:ext cx="1865376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0996B"/>
                </a:solidFill>
                <a:latin typeface="Calibri"/>
              </a:rPr>
              <a:t>Prism Analytics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98448"/>
            <a:ext cx="11094415" cy="17007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1B2B3C"/>
                </a:solidFill>
                <a:latin typeface="Calibri"/>
              </a:rPr>
              <a:t>Prism Analytics grew to $48M ARR but has decelerated sharply: 42% growth in FY2023, 28% in FY2024, and 14% in FY2025. Win rate has fallen from 47% to 31% over the same period. The company lost a $1.2M TCV deal to Clearwater Analytics three months ago — the clearest signal yet that buyers are choosing AI-native competitors not for superior compliance analytics, but for a natural language interface that Prism does not yet have.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072384"/>
            <a:ext cx="11094415" cy="142646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1B2B3C"/>
                </a:solidFill>
                <a:latin typeface="Calibri"/>
              </a:rPr>
              <a:t>Clearwater Analytics is now at $180M ARR growing at 55%. It is actively calling Prism's accounts. Prism has 18 months of runway at $2.1M/mo burn and $28M in qualified pipeline. The LLM interface is already 6 months from launch on the current plan. The decision is not whether to launch it — it is whether to accelerate it by 2 months to change the competitive dynamic before the window closes.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BCG Consulting Framework · Prism Analytics · 2026-06-18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4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001824"/>
                </a:solidFill>
                <a:latin typeface="Calibri"/>
              </a:rPr>
              <a:t>Options Considered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280160" cy="45720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31375" y="256032"/>
            <a:ext cx="2011680" cy="347472"/>
          </a:xfrm>
          <a:prstGeom prst="roundRect">
            <a:avLst>
              <a:gd name="adj" fmla="val 4000"/>
            </a:avLst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04527" y="274320"/>
            <a:ext cx="1865376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0996B"/>
                </a:solidFill>
                <a:latin typeface="Calibri"/>
              </a:rPr>
              <a:t>Prism Analytics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298448"/>
            <a:ext cx="11094415" cy="384048"/>
          </a:xfrm>
          <a:prstGeom prst="rect">
            <a:avLst/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344168"/>
            <a:ext cx="2682163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Option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77107" y="1344168"/>
            <a:ext cx="2682163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Upside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50711" y="1344168"/>
            <a:ext cx="2682163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Trade-Off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24315" y="1344168"/>
            <a:ext cx="2682163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Verdict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1682496"/>
            <a:ext cx="11094415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" y="1728216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Accelerate LLM + hire 4 SEs (rec…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77107" y="1728216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Closes AI perception gap in FY20…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50711" y="1728216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$3.2M burn increase; engineering…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24315" y="1728216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Selected — best risk-adjusted pa…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157984"/>
            <a:ext cx="11094415" cy="475488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504" y="2203704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Proceed on current LLM timeline 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77107" y="2203704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007755"/>
                </a:solidFill>
                <a:latin typeface="Calibri"/>
              </a:rPr>
              <a:t>No incremental investment requir…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50711" y="2203704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Clearwater compounds for another…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24315" y="2203704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Rejected — the status quo guaran…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2633472"/>
            <a:ext cx="11094415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3504" y="2679192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Replatform to real-time streamin…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77107" y="2679192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Addresses the deepest technical 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50711" y="2679192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18+ months and $15M+ — longer th…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24315" y="2679192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Rejected — sequencing risk is ex…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3108960"/>
            <a:ext cx="11094415" cy="475488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3504" y="3154680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Raise Series D to fund replatfor…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77107" y="3154680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Provides capital to do everythin…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50711" y="3154680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At 14% growth, a Series D is a f…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24315" y="3154680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007755"/>
                </a:solidFill>
                <a:latin typeface="Calibri"/>
              </a:rPr>
              <a:t>Rejected — investment restores t…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3584448"/>
            <a:ext cx="11094415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3504" y="3630168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Pursue strategic sale now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77107" y="3630168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Exits at current valuation; elim…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50711" y="3630168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Current story — 14% growth, no A…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24315" y="3630168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Rejected as the primary path; pr…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BCG Consulting Framework · Prism Analytics · 2026-06-18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5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001824"/>
                </a:solidFill>
                <a:latin typeface="Calibri"/>
              </a:rPr>
              <a:t>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280160" cy="45720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31375" y="256032"/>
            <a:ext cx="2011680" cy="347472"/>
          </a:xfrm>
          <a:prstGeom prst="roundRect">
            <a:avLst>
              <a:gd name="adj" fmla="val 4000"/>
            </a:avLst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04527" y="274320"/>
            <a:ext cx="1865376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0996B"/>
                </a:solidFill>
                <a:latin typeface="Calibri"/>
              </a:rPr>
              <a:t>Prism Analytics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298448"/>
            <a:ext cx="10984687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**Win rate:** 31% today vs. 47% two years ago. 16-point decline is directionally correlated with Clearwater's AI-nati…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45920"/>
            <a:ext cx="10984687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**Lost deal signal:** $1.2M TCV deal lost to Clearwater 3 months ago. Post-mortem: buying committee cited "Clearwater…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993392"/>
            <a:ext cx="10984687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**NRR trajectory:** 112% (2023) → 108% (2024) → 104% (2025). Continued erosion means gross churn is approaching the e…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340864"/>
            <a:ext cx="10984687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**Pipeline quality:** $28M in qualified opportunities. At 42% win rate and $343K ACV, this pipeline supports $11.7M i…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688336"/>
            <a:ext cx="10984687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**LLM readiness:** 27 engineers already assigned to LLM layer; Q1 2027 GA is confirmed on current resource levels. Ac…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3035808"/>
            <a:ext cx="10984687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**Economics:** At 74% gross margin, $14M in net new ARR generates $10.4M in incremental gross profit. The $3.2M inves…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BCG Consulting Framework · Prism Analytics · 2026-06-18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6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001824"/>
                </a:solidFill>
                <a:latin typeface="Calibri"/>
              </a:rPr>
              <a:t>Risks and Mitigations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280160" cy="45720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31375" y="256032"/>
            <a:ext cx="2011680" cy="347472"/>
          </a:xfrm>
          <a:prstGeom prst="roundRect">
            <a:avLst>
              <a:gd name="adj" fmla="val 4000"/>
            </a:avLst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04527" y="274320"/>
            <a:ext cx="1865376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0996B"/>
                </a:solidFill>
                <a:latin typeface="Calibri"/>
              </a:rPr>
              <a:t>Prism Analytics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298448"/>
            <a:ext cx="11094415" cy="384048"/>
          </a:xfrm>
          <a:prstGeom prst="rect">
            <a:avLst/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344168"/>
            <a:ext cx="5455767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Risk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50711" y="1344168"/>
            <a:ext cx="5455767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Mitigation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682496"/>
            <a:ext cx="11094415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3504" y="1728216"/>
            <a:ext cx="5455767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LLM ships late or fails complian…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50711" y="1728216"/>
            <a:ext cx="5455767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Tranche 2 hold trigger at Q3 mil…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157984"/>
            <a:ext cx="11094415" cy="475488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3504" y="2203704"/>
            <a:ext cx="5455767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Clearwater pre-empts repositioni…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50711" y="2203704"/>
            <a:ext cx="5455767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Soft-launch to 10 design partner…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633472"/>
            <a:ext cx="11094415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3504" y="2679192"/>
            <a:ext cx="5455767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Gross churn accelerates during t…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50711" y="2679192"/>
            <a:ext cx="5455767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Dedicated CSM coverage for 30 at…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108960"/>
            <a:ext cx="11094415" cy="475488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3504" y="3154680"/>
            <a:ext cx="5455767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$3.2M is insufficient — second a…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50711" y="3154680"/>
            <a:ext cx="5455767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Tranche 2 is the natural checkpo…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3584448"/>
            <a:ext cx="11094415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3504" y="3630168"/>
            <a:ext cx="5455767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Burn exceeds $2.3M/mo cap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50711" y="3630168"/>
            <a:ext cx="5455767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CFO holds monthly approval; any 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BCG Consulting Framework · Prism Analytics · 2026-06-18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7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001824"/>
                </a:solidFill>
                <a:latin typeface="Calibri"/>
              </a:rPr>
              <a:t>Next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280160" cy="45720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31375" y="256032"/>
            <a:ext cx="2011680" cy="347472"/>
          </a:xfrm>
          <a:prstGeom prst="roundRect">
            <a:avLst>
              <a:gd name="adj" fmla="val 4000"/>
            </a:avLst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04527" y="274320"/>
            <a:ext cx="1865376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0996B"/>
                </a:solidFill>
                <a:latin typeface="Calibri"/>
              </a:rPr>
              <a:t>Prism Analytics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298448"/>
            <a:ext cx="10984687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1.  **June 30, 2026:** Board approves Tranche 1 ($1.8M)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45920"/>
            <a:ext cx="10984687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2.  **July 1:** CTO implements engineering reallocation; 90-day non-critical platform change freeze begins; 18-engine…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993392"/>
            <a:ext cx="10984687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3.  **July 1–15:** VP Sales opens 2 of 4 sales engineer requisitions; targeting start dates by August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340864"/>
            <a:ext cx="10984687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4.  **July 15:** Design partner LOIs signed with 3 Tier 1 bank contacts (VP Product + VP Sales)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688336"/>
            <a:ext cx="10984687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5.  **August Board review:** CTO confirms Q3 LLM milestone; Tranche 2 ($1.4M) approved or held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3035808"/>
            <a:ext cx="10984687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6.  **September 1:** Remaining 2 SE hires onboarded; LLM early access delivered to 10 design partners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3383280"/>
            <a:ext cx="10984687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7.  **October (Q4 2026):** LLM interface GA; full sales team repositioning to AI-first compliance intelligence narrative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3730752"/>
            <a:ext cx="10984687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8.  **December 2026:** Board review of $62M ARR trajectory; strategic sale process decision 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151376"/>
            <a:ext cx="11094415" cy="8778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1B2B3C"/>
                </a:solidFill>
                <a:latin typeface="Calibri"/>
              </a:rPr>
              <a:t>Budget: $3.2M total (Tranche 1: $1.8M — $1.1M engineering acceleration + $500K SE hiring + $200K design partner program; Tranche 2: $1.4M — $800K remaining SE ramp + $600K LLM GA launch and marketing)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BCG Consulting Framework · Prism Analytics · 2026-06-18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8 /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