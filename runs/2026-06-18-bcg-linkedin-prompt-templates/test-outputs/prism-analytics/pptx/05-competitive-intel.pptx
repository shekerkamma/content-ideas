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1463040" cy="347472"/>
          </a:xfrm>
          <a:prstGeom prst="roundRect">
            <a:avLst>
              <a:gd name="adj" fmla="val 5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338328"/>
            <a:ext cx="1426464"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FFFFFF"/>
                </a:solidFill>
                <a:latin typeface="Calibri"/>
              </a:rPr>
              <a:t>BCG-STYLE</a:t>
            </a:r>
          </a:p>
        </p:txBody>
      </p:sp>
      <p:sp>
        <p:nvSpPr>
          <p:cNvPr id="6" name="TextBox 5"/>
          <p:cNvSpPr txBox="1"/>
          <p:nvPr/>
        </p:nvSpPr>
        <p:spPr>
          <a:xfrm>
            <a:off x="457200" y="804672"/>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96B"/>
                </a:solidFill>
                <a:latin typeface="Calibri"/>
              </a:rPr>
              <a:t>02 / MARKET INTELLIGENCE</a:t>
            </a:r>
          </a:p>
        </p:txBody>
      </p:sp>
      <p:sp>
        <p:nvSpPr>
          <p:cNvPr id="7" name="TextBox 6"/>
          <p:cNvSpPr txBox="1"/>
          <p:nvPr/>
        </p:nvSpPr>
        <p:spPr>
          <a:xfrm>
            <a:off x="457200" y="1280160"/>
            <a:ext cx="9601200" cy="256032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Competitive Intel — Prism Analytics</a:t>
            </a:r>
          </a:p>
        </p:txBody>
      </p:sp>
      <p:sp>
        <p:nvSpPr>
          <p:cNvPr id="8" name="Rectangle 7"/>
          <p:cNvSpPr/>
          <p:nvPr/>
        </p:nvSpPr>
        <p:spPr>
          <a:xfrm>
            <a:off x="457200" y="4023360"/>
            <a:ext cx="27432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251960"/>
            <a:ext cx="7315200" cy="411480"/>
          </a:xfrm>
          <a:prstGeom prst="rect">
            <a:avLst/>
          </a:prstGeom>
          <a:noFill/>
        </p:spPr>
        <p:txBody>
          <a:bodyPr wrap="square" anchor="t" lIns="0" rIns="0" tIns="0" bIns="0">
            <a:noAutofit/>
          </a:bodyPr>
          <a:lstStyle/>
          <a:p>
            <a:pPr algn="l">
              <a:lnSpc>
                <a:spcPct val="105000"/>
              </a:lnSpc>
              <a:spcBef>
                <a:spcPts val="0"/>
              </a:spcBef>
            </a:pPr>
            <a:r>
              <a:rPr sz="1800" b="0" i="0">
                <a:solidFill>
                  <a:srgbClr val="CCEEE4"/>
                </a:solidFill>
                <a:latin typeface="Calibri"/>
              </a:rPr>
              <a:t>Prism Analytics</a:t>
            </a:r>
          </a:p>
        </p:txBody>
      </p:sp>
      <p:sp>
        <p:nvSpPr>
          <p:cNvPr id="10" name="TextBox 9"/>
          <p:cNvSpPr txBox="1"/>
          <p:nvPr/>
        </p:nvSpPr>
        <p:spPr>
          <a:xfrm>
            <a:off x="457200" y="4709160"/>
            <a:ext cx="7315200" cy="347472"/>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2026-06-18</a:t>
            </a:r>
          </a:p>
        </p:txBody>
      </p:sp>
      <p:sp>
        <p:nvSpPr>
          <p:cNvPr id="11" name="TextBox 10"/>
          <p:cNvSpPr txBox="1"/>
          <p:nvPr/>
        </p:nvSpPr>
        <p:spPr>
          <a:xfrm>
            <a:off x="457200" y="6217920"/>
            <a:ext cx="91440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Powered by The Consultant's Guide to Claude · 21 BCG-Style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347472"/>
          </a:xfrm>
          <a:prstGeom prst="rect">
            <a:avLst/>
          </a:prstGeom>
          <a:noFill/>
        </p:spPr>
        <p:txBody>
          <a:bodyPr wrap="square" anchor="t" lIns="0" rIns="0" tIns="0" bIns="0">
            <a:noAutofit/>
          </a:bodyPr>
          <a:lstStyle/>
          <a:p>
            <a:pPr algn="l">
              <a:lnSpc>
                <a:spcPct val="105000"/>
              </a:lnSpc>
              <a:spcBef>
                <a:spcPts val="0"/>
              </a:spcBef>
            </a:pPr>
            <a:r>
              <a:rPr sz="1200" b="1" i="0">
                <a:solidFill>
                  <a:srgbClr val="00996B"/>
                </a:solidFill>
                <a:latin typeface="Calibri"/>
              </a:rPr>
              <a:t>EXECUTIVE SUMMARY</a:t>
            </a:r>
          </a:p>
        </p:txBody>
      </p:sp>
      <p:sp>
        <p:nvSpPr>
          <p:cNvPr id="5" name="TextBox 4"/>
          <p:cNvSpPr txBox="1"/>
          <p:nvPr/>
        </p:nvSpPr>
        <p:spPr>
          <a:xfrm>
            <a:off x="548640" y="749808"/>
            <a:ext cx="11094415" cy="713232"/>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Competitor Map</a:t>
            </a:r>
          </a:p>
        </p:txBody>
      </p:sp>
      <p:sp>
        <p:nvSpPr>
          <p:cNvPr id="6" name="Rectangle 5"/>
          <p:cNvSpPr/>
          <p:nvPr/>
        </p:nvSpPr>
        <p:spPr>
          <a:xfrm>
            <a:off x="548640" y="1572768"/>
            <a:ext cx="22860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265615" y="256032"/>
            <a:ext cx="2377440" cy="347472"/>
          </a:xfrm>
          <a:prstGeom prst="roundRect">
            <a:avLst>
              <a:gd name="adj" fmla="val 4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57055" y="274320"/>
            <a:ext cx="2194560"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001824"/>
                </a:solidFill>
                <a:latin typeface="Calibri"/>
              </a:rPr>
              <a:t>Prism Analytics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BCG Consulting Framework · Prism Analytics · 2026-06-18</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Likely Moves</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Competitor</a:t>
            </a:r>
          </a:p>
        </p:txBody>
      </p:sp>
      <p:sp>
        <p:nvSpPr>
          <p:cNvPr id="10" name="TextBox 9"/>
          <p:cNvSpPr txBox="1"/>
          <p:nvPr/>
        </p:nvSpPr>
        <p:spPr>
          <a:xfrm>
            <a:off x="2822387"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Most Likely Move</a:t>
            </a:r>
          </a:p>
        </p:txBody>
      </p:sp>
      <p:sp>
        <p:nvSpPr>
          <p:cNvPr id="11" name="TextBox 10"/>
          <p:cNvSpPr txBox="1"/>
          <p:nvPr/>
        </p:nvSpPr>
        <p:spPr>
          <a:xfrm>
            <a:off x="5041270"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Trigger</a:t>
            </a:r>
          </a:p>
        </p:txBody>
      </p:sp>
      <p:sp>
        <p:nvSpPr>
          <p:cNvPr id="12" name="TextBox 11"/>
          <p:cNvSpPr txBox="1"/>
          <p:nvPr/>
        </p:nvSpPr>
        <p:spPr>
          <a:xfrm>
            <a:off x="7260153"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Impact</a:t>
            </a:r>
          </a:p>
        </p:txBody>
      </p:sp>
      <p:sp>
        <p:nvSpPr>
          <p:cNvPr id="13" name="TextBox 12"/>
          <p:cNvSpPr txBox="1"/>
          <p:nvPr/>
        </p:nvSpPr>
        <p:spPr>
          <a:xfrm>
            <a:off x="9479036"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Confidence</a:t>
            </a:r>
          </a:p>
        </p:txBody>
      </p:sp>
      <p:sp>
        <p:nvSpPr>
          <p:cNvPr id="14" name="Rectangle 13"/>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Analytics</a:t>
            </a:r>
          </a:p>
        </p:txBody>
      </p:sp>
      <p:sp>
        <p:nvSpPr>
          <p:cNvPr id="16" name="TextBox 15"/>
          <p:cNvSpPr txBox="1"/>
          <p:nvPr/>
        </p:nvSpPr>
        <p:spPr>
          <a:xfrm>
            <a:off x="2822387"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Deepen Basel III/IV and CECL com…</a:t>
            </a:r>
          </a:p>
        </p:txBody>
      </p:sp>
      <p:sp>
        <p:nvSpPr>
          <p:cNvPr id="17" name="TextBox 16"/>
          <p:cNvSpPr txBox="1"/>
          <p:nvPr/>
        </p:nvSpPr>
        <p:spPr>
          <a:xfrm>
            <a:off x="5041270"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Prism's LLM launch creates a new…</a:t>
            </a:r>
          </a:p>
        </p:txBody>
      </p:sp>
      <p:sp>
        <p:nvSpPr>
          <p:cNvPr id="18" name="TextBox 17"/>
          <p:cNvSpPr txBox="1"/>
          <p:nvPr/>
        </p:nvSpPr>
        <p:spPr>
          <a:xfrm>
            <a:off x="7260153"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if Clearwater closes the …</a:t>
            </a:r>
          </a:p>
        </p:txBody>
      </p:sp>
      <p:sp>
        <p:nvSpPr>
          <p:cNvPr id="19" name="TextBox 18"/>
          <p:cNvSpPr txBox="1"/>
          <p:nvPr/>
        </p:nvSpPr>
        <p:spPr>
          <a:xfrm>
            <a:off x="9479036"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a:t>
            </a:r>
          </a:p>
        </p:txBody>
      </p:sp>
      <p:sp>
        <p:nvSpPr>
          <p:cNvPr id="20" name="Rectangle 19"/>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Analytics</a:t>
            </a:r>
          </a:p>
        </p:txBody>
      </p:sp>
      <p:sp>
        <p:nvSpPr>
          <p:cNvPr id="22" name="TextBox 21"/>
          <p:cNvSpPr txBox="1"/>
          <p:nvPr/>
        </p:nvSpPr>
        <p:spPr>
          <a:xfrm>
            <a:off x="2822387"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Aggressive discounting or extend…</a:t>
            </a:r>
          </a:p>
        </p:txBody>
      </p:sp>
      <p:sp>
        <p:nvSpPr>
          <p:cNvPr id="23" name="TextBox 22"/>
          <p:cNvSpPr txBox="1"/>
          <p:nvPr/>
        </p:nvSpPr>
        <p:spPr>
          <a:xfrm>
            <a:off x="5041270"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NRR compression signals Prism re…</a:t>
            </a:r>
          </a:p>
        </p:txBody>
      </p:sp>
      <p:sp>
        <p:nvSpPr>
          <p:cNvPr id="24" name="TextBox 23"/>
          <p:cNvSpPr txBox="1"/>
          <p:nvPr/>
        </p:nvSpPr>
        <p:spPr>
          <a:xfrm>
            <a:off x="7260153"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could accelerate gross ch…</a:t>
            </a:r>
          </a:p>
        </p:txBody>
      </p:sp>
      <p:sp>
        <p:nvSpPr>
          <p:cNvPr id="25" name="TextBox 24"/>
          <p:cNvSpPr txBox="1"/>
          <p:nvPr/>
        </p:nvSpPr>
        <p:spPr>
          <a:xfrm>
            <a:off x="9479036"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a:t>
            </a:r>
          </a:p>
        </p:txBody>
      </p:sp>
      <p:sp>
        <p:nvSpPr>
          <p:cNvPr id="26" name="Rectangle 25"/>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Bloomberg Terminal</a:t>
            </a:r>
          </a:p>
        </p:txBody>
      </p:sp>
      <p:sp>
        <p:nvSpPr>
          <p:cNvPr id="28" name="TextBox 27"/>
          <p:cNvSpPr txBox="1"/>
          <p:nvPr/>
        </p:nvSpPr>
        <p:spPr>
          <a:xfrm>
            <a:off x="2822387"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Bundle compliance analytics into…</a:t>
            </a:r>
          </a:p>
        </p:txBody>
      </p:sp>
      <p:sp>
        <p:nvSpPr>
          <p:cNvPr id="29" name="TextBox 28"/>
          <p:cNvSpPr txBox="1"/>
          <p:nvPr/>
        </p:nvSpPr>
        <p:spPr>
          <a:xfrm>
            <a:off x="5041270"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Prism's LLM launch is a threat s…</a:t>
            </a:r>
          </a:p>
        </p:txBody>
      </p:sp>
      <p:sp>
        <p:nvSpPr>
          <p:cNvPr id="30" name="TextBox 29"/>
          <p:cNvSpPr txBox="1"/>
          <p:nvPr/>
        </p:nvSpPr>
        <p:spPr>
          <a:xfrm>
            <a:off x="7260153"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Bloomberg response in T…</a:t>
            </a:r>
          </a:p>
        </p:txBody>
      </p:sp>
      <p:sp>
        <p:nvSpPr>
          <p:cNvPr id="31" name="TextBox 30"/>
          <p:cNvSpPr txBox="1"/>
          <p:nvPr/>
        </p:nvSpPr>
        <p:spPr>
          <a:xfrm>
            <a:off x="9479036"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Low-Medium</a:t>
            </a:r>
          </a:p>
        </p:txBody>
      </p:sp>
      <p:sp>
        <p:nvSpPr>
          <p:cNvPr id="32" name="Rectangle 31"/>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SS&amp;C Axiom</a:t>
            </a:r>
          </a:p>
        </p:txBody>
      </p:sp>
      <p:sp>
        <p:nvSpPr>
          <p:cNvPr id="34" name="TextBox 33"/>
          <p:cNvSpPr txBox="1"/>
          <p:nvPr/>
        </p:nvSpPr>
        <p:spPr>
          <a:xfrm>
            <a:off x="2822387"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Offer deeply discounted multi-ye…</a:t>
            </a:r>
          </a:p>
        </p:txBody>
      </p:sp>
      <p:sp>
        <p:nvSpPr>
          <p:cNvPr id="35" name="TextBox 34"/>
          <p:cNvSpPr txBox="1"/>
          <p:nvPr/>
        </p:nvSpPr>
        <p:spPr>
          <a:xfrm>
            <a:off x="5041270"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and Prism are both ta…</a:t>
            </a:r>
          </a:p>
        </p:txBody>
      </p:sp>
      <p:sp>
        <p:nvSpPr>
          <p:cNvPr id="36" name="TextBox 35"/>
          <p:cNvSpPr txBox="1"/>
          <p:nvPr/>
        </p:nvSpPr>
        <p:spPr>
          <a:xfrm>
            <a:off x="7260153"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freezes near-term displ…</a:t>
            </a:r>
          </a:p>
        </p:txBody>
      </p:sp>
      <p:sp>
        <p:nvSpPr>
          <p:cNvPr id="37" name="TextBox 36"/>
          <p:cNvSpPr txBox="1"/>
          <p:nvPr/>
        </p:nvSpPr>
        <p:spPr>
          <a:xfrm>
            <a:off x="9479036"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a:t>
            </a:r>
          </a:p>
        </p:txBody>
      </p:sp>
      <p:sp>
        <p:nvSpPr>
          <p:cNvPr id="38" name="Rectangle 3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Moody's Analytics</a:t>
            </a:r>
          </a:p>
        </p:txBody>
      </p:sp>
      <p:sp>
        <p:nvSpPr>
          <p:cNvPr id="40" name="TextBox 39"/>
          <p:cNvSpPr txBox="1"/>
          <p:nvPr/>
        </p:nvSpPr>
        <p:spPr>
          <a:xfrm>
            <a:off x="2822387"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Announce LLM-powered CECL scenar…</a:t>
            </a:r>
          </a:p>
        </p:txBody>
      </p:sp>
      <p:sp>
        <p:nvSpPr>
          <p:cNvPr id="41" name="TextBox 40"/>
          <p:cNvSpPr txBox="1"/>
          <p:nvPr/>
        </p:nvSpPr>
        <p:spPr>
          <a:xfrm>
            <a:off x="5041270"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Prism's LLM launch, if positione…</a:t>
            </a:r>
          </a:p>
        </p:txBody>
      </p:sp>
      <p:sp>
        <p:nvSpPr>
          <p:cNvPr id="42" name="TextBox 41"/>
          <p:cNvSpPr txBox="1"/>
          <p:nvPr/>
        </p:nvSpPr>
        <p:spPr>
          <a:xfrm>
            <a:off x="7260153"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Moody's brand + LLM wou…</a:t>
            </a:r>
          </a:p>
        </p:txBody>
      </p:sp>
      <p:sp>
        <p:nvSpPr>
          <p:cNvPr id="43" name="TextBox 42"/>
          <p:cNvSpPr txBox="1"/>
          <p:nvPr/>
        </p:nvSpPr>
        <p:spPr>
          <a:xfrm>
            <a:off x="9479036"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E05A6B"/>
                </a:solidFill>
                <a:latin typeface="Calibri"/>
              </a:rPr>
              <a:t>Low-Medium</a:t>
            </a:r>
          </a:p>
        </p:txBody>
      </p:sp>
      <p:sp>
        <p:nvSpPr>
          <p:cNvPr id="44" name="TextBox 4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45" name="TextBox 4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Response Plan</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3606698"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Scenario</a:t>
            </a:r>
          </a:p>
        </p:txBody>
      </p:sp>
      <p:sp>
        <p:nvSpPr>
          <p:cNvPr id="10" name="TextBox 9"/>
          <p:cNvSpPr txBox="1"/>
          <p:nvPr/>
        </p:nvSpPr>
        <p:spPr>
          <a:xfrm>
            <a:off x="4301642" y="1344168"/>
            <a:ext cx="3606698"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Early Signal</a:t>
            </a:r>
          </a:p>
        </p:txBody>
      </p:sp>
      <p:sp>
        <p:nvSpPr>
          <p:cNvPr id="11" name="TextBox 10"/>
          <p:cNvSpPr txBox="1"/>
          <p:nvPr/>
        </p:nvSpPr>
        <p:spPr>
          <a:xfrm>
            <a:off x="7999780" y="1344168"/>
            <a:ext cx="3606698"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Recommended Response</a:t>
            </a:r>
          </a:p>
        </p:txBody>
      </p:sp>
      <p:sp>
        <p:nvSpPr>
          <p:cNvPr id="12" name="Rectangle 11"/>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 y="1728216"/>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closes Basel/CECL com…</a:t>
            </a:r>
          </a:p>
        </p:txBody>
      </p:sp>
      <p:sp>
        <p:nvSpPr>
          <p:cNvPr id="14" name="TextBox 13"/>
          <p:cNvSpPr txBox="1"/>
          <p:nvPr/>
        </p:nvSpPr>
        <p:spPr>
          <a:xfrm>
            <a:off x="4301642" y="1728216"/>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adds Basel IV readine…</a:t>
            </a:r>
          </a:p>
        </p:txBody>
      </p:sp>
      <p:sp>
        <p:nvSpPr>
          <p:cNvPr id="15" name="TextBox 14"/>
          <p:cNvSpPr txBox="1"/>
          <p:nvPr/>
        </p:nvSpPr>
        <p:spPr>
          <a:xfrm>
            <a:off x="7999780" y="1728216"/>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Accelerate publication of Prism'…</a:t>
            </a:r>
          </a:p>
        </p:txBody>
      </p:sp>
      <p:sp>
        <p:nvSpPr>
          <p:cNvPr id="16" name="Rectangle 15"/>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 y="2203704"/>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launches aggressive d…</a:t>
            </a:r>
          </a:p>
        </p:txBody>
      </p:sp>
      <p:sp>
        <p:nvSpPr>
          <p:cNvPr id="18" name="TextBox 17"/>
          <p:cNvSpPr txBox="1"/>
          <p:nvPr/>
        </p:nvSpPr>
        <p:spPr>
          <a:xfrm>
            <a:off x="4301642" y="2203704"/>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Prism account managers report Cl…</a:t>
            </a:r>
          </a:p>
        </p:txBody>
      </p:sp>
      <p:sp>
        <p:nvSpPr>
          <p:cNvPr id="19" name="TextBox 18"/>
          <p:cNvSpPr txBox="1"/>
          <p:nvPr/>
        </p:nvSpPr>
        <p:spPr>
          <a:xfrm>
            <a:off x="7999780" y="2203704"/>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Pre-emptive multi-year renewal o…</a:t>
            </a:r>
          </a:p>
        </p:txBody>
      </p:sp>
      <p:sp>
        <p:nvSpPr>
          <p:cNvPr id="20" name="Rectangle 19"/>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679192"/>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SS&amp;C locks in regional bank base…</a:t>
            </a:r>
          </a:p>
        </p:txBody>
      </p:sp>
      <p:sp>
        <p:nvSpPr>
          <p:cNvPr id="22" name="TextBox 21"/>
          <p:cNvSpPr txBox="1"/>
          <p:nvPr/>
        </p:nvSpPr>
        <p:spPr>
          <a:xfrm>
            <a:off x="4301642" y="2679192"/>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CRM data shows renewal competiti…</a:t>
            </a:r>
          </a:p>
        </p:txBody>
      </p:sp>
      <p:sp>
        <p:nvSpPr>
          <p:cNvPr id="23" name="TextBox 22"/>
          <p:cNvSpPr txBox="1"/>
          <p:nvPr/>
        </p:nvSpPr>
        <p:spPr>
          <a:xfrm>
            <a:off x="7999780" y="2679192"/>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Shift targeting to greenfield re…</a:t>
            </a:r>
          </a:p>
        </p:txBody>
      </p:sp>
      <p:sp>
        <p:nvSpPr>
          <p:cNvPr id="24" name="Rectangle 23"/>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 y="3154680"/>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Moody's announces LLM-for-CECL p…</a:t>
            </a:r>
          </a:p>
        </p:txBody>
      </p:sp>
      <p:sp>
        <p:nvSpPr>
          <p:cNvPr id="26" name="TextBox 25"/>
          <p:cNvSpPr txBox="1"/>
          <p:nvPr/>
        </p:nvSpPr>
        <p:spPr>
          <a:xfrm>
            <a:off x="4301642" y="3154680"/>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Press release or analyst briefin…</a:t>
            </a:r>
          </a:p>
        </p:txBody>
      </p:sp>
      <p:sp>
        <p:nvSpPr>
          <p:cNvPr id="27" name="TextBox 26"/>
          <p:cNvSpPr txBox="1"/>
          <p:nvPr/>
        </p:nvSpPr>
        <p:spPr>
          <a:xfrm>
            <a:off x="7999780" y="3154680"/>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Sharpen Prism's LLM positioning …</a:t>
            </a:r>
          </a:p>
        </p:txBody>
      </p:sp>
      <p:sp>
        <p:nvSpPr>
          <p:cNvPr id="28" name="Rectangle 2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 y="3630168"/>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Bloomberg bundles compliance ana…</a:t>
            </a:r>
          </a:p>
        </p:txBody>
      </p:sp>
      <p:sp>
        <p:nvSpPr>
          <p:cNvPr id="30" name="TextBox 29"/>
          <p:cNvSpPr txBox="1"/>
          <p:nvPr/>
        </p:nvSpPr>
        <p:spPr>
          <a:xfrm>
            <a:off x="4301642" y="3630168"/>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Tier 1 bank accounts freeze eval…</a:t>
            </a:r>
          </a:p>
        </p:txBody>
      </p:sp>
      <p:sp>
        <p:nvSpPr>
          <p:cNvPr id="31" name="TextBox 30"/>
          <p:cNvSpPr txBox="1"/>
          <p:nvPr/>
        </p:nvSpPr>
        <p:spPr>
          <a:xfrm>
            <a:off x="7999780" y="3630168"/>
            <a:ext cx="3606698"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Accept that Bloomberg-defended T…</a:t>
            </a:r>
          </a:p>
        </p:txBody>
      </p:sp>
      <p:sp>
        <p:nvSpPr>
          <p:cNvPr id="32" name="TextBox 3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33" name="TextBox 3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Strategic Implication</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548640" y="1298448"/>
            <a:ext cx="11094415" cy="30723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Prism's most dangerous competitive scenario is a two-front squeeze: Clearwater displacing accounts at renewal while simultaneously improving compliance depth to neutralize Prism's differentiation. This scenario becomes plausible within 12–18 months if Prism does not move decisively. The recommended posture is asymmetric defense: compete where Prism has a right to win (regulatory compliance depth, audit-grade reporting, T+1 precision for CECL/IFRS 9 cycle reporting), and explicitly concede the battlefields where it cannot win at current architecture (intraday portfolio risk monitoring, hedge fund analytics, high-frequency trading analytics). The LLM interface must be positioned as a depth amplifier — making Prism's compliance precision more accessible — not as a me-too AI feature. That framing is the only credible way to stay ahead of Clearwater's compliance catch-up.</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