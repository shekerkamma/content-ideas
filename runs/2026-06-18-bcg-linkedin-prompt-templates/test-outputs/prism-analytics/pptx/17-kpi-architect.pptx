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KPI Architecture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Strategic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Manage the execution of the AI-first compliance intelligence repositioning: accelerate LLM interface to GA by Q4 2026, convert the $28M pipeline at a 42% win rate, recover NRR to 110%+, and reach $62M ARR by end of FY2026 — all within the existing 18-month cash runway without requiring a capital raise.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KPI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Decision It Supports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ARR (monthly)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Lagging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the strategy producing revenu…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$54M by Q3 2026; $62M by Q4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Net Revenue Retention (quarterly)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Lagging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the existing base expanding,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Chief Customer Officer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≥107% by Q2 2026; ≥110% by Q4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(rolling 90-day)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Leading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the AI-first repositioning im…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≥36% by Q3 2026 (pre-GA); ≥42% b…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Milestone Completi…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Leading 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the engineering team on track…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≥85% planned story points comple…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Query Accuracy (UAT benchmark)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Leading driver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the LLM interface meeting com…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≥92% accuracy vs. validated Base…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Pipeline Qualified Opportunities…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22387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Leading driver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1270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the sales force building enou…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0153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9036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≥$28M qualified pipeline maintai…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Gross Churn Rate (monthly ARR)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22387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Leading 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1270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regional bank attrition accel…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153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Chief Customer Officer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9036" y="458114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&lt;0.5%/month; trigger review at 0…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010912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" y="505663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Burn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22387" y="505663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Financial control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1270" y="505663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Is the $3.2M investment being de…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0153" y="505663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79036" y="505663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≤$2.3M/mo during investment phas…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486400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" y="553212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Design Partner Activation Count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22387" y="553212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Leading driver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1270" y="553212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early design partner engageme…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0153" y="553212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 + VP Product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79036" y="553212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≥10 design partners live on LLM 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Driver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ARR ($62M target)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Net new ARR from new logos ($14M required): driven by win rate (42% target) × pipeline velocity ($28M+ qualified) × A…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Win rate: driven by LLM accuracy, design partner references, SE deployment effectiveness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Pipeline velocity: driven by new SE outbound coverage, inbound from AI-first repositioning, referral from design part…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ACV: maintained by positioning away from discount competition; compliance depth vs. Clearwater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Expansion ARR from existing base: driven by NRR (110% target) × current ARR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3814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NRR: driven by gross churn control (&lt;6%) + upsell of LLM add-on module to existing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8561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Gross churn: driven by regional bank retention (at-risk accounts covered by dedicated CSMs) + macro spend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3308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Burn control: limits the time available for strategy to prove out — every month of overrun compresses the window by o…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537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Win Rate (42% target)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560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Current: 31% (down from 47% two years ago)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035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Drivers: AI-first perception (LLM interface), compliance accuracy credibility (UAT results), SE coverage quality (4 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Lag: Win rate improvements will only appear in data 2–3 months after SE deployment and LLM launch, given the 8–14 mon…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Metrics To Remove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711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Remove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Total registered users / platfor…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1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Prism is enterprise B2B; usage m…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Feature release count per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Measures output, not outcomes; c…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Total pipeline (gross, including…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Inflates confidence in a moment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Employee count / hiring velocity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11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Prism is not in a headcount-grow…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630168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Social / PR mentions of AI repos…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0711" y="3630168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Vanity signal; does not predict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Review Cadence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Weekly (CEO + CTO + VP Sales):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LLM milestone completion % vs.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Pipeline stage progression on top 15 deals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Escalation trigger: any sprint slippage or deal moving backward in pipeline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Monthly (Full Leadership Team):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1868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ARR vs. $62M trajectory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56616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Win rate (rolling 90-day)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1363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Gross churn rate vs. 0.5%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6110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Burn rate vs. $2.3M 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60857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LLM UAT accuracy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560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Decision: reallocation of SE headcount between new logo and retention if churn threshold is breached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7667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Quarterly (Board):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7900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NRR vs. 110% target trajectory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2648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New logo bookings vs. quarterly 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