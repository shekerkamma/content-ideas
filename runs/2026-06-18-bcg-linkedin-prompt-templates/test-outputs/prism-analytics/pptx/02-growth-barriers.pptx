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1463040" cy="347472"/>
          </a:xfrm>
          <a:prstGeom prst="roundRect">
            <a:avLst>
              <a:gd name="adj" fmla="val 5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338328"/>
            <a:ext cx="1426464"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FFFFFF"/>
                </a:solidFill>
                <a:latin typeface="Calibri"/>
              </a:rPr>
              <a:t>BCG-STYLE</a:t>
            </a:r>
          </a:p>
        </p:txBody>
      </p:sp>
      <p:sp>
        <p:nvSpPr>
          <p:cNvPr id="6" name="TextBox 5"/>
          <p:cNvSpPr txBox="1"/>
          <p:nvPr/>
        </p:nvSpPr>
        <p:spPr>
          <a:xfrm>
            <a:off x="457200" y="804672"/>
            <a:ext cx="11094415" cy="365760"/>
          </a:xfrm>
          <a:prstGeom prst="rect">
            <a:avLst/>
          </a:prstGeom>
          <a:noFill/>
        </p:spPr>
        <p:txBody>
          <a:bodyPr wrap="square" anchor="t" lIns="0" rIns="0" tIns="0" bIns="0">
            <a:noAutofit/>
          </a:bodyPr>
          <a:lstStyle/>
          <a:p>
            <a:pPr algn="l">
              <a:lnSpc>
                <a:spcPct val="105000"/>
              </a:lnSpc>
              <a:spcBef>
                <a:spcPts val="0"/>
              </a:spcBef>
            </a:pPr>
            <a:r>
              <a:rPr sz="1300" b="1" i="0">
                <a:solidFill>
                  <a:srgbClr val="00996B"/>
                </a:solidFill>
                <a:latin typeface="Calibri"/>
              </a:rPr>
              <a:t>01 / DIAGNOSIS &amp; FRAMING</a:t>
            </a:r>
          </a:p>
        </p:txBody>
      </p:sp>
      <p:sp>
        <p:nvSpPr>
          <p:cNvPr id="7" name="TextBox 6"/>
          <p:cNvSpPr txBox="1"/>
          <p:nvPr/>
        </p:nvSpPr>
        <p:spPr>
          <a:xfrm>
            <a:off x="457200" y="1280160"/>
            <a:ext cx="9601200" cy="2560320"/>
          </a:xfrm>
          <a:prstGeom prst="rect">
            <a:avLst/>
          </a:prstGeom>
          <a:noFill/>
        </p:spPr>
        <p:txBody>
          <a:bodyPr wrap="square" anchor="t" lIns="0" rIns="0" tIns="0" bIns="0">
            <a:normAutofit/>
          </a:bodyPr>
          <a:lstStyle/>
          <a:p>
            <a:pPr algn="l">
              <a:lnSpc>
                <a:spcPct val="105000"/>
              </a:lnSpc>
              <a:spcBef>
                <a:spcPts val="0"/>
              </a:spcBef>
            </a:pPr>
            <a:r>
              <a:rPr sz="4200" b="1" i="0">
                <a:solidFill>
                  <a:srgbClr val="FFFFFF"/>
                </a:solidFill>
                <a:latin typeface="Calibri"/>
              </a:rPr>
              <a:t>Growth Barrier Diagnosis — Prism Analytics</a:t>
            </a:r>
          </a:p>
        </p:txBody>
      </p:sp>
      <p:sp>
        <p:nvSpPr>
          <p:cNvPr id="8" name="Rectangle 7"/>
          <p:cNvSpPr/>
          <p:nvPr/>
        </p:nvSpPr>
        <p:spPr>
          <a:xfrm>
            <a:off x="457200" y="4023360"/>
            <a:ext cx="27432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251960"/>
            <a:ext cx="7315200" cy="411480"/>
          </a:xfrm>
          <a:prstGeom prst="rect">
            <a:avLst/>
          </a:prstGeom>
          <a:noFill/>
        </p:spPr>
        <p:txBody>
          <a:bodyPr wrap="square" anchor="t" lIns="0" rIns="0" tIns="0" bIns="0">
            <a:noAutofit/>
          </a:bodyPr>
          <a:lstStyle/>
          <a:p>
            <a:pPr algn="l">
              <a:lnSpc>
                <a:spcPct val="105000"/>
              </a:lnSpc>
              <a:spcBef>
                <a:spcPts val="0"/>
              </a:spcBef>
            </a:pPr>
            <a:r>
              <a:rPr sz="1800" b="0" i="0">
                <a:solidFill>
                  <a:srgbClr val="CCEEE4"/>
                </a:solidFill>
                <a:latin typeface="Calibri"/>
              </a:rPr>
              <a:t>Prism Analytics</a:t>
            </a:r>
          </a:p>
        </p:txBody>
      </p:sp>
      <p:sp>
        <p:nvSpPr>
          <p:cNvPr id="10" name="TextBox 9"/>
          <p:cNvSpPr txBox="1"/>
          <p:nvPr/>
        </p:nvSpPr>
        <p:spPr>
          <a:xfrm>
            <a:off x="457200" y="4709160"/>
            <a:ext cx="7315200" cy="347472"/>
          </a:xfrm>
          <a:prstGeom prst="rect">
            <a:avLst/>
          </a:prstGeom>
          <a:noFill/>
        </p:spPr>
        <p:txBody>
          <a:bodyPr wrap="square" anchor="t" lIns="0" rIns="0" tIns="0" bIns="0">
            <a:noAutofit/>
          </a:bodyPr>
          <a:lstStyle/>
          <a:p>
            <a:pPr algn="l">
              <a:lnSpc>
                <a:spcPct val="105000"/>
              </a:lnSpc>
              <a:spcBef>
                <a:spcPts val="0"/>
              </a:spcBef>
            </a:pPr>
            <a:r>
              <a:rPr sz="1300" b="0" i="0">
                <a:solidFill>
                  <a:srgbClr val="5B6B7C"/>
                </a:solidFill>
                <a:latin typeface="Calibri"/>
              </a:rPr>
              <a:t>2026-06-18</a:t>
            </a:r>
          </a:p>
        </p:txBody>
      </p:sp>
      <p:sp>
        <p:nvSpPr>
          <p:cNvPr id="11" name="TextBox 10"/>
          <p:cNvSpPr txBox="1"/>
          <p:nvPr/>
        </p:nvSpPr>
        <p:spPr>
          <a:xfrm>
            <a:off x="457200" y="6217920"/>
            <a:ext cx="9144000" cy="320040"/>
          </a:xfrm>
          <a:prstGeom prst="rect">
            <a:avLst/>
          </a:prstGeom>
          <a:noFill/>
        </p:spPr>
        <p:txBody>
          <a:bodyPr wrap="square" anchor="t" lIns="0" rIns="0" tIns="0" bIns="0">
            <a:noAutofit/>
          </a:bodyPr>
          <a:lstStyle/>
          <a:p>
            <a:pPr algn="l">
              <a:lnSpc>
                <a:spcPct val="105000"/>
              </a:lnSpc>
              <a:spcBef>
                <a:spcPts val="0"/>
              </a:spcBef>
            </a:pPr>
            <a:r>
              <a:rPr sz="1000" b="0" i="0">
                <a:solidFill>
                  <a:srgbClr val="5B6B7C"/>
                </a:solidFill>
                <a:latin typeface="Calibri"/>
              </a:rPr>
              <a:t>Powered by The Consultant's Guide to Claude · 21 BCG-Style Skills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347472"/>
          </a:xfrm>
          <a:prstGeom prst="rect">
            <a:avLst/>
          </a:prstGeom>
          <a:noFill/>
        </p:spPr>
        <p:txBody>
          <a:bodyPr wrap="square" anchor="t" lIns="0" rIns="0" tIns="0" bIns="0">
            <a:noAutofit/>
          </a:bodyPr>
          <a:lstStyle/>
          <a:p>
            <a:pPr algn="l">
              <a:lnSpc>
                <a:spcPct val="105000"/>
              </a:lnSpc>
              <a:spcBef>
                <a:spcPts val="0"/>
              </a:spcBef>
            </a:pPr>
            <a:r>
              <a:rPr sz="1200" b="1" i="0">
                <a:solidFill>
                  <a:srgbClr val="00996B"/>
                </a:solidFill>
                <a:latin typeface="Calibri"/>
              </a:rPr>
              <a:t>EXECUTIVE SUMMARY</a:t>
            </a:r>
          </a:p>
        </p:txBody>
      </p:sp>
      <p:sp>
        <p:nvSpPr>
          <p:cNvPr id="5" name="TextBox 4"/>
          <p:cNvSpPr txBox="1"/>
          <p:nvPr/>
        </p:nvSpPr>
        <p:spPr>
          <a:xfrm>
            <a:off x="548640" y="749808"/>
            <a:ext cx="11094415" cy="713232"/>
          </a:xfrm>
          <a:prstGeom prst="rect">
            <a:avLst/>
          </a:prstGeom>
          <a:noFill/>
        </p:spPr>
        <p:txBody>
          <a:bodyPr wrap="square" anchor="t" lIns="0" rIns="0" tIns="0" bIns="0">
            <a:normAutofit/>
          </a:bodyPr>
          <a:lstStyle/>
          <a:p>
            <a:pPr algn="l">
              <a:lnSpc>
                <a:spcPct val="105000"/>
              </a:lnSpc>
              <a:spcBef>
                <a:spcPts val="0"/>
              </a:spcBef>
            </a:pPr>
            <a:r>
              <a:rPr sz="3000" b="1" i="0">
                <a:solidFill>
                  <a:srgbClr val="FFFFFF"/>
                </a:solidFill>
                <a:latin typeface="Calibri"/>
              </a:rPr>
              <a:t>Growth Gap</a:t>
            </a:r>
          </a:p>
        </p:txBody>
      </p:sp>
      <p:sp>
        <p:nvSpPr>
          <p:cNvPr id="6" name="Rectangle 5"/>
          <p:cNvSpPr/>
          <p:nvPr/>
        </p:nvSpPr>
        <p:spPr>
          <a:xfrm>
            <a:off x="548640" y="1572768"/>
            <a:ext cx="2286000" cy="54864"/>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11094415" cy="2011680"/>
          </a:xfrm>
          <a:prstGeom prst="rect">
            <a:avLst/>
          </a:prstGeom>
          <a:noFill/>
        </p:spPr>
        <p:txBody>
          <a:bodyPr wrap="square" anchor="t" lIns="0" rIns="0" tIns="0" bIns="0">
            <a:normAutofit/>
          </a:bodyPr>
          <a:lstStyle/>
          <a:p>
            <a:pPr algn="l">
              <a:lnSpc>
                <a:spcPct val="105000"/>
              </a:lnSpc>
              <a:spcBef>
                <a:spcPts val="0"/>
              </a:spcBef>
            </a:pPr>
            <a:r>
              <a:rPr sz="1300" b="0" i="0">
                <a:solidFill>
                  <a:srgbClr val="CCEEE4"/>
                </a:solidFill>
                <a:latin typeface="Calibri"/>
              </a:rPr>
              <a:t>Prism Analytics grew at 14% in FY2025, reaching $48M ARR. To maintain Series C investor expectations and sustain a viable M&amp;A narrative, the company needs to return to 25%+ growth — a gap of approximately $5.5M in incremental ARR annually. At current trajectory (14% × $48M = +$6.7M), FY2026 ARR reaches ~$54.7M. A 25% trajectory would require $60M ARR (+$12M). Closing this gap requires either materially improving new logo acquisition, halting NRR compression, or both simultaneously — all while managing burn to extend runway beyond 18 months. The LLM interface launch is the primary organic catalyst, but it cannot compensate if the platform architecture limitation continues to disqualify Prism from real-time-dependent deal criteria.</a:t>
            </a:r>
          </a:p>
        </p:txBody>
      </p:sp>
      <p:sp>
        <p:nvSpPr>
          <p:cNvPr id="8" name="Rounded Rectangle 7"/>
          <p:cNvSpPr/>
          <p:nvPr/>
        </p:nvSpPr>
        <p:spPr>
          <a:xfrm>
            <a:off x="9265615" y="256032"/>
            <a:ext cx="2377440" cy="347472"/>
          </a:xfrm>
          <a:prstGeom prst="roundRect">
            <a:avLst>
              <a:gd name="adj" fmla="val 4000"/>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57055" y="274320"/>
            <a:ext cx="2194560" cy="310896"/>
          </a:xfrm>
          <a:prstGeom prst="rect">
            <a:avLst/>
          </a:prstGeom>
          <a:noFill/>
        </p:spPr>
        <p:txBody>
          <a:bodyPr wrap="square" anchor="t" lIns="0" rIns="0" tIns="0" bIns="0">
            <a:noAutofit/>
          </a:bodyPr>
          <a:lstStyle/>
          <a:p>
            <a:pPr algn="ctr">
              <a:lnSpc>
                <a:spcPct val="105000"/>
              </a:lnSpc>
              <a:spcBef>
                <a:spcPts val="0"/>
              </a:spcBef>
            </a:pPr>
            <a:r>
              <a:rPr sz="1100" b="1" i="0">
                <a:solidFill>
                  <a:srgbClr val="001824"/>
                </a:solidFill>
                <a:latin typeface="Calibri"/>
              </a:rPr>
              <a:t>Prism Analytics</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BCG Consulting Framework · Prism Analytics · 2026-06-18</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Driver Tree</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548640" y="1298448"/>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ARR Growth ($6.7M at 14% trajectory)</a:t>
            </a:r>
          </a:p>
        </p:txBody>
      </p:sp>
      <p:sp>
        <p:nvSpPr>
          <p:cNvPr id="9" name="TextBox 8"/>
          <p:cNvSpPr txBox="1"/>
          <p:nvPr/>
        </p:nvSpPr>
        <p:spPr>
          <a:xfrm>
            <a:off x="548640" y="1700784"/>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New Logo Revenue</a:t>
            </a:r>
          </a:p>
        </p:txBody>
      </p:sp>
      <p:sp>
        <p:nvSpPr>
          <p:cNvPr id="10" name="TextBox 9"/>
          <p:cNvSpPr txBox="1"/>
          <p:nvPr/>
        </p:nvSpPr>
        <p:spPr>
          <a:xfrm>
            <a:off x="548640" y="2103120"/>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Pipeline Volume ($28M qualified)</a:t>
            </a:r>
          </a:p>
        </p:txBody>
      </p:sp>
      <p:sp>
        <p:nvSpPr>
          <p:cNvPr id="11" name="TextBox 10"/>
          <p:cNvSpPr txBox="1"/>
          <p:nvPr/>
        </p:nvSpPr>
        <p:spPr>
          <a:xfrm>
            <a:off x="548640" y="2505456"/>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 Inbound demand (brand, content, events)</a:t>
            </a:r>
          </a:p>
        </p:txBody>
      </p:sp>
      <p:sp>
        <p:nvSpPr>
          <p:cNvPr id="12" name="TextBox 11"/>
          <p:cNvSpPr txBox="1"/>
          <p:nvPr/>
        </p:nvSpPr>
        <p:spPr>
          <a:xfrm>
            <a:off x="548640" y="2907792"/>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 Outbound coverage (AE capacity, ICP targeting)</a:t>
            </a:r>
          </a:p>
        </p:txBody>
      </p:sp>
      <p:sp>
        <p:nvSpPr>
          <p:cNvPr id="13" name="TextBox 12"/>
          <p:cNvSpPr txBox="1"/>
          <p:nvPr/>
        </p:nvSpPr>
        <p:spPr>
          <a:xfrm>
            <a:off x="548640" y="3310128"/>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Win Rate (31%, down from 47%)</a:t>
            </a:r>
          </a:p>
        </p:txBody>
      </p:sp>
      <p:sp>
        <p:nvSpPr>
          <p:cNvPr id="14" name="TextBox 13"/>
          <p:cNvSpPr txBox="1"/>
          <p:nvPr/>
        </p:nvSpPr>
        <p:spPr>
          <a:xfrm>
            <a:off x="548640" y="3712464"/>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 Product fit (T+1 vs real-time gap)</a:t>
            </a:r>
          </a:p>
        </p:txBody>
      </p:sp>
      <p:sp>
        <p:nvSpPr>
          <p:cNvPr id="15" name="TextBox 14"/>
          <p:cNvSpPr txBox="1"/>
          <p:nvPr/>
        </p:nvSpPr>
        <p:spPr>
          <a:xfrm>
            <a:off x="548640" y="4114800"/>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 Competitive differentiation (vs Clearwater, Bloomberg)</a:t>
            </a:r>
          </a:p>
        </p:txBody>
      </p:sp>
      <p:sp>
        <p:nvSpPr>
          <p:cNvPr id="16" name="TextBox 15"/>
          <p:cNvSpPr txBox="1"/>
          <p:nvPr/>
        </p:nvSpPr>
        <p:spPr>
          <a:xfrm>
            <a:off x="548640" y="4517136"/>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 Sales execution (cycle length 8–14 months, close rate)</a:t>
            </a:r>
          </a:p>
        </p:txBody>
      </p:sp>
      <p:sp>
        <p:nvSpPr>
          <p:cNvPr id="17" name="TextBox 16"/>
          <p:cNvSpPr txBox="1"/>
          <p:nvPr/>
        </p:nvSpPr>
        <p:spPr>
          <a:xfrm>
            <a:off x="548640" y="4919472"/>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Average Contract Value ($343K avg ACV)</a:t>
            </a:r>
          </a:p>
        </p:txBody>
      </p:sp>
      <p:sp>
        <p:nvSpPr>
          <p:cNvPr id="18" name="TextBox 17"/>
          <p:cNvSpPr txBox="1"/>
          <p:nvPr/>
        </p:nvSpPr>
        <p:spPr>
          <a:xfrm>
            <a:off x="548640" y="5321808"/>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Deal size (segment mix: Tier 1 vs Regional)</a:t>
            </a:r>
          </a:p>
        </p:txBody>
      </p:sp>
      <p:sp>
        <p:nvSpPr>
          <p:cNvPr id="19" name="TextBox 18"/>
          <p:cNvSpPr txBox="1"/>
          <p:nvPr/>
        </p:nvSpPr>
        <p:spPr>
          <a:xfrm>
            <a:off x="548640" y="5724144"/>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 Pricing power (discounting behavior)</a:t>
            </a:r>
          </a:p>
        </p:txBody>
      </p:sp>
      <p:sp>
        <p:nvSpPr>
          <p:cNvPr id="20" name="TextBox 19"/>
          <p:cNvSpPr txBox="1"/>
          <p:nvPr/>
        </p:nvSpPr>
        <p:spPr>
          <a:xfrm>
            <a:off x="548640" y="6126480"/>
            <a:ext cx="11094415" cy="32918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 Expansion + Retention Revenue</a:t>
            </a:r>
          </a:p>
        </p:txBody>
      </p:sp>
      <p:sp>
        <p:nvSpPr>
          <p:cNvPr id="21" name="TextBox 2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22" name="TextBox 2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Barrier Assessment</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Rectangle 7"/>
          <p:cNvSpPr/>
          <p:nvPr/>
        </p:nvSpPr>
        <p:spPr>
          <a:xfrm>
            <a:off x="548640" y="1298448"/>
            <a:ext cx="11094415" cy="384048"/>
          </a:xfrm>
          <a:prstGeom prst="rect">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Driver</a:t>
            </a:r>
          </a:p>
        </p:txBody>
      </p:sp>
      <p:sp>
        <p:nvSpPr>
          <p:cNvPr id="10" name="TextBox 9"/>
          <p:cNvSpPr txBox="1"/>
          <p:nvPr/>
        </p:nvSpPr>
        <p:spPr>
          <a:xfrm>
            <a:off x="2822387"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Evidence</a:t>
            </a:r>
          </a:p>
        </p:txBody>
      </p:sp>
      <p:sp>
        <p:nvSpPr>
          <p:cNvPr id="11" name="TextBox 10"/>
          <p:cNvSpPr txBox="1"/>
          <p:nvPr/>
        </p:nvSpPr>
        <p:spPr>
          <a:xfrm>
            <a:off x="5041270"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Impact</a:t>
            </a:r>
          </a:p>
        </p:txBody>
      </p:sp>
      <p:sp>
        <p:nvSpPr>
          <p:cNvPr id="12" name="TextBox 11"/>
          <p:cNvSpPr txBox="1"/>
          <p:nvPr/>
        </p:nvSpPr>
        <p:spPr>
          <a:xfrm>
            <a:off x="7260153"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Confidence</a:t>
            </a:r>
          </a:p>
        </p:txBody>
      </p:sp>
      <p:sp>
        <p:nvSpPr>
          <p:cNvPr id="13" name="TextBox 12"/>
          <p:cNvSpPr txBox="1"/>
          <p:nvPr/>
        </p:nvSpPr>
        <p:spPr>
          <a:xfrm>
            <a:off x="9479036" y="1344168"/>
            <a:ext cx="2127443" cy="310896"/>
          </a:xfrm>
          <a:prstGeom prst="rect">
            <a:avLst/>
          </a:prstGeom>
          <a:noFill/>
        </p:spPr>
        <p:txBody>
          <a:bodyPr wrap="square" anchor="t" lIns="0" rIns="0" tIns="0" bIns="0">
            <a:normAutofit/>
          </a:bodyPr>
          <a:lstStyle/>
          <a:p>
            <a:pPr algn="l">
              <a:lnSpc>
                <a:spcPct val="105000"/>
              </a:lnSpc>
              <a:spcBef>
                <a:spcPts val="0"/>
              </a:spcBef>
            </a:pPr>
            <a:r>
              <a:rPr sz="1100" b="1" i="0">
                <a:solidFill>
                  <a:srgbClr val="FFFFFF"/>
                </a:solidFill>
                <a:latin typeface="Calibri"/>
              </a:rPr>
              <a:t>Root Cause</a:t>
            </a:r>
          </a:p>
        </p:txBody>
      </p:sp>
      <p:sp>
        <p:nvSpPr>
          <p:cNvPr id="14" name="Rectangle 13"/>
          <p:cNvSpPr/>
          <p:nvPr/>
        </p:nvSpPr>
        <p:spPr>
          <a:xfrm>
            <a:off x="548640" y="1682496"/>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Win rate collapse (47% → 31%)</a:t>
            </a:r>
          </a:p>
        </p:txBody>
      </p:sp>
      <p:sp>
        <p:nvSpPr>
          <p:cNvPr id="16" name="TextBox 15"/>
          <p:cNvSpPr txBox="1"/>
          <p:nvPr/>
        </p:nvSpPr>
        <p:spPr>
          <a:xfrm>
            <a:off x="2822387"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Lost $1.2M TCV to Clearwater; 16…</a:t>
            </a:r>
          </a:p>
        </p:txBody>
      </p:sp>
      <p:sp>
        <p:nvSpPr>
          <p:cNvPr id="17" name="TextBox 16"/>
          <p:cNvSpPr txBox="1"/>
          <p:nvPr/>
        </p:nvSpPr>
        <p:spPr>
          <a:xfrm>
            <a:off x="5041270"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each lost deal costs ~$34…</a:t>
            </a:r>
          </a:p>
        </p:txBody>
      </p:sp>
      <p:sp>
        <p:nvSpPr>
          <p:cNvPr id="18" name="TextBox 17"/>
          <p:cNvSpPr txBox="1"/>
          <p:nvPr/>
        </p:nvSpPr>
        <p:spPr>
          <a:xfrm>
            <a:off x="7260153"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19" name="TextBox 18"/>
          <p:cNvSpPr txBox="1"/>
          <p:nvPr/>
        </p:nvSpPr>
        <p:spPr>
          <a:xfrm>
            <a:off x="9479036" y="1728216"/>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Batch T+1 architecture is a visi…</a:t>
            </a:r>
          </a:p>
        </p:txBody>
      </p:sp>
      <p:sp>
        <p:nvSpPr>
          <p:cNvPr id="20" name="Rectangle 19"/>
          <p:cNvSpPr/>
          <p:nvPr/>
        </p:nvSpPr>
        <p:spPr>
          <a:xfrm>
            <a:off x="548640" y="2157984"/>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NRR compression (112% → 104%)</a:t>
            </a:r>
          </a:p>
        </p:txBody>
      </p:sp>
      <p:sp>
        <p:nvSpPr>
          <p:cNvPr id="22" name="TextBox 21"/>
          <p:cNvSpPr txBox="1"/>
          <p:nvPr/>
        </p:nvSpPr>
        <p:spPr>
          <a:xfrm>
            <a:off x="2822387"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Declining three consecutive year…</a:t>
            </a:r>
          </a:p>
        </p:txBody>
      </p:sp>
      <p:sp>
        <p:nvSpPr>
          <p:cNvPr id="23" name="TextBox 22"/>
          <p:cNvSpPr txBox="1"/>
          <p:nvPr/>
        </p:nvSpPr>
        <p:spPr>
          <a:xfrm>
            <a:off x="5041270"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 — each NRR point los…</a:t>
            </a:r>
          </a:p>
        </p:txBody>
      </p:sp>
      <p:sp>
        <p:nvSpPr>
          <p:cNvPr id="24" name="TextBox 23"/>
          <p:cNvSpPr txBox="1"/>
          <p:nvPr/>
        </p:nvSpPr>
        <p:spPr>
          <a:xfrm>
            <a:off x="7260153"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25" name="TextBox 24"/>
          <p:cNvSpPr txBox="1"/>
          <p:nvPr/>
        </p:nvSpPr>
        <p:spPr>
          <a:xfrm>
            <a:off x="9479036" y="2203704"/>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Smaller regional bank clients ar…</a:t>
            </a:r>
          </a:p>
        </p:txBody>
      </p:sp>
      <p:sp>
        <p:nvSpPr>
          <p:cNvPr id="26" name="Rectangle 25"/>
          <p:cNvSpPr/>
          <p:nvPr/>
        </p:nvSpPr>
        <p:spPr>
          <a:xfrm>
            <a:off x="548640" y="2633472"/>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No real-time streaming</a:t>
            </a:r>
          </a:p>
        </p:txBody>
      </p:sp>
      <p:sp>
        <p:nvSpPr>
          <p:cNvPr id="28" name="TextBox 27"/>
          <p:cNvSpPr txBox="1"/>
          <p:nvPr/>
        </p:nvSpPr>
        <p:spPr>
          <a:xfrm>
            <a:off x="2822387"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Python/SQL batch, T+1 processing…</a:t>
            </a:r>
          </a:p>
        </p:txBody>
      </p:sp>
      <p:sp>
        <p:nvSpPr>
          <p:cNvPr id="29" name="TextBox 28"/>
          <p:cNvSpPr txBox="1"/>
          <p:nvPr/>
        </p:nvSpPr>
        <p:spPr>
          <a:xfrm>
            <a:off x="5041270"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directly disqualifies Pri…</a:t>
            </a:r>
          </a:p>
        </p:txBody>
      </p:sp>
      <p:sp>
        <p:nvSpPr>
          <p:cNvPr id="30" name="TextBox 29"/>
          <p:cNvSpPr txBox="1"/>
          <p:nvPr/>
        </p:nvSpPr>
        <p:spPr>
          <a:xfrm>
            <a:off x="7260153"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a:t>
            </a:r>
          </a:p>
        </p:txBody>
      </p:sp>
      <p:sp>
        <p:nvSpPr>
          <p:cNvPr id="31" name="TextBox 30"/>
          <p:cNvSpPr txBox="1"/>
          <p:nvPr/>
        </p:nvSpPr>
        <p:spPr>
          <a:xfrm>
            <a:off x="9479036" y="2679192"/>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Platform was architected for reg…</a:t>
            </a:r>
          </a:p>
        </p:txBody>
      </p:sp>
      <p:sp>
        <p:nvSpPr>
          <p:cNvPr id="32" name="Rectangle 31"/>
          <p:cNvSpPr/>
          <p:nvPr/>
        </p:nvSpPr>
        <p:spPr>
          <a:xfrm>
            <a:off x="548640" y="3108960"/>
            <a:ext cx="11094415" cy="475488"/>
          </a:xfrm>
          <a:prstGeom prst="rect">
            <a:avLst/>
          </a:prstGeom>
          <a:solidFill>
            <a:srgbClr val="F4F7F8"/>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3504"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Competitive displacement by AI-n…</a:t>
            </a:r>
          </a:p>
        </p:txBody>
      </p:sp>
      <p:sp>
        <p:nvSpPr>
          <p:cNvPr id="34" name="TextBox 33"/>
          <p:cNvSpPr txBox="1"/>
          <p:nvPr/>
        </p:nvSpPr>
        <p:spPr>
          <a:xfrm>
            <a:off x="2822387"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Clearwater at $180M ARR, 55% gro…</a:t>
            </a:r>
          </a:p>
        </p:txBody>
      </p:sp>
      <p:sp>
        <p:nvSpPr>
          <p:cNvPr id="35" name="TextBox 34"/>
          <p:cNvSpPr txBox="1"/>
          <p:nvPr/>
        </p:nvSpPr>
        <p:spPr>
          <a:xfrm>
            <a:off x="5041270"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 accelerating; Clearwater …</a:t>
            </a:r>
          </a:p>
        </p:txBody>
      </p:sp>
      <p:sp>
        <p:nvSpPr>
          <p:cNvPr id="36" name="TextBox 35"/>
          <p:cNvSpPr txBox="1"/>
          <p:nvPr/>
        </p:nvSpPr>
        <p:spPr>
          <a:xfrm>
            <a:off x="7260153"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Medium-High</a:t>
            </a:r>
          </a:p>
        </p:txBody>
      </p:sp>
      <p:sp>
        <p:nvSpPr>
          <p:cNvPr id="37" name="TextBox 36"/>
          <p:cNvSpPr txBox="1"/>
          <p:nvPr/>
        </p:nvSpPr>
        <p:spPr>
          <a:xfrm>
            <a:off x="9479036" y="3154680"/>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Prism's LLM interface is 6 month…</a:t>
            </a:r>
          </a:p>
        </p:txBody>
      </p:sp>
      <p:sp>
        <p:nvSpPr>
          <p:cNvPr id="38" name="Rectangle 37"/>
          <p:cNvSpPr/>
          <p:nvPr/>
        </p:nvSpPr>
        <p:spPr>
          <a:xfrm>
            <a:off x="548640" y="3584448"/>
            <a:ext cx="11094415" cy="475488"/>
          </a:xfrm>
          <a:prstGeom prst="rect">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Pipeline concentration risk</a:t>
            </a:r>
          </a:p>
        </p:txBody>
      </p:sp>
      <p:sp>
        <p:nvSpPr>
          <p:cNvPr id="40" name="TextBox 39"/>
          <p:cNvSpPr txBox="1"/>
          <p:nvPr/>
        </p:nvSpPr>
        <p:spPr>
          <a:xfrm>
            <a:off x="2822387"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$28M qualified pipeline; 8–14 mo…</a:t>
            </a:r>
          </a:p>
        </p:txBody>
      </p:sp>
      <p:sp>
        <p:nvSpPr>
          <p:cNvPr id="41" name="TextBox 40"/>
          <p:cNvSpPr txBox="1"/>
          <p:nvPr/>
        </p:nvSpPr>
        <p:spPr>
          <a:xfrm>
            <a:off x="5041270"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 — pipeline is not thin bu…</a:t>
            </a:r>
          </a:p>
        </p:txBody>
      </p:sp>
      <p:sp>
        <p:nvSpPr>
          <p:cNvPr id="42" name="TextBox 41"/>
          <p:cNvSpPr txBox="1"/>
          <p:nvPr/>
        </p:nvSpPr>
        <p:spPr>
          <a:xfrm>
            <a:off x="7260153"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Medium</a:t>
            </a:r>
          </a:p>
        </p:txBody>
      </p:sp>
      <p:sp>
        <p:nvSpPr>
          <p:cNvPr id="43" name="TextBox 42"/>
          <p:cNvSpPr txBox="1"/>
          <p:nvPr/>
        </p:nvSpPr>
        <p:spPr>
          <a:xfrm>
            <a:off x="9479036" y="3630168"/>
            <a:ext cx="2127443" cy="402336"/>
          </a:xfrm>
          <a:prstGeom prst="rect">
            <a:avLst/>
          </a:prstGeom>
          <a:noFill/>
        </p:spPr>
        <p:txBody>
          <a:bodyPr wrap="square" anchor="t" lIns="0" rIns="0" tIns="0" bIns="0">
            <a:normAutofit/>
          </a:bodyPr>
          <a:lstStyle/>
          <a:p>
            <a:pPr algn="l">
              <a:lnSpc>
                <a:spcPct val="105000"/>
              </a:lnSpc>
              <a:spcBef>
                <a:spcPts val="0"/>
              </a:spcBef>
            </a:pPr>
            <a:r>
              <a:rPr sz="1050" b="0" i="0">
                <a:solidFill>
                  <a:srgbClr val="007755"/>
                </a:solidFill>
                <a:latin typeface="Calibri"/>
              </a:rPr>
              <a:t>High ACV deals require multiple …</a:t>
            </a:r>
          </a:p>
        </p:txBody>
      </p:sp>
      <p:sp>
        <p:nvSpPr>
          <p:cNvPr id="44" name="TextBox 4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45" name="TextBox 4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Binding Constraint</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548640" y="1298448"/>
            <a:ext cx="11094415" cy="2798064"/>
          </a:xfrm>
          <a:prstGeom prst="rect">
            <a:avLst/>
          </a:prstGeom>
          <a:noFill/>
        </p:spPr>
        <p:txBody>
          <a:bodyPr wrap="square" anchor="t" lIns="0" rIns="0" tIns="0" bIns="0">
            <a:normAutofit/>
          </a:bodyPr>
          <a:lstStyle/>
          <a:p>
            <a:pPr algn="l">
              <a:lnSpc>
                <a:spcPct val="105000"/>
              </a:lnSpc>
              <a:spcBef>
                <a:spcPts val="0"/>
              </a:spcBef>
            </a:pPr>
            <a:r>
              <a:rPr sz="1300" b="0" i="0">
                <a:solidFill>
                  <a:srgbClr val="1B2B3C"/>
                </a:solidFill>
                <a:latin typeface="Calibri"/>
              </a:rPr>
              <a:t>The binding constraint is win rate at the product differentiation layer — specifically Prism's inability to compete credibly on real-time portfolio risk analytics in deals where that capability is either required or heavily weighted. This is not a sales execution problem; it is a product architecture problem masquerading as a pipeline problem. The 16-point win rate drop tracks precisely with the period in which Clearwater scaled to prominence and began competing in the same Tier 1 and upper-regional-bank RFPs. Improving pipeline volume or sales headcount will not recover lost deals that are lost due to T+1 architecture. The LLM interface launch is the nearest-term lever to reframe competitive positioning — but it must be designed to demonstrate a capability advantage, not merely parity with features Clearwater already has.</a:t>
            </a:r>
          </a:p>
        </p:txBody>
      </p:sp>
      <p:sp>
        <p:nvSpPr>
          <p:cNvPr id="9" name="TextBox 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0" name="TextBox 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
            <a:ext cx="11094415" cy="658368"/>
          </a:xfrm>
          <a:prstGeom prst="rect">
            <a:avLst/>
          </a:prstGeom>
          <a:noFill/>
        </p:spPr>
        <p:txBody>
          <a:bodyPr wrap="square" anchor="t" lIns="0" rIns="0" tIns="0" bIns="0">
            <a:normAutofit/>
          </a:bodyPr>
          <a:lstStyle/>
          <a:p>
            <a:pPr algn="l">
              <a:lnSpc>
                <a:spcPct val="105000"/>
              </a:lnSpc>
              <a:spcBef>
                <a:spcPts val="0"/>
              </a:spcBef>
            </a:pPr>
            <a:r>
              <a:rPr sz="2600" b="1" i="0">
                <a:solidFill>
                  <a:srgbClr val="001824"/>
                </a:solidFill>
                <a:latin typeface="Calibri"/>
              </a:rPr>
              <a:t>Recommended Actions</a:t>
            </a:r>
          </a:p>
        </p:txBody>
      </p:sp>
      <p:sp>
        <p:nvSpPr>
          <p:cNvPr id="5" name="Rectangle 4"/>
          <p:cNvSpPr/>
          <p:nvPr/>
        </p:nvSpPr>
        <p:spPr>
          <a:xfrm>
            <a:off x="548640" y="1078992"/>
            <a:ext cx="1280160" cy="45720"/>
          </a:xfrm>
          <a:prstGeom prst="rect">
            <a:avLst/>
          </a:prstGeom>
          <a:solidFill>
            <a:srgbClr val="009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31375" y="256032"/>
            <a:ext cx="2011680" cy="347472"/>
          </a:xfrm>
          <a:prstGeom prst="roundRect">
            <a:avLst>
              <a:gd name="adj" fmla="val 4000"/>
            </a:avLst>
          </a:prstGeom>
          <a:solidFill>
            <a:srgbClr val="0018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04527" y="274320"/>
            <a:ext cx="1865376" cy="310896"/>
          </a:xfrm>
          <a:prstGeom prst="rect">
            <a:avLst/>
          </a:prstGeom>
          <a:noFill/>
        </p:spPr>
        <p:txBody>
          <a:bodyPr wrap="square" anchor="t" lIns="0" rIns="0" tIns="0" bIns="0">
            <a:noAutofit/>
          </a:bodyPr>
          <a:lstStyle/>
          <a:p>
            <a:pPr algn="ctr">
              <a:lnSpc>
                <a:spcPct val="105000"/>
              </a:lnSpc>
              <a:spcBef>
                <a:spcPts val="0"/>
              </a:spcBef>
            </a:pPr>
            <a:r>
              <a:rPr sz="1050" b="1" i="0">
                <a:solidFill>
                  <a:srgbClr val="00996B"/>
                </a:solidFill>
                <a:latin typeface="Calibri"/>
              </a:rPr>
              <a:t>Prism Analytics</a:t>
            </a:r>
          </a:p>
        </p:txBody>
      </p:sp>
      <p:sp>
        <p:nvSpPr>
          <p:cNvPr id="8" name="TextBox 7"/>
          <p:cNvSpPr txBox="1"/>
          <p:nvPr/>
        </p:nvSpPr>
        <p:spPr>
          <a:xfrm>
            <a:off x="658368" y="1298448"/>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1.  **Accelerate LLM interface launch as a reframe narrative, not a product feature** — position the natural language…</a:t>
            </a:r>
          </a:p>
        </p:txBody>
      </p:sp>
      <p:sp>
        <p:nvSpPr>
          <p:cNvPr id="9" name="TextBox 8"/>
          <p:cNvSpPr txBox="1"/>
          <p:nvPr/>
        </p:nvSpPr>
        <p:spPr>
          <a:xfrm>
            <a:off x="658368" y="1645920"/>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2.  **Segment the win rate problem by deal type** — separate competitive losses by whether the loss cited real-time c…</a:t>
            </a:r>
          </a:p>
        </p:txBody>
      </p:sp>
      <p:sp>
        <p:nvSpPr>
          <p:cNvPr id="10" name="TextBox 9"/>
          <p:cNvSpPr txBox="1"/>
          <p:nvPr/>
        </p:nvSpPr>
        <p:spPr>
          <a:xfrm>
            <a:off x="658368" y="1993392"/>
            <a:ext cx="10984687" cy="329184"/>
          </a:xfrm>
          <a:prstGeom prst="rect">
            <a:avLst/>
          </a:prstGeom>
          <a:noFill/>
        </p:spPr>
        <p:txBody>
          <a:bodyPr wrap="square" anchor="t" lIns="0" rIns="0" tIns="0" bIns="0">
            <a:normAutofit/>
          </a:bodyPr>
          <a:lstStyle/>
          <a:p>
            <a:pPr algn="l">
              <a:lnSpc>
                <a:spcPct val="105000"/>
              </a:lnSpc>
              <a:spcBef>
                <a:spcPts val="0"/>
              </a:spcBef>
            </a:pPr>
            <a:r>
              <a:rPr sz="1250" b="0" i="0">
                <a:solidFill>
                  <a:srgbClr val="1B2B3C"/>
                </a:solidFill>
                <a:latin typeface="Calibri"/>
              </a:rPr>
              <a:t>3.  **Arrest NRR compression with a targeted regional bank retention program** — identify the 40–50 smallest accounts…</a:t>
            </a:r>
          </a:p>
        </p:txBody>
      </p:sp>
      <p:sp>
        <p:nvSpPr>
          <p:cNvPr id="11" name="TextBox 1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BCG Consulting Framework · Prism Analytics · 2026-06-18</a:t>
            </a:r>
          </a:p>
        </p:txBody>
      </p:sp>
      <p:sp>
        <p:nvSpPr>
          <p:cNvPr id="12" name="TextBox 1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