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1463040" cy="347472"/>
          </a:xfrm>
          <a:prstGeom prst="roundRect">
            <a:avLst>
              <a:gd name="adj" fmla="val 5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38328"/>
            <a:ext cx="142646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BCG-STYLE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996B"/>
                </a:solidFill>
                <a:latin typeface="Calibri"/>
              </a:rPr>
              <a:t>04 / EXECUTION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9601200" cy="2560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FFFF"/>
                </a:solidFill>
                <a:latin typeface="Calibri"/>
              </a:rPr>
              <a:t>Transformation Roadmap — Prism Analytics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023360"/>
            <a:ext cx="27432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251960"/>
            <a:ext cx="73152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0" i="0">
                <a:solidFill>
                  <a:srgbClr val="CCEEE4"/>
                </a:solidFill>
                <a:latin typeface="Calibri"/>
              </a:rPr>
              <a:t>Prism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09160"/>
            <a:ext cx="73152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2026-06-18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179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Powered by The Consultant's Guide to Claude · 21 BCG-Style Skills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4415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96B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Calibri"/>
              </a:rPr>
              <a:t>Target Outcome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22860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11094415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CCEEE4"/>
                </a:solidFill>
                <a:latin typeface="Calibri"/>
              </a:rPr>
              <a:t>By month 12 (June 2027), Prism Analytics will have: (1) launched the LLM Intelligence Interface to market with ≥6 referenceable design partners and a credible "AI-first compliance intelligence" positioning, (2) won 15–20 net-new logos in the Tier 1 bank and insurance segments, lifting ARR from $48M to ≥$55M, (3) stabilized NRR at ≥107% through LLM expansion upsell at renewal, (4) reduced burn to ≤$1.85M/mo extending runway to ≥18 months from month 12, and (5) maintained a live M&amp;A parallel track with a prepared data room and ≥2 qualified buyer conversations completed. At the month 12 board review, Prism will make a binary decision: accelerate to Series D and replatform, or close a strategic transaction.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65615" y="256032"/>
            <a:ext cx="2377440" cy="347472"/>
          </a:xfrm>
          <a:prstGeom prst="roundRect">
            <a:avLst>
              <a:gd name="adj" fmla="val 4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57055" y="274320"/>
            <a:ext cx="21945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1824"/>
                </a:solidFill>
                <a:latin typeface="Calibri"/>
              </a:rPr>
              <a:t>Prism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Workstreams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Prism Analytics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344168"/>
            <a:ext cx="268216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Workstream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77107" y="1344168"/>
            <a:ext cx="268216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50711" y="1344168"/>
            <a:ext cx="268216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24315" y="1344168"/>
            <a:ext cx="268216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Key Dependency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682496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72821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WS1 — LLM Intelligence Product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77107" y="172821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Compress LLM interface from 6 to…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50711" y="172821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CPO (accountable) + CTO (delivery)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24315" y="172821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Engineering squad reorg complete…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157984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220370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WS2 — AI-First Go-to-Market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77107" y="220370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Reposition Prism as "AI-first co…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50711" y="220370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VP Sales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24315" y="220370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Win/loss analysis complete by we…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633472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" y="267919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WS3 — NRR Expansion Motion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77107" y="267919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Design and deploy LLM Intelligen…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50711" y="267919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VP Customer Success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24315" y="267919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LLM packaging approved by CPO an…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108960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" y="3154680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WS4 — Compliance Platform Depth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77107" y="3154680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Release Basel IV phased implemen…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50711" y="3154680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Head of Compliance Engineering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24315" y="3154680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Compliance Engine Squad operatin…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3584448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3504" y="3630168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WS5 — Financial Discipline and B…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77107" y="3630168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Reduce monthly burn from $2.1M t…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50711" y="3630168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CFO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24315" y="3630168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Board approval for burn reductio…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059936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3504" y="410565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WS6 — M&amp;A Readiness and Strategi…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77107" y="410565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Maintain credible M&amp;A parallel t…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50711" y="410565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CEO + CFO + financial advisor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24315" y="410565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Board alignment on exit price fl…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Prism Analytics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344168"/>
            <a:ext cx="268216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Phase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77107" y="1344168"/>
            <a:ext cx="268216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Timing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50711" y="1344168"/>
            <a:ext cx="268216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Major 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24315" y="1344168"/>
            <a:ext cx="268216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Milestones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682496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72821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Phase 1 — Mobilize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77107" y="172821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Months 1–2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50711" y="172821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Stand up 3 engineering squads (L…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24315" y="172821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M1: Squad reorg complete. M1: De…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157984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220370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Phase 2 — Deliver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77107" y="220370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Months 3–4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50711" y="220370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LLM interface development sprint…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24315" y="220370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M3: Design partner NPS ≥40 at mi…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633472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" y="267919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Phase 3 — Launch and Sprint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77107" y="267919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Months 5–7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50711" y="267919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LLM Intelligence tier GA launch 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24315" y="267919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M5: LLM Intelligence tier live. 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108960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" y="3154680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Phase 4 — Scale and Decide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77107" y="3154680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Months 8–12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50711" y="3154680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Full new logo sprint execution; 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24315" y="3154680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M9: ≥12 new logos won. M10: NRR 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First 90 Days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Prism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11094415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Week 1–2 — Alignment and commitment: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00784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CEO announces AI-first strategy and 4-month LLM launch commitment at all-hands; names squad leads and PM for LLM Inte…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48256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CTO publishes engineering reorg structure and 14-week sprint OKRs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395728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CFO initiates discretionary spend audit; identifies $300K/mo reduction opportunities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743200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VP Sales launches win/loss interview program (external consultant engaged)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163824"/>
            <a:ext cx="11094415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Week 2–4 — Mobilization: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566160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6 design partner accounts identified and NDA/beta agreements signed (VP CS and CPO own)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913632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Insurance pod AE redeployments complete; territory assignments updated in CRM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261104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Deal desk governance live in Salesforce; VP Sales briefs all AEs on new discount floors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608576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Financial advisor engaged; preliminary buyer landscape scope agreed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029200"/>
            <a:ext cx="11094415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Week 5–8 — Early delivery signals: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431536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LLM Intelligence Squad mid-sprint review: design partner onboarding feedback incorporated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779008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Win/loss analysis findings delivered; board briefed on real-time vs. LLM gap breakdown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126480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First 3 Insurance prospects at active discovery stage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Governance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Prism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11094415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Cadence: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00784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Weekly: LLM Squad sprint review (CPO + CTO + squad lead; 30 minutes; milestone RAG status)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48256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Weekly: New logo sprint pipeline review (CEO + VP Sales; deal-level review of Tier 1 and Insurance pipeline)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395728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Bi-weekly: Cross-workstream PMO sync (CEO, CPO, VP Sales, VP CS, CFO; 60 minutes; interdependency and risk log)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743200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Monthly: Board update (CEO + CFO; ARR trajectory, burn, M&amp;A track status, key risks)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090672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Monthly: Design partner advisory council (CPO + 3 design partner CROs/CFOs; product feedback and reference story deve…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511296"/>
            <a:ext cx="11094415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Escalation: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913632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Any initiative more than 2 weeks behind milestone: CPO or workstream owner escalates to CEO within 48 hours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261104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Burn exceeds $2.0M/mo for 2 consecutive months: CFO triggers emergency cost review with CEO and board within 5 busine…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608576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Any inbound M&amp;A inquiry from a strategic buyer: CEO notifies board chair within 24 hours; no engagement without board…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029200"/>
            <a:ext cx="11094415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Success metrics (tracked monthly):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431536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ARR (target: $55M by month 12)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779008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New logos won in sprint window (target: 15 by month 10)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126480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Win rate (target: ≥42% by month 6)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