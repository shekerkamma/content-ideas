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1463040" cy="347472"/>
          </a:xfrm>
          <a:prstGeom prst="roundRect">
            <a:avLst>
              <a:gd name="adj" fmla="val 5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338328"/>
            <a:ext cx="1426464"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FFFFFF"/>
                </a:solidFill>
                <a:latin typeface="Calibri"/>
              </a:rPr>
              <a:t>BCG-STYLE</a:t>
            </a:r>
          </a:p>
        </p:txBody>
      </p:sp>
      <p:sp>
        <p:nvSpPr>
          <p:cNvPr id="6" name="TextBox 5"/>
          <p:cNvSpPr txBox="1"/>
          <p:nvPr/>
        </p:nvSpPr>
        <p:spPr>
          <a:xfrm>
            <a:off x="457200" y="804672"/>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96B"/>
                </a:solidFill>
                <a:latin typeface="Calibri"/>
              </a:rPr>
              <a:t>01 / DIAGNOSIS &amp; FRAMING</a:t>
            </a:r>
          </a:p>
        </p:txBody>
      </p:sp>
      <p:sp>
        <p:nvSpPr>
          <p:cNvPr id="7" name="TextBox 6"/>
          <p:cNvSpPr txBox="1"/>
          <p:nvPr/>
        </p:nvSpPr>
        <p:spPr>
          <a:xfrm>
            <a:off x="457200" y="1280160"/>
            <a:ext cx="9601200" cy="256032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Assumption Audit — Prism Analytics</a:t>
            </a:r>
          </a:p>
        </p:txBody>
      </p:sp>
      <p:sp>
        <p:nvSpPr>
          <p:cNvPr id="8" name="Rectangle 7"/>
          <p:cNvSpPr/>
          <p:nvPr/>
        </p:nvSpPr>
        <p:spPr>
          <a:xfrm>
            <a:off x="457200" y="4023360"/>
            <a:ext cx="27432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251960"/>
            <a:ext cx="7315200" cy="411480"/>
          </a:xfrm>
          <a:prstGeom prst="rect">
            <a:avLst/>
          </a:prstGeom>
          <a:noFill/>
        </p:spPr>
        <p:txBody>
          <a:bodyPr wrap="square" anchor="t" lIns="0" rIns="0" tIns="0" bIns="0">
            <a:noAutofit/>
          </a:bodyPr>
          <a:lstStyle/>
          <a:p>
            <a:pPr algn="l">
              <a:lnSpc>
                <a:spcPct val="105000"/>
              </a:lnSpc>
              <a:spcBef>
                <a:spcPts val="0"/>
              </a:spcBef>
            </a:pPr>
            <a:r>
              <a:rPr sz="1800" b="0" i="0">
                <a:solidFill>
                  <a:srgbClr val="CCEEE4"/>
                </a:solidFill>
                <a:latin typeface="Calibri"/>
              </a:rPr>
              <a:t>Prism Analytics</a:t>
            </a:r>
          </a:p>
        </p:txBody>
      </p:sp>
      <p:sp>
        <p:nvSpPr>
          <p:cNvPr id="10" name="TextBox 9"/>
          <p:cNvSpPr txBox="1"/>
          <p:nvPr/>
        </p:nvSpPr>
        <p:spPr>
          <a:xfrm>
            <a:off x="457200" y="4709160"/>
            <a:ext cx="7315200" cy="347472"/>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2026-06-18</a:t>
            </a:r>
          </a:p>
        </p:txBody>
      </p:sp>
      <p:sp>
        <p:nvSpPr>
          <p:cNvPr id="11" name="TextBox 10"/>
          <p:cNvSpPr txBox="1"/>
          <p:nvPr/>
        </p:nvSpPr>
        <p:spPr>
          <a:xfrm>
            <a:off x="457200" y="6217920"/>
            <a:ext cx="91440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Powered by The Consultant's Guide to Claude · 21 BCG-Style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347472"/>
          </a:xfrm>
          <a:prstGeom prst="rect">
            <a:avLst/>
          </a:prstGeom>
          <a:noFill/>
        </p:spPr>
        <p:txBody>
          <a:bodyPr wrap="square" anchor="t" lIns="0" rIns="0" tIns="0" bIns="0">
            <a:noAutofit/>
          </a:bodyPr>
          <a:lstStyle/>
          <a:p>
            <a:pPr algn="l">
              <a:lnSpc>
                <a:spcPct val="105000"/>
              </a:lnSpc>
              <a:spcBef>
                <a:spcPts val="0"/>
              </a:spcBef>
            </a:pPr>
            <a:r>
              <a:rPr sz="1200" b="1" i="0">
                <a:solidFill>
                  <a:srgbClr val="00996B"/>
                </a:solidFill>
                <a:latin typeface="Calibri"/>
              </a:rPr>
              <a:t>EXECUTIVE SUMMARY</a:t>
            </a:r>
          </a:p>
        </p:txBody>
      </p:sp>
      <p:sp>
        <p:nvSpPr>
          <p:cNvPr id="5" name="TextBox 4"/>
          <p:cNvSpPr txBox="1"/>
          <p:nvPr/>
        </p:nvSpPr>
        <p:spPr>
          <a:xfrm>
            <a:off x="548640" y="749808"/>
            <a:ext cx="11094415" cy="713232"/>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Strategy Being Tested</a:t>
            </a:r>
          </a:p>
        </p:txBody>
      </p:sp>
      <p:sp>
        <p:nvSpPr>
          <p:cNvPr id="6" name="Rectangle 5"/>
          <p:cNvSpPr/>
          <p:nvPr/>
        </p:nvSpPr>
        <p:spPr>
          <a:xfrm>
            <a:off x="548640" y="1572768"/>
            <a:ext cx="22860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11094415" cy="2011680"/>
          </a:xfrm>
          <a:prstGeom prst="rect">
            <a:avLst/>
          </a:prstGeom>
          <a:noFill/>
        </p:spPr>
        <p:txBody>
          <a:bodyPr wrap="square" anchor="t" lIns="0" rIns="0" tIns="0" bIns="0">
            <a:normAutofit/>
          </a:bodyPr>
          <a:lstStyle/>
          <a:p>
            <a:pPr algn="l">
              <a:lnSpc>
                <a:spcPct val="105000"/>
              </a:lnSpc>
              <a:spcBef>
                <a:spcPts val="0"/>
              </a:spcBef>
            </a:pPr>
            <a:r>
              <a:rPr sz="1300" b="0" i="0">
                <a:solidFill>
                  <a:srgbClr val="CCEEE4"/>
                </a:solidFill>
                <a:latin typeface="Calibri"/>
              </a:rPr>
              <a:t>Prism Analytics is pursuing a two-part growth recovery strategy: (1) launch a natural language LLM query interface in 6 months to reframe competitive positioning against AI-native peers like Clearwater Analytics, and (2) defend existing ARR through retention improvements and continued regulatory compliance depth while managing burn toward a board-defined outcome of either profitability or strategic sale within 18–24 months. The implicit assumption underlying both tracks is that the LLM interface can materially improve win rates and NRR before the runway forces a forced exit or down-round.</a:t>
            </a:r>
          </a:p>
        </p:txBody>
      </p:sp>
      <p:sp>
        <p:nvSpPr>
          <p:cNvPr id="8" name="Rounded Rectangle 7"/>
          <p:cNvSpPr/>
          <p:nvPr/>
        </p:nvSpPr>
        <p:spPr>
          <a:xfrm>
            <a:off x="9265615" y="256032"/>
            <a:ext cx="2377440" cy="347472"/>
          </a:xfrm>
          <a:prstGeom prst="roundRect">
            <a:avLst>
              <a:gd name="adj" fmla="val 4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57055" y="274320"/>
            <a:ext cx="2194560"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001824"/>
                </a:solidFill>
                <a:latin typeface="Calibri"/>
              </a:rPr>
              <a:t>Prism Analytics</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BCG Consulting Framework · Prism Analytics · 2026-06-18</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Assumption Register</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Assumption</a:t>
            </a:r>
          </a:p>
        </p:txBody>
      </p:sp>
      <p:sp>
        <p:nvSpPr>
          <p:cNvPr id="10" name="TextBox 9"/>
          <p:cNvSpPr txBox="1"/>
          <p:nvPr/>
        </p:nvSpPr>
        <p:spPr>
          <a:xfrm>
            <a:off x="2822387"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Category</a:t>
            </a:r>
          </a:p>
        </p:txBody>
      </p:sp>
      <p:sp>
        <p:nvSpPr>
          <p:cNvPr id="11" name="TextBox 10"/>
          <p:cNvSpPr txBox="1"/>
          <p:nvPr/>
        </p:nvSpPr>
        <p:spPr>
          <a:xfrm>
            <a:off x="5041270"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Importance</a:t>
            </a:r>
          </a:p>
        </p:txBody>
      </p:sp>
      <p:sp>
        <p:nvSpPr>
          <p:cNvPr id="12" name="TextBox 11"/>
          <p:cNvSpPr txBox="1"/>
          <p:nvPr/>
        </p:nvSpPr>
        <p:spPr>
          <a:xfrm>
            <a:off x="7260153"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Evidence Strength</a:t>
            </a:r>
          </a:p>
        </p:txBody>
      </p:sp>
      <p:sp>
        <p:nvSpPr>
          <p:cNvPr id="13" name="TextBox 12"/>
          <p:cNvSpPr txBox="1"/>
          <p:nvPr/>
        </p:nvSpPr>
        <p:spPr>
          <a:xfrm>
            <a:off x="9479036"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Risk</a:t>
            </a:r>
          </a:p>
        </p:txBody>
      </p:sp>
      <p:sp>
        <p:nvSpPr>
          <p:cNvPr id="14" name="Rectangle 13"/>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The LLM interface will improve c…</a:t>
            </a:r>
          </a:p>
        </p:txBody>
      </p:sp>
      <p:sp>
        <p:nvSpPr>
          <p:cNvPr id="16" name="TextBox 15"/>
          <p:cNvSpPr txBox="1"/>
          <p:nvPr/>
        </p:nvSpPr>
        <p:spPr>
          <a:xfrm>
            <a:off x="2822387"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Market / Customer</a:t>
            </a:r>
          </a:p>
        </p:txBody>
      </p:sp>
      <p:sp>
        <p:nvSpPr>
          <p:cNvPr id="17" name="TextBox 16"/>
          <p:cNvSpPr txBox="1"/>
          <p:nvPr/>
        </p:nvSpPr>
        <p:spPr>
          <a:xfrm>
            <a:off x="5041270"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Critical</a:t>
            </a:r>
          </a:p>
        </p:txBody>
      </p:sp>
      <p:sp>
        <p:nvSpPr>
          <p:cNvPr id="18" name="TextBox 17"/>
          <p:cNvSpPr txBox="1"/>
          <p:nvPr/>
        </p:nvSpPr>
        <p:spPr>
          <a:xfrm>
            <a:off x="7260153"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Weak — no live proof point; 6 mo…</a:t>
            </a:r>
          </a:p>
        </p:txBody>
      </p:sp>
      <p:sp>
        <p:nvSpPr>
          <p:cNvPr id="19" name="TextBox 18"/>
          <p:cNvSpPr txBox="1"/>
          <p:nvPr/>
        </p:nvSpPr>
        <p:spPr>
          <a:xfrm>
            <a:off x="9479036"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if buyers view LLM interf…</a:t>
            </a:r>
          </a:p>
        </p:txBody>
      </p:sp>
      <p:sp>
        <p:nvSpPr>
          <p:cNvPr id="20" name="Rectangle 19"/>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T+1 batch processing is not a di…</a:t>
            </a:r>
          </a:p>
        </p:txBody>
      </p:sp>
      <p:sp>
        <p:nvSpPr>
          <p:cNvPr id="22" name="TextBox 21"/>
          <p:cNvSpPr txBox="1"/>
          <p:nvPr/>
        </p:nvSpPr>
        <p:spPr>
          <a:xfrm>
            <a:off x="2822387"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Product</a:t>
            </a:r>
          </a:p>
        </p:txBody>
      </p:sp>
      <p:sp>
        <p:nvSpPr>
          <p:cNvPr id="23" name="TextBox 22"/>
          <p:cNvSpPr txBox="1"/>
          <p:nvPr/>
        </p:nvSpPr>
        <p:spPr>
          <a:xfrm>
            <a:off x="5041270"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Critical</a:t>
            </a:r>
          </a:p>
        </p:txBody>
      </p:sp>
      <p:sp>
        <p:nvSpPr>
          <p:cNvPr id="24" name="TextBox 23"/>
          <p:cNvSpPr txBox="1"/>
          <p:nvPr/>
        </p:nvSpPr>
        <p:spPr>
          <a:xfrm>
            <a:off x="7260153"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Contradicted — $1.2M TCV lost to…</a:t>
            </a:r>
          </a:p>
        </p:txBody>
      </p:sp>
      <p:sp>
        <p:nvSpPr>
          <p:cNvPr id="25" name="TextBox 24"/>
          <p:cNvSpPr txBox="1"/>
          <p:nvPr/>
        </p:nvSpPr>
        <p:spPr>
          <a:xfrm>
            <a:off x="9479036"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if 50%+ of losses are rea…</a:t>
            </a:r>
          </a:p>
        </p:txBody>
      </p:sp>
      <p:sp>
        <p:nvSpPr>
          <p:cNvPr id="26" name="Rectangle 25"/>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Regional bank segment is a defen…</a:t>
            </a:r>
          </a:p>
        </p:txBody>
      </p:sp>
      <p:sp>
        <p:nvSpPr>
          <p:cNvPr id="28" name="TextBox 27"/>
          <p:cNvSpPr txBox="1"/>
          <p:nvPr/>
        </p:nvSpPr>
        <p:spPr>
          <a:xfrm>
            <a:off x="2822387"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Customer</a:t>
            </a:r>
          </a:p>
        </p:txBody>
      </p:sp>
      <p:sp>
        <p:nvSpPr>
          <p:cNvPr id="29" name="TextBox 28"/>
          <p:cNvSpPr txBox="1"/>
          <p:nvPr/>
        </p:nvSpPr>
        <p:spPr>
          <a:xfrm>
            <a:off x="5041270"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30" name="TextBox 29"/>
          <p:cNvSpPr txBox="1"/>
          <p:nvPr/>
        </p:nvSpPr>
        <p:spPr>
          <a:xfrm>
            <a:off x="7260153"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Mixed — 6% gross churn rising; N…</a:t>
            </a:r>
          </a:p>
        </p:txBody>
      </p:sp>
      <p:sp>
        <p:nvSpPr>
          <p:cNvPr id="31" name="TextBox 30"/>
          <p:cNvSpPr txBox="1"/>
          <p:nvPr/>
        </p:nvSpPr>
        <p:spPr>
          <a:xfrm>
            <a:off x="9479036"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 if churn migrates …</a:t>
            </a:r>
          </a:p>
        </p:txBody>
      </p:sp>
      <p:sp>
        <p:nvSpPr>
          <p:cNvPr id="32" name="Rectangle 31"/>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18 months runway is sufficient t…</a:t>
            </a:r>
          </a:p>
        </p:txBody>
      </p:sp>
      <p:sp>
        <p:nvSpPr>
          <p:cNvPr id="34" name="TextBox 33"/>
          <p:cNvSpPr txBox="1"/>
          <p:nvPr/>
        </p:nvSpPr>
        <p:spPr>
          <a:xfrm>
            <a:off x="2822387"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Operational</a:t>
            </a:r>
          </a:p>
        </p:txBody>
      </p:sp>
      <p:sp>
        <p:nvSpPr>
          <p:cNvPr id="35" name="TextBox 34"/>
          <p:cNvSpPr txBox="1"/>
          <p:nvPr/>
        </p:nvSpPr>
        <p:spPr>
          <a:xfrm>
            <a:off x="5041270"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Critical</a:t>
            </a:r>
          </a:p>
        </p:txBody>
      </p:sp>
      <p:sp>
        <p:nvSpPr>
          <p:cNvPr id="36" name="TextBox 35"/>
          <p:cNvSpPr txBox="1"/>
          <p:nvPr/>
        </p:nvSpPr>
        <p:spPr>
          <a:xfrm>
            <a:off x="7260153"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Shaky — 6 months to launch + 3–6…</a:t>
            </a:r>
          </a:p>
        </p:txBody>
      </p:sp>
      <p:sp>
        <p:nvSpPr>
          <p:cNvPr id="37" name="TextBox 36"/>
          <p:cNvSpPr txBox="1"/>
          <p:nvPr/>
        </p:nvSpPr>
        <p:spPr>
          <a:xfrm>
            <a:off x="9479036"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any launch delay, slow ad…</a:t>
            </a:r>
          </a:p>
        </p:txBody>
      </p:sp>
      <p:sp>
        <p:nvSpPr>
          <p:cNvPr id="38" name="Rectangle 3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 strategic sale is available at…</a:t>
            </a:r>
          </a:p>
        </p:txBody>
      </p:sp>
      <p:sp>
        <p:nvSpPr>
          <p:cNvPr id="40" name="TextBox 39"/>
          <p:cNvSpPr txBox="1"/>
          <p:nvPr/>
        </p:nvSpPr>
        <p:spPr>
          <a:xfrm>
            <a:off x="2822387"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Market / Strategic</a:t>
            </a:r>
          </a:p>
        </p:txBody>
      </p:sp>
      <p:sp>
        <p:nvSpPr>
          <p:cNvPr id="41" name="TextBox 40"/>
          <p:cNvSpPr txBox="1"/>
          <p:nvPr/>
        </p:nvSpPr>
        <p:spPr>
          <a:xfrm>
            <a:off x="5041270"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42" name="TextBox 41"/>
          <p:cNvSpPr txBox="1"/>
          <p:nvPr/>
        </p:nvSpPr>
        <p:spPr>
          <a:xfrm>
            <a:off x="7260153"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Unvalidated — no confirmed inbou…</a:t>
            </a:r>
          </a:p>
        </p:txBody>
      </p:sp>
      <p:sp>
        <p:nvSpPr>
          <p:cNvPr id="43" name="TextBox 42"/>
          <p:cNvSpPr txBox="1"/>
          <p:nvPr/>
        </p:nvSpPr>
        <p:spPr>
          <a:xfrm>
            <a:off x="9479036"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at 14% growth, strategi…</a:t>
            </a:r>
          </a:p>
        </p:txBody>
      </p:sp>
      <p:sp>
        <p:nvSpPr>
          <p:cNvPr id="44" name="Rectangle 43"/>
          <p:cNvSpPr/>
          <p:nvPr/>
        </p:nvSpPr>
        <p:spPr>
          <a:xfrm>
            <a:off x="548640" y="4059936"/>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3504" y="410565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Engineering can deliver the LLM …</a:t>
            </a:r>
          </a:p>
        </p:txBody>
      </p:sp>
      <p:sp>
        <p:nvSpPr>
          <p:cNvPr id="46" name="TextBox 45"/>
          <p:cNvSpPr txBox="1"/>
          <p:nvPr/>
        </p:nvSpPr>
        <p:spPr>
          <a:xfrm>
            <a:off x="2822387" y="410565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Operational</a:t>
            </a:r>
          </a:p>
        </p:txBody>
      </p:sp>
      <p:sp>
        <p:nvSpPr>
          <p:cNvPr id="47" name="TextBox 46"/>
          <p:cNvSpPr txBox="1"/>
          <p:nvPr/>
        </p:nvSpPr>
        <p:spPr>
          <a:xfrm>
            <a:off x="5041270" y="410565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48" name="TextBox 47"/>
          <p:cNvSpPr txBox="1"/>
          <p:nvPr/>
        </p:nvSpPr>
        <p:spPr>
          <a:xfrm>
            <a:off x="7260153" y="410565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Reasonable but untested — 27 eng…</a:t>
            </a:r>
          </a:p>
        </p:txBody>
      </p:sp>
      <p:sp>
        <p:nvSpPr>
          <p:cNvPr id="49" name="TextBox 48"/>
          <p:cNvSpPr txBox="1"/>
          <p:nvPr/>
        </p:nvSpPr>
        <p:spPr>
          <a:xfrm>
            <a:off x="9479036" y="410565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30% reallocation to LLM…</a:t>
            </a:r>
          </a:p>
        </p:txBody>
      </p:sp>
      <p:sp>
        <p:nvSpPr>
          <p:cNvPr id="50" name="Rectangle 49"/>
          <p:cNvSpPr/>
          <p:nvPr/>
        </p:nvSpPr>
        <p:spPr>
          <a:xfrm>
            <a:off x="548640" y="4535424"/>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4" y="458114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does not materially i…</a:t>
            </a:r>
          </a:p>
        </p:txBody>
      </p:sp>
      <p:sp>
        <p:nvSpPr>
          <p:cNvPr id="52" name="TextBox 51"/>
          <p:cNvSpPr txBox="1"/>
          <p:nvPr/>
        </p:nvSpPr>
        <p:spPr>
          <a:xfrm>
            <a:off x="2822387" y="458114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Competitive</a:t>
            </a:r>
          </a:p>
        </p:txBody>
      </p:sp>
      <p:sp>
        <p:nvSpPr>
          <p:cNvPr id="53" name="TextBox 52"/>
          <p:cNvSpPr txBox="1"/>
          <p:nvPr/>
        </p:nvSpPr>
        <p:spPr>
          <a:xfrm>
            <a:off x="5041270" y="458114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54" name="TextBox 53"/>
          <p:cNvSpPr txBox="1"/>
          <p:nvPr/>
        </p:nvSpPr>
        <p:spPr>
          <a:xfrm>
            <a:off x="7260153" y="458114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Uncontrolled — Clearwater has ca…</a:t>
            </a:r>
          </a:p>
        </p:txBody>
      </p:sp>
      <p:sp>
        <p:nvSpPr>
          <p:cNvPr id="55" name="TextBox 54"/>
          <p:cNvSpPr txBox="1"/>
          <p:nvPr/>
        </p:nvSpPr>
        <p:spPr>
          <a:xfrm>
            <a:off x="9479036" y="458114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 if Clearwater clos…</a:t>
            </a:r>
          </a:p>
        </p:txBody>
      </p:sp>
      <p:sp>
        <p:nvSpPr>
          <p:cNvPr id="56" name="Rectangle 55"/>
          <p:cNvSpPr/>
          <p:nvPr/>
        </p:nvSpPr>
        <p:spPr>
          <a:xfrm>
            <a:off x="548640" y="5010912"/>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3504" y="505663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Tier 1 bank customers (32% of ba…</a:t>
            </a:r>
          </a:p>
        </p:txBody>
      </p:sp>
      <p:sp>
        <p:nvSpPr>
          <p:cNvPr id="58" name="TextBox 57"/>
          <p:cNvSpPr txBox="1"/>
          <p:nvPr/>
        </p:nvSpPr>
        <p:spPr>
          <a:xfrm>
            <a:off x="2822387" y="505663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Customer</a:t>
            </a:r>
          </a:p>
        </p:txBody>
      </p:sp>
      <p:sp>
        <p:nvSpPr>
          <p:cNvPr id="59" name="TextBox 58"/>
          <p:cNvSpPr txBox="1"/>
          <p:nvPr/>
        </p:nvSpPr>
        <p:spPr>
          <a:xfrm>
            <a:off x="5041270" y="505663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60" name="TextBox 59"/>
          <p:cNvSpPr txBox="1"/>
          <p:nvPr/>
        </p:nvSpPr>
        <p:spPr>
          <a:xfrm>
            <a:off x="7260153" y="505663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Partially supported — NRR 104% i…</a:t>
            </a:r>
          </a:p>
        </p:txBody>
      </p:sp>
      <p:sp>
        <p:nvSpPr>
          <p:cNvPr id="61" name="TextBox 60"/>
          <p:cNvSpPr txBox="1"/>
          <p:nvPr/>
        </p:nvSpPr>
        <p:spPr>
          <a:xfrm>
            <a:off x="9479036" y="505663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confirmation bias risk;…</a:t>
            </a:r>
          </a:p>
        </p:txBody>
      </p:sp>
      <p:sp>
        <p:nvSpPr>
          <p:cNvPr id="62" name="Rectangle 61"/>
          <p:cNvSpPr/>
          <p:nvPr/>
        </p:nvSpPr>
        <p:spPr>
          <a:xfrm>
            <a:off x="548640" y="5486400"/>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4" y="553212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Reducing burn to profitability i…</a:t>
            </a:r>
          </a:p>
        </p:txBody>
      </p:sp>
      <p:sp>
        <p:nvSpPr>
          <p:cNvPr id="64" name="TextBox 63"/>
          <p:cNvSpPr txBox="1"/>
          <p:nvPr/>
        </p:nvSpPr>
        <p:spPr>
          <a:xfrm>
            <a:off x="2822387" y="553212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Financial</a:t>
            </a:r>
          </a:p>
        </p:txBody>
      </p:sp>
      <p:sp>
        <p:nvSpPr>
          <p:cNvPr id="65" name="TextBox 64"/>
          <p:cNvSpPr txBox="1"/>
          <p:nvPr/>
        </p:nvSpPr>
        <p:spPr>
          <a:xfrm>
            <a:off x="5041270" y="553212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a:t>
            </a:r>
          </a:p>
        </p:txBody>
      </p:sp>
      <p:sp>
        <p:nvSpPr>
          <p:cNvPr id="66" name="TextBox 65"/>
          <p:cNvSpPr txBox="1"/>
          <p:nvPr/>
        </p:nvSpPr>
        <p:spPr>
          <a:xfrm>
            <a:off x="7260153" y="553212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Uncertain — $2.1M/mo burn at 74%…</a:t>
            </a:r>
          </a:p>
        </p:txBody>
      </p:sp>
      <p:sp>
        <p:nvSpPr>
          <p:cNvPr id="67" name="TextBox 66"/>
          <p:cNvSpPr txBox="1"/>
          <p:nvPr/>
        </p:nvSpPr>
        <p:spPr>
          <a:xfrm>
            <a:off x="9479036" y="553212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 cutting to profita…</a:t>
            </a:r>
          </a:p>
        </p:txBody>
      </p:sp>
      <p:sp>
        <p:nvSpPr>
          <p:cNvPr id="68" name="TextBox 6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69" name="TextBox 6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Load-Bearing Assumptions</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658368" y="1298448"/>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1.  **The LLM interface will provide a credible differentiation narrative versus Clearwater** — this is the central b…</a:t>
            </a:r>
          </a:p>
        </p:txBody>
      </p:sp>
      <p:sp>
        <p:nvSpPr>
          <p:cNvPr id="9" name="TextBox 8"/>
          <p:cNvSpPr txBox="1"/>
          <p:nvPr/>
        </p:nvSpPr>
        <p:spPr>
          <a:xfrm>
            <a:off x="658368" y="1719072"/>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1.  **T+1 processing is not the primary win rate driver** — if investigation reveals that 60%+ of competitive losses …</a:t>
            </a:r>
          </a:p>
        </p:txBody>
      </p:sp>
      <p:sp>
        <p:nvSpPr>
          <p:cNvPr id="10" name="TextBox 9"/>
          <p:cNvSpPr txBox="1"/>
          <p:nvPr/>
        </p:nvSpPr>
        <p:spPr>
          <a:xfrm>
            <a:off x="658368" y="2139696"/>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1.  **18 months is enough time to generate measurable LLM-driven ARR and demonstrate trajectory to the board** — if l…</a:t>
            </a:r>
          </a:p>
        </p:txBody>
      </p:sp>
      <p:sp>
        <p:nvSpPr>
          <p:cNvPr id="11" name="TextBox 1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Test Plan</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Assumption</a:t>
            </a:r>
          </a:p>
        </p:txBody>
      </p:sp>
      <p:sp>
        <p:nvSpPr>
          <p:cNvPr id="10" name="TextBox 9"/>
          <p:cNvSpPr txBox="1"/>
          <p:nvPr/>
        </p:nvSpPr>
        <p:spPr>
          <a:xfrm>
            <a:off x="2822387"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Test</a:t>
            </a:r>
          </a:p>
        </p:txBody>
      </p:sp>
      <p:sp>
        <p:nvSpPr>
          <p:cNvPr id="11" name="TextBox 10"/>
          <p:cNvSpPr txBox="1"/>
          <p:nvPr/>
        </p:nvSpPr>
        <p:spPr>
          <a:xfrm>
            <a:off x="5041270"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Data Needed</a:t>
            </a:r>
          </a:p>
        </p:txBody>
      </p:sp>
      <p:sp>
        <p:nvSpPr>
          <p:cNvPr id="12" name="TextBox 11"/>
          <p:cNvSpPr txBox="1"/>
          <p:nvPr/>
        </p:nvSpPr>
        <p:spPr>
          <a:xfrm>
            <a:off x="7260153"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Owner</a:t>
            </a:r>
          </a:p>
        </p:txBody>
      </p:sp>
      <p:sp>
        <p:nvSpPr>
          <p:cNvPr id="13" name="TextBox 12"/>
          <p:cNvSpPr txBox="1"/>
          <p:nvPr/>
        </p:nvSpPr>
        <p:spPr>
          <a:xfrm>
            <a:off x="9479036"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Decision Trigger</a:t>
            </a:r>
          </a:p>
        </p:txBody>
      </p:sp>
      <p:sp>
        <p:nvSpPr>
          <p:cNvPr id="14" name="Rectangle 13"/>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LLM interface drives win rate im…</a:t>
            </a:r>
          </a:p>
        </p:txBody>
      </p:sp>
      <p:sp>
        <p:nvSpPr>
          <p:cNvPr id="16" name="TextBox 15"/>
          <p:cNvSpPr txBox="1"/>
          <p:nvPr/>
        </p:nvSpPr>
        <p:spPr>
          <a:xfrm>
            <a:off x="2822387"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Run 10 LLM-interface-led pilot d…</a:t>
            </a:r>
          </a:p>
        </p:txBody>
      </p:sp>
      <p:sp>
        <p:nvSpPr>
          <p:cNvPr id="17" name="TextBox 16"/>
          <p:cNvSpPr txBox="1"/>
          <p:nvPr/>
        </p:nvSpPr>
        <p:spPr>
          <a:xfrm>
            <a:off x="5041270"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Win/loss data segmented by prese…</a:t>
            </a:r>
          </a:p>
        </p:txBody>
      </p:sp>
      <p:sp>
        <p:nvSpPr>
          <p:cNvPr id="18" name="TextBox 17"/>
          <p:cNvSpPr txBox="1"/>
          <p:nvPr/>
        </p:nvSpPr>
        <p:spPr>
          <a:xfrm>
            <a:off x="7260153"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VP Sales + Product</a:t>
            </a:r>
          </a:p>
        </p:txBody>
      </p:sp>
      <p:sp>
        <p:nvSpPr>
          <p:cNvPr id="19" name="TextBox 18"/>
          <p:cNvSpPr txBox="1"/>
          <p:nvPr/>
        </p:nvSpPr>
        <p:spPr>
          <a:xfrm>
            <a:off x="9479036"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If LLM-enabled win rate exceeds …</a:t>
            </a:r>
          </a:p>
        </p:txBody>
      </p:sp>
      <p:sp>
        <p:nvSpPr>
          <p:cNvPr id="20" name="Rectangle 19"/>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T+1 is not the primary loss driver</a:t>
            </a:r>
          </a:p>
        </p:txBody>
      </p:sp>
      <p:sp>
        <p:nvSpPr>
          <p:cNvPr id="22" name="TextBox 21"/>
          <p:cNvSpPr txBox="1"/>
          <p:nvPr/>
        </p:nvSpPr>
        <p:spPr>
          <a:xfrm>
            <a:off x="2822387"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Structured win/loss interviews: …</a:t>
            </a:r>
          </a:p>
        </p:txBody>
      </p:sp>
      <p:sp>
        <p:nvSpPr>
          <p:cNvPr id="23" name="TextBox 22"/>
          <p:cNvSpPr txBox="1"/>
          <p:nvPr/>
        </p:nvSpPr>
        <p:spPr>
          <a:xfrm>
            <a:off x="5041270"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Exit interview data, CRM deal cl…</a:t>
            </a:r>
          </a:p>
        </p:txBody>
      </p:sp>
      <p:sp>
        <p:nvSpPr>
          <p:cNvPr id="24" name="TextBox 23"/>
          <p:cNvSpPr txBox="1"/>
          <p:nvPr/>
        </p:nvSpPr>
        <p:spPr>
          <a:xfrm>
            <a:off x="7260153"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Sales Ops + CEO</a:t>
            </a:r>
          </a:p>
        </p:txBody>
      </p:sp>
      <p:sp>
        <p:nvSpPr>
          <p:cNvPr id="25" name="TextBox 24"/>
          <p:cNvSpPr txBox="1"/>
          <p:nvPr/>
        </p:nvSpPr>
        <p:spPr>
          <a:xfrm>
            <a:off x="9479036"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If &gt;50% of losses cite real-time…</a:t>
            </a:r>
          </a:p>
        </p:txBody>
      </p:sp>
      <p:sp>
        <p:nvSpPr>
          <p:cNvPr id="26" name="Rectangle 25"/>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Regional bank base is defensible</a:t>
            </a:r>
          </a:p>
        </p:txBody>
      </p:sp>
      <p:sp>
        <p:nvSpPr>
          <p:cNvPr id="28" name="TextBox 27"/>
          <p:cNvSpPr txBox="1"/>
          <p:nvPr/>
        </p:nvSpPr>
        <p:spPr>
          <a:xfrm>
            <a:off x="2822387"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Cohort churn model: separate chu…</a:t>
            </a:r>
          </a:p>
        </p:txBody>
      </p:sp>
      <p:sp>
        <p:nvSpPr>
          <p:cNvPr id="29" name="TextBox 28"/>
          <p:cNvSpPr txBox="1"/>
          <p:nvPr/>
        </p:nvSpPr>
        <p:spPr>
          <a:xfrm>
            <a:off x="5041270"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Account-level ARR, churn date, s…</a:t>
            </a:r>
          </a:p>
        </p:txBody>
      </p:sp>
      <p:sp>
        <p:nvSpPr>
          <p:cNvPr id="30" name="TextBox 29"/>
          <p:cNvSpPr txBox="1"/>
          <p:nvPr/>
        </p:nvSpPr>
        <p:spPr>
          <a:xfrm>
            <a:off x="7260153"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Customer Success</a:t>
            </a:r>
          </a:p>
        </p:txBody>
      </p:sp>
      <p:sp>
        <p:nvSpPr>
          <p:cNvPr id="31" name="TextBox 30"/>
          <p:cNvSpPr txBox="1"/>
          <p:nvPr/>
        </p:nvSpPr>
        <p:spPr>
          <a:xfrm>
            <a:off x="9479036"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If churn rate in $150–$350K coho…</a:t>
            </a:r>
          </a:p>
        </p:txBody>
      </p:sp>
      <p:sp>
        <p:nvSpPr>
          <p:cNvPr id="32" name="Rectangle 31"/>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Strategic sale is achievable at …</a:t>
            </a:r>
          </a:p>
        </p:txBody>
      </p:sp>
      <p:sp>
        <p:nvSpPr>
          <p:cNvPr id="34" name="TextBox 33"/>
          <p:cNvSpPr txBox="1"/>
          <p:nvPr/>
        </p:nvSpPr>
        <p:spPr>
          <a:xfrm>
            <a:off x="2822387"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Soft-circuit board advisors and …</a:t>
            </a:r>
          </a:p>
        </p:txBody>
      </p:sp>
      <p:sp>
        <p:nvSpPr>
          <p:cNvPr id="35" name="TextBox 34"/>
          <p:cNvSpPr txBox="1"/>
          <p:nvPr/>
        </p:nvSpPr>
        <p:spPr>
          <a:xfrm>
            <a:off x="5041270"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Inbound M&amp;A interest, comparable…</a:t>
            </a:r>
          </a:p>
        </p:txBody>
      </p:sp>
      <p:sp>
        <p:nvSpPr>
          <p:cNvPr id="36" name="TextBox 35"/>
          <p:cNvSpPr txBox="1"/>
          <p:nvPr/>
        </p:nvSpPr>
        <p:spPr>
          <a:xfrm>
            <a:off x="7260153"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CEO + Board</a:t>
            </a:r>
          </a:p>
        </p:txBody>
      </p:sp>
      <p:sp>
        <p:nvSpPr>
          <p:cNvPr id="37" name="TextBox 36"/>
          <p:cNvSpPr txBox="1"/>
          <p:nvPr/>
        </p:nvSpPr>
        <p:spPr>
          <a:xfrm>
            <a:off x="9479036"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If no credible acquirer interest…</a:t>
            </a:r>
          </a:p>
        </p:txBody>
      </p:sp>
      <p:sp>
        <p:nvSpPr>
          <p:cNvPr id="38" name="Rectangle 3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Engineering delivers LLM interfa…</a:t>
            </a:r>
          </a:p>
        </p:txBody>
      </p:sp>
      <p:sp>
        <p:nvSpPr>
          <p:cNvPr id="40" name="TextBox 39"/>
          <p:cNvSpPr txBox="1"/>
          <p:nvPr/>
        </p:nvSpPr>
        <p:spPr>
          <a:xfrm>
            <a:off x="2822387"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Monthly milestone review against…</a:t>
            </a:r>
          </a:p>
        </p:txBody>
      </p:sp>
      <p:sp>
        <p:nvSpPr>
          <p:cNvPr id="41" name="TextBox 40"/>
          <p:cNvSpPr txBox="1"/>
          <p:nvPr/>
        </p:nvSpPr>
        <p:spPr>
          <a:xfrm>
            <a:off x="5041270"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Engineering sprint velocity, sco…</a:t>
            </a:r>
          </a:p>
        </p:txBody>
      </p:sp>
      <p:sp>
        <p:nvSpPr>
          <p:cNvPr id="42" name="TextBox 41"/>
          <p:cNvSpPr txBox="1"/>
          <p:nvPr/>
        </p:nvSpPr>
        <p:spPr>
          <a:xfrm>
            <a:off x="7260153"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CTO</a:t>
            </a:r>
          </a:p>
        </p:txBody>
      </p:sp>
      <p:sp>
        <p:nvSpPr>
          <p:cNvPr id="43" name="TextBox 42"/>
          <p:cNvSpPr txBox="1"/>
          <p:nvPr/>
        </p:nvSpPr>
        <p:spPr>
          <a:xfrm>
            <a:off x="9479036"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If launch slips past Month 7, tr…</a:t>
            </a:r>
          </a:p>
        </p:txBody>
      </p:sp>
      <p:sp>
        <p:nvSpPr>
          <p:cNvPr id="44" name="TextBox 4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45" name="TextBox 4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Recommendation</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548640" y="1298448"/>
            <a:ext cx="11094415" cy="279806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Test first, then proceed with conditional investment. The LLM interface bet is directionally correct — regulatory compliance depth + conversational UX is a defensible differentiation lane — but two critical unknowns must be resolved before the board review: (1) the primary reason for win rate collapse (real-time vs. AI breadth vs. other), and (2) whether the LLM interface produces measurable win rate lift in beta deals. Conduct structured win/loss analysis within 30 days (the data already exists in CRM). If real-time is the binding constraint, bring the replatforming decision to the board immediately with a clear build-buy-partner options analysis. If AI breadth / UX is the constraint, proceed with full LLM launch investment and use the launch as the M&amp;A narrative anchor.</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