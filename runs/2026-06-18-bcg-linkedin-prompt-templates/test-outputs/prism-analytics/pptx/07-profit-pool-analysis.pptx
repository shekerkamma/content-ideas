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Profit Pool Analysis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Financial Analytics and Risk Intelligence SaaS market for North American banks, insurers, and asset managers. Value chain analyzed: raw financial data provision → platform software → regulatory compliance interpretation and reporting → analytics and risk intelligence → AI-augmented workflow automation. Prism's current position: platform software + regulatory compliance reporting. Products in scope: Basel III/IV compliance automation, CECL provisioning engines, IFRS 9 credit risk analytics, portfolio risk dashboards, and the forthcoming LLM natural language interface. Customer segments in scope: Tier 1 banks, regional banks, insurance, wealth management. Time horizon: FY2025 actuals + FY2026–2027 projection.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Profit Pool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compliance reporting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~$550M North America 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70–78% gross margin for scaled 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~$385M gross profit at pool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10–12% CAGR — non-discretionary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captive spend, multi…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Real-time portfolio risk analyti…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~$380M North America 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60–72% gross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~$250M gross profit at pool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20–25% CAGR — driven by AI-nativ…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but contested — Clearwater 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Financial data and terminal serv…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~$3.5B North America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45–55% operating margin at termi…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~$1.75B operating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5–7% CAGR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absolute profit but structu…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AI-augmented financial intellige…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~$80M North America today; ~$350…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Unclear — early market; Clearwat…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Unknown; likely negative near-te…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40–50% CAGR — fastest-growing su…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optionality — Prism's LLM i…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risk analytics (IFRS 1…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~$220M North America + Europe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72–80% gross margin for purpose-…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~$160M gross profit at pool level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16–20% CAGR — driven by IFRS 17 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and underserved — Prism has…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Legacy regulatory reporting (SS&amp;…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~$250M installed 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35–50% operating margin (aging c…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~$100M operating profit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-3 to -5% CAGR — active displace…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— structurally declining; do…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Value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Player or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Value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Bloomberg Terminal (data + analy…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~40–45% of total market value ca…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Unmatched real-time data moat; d…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Analytics (AI-native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~8–10% of market value captured,…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First-mover advantage in AI-nati…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SS&amp;C Axiom (legacy installed 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~12–15% of market value captured…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Incumbency in regional and commu…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~7–9% of total market value capt…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compliance depth in p…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Moody's Analytics (credit risk m…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~6–8% of market value captured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Credit risk brand and proprietar…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Implementation and managed servi…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1642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~10–12% of market value captured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9780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Integration complexity (core ban…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**Where to play — double down on regulatory compliance SaaS, the highest-margin and most defensible pool**: The B…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**Where to avoid — do not attempt to compete in real-time portfolio risk analytics without a credible architectur…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**How to improve capture — the LLM interface is a value capture mechanism, not just a product feature**: The AI-a…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