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5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38328"/>
            <a:ext cx="142646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BCG-STYLE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996B"/>
                </a:solidFill>
                <a:latin typeface="Calibri"/>
              </a:rPr>
              <a:t>02 / MARKET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9601200" cy="2560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Customer Segmentation — 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27432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CCEEE4"/>
                </a:solidFill>
                <a:latin typeface="Calibri"/>
              </a:rPr>
              <a:t>Apex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Powered by The Consultant's Guide to Claude · 21 BCG-Style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Segmentation Objective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22860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94415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CCEEE4"/>
                </a:solidFill>
                <a:latin typeface="Calibri"/>
              </a:rPr>
              <a:t>Support ICP focus decision: which segment gets the full payroll+HR investment vs. maintained vs. deprioritized.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65615" y="256032"/>
            <a:ext cx="2377440" cy="347472"/>
          </a:xfrm>
          <a:prstGeom prst="roundRect">
            <a:avLst>
              <a:gd name="adj" fmla="val 4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57055" y="274320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1824"/>
                </a:solidFill>
                <a:latin typeface="Calibri"/>
              </a:rPr>
              <a:t>Apex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Segment Definitions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Segment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2387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Defining Traits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1270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Needs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0153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Economics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79036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Behavior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Growth-Stage Scaler (150–300 emp…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22387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VC-backed, headcount growing 20%…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1270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Payroll + HR + compliance bundle…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0153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ACV $14–22K; NRR 108%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79036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Champion = HR Director; renewal 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Stable Mid-Market (300–500 emplo…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22387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Established, slower growth, comp…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1270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Deep HCM, integrations, reporting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0153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ACV $22–35K; NRR 103%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79036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Champion = CHRO; long cycles; hi…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Transitional SMB (50–150 employees)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22387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Growing out of spreadsheets, fir…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1270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Core HR, onboarding, PTO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0153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ACV $6–10K; NRR 98%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79036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Self-serve; price-sensitive; chu…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APAC Mid-Market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22387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100–500 employees, ANZ/Singapore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1270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Compliance-first HR; multi-curre…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0153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ACV unknown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79036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Compliance-led buying; local par…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Segment Prioritization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Segment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2573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1642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0711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Profitability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9780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48849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Priority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Growth-Stage Scaler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2573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$450M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1642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0711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Very 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9780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48849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#1 — Invest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Stable Mid-Market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2573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$650M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01642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0711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9780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48849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#2 — Build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Transitional SMB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52573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$300M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01642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50711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99780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48849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#3 — Harvest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APAC Mid-Market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52573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$450M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01642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Very High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50711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Unknown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99780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Low today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48849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#4 — Explore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Strategic Implications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Lead GTM with Growth-Stage Scaler (150–300). Build payroll for them first. Lock Stable Mid-Market with HR depth. Stop acquiring Transitional SMB below cost — that segment churns at scale inflection.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