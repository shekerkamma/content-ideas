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18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09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320040"/>
            <a:ext cx="1463040" cy="347472"/>
          </a:xfrm>
          <a:prstGeom prst="roundRect">
            <a:avLst>
              <a:gd name="adj" fmla="val 5000"/>
            </a:avLst>
          </a:prstGeom>
          <a:solidFill>
            <a:srgbClr val="009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338328"/>
            <a:ext cx="1426464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BCG-STYLE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04672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0996B"/>
                </a:solidFill>
                <a:latin typeface="Calibri"/>
              </a:rPr>
              <a:t>01 / DIAGNOSIS &amp; FRAMING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80160"/>
            <a:ext cx="9601200" cy="2560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4200" b="1" i="0">
                <a:solidFill>
                  <a:srgbClr val="FFFFFF"/>
                </a:solidFill>
                <a:latin typeface="Calibri"/>
              </a:rPr>
              <a:t>Growth Barrier Diagnosis — Apex HR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4023360"/>
            <a:ext cx="2743200" cy="54864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4251960"/>
            <a:ext cx="7315200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800" b="0" i="0">
                <a:solidFill>
                  <a:srgbClr val="CCEEE4"/>
                </a:solidFill>
                <a:latin typeface="Calibri"/>
              </a:rPr>
              <a:t>Apex HR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709160"/>
            <a:ext cx="7315200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>
                <a:solidFill>
                  <a:srgbClr val="5B6B7C"/>
                </a:solidFill>
                <a:latin typeface="Calibri"/>
              </a:rPr>
              <a:t>2026-06-18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21792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0" i="0">
                <a:solidFill>
                  <a:srgbClr val="5B6B7C"/>
                </a:solidFill>
                <a:latin typeface="Calibri"/>
              </a:rPr>
              <a:t>Powered by The Consultant's Guide to Claude · 21 BCG-Style Skills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18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9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94415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996B"/>
                </a:solidFill>
                <a:latin typeface="Calibri"/>
              </a:rPr>
              <a:t>EXECUTIVE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49808"/>
            <a:ext cx="11094415" cy="7132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FFFFFF"/>
                </a:solidFill>
                <a:latin typeface="Calibri"/>
              </a:rPr>
              <a:t>Growth Gap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572768"/>
            <a:ext cx="2286000" cy="54864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783080"/>
            <a:ext cx="11094415" cy="20116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>
                <a:solidFill>
                  <a:srgbClr val="CCEEE4"/>
                </a:solidFill>
                <a:latin typeface="Calibri"/>
              </a:rPr>
              <a:t>Target: 25%+ ARR growth to remain competitive. Current: 12% YoY ($42M ARR). Gap: ~$5.5M in revenue shortfall vs. peer benchmark trajectory.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265615" y="256032"/>
            <a:ext cx="2377440" cy="347472"/>
          </a:xfrm>
          <a:prstGeom prst="roundRect">
            <a:avLst>
              <a:gd name="adj" fmla="val 4000"/>
            </a:avLst>
          </a:prstGeom>
          <a:solidFill>
            <a:srgbClr val="009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57055" y="274320"/>
            <a:ext cx="2194560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001824"/>
                </a:solidFill>
                <a:latin typeface="Calibri"/>
              </a:rPr>
              <a:t>Apex HR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889098"/>
                </a:solidFill>
                <a:latin typeface="Calibri"/>
              </a:rPr>
              <a:t>BCG Consulting Framework · Apex HR · 2026-06-18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889098"/>
                </a:solidFill>
                <a:latin typeface="Calibri"/>
              </a:rPr>
              <a:t>2 / 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9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11094415" cy="6583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600" b="1" i="0">
                <a:solidFill>
                  <a:srgbClr val="001824"/>
                </a:solidFill>
                <a:latin typeface="Calibri"/>
              </a:rPr>
              <a:t>Driver Tree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78992"/>
            <a:ext cx="1280160" cy="45720"/>
          </a:xfrm>
          <a:prstGeom prst="rect">
            <a:avLst/>
          </a:prstGeom>
          <a:solidFill>
            <a:srgbClr val="009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631375" y="256032"/>
            <a:ext cx="2011680" cy="347472"/>
          </a:xfrm>
          <a:prstGeom prst="roundRect">
            <a:avLst>
              <a:gd name="adj" fmla="val 4000"/>
            </a:avLst>
          </a:prstGeom>
          <a:solidFill>
            <a:srgbClr val="0018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04527" y="274320"/>
            <a:ext cx="1865376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00996B"/>
                </a:solidFill>
                <a:latin typeface="Calibri"/>
              </a:rPr>
              <a:t>Apex HR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298448"/>
            <a:ext cx="11094415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>
                <a:solidFill>
                  <a:srgbClr val="1B2B3C"/>
                </a:solidFill>
                <a:latin typeface="Calibri"/>
              </a:rPr>
              <a:t>ARR Growth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682496"/>
            <a:ext cx="11094415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>
                <a:solidFill>
                  <a:srgbClr val="1B2B3C"/>
                </a:solidFill>
                <a:latin typeface="Calibri"/>
              </a:rPr>
              <a:t>├── New Logo Revenue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066544"/>
            <a:ext cx="11094415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>
                <a:solidFill>
                  <a:srgbClr val="1B2B3C"/>
                </a:solidFill>
                <a:latin typeface="Calibri"/>
              </a:rPr>
              <a:t>│   ├── Pipeline Volume (MQL → SQL)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450592"/>
            <a:ext cx="11094415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>
                <a:solidFill>
                  <a:srgbClr val="1B2B3C"/>
                </a:solidFill>
                <a:latin typeface="Calibri"/>
              </a:rPr>
              <a:t>│   ├── Win Rate (SQL → Close)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834640"/>
            <a:ext cx="11094415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>
                <a:solidFill>
                  <a:srgbClr val="1B2B3C"/>
                </a:solidFill>
                <a:latin typeface="Calibri"/>
              </a:rPr>
              <a:t>│   └── ACV (deal size)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218688"/>
            <a:ext cx="11094415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>
                <a:solidFill>
                  <a:srgbClr val="1B2B3C"/>
                </a:solidFill>
                <a:latin typeface="Calibri"/>
              </a:rPr>
              <a:t>└── Expansion Revenue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602736"/>
            <a:ext cx="11094415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>
                <a:solidFill>
                  <a:srgbClr val="1B2B3C"/>
                </a:solidFill>
                <a:latin typeface="Calibri"/>
              </a:rPr>
              <a:t>├── Upsell (module add-ons)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986784"/>
            <a:ext cx="11094415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>
                <a:solidFill>
                  <a:srgbClr val="1B2B3C"/>
                </a:solidFill>
                <a:latin typeface="Calibri"/>
              </a:rPr>
              <a:t>└── Seat Growth (usage expansion)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BCG Consulting Framework · Apex HR · 2026-06-18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3 / 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9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11094415" cy="6583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600" b="1" i="0">
                <a:solidFill>
                  <a:srgbClr val="001824"/>
                </a:solidFill>
                <a:latin typeface="Calibri"/>
              </a:rPr>
              <a:t>Barrier Assessment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78992"/>
            <a:ext cx="1280160" cy="45720"/>
          </a:xfrm>
          <a:prstGeom prst="rect">
            <a:avLst/>
          </a:prstGeom>
          <a:solidFill>
            <a:srgbClr val="009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631375" y="256032"/>
            <a:ext cx="2011680" cy="347472"/>
          </a:xfrm>
          <a:prstGeom prst="roundRect">
            <a:avLst>
              <a:gd name="adj" fmla="val 4000"/>
            </a:avLst>
          </a:prstGeom>
          <a:solidFill>
            <a:srgbClr val="0018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04527" y="274320"/>
            <a:ext cx="1865376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00996B"/>
                </a:solidFill>
                <a:latin typeface="Calibri"/>
              </a:rPr>
              <a:t>Apex HR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298448"/>
            <a:ext cx="11094415" cy="384048"/>
          </a:xfrm>
          <a:prstGeom prst="rect">
            <a:avLst/>
          </a:prstGeom>
          <a:solidFill>
            <a:srgbClr val="0018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3504" y="1344168"/>
            <a:ext cx="2127443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Driver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22387" y="1344168"/>
            <a:ext cx="2127443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Evidence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41270" y="1344168"/>
            <a:ext cx="2127443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Impact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60153" y="1344168"/>
            <a:ext cx="2127443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Confidence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79036" y="1344168"/>
            <a:ext cx="2127443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Root Cause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1682496"/>
            <a:ext cx="11094415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3504" y="1728216"/>
            <a:ext cx="212744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Win Rate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22387" y="1728216"/>
            <a:ext cx="212744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Declining vs Rippling/Deel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41270" y="1728216"/>
            <a:ext cx="212744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007755"/>
                </a:solidFill>
                <a:latin typeface="Calibri"/>
              </a:rPr>
              <a:t>High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60153" y="1728216"/>
            <a:ext cx="212744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Medium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79036" y="1728216"/>
            <a:ext cx="212744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Payroll gap disqualifies Apex in…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2157984"/>
            <a:ext cx="11094415" cy="475488"/>
          </a:xfrm>
          <a:prstGeom prst="rect">
            <a:avLst/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3504" y="2203704"/>
            <a:ext cx="212744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Pipeline Volume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822387" y="2203704"/>
            <a:ext cx="212744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Likely constrained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41270" y="2203704"/>
            <a:ext cx="212744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Medium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60153" y="2203704"/>
            <a:ext cx="212744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E05A6B"/>
                </a:solidFill>
                <a:latin typeface="Calibri"/>
              </a:rPr>
              <a:t>Low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79036" y="2203704"/>
            <a:ext cx="212744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ICP ceiling; saturation of 100–2…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2633472"/>
            <a:ext cx="11094415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03504" y="2679192"/>
            <a:ext cx="212744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ACV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822387" y="2679192"/>
            <a:ext cx="212744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No evidence of growth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41270" y="2679192"/>
            <a:ext cx="212744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Medium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60153" y="2679192"/>
            <a:ext cx="212744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E05A6B"/>
                </a:solidFill>
                <a:latin typeface="Calibri"/>
              </a:rPr>
              <a:t>Low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79036" y="2679192"/>
            <a:ext cx="212744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No Payroll module = no upsell pa…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3108960"/>
            <a:ext cx="11094415" cy="475488"/>
          </a:xfrm>
          <a:prstGeom prst="rect">
            <a:avLst/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03504" y="3154680"/>
            <a:ext cx="212744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Seat Expansion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822387" y="3154680"/>
            <a:ext cx="212744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NRR 101% — minimal expansion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41270" y="3154680"/>
            <a:ext cx="212744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E05A6B"/>
                </a:solidFill>
                <a:latin typeface="Calibri"/>
              </a:rPr>
              <a:t>Low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60153" y="3154680"/>
            <a:ext cx="212744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007755"/>
                </a:solidFill>
                <a:latin typeface="Calibri"/>
              </a:rPr>
              <a:t>High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479036" y="3154680"/>
            <a:ext cx="212744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Customers not growing headcount …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48640" y="3584448"/>
            <a:ext cx="11094415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03504" y="3630168"/>
            <a:ext cx="212744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Upsell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822387" y="3630168"/>
            <a:ext cx="212744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Weak (implied by NRR)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041270" y="3630168"/>
            <a:ext cx="212744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007755"/>
                </a:solidFill>
                <a:latin typeface="Calibri"/>
              </a:rPr>
              <a:t>High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260153" y="3630168"/>
            <a:ext cx="212744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Medium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479036" y="3630168"/>
            <a:ext cx="212744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007755"/>
                </a:solidFill>
                <a:latin typeface="Calibri"/>
              </a:rPr>
              <a:t>Module set too thin; no high-val…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BCG Consulting Framework · Apex HR · 2026-06-18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4 / 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9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11094415" cy="6583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600" b="1" i="0">
                <a:solidFill>
                  <a:srgbClr val="001824"/>
                </a:solidFill>
                <a:latin typeface="Calibri"/>
              </a:rPr>
              <a:t>Binding Constraint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78992"/>
            <a:ext cx="1280160" cy="45720"/>
          </a:xfrm>
          <a:prstGeom prst="rect">
            <a:avLst/>
          </a:prstGeom>
          <a:solidFill>
            <a:srgbClr val="009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631375" y="256032"/>
            <a:ext cx="2011680" cy="347472"/>
          </a:xfrm>
          <a:prstGeom prst="roundRect">
            <a:avLst>
              <a:gd name="adj" fmla="val 4000"/>
            </a:avLst>
          </a:prstGeom>
          <a:solidFill>
            <a:srgbClr val="0018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04527" y="274320"/>
            <a:ext cx="1865376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00996B"/>
                </a:solidFill>
                <a:latin typeface="Calibri"/>
              </a:rPr>
              <a:t>Apex HR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298448"/>
            <a:ext cx="11094415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>
                <a:solidFill>
                  <a:srgbClr val="1B2B3C"/>
                </a:solidFill>
                <a:latin typeface="Calibri"/>
              </a:rPr>
              <a:t>Product scope mismatch at the ICP growth curve. Apex wins at 50–150 employees. As prospects scale past 200 employees, Rippling and Deel bundle payroll + compliance — making Apex a partial solution. This triggers displacement in renewals AND loss of new logo deals above 200 employees. The binding constraint is product, not pipeline or GTM.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BCG Consulting Framework · Apex HR · 2026-06-18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5 / 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9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11094415" cy="6583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600" b="1" i="0">
                <a:solidFill>
                  <a:srgbClr val="001824"/>
                </a:solidFill>
                <a:latin typeface="Calibri"/>
              </a:rPr>
              <a:t>Recommended Actions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78992"/>
            <a:ext cx="1280160" cy="45720"/>
          </a:xfrm>
          <a:prstGeom prst="rect">
            <a:avLst/>
          </a:prstGeom>
          <a:solidFill>
            <a:srgbClr val="009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631375" y="256032"/>
            <a:ext cx="2011680" cy="347472"/>
          </a:xfrm>
          <a:prstGeom prst="roundRect">
            <a:avLst>
              <a:gd name="adj" fmla="val 4000"/>
            </a:avLst>
          </a:prstGeom>
          <a:solidFill>
            <a:srgbClr val="0018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04527" y="274320"/>
            <a:ext cx="1865376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00996B"/>
                </a:solidFill>
                <a:latin typeface="Calibri"/>
              </a:rPr>
              <a:t>Apex HR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298448"/>
            <a:ext cx="10984687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1B2B3C"/>
                </a:solidFill>
                <a:latin typeface="Calibri"/>
              </a:rPr>
              <a:t>1.  Build or buy a payroll module within 12 months — this IS the binding constraint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645920"/>
            <a:ext cx="10984687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1B2B3C"/>
                </a:solidFill>
                <a:latin typeface="Calibri"/>
              </a:rPr>
              <a:t>2.  Segment pipeline by employee count to quantify exact revenue at risk above 200 employees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1993392"/>
            <a:ext cx="10984687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1B2B3C"/>
                </a:solidFill>
                <a:latin typeface="Calibri"/>
              </a:rPr>
              <a:t>3.  Launch compliance add-on or analytics tier to create expansion revenue while payroll is in development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BCG Consulting Framework · Apex HR · 2026-06-18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6 / 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