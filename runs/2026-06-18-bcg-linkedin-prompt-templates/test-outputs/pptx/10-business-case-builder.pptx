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201168" cy="685800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457200" y="320040"/>
            <a:ext cx="1463040" cy="347472"/>
          </a:xfrm>
          <a:prstGeom prst="roundRect">
            <a:avLst>
              <a:gd name="adj" fmla="val 5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75488" y="338328"/>
            <a:ext cx="1426464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BCG-STYLE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04672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0996B"/>
                </a:solidFill>
                <a:latin typeface="Calibri"/>
              </a:rPr>
              <a:t>03 / STRATEGIC CHOICE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280160"/>
            <a:ext cx="9601200" cy="25603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200" b="1" i="0">
                <a:solidFill>
                  <a:srgbClr val="FFFFFF"/>
                </a:solidFill>
                <a:latin typeface="Calibri"/>
              </a:rPr>
              <a:t>Business Case — Apex HR Payroll Module (Partner Bridge)</a:t>
            </a:r>
          </a:p>
        </p:txBody>
      </p:sp>
      <p:sp>
        <p:nvSpPr>
          <p:cNvPr id="8" name="Rectangle 7"/>
          <p:cNvSpPr/>
          <p:nvPr/>
        </p:nvSpPr>
        <p:spPr>
          <a:xfrm>
            <a:off x="457200" y="4023360"/>
            <a:ext cx="27432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57200" y="4251960"/>
            <a:ext cx="73152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0" i="0">
                <a:solidFill>
                  <a:srgbClr val="CCEEE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4709160"/>
            <a:ext cx="731520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5B6B7C"/>
                </a:solidFill>
                <a:latin typeface="Calibri"/>
              </a:rPr>
              <a:t>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217920"/>
            <a:ext cx="91440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0">
                <a:solidFill>
                  <a:srgbClr val="5B6B7C"/>
                </a:solidFill>
                <a:latin typeface="Calibri"/>
              </a:rPr>
              <a:t>Powered by The Consultant's Guide to Claude · 21 BCG-Style Skills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20040"/>
            <a:ext cx="11094415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996B"/>
                </a:solidFill>
                <a:latin typeface="Calibri"/>
              </a:rPr>
              <a:t>EXECUTIVE SUMMARY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749808"/>
            <a:ext cx="11094415" cy="71323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Investment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1572768"/>
            <a:ext cx="2286000" cy="54864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1783080"/>
            <a:ext cx="11094415" cy="20116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CCEEE4"/>
                </a:solidFill>
                <a:latin typeface="Calibri"/>
              </a:rPr>
              <a:t>Partner integration (Check API): $800K Year 1 (engineering + BD + compliance review)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9265615" y="256032"/>
            <a:ext cx="2377440" cy="347472"/>
          </a:xfrm>
          <a:prstGeom prst="roundRect">
            <a:avLst>
              <a:gd name="adj" fmla="val 4000"/>
            </a:avLst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9357055" y="274320"/>
            <a:ext cx="219456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1824"/>
                </a:solidFill>
                <a:latin typeface="Calibri"/>
              </a:rPr>
              <a:t>Apex HR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2 / 6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Revenue / Cost Benefit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Year 1 (Partner live, Q4): Recover 40% of lost deals in 150–300 employee band → +$3.2M ARR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1682496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Year 2: Full mid-market payroll coverage → +$6.8M ARR incremental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2066544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Year 3: Native payroll + APAC pilot → +$11.2M ARR incremental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548640" y="2450592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Cumulative 3-year benefit: $21.2M ARR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3 / 6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Assumption Register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Assumption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01642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Evidence Strength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999780" y="1344168"/>
            <a:ext cx="3606698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Impact if Wrong</a:t>
            </a:r>
          </a:p>
        </p:txBody>
      </p:sp>
      <p:sp>
        <p:nvSpPr>
          <p:cNvPr id="12" name="Rectangle 11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03504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Payroll disqualifies &gt;50% of los…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301642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 (not yet validated)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7999780" y="1728216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007755"/>
                </a:solidFill>
                <a:latin typeface="Calibri"/>
              </a:rPr>
              <a:t>Investment ROI halved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03504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Partner integration takes 6–9 mo…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301642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(Check is a known API)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999780" y="2203704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Delayed revenue capture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03504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recovers 40% with payroll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301642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Medium (competitive signal)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999780" y="2679192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Revenue model overstated</a:t>
            </a:r>
          </a:p>
        </p:txBody>
      </p:sp>
      <p:sp>
        <p:nvSpPr>
          <p:cNvPr id="24" name="Rectangle 23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TextBox 24"/>
          <p:cNvSpPr txBox="1"/>
          <p:nvPr/>
        </p:nvSpPr>
        <p:spPr>
          <a:xfrm>
            <a:off x="603504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Existing customers upgrade to Pa…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301642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Weak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999780" y="3154680"/>
            <a:ext cx="3606698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NRR gain doesn't materialise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6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Sensitivity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Rectangle 7"/>
          <p:cNvSpPr/>
          <p:nvPr/>
        </p:nvSpPr>
        <p:spPr>
          <a:xfrm>
            <a:off x="548640" y="1298448"/>
            <a:ext cx="11094415" cy="384048"/>
          </a:xfrm>
          <a:prstGeom prst="rect">
            <a:avLst/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603504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Scenario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377107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Year 3 ARR Gain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50711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NPV (10% discount)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924315" y="1344168"/>
            <a:ext cx="2682163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FFFFFF"/>
                </a:solidFill>
                <a:latin typeface="Calibri"/>
              </a:rPr>
              <a:t>Payback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48640" y="1682496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03504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Base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377107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+$11.2M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6150711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$14.8M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924315" y="1728216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18 months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8640" y="2157984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603504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Conservative (30% win rate recov…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377107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+$7.1M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150711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$8.2M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924315" y="2203704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26 months</a:t>
            </a:r>
          </a:p>
        </p:txBody>
      </p:sp>
      <p:sp>
        <p:nvSpPr>
          <p:cNvPr id="23" name="Rectangle 22"/>
          <p:cNvSpPr/>
          <p:nvPr/>
        </p:nvSpPr>
        <p:spPr>
          <a:xfrm>
            <a:off x="548640" y="2633472"/>
            <a:ext cx="11094415" cy="475488"/>
          </a:xfrm>
          <a:prstGeom prst="rect">
            <a:avLst/>
          </a:prstGeom>
          <a:solidFill>
            <a:srgbClr val="FFFFFF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603504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Optimistic (60% win rate recovery)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3377107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+$15.6M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6150711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$21.4M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924315" y="2679192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12 months</a:t>
            </a:r>
          </a:p>
        </p:txBody>
      </p:sp>
      <p:sp>
        <p:nvSpPr>
          <p:cNvPr id="28" name="Rectangle 27"/>
          <p:cNvSpPr/>
          <p:nvPr/>
        </p:nvSpPr>
        <p:spPr>
          <a:xfrm>
            <a:off x="548640" y="3108960"/>
            <a:ext cx="11094415" cy="475488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603504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Break-even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3377107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Win rate recovery &gt;15%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6150711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—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924315" y="3154680"/>
            <a:ext cx="2682163" cy="40233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50" b="0" i="0">
                <a:solidFill>
                  <a:srgbClr val="1B2B3C"/>
                </a:solidFill>
                <a:latin typeface="Calibri"/>
              </a:rPr>
              <a:t>36 months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47472"/>
            <a:ext cx="11094415" cy="65836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600" b="1" i="0">
                <a:solidFill>
                  <a:srgbClr val="001824"/>
                </a:solidFill>
                <a:latin typeface="Calibri"/>
              </a:rPr>
              <a:t>Recommendation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78992"/>
            <a:ext cx="1280160" cy="45720"/>
          </a:xfrm>
          <a:prstGeom prst="rect">
            <a:avLst/>
          </a:prstGeom>
          <a:solidFill>
            <a:srgbClr val="0099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9631375" y="256032"/>
            <a:ext cx="2011680" cy="347472"/>
          </a:xfrm>
          <a:prstGeom prst="roundRect">
            <a:avLst>
              <a:gd name="adj" fmla="val 4000"/>
            </a:avLst>
          </a:prstGeom>
          <a:solidFill>
            <a:srgbClr val="00182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9704527" y="274320"/>
            <a:ext cx="1865376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50" b="1" i="0">
                <a:solidFill>
                  <a:srgbClr val="00996B"/>
                </a:solidFill>
                <a:latin typeface="Calibri"/>
              </a:rPr>
              <a:t>Apex HR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1298448"/>
            <a:ext cx="11094415" cy="29260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0" i="0">
                <a:solidFill>
                  <a:srgbClr val="1B2B3C"/>
                </a:solidFill>
                <a:latin typeface="Calibri"/>
              </a:rPr>
              <a:t>Proceed with partner bridge in Q3 2026. The investment breaks even at 15% win rate recovery — a low bar given the competitive signal. Validate with win/loss analysis before committing to native build in Year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BCG Consulting Framework · Apex HR · 2026-06-18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6 / 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