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18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099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57200" y="320040"/>
            <a:ext cx="1463040" cy="347472"/>
          </a:xfrm>
          <a:prstGeom prst="roundRect">
            <a:avLst>
              <a:gd name="adj" fmla="val 5000"/>
            </a:avLst>
          </a:prstGeom>
          <a:solidFill>
            <a:srgbClr val="0099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338328"/>
            <a:ext cx="1426464" cy="31089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100" b="1" i="0">
                <a:solidFill>
                  <a:srgbClr val="FFFFFF"/>
                </a:solidFill>
                <a:latin typeface="Calibri"/>
              </a:rPr>
              <a:t>BCG-STYLE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04672"/>
            <a:ext cx="11094415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1" i="0">
                <a:solidFill>
                  <a:srgbClr val="00996B"/>
                </a:solidFill>
                <a:latin typeface="Calibri"/>
              </a:rPr>
              <a:t>01 / DIAGNOSIS &amp; FRAMING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280160"/>
            <a:ext cx="9601200" cy="2560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4200" b="1" i="0">
                <a:solidFill>
                  <a:srgbClr val="FFFFFF"/>
                </a:solidFill>
                <a:latin typeface="Calibri"/>
              </a:rPr>
              <a:t>Situation Assessment — Apex HR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4023360"/>
            <a:ext cx="2743200" cy="54864"/>
          </a:xfrm>
          <a:prstGeom prst="rect">
            <a:avLst/>
          </a:prstGeom>
          <a:solidFill>
            <a:srgbClr val="FFB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4251960"/>
            <a:ext cx="7315200" cy="4114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800" b="0" i="0">
                <a:solidFill>
                  <a:srgbClr val="CCEEE4"/>
                </a:solidFill>
                <a:latin typeface="Calibri"/>
              </a:rPr>
              <a:t>Apex HR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709160"/>
            <a:ext cx="7315200" cy="34747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>
                <a:solidFill>
                  <a:srgbClr val="5B6B7C"/>
                </a:solidFill>
                <a:latin typeface="Calibri"/>
              </a:rPr>
              <a:t>2026-06-18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217920"/>
            <a:ext cx="9144000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00" b="0" i="0">
                <a:solidFill>
                  <a:srgbClr val="5B6B7C"/>
                </a:solidFill>
                <a:latin typeface="Calibri"/>
              </a:rPr>
              <a:t>Powered by The Consultant's Guide to Claude · 21 BCG-Style Skills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18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99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1094415" cy="34747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00996B"/>
                </a:solidFill>
                <a:latin typeface="Calibri"/>
              </a:rPr>
              <a:t>EXECUTIVE SUMMARY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49808"/>
            <a:ext cx="11094415" cy="71323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3000" b="1" i="0">
                <a:solidFill>
                  <a:srgbClr val="FFFFFF"/>
                </a:solidFill>
                <a:latin typeface="Calibri"/>
              </a:rPr>
              <a:t>Executive Read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572768"/>
            <a:ext cx="2286000" cy="54864"/>
          </a:xfrm>
          <a:prstGeom prst="rect">
            <a:avLst/>
          </a:prstGeom>
          <a:solidFill>
            <a:srgbClr val="FFB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783080"/>
            <a:ext cx="11094415" cy="20116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>
                <a:solidFill>
                  <a:srgbClr val="CCEEE4"/>
                </a:solidFill>
                <a:latin typeface="Calibri"/>
              </a:rPr>
              <a:t>Apex HR is a mid-market HR SaaS business with strong product-market fit in its core segment but decelerating growth that signals a transition risk. Revenue reached $42M ARR but growth decelerated sharply from 35% to 12% YoY — a 23-point drop not explained by market conditions alone. NRR of 101% suggests modest expansion but masks weak upsell motion. Competitive losses to Rippling and Deel are increasing, indicating the payroll gap is becoming a buying criterion rather than a feature preference. Leadership must decide whether to defend core, expand product, or enter APAC before the window closes.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265615" y="256032"/>
            <a:ext cx="2377440" cy="347472"/>
          </a:xfrm>
          <a:prstGeom prst="roundRect">
            <a:avLst>
              <a:gd name="adj" fmla="val 4000"/>
            </a:avLst>
          </a:prstGeom>
          <a:solidFill>
            <a:srgbClr val="0099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57055" y="274320"/>
            <a:ext cx="2194560" cy="31089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100" b="1" i="0">
                <a:solidFill>
                  <a:srgbClr val="001824"/>
                </a:solidFill>
                <a:latin typeface="Calibri"/>
              </a:rPr>
              <a:t>Apex HR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889098"/>
                </a:solidFill>
                <a:latin typeface="Calibri"/>
              </a:rPr>
              <a:t>BCG Consulting Framework · Apex HR · 2026-06-18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889098"/>
                </a:solidFill>
                <a:latin typeface="Calibri"/>
              </a:rPr>
              <a:t>2 / 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99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47472"/>
            <a:ext cx="11094415" cy="65836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600" b="1" i="0">
                <a:solidFill>
                  <a:srgbClr val="001824"/>
                </a:solidFill>
                <a:latin typeface="Calibri"/>
              </a:rPr>
              <a:t>Fact Base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78992"/>
            <a:ext cx="1280160" cy="45720"/>
          </a:xfrm>
          <a:prstGeom prst="rect">
            <a:avLst/>
          </a:prstGeom>
          <a:solidFill>
            <a:srgbClr val="0099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9631375" y="256032"/>
            <a:ext cx="2011680" cy="347472"/>
          </a:xfrm>
          <a:prstGeom prst="roundRect">
            <a:avLst>
              <a:gd name="adj" fmla="val 4000"/>
            </a:avLst>
          </a:prstGeom>
          <a:solidFill>
            <a:srgbClr val="0018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704527" y="274320"/>
            <a:ext cx="1865376" cy="31089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050" b="1" i="0">
                <a:solidFill>
                  <a:srgbClr val="00996B"/>
                </a:solidFill>
                <a:latin typeface="Calibri"/>
              </a:rPr>
              <a:t>Apex HR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298448"/>
            <a:ext cx="11094415" cy="384048"/>
          </a:xfrm>
          <a:prstGeom prst="rect">
            <a:avLst/>
          </a:prstGeom>
          <a:solidFill>
            <a:srgbClr val="0018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03504" y="1344168"/>
            <a:ext cx="2682163" cy="3108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00" b="1" i="0">
                <a:solidFill>
                  <a:srgbClr val="FFFFFF"/>
                </a:solidFill>
                <a:latin typeface="Calibri"/>
              </a:rPr>
              <a:t>Area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377107" y="1344168"/>
            <a:ext cx="2682163" cy="3108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00" b="1" i="0">
                <a:solidFill>
                  <a:srgbClr val="FFFFFF"/>
                </a:solidFill>
                <a:latin typeface="Calibri"/>
              </a:rPr>
              <a:t>Evidence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150711" y="1344168"/>
            <a:ext cx="2682163" cy="3108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00" b="1" i="0">
                <a:solidFill>
                  <a:srgbClr val="FFFFFF"/>
                </a:solidFill>
                <a:latin typeface="Calibri"/>
              </a:rPr>
              <a:t>Interpretation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924315" y="1344168"/>
            <a:ext cx="2682163" cy="3108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00" b="1" i="0">
                <a:solidFill>
                  <a:srgbClr val="FFFFFF"/>
                </a:solidFill>
                <a:latin typeface="Calibri"/>
              </a:rPr>
              <a:t>Confidence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1682496"/>
            <a:ext cx="11094415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03504" y="1728216"/>
            <a:ext cx="2682163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Revenue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377107" y="1728216"/>
            <a:ext cx="2682163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$42M ARR, 12% YoY growth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50711" y="1728216"/>
            <a:ext cx="2682163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Severe deceleration; likely dema…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924315" y="1728216"/>
            <a:ext cx="2682163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007755"/>
                </a:solidFill>
                <a:latin typeface="Calibri"/>
              </a:rPr>
              <a:t>High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2157984"/>
            <a:ext cx="11094415" cy="475488"/>
          </a:xfrm>
          <a:prstGeom prst="rect">
            <a:avLst/>
          </a:prstGeom>
          <a:solidFill>
            <a:srgbClr val="F4F7F8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03504" y="2203704"/>
            <a:ext cx="2682163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Retention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377107" y="2203704"/>
            <a:ext cx="2682163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NRR 101%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150711" y="2203704"/>
            <a:ext cx="2682163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Retention healthy; expansion rev…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924315" y="2203704"/>
            <a:ext cx="2682163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007755"/>
                </a:solidFill>
                <a:latin typeface="Calibri"/>
              </a:rPr>
              <a:t>High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48640" y="2633472"/>
            <a:ext cx="11094415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03504" y="2679192"/>
            <a:ext cx="2682163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Competitive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377107" y="2679192"/>
            <a:ext cx="2682163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Win rate vs Rippling/Deel declining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150711" y="2679192"/>
            <a:ext cx="2682163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Payroll gap becoming deal-breake…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924315" y="2679192"/>
            <a:ext cx="2682163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Medium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48640" y="3108960"/>
            <a:ext cx="11094415" cy="475488"/>
          </a:xfrm>
          <a:prstGeom prst="rect">
            <a:avLst/>
          </a:prstGeom>
          <a:solidFill>
            <a:srgbClr val="F4F7F8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03504" y="3154680"/>
            <a:ext cx="2682163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Market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377107" y="3154680"/>
            <a:ext cx="2682163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Mid-market HR tech growing 18% YoY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150711" y="3154680"/>
            <a:ext cx="2682163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E05A6B"/>
                </a:solidFill>
                <a:latin typeface="Calibri"/>
              </a:rPr>
              <a:t>Apex growing below market — shar…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924315" y="3154680"/>
            <a:ext cx="2682163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Medium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48640" y="3584448"/>
            <a:ext cx="11094415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03504" y="3630168"/>
            <a:ext cx="2682163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Product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377107" y="3630168"/>
            <a:ext cx="2682163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No Payroll module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150711" y="3630168"/>
            <a:ext cx="2682163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Rippling + Deel bundle payroll; …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924315" y="3630168"/>
            <a:ext cx="2682163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007755"/>
                </a:solidFill>
                <a:latin typeface="Calibri"/>
              </a:rPr>
              <a:t>High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48640" y="4059936"/>
            <a:ext cx="11094415" cy="475488"/>
          </a:xfrm>
          <a:prstGeom prst="rect">
            <a:avLst/>
          </a:prstGeom>
          <a:solidFill>
            <a:srgbClr val="F4F7F8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03504" y="4105656"/>
            <a:ext cx="2682163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Org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377107" y="4105656"/>
            <a:ext cx="2682163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200 employees, Austin HQ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150711" y="4105656"/>
            <a:ext cx="2682163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Capacity constrained for simulta…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924315" y="4105656"/>
            <a:ext cx="2682163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007755"/>
                </a:solidFill>
                <a:latin typeface="Calibri"/>
              </a:rPr>
              <a:t>High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BCG Consulting Framework · Apex HR · 2026-06-18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3 / 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99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47472"/>
            <a:ext cx="11094415" cy="65836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600" b="1" i="0">
                <a:solidFill>
                  <a:srgbClr val="001824"/>
                </a:solidFill>
                <a:latin typeface="Calibri"/>
              </a:rPr>
              <a:t>Momentum Signals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78992"/>
            <a:ext cx="1280160" cy="45720"/>
          </a:xfrm>
          <a:prstGeom prst="rect">
            <a:avLst/>
          </a:prstGeom>
          <a:solidFill>
            <a:srgbClr val="0099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9631375" y="256032"/>
            <a:ext cx="2011680" cy="347472"/>
          </a:xfrm>
          <a:prstGeom prst="roundRect">
            <a:avLst>
              <a:gd name="adj" fmla="val 4000"/>
            </a:avLst>
          </a:prstGeom>
          <a:solidFill>
            <a:srgbClr val="0018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704527" y="274320"/>
            <a:ext cx="1865376" cy="31089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050" b="1" i="0">
                <a:solidFill>
                  <a:srgbClr val="00996B"/>
                </a:solidFill>
                <a:latin typeface="Calibri"/>
              </a:rPr>
              <a:t>Apex HR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298448"/>
            <a:ext cx="11094415" cy="384048"/>
          </a:xfrm>
          <a:prstGeom prst="rect">
            <a:avLst/>
          </a:prstGeom>
          <a:solidFill>
            <a:srgbClr val="0018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03504" y="1344168"/>
            <a:ext cx="3606698" cy="3108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00" b="1" i="0">
                <a:solidFill>
                  <a:srgbClr val="FFFFFF"/>
                </a:solidFill>
                <a:latin typeface="Calibri"/>
              </a:rPr>
              <a:t>Signal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01642" y="1344168"/>
            <a:ext cx="3606698" cy="3108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00" b="1" i="0">
                <a:solidFill>
                  <a:srgbClr val="FFFFFF"/>
                </a:solidFill>
                <a:latin typeface="Calibri"/>
              </a:rPr>
              <a:t>Direction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99780" y="1344168"/>
            <a:ext cx="3606698" cy="3108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00" b="1" i="0">
                <a:solidFill>
                  <a:srgbClr val="FFFFFF"/>
                </a:solidFill>
                <a:latin typeface="Calibri"/>
              </a:rPr>
              <a:t>Why It Matters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1682496"/>
            <a:ext cx="11094415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03504" y="1728216"/>
            <a:ext cx="3606698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ARR growth rate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01642" y="1728216"/>
            <a:ext cx="3606698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Declining (35% → 12%)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999780" y="1728216"/>
            <a:ext cx="3606698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Structural ceiling or competitiv…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2157984"/>
            <a:ext cx="11094415" cy="475488"/>
          </a:xfrm>
          <a:prstGeom prst="rect">
            <a:avLst/>
          </a:prstGeom>
          <a:solidFill>
            <a:srgbClr val="F4F7F8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03504" y="2203704"/>
            <a:ext cx="3606698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Competitive win rate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01642" y="2203704"/>
            <a:ext cx="3606698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Declining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999780" y="2203704"/>
            <a:ext cx="3606698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Payroll gap expanding as ICP gro…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8640" y="2633472"/>
            <a:ext cx="11094415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03504" y="2679192"/>
            <a:ext cx="3606698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NRR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301642" y="2679192"/>
            <a:ext cx="3606698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Flat (101%)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999780" y="2679192"/>
            <a:ext cx="3606698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Upsell motion not compensating f…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48640" y="3108960"/>
            <a:ext cx="11094415" cy="475488"/>
          </a:xfrm>
          <a:prstGeom prst="rect">
            <a:avLst/>
          </a:prstGeom>
          <a:solidFill>
            <a:srgbClr val="F4F7F8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03504" y="3154680"/>
            <a:ext cx="3606698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APAC pipeline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301642" y="3154680"/>
            <a:ext cx="3606698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Emerging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999780" y="3154680"/>
            <a:ext cx="3606698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New market but execution bandwid…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BCG Consulting Framework · Apex HR · 2026-06-18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4 / 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99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47472"/>
            <a:ext cx="11094415" cy="65836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600" b="1" i="0">
                <a:solidFill>
                  <a:srgbClr val="001824"/>
                </a:solidFill>
                <a:latin typeface="Calibri"/>
              </a:rPr>
              <a:t>Strategic Issues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78992"/>
            <a:ext cx="1280160" cy="45720"/>
          </a:xfrm>
          <a:prstGeom prst="rect">
            <a:avLst/>
          </a:prstGeom>
          <a:solidFill>
            <a:srgbClr val="0099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9631375" y="256032"/>
            <a:ext cx="2011680" cy="347472"/>
          </a:xfrm>
          <a:prstGeom prst="roundRect">
            <a:avLst>
              <a:gd name="adj" fmla="val 4000"/>
            </a:avLst>
          </a:prstGeom>
          <a:solidFill>
            <a:srgbClr val="0018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704527" y="274320"/>
            <a:ext cx="1865376" cy="31089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050" b="1" i="0">
                <a:solidFill>
                  <a:srgbClr val="00996B"/>
                </a:solidFill>
                <a:latin typeface="Calibri"/>
              </a:rPr>
              <a:t>Apex HR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1298448"/>
            <a:ext cx="10984687" cy="32918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50" b="0" i="0">
                <a:solidFill>
                  <a:srgbClr val="1B2B3C"/>
                </a:solidFill>
                <a:latin typeface="Calibri"/>
              </a:rPr>
              <a:t>1.  Growth deceleration outpaces market — payroll product gap is likely the proximate cause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1645920"/>
            <a:ext cx="10984687" cy="32918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50" b="0" i="0">
                <a:solidFill>
                  <a:srgbClr val="1B2B3C"/>
                </a:solidFill>
                <a:latin typeface="Calibri"/>
              </a:rPr>
              <a:t>2.  Payroll module absence is a competitive liability at the 200+ employee ICP inflection point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1993392"/>
            <a:ext cx="10984687" cy="32918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50" b="0" i="0">
                <a:solidFill>
                  <a:srgbClr val="1B2B3C"/>
                </a:solidFill>
                <a:latin typeface="Calibri"/>
              </a:rPr>
              <a:t>3.  APAC expansion and Payroll module compete for the same scarce engineering and GTM capacity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BCG Consulting Framework · Apex HR · 2026-06-18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5 / 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99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47472"/>
            <a:ext cx="11094415" cy="65836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600" b="1" i="0">
                <a:solidFill>
                  <a:srgbClr val="001824"/>
                </a:solidFill>
                <a:latin typeface="Calibri"/>
              </a:rPr>
              <a:t>Open Questions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78992"/>
            <a:ext cx="1280160" cy="45720"/>
          </a:xfrm>
          <a:prstGeom prst="rect">
            <a:avLst/>
          </a:prstGeom>
          <a:solidFill>
            <a:srgbClr val="0099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9631375" y="256032"/>
            <a:ext cx="2011680" cy="347472"/>
          </a:xfrm>
          <a:prstGeom prst="roundRect">
            <a:avLst>
              <a:gd name="adj" fmla="val 4000"/>
            </a:avLst>
          </a:prstGeom>
          <a:solidFill>
            <a:srgbClr val="0018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704527" y="274320"/>
            <a:ext cx="1865376" cy="31089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050" b="1" i="0">
                <a:solidFill>
                  <a:srgbClr val="00996B"/>
                </a:solidFill>
                <a:latin typeface="Calibri"/>
              </a:rPr>
              <a:t>Apex HR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1298448"/>
            <a:ext cx="10984687" cy="32918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50" b="0" i="0">
                <a:solidFill>
                  <a:srgbClr val="1B2B3C"/>
                </a:solidFill>
                <a:latin typeface="Calibri"/>
              </a:rPr>
              <a:t>What % of lost deals cite payroll as the reason vs. pricing or reputation?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1645920"/>
            <a:ext cx="10984687" cy="32918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50" b="0" i="0">
                <a:solidFill>
                  <a:srgbClr val="1B2B3C"/>
                </a:solidFill>
                <a:latin typeface="Calibri"/>
              </a:rPr>
              <a:t>What is CAC payback period and how has it trended over 8 quarters?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1993392"/>
            <a:ext cx="10984687" cy="32918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50" b="0" i="0">
                <a:solidFill>
                  <a:srgbClr val="1B2B3C"/>
                </a:solidFill>
                <a:latin typeface="Calibri"/>
              </a:rPr>
              <a:t>Is NRR 101% holding across all segments or masking churn in a specific tier?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" y="2340864"/>
            <a:ext cx="10984687" cy="32918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50" b="0" i="0">
                <a:solidFill>
                  <a:srgbClr val="1B2B3C"/>
                </a:solidFill>
                <a:latin typeface="Calibri"/>
              </a:rPr>
              <a:t>What does APAC expansion require in headcount, compliance infrastructure, and capital?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BCG Consulting Framework · Apex HR · 2026-06-18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6 / 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