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292608"/>
            <a:ext cx="2194560" cy="384048"/>
          </a:xfrm>
          <a:prstGeom prst="roundRect">
            <a:avLst>
              <a:gd name="adj" fmla="val 5000"/>
            </a:avLst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310896"/>
            <a:ext cx="2157984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01824"/>
                </a:solidFill>
                <a:latin typeface="Calibri"/>
              </a:rPr>
              <a:t>BCG × CLAUDE CODE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77824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0996B"/>
                </a:solidFill>
                <a:latin typeface="Calibri"/>
              </a:rPr>
              <a:t>THE CONSULTANT'S GUIDE TO CLAUDE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17320"/>
            <a:ext cx="10058400" cy="21945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5200" b="1" i="0">
                <a:solidFill>
                  <a:srgbClr val="FFFFFF"/>
                </a:solidFill>
                <a:latin typeface="Calibri"/>
              </a:rPr>
              <a:t>21 BCG-Style
Prompt Templates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794760"/>
            <a:ext cx="3200400" cy="64008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4023360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0" i="0">
                <a:solidFill>
                  <a:srgbClr val="CCEEE4"/>
                </a:solidFill>
                <a:latin typeface="Calibri"/>
              </a:rPr>
              <a:t>Push Claude Opus to its limits and turn it into an MBB-grade consulting engine.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663440"/>
            <a:ext cx="1737360" cy="384048"/>
          </a:xfrm>
          <a:prstGeom prst="roundRect">
            <a:avLst>
              <a:gd name="adj" fmla="val 6000"/>
            </a:avLst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4681728"/>
            <a:ext cx="1645920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FFFFFF"/>
                </a:solidFill>
                <a:latin typeface="Calibri"/>
              </a:rPr>
              <a:t>01 Diagnose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331720" y="4663440"/>
            <a:ext cx="1737360" cy="384048"/>
          </a:xfrm>
          <a:prstGeom prst="roundRect">
            <a:avLst>
              <a:gd name="adj" fmla="val 6000"/>
            </a:avLst>
          </a:prstGeom>
          <a:solidFill>
            <a:srgbClr val="0055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77440" y="4681728"/>
            <a:ext cx="1645920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FFFFFF"/>
                </a:solidFill>
                <a:latin typeface="Calibri"/>
              </a:rPr>
              <a:t>02 Map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06240" y="4663440"/>
            <a:ext cx="1737360" cy="384048"/>
          </a:xfrm>
          <a:prstGeom prst="roundRect">
            <a:avLst>
              <a:gd name="adj" fmla="val 6000"/>
            </a:avLst>
          </a:prstGeom>
          <a:solidFill>
            <a:srgbClr val="77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51960" y="4681728"/>
            <a:ext cx="1645920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FFFFFF"/>
                </a:solidFill>
                <a:latin typeface="Calibri"/>
              </a:rPr>
              <a:t>03 Choose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80760" y="4663440"/>
            <a:ext cx="1737360" cy="384048"/>
          </a:xfrm>
          <a:prstGeom prst="roundRect">
            <a:avLst>
              <a:gd name="adj" fmla="val 6000"/>
            </a:avLst>
          </a:prstGeom>
          <a:solidFill>
            <a:srgbClr val="5500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0" y="4681728"/>
            <a:ext cx="1645920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FFFFFF"/>
                </a:solidFill>
                <a:latin typeface="Calibri"/>
              </a:rPr>
              <a:t>04 Execute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55280" y="4663440"/>
            <a:ext cx="1737360" cy="384048"/>
          </a:xfrm>
          <a:prstGeom prst="roundRect">
            <a:avLst>
              <a:gd name="adj" fmla="val 6000"/>
            </a:avLst>
          </a:prstGeom>
          <a:solidFill>
            <a:srgbClr val="992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01000" y="4681728"/>
            <a:ext cx="1645920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FFFFFF"/>
                </a:solidFill>
                <a:latin typeface="Calibri"/>
              </a:rPr>
              <a:t>05 Govern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829800" y="4663440"/>
            <a:ext cx="1737360" cy="384048"/>
          </a:xfrm>
          <a:prstGeom prst="roundRect">
            <a:avLst>
              <a:gd name="adj" fmla="val 6000"/>
            </a:avLst>
          </a:prstGeom>
          <a:solidFill>
            <a:srgbClr val="0044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75520" y="4681728"/>
            <a:ext cx="1645920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FFFFFF"/>
                </a:solidFill>
                <a:latin typeface="Calibri"/>
              </a:rPr>
              <a:t>06 Communicate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217920"/>
            <a:ext cx="9144000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5B6B7C"/>
                </a:solidFill>
                <a:latin typeface="Calibri"/>
              </a:rPr>
              <a:t>21 skills · 44 slides · 2026-06-18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Anthropic × BCG · skills repo: /strategy-consulting/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7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56032"/>
            <a:ext cx="548640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07755"/>
                </a:solidFill>
                <a:latin typeface="Calibri"/>
              </a:rPr>
              <a:t>01 / DIAGNOSIS &amp; FRAMING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271455" y="201168"/>
            <a:ext cx="1371600" cy="402336"/>
          </a:xfrm>
          <a:prstGeom prst="roundRect">
            <a:avLst>
              <a:gd name="adj" fmla="val 6000"/>
            </a:avLst>
          </a:prstGeom>
          <a:solidFill>
            <a:srgbClr val="007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17175" y="219456"/>
            <a:ext cx="12801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Calibri"/>
              </a:rPr>
              <a:t>SKILL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13232"/>
            <a:ext cx="6309360" cy="12801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800" b="1" i="0">
                <a:solidFill>
                  <a:srgbClr val="FFFFFF"/>
                </a:solidFill>
                <a:latin typeface="Calibri"/>
              </a:rPr>
              <a:t>Most strategy projects fail before a single slide is built.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2084831"/>
            <a:ext cx="2560320" cy="54864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2286000"/>
            <a:ext cx="6309360" cy="4389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0" i="0">
                <a:solidFill>
                  <a:srgbClr val="CCEEE4"/>
                </a:solidFill>
                <a:latin typeface="Calibri"/>
              </a:rPr>
              <a:t>They fail because the team spent three weeks answering the wrong question.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724912"/>
            <a:ext cx="6309360" cy="4389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0" i="0">
                <a:solidFill>
                  <a:srgbClr val="CCEEE4"/>
                </a:solidFill>
                <a:latin typeface="Calibri"/>
              </a:rPr>
              <a:t>BCG's first move is never "what should we do?"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3163824"/>
            <a:ext cx="6309360" cy="4389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0" i="0">
                <a:solidFill>
                  <a:srgbClr val="CCEEE4"/>
                </a:solidFill>
                <a:latin typeface="Calibri"/>
              </a:rPr>
              <a:t>It's "where are we, really?"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0" y="713232"/>
            <a:ext cx="4663440" cy="5303520"/>
          </a:xfrm>
          <a:prstGeom prst="roundRect">
            <a:avLst>
              <a:gd name="adj" fmla="val 4000"/>
            </a:avLst>
          </a:prstGeom>
          <a:solidFill>
            <a:srgbClr val="002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96912" y="859536"/>
            <a:ext cx="438912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007755"/>
                </a:solidFill>
                <a:latin typeface="Calibri"/>
              </a:rPr>
              <a:t>THE PROMPT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69480" y="1216152"/>
            <a:ext cx="4389120" cy="402336"/>
          </a:xfrm>
          <a:prstGeom prst="roundRect">
            <a:avLst>
              <a:gd name="adj" fmla="val 3000"/>
            </a:avLst>
          </a:prstGeom>
          <a:solidFill>
            <a:srgbClr val="00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33488" y="1234439"/>
            <a:ext cx="4261104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FB800"/>
                </a:solidFill>
                <a:latin typeface="Calibri"/>
              </a:rPr>
              <a:t>/situation-assessment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96912" y="1737360"/>
            <a:ext cx="438912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CCEEE4"/>
                </a:solidFill>
                <a:latin typeface="Calibri"/>
              </a:rPr>
              <a:t>/situation-assessment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96912" y="2194560"/>
            <a:ext cx="438912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CCEEE4"/>
                </a:solidFill>
                <a:latin typeface="Calibri"/>
              </a:rPr>
              <a:t>Context: [Company name], [industry], [revenue/size]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96912" y="2542032"/>
            <a:ext cx="438912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CCEEE4"/>
                </a:solidFill>
                <a:latin typeface="Calibri"/>
              </a:rPr>
              <a:t>Key facts available: [financials, growth rate, market share, recent events]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96912" y="2889504"/>
            <a:ext cx="438912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CCEEE4"/>
                </a:solidFill>
                <a:latin typeface="Calibri"/>
              </a:rPr>
              <a:t>Decision being made: [what leadership must decide in the next 30–90 days]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96912" y="3236976"/>
            <a:ext cx="438912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CCEEE4"/>
                </a:solidFill>
                <a:latin typeface="Calibri"/>
              </a:rPr>
              <a:t>Available data: [list what you have]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3831336"/>
            <a:ext cx="640080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96B"/>
                </a:solidFill>
                <a:latin typeface="Calibri"/>
              </a:rPr>
              <a:t>Claude returns: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1480" y="4233672"/>
            <a:ext cx="237744" cy="237744"/>
          </a:xfrm>
          <a:prstGeom prst="roundRect">
            <a:avLst>
              <a:gd name="adj" fmla="val 5000"/>
            </a:avLst>
          </a:prstGeom>
          <a:solidFill>
            <a:srgbClr val="007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" y="4215384"/>
            <a:ext cx="23774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" y="4178808"/>
            <a:ext cx="6126480" cy="4206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FFFFFF"/>
                </a:solidFill>
                <a:latin typeface="Calibri"/>
              </a:rPr>
              <a:t>Executive read (one paragraph)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11480" y="4709160"/>
            <a:ext cx="237744" cy="237744"/>
          </a:xfrm>
          <a:prstGeom prst="roundRect">
            <a:avLst>
              <a:gd name="adj" fmla="val 5000"/>
            </a:avLst>
          </a:prstGeom>
          <a:solidFill>
            <a:srgbClr val="007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80" y="4690872"/>
            <a:ext cx="23774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8" y="4654296"/>
            <a:ext cx="6126480" cy="4206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FFFFFF"/>
                </a:solidFill>
                <a:latin typeface="Calibri"/>
              </a:rPr>
              <a:t>Fact base with confidence labels (facts vs. interpretations vs. unknowns)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11480" y="5184648"/>
            <a:ext cx="237744" cy="237744"/>
          </a:xfrm>
          <a:prstGeom prst="roundRect">
            <a:avLst>
              <a:gd name="adj" fmla="val 5000"/>
            </a:avLst>
          </a:prstGeom>
          <a:solidFill>
            <a:srgbClr val="007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1480" y="5166360"/>
            <a:ext cx="23774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→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8" y="5129784"/>
            <a:ext cx="6126480" cy="4206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FFFFFF"/>
                </a:solidFill>
                <a:latin typeface="Calibri"/>
              </a:rPr>
              <a:t>Momentum signals (trend, not snapshot)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11480" y="5660136"/>
            <a:ext cx="237744" cy="237744"/>
          </a:xfrm>
          <a:prstGeom prst="roundRect">
            <a:avLst>
              <a:gd name="adj" fmla="val 5000"/>
            </a:avLst>
          </a:prstGeom>
          <a:solidFill>
            <a:srgbClr val="007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80" y="5641848"/>
            <a:ext cx="23774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→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9808" y="5605272"/>
            <a:ext cx="6126480" cy="4206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FFFFFF"/>
                </a:solidFill>
                <a:latin typeface="Calibri"/>
              </a:rPr>
              <a:t>Top 3 strategic issues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The Consultant's Guide to Claude · BCG-Style Prompt Templates · 2026-06-18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2 / 44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7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640080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07755"/>
                </a:solidFill>
                <a:latin typeface="Calibri"/>
              </a:rPr>
              <a:t>LINKEDIN POST — COPY &amp; PUBLISH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42655" y="201168"/>
            <a:ext cx="3200400" cy="365760"/>
          </a:xfrm>
          <a:prstGeom prst="roundRect">
            <a:avLst>
              <a:gd name="adj" fmla="val 4000"/>
            </a:avLst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15807" y="219456"/>
            <a:ext cx="3054096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00996B"/>
                </a:solidFill>
                <a:latin typeface="Calibri"/>
              </a:rPr>
              <a:t>PROBLEM-FRAMING: Situation Asses…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94944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200" b="1" i="0">
                <a:solidFill>
                  <a:srgbClr val="001824"/>
                </a:solidFill>
                <a:latin typeface="Calibri"/>
              </a:rPr>
              <a:t>Most strategy projects fail before a single slide is built.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591056"/>
            <a:ext cx="1828800" cy="45720"/>
          </a:xfrm>
          <a:prstGeom prst="rect">
            <a:avLst/>
          </a:prstGeom>
          <a:solidFill>
            <a:srgbClr val="007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737360"/>
            <a:ext cx="5029200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They fail because the team spent three weeks answering the wrong question.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176272"/>
            <a:ext cx="5029200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BCG's first move is never "what should we do?"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505456"/>
            <a:ext cx="5029200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It's "where are we, really?"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834640"/>
            <a:ext cx="5029200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I now run a Situation Assessment through Claude every time I open a new engagement.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273552"/>
            <a:ext cx="5029200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Here's the prompt I use — and what it produces in 90 seconds that would take a team three days.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609344"/>
            <a:ext cx="5577840" cy="4535424"/>
          </a:xfrm>
          <a:prstGeom prst="roundRect">
            <a:avLst>
              <a:gd name="adj" fmla="val 4000"/>
            </a:avLst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755648"/>
            <a:ext cx="525780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007755"/>
                </a:solidFill>
                <a:latin typeface="Calibri"/>
              </a:rPr>
              <a:t>COPY THIS PROMPT INTO CLAUDE CODE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82512" y="2139696"/>
            <a:ext cx="5248656" cy="420624"/>
          </a:xfrm>
          <a:prstGeom prst="roundRect">
            <a:avLst>
              <a:gd name="adj" fmla="val 3000"/>
            </a:avLst>
          </a:prstGeom>
          <a:solidFill>
            <a:srgbClr val="000C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55664" y="2157984"/>
            <a:ext cx="5102352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FFB800"/>
                </a:solidFill>
                <a:latin typeface="Calibri"/>
              </a:rPr>
              <a:t>/situation-assessment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688336"/>
            <a:ext cx="525780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FFB800"/>
                </a:solidFill>
                <a:latin typeface="Calibri"/>
              </a:rPr>
              <a:t>/situation-assessment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118104"/>
            <a:ext cx="525780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CCEEE4"/>
                </a:solidFill>
                <a:latin typeface="Calibri"/>
              </a:rPr>
              <a:t>Context: [Company name], [industry], [revenue/size]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456432"/>
            <a:ext cx="525780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CCEEE4"/>
                </a:solidFill>
                <a:latin typeface="Calibri"/>
              </a:rPr>
              <a:t>Key facts available: [financials, growth rate, market share, recent events]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794760"/>
            <a:ext cx="525780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CCEEE4"/>
                </a:solidFill>
                <a:latin typeface="Calibri"/>
              </a:rPr>
              <a:t>Decision being made: [what leadership must decide in the next 30–90 days]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4133088"/>
            <a:ext cx="525780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CCEEE4"/>
                </a:solidFill>
                <a:latin typeface="Calibri"/>
              </a:rPr>
              <a:t>Available data: [list what you have]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The Consultant's Guide to Claude · BCG-Style Prompt Templates · 2026-06-18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3 / 44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7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56032"/>
            <a:ext cx="548640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07755"/>
                </a:solidFill>
                <a:latin typeface="Calibri"/>
              </a:rPr>
              <a:t>01 / DIAGNOSIS &amp; FRAMING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271455" y="201168"/>
            <a:ext cx="1371600" cy="402336"/>
          </a:xfrm>
          <a:prstGeom prst="roundRect">
            <a:avLst>
              <a:gd name="adj" fmla="val 6000"/>
            </a:avLst>
          </a:prstGeom>
          <a:solidFill>
            <a:srgbClr val="007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17175" y="219456"/>
            <a:ext cx="12801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Calibri"/>
              </a:rPr>
              <a:t>SKILL 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13232"/>
            <a:ext cx="6309360" cy="12801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800" b="1" i="0">
                <a:solidFill>
                  <a:srgbClr val="FFFFFF"/>
                </a:solidFill>
                <a:latin typeface="Calibri"/>
              </a:rPr>
              <a:t>Revenue plateau is never what it looks like on the surface.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2084831"/>
            <a:ext cx="2560320" cy="54864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2286000"/>
            <a:ext cx="6309360" cy="4389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0" i="0">
                <a:solidFill>
                  <a:srgbClr val="CCEEE4"/>
                </a:solidFill>
                <a:latin typeface="Calibri"/>
              </a:rPr>
              <a:t>The CEO says "we need more pipeline."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724912"/>
            <a:ext cx="6309360" cy="4389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0" i="0">
                <a:solidFill>
                  <a:srgbClr val="CCEEE4"/>
                </a:solidFill>
                <a:latin typeface="Calibri"/>
              </a:rPr>
              <a:t>The CRO says "we need better product."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3163824"/>
            <a:ext cx="6309360" cy="4389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0" i="0">
                <a:solidFill>
                  <a:srgbClr val="CCEEE4"/>
                </a:solidFill>
                <a:latin typeface="Calibri"/>
              </a:rPr>
              <a:t>The CPO says "we need clearer positioning."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0" y="713232"/>
            <a:ext cx="4663440" cy="5303520"/>
          </a:xfrm>
          <a:prstGeom prst="roundRect">
            <a:avLst>
              <a:gd name="adj" fmla="val 4000"/>
            </a:avLst>
          </a:prstGeom>
          <a:solidFill>
            <a:srgbClr val="002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96912" y="859536"/>
            <a:ext cx="438912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007755"/>
                </a:solidFill>
                <a:latin typeface="Calibri"/>
              </a:rPr>
              <a:t>THE PROMPT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69480" y="1216152"/>
            <a:ext cx="4389120" cy="402336"/>
          </a:xfrm>
          <a:prstGeom prst="roundRect">
            <a:avLst>
              <a:gd name="adj" fmla="val 3000"/>
            </a:avLst>
          </a:prstGeom>
          <a:solidFill>
            <a:srgbClr val="00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33488" y="1234439"/>
            <a:ext cx="4261104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FB800"/>
                </a:solidFill>
                <a:latin typeface="Calibri"/>
              </a:rPr>
              <a:t>/growth-barriers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96912" y="1737360"/>
            <a:ext cx="438912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CCEEE4"/>
                </a:solidFill>
                <a:latin typeface="Calibri"/>
              </a:rPr>
              <a:t>/growth-barriers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96912" y="2194560"/>
            <a:ext cx="438912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CCEEE4"/>
                </a:solidFill>
                <a:latin typeface="Calibri"/>
              </a:rPr>
              <a:t>Business: [description]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96912" y="2542032"/>
            <a:ext cx="438912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CCEEE4"/>
                </a:solidFill>
                <a:latin typeface="Calibri"/>
              </a:rPr>
              <a:t>Revenue trend (last 12–24 months): [flat/declining/slow growth + numbers]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96912" y="2889504"/>
            <a:ext cx="438912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CCEEE4"/>
                </a:solidFill>
                <a:latin typeface="Calibri"/>
              </a:rPr>
              <a:t>What we've tried: [initiatives, investments, pivots]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96912" y="3236976"/>
            <a:ext cx="438912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CCEEE4"/>
                </a:solidFill>
                <a:latin typeface="Calibri"/>
              </a:rPr>
              <a:t>What hasn't moved: [the metric that won't budge]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96912" y="3584448"/>
            <a:ext cx="438912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CCEEE4"/>
                </a:solidFill>
                <a:latin typeface="Calibri"/>
              </a:rPr>
              <a:t>Hypothesis (if any): [your current theory]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3831336"/>
            <a:ext cx="640080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96B"/>
                </a:solidFill>
                <a:latin typeface="Calibri"/>
              </a:rPr>
              <a:t>Claude returns: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11480" y="4233672"/>
            <a:ext cx="237744" cy="237744"/>
          </a:xfrm>
          <a:prstGeom prst="roundRect">
            <a:avLst>
              <a:gd name="adj" fmla="val 5000"/>
            </a:avLst>
          </a:prstGeom>
          <a:solidFill>
            <a:srgbClr val="007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4215384"/>
            <a:ext cx="23774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8" y="4178808"/>
            <a:ext cx="6126480" cy="4206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FFFFFF"/>
                </a:solidFill>
                <a:latin typeface="Calibri"/>
              </a:rPr>
              <a:t>Growth barrier tree (symptoms → root causes → the true constraint)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11480" y="4709160"/>
            <a:ext cx="237744" cy="237744"/>
          </a:xfrm>
          <a:prstGeom prst="roundRect">
            <a:avLst>
              <a:gd name="adj" fmla="val 5000"/>
            </a:avLst>
          </a:prstGeom>
          <a:solidFill>
            <a:srgbClr val="007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80" y="4690872"/>
            <a:ext cx="23774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8" y="4654296"/>
            <a:ext cx="6126480" cy="4206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FFFFFF"/>
                </a:solidFill>
                <a:latin typeface="Calibri"/>
              </a:rPr>
              <a:t>What has already been tried and why it didn't work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11480" y="5184648"/>
            <a:ext cx="237744" cy="237744"/>
          </a:xfrm>
          <a:prstGeom prst="roundRect">
            <a:avLst>
              <a:gd name="adj" fmla="val 5000"/>
            </a:avLst>
          </a:prstGeom>
          <a:solidFill>
            <a:srgbClr val="007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1480" y="5166360"/>
            <a:ext cx="23774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8" y="5129784"/>
            <a:ext cx="6126480" cy="4206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FFFFFF"/>
                </a:solidFill>
                <a:latin typeface="Calibri"/>
              </a:rPr>
              <a:t>The lever that actually moves the number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11480" y="5660136"/>
            <a:ext cx="237744" cy="237744"/>
          </a:xfrm>
          <a:prstGeom prst="roundRect">
            <a:avLst>
              <a:gd name="adj" fmla="val 5000"/>
            </a:avLst>
          </a:prstGeom>
          <a:solidFill>
            <a:srgbClr val="007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11480" y="5641848"/>
            <a:ext cx="23774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→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9808" y="5605272"/>
            <a:ext cx="6126480" cy="4206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FFFFFF"/>
                </a:solidFill>
                <a:latin typeface="Calibri"/>
              </a:rPr>
              <a:t>90-day diagnostic plan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The Consultant's Guide to Claude · BCG-Style Prompt Templates · 2026-06-18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4 / 44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7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640080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07755"/>
                </a:solidFill>
                <a:latin typeface="Calibri"/>
              </a:rPr>
              <a:t>LINKEDIN POST — COPY &amp; PUBLISH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42655" y="201168"/>
            <a:ext cx="3200400" cy="365760"/>
          </a:xfrm>
          <a:prstGeom prst="roundRect">
            <a:avLst>
              <a:gd name="adj" fmla="val 4000"/>
            </a:avLst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15807" y="219456"/>
            <a:ext cx="3054096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00996B"/>
                </a:solidFill>
                <a:latin typeface="Calibri"/>
              </a:rPr>
              <a:t>PROBLEM-FRAMING: Growth Barriers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94944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200" b="1" i="0">
                <a:solidFill>
                  <a:srgbClr val="001824"/>
                </a:solidFill>
                <a:latin typeface="Calibri"/>
              </a:rPr>
              <a:t>Revenue plateau is never what it looks like on the surface.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591056"/>
            <a:ext cx="1828800" cy="45720"/>
          </a:xfrm>
          <a:prstGeom prst="rect">
            <a:avLst/>
          </a:prstGeom>
          <a:solidFill>
            <a:srgbClr val="007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737360"/>
            <a:ext cx="5029200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The CEO says "we need more pipeline."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066544"/>
            <a:ext cx="5029200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The CRO says "we need better product."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395728"/>
            <a:ext cx="5029200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The CPO says "we need clearer positioning."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724912"/>
            <a:ext cx="5029200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They're all wrong. Or rather — they're all seeing symptoms.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054096"/>
            <a:ext cx="5029200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BCG's diagnostic question is: *What is the ONE constraint that, if removed, unlocks everything else?*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493008"/>
            <a:ext cx="5029200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This skill makes Claude find it.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609344"/>
            <a:ext cx="5577840" cy="4535424"/>
          </a:xfrm>
          <a:prstGeom prst="roundRect">
            <a:avLst>
              <a:gd name="adj" fmla="val 4000"/>
            </a:avLst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755648"/>
            <a:ext cx="525780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007755"/>
                </a:solidFill>
                <a:latin typeface="Calibri"/>
              </a:rPr>
              <a:t>COPY THIS PROMPT INTO CLAUDE CODE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82512" y="2139696"/>
            <a:ext cx="5248656" cy="420624"/>
          </a:xfrm>
          <a:prstGeom prst="roundRect">
            <a:avLst>
              <a:gd name="adj" fmla="val 3000"/>
            </a:avLst>
          </a:prstGeom>
          <a:solidFill>
            <a:srgbClr val="000C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55664" y="2157984"/>
            <a:ext cx="5102352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FFB800"/>
                </a:solidFill>
                <a:latin typeface="Calibri"/>
              </a:rPr>
              <a:t>/growth-barriers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688336"/>
            <a:ext cx="525780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FFB800"/>
                </a:solidFill>
                <a:latin typeface="Calibri"/>
              </a:rPr>
              <a:t>/growth-barriers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118104"/>
            <a:ext cx="525780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CCEEE4"/>
                </a:solidFill>
                <a:latin typeface="Calibri"/>
              </a:rPr>
              <a:t>Business: [description]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456432"/>
            <a:ext cx="525780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CCEEE4"/>
                </a:solidFill>
                <a:latin typeface="Calibri"/>
              </a:rPr>
              <a:t>Revenue trend (last 12–24 months): [flat/declining/slow growth + numbers]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794760"/>
            <a:ext cx="525780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CCEEE4"/>
                </a:solidFill>
                <a:latin typeface="Calibri"/>
              </a:rPr>
              <a:t>What we've tried: [initiatives, investments, pivots]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4133088"/>
            <a:ext cx="525780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CCEEE4"/>
                </a:solidFill>
                <a:latin typeface="Calibri"/>
              </a:rPr>
              <a:t>What hasn't moved: [the metric that won't budge]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471416"/>
            <a:ext cx="525780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CCEEE4"/>
                </a:solidFill>
                <a:latin typeface="Calibri"/>
              </a:rPr>
              <a:t>Hypothesis (if any): [your current theory]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The Consultant's Guide to Claude · BCG-Style Prompt Templates · 2026-06-18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5 / 44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7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56032"/>
            <a:ext cx="548640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07755"/>
                </a:solidFill>
                <a:latin typeface="Calibri"/>
              </a:rPr>
              <a:t>01 / DIAGNOSIS &amp; FRAMING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271455" y="201168"/>
            <a:ext cx="1371600" cy="402336"/>
          </a:xfrm>
          <a:prstGeom prst="roundRect">
            <a:avLst>
              <a:gd name="adj" fmla="val 6000"/>
            </a:avLst>
          </a:prstGeom>
          <a:solidFill>
            <a:srgbClr val="007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17175" y="219456"/>
            <a:ext cx="12801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Calibri"/>
              </a:rPr>
              <a:t>SKILL 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13232"/>
            <a:ext cx="6309360" cy="12801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800" b="1" i="0">
                <a:solidFill>
                  <a:srgbClr val="FFFFFF"/>
                </a:solidFill>
                <a:latin typeface="Calibri"/>
              </a:rPr>
              <a:t>Every strategy has a hidden assumption that will kill it.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2084831"/>
            <a:ext cx="2560320" cy="54864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2286000"/>
            <a:ext cx="6309360" cy="4389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0" i="0">
                <a:solidFill>
                  <a:srgbClr val="CCEEE4"/>
                </a:solidFill>
                <a:latin typeface="Calibri"/>
              </a:rPr>
              <a:t>Most strategies fail not because the plan was bad.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724912"/>
            <a:ext cx="6309360" cy="4389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0" i="0">
                <a:solidFill>
                  <a:srgbClr val="CCEEE4"/>
                </a:solidFill>
                <a:latin typeface="Calibri"/>
              </a:rPr>
              <a:t>They fail because one belief no longer true, and nobody checked.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3163824"/>
            <a:ext cx="6309360" cy="4389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0" i="0">
                <a:solidFill>
                  <a:srgbClr val="CCEEE4"/>
                </a:solidFill>
                <a:latin typeface="Calibri"/>
              </a:rPr>
              <a:t>BCG calls these "load-bearing assumptions" — the beliefs the entire strategy rests 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0" y="713232"/>
            <a:ext cx="4663440" cy="5303520"/>
          </a:xfrm>
          <a:prstGeom prst="roundRect">
            <a:avLst>
              <a:gd name="adj" fmla="val 4000"/>
            </a:avLst>
          </a:prstGeom>
          <a:solidFill>
            <a:srgbClr val="002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96912" y="859536"/>
            <a:ext cx="438912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007755"/>
                </a:solidFill>
                <a:latin typeface="Calibri"/>
              </a:rPr>
              <a:t>THE PROMPT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69480" y="1216152"/>
            <a:ext cx="4389120" cy="402336"/>
          </a:xfrm>
          <a:prstGeom prst="roundRect">
            <a:avLst>
              <a:gd name="adj" fmla="val 3000"/>
            </a:avLst>
          </a:prstGeom>
          <a:solidFill>
            <a:srgbClr val="00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33488" y="1234439"/>
            <a:ext cx="4261104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FB800"/>
                </a:solidFill>
                <a:latin typeface="Calibri"/>
              </a:rPr>
              <a:t>/assumption-audit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96912" y="1737360"/>
            <a:ext cx="438912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CCEEE4"/>
                </a:solidFill>
                <a:latin typeface="Calibri"/>
              </a:rPr>
              <a:t>/assumption-audit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96912" y="2194560"/>
            <a:ext cx="438912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CCEEE4"/>
                </a:solidFill>
                <a:latin typeface="Calibri"/>
              </a:rPr>
              <a:t>Strategy or plan: [describe the strategy, investment, or decision in 3–5 sentences]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96912" y="2542032"/>
            <a:ext cx="438912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CCEEE4"/>
                </a:solidFill>
                <a:latin typeface="Calibri"/>
              </a:rPr>
              <a:t>Decision context: [who will decide, what's at stake, timeline]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96912" y="2889504"/>
            <a:ext cx="438912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CCEEE4"/>
                </a:solidFill>
                <a:latin typeface="Calibri"/>
              </a:rPr>
              <a:t>Evidence available: [what data supports it]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96912" y="3236976"/>
            <a:ext cx="438912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CCEEE4"/>
                </a:solidFill>
                <a:latin typeface="Calibri"/>
              </a:rPr>
              <a:t>Known risks: [concerns already flagged]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3831336"/>
            <a:ext cx="640080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96B"/>
                </a:solidFill>
                <a:latin typeface="Calibri"/>
              </a:rPr>
              <a:t>Claude returns: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1480" y="4233672"/>
            <a:ext cx="237744" cy="237744"/>
          </a:xfrm>
          <a:prstGeom prst="roundRect">
            <a:avLst>
              <a:gd name="adj" fmla="val 5000"/>
            </a:avLst>
          </a:prstGeom>
          <a:solidFill>
            <a:srgbClr val="007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" y="4215384"/>
            <a:ext cx="23774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" y="4178808"/>
            <a:ext cx="6126480" cy="4206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FFFFFF"/>
                </a:solidFill>
                <a:latin typeface="Calibri"/>
              </a:rPr>
              <a:t>Every load-bearing assumption, ranked by evidence strength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11480" y="4709160"/>
            <a:ext cx="237744" cy="237744"/>
          </a:xfrm>
          <a:prstGeom prst="roundRect">
            <a:avLst>
              <a:gd name="adj" fmla="val 5000"/>
            </a:avLst>
          </a:prstGeom>
          <a:solidFill>
            <a:srgbClr val="007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80" y="4690872"/>
            <a:ext cx="23774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8" y="4654296"/>
            <a:ext cx="6126480" cy="4206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FFFFFF"/>
                </a:solidFill>
                <a:latin typeface="Calibri"/>
              </a:rPr>
              <a:t>What would have to be true for each one to hold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11480" y="5184648"/>
            <a:ext cx="237744" cy="237744"/>
          </a:xfrm>
          <a:prstGeom prst="roundRect">
            <a:avLst>
              <a:gd name="adj" fmla="val 5000"/>
            </a:avLst>
          </a:prstGeom>
          <a:solidFill>
            <a:srgbClr val="007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1480" y="5166360"/>
            <a:ext cx="23774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→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8" y="5129784"/>
            <a:ext cx="6126480" cy="4206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FFFFFF"/>
                </a:solidFill>
                <a:latin typeface="Calibri"/>
              </a:rPr>
              <a:t>The test to run if evidence is weak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11480" y="5660136"/>
            <a:ext cx="237744" cy="237744"/>
          </a:xfrm>
          <a:prstGeom prst="roundRect">
            <a:avLst>
              <a:gd name="adj" fmla="val 5000"/>
            </a:avLst>
          </a:prstGeom>
          <a:solidFill>
            <a:srgbClr val="007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80" y="5641848"/>
            <a:ext cx="23774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→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9808" y="5605272"/>
            <a:ext cx="6126480" cy="4206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FFFFFF"/>
                </a:solidFill>
                <a:latin typeface="Calibri"/>
              </a:rPr>
              <a:t>Kill criteria — what would make this strategy wrong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The Consultant's Guide to Claude · BCG-Style Prompt Templates · 2026-06-18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6 / 44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7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640080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07755"/>
                </a:solidFill>
                <a:latin typeface="Calibri"/>
              </a:rPr>
              <a:t>LINKEDIN POST — COPY &amp; PUBLISH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42655" y="201168"/>
            <a:ext cx="3200400" cy="365760"/>
          </a:xfrm>
          <a:prstGeom prst="roundRect">
            <a:avLst>
              <a:gd name="adj" fmla="val 4000"/>
            </a:avLst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15807" y="219456"/>
            <a:ext cx="3054096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00996B"/>
                </a:solidFill>
                <a:latin typeface="Calibri"/>
              </a:rPr>
              <a:t>PROBLEM-FRAMING: Assumption Audit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94944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200" b="1" i="0">
                <a:solidFill>
                  <a:srgbClr val="001824"/>
                </a:solidFill>
                <a:latin typeface="Calibri"/>
              </a:rPr>
              <a:t>Every strategy has a hidden assumption that will kill it.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591056"/>
            <a:ext cx="1828800" cy="45720"/>
          </a:xfrm>
          <a:prstGeom prst="rect">
            <a:avLst/>
          </a:prstGeom>
          <a:solidFill>
            <a:srgbClr val="007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737360"/>
            <a:ext cx="5029200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Most strategies fail not because the plan was bad.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066544"/>
            <a:ext cx="5029200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They fail because one belief no longer true, and nobody checked.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505456"/>
            <a:ext cx="5029200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BCG calls these "load-bearing assumptions" — the beliefs the entire strategy rests 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944368"/>
            <a:ext cx="5029200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I now run an Assumption Audit through Claude before any major recommendation.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609344"/>
            <a:ext cx="5577840" cy="4535424"/>
          </a:xfrm>
          <a:prstGeom prst="roundRect">
            <a:avLst>
              <a:gd name="adj" fmla="val 4000"/>
            </a:avLst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755648"/>
            <a:ext cx="525780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007755"/>
                </a:solidFill>
                <a:latin typeface="Calibri"/>
              </a:rPr>
              <a:t>COPY THIS PROMPT INTO CLAUDE CODE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82512" y="2139696"/>
            <a:ext cx="5248656" cy="420624"/>
          </a:xfrm>
          <a:prstGeom prst="roundRect">
            <a:avLst>
              <a:gd name="adj" fmla="val 3000"/>
            </a:avLst>
          </a:prstGeom>
          <a:solidFill>
            <a:srgbClr val="000C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55664" y="2157984"/>
            <a:ext cx="5102352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FFB800"/>
                </a:solidFill>
                <a:latin typeface="Calibri"/>
              </a:rPr>
              <a:t>/assumption-audit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688336"/>
            <a:ext cx="525780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FFB800"/>
                </a:solidFill>
                <a:latin typeface="Calibri"/>
              </a:rPr>
              <a:t>/assumption-audit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118104"/>
            <a:ext cx="525780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CCEEE4"/>
                </a:solidFill>
                <a:latin typeface="Calibri"/>
              </a:rPr>
              <a:t>Strategy or plan: [describe the strategy, investment, or decision in 3–5 sentences]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456432"/>
            <a:ext cx="525780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CCEEE4"/>
                </a:solidFill>
                <a:latin typeface="Calibri"/>
              </a:rPr>
              <a:t>Decision context: [who will decide, what's at stake, timeline]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794760"/>
            <a:ext cx="525780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CCEEE4"/>
                </a:solidFill>
                <a:latin typeface="Calibri"/>
              </a:rPr>
              <a:t>Evidence available: [what data supports it]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4133088"/>
            <a:ext cx="525780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CCEEE4"/>
                </a:solidFill>
                <a:latin typeface="Calibri"/>
              </a:rPr>
              <a:t>Known risks: [concerns already flagged]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The Consultant's Guide to Claude · BCG-Style Prompt Templates · 2026-06-18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7 / 44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55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56032"/>
            <a:ext cx="548640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05599"/>
                </a:solidFill>
                <a:latin typeface="Calibri"/>
              </a:rPr>
              <a:t>02 / MARKET INTELLIGENCE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271455" y="201168"/>
            <a:ext cx="1371600" cy="402336"/>
          </a:xfrm>
          <a:prstGeom prst="roundRect">
            <a:avLst>
              <a:gd name="adj" fmla="val 6000"/>
            </a:avLst>
          </a:prstGeom>
          <a:solidFill>
            <a:srgbClr val="0055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17175" y="219456"/>
            <a:ext cx="12801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Calibri"/>
              </a:rPr>
              <a:t>SKILL 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13232"/>
            <a:ext cx="6309360" cy="12801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800" b="1" i="0">
                <a:solidFill>
                  <a:srgbClr val="FFFFFF"/>
                </a:solidFill>
                <a:latin typeface="Calibri"/>
              </a:rPr>
              <a:t>TAM is not a market strategy.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2084831"/>
            <a:ext cx="2560320" cy="54864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2286000"/>
            <a:ext cx="6309360" cy="4389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0" i="0">
                <a:solidFill>
                  <a:srgbClr val="CCEEE4"/>
                </a:solidFill>
                <a:latin typeface="Calibri"/>
              </a:rPr>
              <a:t>Saying "our market is $50B" tells an investor nothing about where to compete.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724912"/>
            <a:ext cx="6309360" cy="4389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0" i="0">
                <a:solidFill>
                  <a:srgbClr val="CCEEE4"/>
                </a:solidFill>
                <a:latin typeface="Calibri"/>
              </a:rPr>
              <a:t>BCG's Market Mapping skill answers a different question: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3163824"/>
            <a:ext cx="6309360" cy="4389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0" i="0">
                <a:solidFill>
                  <a:srgbClr val="CCEEE4"/>
                </a:solidFill>
                <a:latin typeface="Calibri"/>
              </a:rPr>
              <a:t>*Where in this market is value created, growing, and capturable — and which segment is actually worth entering?*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0" y="713232"/>
            <a:ext cx="4663440" cy="5303520"/>
          </a:xfrm>
          <a:prstGeom prst="roundRect">
            <a:avLst>
              <a:gd name="adj" fmla="val 4000"/>
            </a:avLst>
          </a:prstGeom>
          <a:solidFill>
            <a:srgbClr val="002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96912" y="859536"/>
            <a:ext cx="438912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005599"/>
                </a:solidFill>
                <a:latin typeface="Calibri"/>
              </a:rPr>
              <a:t>THE PROMPT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69480" y="1216152"/>
            <a:ext cx="4389120" cy="402336"/>
          </a:xfrm>
          <a:prstGeom prst="roundRect">
            <a:avLst>
              <a:gd name="adj" fmla="val 3000"/>
            </a:avLst>
          </a:prstGeom>
          <a:solidFill>
            <a:srgbClr val="00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33488" y="1234439"/>
            <a:ext cx="4261104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FB800"/>
                </a:solidFill>
                <a:latin typeface="Calibri"/>
              </a:rPr>
              <a:t>/market-mapping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96912" y="1737360"/>
            <a:ext cx="438912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CCEEE4"/>
                </a:solidFill>
                <a:latin typeface="Calibri"/>
              </a:rPr>
              <a:t>/market-mapping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96912" y="2194560"/>
            <a:ext cx="438912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CCEEE4"/>
                </a:solidFill>
                <a:latin typeface="Calibri"/>
              </a:rPr>
              <a:t>Market: [name/description]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96912" y="2542032"/>
            <a:ext cx="438912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CCEEE4"/>
                </a:solidFill>
                <a:latin typeface="Calibri"/>
              </a:rPr>
              <a:t>Our current position: [where we play today, revenue, share]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96912" y="2889504"/>
            <a:ext cx="438912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CCEEE4"/>
                </a:solidFill>
                <a:latin typeface="Calibri"/>
              </a:rPr>
              <a:t>Strategic question: [market entry / segment focus / expansion / where to double down]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96912" y="3236976"/>
            <a:ext cx="438912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CCEEE4"/>
                </a:solidFill>
                <a:latin typeface="Calibri"/>
              </a:rPr>
              <a:t>Data available: [market reports, revenue by segment, customer data]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96912" y="3584448"/>
            <a:ext cx="438912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CCEEE4"/>
                </a:solidFill>
                <a:latin typeface="Calibri"/>
              </a:rPr>
              <a:t>Decision timeline: [when this needs to be decided]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3831336"/>
            <a:ext cx="640080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96B"/>
                </a:solidFill>
                <a:latin typeface="Calibri"/>
              </a:rPr>
              <a:t>Claude returns: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11480" y="4233672"/>
            <a:ext cx="237744" cy="237744"/>
          </a:xfrm>
          <a:prstGeom prst="roundRect">
            <a:avLst>
              <a:gd name="adj" fmla="val 5000"/>
            </a:avLst>
          </a:prstGeom>
          <a:solidFill>
            <a:srgbClr val="0055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4215384"/>
            <a:ext cx="23774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8" y="4178808"/>
            <a:ext cx="6126480" cy="4206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FFFFFF"/>
                </a:solidFill>
                <a:latin typeface="Calibri"/>
              </a:rPr>
              <a:t>Top-down AND bottom-up market sizing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11480" y="4709160"/>
            <a:ext cx="237744" cy="237744"/>
          </a:xfrm>
          <a:prstGeom prst="roundRect">
            <a:avLst>
              <a:gd name="adj" fmla="val 5000"/>
            </a:avLst>
          </a:prstGeom>
          <a:solidFill>
            <a:srgbClr val="0055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80" y="4690872"/>
            <a:ext cx="23774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8" y="4654296"/>
            <a:ext cx="6126480" cy="4206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FFFFFF"/>
                </a:solidFill>
                <a:latin typeface="Calibri"/>
              </a:rPr>
              <a:t>Segment attractiveness matrix (growth × profitability × competitive intensity)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11480" y="5184648"/>
            <a:ext cx="237744" cy="237744"/>
          </a:xfrm>
          <a:prstGeom prst="roundRect">
            <a:avLst>
              <a:gd name="adj" fmla="val 5000"/>
            </a:avLst>
          </a:prstGeom>
          <a:solidFill>
            <a:srgbClr val="0055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1480" y="5166360"/>
            <a:ext cx="23774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8" y="5129784"/>
            <a:ext cx="6126480" cy="4206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FFFFFF"/>
                </a:solidFill>
                <a:latin typeface="Calibri"/>
              </a:rPr>
              <a:t>White space with entry logic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11480" y="5660136"/>
            <a:ext cx="237744" cy="237744"/>
          </a:xfrm>
          <a:prstGeom prst="roundRect">
            <a:avLst>
              <a:gd name="adj" fmla="val 5000"/>
            </a:avLst>
          </a:prstGeom>
          <a:solidFill>
            <a:srgbClr val="0055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11480" y="5641848"/>
            <a:ext cx="23774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→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9808" y="5605272"/>
            <a:ext cx="6126480" cy="4206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FFFFFF"/>
                </a:solidFill>
                <a:latin typeface="Calibri"/>
              </a:rPr>
              <a:t>Where-to-play recommendation with trade-offs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The Consultant's Guide to Claude · BCG-Style Prompt Templates · 2026-06-18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8 / 44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55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640080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05599"/>
                </a:solidFill>
                <a:latin typeface="Calibri"/>
              </a:rPr>
              <a:t>LINKEDIN POST — COPY &amp; PUBLISH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42655" y="201168"/>
            <a:ext cx="3200400" cy="365760"/>
          </a:xfrm>
          <a:prstGeom prst="roundRect">
            <a:avLst>
              <a:gd name="adj" fmla="val 4000"/>
            </a:avLst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15807" y="219456"/>
            <a:ext cx="3054096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00996B"/>
                </a:solidFill>
                <a:latin typeface="Calibri"/>
              </a:rPr>
              <a:t>MARKET INTELLIGENCE: Market Mapp…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94944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200" b="1" i="0">
                <a:solidFill>
                  <a:srgbClr val="001824"/>
                </a:solidFill>
                <a:latin typeface="Calibri"/>
              </a:rPr>
              <a:t>TAM is not a market strategy.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591056"/>
            <a:ext cx="1828800" cy="45720"/>
          </a:xfrm>
          <a:prstGeom prst="rect">
            <a:avLst/>
          </a:prstGeom>
          <a:solidFill>
            <a:srgbClr val="0055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737360"/>
            <a:ext cx="5029200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Saying "our market is $50B" tells an investor nothing about where to compete.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176272"/>
            <a:ext cx="5029200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BCG's Market Mapping skill answers a different question: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505456"/>
            <a:ext cx="5029200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*Where in this market is value created, growing, and capturable — and which segment is actually worth entering?*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609344"/>
            <a:ext cx="5577840" cy="4535424"/>
          </a:xfrm>
          <a:prstGeom prst="roundRect">
            <a:avLst>
              <a:gd name="adj" fmla="val 4000"/>
            </a:avLst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755648"/>
            <a:ext cx="525780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005599"/>
                </a:solidFill>
                <a:latin typeface="Calibri"/>
              </a:rPr>
              <a:t>COPY THIS PROMPT INTO CLAUDE CODE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82512" y="2139696"/>
            <a:ext cx="5248656" cy="420624"/>
          </a:xfrm>
          <a:prstGeom prst="roundRect">
            <a:avLst>
              <a:gd name="adj" fmla="val 3000"/>
            </a:avLst>
          </a:prstGeom>
          <a:solidFill>
            <a:srgbClr val="000C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55664" y="2157984"/>
            <a:ext cx="5102352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FFB800"/>
                </a:solidFill>
                <a:latin typeface="Calibri"/>
              </a:rPr>
              <a:t>/market-mapping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688336"/>
            <a:ext cx="525780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FFB800"/>
                </a:solidFill>
                <a:latin typeface="Calibri"/>
              </a:rPr>
              <a:t>/market-mapping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118104"/>
            <a:ext cx="525780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CCEEE4"/>
                </a:solidFill>
                <a:latin typeface="Calibri"/>
              </a:rPr>
              <a:t>Market: [name/description]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456432"/>
            <a:ext cx="525780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CCEEE4"/>
                </a:solidFill>
                <a:latin typeface="Calibri"/>
              </a:rPr>
              <a:t>Our current position: [where we play today, revenue, share]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794760"/>
            <a:ext cx="525780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CCEEE4"/>
                </a:solidFill>
                <a:latin typeface="Calibri"/>
              </a:rPr>
              <a:t>Strategic question: [market entry / segment focus / expansion / where to double down]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4133088"/>
            <a:ext cx="525780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CCEEE4"/>
                </a:solidFill>
                <a:latin typeface="Calibri"/>
              </a:rPr>
              <a:t>Data available: [market reports, revenue by segment, customer data]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4471416"/>
            <a:ext cx="525780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CCEEE4"/>
                </a:solidFill>
                <a:latin typeface="Calibri"/>
              </a:rPr>
              <a:t>Decision timeline: [when this needs to be decided]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The Consultant's Guide to Claude · BCG-Style Prompt Templates · 2026-06-18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9 / 44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55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56032"/>
            <a:ext cx="548640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05599"/>
                </a:solidFill>
                <a:latin typeface="Calibri"/>
              </a:rPr>
              <a:t>02 / MARKET INTELLIGENCE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271455" y="201168"/>
            <a:ext cx="1371600" cy="402336"/>
          </a:xfrm>
          <a:prstGeom prst="roundRect">
            <a:avLst>
              <a:gd name="adj" fmla="val 6000"/>
            </a:avLst>
          </a:prstGeom>
          <a:solidFill>
            <a:srgbClr val="0055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17175" y="219456"/>
            <a:ext cx="12801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Calibri"/>
              </a:rPr>
              <a:t>SKILL 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13232"/>
            <a:ext cx="6309360" cy="12801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800" b="1" i="0">
                <a:solidFill>
                  <a:srgbClr val="FFFFFF"/>
                </a:solidFill>
                <a:latin typeface="Calibri"/>
              </a:rPr>
              <a:t>Your biggest competitor risk is not what they're doing today.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2084831"/>
            <a:ext cx="2560320" cy="54864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2286000"/>
            <a:ext cx="6309360" cy="4389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0" i="0">
                <a:solidFill>
                  <a:srgbClr val="CCEEE4"/>
                </a:solidFill>
                <a:latin typeface="Calibri"/>
              </a:rPr>
              <a:t>It's what they'll do the day you announce your new strategy.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724912"/>
            <a:ext cx="6309360" cy="4389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0" i="0">
                <a:solidFill>
                  <a:srgbClr val="CCEEE4"/>
                </a:solidFill>
                <a:latin typeface="Calibri"/>
              </a:rPr>
              <a:t>BCG doesn't ask "what are competitors doing?"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3163824"/>
            <a:ext cx="6309360" cy="4389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0" i="0">
                <a:solidFill>
                  <a:srgbClr val="CCEEE4"/>
                </a:solidFill>
                <a:latin typeface="Calibri"/>
              </a:rPr>
              <a:t>They ask "what are competitors *incentivised* to do next — and when?"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0" y="713232"/>
            <a:ext cx="4663440" cy="5303520"/>
          </a:xfrm>
          <a:prstGeom prst="roundRect">
            <a:avLst>
              <a:gd name="adj" fmla="val 4000"/>
            </a:avLst>
          </a:prstGeom>
          <a:solidFill>
            <a:srgbClr val="002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96912" y="859536"/>
            <a:ext cx="438912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005599"/>
                </a:solidFill>
                <a:latin typeface="Calibri"/>
              </a:rPr>
              <a:t>THE PROMPT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69480" y="1216152"/>
            <a:ext cx="4389120" cy="402336"/>
          </a:xfrm>
          <a:prstGeom prst="roundRect">
            <a:avLst>
              <a:gd name="adj" fmla="val 3000"/>
            </a:avLst>
          </a:prstGeom>
          <a:solidFill>
            <a:srgbClr val="00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33488" y="1234439"/>
            <a:ext cx="4261104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FB800"/>
                </a:solidFill>
                <a:latin typeface="Calibri"/>
              </a:rPr>
              <a:t>/competitive-intel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96912" y="1737360"/>
            <a:ext cx="438912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CCEEE4"/>
                </a:solidFill>
                <a:latin typeface="Calibri"/>
              </a:rPr>
              <a:t>/competitive-intel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96912" y="2194560"/>
            <a:ext cx="438912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CCEEE4"/>
                </a:solidFill>
                <a:latin typeface="Calibri"/>
              </a:rPr>
              <a:t>Your planned strategic move: [new product, price change, market entry, M&amp;A, etc.]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96912" y="2542032"/>
            <a:ext cx="438912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CCEEE4"/>
                </a:solidFill>
                <a:latin typeface="Calibri"/>
              </a:rPr>
              <a:t>Key competitors: [list 2–4, with what you know about their position/resources]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96912" y="2889504"/>
            <a:ext cx="438912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CCEEE4"/>
                </a:solidFill>
                <a:latin typeface="Calibri"/>
              </a:rPr>
              <a:t>Your current position vs. each: [stronger/weaker in what dimensions]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96912" y="3236976"/>
            <a:ext cx="438912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CCEEE4"/>
                </a:solidFill>
                <a:latin typeface="Calibri"/>
              </a:rPr>
              <a:t>What you fear they'll do: [your instinct on their response]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3831336"/>
            <a:ext cx="640080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96B"/>
                </a:solidFill>
                <a:latin typeface="Calibri"/>
              </a:rPr>
              <a:t>Claude returns: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1480" y="4233672"/>
            <a:ext cx="237744" cy="237744"/>
          </a:xfrm>
          <a:prstGeom prst="roundRect">
            <a:avLst>
              <a:gd name="adj" fmla="val 5000"/>
            </a:avLst>
          </a:prstGeom>
          <a:solidFill>
            <a:srgbClr val="0055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" y="4215384"/>
            <a:ext cx="23774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" y="4178808"/>
            <a:ext cx="6126480" cy="4206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FFFFFF"/>
                </a:solidFill>
                <a:latin typeface="Calibri"/>
              </a:rPr>
              <a:t>Competitor intent model (incentives, capabilities, constraints)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11480" y="4709160"/>
            <a:ext cx="237744" cy="237744"/>
          </a:xfrm>
          <a:prstGeom prst="roundRect">
            <a:avLst>
              <a:gd name="adj" fmla="val 5000"/>
            </a:avLst>
          </a:prstGeom>
          <a:solidFill>
            <a:srgbClr val="0055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80" y="4690872"/>
            <a:ext cx="23774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8" y="4654296"/>
            <a:ext cx="6126480" cy="4206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FFFFFF"/>
                </a:solidFill>
                <a:latin typeface="Calibri"/>
              </a:rPr>
              <a:t>Likely response scenarios (base, aggressive, defensive)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11480" y="5184648"/>
            <a:ext cx="237744" cy="237744"/>
          </a:xfrm>
          <a:prstGeom prst="roundRect">
            <a:avLst>
              <a:gd name="adj" fmla="val 5000"/>
            </a:avLst>
          </a:prstGeom>
          <a:solidFill>
            <a:srgbClr val="0055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1480" y="5166360"/>
            <a:ext cx="23774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→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8" y="5129784"/>
            <a:ext cx="6126480" cy="4206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FFFFFF"/>
                </a:solidFill>
                <a:latin typeface="Calibri"/>
              </a:rPr>
              <a:t>Your vulnerabilities they'll target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11480" y="5660136"/>
            <a:ext cx="237744" cy="237744"/>
          </a:xfrm>
          <a:prstGeom prst="roundRect">
            <a:avLst>
              <a:gd name="adj" fmla="val 5000"/>
            </a:avLst>
          </a:prstGeom>
          <a:solidFill>
            <a:srgbClr val="0055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80" y="5641848"/>
            <a:ext cx="23774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→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9808" y="5605272"/>
            <a:ext cx="6126480" cy="4206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FFFFFF"/>
                </a:solidFill>
                <a:latin typeface="Calibri"/>
              </a:rPr>
              <a:t>Pre-emptive moves to make their response harder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The Consultant's Guide to Claude · BCG-Style Prompt Templates · 2026-06-18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10 / 44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55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640080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05599"/>
                </a:solidFill>
                <a:latin typeface="Calibri"/>
              </a:rPr>
              <a:t>LINKEDIN POST — COPY &amp; PUBLISH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42655" y="201168"/>
            <a:ext cx="3200400" cy="365760"/>
          </a:xfrm>
          <a:prstGeom prst="roundRect">
            <a:avLst>
              <a:gd name="adj" fmla="val 4000"/>
            </a:avLst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15807" y="219456"/>
            <a:ext cx="3054096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00996B"/>
                </a:solidFill>
                <a:latin typeface="Calibri"/>
              </a:rPr>
              <a:t>MARKET INTELLIGENCE: Competitive…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94944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200" b="1" i="0">
                <a:solidFill>
                  <a:srgbClr val="001824"/>
                </a:solidFill>
                <a:latin typeface="Calibri"/>
              </a:rPr>
              <a:t>Your biggest competitor risk is not what they're doing today.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591056"/>
            <a:ext cx="1828800" cy="45720"/>
          </a:xfrm>
          <a:prstGeom prst="rect">
            <a:avLst/>
          </a:prstGeom>
          <a:solidFill>
            <a:srgbClr val="0055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737360"/>
            <a:ext cx="5029200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It's what they'll do the day you announce your new strategy.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066544"/>
            <a:ext cx="5029200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BCG doesn't ask "what are competitors doing?"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395728"/>
            <a:ext cx="5029200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They ask "what are competitors *incentivised* to do next — and when?"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834640"/>
            <a:ext cx="5029200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I use this skill before every go-to-market decision.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609344"/>
            <a:ext cx="5577840" cy="4535424"/>
          </a:xfrm>
          <a:prstGeom prst="roundRect">
            <a:avLst>
              <a:gd name="adj" fmla="val 4000"/>
            </a:avLst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755648"/>
            <a:ext cx="525780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005599"/>
                </a:solidFill>
                <a:latin typeface="Calibri"/>
              </a:rPr>
              <a:t>COPY THIS PROMPT INTO CLAUDE CODE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82512" y="2139696"/>
            <a:ext cx="5248656" cy="420624"/>
          </a:xfrm>
          <a:prstGeom prst="roundRect">
            <a:avLst>
              <a:gd name="adj" fmla="val 3000"/>
            </a:avLst>
          </a:prstGeom>
          <a:solidFill>
            <a:srgbClr val="000C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55664" y="2157984"/>
            <a:ext cx="5102352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FFB800"/>
                </a:solidFill>
                <a:latin typeface="Calibri"/>
              </a:rPr>
              <a:t>/competitive-intel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688336"/>
            <a:ext cx="525780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FFB800"/>
                </a:solidFill>
                <a:latin typeface="Calibri"/>
              </a:rPr>
              <a:t>/competitive-intel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118104"/>
            <a:ext cx="525780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CCEEE4"/>
                </a:solidFill>
                <a:latin typeface="Calibri"/>
              </a:rPr>
              <a:t>Your planned strategic move: [new product, price change, market entry, M&amp;A, etc.]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456432"/>
            <a:ext cx="525780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CCEEE4"/>
                </a:solidFill>
                <a:latin typeface="Calibri"/>
              </a:rPr>
              <a:t>Key competitors: [list 2–4, with what you know about their position/resources]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794760"/>
            <a:ext cx="525780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CCEEE4"/>
                </a:solidFill>
                <a:latin typeface="Calibri"/>
              </a:rPr>
              <a:t>Your current position vs. each: [stronger/weaker in what dimensions]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4133088"/>
            <a:ext cx="525780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CCEEE4"/>
                </a:solidFill>
                <a:latin typeface="Calibri"/>
              </a:rPr>
              <a:t>What you fear they'll do: [your instinct on their response]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The Consultant's Guide to Claude · BCG-Style Prompt Templates · 2026-06-18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11 / 44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55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56032"/>
            <a:ext cx="548640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05599"/>
                </a:solidFill>
                <a:latin typeface="Calibri"/>
              </a:rPr>
              <a:t>02 / MARKET INTELLIGENCE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271455" y="201168"/>
            <a:ext cx="1371600" cy="402336"/>
          </a:xfrm>
          <a:prstGeom prst="roundRect">
            <a:avLst>
              <a:gd name="adj" fmla="val 6000"/>
            </a:avLst>
          </a:prstGeom>
          <a:solidFill>
            <a:srgbClr val="0055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17175" y="219456"/>
            <a:ext cx="12801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Calibri"/>
              </a:rPr>
              <a:t>SKILL 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13232"/>
            <a:ext cx="6309360" cy="12801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800" b="1" i="0">
                <a:solidFill>
                  <a:srgbClr val="FFFFFF"/>
                </a:solidFill>
                <a:latin typeface="Calibri"/>
              </a:rPr>
              <a:t>"SMB mid-market enterprise" is not a segmentation. It's a size sort.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2084831"/>
            <a:ext cx="2560320" cy="54864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2286000"/>
            <a:ext cx="6309360" cy="4389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0" i="0">
                <a:solidFill>
                  <a:srgbClr val="CCEEE4"/>
                </a:solidFill>
                <a:latin typeface="Calibri"/>
              </a:rPr>
              <a:t>BCG's Customer Segmentation skill builds MECE segments based on: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724912"/>
            <a:ext cx="6309360" cy="4389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0" i="0">
                <a:solidFill>
                  <a:srgbClr val="CCEEE4"/>
                </a:solidFill>
                <a:latin typeface="Calibri"/>
              </a:rPr>
              <a:t>- What customers actually need (not what they say)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3163824"/>
            <a:ext cx="6309360" cy="4389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0" i="0">
                <a:solidFill>
                  <a:srgbClr val="CCEEE4"/>
                </a:solidFill>
                <a:latin typeface="Calibri"/>
              </a:rPr>
              <a:t>- The economics of serving each segment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0" y="713232"/>
            <a:ext cx="4663440" cy="5303520"/>
          </a:xfrm>
          <a:prstGeom prst="roundRect">
            <a:avLst>
              <a:gd name="adj" fmla="val 4000"/>
            </a:avLst>
          </a:prstGeom>
          <a:solidFill>
            <a:srgbClr val="002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96912" y="859536"/>
            <a:ext cx="438912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005599"/>
                </a:solidFill>
                <a:latin typeface="Calibri"/>
              </a:rPr>
              <a:t>THE PROMPT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69480" y="1216152"/>
            <a:ext cx="4389120" cy="402336"/>
          </a:xfrm>
          <a:prstGeom prst="roundRect">
            <a:avLst>
              <a:gd name="adj" fmla="val 3000"/>
            </a:avLst>
          </a:prstGeom>
          <a:solidFill>
            <a:srgbClr val="00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33488" y="1234439"/>
            <a:ext cx="4261104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FB800"/>
                </a:solidFill>
                <a:latin typeface="Calibri"/>
              </a:rPr>
              <a:t>/customer-segmentation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96912" y="1737360"/>
            <a:ext cx="438912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CCEEE4"/>
                </a:solidFill>
                <a:latin typeface="Calibri"/>
              </a:rPr>
              <a:t>/customer-segmentation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96912" y="2194560"/>
            <a:ext cx="438912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CCEEE4"/>
                </a:solidFill>
                <a:latin typeface="Calibri"/>
              </a:rPr>
              <a:t>Current customer base: [description, approximate count, industries, company sizes]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96912" y="2542032"/>
            <a:ext cx="438912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CCEEE4"/>
                </a:solidFill>
                <a:latin typeface="Calibri"/>
              </a:rPr>
              <a:t>Revenue breakdown (if known): [by type, size, or channel]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96912" y="2889504"/>
            <a:ext cx="438912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CCEEE4"/>
                </a:solidFill>
                <a:latin typeface="Calibri"/>
              </a:rPr>
              <a:t>Strategic decision depending on this: [pricing / product / GTM focus / retention]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96912" y="3236976"/>
            <a:ext cx="438912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CCEEE4"/>
                </a:solidFill>
                <a:latin typeface="Calibri"/>
              </a:rPr>
              <a:t>Available data: [CRM data, surveys, NPS, usage data — describe what exists]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3831336"/>
            <a:ext cx="640080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96B"/>
                </a:solidFill>
                <a:latin typeface="Calibri"/>
              </a:rPr>
              <a:t>Claude returns: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1480" y="4233672"/>
            <a:ext cx="237744" cy="237744"/>
          </a:xfrm>
          <a:prstGeom prst="roundRect">
            <a:avLst>
              <a:gd name="adj" fmla="val 5000"/>
            </a:avLst>
          </a:prstGeom>
          <a:solidFill>
            <a:srgbClr val="0055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" y="4215384"/>
            <a:ext cx="23774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" y="4178808"/>
            <a:ext cx="6126480" cy="4206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FFFFFF"/>
                </a:solidFill>
                <a:latin typeface="Calibri"/>
              </a:rPr>
              <a:t>Needs-based segments (MECE — no overlap, no gaps)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11480" y="4709160"/>
            <a:ext cx="237744" cy="237744"/>
          </a:xfrm>
          <a:prstGeom prst="roundRect">
            <a:avLst>
              <a:gd name="adj" fmla="val 5000"/>
            </a:avLst>
          </a:prstGeom>
          <a:solidFill>
            <a:srgbClr val="0055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80" y="4690872"/>
            <a:ext cx="23774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8" y="4654296"/>
            <a:ext cx="6126480" cy="4206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FFFFFF"/>
                </a:solidFill>
                <a:latin typeface="Calibri"/>
              </a:rPr>
              <a:t>Economics per segment (CAC, LTV, retention, margin)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11480" y="5184648"/>
            <a:ext cx="237744" cy="237744"/>
          </a:xfrm>
          <a:prstGeom prst="roundRect">
            <a:avLst>
              <a:gd name="adj" fmla="val 5000"/>
            </a:avLst>
          </a:prstGeom>
          <a:solidFill>
            <a:srgbClr val="0055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1480" y="5166360"/>
            <a:ext cx="23774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→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8" y="5129784"/>
            <a:ext cx="6126480" cy="4206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FFFFFF"/>
                </a:solidFill>
                <a:latin typeface="Calibri"/>
              </a:rPr>
              <a:t>Strategic value matrix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11480" y="5660136"/>
            <a:ext cx="237744" cy="237744"/>
          </a:xfrm>
          <a:prstGeom prst="roundRect">
            <a:avLst>
              <a:gd name="adj" fmla="val 5000"/>
            </a:avLst>
          </a:prstGeom>
          <a:solidFill>
            <a:srgbClr val="0055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80" y="5641848"/>
            <a:ext cx="23774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→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9808" y="5605272"/>
            <a:ext cx="6126480" cy="4206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FFFFFF"/>
                </a:solidFill>
                <a:latin typeface="Calibri"/>
              </a:rPr>
              <a:t>Priority segments + resource allocation recommendation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The Consultant's Guide to Claude · BCG-Style Prompt Templates · 2026-06-18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12 / 44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55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640080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05599"/>
                </a:solidFill>
                <a:latin typeface="Calibri"/>
              </a:rPr>
              <a:t>LINKEDIN POST — COPY &amp; PUBLISH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42655" y="201168"/>
            <a:ext cx="3200400" cy="365760"/>
          </a:xfrm>
          <a:prstGeom prst="roundRect">
            <a:avLst>
              <a:gd name="adj" fmla="val 4000"/>
            </a:avLst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15807" y="219456"/>
            <a:ext cx="3054096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00996B"/>
                </a:solidFill>
                <a:latin typeface="Calibri"/>
              </a:rPr>
              <a:t>MARKET INTELLIGENCE: Customer Se…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94944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200" b="1" i="0">
                <a:solidFill>
                  <a:srgbClr val="001824"/>
                </a:solidFill>
                <a:latin typeface="Calibri"/>
              </a:rPr>
              <a:t>"SMB mid-market enterprise" is not a segmentation. It's a size sort.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591056"/>
            <a:ext cx="1828800" cy="45720"/>
          </a:xfrm>
          <a:prstGeom prst="rect">
            <a:avLst/>
          </a:prstGeom>
          <a:solidFill>
            <a:srgbClr val="0055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737360"/>
            <a:ext cx="5029200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BCG's Customer Segmentation skill builds MECE segments based on: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176272"/>
            <a:ext cx="5029200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- What customers actually need (not what they say)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505456"/>
            <a:ext cx="5029200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- The economics of serving each segment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834640"/>
            <a:ext cx="5029200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- Which segments are strategically valuable vs. unprofitable noise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609344"/>
            <a:ext cx="5577840" cy="4535424"/>
          </a:xfrm>
          <a:prstGeom prst="roundRect">
            <a:avLst>
              <a:gd name="adj" fmla="val 4000"/>
            </a:avLst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755648"/>
            <a:ext cx="525780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005599"/>
                </a:solidFill>
                <a:latin typeface="Calibri"/>
              </a:rPr>
              <a:t>COPY THIS PROMPT INTO CLAUDE CODE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82512" y="2139696"/>
            <a:ext cx="5248656" cy="420624"/>
          </a:xfrm>
          <a:prstGeom prst="roundRect">
            <a:avLst>
              <a:gd name="adj" fmla="val 3000"/>
            </a:avLst>
          </a:prstGeom>
          <a:solidFill>
            <a:srgbClr val="000C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55664" y="2157984"/>
            <a:ext cx="5102352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FFB800"/>
                </a:solidFill>
                <a:latin typeface="Calibri"/>
              </a:rPr>
              <a:t>/customer-segmentation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688336"/>
            <a:ext cx="525780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FFB800"/>
                </a:solidFill>
                <a:latin typeface="Calibri"/>
              </a:rPr>
              <a:t>/customer-segmentation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118104"/>
            <a:ext cx="525780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CCEEE4"/>
                </a:solidFill>
                <a:latin typeface="Calibri"/>
              </a:rPr>
              <a:t>Current customer base: [description, approximate count, industries, company sizes]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456432"/>
            <a:ext cx="525780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CCEEE4"/>
                </a:solidFill>
                <a:latin typeface="Calibri"/>
              </a:rPr>
              <a:t>Revenue breakdown (if known): [by type, size, or channel]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794760"/>
            <a:ext cx="525780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CCEEE4"/>
                </a:solidFill>
                <a:latin typeface="Calibri"/>
              </a:rPr>
              <a:t>Strategic decision depending on this: [pricing / product / GTM focus / retention]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4133088"/>
            <a:ext cx="525780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CCEEE4"/>
                </a:solidFill>
                <a:latin typeface="Calibri"/>
              </a:rPr>
              <a:t>Available data: [CRM data, surveys, NPS, usage data — describe what exists]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The Consultant's Guide to Claude · BCG-Style Prompt Templates · 2026-06-18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13 / 44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55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56032"/>
            <a:ext cx="548640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05599"/>
                </a:solidFill>
                <a:latin typeface="Calibri"/>
              </a:rPr>
              <a:t>02 / MARKET INTELLIGENCE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271455" y="201168"/>
            <a:ext cx="1371600" cy="402336"/>
          </a:xfrm>
          <a:prstGeom prst="roundRect">
            <a:avLst>
              <a:gd name="adj" fmla="val 6000"/>
            </a:avLst>
          </a:prstGeom>
          <a:solidFill>
            <a:srgbClr val="0055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17175" y="219456"/>
            <a:ext cx="12801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Calibri"/>
              </a:rPr>
              <a:t>SKILL 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13232"/>
            <a:ext cx="6309360" cy="12801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800" b="1" i="0">
                <a:solidFill>
                  <a:srgbClr val="FFFFFF"/>
                </a:solidFill>
                <a:latin typeface="Calibri"/>
              </a:rPr>
              <a:t>Revenue is vanity. Profit pool is strategy.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2084831"/>
            <a:ext cx="2560320" cy="54864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2286000"/>
            <a:ext cx="6309360" cy="4389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0" i="0">
                <a:solidFill>
                  <a:srgbClr val="CCEEE4"/>
                </a:solidFill>
                <a:latin typeface="Calibri"/>
              </a:rPr>
              <a:t>Most companies compete for revenue.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724912"/>
            <a:ext cx="6309360" cy="4389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0" i="0">
                <a:solidFill>
                  <a:srgbClr val="CCEEE4"/>
                </a:solidFill>
                <a:latin typeface="Calibri"/>
              </a:rPr>
              <a:t>The best companies compete for profit.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3163824"/>
            <a:ext cx="6309360" cy="4389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0" i="0">
                <a:solidFill>
                  <a:srgbClr val="CCEEE4"/>
                </a:solidFill>
                <a:latin typeface="Calibri"/>
              </a:rPr>
              <a:t>BCG's Profit Pool Analysis maps where in your market, product portfolio, or value chain profit is actually created — and where it's quietly leaking.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0" y="713232"/>
            <a:ext cx="4663440" cy="5303520"/>
          </a:xfrm>
          <a:prstGeom prst="roundRect">
            <a:avLst>
              <a:gd name="adj" fmla="val 4000"/>
            </a:avLst>
          </a:prstGeom>
          <a:solidFill>
            <a:srgbClr val="002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96912" y="859536"/>
            <a:ext cx="438912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005599"/>
                </a:solidFill>
                <a:latin typeface="Calibri"/>
              </a:rPr>
              <a:t>THE PROMPT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69480" y="1216152"/>
            <a:ext cx="4389120" cy="402336"/>
          </a:xfrm>
          <a:prstGeom prst="roundRect">
            <a:avLst>
              <a:gd name="adj" fmla="val 3000"/>
            </a:avLst>
          </a:prstGeom>
          <a:solidFill>
            <a:srgbClr val="00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33488" y="1234439"/>
            <a:ext cx="4261104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FB800"/>
                </a:solidFill>
                <a:latin typeface="Calibri"/>
              </a:rPr>
              <a:t>/profit-pool-analysis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96912" y="1737360"/>
            <a:ext cx="438912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CCEEE4"/>
                </a:solidFill>
                <a:latin typeface="Calibri"/>
              </a:rPr>
              <a:t>/profit-pool-analysis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96912" y="2194560"/>
            <a:ext cx="438912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CCEEE4"/>
                </a:solidFill>
                <a:latin typeface="Calibri"/>
              </a:rPr>
              <a:t>Products/services: [list with approximate revenue and gross margin for each]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96912" y="2542032"/>
            <a:ext cx="438912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CCEEE4"/>
                </a:solidFill>
                <a:latin typeface="Calibri"/>
              </a:rPr>
              <a:t>Customer segments: [and what margin you make serving each]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96912" y="2889504"/>
            <a:ext cx="438912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CCEEE4"/>
                </a:solidFill>
                <a:latin typeface="Calibri"/>
              </a:rPr>
              <a:t>Value chain role: [where you sit — vendor/platform/distributor/integrator]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96912" y="3236976"/>
            <a:ext cx="438912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CCEEE4"/>
                </a:solidFill>
                <a:latin typeface="Calibri"/>
              </a:rPr>
              <a:t>Where you suspect margin is leaking: [your hypothesis]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3831336"/>
            <a:ext cx="640080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96B"/>
                </a:solidFill>
                <a:latin typeface="Calibri"/>
              </a:rPr>
              <a:t>Claude returns: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1480" y="4233672"/>
            <a:ext cx="237744" cy="237744"/>
          </a:xfrm>
          <a:prstGeom prst="roundRect">
            <a:avLst>
              <a:gd name="adj" fmla="val 5000"/>
            </a:avLst>
          </a:prstGeom>
          <a:solidFill>
            <a:srgbClr val="0055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" y="4215384"/>
            <a:ext cx="23774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" y="4178808"/>
            <a:ext cx="6126480" cy="4206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FFFFFF"/>
                </a:solidFill>
                <a:latin typeface="Calibri"/>
              </a:rPr>
              <a:t>Profit pool map (segment × margin × strategic position)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11480" y="4709160"/>
            <a:ext cx="237744" cy="237744"/>
          </a:xfrm>
          <a:prstGeom prst="roundRect">
            <a:avLst>
              <a:gd name="adj" fmla="val 5000"/>
            </a:avLst>
          </a:prstGeom>
          <a:solidFill>
            <a:srgbClr val="0055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80" y="4690872"/>
            <a:ext cx="23774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8" y="4654296"/>
            <a:ext cx="6126480" cy="4206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FFFFFF"/>
                </a:solidFill>
                <a:latin typeface="Calibri"/>
              </a:rPr>
              <a:t>Where you're over-serving low-margin customers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11480" y="5184648"/>
            <a:ext cx="237744" cy="237744"/>
          </a:xfrm>
          <a:prstGeom prst="roundRect">
            <a:avLst>
              <a:gd name="adj" fmla="val 5000"/>
            </a:avLst>
          </a:prstGeom>
          <a:solidFill>
            <a:srgbClr val="0055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1480" y="5166360"/>
            <a:ext cx="23774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→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8" y="5129784"/>
            <a:ext cx="6126480" cy="4206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FFFFFF"/>
                </a:solidFill>
                <a:latin typeface="Calibri"/>
              </a:rPr>
              <a:t>Where competitors capture more profit than you in the same market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11480" y="5660136"/>
            <a:ext cx="237744" cy="237744"/>
          </a:xfrm>
          <a:prstGeom prst="roundRect">
            <a:avLst>
              <a:gd name="adj" fmla="val 5000"/>
            </a:avLst>
          </a:prstGeom>
          <a:solidFill>
            <a:srgbClr val="0055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80" y="5641848"/>
            <a:ext cx="23774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→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9808" y="5605272"/>
            <a:ext cx="6126480" cy="4206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FFFFFF"/>
                </a:solidFill>
                <a:latin typeface="Calibri"/>
              </a:rPr>
              <a:t>Pricing power assessment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The Consultant's Guide to Claude · BCG-Style Prompt Templates · 2026-06-18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14 / 44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55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640080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05599"/>
                </a:solidFill>
                <a:latin typeface="Calibri"/>
              </a:rPr>
              <a:t>LINKEDIN POST — COPY &amp; PUBLISH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42655" y="201168"/>
            <a:ext cx="3200400" cy="365760"/>
          </a:xfrm>
          <a:prstGeom prst="roundRect">
            <a:avLst>
              <a:gd name="adj" fmla="val 4000"/>
            </a:avLst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15807" y="219456"/>
            <a:ext cx="3054096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00996B"/>
                </a:solidFill>
                <a:latin typeface="Calibri"/>
              </a:rPr>
              <a:t>MARKET INTELLIGENCE: Profit Pool…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94944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200" b="1" i="0">
                <a:solidFill>
                  <a:srgbClr val="001824"/>
                </a:solidFill>
                <a:latin typeface="Calibri"/>
              </a:rPr>
              <a:t>Revenue is vanity. Profit pool is strategy.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591056"/>
            <a:ext cx="1828800" cy="45720"/>
          </a:xfrm>
          <a:prstGeom prst="rect">
            <a:avLst/>
          </a:prstGeom>
          <a:solidFill>
            <a:srgbClr val="0055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737360"/>
            <a:ext cx="5029200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Most companies compete for revenue.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066544"/>
            <a:ext cx="5029200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The best companies compete for profit.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395728"/>
            <a:ext cx="5029200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BCG's Profit Pool Analysis maps where in your market, product portfolio, or value chain profit is actually created — and where it's quietly leaking.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609344"/>
            <a:ext cx="5577840" cy="4535424"/>
          </a:xfrm>
          <a:prstGeom prst="roundRect">
            <a:avLst>
              <a:gd name="adj" fmla="val 4000"/>
            </a:avLst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755648"/>
            <a:ext cx="525780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005599"/>
                </a:solidFill>
                <a:latin typeface="Calibri"/>
              </a:rPr>
              <a:t>COPY THIS PROMPT INTO CLAUDE CODE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82512" y="2139696"/>
            <a:ext cx="5248656" cy="420624"/>
          </a:xfrm>
          <a:prstGeom prst="roundRect">
            <a:avLst>
              <a:gd name="adj" fmla="val 3000"/>
            </a:avLst>
          </a:prstGeom>
          <a:solidFill>
            <a:srgbClr val="000C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55664" y="2157984"/>
            <a:ext cx="5102352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FFB800"/>
                </a:solidFill>
                <a:latin typeface="Calibri"/>
              </a:rPr>
              <a:t>/profit-pool-analysis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688336"/>
            <a:ext cx="525780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FFB800"/>
                </a:solidFill>
                <a:latin typeface="Calibri"/>
              </a:rPr>
              <a:t>/profit-pool-analysis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118104"/>
            <a:ext cx="525780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CCEEE4"/>
                </a:solidFill>
                <a:latin typeface="Calibri"/>
              </a:rPr>
              <a:t>Products/services: [list with approximate revenue and gross margin for each]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456432"/>
            <a:ext cx="525780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CCEEE4"/>
                </a:solidFill>
                <a:latin typeface="Calibri"/>
              </a:rPr>
              <a:t>Customer segments: [and what margin you make serving each]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794760"/>
            <a:ext cx="525780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CCEEE4"/>
                </a:solidFill>
                <a:latin typeface="Calibri"/>
              </a:rPr>
              <a:t>Value chain role: [where you sit — vendor/platform/distributor/integrator]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4133088"/>
            <a:ext cx="525780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CCEEE4"/>
                </a:solidFill>
                <a:latin typeface="Calibri"/>
              </a:rPr>
              <a:t>Where you suspect margin is leaking: [your hypothesis]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The Consultant's Guide to Claude · BCG-Style Prompt Templates · 2026-06-18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15 / 44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77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56032"/>
            <a:ext cx="548640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774400"/>
                </a:solidFill>
                <a:latin typeface="Calibri"/>
              </a:rPr>
              <a:t>03 / STRATEGIC CHOICE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271455" y="201168"/>
            <a:ext cx="1371600" cy="402336"/>
          </a:xfrm>
          <a:prstGeom prst="roundRect">
            <a:avLst>
              <a:gd name="adj" fmla="val 6000"/>
            </a:avLst>
          </a:prstGeom>
          <a:solidFill>
            <a:srgbClr val="77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17175" y="219456"/>
            <a:ext cx="12801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Calibri"/>
              </a:rPr>
              <a:t>SKILL 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13232"/>
            <a:ext cx="6309360" cy="12801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800" b="1" i="0">
                <a:solidFill>
                  <a:srgbClr val="FFFFFF"/>
                </a:solidFill>
                <a:latin typeface="Calibri"/>
              </a:rPr>
              <a:t>The worst strategic mistake is choosing between only two options.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2084831"/>
            <a:ext cx="2560320" cy="54864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2286000"/>
            <a:ext cx="6309360" cy="4389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0" i="0">
                <a:solidFill>
                  <a:srgbClr val="CCEEE4"/>
                </a:solidFill>
                <a:latin typeface="Calibri"/>
              </a:rPr>
              <a:t>Binary choices are a cognitive trap.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724912"/>
            <a:ext cx="6309360" cy="4389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0" i="0">
                <a:solidFill>
                  <a:srgbClr val="CCEEE4"/>
                </a:solidFill>
                <a:latin typeface="Calibri"/>
              </a:rPr>
              <a:t>Real strategy requires generating a full set of meaningful alternatives — and then choosing.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3163824"/>
            <a:ext cx="6309360" cy="4389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0" i="0">
                <a:solidFill>
                  <a:srgbClr val="CCEEE4"/>
                </a:solidFill>
                <a:latin typeface="Calibri"/>
              </a:rPr>
              <a:t>BCG's Strategic Options skill forces you to build 3–5 truly distinct paths before evaluating any.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0" y="713232"/>
            <a:ext cx="4663440" cy="5303520"/>
          </a:xfrm>
          <a:prstGeom prst="roundRect">
            <a:avLst>
              <a:gd name="adj" fmla="val 4000"/>
            </a:avLst>
          </a:prstGeom>
          <a:solidFill>
            <a:srgbClr val="002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96912" y="859536"/>
            <a:ext cx="438912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774400"/>
                </a:solidFill>
                <a:latin typeface="Calibri"/>
              </a:rPr>
              <a:t>THE PROMPT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69480" y="1216152"/>
            <a:ext cx="4389120" cy="402336"/>
          </a:xfrm>
          <a:prstGeom prst="roundRect">
            <a:avLst>
              <a:gd name="adj" fmla="val 3000"/>
            </a:avLst>
          </a:prstGeom>
          <a:solidFill>
            <a:srgbClr val="00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33488" y="1234439"/>
            <a:ext cx="4261104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FB800"/>
                </a:solidFill>
                <a:latin typeface="Calibri"/>
              </a:rPr>
              <a:t>/strategic-options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96912" y="1737360"/>
            <a:ext cx="438912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CCEEE4"/>
                </a:solidFill>
                <a:latin typeface="Calibri"/>
              </a:rPr>
              <a:t>/strategic-options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96912" y="2194560"/>
            <a:ext cx="438912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CCEEE4"/>
                </a:solidFill>
                <a:latin typeface="Calibri"/>
              </a:rPr>
              <a:t>Decision: [what must be decided]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96912" y="2542032"/>
            <a:ext cx="438912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CCEEE4"/>
                </a:solidFill>
                <a:latin typeface="Calibri"/>
              </a:rPr>
              <a:t>Constraints: [budget, timeline, regulatory, resource limitations]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96912" y="2889504"/>
            <a:ext cx="438912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CCEEE4"/>
                </a:solidFill>
                <a:latin typeface="Calibri"/>
              </a:rPr>
              <a:t>Optimising for: [growth / margin / market position / resilience]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96912" y="3236976"/>
            <a:ext cx="438912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CCEEE4"/>
                </a:solidFill>
                <a:latin typeface="Calibri"/>
              </a:rPr>
              <a:t>Options already considered: [list what you've thought of — Claude will expand and challenge]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96912" y="3584448"/>
            <a:ext cx="438912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CCEEE4"/>
                </a:solidFill>
                <a:latin typeface="Calibri"/>
              </a:rPr>
              <a:t>Deadline: [when the decision must be made]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3831336"/>
            <a:ext cx="640080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96B"/>
                </a:solidFill>
                <a:latin typeface="Calibri"/>
              </a:rPr>
              <a:t>Claude returns: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11480" y="4233672"/>
            <a:ext cx="237744" cy="237744"/>
          </a:xfrm>
          <a:prstGeom prst="roundRect">
            <a:avLst>
              <a:gd name="adj" fmla="val 5000"/>
            </a:avLst>
          </a:prstGeom>
          <a:solidFill>
            <a:srgbClr val="77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4215384"/>
            <a:ext cx="23774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8" y="4178808"/>
            <a:ext cx="6126480" cy="4206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FFFFFF"/>
                </a:solidFill>
                <a:latin typeface="Calibri"/>
              </a:rPr>
              <a:t>3–5 distinct, viable options (not variations of one idea)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11480" y="4709160"/>
            <a:ext cx="237744" cy="237744"/>
          </a:xfrm>
          <a:prstGeom prst="roundRect">
            <a:avLst>
              <a:gd name="adj" fmla="val 5000"/>
            </a:avLst>
          </a:prstGeom>
          <a:solidFill>
            <a:srgbClr val="77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80" y="4690872"/>
            <a:ext cx="23774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8" y="4654296"/>
            <a:ext cx="6126480" cy="4206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FFFFFF"/>
                </a:solidFill>
                <a:latin typeface="Calibri"/>
              </a:rPr>
              <a:t>Decision criteria matrix (attractiveness × feasibility × risk × fit)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11480" y="5184648"/>
            <a:ext cx="237744" cy="237744"/>
          </a:xfrm>
          <a:prstGeom prst="roundRect">
            <a:avLst>
              <a:gd name="adj" fmla="val 5000"/>
            </a:avLst>
          </a:prstGeom>
          <a:solidFill>
            <a:srgbClr val="77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1480" y="5166360"/>
            <a:ext cx="23774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8" y="5129784"/>
            <a:ext cx="6126480" cy="4206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FFFFFF"/>
                </a:solidFill>
                <a:latin typeface="Calibri"/>
              </a:rPr>
              <a:t>Trade-off table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11480" y="5660136"/>
            <a:ext cx="237744" cy="237744"/>
          </a:xfrm>
          <a:prstGeom prst="roundRect">
            <a:avLst>
              <a:gd name="adj" fmla="val 5000"/>
            </a:avLst>
          </a:prstGeom>
          <a:solidFill>
            <a:srgbClr val="77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11480" y="5641848"/>
            <a:ext cx="23774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→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9808" y="5605272"/>
            <a:ext cx="6126480" cy="4206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FFFFFF"/>
                </a:solidFill>
                <a:latin typeface="Calibri"/>
              </a:rPr>
              <a:t>Recommended path with "what must be true" conditions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The Consultant's Guide to Claude · BCG-Style Prompt Templates · 2026-06-18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16 / 44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77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640080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774400"/>
                </a:solidFill>
                <a:latin typeface="Calibri"/>
              </a:rPr>
              <a:t>LINKEDIN POST — COPY &amp; PUBLISH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42655" y="201168"/>
            <a:ext cx="3200400" cy="365760"/>
          </a:xfrm>
          <a:prstGeom prst="roundRect">
            <a:avLst>
              <a:gd name="adj" fmla="val 4000"/>
            </a:avLst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15807" y="219456"/>
            <a:ext cx="3054096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00996B"/>
                </a:solidFill>
                <a:latin typeface="Calibri"/>
              </a:rPr>
              <a:t>STRATEGIC CHOICE: Strategic Opti…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94944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200" b="1" i="0">
                <a:solidFill>
                  <a:srgbClr val="001824"/>
                </a:solidFill>
                <a:latin typeface="Calibri"/>
              </a:rPr>
              <a:t>The worst strategic mistake is choosing between only two options.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591056"/>
            <a:ext cx="1828800" cy="45720"/>
          </a:xfrm>
          <a:prstGeom prst="rect">
            <a:avLst/>
          </a:prstGeom>
          <a:solidFill>
            <a:srgbClr val="77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737360"/>
            <a:ext cx="5029200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Binary choices are a cognitive trap.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066544"/>
            <a:ext cx="5029200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Real strategy requires generating a full set of meaningful alternatives — and then choosing.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505456"/>
            <a:ext cx="5029200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BCG's Strategic Options skill forces you to build 3–5 truly distinct paths before evaluating any.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609344"/>
            <a:ext cx="5577840" cy="4535424"/>
          </a:xfrm>
          <a:prstGeom prst="roundRect">
            <a:avLst>
              <a:gd name="adj" fmla="val 4000"/>
            </a:avLst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755648"/>
            <a:ext cx="525780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774400"/>
                </a:solidFill>
                <a:latin typeface="Calibri"/>
              </a:rPr>
              <a:t>COPY THIS PROMPT INTO CLAUDE CODE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82512" y="2139696"/>
            <a:ext cx="5248656" cy="420624"/>
          </a:xfrm>
          <a:prstGeom prst="roundRect">
            <a:avLst>
              <a:gd name="adj" fmla="val 3000"/>
            </a:avLst>
          </a:prstGeom>
          <a:solidFill>
            <a:srgbClr val="000C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55664" y="2157984"/>
            <a:ext cx="5102352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FFB800"/>
                </a:solidFill>
                <a:latin typeface="Calibri"/>
              </a:rPr>
              <a:t>/strategic-options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688336"/>
            <a:ext cx="525780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FFB800"/>
                </a:solidFill>
                <a:latin typeface="Calibri"/>
              </a:rPr>
              <a:t>/strategic-options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118104"/>
            <a:ext cx="525780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CCEEE4"/>
                </a:solidFill>
                <a:latin typeface="Calibri"/>
              </a:rPr>
              <a:t>Decision: [what must be decided]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456432"/>
            <a:ext cx="525780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CCEEE4"/>
                </a:solidFill>
                <a:latin typeface="Calibri"/>
              </a:rPr>
              <a:t>Constraints: [budget, timeline, regulatory, resource limitations]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794760"/>
            <a:ext cx="525780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CCEEE4"/>
                </a:solidFill>
                <a:latin typeface="Calibri"/>
              </a:rPr>
              <a:t>Optimising for: [growth / margin / market position / resilience]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4133088"/>
            <a:ext cx="525780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CCEEE4"/>
                </a:solidFill>
                <a:latin typeface="Calibri"/>
              </a:rPr>
              <a:t>Options already considered: [list what you've thought of — Claude will expand and challenge]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4471416"/>
            <a:ext cx="525780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CCEEE4"/>
                </a:solidFill>
                <a:latin typeface="Calibri"/>
              </a:rPr>
              <a:t>Deadline: [when the decision must be made]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The Consultant's Guide to Claude · BCG-Style Prompt Templates · 2026-06-18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17 / 44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77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56032"/>
            <a:ext cx="548640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774400"/>
                </a:solidFill>
                <a:latin typeface="Calibri"/>
              </a:rPr>
              <a:t>03 / STRATEGIC CHOICE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271455" y="201168"/>
            <a:ext cx="1371600" cy="402336"/>
          </a:xfrm>
          <a:prstGeom prst="roundRect">
            <a:avLst>
              <a:gd name="adj" fmla="val 6000"/>
            </a:avLst>
          </a:prstGeom>
          <a:solidFill>
            <a:srgbClr val="77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17175" y="219456"/>
            <a:ext cx="12801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Calibri"/>
              </a:rPr>
              <a:t>SKILL 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13232"/>
            <a:ext cx="6309360" cy="12801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800" b="1" i="0">
                <a:solidFill>
                  <a:srgbClr val="FFFFFF"/>
                </a:solidFill>
                <a:latin typeface="Calibri"/>
              </a:rPr>
              <a:t>Every discounting problem is a pricing strategy problem in disguise.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2084831"/>
            <a:ext cx="2560320" cy="54864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2286000"/>
            <a:ext cx="6309360" cy="4389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0" i="0">
                <a:solidFill>
                  <a:srgbClr val="CCEEE4"/>
                </a:solidFill>
                <a:latin typeface="Calibri"/>
              </a:rPr>
              <a:t>When your team discounts 30% to close deals, it doesn't mean your sales team is weak.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724912"/>
            <a:ext cx="6309360" cy="4389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0" i="0">
                <a:solidFill>
                  <a:srgbClr val="CCEEE4"/>
                </a:solidFill>
                <a:latin typeface="Calibri"/>
              </a:rPr>
              <a:t>It means your pricing architecture has no anchor.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3163824"/>
            <a:ext cx="6309360" cy="4389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0" i="0">
                <a:solidFill>
                  <a:srgbClr val="CCEEE4"/>
                </a:solidFill>
                <a:latin typeface="Calibri"/>
              </a:rPr>
              <a:t>BCG's Pricing Strategy skill diagnoses where pricing power exists and where it's leaking.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0" y="713232"/>
            <a:ext cx="4663440" cy="5303520"/>
          </a:xfrm>
          <a:prstGeom prst="roundRect">
            <a:avLst>
              <a:gd name="adj" fmla="val 4000"/>
            </a:avLst>
          </a:prstGeom>
          <a:solidFill>
            <a:srgbClr val="002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96912" y="859536"/>
            <a:ext cx="438912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774400"/>
                </a:solidFill>
                <a:latin typeface="Calibri"/>
              </a:rPr>
              <a:t>THE PROMPT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69480" y="1216152"/>
            <a:ext cx="4389120" cy="402336"/>
          </a:xfrm>
          <a:prstGeom prst="roundRect">
            <a:avLst>
              <a:gd name="adj" fmla="val 3000"/>
            </a:avLst>
          </a:prstGeom>
          <a:solidFill>
            <a:srgbClr val="00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33488" y="1234439"/>
            <a:ext cx="4261104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FB800"/>
                </a:solidFill>
                <a:latin typeface="Calibri"/>
              </a:rPr>
              <a:t>/pricing-strategy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96912" y="1737360"/>
            <a:ext cx="438912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CCEEE4"/>
                </a:solidFill>
                <a:latin typeface="Calibri"/>
              </a:rPr>
              <a:t>/pricing-strategy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96912" y="2194560"/>
            <a:ext cx="438912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CCEEE4"/>
                </a:solidFill>
                <a:latin typeface="Calibri"/>
              </a:rPr>
              <a:t>Current pricing model: [per seat / usage / flat fee / custom — describe tiers]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96912" y="2542032"/>
            <a:ext cx="438912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CCEEE4"/>
                </a:solidFill>
                <a:latin typeface="Calibri"/>
              </a:rPr>
              <a:t>Average discount rate: [% and where discounting happens most]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96912" y="2889504"/>
            <a:ext cx="438912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CCEEE4"/>
                </a:solidFill>
                <a:latin typeface="Calibri"/>
              </a:rPr>
              <a:t>Win/loss patterns: [where you win on price vs. lose on price]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96912" y="3236976"/>
            <a:ext cx="438912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CCEEE4"/>
                </a:solidFill>
                <a:latin typeface="Calibri"/>
              </a:rPr>
              <a:t>Customer segments: [and what each pays vs. what they'd likely pay]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96912" y="3584448"/>
            <a:ext cx="438912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CCEEE4"/>
                </a:solidFill>
                <a:latin typeface="Calibri"/>
              </a:rPr>
              <a:t>Decision: [price increase / new packaging / reduce discounting / new tier]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3831336"/>
            <a:ext cx="640080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96B"/>
                </a:solidFill>
                <a:latin typeface="Calibri"/>
              </a:rPr>
              <a:t>Claude returns: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11480" y="4233672"/>
            <a:ext cx="237744" cy="237744"/>
          </a:xfrm>
          <a:prstGeom prst="roundRect">
            <a:avLst>
              <a:gd name="adj" fmla="val 5000"/>
            </a:avLst>
          </a:prstGeom>
          <a:solidFill>
            <a:srgbClr val="77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4215384"/>
            <a:ext cx="23774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8" y="4178808"/>
            <a:ext cx="6126480" cy="4206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FFFFFF"/>
                </a:solidFill>
                <a:latin typeface="Calibri"/>
              </a:rPr>
              <a:t>Willingness-to-pay analysis by segment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11480" y="4709160"/>
            <a:ext cx="237744" cy="237744"/>
          </a:xfrm>
          <a:prstGeom prst="roundRect">
            <a:avLst>
              <a:gd name="adj" fmla="val 5000"/>
            </a:avLst>
          </a:prstGeom>
          <a:solidFill>
            <a:srgbClr val="77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80" y="4690872"/>
            <a:ext cx="23774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8" y="4654296"/>
            <a:ext cx="6126480" cy="4206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FFFFFF"/>
                </a:solidFill>
                <a:latin typeface="Calibri"/>
              </a:rPr>
              <a:t>Discount leakage map (where and why margin is lost)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11480" y="5184648"/>
            <a:ext cx="237744" cy="237744"/>
          </a:xfrm>
          <a:prstGeom prst="roundRect">
            <a:avLst>
              <a:gd name="adj" fmla="val 5000"/>
            </a:avLst>
          </a:prstGeom>
          <a:solidFill>
            <a:srgbClr val="77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1480" y="5166360"/>
            <a:ext cx="23774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8" y="5129784"/>
            <a:ext cx="6126480" cy="4206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FFFFFF"/>
                </a:solidFill>
                <a:latin typeface="Calibri"/>
              </a:rPr>
              <a:t>Packaging and tiering recommendations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11480" y="5660136"/>
            <a:ext cx="237744" cy="237744"/>
          </a:xfrm>
          <a:prstGeom prst="roundRect">
            <a:avLst>
              <a:gd name="adj" fmla="val 5000"/>
            </a:avLst>
          </a:prstGeom>
          <a:solidFill>
            <a:srgbClr val="77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11480" y="5641848"/>
            <a:ext cx="23774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→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9808" y="5605272"/>
            <a:ext cx="6126480" cy="4206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FFFFFF"/>
                </a:solidFill>
                <a:latin typeface="Calibri"/>
              </a:rPr>
              <a:t>Price increase feasibility + communication approach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The Consultant's Guide to Claude · BCG-Style Prompt Templates · 2026-06-18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18 / 44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77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640080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774400"/>
                </a:solidFill>
                <a:latin typeface="Calibri"/>
              </a:rPr>
              <a:t>LINKEDIN POST — COPY &amp; PUBLISH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42655" y="201168"/>
            <a:ext cx="3200400" cy="365760"/>
          </a:xfrm>
          <a:prstGeom prst="roundRect">
            <a:avLst>
              <a:gd name="adj" fmla="val 4000"/>
            </a:avLst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15807" y="219456"/>
            <a:ext cx="3054096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00996B"/>
                </a:solidFill>
                <a:latin typeface="Calibri"/>
              </a:rPr>
              <a:t>STRATEGIC CHOICE: Pricing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94944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200" b="1" i="0">
                <a:solidFill>
                  <a:srgbClr val="001824"/>
                </a:solidFill>
                <a:latin typeface="Calibri"/>
              </a:rPr>
              <a:t>Every discounting problem is a pricing strategy problem in disguise.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591056"/>
            <a:ext cx="1828800" cy="45720"/>
          </a:xfrm>
          <a:prstGeom prst="rect">
            <a:avLst/>
          </a:prstGeom>
          <a:solidFill>
            <a:srgbClr val="77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737360"/>
            <a:ext cx="5029200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When your team discounts 30% to close deals, it doesn't mean your sales team is weak.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176272"/>
            <a:ext cx="5029200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It means your pricing architecture has no anchor.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505456"/>
            <a:ext cx="5029200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BCG's Pricing Strategy skill diagnoses where pricing power exists and where it's leaking.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609344"/>
            <a:ext cx="5577840" cy="4535424"/>
          </a:xfrm>
          <a:prstGeom prst="roundRect">
            <a:avLst>
              <a:gd name="adj" fmla="val 4000"/>
            </a:avLst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755648"/>
            <a:ext cx="525780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774400"/>
                </a:solidFill>
                <a:latin typeface="Calibri"/>
              </a:rPr>
              <a:t>COPY THIS PROMPT INTO CLAUDE CODE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82512" y="2139696"/>
            <a:ext cx="5248656" cy="420624"/>
          </a:xfrm>
          <a:prstGeom prst="roundRect">
            <a:avLst>
              <a:gd name="adj" fmla="val 3000"/>
            </a:avLst>
          </a:prstGeom>
          <a:solidFill>
            <a:srgbClr val="000C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55664" y="2157984"/>
            <a:ext cx="5102352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FFB800"/>
                </a:solidFill>
                <a:latin typeface="Calibri"/>
              </a:rPr>
              <a:t>/pricing-strategy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688336"/>
            <a:ext cx="525780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FFB800"/>
                </a:solidFill>
                <a:latin typeface="Calibri"/>
              </a:rPr>
              <a:t>/pricing-strategy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118104"/>
            <a:ext cx="525780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CCEEE4"/>
                </a:solidFill>
                <a:latin typeface="Calibri"/>
              </a:rPr>
              <a:t>Current pricing model: [per seat / usage / flat fee / custom — describe tiers]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456432"/>
            <a:ext cx="525780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CCEEE4"/>
                </a:solidFill>
                <a:latin typeface="Calibri"/>
              </a:rPr>
              <a:t>Average discount rate: [% and where discounting happens most]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794760"/>
            <a:ext cx="525780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CCEEE4"/>
                </a:solidFill>
                <a:latin typeface="Calibri"/>
              </a:rPr>
              <a:t>Win/loss patterns: [where you win on price vs. lose on price]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4133088"/>
            <a:ext cx="525780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CCEEE4"/>
                </a:solidFill>
                <a:latin typeface="Calibri"/>
              </a:rPr>
              <a:t>Customer segments: [and what each pays vs. what they'd likely pay]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4471416"/>
            <a:ext cx="525780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CCEEE4"/>
                </a:solidFill>
                <a:latin typeface="Calibri"/>
              </a:rPr>
              <a:t>Decision: [price increase / new packaging / reduce discounting / new tier]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The Consultant's Guide to Claude · BCG-Style Prompt Templates · 2026-06-18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19 / 44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77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56032"/>
            <a:ext cx="548640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774400"/>
                </a:solidFill>
                <a:latin typeface="Calibri"/>
              </a:rPr>
              <a:t>03 / STRATEGIC CHOICE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271455" y="201168"/>
            <a:ext cx="1371600" cy="402336"/>
          </a:xfrm>
          <a:prstGeom prst="roundRect">
            <a:avLst>
              <a:gd name="adj" fmla="val 6000"/>
            </a:avLst>
          </a:prstGeom>
          <a:solidFill>
            <a:srgbClr val="77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17175" y="219456"/>
            <a:ext cx="12801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Calibri"/>
              </a:rPr>
              <a:t>SKILL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13232"/>
            <a:ext cx="6309360" cy="12801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800" b="1" i="0">
                <a:solidFill>
                  <a:srgbClr val="FFFFFF"/>
                </a:solidFill>
                <a:latin typeface="Calibri"/>
              </a:rPr>
              <a:t>A business case that can't survive a hostile CFO isn't a business case. It's a wish.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2084831"/>
            <a:ext cx="2560320" cy="54864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2286000"/>
            <a:ext cx="6309360" cy="4389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0" i="0">
                <a:solidFill>
                  <a:srgbClr val="CCEEE4"/>
                </a:solidFill>
                <a:latin typeface="Calibri"/>
              </a:rPr>
              <a:t>BCG's business case standard is brutal: every assumption is labelled, every sensitivity is modelled, and the recommendation survives the worst plausible scenario.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724912"/>
            <a:ext cx="6309360" cy="4389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0" i="0">
                <a:solidFill>
                  <a:srgbClr val="CCEEE4"/>
                </a:solidFill>
                <a:latin typeface="Calibri"/>
              </a:rPr>
              <a:t>Most decks show NPV at base case. BCG shows you at what point the investment breaks.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3163824"/>
            <a:ext cx="6309360" cy="4389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0" i="0">
                <a:solidFill>
                  <a:srgbClr val="CCEEE4"/>
                </a:solidFill>
                <a:latin typeface="Calibri"/>
              </a:rPr>
              <a:t>The prompt: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0" y="713232"/>
            <a:ext cx="4663440" cy="5303520"/>
          </a:xfrm>
          <a:prstGeom prst="roundRect">
            <a:avLst>
              <a:gd name="adj" fmla="val 4000"/>
            </a:avLst>
          </a:prstGeom>
          <a:solidFill>
            <a:srgbClr val="002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96912" y="859536"/>
            <a:ext cx="438912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774400"/>
                </a:solidFill>
                <a:latin typeface="Calibri"/>
              </a:rPr>
              <a:t>THE PROMPT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69480" y="1216152"/>
            <a:ext cx="4389120" cy="402336"/>
          </a:xfrm>
          <a:prstGeom prst="roundRect">
            <a:avLst>
              <a:gd name="adj" fmla="val 3000"/>
            </a:avLst>
          </a:prstGeom>
          <a:solidFill>
            <a:srgbClr val="00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33488" y="1234439"/>
            <a:ext cx="4261104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FB800"/>
                </a:solidFill>
                <a:latin typeface="Calibri"/>
              </a:rPr>
              <a:t>/business-case-builder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96912" y="1737360"/>
            <a:ext cx="438912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CCEEE4"/>
                </a:solidFill>
                <a:latin typeface="Calibri"/>
              </a:rPr>
              <a:t>/business-case-builder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96912" y="2194560"/>
            <a:ext cx="438912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CCEEE4"/>
                </a:solidFill>
                <a:latin typeface="Calibri"/>
              </a:rPr>
              <a:t>Initiative: [what you're proposing to fund]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96912" y="2542032"/>
            <a:ext cx="438912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CCEEE4"/>
                </a:solidFill>
                <a:latin typeface="Calibri"/>
              </a:rPr>
              <a:t>Investment required: [CapEx, OpEx, headcount — by year if known]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96912" y="2889504"/>
            <a:ext cx="438912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CCEEE4"/>
                </a:solidFill>
                <a:latin typeface="Calibri"/>
              </a:rPr>
              <a:t>Revenue / cost benefit expected: [your estimate and basis]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96912" y="3236976"/>
            <a:ext cx="438912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CCEEE4"/>
                </a:solidFill>
                <a:latin typeface="Calibri"/>
              </a:rPr>
              <a:t>Key assumptions: [what has to be true for this to work]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96912" y="3584448"/>
            <a:ext cx="438912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CCEEE4"/>
                </a:solidFill>
                <a:latin typeface="Calibri"/>
              </a:rPr>
              <a:t>Decision maker: [who approves — CFO, board, CEO — and what they care about]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3831336"/>
            <a:ext cx="640080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96B"/>
                </a:solidFill>
                <a:latin typeface="Calibri"/>
              </a:rPr>
              <a:t>Claude returns: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11480" y="4233672"/>
            <a:ext cx="237744" cy="237744"/>
          </a:xfrm>
          <a:prstGeom prst="roundRect">
            <a:avLst>
              <a:gd name="adj" fmla="val 5000"/>
            </a:avLst>
          </a:prstGeom>
          <a:solidFill>
            <a:srgbClr val="77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4215384"/>
            <a:ext cx="23774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8" y="4178808"/>
            <a:ext cx="6126480" cy="4206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FFFFFF"/>
                </a:solidFill>
                <a:latin typeface="Calibri"/>
              </a:rPr>
              <a:t>Economics model (revenue, cost, payback, NPV, IRR)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11480" y="4709160"/>
            <a:ext cx="237744" cy="237744"/>
          </a:xfrm>
          <a:prstGeom prst="roundRect">
            <a:avLst>
              <a:gd name="adj" fmla="val 5000"/>
            </a:avLst>
          </a:prstGeom>
          <a:solidFill>
            <a:srgbClr val="77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80" y="4690872"/>
            <a:ext cx="23774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8" y="4654296"/>
            <a:ext cx="6126480" cy="4206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FFFFFF"/>
                </a:solidFill>
                <a:latin typeface="Calibri"/>
              </a:rPr>
              <a:t>Assumption register with evidence strength labels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11480" y="5184648"/>
            <a:ext cx="237744" cy="237744"/>
          </a:xfrm>
          <a:prstGeom prst="roundRect">
            <a:avLst>
              <a:gd name="adj" fmla="val 5000"/>
            </a:avLst>
          </a:prstGeom>
          <a:solidFill>
            <a:srgbClr val="77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1480" y="5166360"/>
            <a:ext cx="23774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8" y="5129784"/>
            <a:ext cx="6126480" cy="4206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FFFFFF"/>
                </a:solidFill>
                <a:latin typeface="Calibri"/>
              </a:rPr>
              <a:t>Sensitivity table (which assumptions matter most)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11480" y="5660136"/>
            <a:ext cx="237744" cy="237744"/>
          </a:xfrm>
          <a:prstGeom prst="roundRect">
            <a:avLst>
              <a:gd name="adj" fmla="val 5000"/>
            </a:avLst>
          </a:prstGeom>
          <a:solidFill>
            <a:srgbClr val="77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11480" y="5641848"/>
            <a:ext cx="23774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→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9808" y="5605272"/>
            <a:ext cx="6126480" cy="4206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FFFFFF"/>
                </a:solidFill>
                <a:latin typeface="Calibri"/>
              </a:rPr>
              <a:t>Break-even analysis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The Consultant's Guide to Claude · BCG-Style Prompt Templates · 2026-06-18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20 / 44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77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640080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774400"/>
                </a:solidFill>
                <a:latin typeface="Calibri"/>
              </a:rPr>
              <a:t>LINKEDIN POST — COPY &amp; PUBLISH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42655" y="201168"/>
            <a:ext cx="3200400" cy="365760"/>
          </a:xfrm>
          <a:prstGeom prst="roundRect">
            <a:avLst>
              <a:gd name="adj" fmla="val 4000"/>
            </a:avLst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15807" y="219456"/>
            <a:ext cx="3054096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00996B"/>
                </a:solidFill>
                <a:latin typeface="Calibri"/>
              </a:rPr>
              <a:t>STRATEGIC CHOICE: Business Case 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94944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200" b="1" i="0">
                <a:solidFill>
                  <a:srgbClr val="001824"/>
                </a:solidFill>
                <a:latin typeface="Calibri"/>
              </a:rPr>
              <a:t>A business case that can't survive a hostile CFO isn't a business case. It's a wish.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591056"/>
            <a:ext cx="1828800" cy="45720"/>
          </a:xfrm>
          <a:prstGeom prst="rect">
            <a:avLst/>
          </a:prstGeom>
          <a:solidFill>
            <a:srgbClr val="77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737360"/>
            <a:ext cx="5029200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BCG's business case standard is brutal: every assumption is labelled, every sensitivity is modelled, and the recommendation survives the worst plausible scenario.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176272"/>
            <a:ext cx="5029200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Most decks show NPV at base case. BCG shows you at what point the investment breaks.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609344"/>
            <a:ext cx="5577840" cy="4535424"/>
          </a:xfrm>
          <a:prstGeom prst="roundRect">
            <a:avLst>
              <a:gd name="adj" fmla="val 4000"/>
            </a:avLst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755648"/>
            <a:ext cx="525780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774400"/>
                </a:solidFill>
                <a:latin typeface="Calibri"/>
              </a:rPr>
              <a:t>COPY THIS PROMPT INTO CLAUDE CODE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82512" y="2139696"/>
            <a:ext cx="5248656" cy="420624"/>
          </a:xfrm>
          <a:prstGeom prst="roundRect">
            <a:avLst>
              <a:gd name="adj" fmla="val 3000"/>
            </a:avLst>
          </a:prstGeom>
          <a:solidFill>
            <a:srgbClr val="000C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55664" y="2157984"/>
            <a:ext cx="5102352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FFB800"/>
                </a:solidFill>
                <a:latin typeface="Calibri"/>
              </a:rPr>
              <a:t>/business-case-builder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688336"/>
            <a:ext cx="525780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FFB800"/>
                </a:solidFill>
                <a:latin typeface="Calibri"/>
              </a:rPr>
              <a:t>/business-case-builder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118104"/>
            <a:ext cx="525780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CCEEE4"/>
                </a:solidFill>
                <a:latin typeface="Calibri"/>
              </a:rPr>
              <a:t>Initiative: [what you're proposing to fund]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456432"/>
            <a:ext cx="525780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CCEEE4"/>
                </a:solidFill>
                <a:latin typeface="Calibri"/>
              </a:rPr>
              <a:t>Investment required: [CapEx, OpEx, headcount — by year if known]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794760"/>
            <a:ext cx="525780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CCEEE4"/>
                </a:solidFill>
                <a:latin typeface="Calibri"/>
              </a:rPr>
              <a:t>Revenue / cost benefit expected: [your estimate and basis]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133088"/>
            <a:ext cx="525780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CCEEE4"/>
                </a:solidFill>
                <a:latin typeface="Calibri"/>
              </a:rPr>
              <a:t>Key assumptions: [what has to be true for this to work]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4471416"/>
            <a:ext cx="525780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CCEEE4"/>
                </a:solidFill>
                <a:latin typeface="Calibri"/>
              </a:rPr>
              <a:t>Decision maker: [who approves — CFO, board, CEO — and what they care about]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4809744"/>
            <a:ext cx="525780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CCEEE4"/>
                </a:solidFill>
                <a:latin typeface="Calibri"/>
              </a:rPr>
              <a:t>Timeline: [payback horizon expected]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The Consultant's Guide to Claude · BCG-Style Prompt Templates · 2026-06-18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21 / 44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77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56032"/>
            <a:ext cx="548640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774400"/>
                </a:solidFill>
                <a:latin typeface="Calibri"/>
              </a:rPr>
              <a:t>03 / STRATEGIC CHOICE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271455" y="201168"/>
            <a:ext cx="1371600" cy="402336"/>
          </a:xfrm>
          <a:prstGeom prst="roundRect">
            <a:avLst>
              <a:gd name="adj" fmla="val 6000"/>
            </a:avLst>
          </a:prstGeom>
          <a:solidFill>
            <a:srgbClr val="77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17175" y="219456"/>
            <a:ext cx="12801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Calibri"/>
              </a:rPr>
              <a:t>SKILL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13232"/>
            <a:ext cx="6309360" cy="12801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800" b="1" i="0">
                <a:solidFill>
                  <a:srgbClr val="FFFFFF"/>
                </a:solidFill>
                <a:latin typeface="Calibri"/>
              </a:rPr>
              <a:t>Most companies are spread too thin and won't admit it.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2084831"/>
            <a:ext cx="2560320" cy="54864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2286000"/>
            <a:ext cx="6309360" cy="4389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0" i="0">
                <a:solidFill>
                  <a:srgbClr val="CCEEE4"/>
                </a:solidFill>
                <a:latin typeface="Calibri"/>
              </a:rPr>
              <a:t>When everything is a priority, nothing is.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724912"/>
            <a:ext cx="6309360" cy="4389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0" i="0">
                <a:solidFill>
                  <a:srgbClr val="CCEEE4"/>
                </a:solidFill>
                <a:latin typeface="Calibri"/>
              </a:rPr>
              <a:t>BCG's Portfolio Review skill applies the same logic McKinsey uses with Fortune 500 CEOs to any portfolio — products, markets, initiatives, or customer segments.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3163824"/>
            <a:ext cx="6309360" cy="4389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0" i="0">
                <a:solidFill>
                  <a:srgbClr val="CCEEE4"/>
                </a:solidFill>
                <a:latin typeface="Calibri"/>
              </a:rPr>
              <a:t>The prompt: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0" y="713232"/>
            <a:ext cx="4663440" cy="5303520"/>
          </a:xfrm>
          <a:prstGeom prst="roundRect">
            <a:avLst>
              <a:gd name="adj" fmla="val 4000"/>
            </a:avLst>
          </a:prstGeom>
          <a:solidFill>
            <a:srgbClr val="002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96912" y="859536"/>
            <a:ext cx="438912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774400"/>
                </a:solidFill>
                <a:latin typeface="Calibri"/>
              </a:rPr>
              <a:t>THE PROMPT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69480" y="1216152"/>
            <a:ext cx="4389120" cy="402336"/>
          </a:xfrm>
          <a:prstGeom prst="roundRect">
            <a:avLst>
              <a:gd name="adj" fmla="val 3000"/>
            </a:avLst>
          </a:prstGeom>
          <a:solidFill>
            <a:srgbClr val="00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33488" y="1234439"/>
            <a:ext cx="4261104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FB800"/>
                </a:solidFill>
                <a:latin typeface="Calibri"/>
              </a:rPr>
              <a:t>/portfolio-review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96912" y="1737360"/>
            <a:ext cx="438912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CCEEE4"/>
                </a:solidFill>
                <a:latin typeface="Calibri"/>
              </a:rPr>
              <a:t>/portfolio-review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96912" y="2194560"/>
            <a:ext cx="438912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CCEEE4"/>
                </a:solidFill>
                <a:latin typeface="Calibri"/>
              </a:rPr>
              <a:t>Portfolio elements: [list products / markets / initiatives]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96912" y="2542032"/>
            <a:ext cx="438912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CCEEE4"/>
                </a:solidFill>
                <a:latin typeface="Calibri"/>
              </a:rPr>
              <a:t>For each: [revenue/size, growth rate, margin, competitive position, strategic importance]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96912" y="2889504"/>
            <a:ext cx="438912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CCEEE4"/>
                </a:solidFill>
                <a:latin typeface="Calibri"/>
              </a:rPr>
              <a:t>Current resource allocation: [where headcount and budget are concentrated]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96912" y="3236976"/>
            <a:ext cx="438912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CCEEE4"/>
                </a:solidFill>
                <a:latin typeface="Calibri"/>
              </a:rPr>
              <a:t>Strategic goal: [growth / profitability / resilience / transformation]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96912" y="3584448"/>
            <a:ext cx="438912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CCEEE4"/>
                </a:solidFill>
                <a:latin typeface="Calibri"/>
              </a:rPr>
              <a:t>Constraint: [what you can't change — brand, geography, technology platform]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3831336"/>
            <a:ext cx="640080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96B"/>
                </a:solidFill>
                <a:latin typeface="Calibri"/>
              </a:rPr>
              <a:t>Claude returns: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11480" y="4233672"/>
            <a:ext cx="237744" cy="237744"/>
          </a:xfrm>
          <a:prstGeom prst="roundRect">
            <a:avLst>
              <a:gd name="adj" fmla="val 5000"/>
            </a:avLst>
          </a:prstGeom>
          <a:solidFill>
            <a:srgbClr val="77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4215384"/>
            <a:ext cx="23774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8" y="4178808"/>
            <a:ext cx="6126480" cy="4206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FFFFFF"/>
                </a:solidFill>
                <a:latin typeface="Calibri"/>
              </a:rPr>
              <a:t>Portfolio map (market attractiveness × competitive position)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11480" y="4709160"/>
            <a:ext cx="237744" cy="237744"/>
          </a:xfrm>
          <a:prstGeom prst="roundRect">
            <a:avLst>
              <a:gd name="adj" fmla="val 5000"/>
            </a:avLst>
          </a:prstGeom>
          <a:solidFill>
            <a:srgbClr val="77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80" y="4690872"/>
            <a:ext cx="23774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8" y="4654296"/>
            <a:ext cx="6126480" cy="4206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FFFFFF"/>
                </a:solidFill>
                <a:latin typeface="Calibri"/>
              </a:rPr>
              <a:t>Invest / Hold / Harvest / Exit recommendation per element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11480" y="5184648"/>
            <a:ext cx="237744" cy="237744"/>
          </a:xfrm>
          <a:prstGeom prst="roundRect">
            <a:avLst>
              <a:gd name="adj" fmla="val 5000"/>
            </a:avLst>
          </a:prstGeom>
          <a:solidFill>
            <a:srgbClr val="77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1480" y="5166360"/>
            <a:ext cx="23774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8" y="5129784"/>
            <a:ext cx="6126480" cy="4206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FFFFFF"/>
                </a:solidFill>
                <a:latin typeface="Calibri"/>
              </a:rPr>
              <a:t>Resource allocation logic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11480" y="5660136"/>
            <a:ext cx="237744" cy="237744"/>
          </a:xfrm>
          <a:prstGeom prst="roundRect">
            <a:avLst>
              <a:gd name="adj" fmla="val 5000"/>
            </a:avLst>
          </a:prstGeom>
          <a:solidFill>
            <a:srgbClr val="77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11480" y="5641848"/>
            <a:ext cx="23774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→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9808" y="5605272"/>
            <a:ext cx="6126480" cy="4206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FFFFFF"/>
                </a:solidFill>
                <a:latin typeface="Calibri"/>
              </a:rPr>
              <a:t>Dependency and sequencing map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The Consultant's Guide to Claude · BCG-Style Prompt Templates · 2026-06-18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22 / 44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77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640080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774400"/>
                </a:solidFill>
                <a:latin typeface="Calibri"/>
              </a:rPr>
              <a:t>LINKEDIN POST — COPY &amp; PUBLISH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42655" y="201168"/>
            <a:ext cx="3200400" cy="365760"/>
          </a:xfrm>
          <a:prstGeom prst="roundRect">
            <a:avLst>
              <a:gd name="adj" fmla="val 4000"/>
            </a:avLst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15807" y="219456"/>
            <a:ext cx="3054096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00996B"/>
                </a:solidFill>
                <a:latin typeface="Calibri"/>
              </a:rPr>
              <a:t>STRATEGIC CHOICE: Portfolio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94944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200" b="1" i="0">
                <a:solidFill>
                  <a:srgbClr val="001824"/>
                </a:solidFill>
                <a:latin typeface="Calibri"/>
              </a:rPr>
              <a:t>Most companies are spread too thin and won't admit it.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591056"/>
            <a:ext cx="1828800" cy="45720"/>
          </a:xfrm>
          <a:prstGeom prst="rect">
            <a:avLst/>
          </a:prstGeom>
          <a:solidFill>
            <a:srgbClr val="77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737360"/>
            <a:ext cx="5029200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When everything is a priority, nothing is.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066544"/>
            <a:ext cx="5029200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BCG's Portfolio Review skill applies the same logic McKinsey uses with Fortune 500 CEOs to any portfolio — products, markets, initiatives, or customer segments.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609344"/>
            <a:ext cx="5577840" cy="4535424"/>
          </a:xfrm>
          <a:prstGeom prst="roundRect">
            <a:avLst>
              <a:gd name="adj" fmla="val 4000"/>
            </a:avLst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755648"/>
            <a:ext cx="525780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774400"/>
                </a:solidFill>
                <a:latin typeface="Calibri"/>
              </a:rPr>
              <a:t>COPY THIS PROMPT INTO CLAUDE CODE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82512" y="2139696"/>
            <a:ext cx="5248656" cy="420624"/>
          </a:xfrm>
          <a:prstGeom prst="roundRect">
            <a:avLst>
              <a:gd name="adj" fmla="val 3000"/>
            </a:avLst>
          </a:prstGeom>
          <a:solidFill>
            <a:srgbClr val="000C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55664" y="2157984"/>
            <a:ext cx="5102352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FFB800"/>
                </a:solidFill>
                <a:latin typeface="Calibri"/>
              </a:rPr>
              <a:t>/portfolio-review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688336"/>
            <a:ext cx="525780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FFB800"/>
                </a:solidFill>
                <a:latin typeface="Calibri"/>
              </a:rPr>
              <a:t>/portfolio-review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118104"/>
            <a:ext cx="525780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CCEEE4"/>
                </a:solidFill>
                <a:latin typeface="Calibri"/>
              </a:rPr>
              <a:t>Portfolio elements: [list products / markets / initiatives]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456432"/>
            <a:ext cx="525780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CCEEE4"/>
                </a:solidFill>
                <a:latin typeface="Calibri"/>
              </a:rPr>
              <a:t>For each: [revenue/size, growth rate, margin, competitive position, strategic importance]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794760"/>
            <a:ext cx="525780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CCEEE4"/>
                </a:solidFill>
                <a:latin typeface="Calibri"/>
              </a:rPr>
              <a:t>Current resource allocation: [where headcount and budget are concentrated]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133088"/>
            <a:ext cx="525780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CCEEE4"/>
                </a:solidFill>
                <a:latin typeface="Calibri"/>
              </a:rPr>
              <a:t>Strategic goal: [growth / profitability / resilience / transformation]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4471416"/>
            <a:ext cx="525780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CCEEE4"/>
                </a:solidFill>
                <a:latin typeface="Calibri"/>
              </a:rPr>
              <a:t>Constraint: [what you can't change — brand, geography, technology platform]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The Consultant's Guide to Claude · BCG-Style Prompt Templates · 2026-06-18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23 / 44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5500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56032"/>
            <a:ext cx="548640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550088"/>
                </a:solidFill>
                <a:latin typeface="Calibri"/>
              </a:rPr>
              <a:t>04 / EXECUTION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271455" y="201168"/>
            <a:ext cx="1371600" cy="402336"/>
          </a:xfrm>
          <a:prstGeom prst="roundRect">
            <a:avLst>
              <a:gd name="adj" fmla="val 6000"/>
            </a:avLst>
          </a:prstGeom>
          <a:solidFill>
            <a:srgbClr val="5500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17175" y="219456"/>
            <a:ext cx="12801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Calibri"/>
              </a:rPr>
              <a:t>SKILL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13232"/>
            <a:ext cx="6309360" cy="12801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800" b="1" i="0">
                <a:solidFill>
                  <a:srgbClr val="FFFFFF"/>
                </a:solidFill>
                <a:latin typeface="Calibri"/>
              </a:rPr>
              <a:t>Strategy without an operating model is just a deck.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2084831"/>
            <a:ext cx="2560320" cy="54864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2286000"/>
            <a:ext cx="6309360" cy="4389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0" i="0">
                <a:solidFill>
                  <a:srgbClr val="CCEEE4"/>
                </a:solidFill>
                <a:latin typeface="Calibri"/>
              </a:rPr>
              <a:t>You can have the right strategy and still fail to execute it.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724912"/>
            <a:ext cx="6309360" cy="4389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0" i="0">
                <a:solidFill>
                  <a:srgbClr val="CCEEE4"/>
                </a:solidFill>
                <a:latin typeface="Calibri"/>
              </a:rPr>
              <a:t>Because execution depends on who owns what, how decisions get made, and what capabilities exist.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3163824"/>
            <a:ext cx="6309360" cy="4389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0" i="0">
                <a:solidFill>
                  <a:srgbClr val="CCEEE4"/>
                </a:solidFill>
                <a:latin typeface="Calibri"/>
              </a:rPr>
              <a:t>BCG's Operating Model Design skill translates strategy into: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0" y="713232"/>
            <a:ext cx="4663440" cy="5303520"/>
          </a:xfrm>
          <a:prstGeom prst="roundRect">
            <a:avLst>
              <a:gd name="adj" fmla="val 4000"/>
            </a:avLst>
          </a:prstGeom>
          <a:solidFill>
            <a:srgbClr val="002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96912" y="859536"/>
            <a:ext cx="438912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50088"/>
                </a:solidFill>
                <a:latin typeface="Calibri"/>
              </a:rPr>
              <a:t>THE PROMPT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69480" y="1216152"/>
            <a:ext cx="4389120" cy="402336"/>
          </a:xfrm>
          <a:prstGeom prst="roundRect">
            <a:avLst>
              <a:gd name="adj" fmla="val 3000"/>
            </a:avLst>
          </a:prstGeom>
          <a:solidFill>
            <a:srgbClr val="00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33488" y="1234439"/>
            <a:ext cx="4261104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FB800"/>
                </a:solidFill>
                <a:latin typeface="Calibri"/>
              </a:rPr>
              <a:t>/operating-model-design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96912" y="1737360"/>
            <a:ext cx="438912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CCEEE4"/>
                </a:solidFill>
                <a:latin typeface="Calibri"/>
              </a:rPr>
              <a:t>/operating-model-design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96912" y="2194560"/>
            <a:ext cx="438912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CCEEE4"/>
                </a:solidFill>
                <a:latin typeface="Calibri"/>
              </a:rPr>
              <a:t>Strategy: [1–2 sentences on what you're trying to achieve]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96912" y="2542032"/>
            <a:ext cx="438912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CCEEE4"/>
                </a:solidFill>
                <a:latin typeface="Calibri"/>
              </a:rPr>
              <a:t>Current operating model pain points: [where things break down — decisions, ownership, speed]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96912" y="2889504"/>
            <a:ext cx="438912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CCEEE4"/>
                </a:solidFill>
                <a:latin typeface="Calibri"/>
              </a:rPr>
              <a:t>Org structure today: [rough description]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96912" y="3236976"/>
            <a:ext cx="438912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CCEEE4"/>
                </a:solidFill>
                <a:latin typeface="Calibri"/>
              </a:rPr>
              <a:t>Key capabilities needed: [what the business must do well to win]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96912" y="3584448"/>
            <a:ext cx="438912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CCEEE4"/>
                </a:solidFill>
                <a:latin typeface="Calibri"/>
              </a:rPr>
              <a:t>Constraints: [headcount budget, union rules, geography, existing systems]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3831336"/>
            <a:ext cx="640080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96B"/>
                </a:solidFill>
                <a:latin typeface="Calibri"/>
              </a:rPr>
              <a:t>Claude returns: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11480" y="4233672"/>
            <a:ext cx="237744" cy="237744"/>
          </a:xfrm>
          <a:prstGeom prst="roundRect">
            <a:avLst>
              <a:gd name="adj" fmla="val 5000"/>
            </a:avLst>
          </a:prstGeom>
          <a:solidFill>
            <a:srgbClr val="5500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4215384"/>
            <a:ext cx="23774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8" y="4178808"/>
            <a:ext cx="6126480" cy="4206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FFFFFF"/>
                </a:solidFill>
                <a:latin typeface="Calibri"/>
              </a:rPr>
              <a:t>Capability model (what the org must do well to win)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11480" y="4709160"/>
            <a:ext cx="237744" cy="237744"/>
          </a:xfrm>
          <a:prstGeom prst="roundRect">
            <a:avLst>
              <a:gd name="adj" fmla="val 5000"/>
            </a:avLst>
          </a:prstGeom>
          <a:solidFill>
            <a:srgbClr val="5500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80" y="4690872"/>
            <a:ext cx="23774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8" y="4654296"/>
            <a:ext cx="6126480" cy="4206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FFFFFF"/>
                </a:solidFill>
                <a:latin typeface="Calibri"/>
              </a:rPr>
              <a:t>Operating structure options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11480" y="5184648"/>
            <a:ext cx="237744" cy="237744"/>
          </a:xfrm>
          <a:prstGeom prst="roundRect">
            <a:avLst>
              <a:gd name="adj" fmla="val 5000"/>
            </a:avLst>
          </a:prstGeom>
          <a:solidFill>
            <a:srgbClr val="5500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1480" y="5166360"/>
            <a:ext cx="23774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8" y="5129784"/>
            <a:ext cx="6126480" cy="4206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FFFFFF"/>
                </a:solidFill>
                <a:latin typeface="Calibri"/>
              </a:rPr>
              <a:t>Decision rights RACI for critical decisions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11480" y="5660136"/>
            <a:ext cx="237744" cy="237744"/>
          </a:xfrm>
          <a:prstGeom prst="roundRect">
            <a:avLst>
              <a:gd name="adj" fmla="val 5000"/>
            </a:avLst>
          </a:prstGeom>
          <a:solidFill>
            <a:srgbClr val="5500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11480" y="5641848"/>
            <a:ext cx="23774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→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9808" y="5605272"/>
            <a:ext cx="6126480" cy="4206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FFFFFF"/>
                </a:solidFill>
                <a:latin typeface="Calibri"/>
              </a:rPr>
              <a:t>Governance design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The Consultant's Guide to Claude · BCG-Style Prompt Templates · 2026-06-18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24 / 44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5500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640080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550088"/>
                </a:solidFill>
                <a:latin typeface="Calibri"/>
              </a:rPr>
              <a:t>LINKEDIN POST — COPY &amp; PUBLISH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42655" y="201168"/>
            <a:ext cx="3200400" cy="365760"/>
          </a:xfrm>
          <a:prstGeom prst="roundRect">
            <a:avLst>
              <a:gd name="adj" fmla="val 4000"/>
            </a:avLst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15807" y="219456"/>
            <a:ext cx="3054096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00996B"/>
                </a:solidFill>
                <a:latin typeface="Calibri"/>
              </a:rPr>
              <a:t>EXECUTION: Operating Model 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94944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200" b="1" i="0">
                <a:solidFill>
                  <a:srgbClr val="001824"/>
                </a:solidFill>
                <a:latin typeface="Calibri"/>
              </a:rPr>
              <a:t>Strategy without an operating model is just a deck.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591056"/>
            <a:ext cx="1828800" cy="45720"/>
          </a:xfrm>
          <a:prstGeom prst="rect">
            <a:avLst/>
          </a:prstGeom>
          <a:solidFill>
            <a:srgbClr val="5500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737360"/>
            <a:ext cx="5029200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You can have the right strategy and still fail to execute it.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176272"/>
            <a:ext cx="5029200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Because execution depends on who owns what, how decisions get made, and what capabilities exist.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615184"/>
            <a:ext cx="5029200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BCG's Operating Model Design skill translates strategy into: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944368"/>
            <a:ext cx="5029200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capabilities, roles, decision rights, governance, and ways of working.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609344"/>
            <a:ext cx="5577840" cy="4535424"/>
          </a:xfrm>
          <a:prstGeom prst="roundRect">
            <a:avLst>
              <a:gd name="adj" fmla="val 4000"/>
            </a:avLst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755648"/>
            <a:ext cx="525780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50088"/>
                </a:solidFill>
                <a:latin typeface="Calibri"/>
              </a:rPr>
              <a:t>COPY THIS PROMPT INTO CLAUDE CODE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82512" y="2139696"/>
            <a:ext cx="5248656" cy="420624"/>
          </a:xfrm>
          <a:prstGeom prst="roundRect">
            <a:avLst>
              <a:gd name="adj" fmla="val 3000"/>
            </a:avLst>
          </a:prstGeom>
          <a:solidFill>
            <a:srgbClr val="000C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55664" y="2157984"/>
            <a:ext cx="5102352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FFB800"/>
                </a:solidFill>
                <a:latin typeface="Calibri"/>
              </a:rPr>
              <a:t>/operating-model-design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688336"/>
            <a:ext cx="525780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FFB800"/>
                </a:solidFill>
                <a:latin typeface="Calibri"/>
              </a:rPr>
              <a:t>/operating-model-design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118104"/>
            <a:ext cx="525780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CCEEE4"/>
                </a:solidFill>
                <a:latin typeface="Calibri"/>
              </a:rPr>
              <a:t>Strategy: [1–2 sentences on what you're trying to achieve]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456432"/>
            <a:ext cx="525780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CCEEE4"/>
                </a:solidFill>
                <a:latin typeface="Calibri"/>
              </a:rPr>
              <a:t>Current operating model pain points: [where things break down — decisions, ownership, speed]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794760"/>
            <a:ext cx="525780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CCEEE4"/>
                </a:solidFill>
                <a:latin typeface="Calibri"/>
              </a:rPr>
              <a:t>Org structure today: [rough description]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4133088"/>
            <a:ext cx="525780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CCEEE4"/>
                </a:solidFill>
                <a:latin typeface="Calibri"/>
              </a:rPr>
              <a:t>Key capabilities needed: [what the business must do well to win]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4471416"/>
            <a:ext cx="525780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CCEEE4"/>
                </a:solidFill>
                <a:latin typeface="Calibri"/>
              </a:rPr>
              <a:t>Constraints: [headcount budget, union rules, geography, existing systems]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The Consultant's Guide to Claude · BCG-Style Prompt Templates · 2026-06-18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25 / 44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5500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56032"/>
            <a:ext cx="548640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550088"/>
                </a:solidFill>
                <a:latin typeface="Calibri"/>
              </a:rPr>
              <a:t>04 / EXECUTION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271455" y="201168"/>
            <a:ext cx="1371600" cy="402336"/>
          </a:xfrm>
          <a:prstGeom prst="roundRect">
            <a:avLst>
              <a:gd name="adj" fmla="val 6000"/>
            </a:avLst>
          </a:prstGeom>
          <a:solidFill>
            <a:srgbClr val="5500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17175" y="219456"/>
            <a:ext cx="12801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Calibri"/>
              </a:rPr>
              <a:t>SKILL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13232"/>
            <a:ext cx="6309360" cy="12801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800" b="1" i="0">
                <a:solidFill>
                  <a:srgbClr val="FFFFFF"/>
                </a:solidFill>
                <a:latin typeface="Calibri"/>
              </a:rPr>
              <a:t>Your transformation roadmap has 47 initiatives. It will deliver 3.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2084831"/>
            <a:ext cx="2560320" cy="54864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2286000"/>
            <a:ext cx="6309360" cy="4389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0" i="0">
                <a:solidFill>
                  <a:srgbClr val="CCEEE4"/>
                </a:solidFill>
                <a:latin typeface="Calibri"/>
              </a:rPr>
              <a:t>Capacity is the real constraint in every transformation.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724912"/>
            <a:ext cx="6309360" cy="4389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0" i="0">
                <a:solidFill>
                  <a:srgbClr val="CCEEE4"/>
                </a:solidFill>
                <a:latin typeface="Calibri"/>
              </a:rPr>
              <a:t>Most initiative lists are wish lists that haven't been stress-tested against bandwidth.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3163824"/>
            <a:ext cx="6309360" cy="4389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0" i="0">
                <a:solidFill>
                  <a:srgbClr val="CCEEE4"/>
                </a:solidFill>
                <a:latin typeface="Calibri"/>
              </a:rPr>
              <a:t>BCG's Initiative Prioritization skill cuts through it.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0" y="713232"/>
            <a:ext cx="4663440" cy="5303520"/>
          </a:xfrm>
          <a:prstGeom prst="roundRect">
            <a:avLst>
              <a:gd name="adj" fmla="val 4000"/>
            </a:avLst>
          </a:prstGeom>
          <a:solidFill>
            <a:srgbClr val="002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96912" y="859536"/>
            <a:ext cx="438912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50088"/>
                </a:solidFill>
                <a:latin typeface="Calibri"/>
              </a:rPr>
              <a:t>THE PROMPT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69480" y="1216152"/>
            <a:ext cx="4389120" cy="402336"/>
          </a:xfrm>
          <a:prstGeom prst="roundRect">
            <a:avLst>
              <a:gd name="adj" fmla="val 3000"/>
            </a:avLst>
          </a:prstGeom>
          <a:solidFill>
            <a:srgbClr val="00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33488" y="1234439"/>
            <a:ext cx="4261104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FB800"/>
                </a:solidFill>
                <a:latin typeface="Calibri"/>
              </a:rPr>
              <a:t>/initiative-prioritizer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96912" y="1737360"/>
            <a:ext cx="438912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CCEEE4"/>
                </a:solidFill>
                <a:latin typeface="Calibri"/>
              </a:rPr>
              <a:t>/initiative-prioritizer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96912" y="2194560"/>
            <a:ext cx="438912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CCEEE4"/>
                </a:solidFill>
                <a:latin typeface="Calibri"/>
              </a:rPr>
              <a:t>Initiatives (list each): [name, description, estimated impact, estimated effort, status]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96912" y="2542032"/>
            <a:ext cx="438912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CCEEE4"/>
                </a:solidFill>
                <a:latin typeface="Calibri"/>
              </a:rPr>
              <a:t>Strategic goals they serve: [growth / cost / resilience / transformation]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96912" y="2889504"/>
            <a:ext cx="438912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CCEEE4"/>
                </a:solidFill>
                <a:latin typeface="Calibri"/>
              </a:rPr>
              <a:t>Available resources: [headcount, budget, time horizon]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96912" y="3236976"/>
            <a:ext cx="438912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CCEEE4"/>
                </a:solidFill>
                <a:latin typeface="Calibri"/>
              </a:rPr>
              <a:t>Dependencies known: [what must happen before what]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96912" y="3584448"/>
            <a:ext cx="438912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CCEEE4"/>
                </a:solidFill>
                <a:latin typeface="Calibri"/>
              </a:rPr>
              <a:t>Non-negotiables: [initiatives that cannot be cut — and why]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3831336"/>
            <a:ext cx="640080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96B"/>
                </a:solidFill>
                <a:latin typeface="Calibri"/>
              </a:rPr>
              <a:t>Claude returns: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11480" y="4233672"/>
            <a:ext cx="237744" cy="237744"/>
          </a:xfrm>
          <a:prstGeom prst="roundRect">
            <a:avLst>
              <a:gd name="adj" fmla="val 5000"/>
            </a:avLst>
          </a:prstGeom>
          <a:solidFill>
            <a:srgbClr val="5500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4215384"/>
            <a:ext cx="23774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8" y="4178808"/>
            <a:ext cx="6126480" cy="4206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FFFFFF"/>
                </a:solidFill>
                <a:latin typeface="Calibri"/>
              </a:rPr>
              <a:t>Priority matrix (strategic impact × feasibility × dependencies)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11480" y="4709160"/>
            <a:ext cx="237744" cy="237744"/>
          </a:xfrm>
          <a:prstGeom prst="roundRect">
            <a:avLst>
              <a:gd name="adj" fmla="val 5000"/>
            </a:avLst>
          </a:prstGeom>
          <a:solidFill>
            <a:srgbClr val="5500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80" y="4690872"/>
            <a:ext cx="23774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8" y="4654296"/>
            <a:ext cx="6126480" cy="4206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FFFFFF"/>
                </a:solidFill>
                <a:latin typeface="Calibri"/>
              </a:rPr>
              <a:t>Must-do vs. should-do vs. can-wait classification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11480" y="5184648"/>
            <a:ext cx="237744" cy="237744"/>
          </a:xfrm>
          <a:prstGeom prst="roundRect">
            <a:avLst>
              <a:gd name="adj" fmla="val 5000"/>
            </a:avLst>
          </a:prstGeom>
          <a:solidFill>
            <a:srgbClr val="5500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1480" y="5166360"/>
            <a:ext cx="23774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8" y="5129784"/>
            <a:ext cx="6126480" cy="4206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FFFFFF"/>
                </a:solidFill>
                <a:latin typeface="Calibri"/>
              </a:rPr>
              <a:t>Quick wins (high impact, low effort — fund immediately)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11480" y="5660136"/>
            <a:ext cx="237744" cy="237744"/>
          </a:xfrm>
          <a:prstGeom prst="roundRect">
            <a:avLst>
              <a:gd name="adj" fmla="val 5000"/>
            </a:avLst>
          </a:prstGeom>
          <a:solidFill>
            <a:srgbClr val="5500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11480" y="5641848"/>
            <a:ext cx="23774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→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9808" y="5605272"/>
            <a:ext cx="6126480" cy="4206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FFFFFF"/>
                </a:solidFill>
                <a:latin typeface="Calibri"/>
              </a:rPr>
              <a:t>Kill list with rationale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The Consultant's Guide to Claude · BCG-Style Prompt Templates · 2026-06-18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26 / 44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5500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640080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550088"/>
                </a:solidFill>
                <a:latin typeface="Calibri"/>
              </a:rPr>
              <a:t>LINKEDIN POST — COPY &amp; PUBLISH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42655" y="201168"/>
            <a:ext cx="3200400" cy="365760"/>
          </a:xfrm>
          <a:prstGeom prst="roundRect">
            <a:avLst>
              <a:gd name="adj" fmla="val 4000"/>
            </a:avLst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15807" y="219456"/>
            <a:ext cx="3054096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00996B"/>
                </a:solidFill>
                <a:latin typeface="Calibri"/>
              </a:rPr>
              <a:t>EXECUTION: Initiative Prioritiza…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94944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200" b="1" i="0">
                <a:solidFill>
                  <a:srgbClr val="001824"/>
                </a:solidFill>
                <a:latin typeface="Calibri"/>
              </a:rPr>
              <a:t>Your transformation roadmap has 47 initiatives. It will deliver 3.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591056"/>
            <a:ext cx="1828800" cy="45720"/>
          </a:xfrm>
          <a:prstGeom prst="rect">
            <a:avLst/>
          </a:prstGeom>
          <a:solidFill>
            <a:srgbClr val="5500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737360"/>
            <a:ext cx="5029200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Capacity is the real constraint in every transformation.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066544"/>
            <a:ext cx="5029200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Most initiative lists are wish lists that haven't been stress-tested against bandwidth.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505456"/>
            <a:ext cx="5029200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BCG's Initiative Prioritization skill cuts through it.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609344"/>
            <a:ext cx="5577840" cy="4535424"/>
          </a:xfrm>
          <a:prstGeom prst="roundRect">
            <a:avLst>
              <a:gd name="adj" fmla="val 4000"/>
            </a:avLst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755648"/>
            <a:ext cx="525780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50088"/>
                </a:solidFill>
                <a:latin typeface="Calibri"/>
              </a:rPr>
              <a:t>COPY THIS PROMPT INTO CLAUDE CODE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82512" y="2139696"/>
            <a:ext cx="5248656" cy="420624"/>
          </a:xfrm>
          <a:prstGeom prst="roundRect">
            <a:avLst>
              <a:gd name="adj" fmla="val 3000"/>
            </a:avLst>
          </a:prstGeom>
          <a:solidFill>
            <a:srgbClr val="000C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55664" y="2157984"/>
            <a:ext cx="5102352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FFB800"/>
                </a:solidFill>
                <a:latin typeface="Calibri"/>
              </a:rPr>
              <a:t>/initiative-prioritizer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688336"/>
            <a:ext cx="525780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FFB800"/>
                </a:solidFill>
                <a:latin typeface="Calibri"/>
              </a:rPr>
              <a:t>/initiative-prioritizer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118104"/>
            <a:ext cx="525780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CCEEE4"/>
                </a:solidFill>
                <a:latin typeface="Calibri"/>
              </a:rPr>
              <a:t>Initiatives (list each): [name, description, estimated impact, estimated effort, status]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456432"/>
            <a:ext cx="525780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CCEEE4"/>
                </a:solidFill>
                <a:latin typeface="Calibri"/>
              </a:rPr>
              <a:t>Strategic goals they serve: [growth / cost / resilience / transformation]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794760"/>
            <a:ext cx="525780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CCEEE4"/>
                </a:solidFill>
                <a:latin typeface="Calibri"/>
              </a:rPr>
              <a:t>Available resources: [headcount, budget, time horizon]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4133088"/>
            <a:ext cx="525780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CCEEE4"/>
                </a:solidFill>
                <a:latin typeface="Calibri"/>
              </a:rPr>
              <a:t>Dependencies known: [what must happen before what]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4471416"/>
            <a:ext cx="525780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CCEEE4"/>
                </a:solidFill>
                <a:latin typeface="Calibri"/>
              </a:rPr>
              <a:t>Non-negotiables: [initiatives that cannot be cut — and why]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The Consultant's Guide to Claude · BCG-Style Prompt Templates · 2026-06-18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27 / 44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5500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56032"/>
            <a:ext cx="548640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550088"/>
                </a:solidFill>
                <a:latin typeface="Calibri"/>
              </a:rPr>
              <a:t>04 / EXECUTION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271455" y="201168"/>
            <a:ext cx="1371600" cy="402336"/>
          </a:xfrm>
          <a:prstGeom prst="roundRect">
            <a:avLst>
              <a:gd name="adj" fmla="val 6000"/>
            </a:avLst>
          </a:prstGeom>
          <a:solidFill>
            <a:srgbClr val="5500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17175" y="219456"/>
            <a:ext cx="12801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Calibri"/>
              </a:rPr>
              <a:t>SKILL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13232"/>
            <a:ext cx="6309360" cy="12801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800" b="1" i="0">
                <a:solidFill>
                  <a:srgbClr val="FFFFFF"/>
                </a:solidFill>
                <a:latin typeface="Calibri"/>
              </a:rPr>
              <a:t>The strategy is approved. Now what?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2084831"/>
            <a:ext cx="2560320" cy="54864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2286000"/>
            <a:ext cx="6309360" cy="4389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0" i="0">
                <a:solidFill>
                  <a:srgbClr val="CCEEE4"/>
                </a:solidFill>
                <a:latin typeface="Calibri"/>
              </a:rPr>
              <a:t>Most transformations fail in the 90 days after the strategy deck is signed.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724912"/>
            <a:ext cx="6309360" cy="4389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0" i="0">
                <a:solidFill>
                  <a:srgbClr val="CCEEE4"/>
                </a:solidFill>
                <a:latin typeface="Calibri"/>
              </a:rPr>
              <a:t>Not because the strategy was wrong — because no one built the bridge from "approved" to "running."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3163824"/>
            <a:ext cx="6309360" cy="4389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0" i="0">
                <a:solidFill>
                  <a:srgbClr val="CCEEE4"/>
                </a:solidFill>
                <a:latin typeface="Calibri"/>
              </a:rPr>
              <a:t>BCG's Transformation Roadmap skill builds that bridge.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0" y="713232"/>
            <a:ext cx="4663440" cy="5303520"/>
          </a:xfrm>
          <a:prstGeom prst="roundRect">
            <a:avLst>
              <a:gd name="adj" fmla="val 4000"/>
            </a:avLst>
          </a:prstGeom>
          <a:solidFill>
            <a:srgbClr val="002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96912" y="859536"/>
            <a:ext cx="438912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50088"/>
                </a:solidFill>
                <a:latin typeface="Calibri"/>
              </a:rPr>
              <a:t>THE PROMPT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69480" y="1216152"/>
            <a:ext cx="4389120" cy="402336"/>
          </a:xfrm>
          <a:prstGeom prst="roundRect">
            <a:avLst>
              <a:gd name="adj" fmla="val 3000"/>
            </a:avLst>
          </a:prstGeom>
          <a:solidFill>
            <a:srgbClr val="00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33488" y="1234439"/>
            <a:ext cx="4261104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FB800"/>
                </a:solidFill>
                <a:latin typeface="Calibri"/>
              </a:rPr>
              <a:t>/transformation-roadmap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96912" y="1737360"/>
            <a:ext cx="438912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CCEEE4"/>
                </a:solidFill>
                <a:latin typeface="Calibri"/>
              </a:rPr>
              <a:t>/transformation-roadmap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96912" y="2194560"/>
            <a:ext cx="438912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CCEEE4"/>
                </a:solidFill>
                <a:latin typeface="Calibri"/>
              </a:rPr>
              <a:t>Strategy being executed: [1–2 sentences]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96912" y="2542032"/>
            <a:ext cx="438912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CCEEE4"/>
                </a:solidFill>
                <a:latin typeface="Calibri"/>
              </a:rPr>
              <a:t>Target state: [what success looks like in 12–24 months]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96912" y="2889504"/>
            <a:ext cx="438912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CCEEE4"/>
                </a:solidFill>
                <a:latin typeface="Calibri"/>
              </a:rPr>
              <a:t>Workstreams identified: [list major tracks — technology / people / process / commercial]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96912" y="3236976"/>
            <a:ext cx="438912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CCEEE4"/>
                </a:solidFill>
                <a:latin typeface="Calibri"/>
              </a:rPr>
              <a:t>Key dependencies: [what must happen first]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96912" y="3584448"/>
            <a:ext cx="438912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CCEEE4"/>
                </a:solidFill>
                <a:latin typeface="Calibri"/>
              </a:rPr>
              <a:t>Governance structure: [steering committee, sponsor, PMO — current state]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3831336"/>
            <a:ext cx="640080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96B"/>
                </a:solidFill>
                <a:latin typeface="Calibri"/>
              </a:rPr>
              <a:t>Claude returns: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11480" y="4233672"/>
            <a:ext cx="237744" cy="237744"/>
          </a:xfrm>
          <a:prstGeom prst="roundRect">
            <a:avLst>
              <a:gd name="adj" fmla="val 5000"/>
            </a:avLst>
          </a:prstGeom>
          <a:solidFill>
            <a:srgbClr val="5500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4215384"/>
            <a:ext cx="23774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8" y="4178808"/>
            <a:ext cx="6126480" cy="4206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FFFFFF"/>
                </a:solidFill>
                <a:latin typeface="Calibri"/>
              </a:rPr>
              <a:t>Phased workstreams (Sprint → Scale → Sustain)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11480" y="4709160"/>
            <a:ext cx="237744" cy="237744"/>
          </a:xfrm>
          <a:prstGeom prst="roundRect">
            <a:avLst>
              <a:gd name="adj" fmla="val 5000"/>
            </a:avLst>
          </a:prstGeom>
          <a:solidFill>
            <a:srgbClr val="5500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80" y="4690872"/>
            <a:ext cx="23774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8" y="4654296"/>
            <a:ext cx="6126480" cy="4206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FFFFFF"/>
                </a:solidFill>
                <a:latin typeface="Calibri"/>
              </a:rPr>
              <a:t>Milestone map with dependencies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11480" y="5184648"/>
            <a:ext cx="237744" cy="237744"/>
          </a:xfrm>
          <a:prstGeom prst="roundRect">
            <a:avLst>
              <a:gd name="adj" fmla="val 5000"/>
            </a:avLst>
          </a:prstGeom>
          <a:solidFill>
            <a:srgbClr val="5500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1480" y="5166360"/>
            <a:ext cx="23774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8" y="5129784"/>
            <a:ext cx="6126480" cy="4206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FFFFFF"/>
                </a:solidFill>
                <a:latin typeface="Calibri"/>
              </a:rPr>
              <a:t>Owner assignments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11480" y="5660136"/>
            <a:ext cx="237744" cy="237744"/>
          </a:xfrm>
          <a:prstGeom prst="roundRect">
            <a:avLst>
              <a:gd name="adj" fmla="val 5000"/>
            </a:avLst>
          </a:prstGeom>
          <a:solidFill>
            <a:srgbClr val="5500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11480" y="5641848"/>
            <a:ext cx="23774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→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9808" y="5605272"/>
            <a:ext cx="6126480" cy="4206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FFFFFF"/>
                </a:solidFill>
                <a:latin typeface="Calibri"/>
              </a:rPr>
              <a:t>Risk and interdependency log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The Consultant's Guide to Claude · BCG-Style Prompt Templates · 2026-06-18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28 / 44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5500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640080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550088"/>
                </a:solidFill>
                <a:latin typeface="Calibri"/>
              </a:rPr>
              <a:t>LINKEDIN POST — COPY &amp; PUBLISH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42655" y="201168"/>
            <a:ext cx="3200400" cy="365760"/>
          </a:xfrm>
          <a:prstGeom prst="roundRect">
            <a:avLst>
              <a:gd name="adj" fmla="val 4000"/>
            </a:avLst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15807" y="219456"/>
            <a:ext cx="3054096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00996B"/>
                </a:solidFill>
                <a:latin typeface="Calibri"/>
              </a:rPr>
              <a:t>EXECUTION: Transformation Roadmap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94944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200" b="1" i="0">
                <a:solidFill>
                  <a:srgbClr val="001824"/>
                </a:solidFill>
                <a:latin typeface="Calibri"/>
              </a:rPr>
              <a:t>The strategy is approved. Now what?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591056"/>
            <a:ext cx="1828800" cy="45720"/>
          </a:xfrm>
          <a:prstGeom prst="rect">
            <a:avLst/>
          </a:prstGeom>
          <a:solidFill>
            <a:srgbClr val="5500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737360"/>
            <a:ext cx="5029200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Most transformations fail in the 90 days after the strategy deck is signed.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176272"/>
            <a:ext cx="5029200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Not because the strategy was wrong — because no one built the bridge from "approved" to "running."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615184"/>
            <a:ext cx="5029200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BCG's Transformation Roadmap skill builds that bridge.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609344"/>
            <a:ext cx="5577840" cy="4535424"/>
          </a:xfrm>
          <a:prstGeom prst="roundRect">
            <a:avLst>
              <a:gd name="adj" fmla="val 4000"/>
            </a:avLst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755648"/>
            <a:ext cx="525780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50088"/>
                </a:solidFill>
                <a:latin typeface="Calibri"/>
              </a:rPr>
              <a:t>COPY THIS PROMPT INTO CLAUDE CODE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82512" y="2139696"/>
            <a:ext cx="5248656" cy="420624"/>
          </a:xfrm>
          <a:prstGeom prst="roundRect">
            <a:avLst>
              <a:gd name="adj" fmla="val 3000"/>
            </a:avLst>
          </a:prstGeom>
          <a:solidFill>
            <a:srgbClr val="000C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55664" y="2157984"/>
            <a:ext cx="5102352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FFB800"/>
                </a:solidFill>
                <a:latin typeface="Calibri"/>
              </a:rPr>
              <a:t>/transformation-roadmap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688336"/>
            <a:ext cx="525780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FFB800"/>
                </a:solidFill>
                <a:latin typeface="Calibri"/>
              </a:rPr>
              <a:t>/transformation-roadmap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118104"/>
            <a:ext cx="525780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CCEEE4"/>
                </a:solidFill>
                <a:latin typeface="Calibri"/>
              </a:rPr>
              <a:t>Strategy being executed: [1–2 sentences]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456432"/>
            <a:ext cx="525780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CCEEE4"/>
                </a:solidFill>
                <a:latin typeface="Calibri"/>
              </a:rPr>
              <a:t>Target state: [what success looks like in 12–24 months]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794760"/>
            <a:ext cx="525780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CCEEE4"/>
                </a:solidFill>
                <a:latin typeface="Calibri"/>
              </a:rPr>
              <a:t>Workstreams identified: [list major tracks — technology / people / process / commercial]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4133088"/>
            <a:ext cx="525780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CCEEE4"/>
                </a:solidFill>
                <a:latin typeface="Calibri"/>
              </a:rPr>
              <a:t>Key dependencies: [what must happen first]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4471416"/>
            <a:ext cx="525780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CCEEE4"/>
                </a:solidFill>
                <a:latin typeface="Calibri"/>
              </a:rPr>
              <a:t>Governance structure: [steering committee, sponsor, PMO — current state]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4809744"/>
            <a:ext cx="525780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CCEEE4"/>
                </a:solidFill>
                <a:latin typeface="Calibri"/>
              </a:rPr>
              <a:t>Top risks: [what you're most worried about]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The Consultant's Guide to Claude · BCG-Style Prompt Templates · 2026-06-18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29 / 44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992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56032"/>
            <a:ext cx="548640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992200"/>
                </a:solidFill>
                <a:latin typeface="Calibri"/>
              </a:rPr>
              <a:t>05 / RISK &amp; GOVERNANCE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271455" y="201168"/>
            <a:ext cx="1371600" cy="402336"/>
          </a:xfrm>
          <a:prstGeom prst="roundRect">
            <a:avLst>
              <a:gd name="adj" fmla="val 6000"/>
            </a:avLst>
          </a:prstGeom>
          <a:solidFill>
            <a:srgbClr val="992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17175" y="219456"/>
            <a:ext cx="12801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Calibri"/>
              </a:rPr>
              <a:t>SKILL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13232"/>
            <a:ext cx="6309360" cy="12801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800" b="1" i="0">
                <a:solidFill>
                  <a:srgbClr val="FFFFFF"/>
                </a:solidFill>
                <a:latin typeface="Calibri"/>
              </a:rPr>
              <a:t>The risks that sink strategies are the ones marked "low likelihood."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2084831"/>
            <a:ext cx="2560320" cy="54864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2286000"/>
            <a:ext cx="6309360" cy="4389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0" i="0">
                <a:solidFill>
                  <a:srgbClr val="CCEEE4"/>
                </a:solidFill>
                <a:latin typeface="Calibri"/>
              </a:rPr>
              <a:t>Every strategy team puts the obvious risks on the register.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724912"/>
            <a:ext cx="6309360" cy="4389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0" i="0">
                <a:solidFill>
                  <a:srgbClr val="CCEEE4"/>
                </a:solidFill>
                <a:latin typeface="Calibri"/>
              </a:rPr>
              <a:t>BCG puts the non-obvious ones there too — and pre-commits the response.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3163824"/>
            <a:ext cx="6309360" cy="4389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0" i="0">
                <a:solidFill>
                  <a:srgbClr val="CCEEE4"/>
                </a:solidFill>
                <a:latin typeface="Calibri"/>
              </a:rPr>
              <a:t>The prompt: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0" y="713232"/>
            <a:ext cx="4663440" cy="5303520"/>
          </a:xfrm>
          <a:prstGeom prst="roundRect">
            <a:avLst>
              <a:gd name="adj" fmla="val 4000"/>
            </a:avLst>
          </a:prstGeom>
          <a:solidFill>
            <a:srgbClr val="002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96912" y="859536"/>
            <a:ext cx="438912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992200"/>
                </a:solidFill>
                <a:latin typeface="Calibri"/>
              </a:rPr>
              <a:t>THE PROMPT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69480" y="1216152"/>
            <a:ext cx="4389120" cy="402336"/>
          </a:xfrm>
          <a:prstGeom prst="roundRect">
            <a:avLst>
              <a:gd name="adj" fmla="val 3000"/>
            </a:avLst>
          </a:prstGeom>
          <a:solidFill>
            <a:srgbClr val="00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33488" y="1234439"/>
            <a:ext cx="4261104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FB800"/>
                </a:solidFill>
                <a:latin typeface="Calibri"/>
              </a:rPr>
              <a:t>/risk-and-mitigation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96912" y="1737360"/>
            <a:ext cx="438912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CCEEE4"/>
                </a:solidFill>
                <a:latin typeface="Calibri"/>
              </a:rPr>
              <a:t>/risk-and-mitigation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96912" y="2194560"/>
            <a:ext cx="438912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CCEEE4"/>
                </a:solidFill>
                <a:latin typeface="Calibri"/>
              </a:rPr>
              <a:t>Strategy or initiative: [description]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96912" y="2542032"/>
            <a:ext cx="438912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CCEEE4"/>
                </a:solidFill>
                <a:latin typeface="Calibri"/>
              </a:rPr>
              <a:t>Top risks you already see: [list known concerns]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96912" y="2889504"/>
            <a:ext cx="438912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CCEEE4"/>
                </a:solidFill>
                <a:latin typeface="Calibri"/>
              </a:rPr>
              <a:t>Risk categories to cover: [execution / competitive / regulatory / technology / financial / people]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96912" y="3236976"/>
            <a:ext cx="438912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CCEEE4"/>
                </a:solidFill>
                <a:latin typeface="Calibri"/>
              </a:rPr>
              <a:t>Decision makers: [who owns risk at the board/exec level]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96912" y="3584448"/>
            <a:ext cx="438912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CCEEE4"/>
                </a:solidFill>
                <a:latin typeface="Calibri"/>
              </a:rPr>
              <a:t>Timeline: [launch date or transformation horizon]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3831336"/>
            <a:ext cx="640080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96B"/>
                </a:solidFill>
                <a:latin typeface="Calibri"/>
              </a:rPr>
              <a:t>Claude returns: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11480" y="4233672"/>
            <a:ext cx="237744" cy="237744"/>
          </a:xfrm>
          <a:prstGeom prst="roundRect">
            <a:avLst>
              <a:gd name="adj" fmla="val 5000"/>
            </a:avLst>
          </a:prstGeom>
          <a:solidFill>
            <a:srgbClr val="992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4215384"/>
            <a:ext cx="23774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8" y="4178808"/>
            <a:ext cx="6126480" cy="4206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FFFFFF"/>
                </a:solidFill>
                <a:latin typeface="Calibri"/>
              </a:rPr>
              <a:t>Risk register (likelihood × impact × velocity)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11480" y="4709160"/>
            <a:ext cx="237744" cy="237744"/>
          </a:xfrm>
          <a:prstGeom prst="roundRect">
            <a:avLst>
              <a:gd name="adj" fmla="val 5000"/>
            </a:avLst>
          </a:prstGeom>
          <a:solidFill>
            <a:srgbClr val="992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80" y="4690872"/>
            <a:ext cx="23774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8" y="4654296"/>
            <a:ext cx="6126480" cy="4206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FFFFFF"/>
                </a:solidFill>
                <a:latin typeface="Calibri"/>
              </a:rPr>
              <a:t>Root cause per risk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11480" y="5184648"/>
            <a:ext cx="237744" cy="237744"/>
          </a:xfrm>
          <a:prstGeom prst="roundRect">
            <a:avLst>
              <a:gd name="adj" fmla="val 5000"/>
            </a:avLst>
          </a:prstGeom>
          <a:solidFill>
            <a:srgbClr val="992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1480" y="5166360"/>
            <a:ext cx="23774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8" y="5129784"/>
            <a:ext cx="6126480" cy="4206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FFFFFF"/>
                </a:solidFill>
                <a:latin typeface="Calibri"/>
              </a:rPr>
              <a:t>Mitigation actions with owners and triggers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11480" y="5660136"/>
            <a:ext cx="237744" cy="237744"/>
          </a:xfrm>
          <a:prstGeom prst="roundRect">
            <a:avLst>
              <a:gd name="adj" fmla="val 5000"/>
            </a:avLst>
          </a:prstGeom>
          <a:solidFill>
            <a:srgbClr val="992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11480" y="5641848"/>
            <a:ext cx="23774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→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9808" y="5605272"/>
            <a:ext cx="6126480" cy="4206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FFFFFF"/>
                </a:solidFill>
                <a:latin typeface="Calibri"/>
              </a:rPr>
              <a:t>Contingency plans for high-severity scenarios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The Consultant's Guide to Claude · BCG-Style Prompt Templates · 2026-06-18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30 / 44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992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640080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992200"/>
                </a:solidFill>
                <a:latin typeface="Calibri"/>
              </a:rPr>
              <a:t>LINKEDIN POST — COPY &amp; PUBLISH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42655" y="201168"/>
            <a:ext cx="3200400" cy="365760"/>
          </a:xfrm>
          <a:prstGeom prst="roundRect">
            <a:avLst>
              <a:gd name="adj" fmla="val 4000"/>
            </a:avLst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15807" y="219456"/>
            <a:ext cx="3054096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00996B"/>
                </a:solidFill>
                <a:latin typeface="Calibri"/>
              </a:rPr>
              <a:t>GOVERNANCE: Risk and Mitigation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94944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200" b="1" i="0">
                <a:solidFill>
                  <a:srgbClr val="001824"/>
                </a:solidFill>
                <a:latin typeface="Calibri"/>
              </a:rPr>
              <a:t>The risks that sink strategies are the ones marked "low likelihood."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591056"/>
            <a:ext cx="1828800" cy="45720"/>
          </a:xfrm>
          <a:prstGeom prst="rect">
            <a:avLst/>
          </a:prstGeom>
          <a:solidFill>
            <a:srgbClr val="992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737360"/>
            <a:ext cx="5029200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Every strategy team puts the obvious risks on the register.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066544"/>
            <a:ext cx="5029200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BCG puts the non-obvious ones there too — and pre-commits the response.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609344"/>
            <a:ext cx="5577840" cy="4535424"/>
          </a:xfrm>
          <a:prstGeom prst="roundRect">
            <a:avLst>
              <a:gd name="adj" fmla="val 4000"/>
            </a:avLst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755648"/>
            <a:ext cx="525780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992200"/>
                </a:solidFill>
                <a:latin typeface="Calibri"/>
              </a:rPr>
              <a:t>COPY THIS PROMPT INTO CLAUDE CODE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82512" y="2139696"/>
            <a:ext cx="5248656" cy="420624"/>
          </a:xfrm>
          <a:prstGeom prst="roundRect">
            <a:avLst>
              <a:gd name="adj" fmla="val 3000"/>
            </a:avLst>
          </a:prstGeom>
          <a:solidFill>
            <a:srgbClr val="000C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55664" y="2157984"/>
            <a:ext cx="5102352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FFB800"/>
                </a:solidFill>
                <a:latin typeface="Calibri"/>
              </a:rPr>
              <a:t>/risk-and-mitigation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688336"/>
            <a:ext cx="525780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FFB800"/>
                </a:solidFill>
                <a:latin typeface="Calibri"/>
              </a:rPr>
              <a:t>/risk-and-mitigation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118104"/>
            <a:ext cx="525780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CCEEE4"/>
                </a:solidFill>
                <a:latin typeface="Calibri"/>
              </a:rPr>
              <a:t>Strategy or initiative: [description]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456432"/>
            <a:ext cx="525780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CCEEE4"/>
                </a:solidFill>
                <a:latin typeface="Calibri"/>
              </a:rPr>
              <a:t>Top risks you already see: [list known concerns]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794760"/>
            <a:ext cx="525780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CCEEE4"/>
                </a:solidFill>
                <a:latin typeface="Calibri"/>
              </a:rPr>
              <a:t>Risk categories to cover: [execution / competitive / regulatory / technology / financial / people]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133088"/>
            <a:ext cx="525780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CCEEE4"/>
                </a:solidFill>
                <a:latin typeface="Calibri"/>
              </a:rPr>
              <a:t>Decision makers: [who owns risk at the board/exec level]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4471416"/>
            <a:ext cx="525780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CCEEE4"/>
                </a:solidFill>
                <a:latin typeface="Calibri"/>
              </a:rPr>
              <a:t>Timeline: [launch date or transformation horizon]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The Consultant's Guide to Claude · BCG-Style Prompt Templates · 2026-06-18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31 / 44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992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56032"/>
            <a:ext cx="548640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992200"/>
                </a:solidFill>
                <a:latin typeface="Calibri"/>
              </a:rPr>
              <a:t>05 / RISK &amp; GOVERNANCE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271455" y="201168"/>
            <a:ext cx="1371600" cy="402336"/>
          </a:xfrm>
          <a:prstGeom prst="roundRect">
            <a:avLst>
              <a:gd name="adj" fmla="val 6000"/>
            </a:avLst>
          </a:prstGeom>
          <a:solidFill>
            <a:srgbClr val="992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17175" y="219456"/>
            <a:ext cx="12801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Calibri"/>
              </a:rPr>
              <a:t>SKILL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13232"/>
            <a:ext cx="6309360" cy="12801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800" b="1" i="0">
                <a:solidFill>
                  <a:srgbClr val="FFFFFF"/>
                </a:solidFill>
                <a:latin typeface="Calibri"/>
              </a:rPr>
              <a:t>Your strategy looks brilliant on paper.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2084831"/>
            <a:ext cx="2560320" cy="54864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2286000"/>
            <a:ext cx="6309360" cy="4389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0" i="0">
                <a:solidFill>
                  <a:srgbClr val="CCEEE4"/>
                </a:solidFill>
                <a:latin typeface="Calibri"/>
              </a:rPr>
              <a:t>Paper doesn't compete back.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724912"/>
            <a:ext cx="6309360" cy="4389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0" i="0">
                <a:solidFill>
                  <a:srgbClr val="CCEEE4"/>
                </a:solidFill>
                <a:latin typeface="Calibri"/>
              </a:rPr>
              <a:t>BCG war games every major strategy before commitment.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3163824"/>
            <a:ext cx="6309360" cy="4389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0" i="0">
                <a:solidFill>
                  <a:srgbClr val="CCEEE4"/>
                </a:solidFill>
                <a:latin typeface="Calibri"/>
              </a:rPr>
              <a:t>Three teams: your team, the aggressive competitor, the market.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0" y="713232"/>
            <a:ext cx="4663440" cy="5303520"/>
          </a:xfrm>
          <a:prstGeom prst="roundRect">
            <a:avLst>
              <a:gd name="adj" fmla="val 4000"/>
            </a:avLst>
          </a:prstGeom>
          <a:solidFill>
            <a:srgbClr val="002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96912" y="859536"/>
            <a:ext cx="438912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992200"/>
                </a:solidFill>
                <a:latin typeface="Calibri"/>
              </a:rPr>
              <a:t>THE PROMPT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69480" y="1216152"/>
            <a:ext cx="4389120" cy="402336"/>
          </a:xfrm>
          <a:prstGeom prst="roundRect">
            <a:avLst>
              <a:gd name="adj" fmla="val 3000"/>
            </a:avLst>
          </a:prstGeom>
          <a:solidFill>
            <a:srgbClr val="00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33488" y="1234439"/>
            <a:ext cx="4261104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FB800"/>
                </a:solidFill>
                <a:latin typeface="Calibri"/>
              </a:rPr>
              <a:t>/war-gaming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96912" y="1737360"/>
            <a:ext cx="438912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CCEEE4"/>
                </a:solidFill>
                <a:latin typeface="Calibri"/>
              </a:rPr>
              <a:t>/war-gaming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96912" y="2194560"/>
            <a:ext cx="438912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CCEEE4"/>
                </a:solidFill>
                <a:latin typeface="Calibri"/>
              </a:rPr>
              <a:t>Strategy to test: [your plan in 3–5 sentences]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96912" y="2542032"/>
            <a:ext cx="438912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CCEEE4"/>
                </a:solidFill>
                <a:latin typeface="Calibri"/>
              </a:rPr>
              <a:t>Top competitors: [who could respond aggressively]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96912" y="2889504"/>
            <a:ext cx="438912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CCEEE4"/>
                </a:solidFill>
                <a:latin typeface="Calibri"/>
              </a:rPr>
              <a:t>Market risks: [disruption vectors — technology, regulation, customer behavior]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96912" y="3236976"/>
            <a:ext cx="438912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CCEEE4"/>
                </a:solidFill>
                <a:latin typeface="Calibri"/>
              </a:rPr>
              <a:t>Your biggest vulnerability: [what you're most worried about]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96912" y="3584448"/>
            <a:ext cx="438912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CCEEE4"/>
                </a:solidFill>
                <a:latin typeface="Calibri"/>
              </a:rPr>
              <a:t>Time horizon: [12 months / 3 years / 5 years]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3831336"/>
            <a:ext cx="640080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96B"/>
                </a:solidFill>
                <a:latin typeface="Calibri"/>
              </a:rPr>
              <a:t>Claude returns: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11480" y="4233672"/>
            <a:ext cx="237744" cy="237744"/>
          </a:xfrm>
          <a:prstGeom prst="roundRect">
            <a:avLst>
              <a:gd name="adj" fmla="val 5000"/>
            </a:avLst>
          </a:prstGeom>
          <a:solidFill>
            <a:srgbClr val="992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4215384"/>
            <a:ext cx="23774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8" y="4178808"/>
            <a:ext cx="6126480" cy="4206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FFFFFF"/>
                </a:solidFill>
                <a:latin typeface="Calibri"/>
              </a:rPr>
              <a:t>Scenario set (base, aggressive competitor, market disruption, execution failure)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11480" y="4709160"/>
            <a:ext cx="237744" cy="237744"/>
          </a:xfrm>
          <a:prstGeom prst="roundRect">
            <a:avLst>
              <a:gd name="adj" fmla="val 5000"/>
            </a:avLst>
          </a:prstGeom>
          <a:solidFill>
            <a:srgbClr val="992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80" y="4690872"/>
            <a:ext cx="23774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8" y="4654296"/>
            <a:ext cx="6126480" cy="4206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FFFFFF"/>
                </a:solidFill>
                <a:latin typeface="Calibri"/>
              </a:rPr>
              <a:t>Vulnerability map — where your strategy breaks under pressure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11480" y="5184648"/>
            <a:ext cx="237744" cy="237744"/>
          </a:xfrm>
          <a:prstGeom prst="roundRect">
            <a:avLst>
              <a:gd name="adj" fmla="val 5000"/>
            </a:avLst>
          </a:prstGeom>
          <a:solidFill>
            <a:srgbClr val="992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1480" y="5166360"/>
            <a:ext cx="23774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8" y="5129784"/>
            <a:ext cx="6126480" cy="4206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FFFFFF"/>
                </a:solidFill>
                <a:latin typeface="Calibri"/>
              </a:rPr>
              <a:t>Early warning signals for each scenario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11480" y="5660136"/>
            <a:ext cx="237744" cy="237744"/>
          </a:xfrm>
          <a:prstGeom prst="roundRect">
            <a:avLst>
              <a:gd name="adj" fmla="val 5000"/>
            </a:avLst>
          </a:prstGeom>
          <a:solidFill>
            <a:srgbClr val="992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11480" y="5641848"/>
            <a:ext cx="23774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→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9808" y="5605272"/>
            <a:ext cx="6126480" cy="4206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FFFFFF"/>
                </a:solidFill>
                <a:latin typeface="Calibri"/>
              </a:rPr>
              <a:t>Pre-committed response playbook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The Consultant's Guide to Claude · BCG-Style Prompt Templates · 2026-06-18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32 / 44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992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640080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992200"/>
                </a:solidFill>
                <a:latin typeface="Calibri"/>
              </a:rPr>
              <a:t>LINKEDIN POST — COPY &amp; PUBLISH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42655" y="201168"/>
            <a:ext cx="3200400" cy="365760"/>
          </a:xfrm>
          <a:prstGeom prst="roundRect">
            <a:avLst>
              <a:gd name="adj" fmla="val 4000"/>
            </a:avLst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15807" y="219456"/>
            <a:ext cx="3054096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00996B"/>
                </a:solidFill>
                <a:latin typeface="Calibri"/>
              </a:rPr>
              <a:t>GOVERNANCE: War Gaming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94944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200" b="1" i="0">
                <a:solidFill>
                  <a:srgbClr val="001824"/>
                </a:solidFill>
                <a:latin typeface="Calibri"/>
              </a:rPr>
              <a:t>Your strategy looks brilliant on paper.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591056"/>
            <a:ext cx="1828800" cy="45720"/>
          </a:xfrm>
          <a:prstGeom prst="rect">
            <a:avLst/>
          </a:prstGeom>
          <a:solidFill>
            <a:srgbClr val="992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737360"/>
            <a:ext cx="5029200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Paper doesn't compete back.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066544"/>
            <a:ext cx="5029200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BCG war games every major strategy before commitment.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395728"/>
            <a:ext cx="5029200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Three teams: your team, the aggressive competitor, the market.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834640"/>
            <a:ext cx="5029200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Each plays to win.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609344"/>
            <a:ext cx="5577840" cy="4535424"/>
          </a:xfrm>
          <a:prstGeom prst="roundRect">
            <a:avLst>
              <a:gd name="adj" fmla="val 4000"/>
            </a:avLst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755648"/>
            <a:ext cx="525780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992200"/>
                </a:solidFill>
                <a:latin typeface="Calibri"/>
              </a:rPr>
              <a:t>COPY THIS PROMPT INTO CLAUDE CODE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82512" y="2139696"/>
            <a:ext cx="5248656" cy="420624"/>
          </a:xfrm>
          <a:prstGeom prst="roundRect">
            <a:avLst>
              <a:gd name="adj" fmla="val 3000"/>
            </a:avLst>
          </a:prstGeom>
          <a:solidFill>
            <a:srgbClr val="000C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55664" y="2157984"/>
            <a:ext cx="5102352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FFB800"/>
                </a:solidFill>
                <a:latin typeface="Calibri"/>
              </a:rPr>
              <a:t>/war-gaming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688336"/>
            <a:ext cx="525780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FFB800"/>
                </a:solidFill>
                <a:latin typeface="Calibri"/>
              </a:rPr>
              <a:t>/war-gaming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118104"/>
            <a:ext cx="525780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CCEEE4"/>
                </a:solidFill>
                <a:latin typeface="Calibri"/>
              </a:rPr>
              <a:t>Strategy to test: [your plan in 3–5 sentences]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456432"/>
            <a:ext cx="525780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CCEEE4"/>
                </a:solidFill>
                <a:latin typeface="Calibri"/>
              </a:rPr>
              <a:t>Top competitors: [who could respond aggressively]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794760"/>
            <a:ext cx="525780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CCEEE4"/>
                </a:solidFill>
                <a:latin typeface="Calibri"/>
              </a:rPr>
              <a:t>Market risks: [disruption vectors — technology, regulation, customer behavior]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4133088"/>
            <a:ext cx="525780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CCEEE4"/>
                </a:solidFill>
                <a:latin typeface="Calibri"/>
              </a:rPr>
              <a:t>Your biggest vulnerability: [what you're most worried about]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4471416"/>
            <a:ext cx="525780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CCEEE4"/>
                </a:solidFill>
                <a:latin typeface="Calibri"/>
              </a:rPr>
              <a:t>Time horizon: [12 months / 3 years / 5 years]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The Consultant's Guide to Claude · BCG-Style Prompt Templates · 2026-06-18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33 / 44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992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56032"/>
            <a:ext cx="548640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992200"/>
                </a:solidFill>
                <a:latin typeface="Calibri"/>
              </a:rPr>
              <a:t>05 / RISK &amp; GOVERNANCE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271455" y="201168"/>
            <a:ext cx="1371600" cy="402336"/>
          </a:xfrm>
          <a:prstGeom prst="roundRect">
            <a:avLst>
              <a:gd name="adj" fmla="val 6000"/>
            </a:avLst>
          </a:prstGeom>
          <a:solidFill>
            <a:srgbClr val="992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17175" y="219456"/>
            <a:ext cx="12801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Calibri"/>
              </a:rPr>
              <a:t>SKILL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13232"/>
            <a:ext cx="6309360" cy="12801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800" b="1" i="0">
                <a:solidFill>
                  <a:srgbClr val="FFFFFF"/>
                </a:solidFill>
                <a:latin typeface="Calibri"/>
              </a:rPr>
              <a:t>Most companies measure what's easy to measure, not what matters.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2084831"/>
            <a:ext cx="2560320" cy="54864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2286000"/>
            <a:ext cx="6309360" cy="4389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0" i="0">
                <a:solidFill>
                  <a:srgbClr val="CCEEE4"/>
                </a:solidFill>
                <a:latin typeface="Calibri"/>
              </a:rPr>
              <a:t>You have 40 KPIs on your dashboard.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724912"/>
            <a:ext cx="6309360" cy="4389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0" i="0">
                <a:solidFill>
                  <a:srgbClr val="CCEEE4"/>
                </a:solidFill>
                <a:latin typeface="Calibri"/>
              </a:rPr>
              <a:t>You know which ones the CEO actually cares about at 9am on a Monday.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3163824"/>
            <a:ext cx="6309360" cy="4389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0" i="0">
                <a:solidFill>
                  <a:srgbClr val="CCEEE4"/>
                </a:solidFill>
                <a:latin typeface="Calibri"/>
              </a:rPr>
              <a:t>BCG's KPI Architecture skill designs a measurement system tied to strategic decisions — not reporting convenience.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0" y="713232"/>
            <a:ext cx="4663440" cy="5303520"/>
          </a:xfrm>
          <a:prstGeom prst="roundRect">
            <a:avLst>
              <a:gd name="adj" fmla="val 4000"/>
            </a:avLst>
          </a:prstGeom>
          <a:solidFill>
            <a:srgbClr val="002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96912" y="859536"/>
            <a:ext cx="438912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992200"/>
                </a:solidFill>
                <a:latin typeface="Calibri"/>
              </a:rPr>
              <a:t>THE PROMPT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69480" y="1216152"/>
            <a:ext cx="4389120" cy="402336"/>
          </a:xfrm>
          <a:prstGeom prst="roundRect">
            <a:avLst>
              <a:gd name="adj" fmla="val 3000"/>
            </a:avLst>
          </a:prstGeom>
          <a:solidFill>
            <a:srgbClr val="00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33488" y="1234439"/>
            <a:ext cx="4261104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FB800"/>
                </a:solidFill>
                <a:latin typeface="Calibri"/>
              </a:rPr>
              <a:t>/kpi-architect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96912" y="1737360"/>
            <a:ext cx="438912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CCEEE4"/>
                </a:solidFill>
                <a:latin typeface="Calibri"/>
              </a:rPr>
              <a:t>/kpi-architect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96912" y="2194560"/>
            <a:ext cx="438912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CCEEE4"/>
                </a:solidFill>
                <a:latin typeface="Calibri"/>
              </a:rPr>
              <a:t>Strategy: [what the business is trying to achieve]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96912" y="2542032"/>
            <a:ext cx="438912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CCEEE4"/>
                </a:solidFill>
                <a:latin typeface="Calibri"/>
              </a:rPr>
              <a:t>Current metrics: [list what you track today]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96912" y="2889504"/>
            <a:ext cx="438912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CCEEE4"/>
                </a:solidFill>
                <a:latin typeface="Calibri"/>
              </a:rPr>
              <a:t>Decisions these metrics support: [what do leaders actually use them to decide]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96912" y="3236976"/>
            <a:ext cx="438912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CCEEE4"/>
                </a:solidFill>
                <a:latin typeface="Calibri"/>
              </a:rPr>
              <a:t>Cadence: [how often reporting happens and who reviews it]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96912" y="3584448"/>
            <a:ext cx="438912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CCEEE4"/>
                </a:solidFill>
                <a:latin typeface="Calibri"/>
              </a:rPr>
              <a:t>Problems with current metrics: [lagging / too many / not actionable / contested]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3831336"/>
            <a:ext cx="640080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96B"/>
                </a:solidFill>
                <a:latin typeface="Calibri"/>
              </a:rPr>
              <a:t>Claude returns: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11480" y="4233672"/>
            <a:ext cx="237744" cy="237744"/>
          </a:xfrm>
          <a:prstGeom prst="roundRect">
            <a:avLst>
              <a:gd name="adj" fmla="val 5000"/>
            </a:avLst>
          </a:prstGeom>
          <a:solidFill>
            <a:srgbClr val="992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4215384"/>
            <a:ext cx="23774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8" y="4178808"/>
            <a:ext cx="6126480" cy="4206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FFFFFF"/>
                </a:solidFill>
                <a:latin typeface="Calibri"/>
              </a:rPr>
              <a:t>Strategic KPI hierarchy (outcome → driver → leading indicator)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11480" y="4709160"/>
            <a:ext cx="237744" cy="237744"/>
          </a:xfrm>
          <a:prstGeom prst="roundRect">
            <a:avLst>
              <a:gd name="adj" fmla="val 5000"/>
            </a:avLst>
          </a:prstGeom>
          <a:solidFill>
            <a:srgbClr val="992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80" y="4690872"/>
            <a:ext cx="23774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8" y="4654296"/>
            <a:ext cx="6126480" cy="4206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FFFFFF"/>
                </a:solidFill>
                <a:latin typeface="Calibri"/>
              </a:rPr>
              <a:t>Owner per metric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11480" y="5184648"/>
            <a:ext cx="237744" cy="237744"/>
          </a:xfrm>
          <a:prstGeom prst="roundRect">
            <a:avLst>
              <a:gd name="adj" fmla="val 5000"/>
            </a:avLst>
          </a:prstGeom>
          <a:solidFill>
            <a:srgbClr val="992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1480" y="5166360"/>
            <a:ext cx="23774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8" y="5129784"/>
            <a:ext cx="6126480" cy="4206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FFFFFF"/>
                </a:solidFill>
                <a:latin typeface="Calibri"/>
              </a:rPr>
              <a:t>Vanity metric kill list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11480" y="5660136"/>
            <a:ext cx="237744" cy="237744"/>
          </a:xfrm>
          <a:prstGeom prst="roundRect">
            <a:avLst>
              <a:gd name="adj" fmla="val 5000"/>
            </a:avLst>
          </a:prstGeom>
          <a:solidFill>
            <a:srgbClr val="992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11480" y="5641848"/>
            <a:ext cx="23774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→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9808" y="5605272"/>
            <a:ext cx="6126480" cy="4206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FFFFFF"/>
                </a:solidFill>
                <a:latin typeface="Calibri"/>
              </a:rPr>
              <a:t>Operating cadence design (daily / weekly / monthly / quarterly)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The Consultant's Guide to Claude · BCG-Style Prompt Templates · 2026-06-18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34 / 44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992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640080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992200"/>
                </a:solidFill>
                <a:latin typeface="Calibri"/>
              </a:rPr>
              <a:t>LINKEDIN POST — COPY &amp; PUBLISH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42655" y="201168"/>
            <a:ext cx="3200400" cy="365760"/>
          </a:xfrm>
          <a:prstGeom prst="roundRect">
            <a:avLst>
              <a:gd name="adj" fmla="val 4000"/>
            </a:avLst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15807" y="219456"/>
            <a:ext cx="3054096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00996B"/>
                </a:solidFill>
                <a:latin typeface="Calibri"/>
              </a:rPr>
              <a:t>GOVERNANCE: KPI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94944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200" b="1" i="0">
                <a:solidFill>
                  <a:srgbClr val="001824"/>
                </a:solidFill>
                <a:latin typeface="Calibri"/>
              </a:rPr>
              <a:t>Most companies measure what's easy to measure, not what matters.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591056"/>
            <a:ext cx="1828800" cy="45720"/>
          </a:xfrm>
          <a:prstGeom prst="rect">
            <a:avLst/>
          </a:prstGeom>
          <a:solidFill>
            <a:srgbClr val="992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737360"/>
            <a:ext cx="5029200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You have 40 KPIs on your dashboard.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066544"/>
            <a:ext cx="5029200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You know which ones the CEO actually cares about at 9am on a Monday.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505456"/>
            <a:ext cx="5029200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BCG's KPI Architecture skill designs a measurement system tied to strategic decisions — not reporting convenience.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609344"/>
            <a:ext cx="5577840" cy="4535424"/>
          </a:xfrm>
          <a:prstGeom prst="roundRect">
            <a:avLst>
              <a:gd name="adj" fmla="val 4000"/>
            </a:avLst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755648"/>
            <a:ext cx="525780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992200"/>
                </a:solidFill>
                <a:latin typeface="Calibri"/>
              </a:rPr>
              <a:t>COPY THIS PROMPT INTO CLAUDE CODE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82512" y="2139696"/>
            <a:ext cx="5248656" cy="420624"/>
          </a:xfrm>
          <a:prstGeom prst="roundRect">
            <a:avLst>
              <a:gd name="adj" fmla="val 3000"/>
            </a:avLst>
          </a:prstGeom>
          <a:solidFill>
            <a:srgbClr val="000C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55664" y="2157984"/>
            <a:ext cx="5102352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FFB800"/>
                </a:solidFill>
                <a:latin typeface="Calibri"/>
              </a:rPr>
              <a:t>/kpi-architect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688336"/>
            <a:ext cx="525780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FFB800"/>
                </a:solidFill>
                <a:latin typeface="Calibri"/>
              </a:rPr>
              <a:t>/kpi-architect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118104"/>
            <a:ext cx="525780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CCEEE4"/>
                </a:solidFill>
                <a:latin typeface="Calibri"/>
              </a:rPr>
              <a:t>Strategy: [what the business is trying to achieve]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456432"/>
            <a:ext cx="525780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CCEEE4"/>
                </a:solidFill>
                <a:latin typeface="Calibri"/>
              </a:rPr>
              <a:t>Current metrics: [list what you track today]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794760"/>
            <a:ext cx="525780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CCEEE4"/>
                </a:solidFill>
                <a:latin typeface="Calibri"/>
              </a:rPr>
              <a:t>Decisions these metrics support: [what do leaders actually use them to decide]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4133088"/>
            <a:ext cx="525780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CCEEE4"/>
                </a:solidFill>
                <a:latin typeface="Calibri"/>
              </a:rPr>
              <a:t>Cadence: [how often reporting happens and who reviews it]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4471416"/>
            <a:ext cx="525780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CCEEE4"/>
                </a:solidFill>
                <a:latin typeface="Calibri"/>
              </a:rPr>
              <a:t>Problems with current metrics: [lagging / too many / not actionable / contested]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The Consultant's Guide to Claude · BCG-Style Prompt Templates · 2026-06-18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35 / 44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992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56032"/>
            <a:ext cx="548640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992200"/>
                </a:solidFill>
                <a:latin typeface="Calibri"/>
              </a:rPr>
              <a:t>05 / RISK &amp; GOVERNANCE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271455" y="201168"/>
            <a:ext cx="1371600" cy="402336"/>
          </a:xfrm>
          <a:prstGeom prst="roundRect">
            <a:avLst>
              <a:gd name="adj" fmla="val 6000"/>
            </a:avLst>
          </a:prstGeom>
          <a:solidFill>
            <a:srgbClr val="992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17175" y="219456"/>
            <a:ext cx="12801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Calibri"/>
              </a:rPr>
              <a:t>SKILL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13232"/>
            <a:ext cx="6309360" cy="12801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800" b="1" i="0">
                <a:solidFill>
                  <a:srgbClr val="FFFFFF"/>
                </a:solidFill>
                <a:latin typeface="Calibri"/>
              </a:rPr>
              <a:t>The business case was approved 18 months ago.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2084831"/>
            <a:ext cx="2560320" cy="54864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2286000"/>
            <a:ext cx="6309360" cy="4389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0" i="0">
                <a:solidFill>
                  <a:srgbClr val="CCEEE4"/>
                </a:solidFill>
                <a:latin typeface="Calibri"/>
              </a:rPr>
              <a:t>Has anyone checked if the benefits are actually landing?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724912"/>
            <a:ext cx="6309360" cy="4389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0" i="0">
                <a:solidFill>
                  <a:srgbClr val="CCEEE4"/>
                </a:solidFill>
                <a:latin typeface="Calibri"/>
              </a:rPr>
              <a:t>BCG builds a Value Realization plan before the project launches — not after it goes live.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3163824"/>
            <a:ext cx="6309360" cy="4389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0" i="0">
                <a:solidFill>
                  <a:srgbClr val="CCEEE4"/>
                </a:solidFill>
                <a:latin typeface="Calibri"/>
              </a:rPr>
              <a:t>Because by the time the benefits fail to show, it's too late to change the design.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0" y="713232"/>
            <a:ext cx="4663440" cy="5303520"/>
          </a:xfrm>
          <a:prstGeom prst="roundRect">
            <a:avLst>
              <a:gd name="adj" fmla="val 4000"/>
            </a:avLst>
          </a:prstGeom>
          <a:solidFill>
            <a:srgbClr val="002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96912" y="859536"/>
            <a:ext cx="438912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992200"/>
                </a:solidFill>
                <a:latin typeface="Calibri"/>
              </a:rPr>
              <a:t>THE PROMPT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69480" y="1216152"/>
            <a:ext cx="4389120" cy="402336"/>
          </a:xfrm>
          <a:prstGeom prst="roundRect">
            <a:avLst>
              <a:gd name="adj" fmla="val 3000"/>
            </a:avLst>
          </a:prstGeom>
          <a:solidFill>
            <a:srgbClr val="00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33488" y="1234439"/>
            <a:ext cx="4261104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FB800"/>
                </a:solidFill>
                <a:latin typeface="Calibri"/>
              </a:rPr>
              <a:t>/value-realization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96912" y="1737360"/>
            <a:ext cx="438912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CCEEE4"/>
                </a:solidFill>
                <a:latin typeface="Calibri"/>
              </a:rPr>
              <a:t>/value-realization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96912" y="2194560"/>
            <a:ext cx="438912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CCEEE4"/>
                </a:solidFill>
                <a:latin typeface="Calibri"/>
              </a:rPr>
              <a:t>Initiative: [name and description]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96912" y="2542032"/>
            <a:ext cx="438912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CCEEE4"/>
                </a:solidFill>
                <a:latin typeface="Calibri"/>
              </a:rPr>
              <a:t>Benefits promised: [list each with $ or % value and timeline]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96912" y="2889504"/>
            <a:ext cx="438912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CCEEE4"/>
                </a:solidFill>
                <a:latin typeface="Calibri"/>
              </a:rPr>
              <a:t>Current tracking: [how benefits are currently measured, if at all]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96912" y="3236976"/>
            <a:ext cx="438912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CCEEE4"/>
                </a:solidFill>
                <a:latin typeface="Calibri"/>
              </a:rPr>
              <a:t>Owners: [who committed to each benefit]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96912" y="3584448"/>
            <a:ext cx="438912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CCEEE4"/>
                </a:solidFill>
                <a:latin typeface="Calibri"/>
              </a:rPr>
              <a:t>Risk to realization: [what could prevent benefits from landing]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3831336"/>
            <a:ext cx="640080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96B"/>
                </a:solidFill>
                <a:latin typeface="Calibri"/>
              </a:rPr>
              <a:t>Claude returns: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11480" y="4233672"/>
            <a:ext cx="237744" cy="237744"/>
          </a:xfrm>
          <a:prstGeom prst="roundRect">
            <a:avLst>
              <a:gd name="adj" fmla="val 5000"/>
            </a:avLst>
          </a:prstGeom>
          <a:solidFill>
            <a:srgbClr val="992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4215384"/>
            <a:ext cx="23774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8" y="4178808"/>
            <a:ext cx="6126480" cy="4206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FFFFFF"/>
                </a:solidFill>
                <a:latin typeface="Calibri"/>
              </a:rPr>
              <a:t>Benefits register with ownership and measurement method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11480" y="4709160"/>
            <a:ext cx="237744" cy="237744"/>
          </a:xfrm>
          <a:prstGeom prst="roundRect">
            <a:avLst>
              <a:gd name="adj" fmla="val 5000"/>
            </a:avLst>
          </a:prstGeom>
          <a:solidFill>
            <a:srgbClr val="992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80" y="4690872"/>
            <a:ext cx="23774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8" y="4654296"/>
            <a:ext cx="6126480" cy="4206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FFFFFF"/>
                </a:solidFill>
                <a:latin typeface="Calibri"/>
              </a:rPr>
              <a:t>Tracking cadence and review gates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11480" y="5184648"/>
            <a:ext cx="237744" cy="237744"/>
          </a:xfrm>
          <a:prstGeom prst="roundRect">
            <a:avLst>
              <a:gd name="adj" fmla="val 5000"/>
            </a:avLst>
          </a:prstGeom>
          <a:solidFill>
            <a:srgbClr val="992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1480" y="5166360"/>
            <a:ext cx="23774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8" y="5129784"/>
            <a:ext cx="6126480" cy="4206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FFFFFF"/>
                </a:solidFill>
                <a:latin typeface="Calibri"/>
              </a:rPr>
              <a:t>Benefit dependency map (what must happen for each benefit to materialise)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11480" y="5660136"/>
            <a:ext cx="237744" cy="237744"/>
          </a:xfrm>
          <a:prstGeom prst="roundRect">
            <a:avLst>
              <a:gd name="adj" fmla="val 5000"/>
            </a:avLst>
          </a:prstGeom>
          <a:solidFill>
            <a:srgbClr val="992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11480" y="5641848"/>
            <a:ext cx="23774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→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9808" y="5605272"/>
            <a:ext cx="6126480" cy="4206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FFFFFF"/>
                </a:solidFill>
                <a:latin typeface="Calibri"/>
              </a:rPr>
              <a:t>Contingency triggers (what to do if benefits are off track)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The Consultant's Guide to Claude · BCG-Style Prompt Templates · 2026-06-18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36 / 44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992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640080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992200"/>
                </a:solidFill>
                <a:latin typeface="Calibri"/>
              </a:rPr>
              <a:t>LINKEDIN POST — COPY &amp; PUBLISH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42655" y="201168"/>
            <a:ext cx="3200400" cy="365760"/>
          </a:xfrm>
          <a:prstGeom prst="roundRect">
            <a:avLst>
              <a:gd name="adj" fmla="val 4000"/>
            </a:avLst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15807" y="219456"/>
            <a:ext cx="3054096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00996B"/>
                </a:solidFill>
                <a:latin typeface="Calibri"/>
              </a:rPr>
              <a:t>GOVERNANCE: Value Realization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94944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200" b="1" i="0">
                <a:solidFill>
                  <a:srgbClr val="001824"/>
                </a:solidFill>
                <a:latin typeface="Calibri"/>
              </a:rPr>
              <a:t>The business case was approved 18 months ago.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591056"/>
            <a:ext cx="1828800" cy="45720"/>
          </a:xfrm>
          <a:prstGeom prst="rect">
            <a:avLst/>
          </a:prstGeom>
          <a:solidFill>
            <a:srgbClr val="992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737360"/>
            <a:ext cx="5029200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Has anyone checked if the benefits are actually landing?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066544"/>
            <a:ext cx="5029200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BCG builds a Value Realization plan before the project launches — not after it goes live.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505456"/>
            <a:ext cx="5029200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Because by the time the benefits fail to show, it's too late to change the design.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609344"/>
            <a:ext cx="5577840" cy="4535424"/>
          </a:xfrm>
          <a:prstGeom prst="roundRect">
            <a:avLst>
              <a:gd name="adj" fmla="val 4000"/>
            </a:avLst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755648"/>
            <a:ext cx="525780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992200"/>
                </a:solidFill>
                <a:latin typeface="Calibri"/>
              </a:rPr>
              <a:t>COPY THIS PROMPT INTO CLAUDE CODE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82512" y="2139696"/>
            <a:ext cx="5248656" cy="420624"/>
          </a:xfrm>
          <a:prstGeom prst="roundRect">
            <a:avLst>
              <a:gd name="adj" fmla="val 3000"/>
            </a:avLst>
          </a:prstGeom>
          <a:solidFill>
            <a:srgbClr val="000C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55664" y="2157984"/>
            <a:ext cx="5102352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FFB800"/>
                </a:solidFill>
                <a:latin typeface="Calibri"/>
              </a:rPr>
              <a:t>/value-realization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688336"/>
            <a:ext cx="525780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FFB800"/>
                </a:solidFill>
                <a:latin typeface="Calibri"/>
              </a:rPr>
              <a:t>/value-realization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118104"/>
            <a:ext cx="525780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CCEEE4"/>
                </a:solidFill>
                <a:latin typeface="Calibri"/>
              </a:rPr>
              <a:t>Initiative: [name and description]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456432"/>
            <a:ext cx="525780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CCEEE4"/>
                </a:solidFill>
                <a:latin typeface="Calibri"/>
              </a:rPr>
              <a:t>Benefits promised: [list each with $ or % value and timeline]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794760"/>
            <a:ext cx="525780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CCEEE4"/>
                </a:solidFill>
                <a:latin typeface="Calibri"/>
              </a:rPr>
              <a:t>Current tracking: [how benefits are currently measured, if at all]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4133088"/>
            <a:ext cx="525780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CCEEE4"/>
                </a:solidFill>
                <a:latin typeface="Calibri"/>
              </a:rPr>
              <a:t>Owners: [who committed to each benefit]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4471416"/>
            <a:ext cx="525780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CCEEE4"/>
                </a:solidFill>
                <a:latin typeface="Calibri"/>
              </a:rPr>
              <a:t>Risk to realization: [what could prevent benefits from landing]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4809744"/>
            <a:ext cx="525780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CCEEE4"/>
                </a:solidFill>
                <a:latin typeface="Calibri"/>
              </a:rPr>
              <a:t>Review governance: [who reviews progress and how often]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The Consultant's Guide to Claude · BCG-Style Prompt Templates · 2026-06-18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37 / 44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44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56032"/>
            <a:ext cx="548640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04466"/>
                </a:solidFill>
                <a:latin typeface="Calibri"/>
              </a:rPr>
              <a:t>06 / EXECUTIVE COMMS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271455" y="201168"/>
            <a:ext cx="1371600" cy="402336"/>
          </a:xfrm>
          <a:prstGeom prst="roundRect">
            <a:avLst>
              <a:gd name="adj" fmla="val 6000"/>
            </a:avLst>
          </a:prstGeom>
          <a:solidFill>
            <a:srgbClr val="0044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17175" y="219456"/>
            <a:ext cx="12801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Calibri"/>
              </a:rPr>
              <a:t>SKILL 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13232"/>
            <a:ext cx="6309360" cy="12801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800" b="1" i="0">
                <a:solidFill>
                  <a:srgbClr val="FFFFFF"/>
                </a:solidFill>
                <a:latin typeface="Calibri"/>
              </a:rPr>
              <a:t>Every strategy dies in a meeting that the right people didn't attend.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2084831"/>
            <a:ext cx="2560320" cy="54864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2286000"/>
            <a:ext cx="6309360" cy="4389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0" i="0">
                <a:solidFill>
                  <a:srgbClr val="CCEEE4"/>
                </a:solidFill>
                <a:latin typeface="Calibri"/>
              </a:rPr>
              <a:t>Or worse — in a conversation that happened after the meeting where the decision was made.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724912"/>
            <a:ext cx="6309360" cy="4389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0" i="0">
                <a:solidFill>
                  <a:srgbClr val="CCEEE4"/>
                </a:solidFill>
                <a:latin typeface="Calibri"/>
              </a:rPr>
              <a:t>BCG's Stakeholder Alignment skill maps who must be moved, how, and in what sequence — before the strategy reaches the room.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3163824"/>
            <a:ext cx="6309360" cy="4389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0" i="0">
                <a:solidFill>
                  <a:srgbClr val="CCEEE4"/>
                </a:solidFill>
                <a:latin typeface="Calibri"/>
              </a:rPr>
              <a:t>The prompt: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0" y="713232"/>
            <a:ext cx="4663440" cy="5303520"/>
          </a:xfrm>
          <a:prstGeom prst="roundRect">
            <a:avLst>
              <a:gd name="adj" fmla="val 4000"/>
            </a:avLst>
          </a:prstGeom>
          <a:solidFill>
            <a:srgbClr val="002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96912" y="859536"/>
            <a:ext cx="438912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004466"/>
                </a:solidFill>
                <a:latin typeface="Calibri"/>
              </a:rPr>
              <a:t>THE PROMPT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69480" y="1216152"/>
            <a:ext cx="4389120" cy="402336"/>
          </a:xfrm>
          <a:prstGeom prst="roundRect">
            <a:avLst>
              <a:gd name="adj" fmla="val 3000"/>
            </a:avLst>
          </a:prstGeom>
          <a:solidFill>
            <a:srgbClr val="00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33488" y="1234439"/>
            <a:ext cx="4261104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FB800"/>
                </a:solidFill>
                <a:latin typeface="Calibri"/>
              </a:rPr>
              <a:t>/stakeholder-alignment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96912" y="1737360"/>
            <a:ext cx="438912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CCEEE4"/>
                </a:solidFill>
                <a:latin typeface="Calibri"/>
              </a:rPr>
              <a:t>/stakeholder-alignment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96912" y="2194560"/>
            <a:ext cx="438912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CCEEE4"/>
                </a:solidFill>
                <a:latin typeface="Calibri"/>
              </a:rPr>
              <a:t>Strategy requiring alignment: [description]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96912" y="2542032"/>
            <a:ext cx="438912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CCEEE4"/>
                </a:solidFill>
                <a:latin typeface="Calibri"/>
              </a:rPr>
              <a:t>Key stakeholders: [list names/roles and their current disposition — supportive/neutral/resistant]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96912" y="2889504"/>
            <a:ext cx="438912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CCEEE4"/>
                </a:solidFill>
                <a:latin typeface="Calibri"/>
              </a:rPr>
              <a:t>Decision being sought: [what you need them to approve or support]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96912" y="3236976"/>
            <a:ext cx="438912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CCEEE4"/>
                </a:solidFill>
                <a:latin typeface="Calibri"/>
              </a:rPr>
              <a:t>Known objections: [what you've already heard or expect]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96912" y="3584448"/>
            <a:ext cx="438912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CCEEE4"/>
                </a:solidFill>
                <a:latin typeface="Calibri"/>
              </a:rPr>
              <a:t>Timeline: [when alignment must be achieved]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3831336"/>
            <a:ext cx="640080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96B"/>
                </a:solidFill>
                <a:latin typeface="Calibri"/>
              </a:rPr>
              <a:t>Claude returns: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11480" y="4233672"/>
            <a:ext cx="237744" cy="237744"/>
          </a:xfrm>
          <a:prstGeom prst="roundRect">
            <a:avLst>
              <a:gd name="adj" fmla="val 5000"/>
            </a:avLst>
          </a:prstGeom>
          <a:solidFill>
            <a:srgbClr val="0044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4215384"/>
            <a:ext cx="23774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8" y="4178808"/>
            <a:ext cx="6126480" cy="4206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FFFFFF"/>
                </a:solidFill>
                <a:latin typeface="Calibri"/>
              </a:rPr>
              <a:t>Stakeholder map (influence × disposition)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11480" y="4709160"/>
            <a:ext cx="237744" cy="237744"/>
          </a:xfrm>
          <a:prstGeom prst="roundRect">
            <a:avLst>
              <a:gd name="adj" fmla="val 5000"/>
            </a:avLst>
          </a:prstGeom>
          <a:solidFill>
            <a:srgbClr val="0044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80" y="4690872"/>
            <a:ext cx="23774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8" y="4654296"/>
            <a:ext cx="6126480" cy="4206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FFFFFF"/>
                </a:solidFill>
                <a:latin typeface="Calibri"/>
              </a:rPr>
              <a:t>Decision criteria per stakeholder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11480" y="5184648"/>
            <a:ext cx="237744" cy="237744"/>
          </a:xfrm>
          <a:prstGeom prst="roundRect">
            <a:avLst>
              <a:gd name="adj" fmla="val 5000"/>
            </a:avLst>
          </a:prstGeom>
          <a:solidFill>
            <a:srgbClr val="0044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1480" y="5166360"/>
            <a:ext cx="23774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8" y="5129784"/>
            <a:ext cx="6126480" cy="4206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FFFFFF"/>
                </a:solidFill>
                <a:latin typeface="Calibri"/>
              </a:rPr>
              <a:t>Pre-wire sequence (who to move first)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11480" y="5660136"/>
            <a:ext cx="237744" cy="237744"/>
          </a:xfrm>
          <a:prstGeom prst="roundRect">
            <a:avLst>
              <a:gd name="adj" fmla="val 5000"/>
            </a:avLst>
          </a:prstGeom>
          <a:solidFill>
            <a:srgbClr val="0044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11480" y="5641848"/>
            <a:ext cx="23774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→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9808" y="5605272"/>
            <a:ext cx="6126480" cy="4206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FFFFFF"/>
                </a:solidFill>
                <a:latin typeface="Calibri"/>
              </a:rPr>
              <a:t>Objections and pre-committed answers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The Consultant's Guide to Claude · BCG-Style Prompt Templates · 2026-06-18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38 / 44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44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640080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04466"/>
                </a:solidFill>
                <a:latin typeface="Calibri"/>
              </a:rPr>
              <a:t>LINKEDIN POST — COPY &amp; PUBLISH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42655" y="201168"/>
            <a:ext cx="3200400" cy="365760"/>
          </a:xfrm>
          <a:prstGeom prst="roundRect">
            <a:avLst>
              <a:gd name="adj" fmla="val 4000"/>
            </a:avLst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15807" y="219456"/>
            <a:ext cx="3054096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00996B"/>
                </a:solidFill>
                <a:latin typeface="Calibri"/>
              </a:rPr>
              <a:t>COMMUNICATION: Stakeholder Align…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94944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200" b="1" i="0">
                <a:solidFill>
                  <a:srgbClr val="001824"/>
                </a:solidFill>
                <a:latin typeface="Calibri"/>
              </a:rPr>
              <a:t>Every strategy dies in a meeting that the right people didn't attend.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591056"/>
            <a:ext cx="1828800" cy="45720"/>
          </a:xfrm>
          <a:prstGeom prst="rect">
            <a:avLst/>
          </a:prstGeom>
          <a:solidFill>
            <a:srgbClr val="0044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737360"/>
            <a:ext cx="5029200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Or worse — in a conversation that happened after the meeting where the decision was made.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176272"/>
            <a:ext cx="5029200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BCG's Stakeholder Alignment skill maps who must be moved, how, and in what sequence — before the strategy reaches the room.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609344"/>
            <a:ext cx="5577840" cy="4535424"/>
          </a:xfrm>
          <a:prstGeom prst="roundRect">
            <a:avLst>
              <a:gd name="adj" fmla="val 4000"/>
            </a:avLst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755648"/>
            <a:ext cx="525780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004466"/>
                </a:solidFill>
                <a:latin typeface="Calibri"/>
              </a:rPr>
              <a:t>COPY THIS PROMPT INTO CLAUDE CODE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82512" y="2139696"/>
            <a:ext cx="5248656" cy="420624"/>
          </a:xfrm>
          <a:prstGeom prst="roundRect">
            <a:avLst>
              <a:gd name="adj" fmla="val 3000"/>
            </a:avLst>
          </a:prstGeom>
          <a:solidFill>
            <a:srgbClr val="000C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55664" y="2157984"/>
            <a:ext cx="5102352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FFB800"/>
                </a:solidFill>
                <a:latin typeface="Calibri"/>
              </a:rPr>
              <a:t>/stakeholder-alignment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688336"/>
            <a:ext cx="525780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FFB800"/>
                </a:solidFill>
                <a:latin typeface="Calibri"/>
              </a:rPr>
              <a:t>/stakeholder-alignment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118104"/>
            <a:ext cx="525780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CCEEE4"/>
                </a:solidFill>
                <a:latin typeface="Calibri"/>
              </a:rPr>
              <a:t>Strategy requiring alignment: [description]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456432"/>
            <a:ext cx="525780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CCEEE4"/>
                </a:solidFill>
                <a:latin typeface="Calibri"/>
              </a:rPr>
              <a:t>Key stakeholders: [list names/roles and their current disposition — supportive/neutral/resistant]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794760"/>
            <a:ext cx="525780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CCEEE4"/>
                </a:solidFill>
                <a:latin typeface="Calibri"/>
              </a:rPr>
              <a:t>Decision being sought: [what you need them to approve or support]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133088"/>
            <a:ext cx="525780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CCEEE4"/>
                </a:solidFill>
                <a:latin typeface="Calibri"/>
              </a:rPr>
              <a:t>Known objections: [what you've already heard or expect]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4471416"/>
            <a:ext cx="525780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CCEEE4"/>
                </a:solidFill>
                <a:latin typeface="Calibri"/>
              </a:rPr>
              <a:t>Timeline: [when alignment must be achieved]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4809744"/>
            <a:ext cx="525780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CCEEE4"/>
                </a:solidFill>
                <a:latin typeface="Calibri"/>
              </a:rPr>
              <a:t>Political context: [any history, tensions, or dynamics relevant to the decision]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The Consultant's Guide to Claude · BCG-Style Prompt Templates · 2026-06-18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39 / 44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44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56032"/>
            <a:ext cx="548640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04466"/>
                </a:solidFill>
                <a:latin typeface="Calibri"/>
              </a:rPr>
              <a:t>06 / EXECUTIVE COMMS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271455" y="201168"/>
            <a:ext cx="1371600" cy="402336"/>
          </a:xfrm>
          <a:prstGeom prst="roundRect">
            <a:avLst>
              <a:gd name="adj" fmla="val 6000"/>
            </a:avLst>
          </a:prstGeom>
          <a:solidFill>
            <a:srgbClr val="0044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17175" y="219456"/>
            <a:ext cx="12801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Calibri"/>
              </a:rPr>
              <a:t>SKILL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13232"/>
            <a:ext cx="6309360" cy="12801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800" b="1" i="0">
                <a:solidFill>
                  <a:srgbClr val="FFFFFF"/>
                </a:solidFill>
                <a:latin typeface="Calibri"/>
              </a:rPr>
              <a:t>The best strategy in the room loses to the best-told story.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2084831"/>
            <a:ext cx="2560320" cy="54864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2286000"/>
            <a:ext cx="6309360" cy="4389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0" i="0">
                <a:solidFill>
                  <a:srgbClr val="CCEEE4"/>
                </a:solidFill>
                <a:latin typeface="Calibri"/>
              </a:rPr>
              <a:t>BCG's senior partners don't present findings. They tell stories.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724912"/>
            <a:ext cx="6309360" cy="4389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0" i="0">
                <a:solidFill>
                  <a:srgbClr val="CCEEE4"/>
                </a:solidFill>
                <a:latin typeface="Calibri"/>
              </a:rPr>
              <a:t>The structure is always the same: Situation → Complication → Question → Answer.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3163824"/>
            <a:ext cx="6309360" cy="4389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0" i="0">
                <a:solidFill>
                  <a:srgbClr val="CCEEE4"/>
                </a:solidFill>
                <a:latin typeface="Calibri"/>
              </a:rPr>
              <a:t>The answer comes first. The evidence follows.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0" y="713232"/>
            <a:ext cx="4663440" cy="5303520"/>
          </a:xfrm>
          <a:prstGeom prst="roundRect">
            <a:avLst>
              <a:gd name="adj" fmla="val 4000"/>
            </a:avLst>
          </a:prstGeom>
          <a:solidFill>
            <a:srgbClr val="002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96912" y="859536"/>
            <a:ext cx="438912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004466"/>
                </a:solidFill>
                <a:latin typeface="Calibri"/>
              </a:rPr>
              <a:t>THE PROMPT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69480" y="1216152"/>
            <a:ext cx="4389120" cy="402336"/>
          </a:xfrm>
          <a:prstGeom prst="roundRect">
            <a:avLst>
              <a:gd name="adj" fmla="val 3000"/>
            </a:avLst>
          </a:prstGeom>
          <a:solidFill>
            <a:srgbClr val="00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33488" y="1234439"/>
            <a:ext cx="4261104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FB800"/>
                </a:solidFill>
                <a:latin typeface="Calibri"/>
              </a:rPr>
              <a:t>/narrative-builder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96912" y="1737360"/>
            <a:ext cx="438912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CCEEE4"/>
                </a:solidFill>
                <a:latin typeface="Calibri"/>
              </a:rPr>
              <a:t>/narrative-builder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96912" y="2194560"/>
            <a:ext cx="438912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CCEEE4"/>
                </a:solidFill>
                <a:latin typeface="Calibri"/>
              </a:rPr>
              <a:t>Audience: [who will receive this — board / CEO / investors / leadership team]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96912" y="2542032"/>
            <a:ext cx="438912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CCEEE4"/>
                </a:solidFill>
                <a:latin typeface="Calibri"/>
              </a:rPr>
              <a:t>Recommendation: [your core recommendation in one sentence]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96912" y="2889504"/>
            <a:ext cx="438912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CCEEE4"/>
                </a:solidFill>
                <a:latin typeface="Calibri"/>
              </a:rPr>
              <a:t>Supporting evidence: [key facts, analyses, and data supporting the recommendation]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96912" y="3236976"/>
            <a:ext cx="438912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CCEEE4"/>
                </a:solidFill>
                <a:latin typeface="Calibri"/>
              </a:rPr>
              <a:t>Likely objections: [concerns your audience will raise]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96912" y="3584448"/>
            <a:ext cx="438912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CCEEE4"/>
                </a:solidFill>
                <a:latin typeface="Calibri"/>
              </a:rPr>
              <a:t>Desired action: [what you need them to do after receiving this]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3831336"/>
            <a:ext cx="640080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96B"/>
                </a:solidFill>
                <a:latin typeface="Calibri"/>
              </a:rPr>
              <a:t>Claude returns: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11480" y="4233672"/>
            <a:ext cx="237744" cy="237744"/>
          </a:xfrm>
          <a:prstGeom prst="roundRect">
            <a:avLst>
              <a:gd name="adj" fmla="val 5000"/>
            </a:avLst>
          </a:prstGeom>
          <a:solidFill>
            <a:srgbClr val="0044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4215384"/>
            <a:ext cx="23774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8" y="4178808"/>
            <a:ext cx="6126480" cy="4206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FFFFFF"/>
                </a:solidFill>
                <a:latin typeface="Calibri"/>
              </a:rPr>
              <a:t>SCQA storyline (Situation / Complication / Question / Answer)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11480" y="4709160"/>
            <a:ext cx="237744" cy="237744"/>
          </a:xfrm>
          <a:prstGeom prst="roundRect">
            <a:avLst>
              <a:gd name="adj" fmla="val 5000"/>
            </a:avLst>
          </a:prstGeom>
          <a:solidFill>
            <a:srgbClr val="0044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80" y="4690872"/>
            <a:ext cx="23774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8" y="4654296"/>
            <a:ext cx="6126480" cy="4206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FFFFFF"/>
                </a:solidFill>
                <a:latin typeface="Calibri"/>
              </a:rPr>
              <a:t>Pyramid logic (recommendation + 3 supporting arguments + evidence)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11480" y="5184648"/>
            <a:ext cx="237744" cy="237744"/>
          </a:xfrm>
          <a:prstGeom prst="roundRect">
            <a:avLst>
              <a:gd name="adj" fmla="val 5000"/>
            </a:avLst>
          </a:prstGeom>
          <a:solidFill>
            <a:srgbClr val="0044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1480" y="5166360"/>
            <a:ext cx="23774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8" y="5129784"/>
            <a:ext cx="6126480" cy="4206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FFFFFF"/>
                </a:solidFill>
                <a:latin typeface="Calibri"/>
              </a:rPr>
              <a:t>Headline sequence (the story if you only read the slide titles)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11480" y="5660136"/>
            <a:ext cx="237744" cy="237744"/>
          </a:xfrm>
          <a:prstGeom prst="roundRect">
            <a:avLst>
              <a:gd name="adj" fmla="val 5000"/>
            </a:avLst>
          </a:prstGeom>
          <a:solidFill>
            <a:srgbClr val="0044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11480" y="5641848"/>
            <a:ext cx="23774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→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9808" y="5605272"/>
            <a:ext cx="6126480" cy="4206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FFFFFF"/>
                </a:solidFill>
                <a:latin typeface="Calibri"/>
              </a:rPr>
              <a:t>Hostile Q&amp;A (the five worst questions, with answers)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The Consultant's Guide to Claude · BCG-Style Prompt Templates · 2026-06-18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40 / 44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44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640080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04466"/>
                </a:solidFill>
                <a:latin typeface="Calibri"/>
              </a:rPr>
              <a:t>LINKEDIN POST — COPY &amp; PUBLISH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42655" y="201168"/>
            <a:ext cx="3200400" cy="365760"/>
          </a:xfrm>
          <a:prstGeom prst="roundRect">
            <a:avLst>
              <a:gd name="adj" fmla="val 4000"/>
            </a:avLst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15807" y="219456"/>
            <a:ext cx="3054096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00996B"/>
                </a:solidFill>
                <a:latin typeface="Calibri"/>
              </a:rPr>
              <a:t>COMMUNICATION: Narrative Builder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94944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200" b="1" i="0">
                <a:solidFill>
                  <a:srgbClr val="001824"/>
                </a:solidFill>
                <a:latin typeface="Calibri"/>
              </a:rPr>
              <a:t>The best strategy in the room loses to the best-told story.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591056"/>
            <a:ext cx="1828800" cy="45720"/>
          </a:xfrm>
          <a:prstGeom prst="rect">
            <a:avLst/>
          </a:prstGeom>
          <a:solidFill>
            <a:srgbClr val="0044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737360"/>
            <a:ext cx="5029200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BCG's senior partners don't present findings. They tell stories.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176272"/>
            <a:ext cx="5029200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The structure is always the same: Situation → Complication → Question → Answer.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615184"/>
            <a:ext cx="5029200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The answer comes first. The evidence follows.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944368"/>
            <a:ext cx="5029200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This is the Pyramid Principle — and Claude executes it precisely.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609344"/>
            <a:ext cx="5577840" cy="4535424"/>
          </a:xfrm>
          <a:prstGeom prst="roundRect">
            <a:avLst>
              <a:gd name="adj" fmla="val 4000"/>
            </a:avLst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755648"/>
            <a:ext cx="525780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004466"/>
                </a:solidFill>
                <a:latin typeface="Calibri"/>
              </a:rPr>
              <a:t>COPY THIS PROMPT INTO CLAUDE CODE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82512" y="2139696"/>
            <a:ext cx="5248656" cy="420624"/>
          </a:xfrm>
          <a:prstGeom prst="roundRect">
            <a:avLst>
              <a:gd name="adj" fmla="val 3000"/>
            </a:avLst>
          </a:prstGeom>
          <a:solidFill>
            <a:srgbClr val="000C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55664" y="2157984"/>
            <a:ext cx="5102352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FFB800"/>
                </a:solidFill>
                <a:latin typeface="Calibri"/>
              </a:rPr>
              <a:t>/narrative-builder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688336"/>
            <a:ext cx="525780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FFB800"/>
                </a:solidFill>
                <a:latin typeface="Calibri"/>
              </a:rPr>
              <a:t>/narrative-builder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118104"/>
            <a:ext cx="525780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CCEEE4"/>
                </a:solidFill>
                <a:latin typeface="Calibri"/>
              </a:rPr>
              <a:t>Audience: [who will receive this — board / CEO / investors / leadership team]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456432"/>
            <a:ext cx="525780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CCEEE4"/>
                </a:solidFill>
                <a:latin typeface="Calibri"/>
              </a:rPr>
              <a:t>Recommendation: [your core recommendation in one sentence]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794760"/>
            <a:ext cx="525780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CCEEE4"/>
                </a:solidFill>
                <a:latin typeface="Calibri"/>
              </a:rPr>
              <a:t>Supporting evidence: [key facts, analyses, and data supporting the recommendation]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4133088"/>
            <a:ext cx="525780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CCEEE4"/>
                </a:solidFill>
                <a:latin typeface="Calibri"/>
              </a:rPr>
              <a:t>Likely objections: [concerns your audience will raise]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4471416"/>
            <a:ext cx="525780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CCEEE4"/>
                </a:solidFill>
                <a:latin typeface="Calibri"/>
              </a:rPr>
              <a:t>Desired action: [what you need them to do after receiving this]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4809744"/>
            <a:ext cx="525780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CCEEE4"/>
                </a:solidFill>
                <a:latin typeface="Calibri"/>
              </a:rPr>
              <a:t>Tone: [direct / diplomatic / urgent / confidence-building]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The Consultant's Guide to Claude · BCG-Style Prompt Templates · 2026-06-18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41 / 44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44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56032"/>
            <a:ext cx="548640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04466"/>
                </a:solidFill>
                <a:latin typeface="Calibri"/>
              </a:rPr>
              <a:t>06 / EXECUTIVE COMMS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271455" y="201168"/>
            <a:ext cx="1371600" cy="402336"/>
          </a:xfrm>
          <a:prstGeom prst="roundRect">
            <a:avLst>
              <a:gd name="adj" fmla="val 6000"/>
            </a:avLst>
          </a:prstGeom>
          <a:solidFill>
            <a:srgbClr val="0044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17175" y="219456"/>
            <a:ext cx="12801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Calibri"/>
              </a:rPr>
              <a:t>SKILL 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13232"/>
            <a:ext cx="6309360" cy="12801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800" b="1" i="0">
                <a:solidFill>
                  <a:srgbClr val="FFFFFF"/>
                </a:solidFill>
                <a:latin typeface="Calibri"/>
              </a:rPr>
              <a:t>Every major decision deserves a one-page memo.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2084831"/>
            <a:ext cx="2560320" cy="54864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2286000"/>
            <a:ext cx="6309360" cy="4389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0" i="0">
                <a:solidFill>
                  <a:srgbClr val="CCEEE4"/>
                </a:solidFill>
                <a:latin typeface="Calibri"/>
              </a:rPr>
              <a:t>Not a 40-slide deck. Not a 20-page report. One page.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724912"/>
            <a:ext cx="6309360" cy="4389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0" i="0">
                <a:solidFill>
                  <a:srgbClr val="CCEEE4"/>
                </a:solidFill>
                <a:latin typeface="Calibri"/>
              </a:rPr>
              <a:t>BCG structures every major recommendation as a Decision Memo: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3163824"/>
            <a:ext cx="6309360" cy="4389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0" i="0">
                <a:solidFill>
                  <a:srgbClr val="CCEEE4"/>
                </a:solidFill>
                <a:latin typeface="Calibri"/>
              </a:rPr>
              <a:t>recommendation → context → options considered → evidence → risks → next steps.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0" y="713232"/>
            <a:ext cx="4663440" cy="5303520"/>
          </a:xfrm>
          <a:prstGeom prst="roundRect">
            <a:avLst>
              <a:gd name="adj" fmla="val 4000"/>
            </a:avLst>
          </a:prstGeom>
          <a:solidFill>
            <a:srgbClr val="002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96912" y="859536"/>
            <a:ext cx="438912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004466"/>
                </a:solidFill>
                <a:latin typeface="Calibri"/>
              </a:rPr>
              <a:t>THE PROMPT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69480" y="1216152"/>
            <a:ext cx="4389120" cy="402336"/>
          </a:xfrm>
          <a:prstGeom prst="roundRect">
            <a:avLst>
              <a:gd name="adj" fmla="val 3000"/>
            </a:avLst>
          </a:prstGeom>
          <a:solidFill>
            <a:srgbClr val="00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33488" y="1234439"/>
            <a:ext cx="4261104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FB800"/>
                </a:solidFill>
                <a:latin typeface="Calibri"/>
              </a:rPr>
              <a:t>/decision-memo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96912" y="1737360"/>
            <a:ext cx="438912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CCEEE4"/>
                </a:solidFill>
                <a:latin typeface="Calibri"/>
              </a:rPr>
              <a:t>/decision-memo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96912" y="2194560"/>
            <a:ext cx="438912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CCEEE4"/>
                </a:solidFill>
                <a:latin typeface="Calibri"/>
              </a:rPr>
              <a:t>Decision required: [what must be decided and by when]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96912" y="2542032"/>
            <a:ext cx="438912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CCEEE4"/>
                </a:solidFill>
                <a:latin typeface="Calibri"/>
              </a:rPr>
              <a:t>Recommendation: [your preferred path]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96912" y="2889504"/>
            <a:ext cx="438912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CCEEE4"/>
                </a:solidFill>
                <a:latin typeface="Calibri"/>
              </a:rPr>
              <a:t>Context: [why this decision matters now]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96912" y="3236976"/>
            <a:ext cx="438912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CCEEE4"/>
                </a:solidFill>
                <a:latin typeface="Calibri"/>
              </a:rPr>
              <a:t>Options considered: [what alternatives were evaluated]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96912" y="3584448"/>
            <a:ext cx="438912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CCEEE4"/>
                </a:solidFill>
                <a:latin typeface="Calibri"/>
              </a:rPr>
              <a:t>Evidence: [key facts supporting the recommendation]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3831336"/>
            <a:ext cx="640080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96B"/>
                </a:solidFill>
                <a:latin typeface="Calibri"/>
              </a:rPr>
              <a:t>Claude returns: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11480" y="4233672"/>
            <a:ext cx="237744" cy="237744"/>
          </a:xfrm>
          <a:prstGeom prst="roundRect">
            <a:avLst>
              <a:gd name="adj" fmla="val 5000"/>
            </a:avLst>
          </a:prstGeom>
          <a:solidFill>
            <a:srgbClr val="0044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4215384"/>
            <a:ext cx="23774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8" y="4178808"/>
            <a:ext cx="6126480" cy="4206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FFFFFF"/>
                </a:solidFill>
                <a:latin typeface="Calibri"/>
              </a:rPr>
              <a:t>Executive summary (recommendation in one sentence)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11480" y="4709160"/>
            <a:ext cx="237744" cy="237744"/>
          </a:xfrm>
          <a:prstGeom prst="roundRect">
            <a:avLst>
              <a:gd name="adj" fmla="val 5000"/>
            </a:avLst>
          </a:prstGeom>
          <a:solidFill>
            <a:srgbClr val="0044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80" y="4690872"/>
            <a:ext cx="23774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8" y="4654296"/>
            <a:ext cx="6126480" cy="4206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FFFFFF"/>
                </a:solidFill>
                <a:latin typeface="Calibri"/>
              </a:rPr>
              <a:t>Context and burning platform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11480" y="5184648"/>
            <a:ext cx="237744" cy="237744"/>
          </a:xfrm>
          <a:prstGeom prst="roundRect">
            <a:avLst>
              <a:gd name="adj" fmla="val 5000"/>
            </a:avLst>
          </a:prstGeom>
          <a:solidFill>
            <a:srgbClr val="0044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1480" y="5166360"/>
            <a:ext cx="23774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8" y="5129784"/>
            <a:ext cx="6126480" cy="4206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FFFFFF"/>
                </a:solidFill>
                <a:latin typeface="Calibri"/>
              </a:rPr>
              <a:t>Options considered and why rejected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11480" y="5660136"/>
            <a:ext cx="237744" cy="237744"/>
          </a:xfrm>
          <a:prstGeom prst="roundRect">
            <a:avLst>
              <a:gd name="adj" fmla="val 5000"/>
            </a:avLst>
          </a:prstGeom>
          <a:solidFill>
            <a:srgbClr val="0044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11480" y="5641848"/>
            <a:ext cx="23774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→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9808" y="5605272"/>
            <a:ext cx="6126480" cy="4206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FFFFFF"/>
                </a:solidFill>
                <a:latin typeface="Calibri"/>
              </a:rPr>
              <a:t>Evidence for the recommendation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The Consultant's Guide to Claude · BCG-Style Prompt Templates · 2026-06-18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42 / 44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44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640080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04466"/>
                </a:solidFill>
                <a:latin typeface="Calibri"/>
              </a:rPr>
              <a:t>LINKEDIN POST — COPY &amp; PUBLISH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42655" y="201168"/>
            <a:ext cx="3200400" cy="365760"/>
          </a:xfrm>
          <a:prstGeom prst="roundRect">
            <a:avLst>
              <a:gd name="adj" fmla="val 4000"/>
            </a:avLst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15807" y="219456"/>
            <a:ext cx="3054096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00996B"/>
                </a:solidFill>
                <a:latin typeface="Calibri"/>
              </a:rPr>
              <a:t>COMMUNICATION: Decision Memo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94944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200" b="1" i="0">
                <a:solidFill>
                  <a:srgbClr val="001824"/>
                </a:solidFill>
                <a:latin typeface="Calibri"/>
              </a:rPr>
              <a:t>Every major decision deserves a one-page memo.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591056"/>
            <a:ext cx="1828800" cy="45720"/>
          </a:xfrm>
          <a:prstGeom prst="rect">
            <a:avLst/>
          </a:prstGeom>
          <a:solidFill>
            <a:srgbClr val="0044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737360"/>
            <a:ext cx="5029200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Not a 40-slide deck. Not a 20-page report. One page.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066544"/>
            <a:ext cx="5029200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BCG structures every major recommendation as a Decision Memo: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505456"/>
            <a:ext cx="5029200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recommendation → context → options considered → evidence → risks → next steps.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944368"/>
            <a:ext cx="5029200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The person who reads it should be able to decide in under five minutes.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609344"/>
            <a:ext cx="5577840" cy="4535424"/>
          </a:xfrm>
          <a:prstGeom prst="roundRect">
            <a:avLst>
              <a:gd name="adj" fmla="val 4000"/>
            </a:avLst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755648"/>
            <a:ext cx="525780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004466"/>
                </a:solidFill>
                <a:latin typeface="Calibri"/>
              </a:rPr>
              <a:t>COPY THIS PROMPT INTO CLAUDE CODE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82512" y="2139696"/>
            <a:ext cx="5248656" cy="420624"/>
          </a:xfrm>
          <a:prstGeom prst="roundRect">
            <a:avLst>
              <a:gd name="adj" fmla="val 3000"/>
            </a:avLst>
          </a:prstGeom>
          <a:solidFill>
            <a:srgbClr val="000C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55664" y="2157984"/>
            <a:ext cx="5102352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FFB800"/>
                </a:solidFill>
                <a:latin typeface="Calibri"/>
              </a:rPr>
              <a:t>/decision-memo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688336"/>
            <a:ext cx="525780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FFB800"/>
                </a:solidFill>
                <a:latin typeface="Calibri"/>
              </a:rPr>
              <a:t>/decision-memo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118104"/>
            <a:ext cx="525780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CCEEE4"/>
                </a:solidFill>
                <a:latin typeface="Calibri"/>
              </a:rPr>
              <a:t>Decision required: [what must be decided and by when]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456432"/>
            <a:ext cx="525780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CCEEE4"/>
                </a:solidFill>
                <a:latin typeface="Calibri"/>
              </a:rPr>
              <a:t>Recommendation: [your preferred path]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794760"/>
            <a:ext cx="525780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CCEEE4"/>
                </a:solidFill>
                <a:latin typeface="Calibri"/>
              </a:rPr>
              <a:t>Context: [why this decision matters now]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4133088"/>
            <a:ext cx="525780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CCEEE4"/>
                </a:solidFill>
                <a:latin typeface="Calibri"/>
              </a:rPr>
              <a:t>Options considered: [what alternatives were evaluated]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4471416"/>
            <a:ext cx="525780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CCEEE4"/>
                </a:solidFill>
                <a:latin typeface="Calibri"/>
              </a:rPr>
              <a:t>Evidence: [key facts supporting the recommendation]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4809744"/>
            <a:ext cx="525780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CCEEE4"/>
                </a:solidFill>
                <a:latin typeface="Calibri"/>
              </a:rPr>
              <a:t>Risks: [top 2–3 risks and how they're mitigated]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5148072"/>
            <a:ext cx="525780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CCEEE4"/>
                </a:solidFill>
                <a:latin typeface="Calibri"/>
              </a:rPr>
              <a:t>Decision maker: [who signs off — name/role]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5486400"/>
            <a:ext cx="525780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CCEEE4"/>
                </a:solidFill>
                <a:latin typeface="Calibri"/>
              </a:rPr>
              <a:t>Next steps: [what happens immediately after approval]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The Consultant's Guide to Claude · BCG-Style Prompt Templates · 2026-06-18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43 / 44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56032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96B"/>
                </a:solidFill>
                <a:latin typeface="Calibri"/>
              </a:rPr>
              <a:t>THE CONSULTING OPERATING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13232"/>
            <a:ext cx="914400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FFFFFF"/>
                </a:solidFill>
                <a:latin typeface="Calibri"/>
              </a:rPr>
              <a:t>21 Skills · One Chain · Any Engagement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444752"/>
            <a:ext cx="2743200" cy="64008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11480" y="1645920"/>
            <a:ext cx="1801368" cy="4206240"/>
          </a:xfrm>
          <a:prstGeom prst="roundRect">
            <a:avLst>
              <a:gd name="adj" fmla="val 4000"/>
            </a:avLst>
          </a:prstGeom>
          <a:solidFill>
            <a:srgbClr val="002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11480" y="1645920"/>
            <a:ext cx="1801368" cy="512064"/>
          </a:xfrm>
          <a:prstGeom prst="roundRect">
            <a:avLst>
              <a:gd name="adj" fmla="val 4000"/>
            </a:avLst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682496"/>
            <a:ext cx="365760" cy="4389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1737360"/>
            <a:ext cx="123444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Calibri"/>
              </a:rPr>
              <a:t>DIAGNOSE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" y="2286000"/>
            <a:ext cx="1618488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CCEEE4"/>
                </a:solidFill>
                <a:latin typeface="Calibri"/>
              </a:rPr>
              <a:t>· Situation Assessment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" y="2633472"/>
            <a:ext cx="1618488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CCEEE4"/>
                </a:solidFill>
                <a:latin typeface="Calibri"/>
              </a:rPr>
              <a:t>· Growth Barriers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" y="2980944"/>
            <a:ext cx="1618488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CCEEE4"/>
                </a:solidFill>
                <a:latin typeface="Calibri"/>
              </a:rPr>
              <a:t>· Assumption Audit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295144" y="1645920"/>
            <a:ext cx="1801368" cy="4206240"/>
          </a:xfrm>
          <a:prstGeom prst="roundRect">
            <a:avLst>
              <a:gd name="adj" fmla="val 4000"/>
            </a:avLst>
          </a:prstGeom>
          <a:solidFill>
            <a:srgbClr val="002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295144" y="1645920"/>
            <a:ext cx="1801368" cy="512064"/>
          </a:xfrm>
          <a:prstGeom prst="roundRect">
            <a:avLst>
              <a:gd name="adj" fmla="val 4000"/>
            </a:avLst>
          </a:prstGeom>
          <a:solidFill>
            <a:srgbClr val="0055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86584" y="1682496"/>
            <a:ext cx="365760" cy="4389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70632" y="1737360"/>
            <a:ext cx="123444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Calibri"/>
              </a:rPr>
              <a:t>MAP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04872" y="2286000"/>
            <a:ext cx="1618488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CCEEE4"/>
                </a:solidFill>
                <a:latin typeface="Calibri"/>
              </a:rPr>
              <a:t>· Market Mapping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04872" y="2633472"/>
            <a:ext cx="1618488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CCEEE4"/>
                </a:solidFill>
                <a:latin typeface="Calibri"/>
              </a:rPr>
              <a:t>· Competitive Intel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04872" y="2980944"/>
            <a:ext cx="1618488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CCEEE4"/>
                </a:solidFill>
                <a:latin typeface="Calibri"/>
              </a:rPr>
              <a:t>· Customer Segmentation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04872" y="3328416"/>
            <a:ext cx="1618488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CCEEE4"/>
                </a:solidFill>
                <a:latin typeface="Calibri"/>
              </a:rPr>
              <a:t>· Profit Pools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78808" y="1645920"/>
            <a:ext cx="1801368" cy="4206240"/>
          </a:xfrm>
          <a:prstGeom prst="roundRect">
            <a:avLst>
              <a:gd name="adj" fmla="val 4000"/>
            </a:avLst>
          </a:prstGeom>
          <a:solidFill>
            <a:srgbClr val="002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178808" y="1645920"/>
            <a:ext cx="1801368" cy="512064"/>
          </a:xfrm>
          <a:prstGeom prst="roundRect">
            <a:avLst>
              <a:gd name="adj" fmla="val 4000"/>
            </a:avLst>
          </a:prstGeom>
          <a:solidFill>
            <a:srgbClr val="77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70248" y="1682496"/>
            <a:ext cx="365760" cy="4389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54296" y="1737360"/>
            <a:ext cx="123444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Calibri"/>
              </a:rPr>
              <a:t>CHOOSE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88536" y="2286000"/>
            <a:ext cx="1618488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CCEEE4"/>
                </a:solidFill>
                <a:latin typeface="Calibri"/>
              </a:rPr>
              <a:t>· Strategic Options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88536" y="2633472"/>
            <a:ext cx="1618488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CCEEE4"/>
                </a:solidFill>
                <a:latin typeface="Calibri"/>
              </a:rPr>
              <a:t>· Pricing Strategy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88536" y="2980944"/>
            <a:ext cx="1618488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CCEEE4"/>
                </a:solidFill>
                <a:latin typeface="Calibri"/>
              </a:rPr>
              <a:t>· Business Case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88536" y="3328416"/>
            <a:ext cx="1618488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CCEEE4"/>
                </a:solidFill>
                <a:latin typeface="Calibri"/>
              </a:rPr>
              <a:t>· Portfolio Review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062472" y="1645920"/>
            <a:ext cx="1801368" cy="4206240"/>
          </a:xfrm>
          <a:prstGeom prst="roundRect">
            <a:avLst>
              <a:gd name="adj" fmla="val 4000"/>
            </a:avLst>
          </a:prstGeom>
          <a:solidFill>
            <a:srgbClr val="002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062472" y="1645920"/>
            <a:ext cx="1801368" cy="512064"/>
          </a:xfrm>
          <a:prstGeom prst="roundRect">
            <a:avLst>
              <a:gd name="adj" fmla="val 4000"/>
            </a:avLst>
          </a:prstGeom>
          <a:solidFill>
            <a:srgbClr val="5500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53912" y="1682496"/>
            <a:ext cx="365760" cy="4389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37960" y="1737360"/>
            <a:ext cx="123444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Calibri"/>
              </a:rPr>
              <a:t>EXECUTE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72200" y="2286000"/>
            <a:ext cx="1618488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CCEEE4"/>
                </a:solidFill>
                <a:latin typeface="Calibri"/>
              </a:rPr>
              <a:t>· Operating Model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72200" y="2633472"/>
            <a:ext cx="1618488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CCEEE4"/>
                </a:solidFill>
                <a:latin typeface="Calibri"/>
              </a:rPr>
              <a:t>· Initiative Prioritization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72200" y="2980944"/>
            <a:ext cx="1618488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CCEEE4"/>
                </a:solidFill>
                <a:latin typeface="Calibri"/>
              </a:rPr>
              <a:t>· Transformation Roadmap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946136" y="1645920"/>
            <a:ext cx="1801368" cy="4206240"/>
          </a:xfrm>
          <a:prstGeom prst="roundRect">
            <a:avLst>
              <a:gd name="adj" fmla="val 4000"/>
            </a:avLst>
          </a:prstGeom>
          <a:solidFill>
            <a:srgbClr val="002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7946136" y="1645920"/>
            <a:ext cx="1801368" cy="512064"/>
          </a:xfrm>
          <a:prstGeom prst="roundRect">
            <a:avLst>
              <a:gd name="adj" fmla="val 4000"/>
            </a:avLst>
          </a:prstGeom>
          <a:solidFill>
            <a:srgbClr val="992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037576" y="1682496"/>
            <a:ext cx="365760" cy="4389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21624" y="1737360"/>
            <a:ext cx="123444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Calibri"/>
              </a:rPr>
              <a:t>GOVERN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55864" y="2286000"/>
            <a:ext cx="1618488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CCEEE4"/>
                </a:solidFill>
                <a:latin typeface="Calibri"/>
              </a:rPr>
              <a:t>· Risk &amp; Mitigation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055864" y="2633472"/>
            <a:ext cx="1618488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CCEEE4"/>
                </a:solidFill>
                <a:latin typeface="Calibri"/>
              </a:rPr>
              <a:t>· War Gaming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55864" y="2980944"/>
            <a:ext cx="1618488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CCEEE4"/>
                </a:solidFill>
                <a:latin typeface="Calibri"/>
              </a:rPr>
              <a:t>· KPI Architecture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055864" y="3328416"/>
            <a:ext cx="1618488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CCEEE4"/>
                </a:solidFill>
                <a:latin typeface="Calibri"/>
              </a:rPr>
              <a:t>· Value Realization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829800" y="1645920"/>
            <a:ext cx="1801368" cy="4206240"/>
          </a:xfrm>
          <a:prstGeom prst="roundRect">
            <a:avLst>
              <a:gd name="adj" fmla="val 4000"/>
            </a:avLst>
          </a:prstGeom>
          <a:solidFill>
            <a:srgbClr val="002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9829800" y="1645920"/>
            <a:ext cx="1801368" cy="512064"/>
          </a:xfrm>
          <a:prstGeom prst="roundRect">
            <a:avLst>
              <a:gd name="adj" fmla="val 4000"/>
            </a:avLst>
          </a:prstGeom>
          <a:solidFill>
            <a:srgbClr val="0044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921240" y="1682496"/>
            <a:ext cx="365760" cy="4389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305288" y="1737360"/>
            <a:ext cx="123444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Calibri"/>
              </a:rPr>
              <a:t>COMMUNICATE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939528" y="2286000"/>
            <a:ext cx="1618488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CCEEE4"/>
                </a:solidFill>
                <a:latin typeface="Calibri"/>
              </a:rPr>
              <a:t>· Stakeholder Alignment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939528" y="2633472"/>
            <a:ext cx="1618488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CCEEE4"/>
                </a:solidFill>
                <a:latin typeface="Calibri"/>
              </a:rPr>
              <a:t>· Narrative Builder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939528" y="2980944"/>
            <a:ext cx="1618488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CCEEE4"/>
                </a:solidFill>
                <a:latin typeface="Calibri"/>
              </a:rPr>
              <a:t>· Decision Memo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11480" y="6199632"/>
            <a:ext cx="10972800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5B6B7C"/>
                </a:solidFill>
                <a:latin typeface="Calibri"/>
              </a:rPr>
              <a:t>Run /strategy-consulting to enter the full chain from any Claude Code session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The Consultant's Guide to Claude · BCG-Style Prompt Templates · 2026-06-18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44 / 44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