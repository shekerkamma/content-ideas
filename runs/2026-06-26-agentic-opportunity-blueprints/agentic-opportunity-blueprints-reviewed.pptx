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0"/>
            <a:ext cx="164592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645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REVIEWED CAPABILITY DEMONSTRATOR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93268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52 Agentic Opportunity
Blueprints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10128"/>
            <a:ext cx="14173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29584"/>
            <a:ext cx="92354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E0F7F1"/>
                </a:solidFill>
                <a:latin typeface="Calibri"/>
              </a:rPr>
              <a:t>Implementation-ready architecture, economics, QA, and deployment paths across 52 use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30368"/>
            <a:ext cx="2834640" cy="384048"/>
          </a:xfrm>
          <a:prstGeom prst="roundRect">
            <a:avLst>
              <a:gd name="adj" fmla="val 1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85232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52 reviewed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5230368"/>
            <a:ext cx="2834640" cy="384048"/>
          </a:xfrm>
          <a:prstGeom prst="roundRect">
            <a:avLst>
              <a:gd name="adj" fmla="val 1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5285232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0 draft-level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5230368"/>
            <a:ext cx="2834640" cy="384048"/>
          </a:xfrm>
          <a:prstGeom prst="roundRect">
            <a:avLst>
              <a:gd name="adj" fmla="val 1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5285232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10-part blueprint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52 blueprints now form a demonstrator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94415" cy="62179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35608"/>
            <a:ext cx="10692079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BLUF: the market is not buying a concept. It is buying a repeatable pattern for showing solution architecture, economics, and deployment readiness on day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564026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2651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1284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42032"/>
            <a:ext cx="3289706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52 use cases are now reviewed and implementation-reviewed.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Each blueprint carries the same 10-part structure.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run is now a content library with evidence depth.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3834" y="2103120"/>
            <a:ext cx="3564026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3834" y="2103120"/>
            <a:ext cx="73152" cy="2651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8426" y="221284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8426" y="2542032"/>
            <a:ext cx="3289706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winning artifact is not a list of ideas.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It is a capability demonstrator buyers can inspect.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pattern is reusable across clusters.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9028" y="2103120"/>
            <a:ext cx="3564026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9028" y="2103120"/>
            <a:ext cx="73152" cy="26517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3620" y="221284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3620" y="2542032"/>
            <a:ext cx="3289706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Use the summary layer to drive branded deck conversion.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Lead with the repeatable operating model.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the appendix for the 52-case proof 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83480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48072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B800"/>
                </a:solidFill>
                <a:latin typeface="Calibri"/>
              </a:rPr>
              <a:t>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41848"/>
            <a:ext cx="3438144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reviewed blueprints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983480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4983480"/>
            <a:ext cx="73152" cy="8229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148072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B800"/>
                </a:solidFill>
                <a:latin typeface="Calibri"/>
              </a:rPr>
              <a:t>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5641848"/>
            <a:ext cx="3438144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implementation-reviewed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4983480"/>
            <a:ext cx="2743200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4983480"/>
            <a:ext cx="73152" cy="8229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514807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B800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5641848"/>
            <a:ext cx="2523744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draft-level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The 10-part stack is the repeatable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Pattern, not one-off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36776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91640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60020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Diagnostic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18488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Find the problem-solution fit and manual friction.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08760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508760"/>
            <a:ext cx="82296" cy="6583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1636776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691640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160020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30-day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618488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Constrain the wedge and the rollout.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295144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295144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2423160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478024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2386584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Tech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404872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Show the actual architecture.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2295144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2295144"/>
            <a:ext cx="82296" cy="6583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45352" y="2423160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2478024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5976" y="2386584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Build vs buy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404872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the system of record, build the wedge.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081528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081528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232" y="3209544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264408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" y="3172968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ROI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191256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Show cost per action and payback.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0760" y="3081528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3081528"/>
            <a:ext cx="82296" cy="6583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45352" y="3209544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3264408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5976" y="3172968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Competitor teardown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3191256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Name the incumbent and the gap.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867912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3867912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13232" y="3995928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050792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" y="395935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Acceptance criteria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3977640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Make the scope testable.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80760" y="3867912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80760" y="3867912"/>
            <a:ext cx="82296" cy="6583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45352" y="3995928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45352" y="4050792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5976" y="3959352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Data architecture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3977640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Show the source-of-truth flow.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654296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4654296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13232" y="4782312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4837176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" y="474573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Deployment sequencing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51760" y="4764024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Prove the path to launch.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80760" y="4654296"/>
            <a:ext cx="5303520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80760" y="4654296"/>
            <a:ext cx="82296" cy="6583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245352" y="4782312"/>
            <a:ext cx="347472" cy="256032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45352" y="4837176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65976" y="474573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Iteration plan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80" y="4764024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Show the post-launch motion.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The blueprints cluster into six repeatable lanes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Cluster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1737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Customer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3289706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Conversational Support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Contact Center Agent Assist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Messaging Channel Chatbot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In-Product Owner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3834" y="141732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3834" y="1417320"/>
            <a:ext cx="73152" cy="1737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8426" y="152704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Risk /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8426" y="1856232"/>
            <a:ext cx="3289706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KYC/AML Onboarding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Prior Authorization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and Audit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Fraud and Risk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9028" y="141732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9028" y="1417320"/>
            <a:ext cx="73152" cy="1737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152704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Finance / revops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1856232"/>
            <a:ext cx="3289706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Deal Desk Pricing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Commission Disputes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Reconciliation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Forecasting / Predictive 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2900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29000"/>
            <a:ext cx="73152" cy="173736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53872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Docs /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67912"/>
            <a:ext cx="3289706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Lease Abstraction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Bill of Lading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Document AI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 Summarization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3834" y="342900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3834" y="3429000"/>
            <a:ext cx="73152" cy="1737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8426" y="353872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Commercial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8426" y="3867912"/>
            <a:ext cx="3289706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 Shopping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Ad / Creative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Personalized Marketing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Influencer Orchestration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9028" y="342900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79028" y="3429000"/>
            <a:ext cx="73152" cy="1737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353872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Operations / supply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3867912"/>
            <a:ext cx="3289706" cy="1225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Freight Routing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Inventory Rerouting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Supplier Disputes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Retail Reconciliation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Customer ops is the clearest proof of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High-volume, deterministic, outcome-priced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7947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502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5204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Conversational Support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Contact Center Agent Assist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Messaging Channel Chatbot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In-Product Owner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the buyer keeps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Zendesk / Intercom / Genesys / CCaaS remain systems of record.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 sit on top as the resolution layer, not the replacement.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508760"/>
            <a:ext cx="27432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1618488"/>
            <a:ext cx="24505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the wedge does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1947672"/>
            <a:ext cx="24688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Resolve routine issues faster.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Draft wrap-up notes.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Reduce handle time and queue friction.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6344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809744"/>
            <a:ext cx="10655503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Representative proof: attach to existing support systems, automate 2-3 deterministic workflows, and price against verified outcomes.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Risk and compliance make the trust wedge obvious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High-stakes, human-reviewed, audit-friendly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92608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2735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291840" cy="2414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KYC/AML Onboarding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Prior Authorization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and Audit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Fraud and Risk Detection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Agentic Auto-remediation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0876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508760"/>
            <a:ext cx="73152" cy="292608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1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not to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1" y="1947672"/>
            <a:ext cx="3383280" cy="2414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 not replace regulated vendors on day one.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 not remove human signoff.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 not hide evidence or provenance.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0175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2926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618488"/>
            <a:ext cx="27249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the agent does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1947672"/>
            <a:ext cx="2743200" cy="2414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Assemble packets.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Cross-check policy against evidence.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Create an auditable recommendation.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Document-heavy work becomes operating leverage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Extraction, synthesis, and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Lease Abstraction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Bill of Lading Extraction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Document AI Extraction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 Summarization / Drafting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Legal / Tax Document Synthesis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Read the source artifacts.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Extract with provenance.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Push validated outputs into the system of record.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47672"/>
            <a:ext cx="26060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 not create a new database of record.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 not hide citations.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review and approval explicit.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Commercial growth needs speed with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Generate, personalize, and route without losing brand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2735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2918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 Shopping / Sales Consultant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Ad and Creative Generation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Personalized Marketing Content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Influencer Campaign Orchestration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CRM Data Hygiene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08760"/>
            <a:ext cx="3749039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1" y="1618488"/>
            <a:ext cx="3456431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the wedge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1" y="1947672"/>
            <a:ext cx="3474719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Generate many variants.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the brand and CRM context live.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Measure edit rate and conversion lift.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08760"/>
            <a:ext cx="29260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18488"/>
            <a:ext cx="263347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to avoid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47672"/>
            <a:ext cx="265176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Don’t sell generic prompt help.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Don’t ignore source truth.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Don’t detach the content loop from revenue metrics.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Operations workflows reward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Dispatch, reroute, and resolve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Freight Quote and Routing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Inventory Forecasting and Re-routing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Supplier Dispute Resolution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Retail Inventory Reconciliation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Maintenance Ticket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the ERP / TMS / PMS in place.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Automate the exception path.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Turn alerts into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47672"/>
            <a:ext cx="26060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Shorter turn time.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Lower manual coordination.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Better adherence to SLA / routing / response policies.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Product and engineering prove the operator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They show the platform can sit on top of the work, not just inside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880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Core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 Code Assistant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Enterprise Knowledge Search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App Build / Migration Automation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Agentic Auto-remediation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Research and Insight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880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47672"/>
            <a:ext cx="338328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Understand the repo or corpus.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Trace the impact.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Draft the next safe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880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47672"/>
            <a:ext cx="2606040" cy="23682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generic autocomplete pitch.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generic search pitch.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Keep the governed workflow explicit.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Every blueprint says the same thing about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Keep the incumbent record, build the wedge, avoid the trap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64026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73152" cy="29718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0992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39112"/>
            <a:ext cx="3289706" cy="2459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System of record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Regulatory / workflow backbone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Existing human approvals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Existing vendor integrations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3834" y="1600200"/>
            <a:ext cx="3564026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3834" y="1600200"/>
            <a:ext cx="73152" cy="29718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8426" y="170992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8426" y="2039112"/>
            <a:ext cx="3289706" cy="2459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agentic wedge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citation/provenance layer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review queue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deployment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9028" y="1600200"/>
            <a:ext cx="3564026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9028" y="160020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1709928"/>
            <a:ext cx="327141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AVOID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039112"/>
            <a:ext cx="3289706" cy="24597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Rebuilding a platform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Replacing the system of record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Generic assistant scope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Hidden autonomous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The rollout is fast, bounded, and auditable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A 30-day proof that buyers can actually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63875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73152" cy="2651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55648"/>
            <a:ext cx="237126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4832"/>
            <a:ext cx="2389555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Pick one workflow and one source of 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8819" y="1645920"/>
            <a:ext cx="2663875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8819" y="1645920"/>
            <a:ext cx="73152" cy="265176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3411" y="1755648"/>
            <a:ext cx="237126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3411" y="2084832"/>
            <a:ext cx="2389555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Attach the agent and validate the outputs.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8999" y="1645920"/>
            <a:ext cx="2663875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8999" y="1645920"/>
            <a:ext cx="73152" cy="2651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3591" y="1755648"/>
            <a:ext cx="237126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3591" y="2084832"/>
            <a:ext cx="2389555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Add review, approval, and rollback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179" y="1645920"/>
            <a:ext cx="2663875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9179" y="1645920"/>
            <a:ext cx="73152" cy="26517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771" y="1755648"/>
            <a:ext cx="2371267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771" y="2084832"/>
            <a:ext cx="2389555" cy="2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Prove the KPI and decide whether to expand.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55464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right proof is not a generic demo. It is a bounded production slice with a reviewer, a rollback path, and a measurable outcome.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All 52 reviewed blueprints are represented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Reference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2560320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Conversational Support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HR Onboarding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KYC/AML Onboarding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Prior Authorization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AI Code Assistant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IT Service Desk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Threat Detection / SecOps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Legal Research &amp; Drafting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App Build / Migration Automation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Tenant Screening &amp; Underwriting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Claim Denial Management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Fraud and Risk Detection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Document AI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2560320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Financial Report Reconciliation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NL Analytics (text-to-SQL)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Forecasting / Predictive Ops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Legacy-IT Modernization (NL to SAP)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Audit &amp; Tax Document Synthesis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Messaging Channel Chatbot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AI Shopping / Sales Consultant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In-Product Owner Assistant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Brand and 3D Asset Generation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Vendor Catalog Enrichment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Video Generation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Deal Desk Pricing Approvals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Commercial Lease Abstraction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00200"/>
            <a:ext cx="2560320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Clinical Trial Matching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Contact Center Agent Assist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Commission Dispute Resolution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Maintenance Ticket Orchestration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Bid RFP Response Automation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Loan Origination Underwriting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Enterprise Knowledge Search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HOA Compliance Violations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Returns / Refund Triage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Retail Inventory Reconciliation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Agentic Auto-remediation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Compliance and Audit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Ad and Creative Generation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600200"/>
            <a:ext cx="2560320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CRM Data Hygiene Auto-Logging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Research and Insight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Dynamic Competitor Pricing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Influencer Campaign Orchestration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Doc Summarization / Drafting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Portfolio Rebalancing Reporting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Patient Intake Triage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Freight Quote and Routing Agent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Travel Booking Planner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Supplier Dispute Resolution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Inventory Forecasting and Re-routing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Customs and Bill of Lading Extraction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Personalized Marketing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Blueprints · Reviewed Capability Demonstrator · 2026-06-26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