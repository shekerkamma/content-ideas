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SOLUTION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8778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RetailCo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B800"/>
                </a:solidFill>
                <a:latin typeface="Calibri"/>
              </a:rPr>
              <a:t>Solution Blueprint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2011680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AI-Powered Customer Service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Capability Map  ·  Phased Delivery Plan  ·  Integration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764024"/>
            <a:ext cx="1719072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60% Deflection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47548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764024"/>
            <a:ext cx="1719072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3-Wave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47548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4764024"/>
            <a:ext cx="1719072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SAP + Salesforce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Capability Map — Build / Buy / Partner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customer service: full capability stack for Wave 1–3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874519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1709927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8023" y="1508760"/>
            <a:ext cx="1874519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9463" y="1563624"/>
            <a:ext cx="1709927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6" y="1508760"/>
            <a:ext cx="2560320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6" y="1563624"/>
            <a:ext cx="239572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2590" y="1508760"/>
            <a:ext cx="3200400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0" y="1563624"/>
            <a:ext cx="30358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77854" y="1508760"/>
            <a:ext cx="1554480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9294" y="1563624"/>
            <a:ext cx="13898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Build / 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29968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075688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60% contact deflection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8023" y="2029968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9463" y="2075688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Intent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6" y="2029968"/>
            <a:ext cx="256032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6" y="2075688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classifier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2590" y="2029968"/>
            <a:ext cx="320040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0" y="2075688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Azure OpenAI GPT-4o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77854" y="2029968"/>
            <a:ext cx="155448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4" y="2075688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Buy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542032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78023" y="2542032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9463" y="2587752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 orchestration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6" y="2542032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6" y="2587752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LangGraph agent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22590" y="2542032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0" y="2587752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LangGraph + Python 3.11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77854" y="2542032"/>
            <a:ext cx="1554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9294" y="2587752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054096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78023" y="3054096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9463" y="3099816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Knowledge retrieval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7406" y="3054096"/>
            <a:ext cx="256032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8846" y="3099816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22590" y="3054096"/>
            <a:ext cx="320040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0" y="3099816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Azure AI Search + GPT-4o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77854" y="3054096"/>
            <a:ext cx="155448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69294" y="3099816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Build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566160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611880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Order status self-serve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78023" y="3566160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9463" y="3611880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Order data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6" y="3566160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6" y="3611880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SAP OData integration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22590" y="356616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0" y="3611880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SAP S/4HANA OData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77854" y="3566160"/>
            <a:ext cx="1554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69294" y="3611880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2A83B"/>
                </a:solidFill>
                <a:latin typeface="Calibri"/>
              </a:rPr>
              <a:t>Build (integration)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78224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123944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Returns initiation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78023" y="4078224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9463" y="4123944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Returns workflow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07406" y="4078224"/>
            <a:ext cx="256032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8846" y="4123944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Returns API connector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22590" y="4078224"/>
            <a:ext cx="320040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14030" y="4123944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Internal REST API v2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77854" y="4078224"/>
            <a:ext cx="155448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69294" y="4123944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2A83B"/>
                </a:solidFill>
                <a:latin typeface="Calibri"/>
              </a:rPr>
              <a:t>Build (integration)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590288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636008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Escalation to human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78023" y="4590288"/>
            <a:ext cx="18745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69463" y="4636008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Handoff with context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07406" y="4590288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98846" y="4636008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screen-pop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22590" y="459028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14030" y="4636008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Salesforce Service Cloud CTI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77854" y="4590288"/>
            <a:ext cx="1554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69294" y="4636008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2A83B"/>
                </a:solidFill>
                <a:latin typeface="Calibri"/>
              </a:rPr>
              <a:t>Build (integration)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5102352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5148072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Quality &amp; safety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78023" y="5102352"/>
            <a:ext cx="1874519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69463" y="5148072"/>
            <a:ext cx="1709927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Guardrails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07406" y="5102352"/>
            <a:ext cx="256032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98846" y="5148072"/>
            <a:ext cx="23957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Content safety + validation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22590" y="5102352"/>
            <a:ext cx="320040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14030" y="5148072"/>
            <a:ext cx="303580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Azure Content Safety + Pydantic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77854" y="5102352"/>
            <a:ext cx="1554480" cy="47548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69294" y="5148072"/>
            <a:ext cx="1389888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Buy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6053328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8096" y="60533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Buy = vendor platform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6053328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77056" y="60533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Build = internal / custom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766560" y="6053328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86016" y="60533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Build (integration) = API wrapper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  ·  RetailCo  ·  June 2026  ·  CONFIDENTIAL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Phased Delivery — Gate-Controlled Wave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Wave 1 = order status only · Wave 2 = returns + escalation · Wave 3 = optimise &amp;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474720" cy="62179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11096"/>
            <a:ext cx="3474720" cy="21945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3794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Months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21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Order status self-serve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87752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Azure OpenAI + Content Safety provisioning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17520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RAG pipeline (4,200 SKUs + 800 FAQ articles)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47288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SAP OData integration — read-only order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877056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Agent orchestration: classify → lookup → respond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06824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Guardrails + output validation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736592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Shadow mode UAT on 5% live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3474720" cy="56692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3474720" cy="21945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5193792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GATE  ≥85% accuracy on order status intents in UAT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78808" y="150876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78808" y="1508760"/>
            <a:ext cx="3474720" cy="621792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78808" y="1911096"/>
            <a:ext cx="3474720" cy="219456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5636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WAVE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83794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Months 4–6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221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Returns + escalation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587752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Returns API v2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017520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Salesforce CTI screen-pop on 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447288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Expand intents: product Q&amp;A, store locator, loyalty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877056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A/B test: AI-first vs IVR-first 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306824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Target: 45% deflection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8808" y="5120640"/>
            <a:ext cx="3474720" cy="56692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78808" y="5120640"/>
            <a:ext cx="3474720" cy="2194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5193792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GATE  Deflection ≥45% · CSAT ≥4.1/5.0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6" y="150876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08976" y="1508760"/>
            <a:ext cx="3474720" cy="621792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8976" y="1911096"/>
            <a:ext cx="3474720" cy="219456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15636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WAVE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183794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Months 7–9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2221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Optimise &amp;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2587752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Fine-tune classifier on 90 days of production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3017520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Redis cache layer for SAP (↓60% OData calls)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3447288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Proactive order delay push notifications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3877056"/>
            <a:ext cx="32004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•  Scale to 100% inbound traffic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08976" y="5120640"/>
            <a:ext cx="3474720" cy="56692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08976" y="5120640"/>
            <a:ext cx="3474720" cy="2194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5193792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GATE  Deflection ≥60% · Handle time for escalations ≤6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40" y="34747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7808" y="34747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  ·  RetailCo  ·  June 2026  ·  CONFIDENTIAL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