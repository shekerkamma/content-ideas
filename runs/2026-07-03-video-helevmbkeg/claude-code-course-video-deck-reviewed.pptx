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81160" y="0"/>
            <a:ext cx="290779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8972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AI ENGINEERING 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800" b="1" i="0">
                <a:solidFill>
                  <a:srgbClr val="FFFFFF"/>
                </a:solidFill>
                <a:latin typeface="Calibri"/>
              </a:rPr>
              <a:t>Claude Code Beginner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0" i="0">
                <a:solidFill>
                  <a:srgbClr val="E0F7F1"/>
                </a:solidFill>
                <a:latin typeface="Calibri"/>
              </a:rPr>
              <a:t>Client-ready briefing distilled from Albert Olgaard's 2h18m course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1097280"/>
            <a:ext cx="1737360" cy="493776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6648" y="123444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2057400"/>
            <a:ext cx="1737360" cy="493776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6648" y="219456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3017520"/>
            <a:ext cx="1737360" cy="493776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6648" y="31546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Builds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3977640"/>
            <a:ext cx="1737360" cy="493776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411480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course is really a business operating system, not a coding tutorial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Executive readout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11094415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106372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Claude Code is positioned as the beginner-friendly interface for turning intent into shipped websites, automations, dashboards, and sellable AI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61488"/>
            <a:ext cx="3484778" cy="2240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971800"/>
            <a:ext cx="315559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429000"/>
            <a:ext cx="3155594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Most beginners are still using browser chat as an answer engine, repeatedly pasting context and receiving instructions they must execute manually.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2761488"/>
            <a:ext cx="3484778" cy="2240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050" y="2971800"/>
            <a:ext cx="315559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050" y="3429000"/>
            <a:ext cx="3155594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core upgrade is local agency: Claude Code reads the project, edits files, runs commands, tests changes, and keeps behavior rules in the repo.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761488"/>
            <a:ext cx="3484778" cy="2240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2868" y="2971800"/>
            <a:ext cx="315559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2868" y="3429000"/>
            <a:ext cx="3155594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Teach beginners a repeatable delivery system: setup, context, skills, build planning, implementation, testing, deployment, and value-based pricing.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85232"/>
            <a:ext cx="11094415" cy="438912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04104"/>
            <a:ext cx="10728655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Decision: use the course as a repeatable enablement system, not a passive training video.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narrative moves from tool setup to monetizable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Seven-beat argument arc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508760" cy="35204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37944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94560"/>
            <a:ext cx="128930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07208"/>
            <a:ext cx="1289304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AI-written code shifts value from manual execution to directing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1992" y="1691640"/>
            <a:ext cx="1508760" cy="35204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837944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94560"/>
            <a:ext cx="128930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Tool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807208"/>
            <a:ext cx="1289304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Install the local coding environment and learn the command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95344" y="1691640"/>
            <a:ext cx="1508760" cy="352044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1837944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2194560"/>
            <a:ext cx="128930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First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2807208"/>
            <a:ext cx="1289304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Build and run a modern website to collapse fear of the terminal.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68696" y="1691640"/>
            <a:ext cx="1508760" cy="35204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8424" y="1837944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78424" y="2194560"/>
            <a:ext cx="128930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Repeatability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78424" y="2807208"/>
            <a:ext cx="1289304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project rules and skills to make output more consistent.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42048" y="1691640"/>
            <a:ext cx="1508760" cy="352044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6" y="1837944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6" y="2194560"/>
            <a:ext cx="128930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Offer ladder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2807208"/>
            <a:ext cx="1289304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Move from websites to automations to full AI systems.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1691640"/>
            <a:ext cx="1508760" cy="35204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1837944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2194560"/>
            <a:ext cx="128930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Delivery method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5128" y="2807208"/>
            <a:ext cx="1289304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Plan first, build second, test and refine continuously.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88752" y="1691640"/>
            <a:ext cx="1508760" cy="35204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1837944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2194560"/>
            <a:ext cx="1289304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Commercial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2807208"/>
            <a:ext cx="1289304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Price from client ROI, not technical effort.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real contrast is browser advice versus local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Positioning contrast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18607" cy="34747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18607" cy="512064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49528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Browser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23160"/>
            <a:ext cx="4733391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User pastes project context manually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Assistant describes what to change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Context resets across sessions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Testing and deployment remain manual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45920"/>
            <a:ext cx="5318607" cy="34747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4447" y="1645920"/>
            <a:ext cx="5318607" cy="512064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1792224"/>
            <a:ext cx="49528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2423160"/>
            <a:ext cx="4733391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Agent reads the project directly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Agent edits files and runs commands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Project rules persist in the repo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Testing loops can run inside the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13248"/>
            <a:ext cx="11094415" cy="5029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550408"/>
            <a:ext cx="10692079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The upgrade is not smarter answers; it is closed-loop execution inside the user's working environment.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Beginner confidence comes from a deliberately small first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Enablement sequence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01368"/>
            <a:ext cx="7985455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Set up Claude Code and a code editor before any business promise.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15184"/>
            <a:ext cx="1072865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779776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7" y="2743200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Open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752344"/>
            <a:ext cx="7619695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Work inside a visible folder so files, commands, and changes are inspectable.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66160"/>
            <a:ext cx="1036289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730752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694176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Use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703320"/>
            <a:ext cx="7253935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Learn slash commands, model selection, session control, and terminal basics.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517136"/>
            <a:ext cx="999713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681728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4645152"/>
            <a:ext cx="19202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Run locally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654296"/>
            <a:ext cx="6888175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Use localhost to see the product quickly and make iteration tangible.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first website demo proves end-to-end delivery in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First proof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84831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432303"/>
            <a:ext cx="1289304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5416" y="2450591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59" y="2084831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7" y="2432303"/>
            <a:ext cx="1289304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Approve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935" y="2450591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8" y="2084831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6" y="2432303"/>
            <a:ext cx="1289304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Build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454" y="2450591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7" y="2084831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5" y="2432303"/>
            <a:ext cx="1289304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Run locally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3" y="2450591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6" y="2084831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4" y="2432303"/>
            <a:ext cx="1289304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Inspect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3492" y="2450591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35" y="2084831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0963" y="2432303"/>
            <a:ext cx="1289304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Iterate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0520"/>
            <a:ext cx="11094415" cy="694944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370832"/>
            <a:ext cx="10582351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website example is less about the site itself and more about the user's first proof that an agent can produce a working artifact.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Project rules turn one-off prompting into repeatable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project instruction file is the first operating manual for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312724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410712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Persistent project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379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Clarifying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305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Force requirements before edits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6916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18379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Style and 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1305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Keep output consistent with the user's preferences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76402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Architecture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0566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Constrain tool choices and file 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6177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476402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Review 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50566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Make quality standards visible each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Skills package repeatable expertise as reusable playbooks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Skills move the learner from ad hoc prompting toward repeatable delivery capability.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312724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410712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Reusable skill library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379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305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Front-end patterns, animation taste, and layout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6916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18379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1305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Provider setup and secure integration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76402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0566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Workflow patterns for background jobs and triggers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6177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476402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50566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Spec and implementation-plan discipline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offer ladder gives beginners a path from simple to defensible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Service ladder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84832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1B2B3C"/>
                </a:solidFill>
                <a:latin typeface="Calibri"/>
              </a:rPr>
              <a:t>Websites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73552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Fastest path to perceived value and portfolio proof.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91640"/>
            <a:ext cx="3246120" cy="2971800"/>
          </a:xfrm>
          <a:prstGeom prst="roundRect">
            <a:avLst>
              <a:gd name="adj" fmla="val 6000"/>
            </a:avLst>
          </a:prstGeom>
          <a:solidFill>
            <a:srgbClr val="EAF5F2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0487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1B2B3C"/>
                </a:solidFill>
                <a:latin typeface="Calibri"/>
              </a:rPr>
              <a:t>Automations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136392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Connect workflows and remove repetitive manual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554480"/>
            <a:ext cx="3246120" cy="3200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810512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Level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26771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AI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999232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Combine dashboards, automations, data, and workflows into a managed solution.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Website delivery becomes a reusable production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Repeatable operating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09928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Start from a proven premium website skill or pattern.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6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96312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Ask for niche, brand direction, sections, and conversion goals.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82696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Generate the site with animations and polished copy.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Push to GitHub and deploy on a hosting platform.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94360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0328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Reuse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55464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Turn the process into a template-driven offer.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Automation delivery replaces low-code workflow limits with code-level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Repeatable operating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Capture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09928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Turn the business workflow into a structured prompt.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6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Choose connectors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96312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authentication and workflow tooling where useful.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Build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82696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Create a simple form or dashboard for business users.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Run 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background workflow infrastructure for reliable execution.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94360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0328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55464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Deploy the front end and keep the back end maintainable.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invoice automation demo shows the pattern for internal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Manual invoice preparation creates repetitive formatting, sending, and tracking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small form captures invoice data, generates a PDF, authenticates to email, and sends it to the client.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beginner can sell workflow removal when the scope is narrow, observable, and tied to a business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support inbox demo turns knowledge into a managed AI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Support teams answer repeat questions and need consistent responses grounded in company knowledge.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dashboard pulls emails, drafts AI replies, shows confidence and supporting context, and lets a human approve responses.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valuable product is not the model call; it is the reviewable workflow around the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build-anything method forces planning before 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course explicitly argues that planning should consume most of the effort on complex builds.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312724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410712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Build-anything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379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Build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305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Clarify goal, scope, stack, cost, and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6916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18379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Implementation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1305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Split delivery into tasks and ordered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76402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Agent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0566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Give the plan to the agent and execute in sequence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6177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476402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Test and refine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50566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the product, paste errors back, and polish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lead-enricher demo validates the planning discipline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requested tool starts vague: find a person's work email from partial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agent asks requirements questions, drafts a spec, builds a task plan, creates the app, wires an API, and then debugs the result.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demo teaches beginners to collaborate with the agent as a product manager before treating it as a coder.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best first services balance perceived value and delivery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Judgment matrix</a:t>
            </a:r>
          </a:p>
        </p:txBody>
      </p:sp>
      <p:pic>
        <p:nvPicPr>
          <p:cNvPr id="7" name="Picture 6" descr="service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277" y="1600200"/>
            <a:ext cx="7199141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commercial thesis is simple: get good before getting expensive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0584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64208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E0F7F1"/>
                </a:solidFill>
                <a:latin typeface="Calibri"/>
              </a:rPr>
              <a:t>The course rejects the idea that a beginner should immediately sell a high-ticket project. It recommends building skill, trust, examples, and testimonials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11094415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10637215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Free or low-cost work can be rational when it creates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21608"/>
            <a:ext cx="11094415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637215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Templates and skills make later delivery faster, but only after the operator understands the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71416"/>
            <a:ext cx="11094415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90288"/>
            <a:ext cx="10637215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offer becomes stronger when it sells business outcomes rather than AI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Pricing is anchored to client ROI, not build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Offer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928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5x ROI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4617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If the system saves or creates $5,000/month, the service should be priced around a level that leaves the client with a clear surplus.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Result-based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86000"/>
            <a:ext cx="4617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Best when outcomes can be tracked cleanly through revenue, gross profit, meetings, or qualified leads.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7216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Setup plus recurring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14800"/>
            <a:ext cx="4617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Best when tracking exact upside is hard but ongoing support and maintenance create continuing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204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7216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Tiered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114800"/>
            <a:ext cx="4617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Required when system costs scale with calls, conversations, seats, or volume.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course repeatedly warns against skipping trust, proof, and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Failure modes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F5F6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Overpromising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47088"/>
            <a:ext cx="8396935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Selling complex AI systems before the operator has enough delivery reps.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32888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88336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Unclear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88336"/>
            <a:ext cx="8396935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Explaining features before showing the buyer's business outcome.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74136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F5F6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9584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Bad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29584"/>
            <a:ext cx="8396935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Charging flat fees when usage costs can explode.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15384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7083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Weak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370832"/>
            <a:ext cx="8396935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Letting the agent build before requirements, stack, and implementation steps are clear.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A client-ready enablement program should convert the course into operating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Assets to create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Starter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95144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Install guide, repo template, and first-project checklist.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9164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87452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Skill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295144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Design, planning, automation, QA, and deployment playbooks.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169164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8" y="187452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Service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8" y="2295144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Website, workflow automation, support inbox, and custom app packages.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4904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Quality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9664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Definition of done for build plan, implementation plan, testing, deployment, and handoff.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56616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374904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Pricing calculator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169664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ROI worksheet, usage-cost guardrails, and offer templates.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A practical rollout can be completed in four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30-day enablement sprint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4320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Set up tools, run the first website build, and document project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103120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74320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Create reusable skills and ship two portfolio-grade website variants.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03120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74320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Build one automation and one dashboard-backed workflow with real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82880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2103120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274320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Package offers, build ROI pricing examples, and run outreach with proof assets.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 i="0">
                <a:solidFill>
                  <a:srgbClr val="FFFFFF"/>
                </a:solidFill>
                <a:latin typeface="Calibri"/>
              </a:rPr>
              <a:t>The decision is whether to treat Claude Code as a toy or as a delivery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074920" cy="219456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E05A6B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214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05A6B"/>
                </a:solidFill>
                <a:latin typeface="Calibri"/>
              </a:rPr>
              <a:t>Treat it as a toy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Toy usage: isolated prompts, copied code, no rules, no tests, no offer discipline.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28800"/>
            <a:ext cx="5074920" cy="219456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214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Treat it as a delivery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8892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Delivery-stack usage: persistent context, reusable skills, implementation plans, test loops, deployment paths, and ROI-based packaging.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92040"/>
            <a:ext cx="11094415" cy="530352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47488"/>
            <a:ext cx="10637215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Build the operating system around the agent before scaling client promises.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Section 1 has a full setup path, not just an install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Repeatable operating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Install prerequisites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09928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NodeJS enables the Claude Code install and the JavaScript project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6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Open a code 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96312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VS Code makes files, terminal output, and agent edits visible to a beginner.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Install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82696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the official quickstart command for the target operating system.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Authorize account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Complete browser login and subscription authorization before the first session.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94360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0328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Learn control surface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55464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slash commands, model choice, effort level, clear, and split terminals.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Claude Code onboarding teaches both environment and agency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Positioning contrast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18607" cy="34747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18607" cy="512064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49528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23160"/>
            <a:ext cx="4733391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NodeJS installation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VS Code project folder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Terminal inside the editor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Claude account authorization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45920"/>
            <a:ext cx="5318607" cy="34747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4447" y="1645920"/>
            <a:ext cx="5318607" cy="512064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1792224"/>
            <a:ext cx="49528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Agent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2423160"/>
            <a:ext cx="4733391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Slash-command navigation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Model and effort selection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Session clearing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Parallel terminal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13248"/>
            <a:ext cx="11094415" cy="5029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550408"/>
            <a:ext cx="10692079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The beginner needs to understand where the agent works and how to steer it before building client-facing assets.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first shiny.ai site is a confidence-building proof, not the final 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user starts from a vague marketing request: a futuristic AI agency website with animations and stronger copy.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Claude Code generates a NextJS project, installs dependencies, and gives the run command for local inspection.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first win is psychological: the terminal becomes a place where a non-expert can ship a visible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local website loop is the minimum viable delivery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Repeatable operating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Describe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09928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Specify client, niche, style, stack, animation, and conversion goal.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6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Approve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96312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Let Claude install dependencies and scaffold the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Run dev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82696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Start the local project with the generated command.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Inspect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Open the localhost URL and review the actual page.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94360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0328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Iterate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55464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Give concrete corrections, not abstract approval.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`claude.md` lesson is really about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Without persistent project rules, every new session risks inconsistent behavior and repeated explanation.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project instruction file forces rules such as asking clarifying questions before changing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learner starts building an operating manual for the agent, which is essential before client work scales.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Skill installation turns external expertise into a local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Repeatable operating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Find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09928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Download a skill package or markdown instruction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6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Provide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96312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Drag the skill into the working project or make it available locally.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Ask Claude to install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82696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Have Claude research the installation path and place the skill correctly.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Restart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Reload Claude Code so the new skill is discoverable.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94360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0328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Invoke deliberately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55464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the skill only when its instructions match the task.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Cityscape demo shows template-led website productization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landscaping company needs a premium-looking website with trust, services, imagery, and lead capture.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premium website skill asks design questions and produces an animated landing page with quote-request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sellable asset is a repeatable template-led process, not a one-off generated page.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Deployment makes the website offer commercially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Repeatable operating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Create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09928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Set up a GitHub repo for the website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6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Push scoped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96312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Ask Claude to push only the website project to the repo.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Import to Vercel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82696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Connect the GitHub repo and let Vercel detect the app.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Deploy preview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Publish a live subdomain and inspect the result.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94360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0328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Add 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55464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DNS settings for the client's production domain.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invoice automation demo is the Level 2 pattern in miniature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workflow spans form capture, invoice PDF generation, Google Drive upload, and Gmail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Claude combines a NextJS frontend, Trigger.dev workflow hosting, Composio authentication, and environment variables.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narrow workflow can become a paid automation when the handoff is packaged and repeatable.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automation build has a clear integration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Repeatable operating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Scope form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09928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Capture business details, client details, line items, and invoice terms.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6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Secure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96312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Move API keys and tokens into environment variables.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Authorize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82696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Run OAuth flows for Gmail and Google Drive.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Generate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Create the invoice PDF and store it in Drive.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94360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0328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Send and debug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55464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Email the client and use logs to fix integration errors.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Production automation requires two deployments, not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Repeatable operating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Promote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09928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Move Trigger.dev workflows from development to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6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Swap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96312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production API keys and environment variables.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Push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82696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Send the NextJS form to GitHub.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Deploy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Publish the form on Vercel.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94360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0328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Verify end-to-end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55464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Run a full invoice from web form to email delivery.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Creating an automation skill converts a demo into an agency 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one-off automation demo is hard to resell if the process is trapped in one project.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course packages the NextJS plus Trigger.dev automation pattern into a reusable skill template.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Every successful build should leave behind a reusable delivery playbook.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Level 3 architecture combines portal, worker, database, and auth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enterprise system is a product shell around multiple automations, not a single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312724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410712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Client AI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379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NextJS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305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Dashboard, forms, workflows, and user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6916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18379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NextAuth + Resend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1305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Magic-link login and domain restriction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76402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Trigger.dev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0566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Scheduled and event-driven background jobs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6177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476402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50566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Data storage, knowledge base, and vector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Domain-restricted login makes the demo feel enterprise-ready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business dashboard cannot be treated like a public website; access must be constrained.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course restricts logins to the client's corporate email domain and generates a secure auth secret.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Security posture and tenant boundaries are part of the product, even in a beginner-friendly build.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design-skill pass turns scaffolding into something a buyer can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Raw generated dashboards often look unfinished and can undermine buyer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front-end design skill is used to improve layout, dark/light modes, and visual polish, then bugs are fed back to Claude.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Client readiness requires refinement after functional scaffolding, not just working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onboarding workflow expands the dashboard beyond invoicing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 single invoice tool is useful, but a client system needs multiple core workflows to justify higher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dashboard adds employee onboarding: templates, dynamic client data, PDF generation, and email dispatch.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Level 3 systems become valuable when they coordinate several business processes in one portal.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support inbox introduces an AI product pattern: retrieve, draft, review, escalate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workflow sells controlled AI assistance, not blind automation.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312724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410712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AI support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379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305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Uploaded text or PDFs become answer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6916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18379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Vector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1305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MongoDB retrieves relevant passages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76402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Draft reply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0566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AI produces a response with confidence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6177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476402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Human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50566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Low-confidence tickets escalate to the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support agent needs operational controls to be trustworthy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Repeatable operating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Poll 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09928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Check the support mailbox on a fixed schedule.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6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Classify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96312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Decide whether the email can be answered from the knowledge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Retrieve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82696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Search documents and cite support passages.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Score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Estimate whether the answer is safe to send.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94360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0328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Escalate exceptions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55464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Send uncertain cases to a human dashboard queue.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lead enricher demo tests whether the framework works without a tutorial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requested app starts from partial identifiers and requires external enrichment.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course uses a planning plugin to create a design spec, then builds a Hunter.io-backed web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repeatable skill is requirements discovery and implementation planning, not memorizing one 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build-anything framework should be treated as a gate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Repeatable operating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Build plan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09928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Do not code until scope, stack, data model, and constraints are clear.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6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Implementation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96312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Do not build until tasks are ordered and checkable.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Execution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82696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Run one subtask at a time and verify progress.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86784"/>
            <a:ext cx="594360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23944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59936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Testing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Run locally, capture errors, and feed exact failures back.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94360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0328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Polish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55464"/>
            <a:ext cx="8214055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design skills and UX review before handoff.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pricing chapter has four separate offer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Offer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928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5x ROI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4617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Price so the client retains an obvious economic surplus.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Gross-profit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86000"/>
            <a:ext cx="4617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for revenue-generating systems where attribution is measurable.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7216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Setup plus retainer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14800"/>
            <a:ext cx="4617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when exact financial impact is harder to trace.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204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7216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Usage tiers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114800"/>
            <a:ext cx="4617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Use when delivery cost scales with calls, emails, conversations, or seats.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satisfaction guarantee solves trust without removing commitment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Demo-to-offer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246120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Clients hesitate to pay upfront when they have not yet seen the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324612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Charge a setup fee to create commitment, then offer a refund at final review if the built system misses expectations.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828800"/>
            <a:ext cx="3246120" cy="26060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8" y="1828800"/>
            <a:ext cx="3246120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2148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743200"/>
            <a:ext cx="2788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offer reduces buyer risk while still preventing unpaid speculative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sales lesson is to sell outcomes before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Positioning contrast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18607" cy="34747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18607" cy="512064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49528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Weak sales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23160"/>
            <a:ext cx="4733391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Lead with AI features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Quote price in messages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Explain tooling before pain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Ignore buyer economics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45920"/>
            <a:ext cx="5318607" cy="34747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4447" y="1645920"/>
            <a:ext cx="5318607" cy="512064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1792224"/>
            <a:ext cx="4952847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Course-recommended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055" y="2423160"/>
            <a:ext cx="4733391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Diagnose operational pain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Show expected value first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Connect price to ROI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Package one clear monthly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13248"/>
            <a:ext cx="11094415" cy="5029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550408"/>
            <a:ext cx="10692079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Businesses care about saved cost, generated profit, and reduced operational drag; the AI label is secondary.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Visual coverage was accounted for across the full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Coverage and editability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94415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464 focused scene frames were extracted across the four course sections, plus an interrupted full-video scene scan left 461 additional frames.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Meaningful screen changes were grouped into setup screens, website demos, automation screens, support inbox screens, planning diagrams, lead-enricher screens, and pricing diagrams.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Presenter-only and duplicated screen frames were excluded from client slides.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The final deck uses native PowerPoint shapes instead of raw video screenshots for editability and client hygiene.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66360"/>
            <a:ext cx="11094415" cy="5029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321808"/>
            <a:ext cx="10692079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Editability mode: PPT-native editable diagrams.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Code Beginner Course | Executive Briefing |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