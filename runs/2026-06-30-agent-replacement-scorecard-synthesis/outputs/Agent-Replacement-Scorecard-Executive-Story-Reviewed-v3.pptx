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Aptos"/>
              </a:rPr>
              <a:t>EXECUTIVE STORY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84124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Aptos"/>
              </a:rPr>
              <a:t>Agent Replacement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E0F7FE"/>
                </a:solidFill>
                <a:latin typeface="Aptos"/>
              </a:rPr>
              <a:t>Where AI agents create replacement pressure, renewal leverage, and durable SaaS moats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Reviewed client-ready draft | Built from scorecard evidence + executive storyline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plot: AI agents shift value from SaaS seats to executable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The business question is not which app dies; it is which workflow layer loses pricing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73152" cy="19202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37944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Old SaaS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2962656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Value captured through seats, add-ons, workflow modules, and scripted human-in-the-loop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73152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837944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Agentic work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94560"/>
            <a:ext cx="2962656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Value shifts to agents that execute work across tools, data, and approvals.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837944"/>
            <a:ext cx="24140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Executive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194560"/>
            <a:ext cx="2414016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Replace the exposed layer. Renegotiate the module. Keep the governed substrate.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00600"/>
            <a:ext cx="9966960" cy="59436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01768"/>
            <a:ext cx="9418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Decision framework for software portfolio action, not a CSV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Executive summary: the scorecard creates three commercial 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Each motion has a different owner, risk profile, and buying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 / 37</a:t>
            </a:r>
          </a:p>
        </p:txBody>
      </p:sp>
      <p:pic>
        <p:nvPicPr>
          <p:cNvPr id="9" name="Picture 8" descr="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36192"/>
            <a:ext cx="4754880" cy="20687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89320" y="1600200"/>
            <a:ext cx="4434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600200"/>
            <a:ext cx="73152" cy="7498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746504"/>
            <a:ext cx="41056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Replace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103120"/>
            <a:ext cx="4105655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Target workflow layers where seats, add-ons, or runbooks are the exposed value pool.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651760"/>
            <a:ext cx="4434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651760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798064"/>
            <a:ext cx="41056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Renegotiate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154680"/>
            <a:ext cx="4105655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Use agents as renewal leverage where the core platform survives but modules compress.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03320"/>
            <a:ext cx="4434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703320"/>
            <a:ext cx="73152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849624"/>
            <a:ext cx="41056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206240"/>
            <a:ext cx="4105655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Protect systems where governed data, telemetry, permissions, and audit are the moat.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What executives should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The scorecard changes the discussion from AI enthusiasm to portfolio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4617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9222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48840"/>
            <a:ext cx="4288536" cy="411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Find spend categories where agent execution challenges seat and module pricing.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45920"/>
            <a:ext cx="4617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1645920"/>
            <a:ext cx="7315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179222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148840"/>
            <a:ext cx="4288536" cy="411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Protect systems of record while exposing workflow layers to agent pilots.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4617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54680"/>
            <a:ext cx="73152" cy="10515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30098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657600"/>
            <a:ext cx="4288536" cy="411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Use volume and determinism to prioritize automation programs.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154680"/>
            <a:ext cx="4617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97880" y="3154680"/>
            <a:ext cx="73152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330098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CMO / CRO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657600"/>
            <a:ext cx="4288536" cy="411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Publish AEO pages that answer buyer questions with scored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answer is a portfolio diagnostic, not a replacement manifesto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Blanket claims are weak; workflow-level classification is useful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 /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 The exposed object is usually a workflow layer: support interaction, extraction, drafting, runbook execution, or guided selling.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 The durable object is usually a governed substrate: records, identity, permissions, telemetry, audit, regulated data, or proprietary corpus.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 The scorecard is valuable because it tells a client which conversation to have with each vendor.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Aptos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Aptos"/>
              </a:rPr>
              <a:t>Decision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13258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80467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E"/>
                </a:solidFill>
                <a:latin typeface="Aptos"/>
              </a:rPr>
              <a:t>The deck starts with the business architecture of the problem, then uses the data to prove the frame.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Agents attack workflows before they attack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This is why category-level SaaS replacement claims sound naive to executives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7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30175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73152" cy="2194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792224"/>
            <a:ext cx="2688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Workflow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48840"/>
            <a:ext cx="2688336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Human interaction, task execution, drafting, summarization, triage, routing, extraction, or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45920"/>
            <a:ext cx="30175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4592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792224"/>
            <a:ext cx="2688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Control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48840"/>
            <a:ext cx="2688336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Approvals, policies, escalations, human accountability, and audit gates.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645920"/>
            <a:ext cx="30175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645920"/>
            <a:ext cx="73152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792224"/>
            <a:ext cx="2688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Substrate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2148840"/>
            <a:ext cx="2688336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System of record, proprietary data, permissions, telemetry, and compliance record.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B1020"/>
                </a:solidFill>
                <a:latin typeface="Aptos"/>
              </a:rPr>
              <a:t>Client implication: replacement pressure is highest when SaaS monetizes workflow without owning the substrate.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scorecard answers four executive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These are the questions a client can actually act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8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92224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37360"/>
            <a:ext cx="9052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ptos"/>
              </a:rPr>
              <a:t>Which workflows should we pilot for agent replacement?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6888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69464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14600"/>
            <a:ext cx="9052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ptos"/>
              </a:rPr>
              <a:t>Which SaaS modules should we renegotiate at renewal?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346704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91839"/>
            <a:ext cx="9052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ptos"/>
              </a:rPr>
              <a:t>Which systems should we protect as durable substrates?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336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123944"/>
            <a:ext cx="14630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69079"/>
            <a:ext cx="9052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ptos"/>
              </a:rPr>
              <a:t>Which buyer questions should we publish for AEO and demand capture?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commercial motion depends on data moat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Moat is the bridge between technical feasibility and business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9 / 37</a:t>
            </a:r>
          </a:p>
        </p:txBody>
      </p:sp>
      <p:pic>
        <p:nvPicPr>
          <p:cNvPr id="9" name="Picture 8" descr="moa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4754880" cy="38865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80760" y="169164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691640"/>
            <a:ext cx="73152" cy="7772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837944"/>
            <a:ext cx="39684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Low moat → Replace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194560"/>
            <a:ext cx="3968496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Workflow can be recreated without a proprietary substrate.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74320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274320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2889504"/>
            <a:ext cx="39684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Medium moat → Renegotiate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3246120"/>
            <a:ext cx="3968496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Platform survives, workflow modules and seats compress.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79476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379476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3941064"/>
            <a:ext cx="39684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High moat → 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297680"/>
            <a:ext cx="3968496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Governed data and control-plane value remain durable.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Volume and determinism decide where to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Moat tells you the motion; volume and repeatability tell you the urgency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10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3794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High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2734056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Creates enough economic pressure to matter in a renewal, operating plan, or automation business case.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73152" cy="1554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3794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High determinism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94560"/>
            <a:ext cx="2734056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Makes the workflow easier to test, replay, constrain, and measure.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691640"/>
            <a:ext cx="73152" cy="15544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837944"/>
            <a:ext cx="2459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Low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194560"/>
            <a:ext cx="2459736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Turns feasibility into replacement leverage.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B1020"/>
                </a:solidFill>
                <a:latin typeface="Aptos"/>
              </a:rPr>
              <a:t>Priority rule: start with high-volume, deterministic workflows where the vendor is monetizing an exposed workflow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Aptos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Aptos"/>
              </a:rPr>
              <a:t>Use-Case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13258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80467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E"/>
                </a:solidFill>
                <a:latin typeface="Aptos"/>
              </a:rPr>
              <a:t>The use cases are not a catalogue for its own sake; they show where the commercial motions appear.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Customer workflows show a different replacement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Domain-level evidence before the final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12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11D48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08152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Conversational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4340" y="3063240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465576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44728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Messaging-channel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340" y="3447288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49624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31336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340" y="3831336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233672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15384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4340" y="4215384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617720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59943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In-product owner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4340" y="4599432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Medium moat · Renegotiate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23560"/>
            <a:ext cx="9875520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60720"/>
            <a:ext cx="9418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B1020"/>
                </a:solidFill>
                <a:latin typeface="Aptos"/>
              </a:rPr>
              <a:t>Executive implication: Best starting point for replacement pilots because volume, visibility, and seat compression are easy to explain.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Employee workflows show a different replacement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Domain-level evidence before the final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13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11D4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08152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Doc summarization &amp; drafting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4340" y="3063240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Low moat · Replace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465576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44728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340" y="3447288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49624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31336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340" y="3831336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233672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15384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Legal research &amp; drafting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4340" y="4215384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Low moat · Replace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617720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59943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HR / onboarding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4340" y="4599432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23560"/>
            <a:ext cx="9875520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60720"/>
            <a:ext cx="9418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B1020"/>
                </a:solidFill>
                <a:latin typeface="Aptos"/>
              </a:rPr>
              <a:t>Executive implication: Mostly a productivity and renewal story: keep core systems, pressure assist layers.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Creative workflows show a different replacement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Domain-level evidence before the final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14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11D4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08152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Ad &amp; creative generation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4340" y="3063240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Low moat · Replace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465576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44728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Personalized marketing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340" y="3447288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Low moat · Replace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49624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31336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Video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340" y="3831336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Medium moat · Renegotiate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233672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15384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4340" y="4215384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High moat · Keep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23560"/>
            <a:ext cx="9875520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60720"/>
            <a:ext cx="9418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B1020"/>
                </a:solidFill>
                <a:latin typeface="Aptos"/>
              </a:rPr>
              <a:t>Executive implication: Separate production throughput from brand/IP governance.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Code workflows show a different replacement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Domain-level evidence before the final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15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11D48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081528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AI code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4340" y="3063240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Medium moat · Renegotiate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465576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44728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App build / migration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340" y="3447288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Medium moat · Renegotiate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49624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31336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Legacy-IT modernization (NL→SAP)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340" y="3831336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High moat · Keep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23560"/>
            <a:ext cx="9875520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60720"/>
            <a:ext cx="9418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B1020"/>
                </a:solidFill>
                <a:latin typeface="Aptos"/>
              </a:rPr>
              <a:t>Executive implication: Treat as engineering leverage, not wholesale SDLC replacement.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Data workflows show a different replacement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Domain-level evidence before the final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16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11D48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08152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Document AI /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4340" y="3063240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Low moat · Replace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465576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44728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NL analytics (text-to-SQL)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340" y="3447288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Medium moat · Renegotiate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49624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31336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Research &amp; insight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340" y="3831336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Medium moat · Renegotiate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233672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15384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4340" y="4215384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High moat · Keep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23560"/>
            <a:ext cx="9875520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60720"/>
            <a:ext cx="9418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B1020"/>
                </a:solidFill>
                <a:latin typeface="Aptos"/>
              </a:rPr>
              <a:t>Executive implication: Extraction can be replaced; governed analytics substrates usually survive.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Security workflows show a different replacement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Domain-level evidence before the final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17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11D48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72821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1305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08152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Agentic auto-remediation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4340" y="3063240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Low moat · Replace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465576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44728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Threat detection / SecOps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340" y="3447288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49624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31336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Fraud &amp; risk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340" y="3831336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233672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15384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4340" y="4215384"/>
            <a:ext cx="361370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23560"/>
            <a:ext cx="9875520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60720"/>
            <a:ext cx="9418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B1020"/>
                </a:solidFill>
                <a:latin typeface="Aptos"/>
              </a:rPr>
              <a:t>Executive implication: Telemetry and audit defend the platform; runbooks are more exposed.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Replace candidates share one economic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The exposed value pool is not the database; it is the workflow labor or seat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18 / 37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Conversational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0411" y="1737360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39696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121408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Messaging-channel 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0411" y="2121408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523744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505456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Document AI /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411" y="2505456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Low moat · Replace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07791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889503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Agentic auto-remediation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0411" y="2889503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Low moat · Replace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91839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73551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0411" y="3273551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675887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57599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0411" y="3657599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059935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041648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Personalized marketing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0411" y="4041648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Low moat · Replace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443983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425696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Doc summarization &amp; drafting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0411" y="4425696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Low moat · Replace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828031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809744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Ad &amp; creative generation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411" y="4809744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Low moat · Replace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212079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193792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Legal research &amp; drafting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0411" y="5193792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Low moat · Replace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Renegotiate candidates are where executives can act fastest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The vendor remains important, but pricing and packaging become vulnerable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19 / 37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0411" y="1737360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39696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121408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NL analytics (text-to-SQL)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0411" y="2121408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Medium moat · Renegotiate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523744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505456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411" y="2505456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07791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889503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HR / onboarding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0411" y="2889503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91839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73551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AI code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0411" y="3273551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Medium moat · Renegotiate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675887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57599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In-product owner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0411" y="3657599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Medium moat · Renegotiate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059935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041648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Video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0411" y="4041648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Medium moat · Renegotiate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443983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425696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App build / migration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0411" y="4425696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Medium moat · Renegotiate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828031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809744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Research &amp; insight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0411" y="4809744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Medium moat · Renegotiate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Keep candidates create credibility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A serious deck must explain what survives, not only what breaks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20 / 37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Fraud &amp; risk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0411" y="1737360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39696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121408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Threat detection / 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0411" y="2121408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523744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505456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411" y="2505456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High moat · 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07791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889503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0411" y="2889503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High moat · Keep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91839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73551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0411" y="3273551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675887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57599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Legacy-IT modernization (NL→SAP)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0411" y="3657599"/>
            <a:ext cx="368320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High moat · Keep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Aptos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Aptos"/>
              </a:rPr>
              <a:t>Executive Storyline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13258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80467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E"/>
                </a:solidFill>
                <a:latin typeface="Aptos"/>
              </a:rPr>
              <a:t>Now that the frame and evidence are established, the storyline becomes sharper and less primitive.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market shift is from software access to work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Seat-based SaaS is exposed when a buyer no longer needs a human in every workflow seat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22 /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SaaS monetized access: users logged into tools to move work forward.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Agents monetize execution: work moves through tools with fewer human seats.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The durable value shifts toward systems that hold governed context and control.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strategic risk is misclassifying the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Replacing a workflow layer is smart; replacing a governed substrate is usually reckless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23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4663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73152" cy="20116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83664"/>
            <a:ext cx="43342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Bad executive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240280"/>
            <a:ext cx="4334255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Declare a category dead, ignore governance, and overpromise displacement.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37360"/>
            <a:ext cx="4663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737360"/>
            <a:ext cx="73152" cy="2011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883664"/>
            <a:ext cx="43342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Good executive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240280"/>
            <a:ext cx="4334255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Separate task execution from control systems, then pick the right commercial motion.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client conversation changes by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The same scorecard creates different questions for different executives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24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79222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48840"/>
            <a:ext cx="4288536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Where can we challenge seat/module spend?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4592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645920"/>
            <a:ext cx="73152" cy="960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79222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148840"/>
            <a:ext cx="4288536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Which substrates must stay governed?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6324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063240"/>
            <a:ext cx="73152" cy="960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566160"/>
            <a:ext cx="4288536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Which workflows are ready for parallel-run pilots?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06324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3063240"/>
            <a:ext cx="73152" cy="9601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209544"/>
            <a:ext cx="42885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CRO/CMO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566160"/>
            <a:ext cx="4288536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Which buyer questions should our AEO pages answer?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scorecard becomes a workshop, not a slide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The client value is in applying the frame to their actual software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25 /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Inventory workflows and attached vendors.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Score volume, determinism, and data moat.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Assign replace / renegotiate / keep by workflow layer.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Translate the result into pilots, renewal asks, and AEO content.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Aptos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Aptos"/>
              </a:rPr>
              <a:t>Commercial Motions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13258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80467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E"/>
                </a:solidFill>
                <a:latin typeface="Aptos"/>
              </a:rPr>
              <a:t>The executive output is not insight; it is a set of decisions, owners, and next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Replace the exposed workflow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Primary owner: COO + CIO + function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27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2240280" cy="530352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01952"/>
            <a:ext cx="1874519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ptos"/>
              </a:rPr>
              <a:t>Pilot agent execution where the workflow is high-volume, repeatable, and weakly defended by proprietary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5564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Conversational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39696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Messaging-channel chatbot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523744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05456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Document AI / extraction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907791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889503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Agentic auto-remediation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291839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73551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AI shopping / sales consultant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Renegotiate the module or seat bundle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Primary owner: CFO + procurement + 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28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2240280" cy="53035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01952"/>
            <a:ext cx="1874519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ptos"/>
              </a:rPr>
              <a:t>Keep the platform, but use agent capability to challenge assist modules, add-ons, and per-seat economics.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55648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39696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NL analytics (text-to-SQL)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523744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05456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907791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889503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HR / onboarding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291839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73551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AI code assistant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Keep the governed substrate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Primary owner: CIO + risk + data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29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2240280" cy="530352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01952"/>
            <a:ext cx="1874519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ptos"/>
              </a:rPr>
              <a:t>Protect systems where value resides in permissions, audit, telemetry, records, and regulatory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55648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Fraud &amp; risk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39696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Threat detection / SecOps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523744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05456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907791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889503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291839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73551"/>
            <a:ext cx="4069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B1020"/>
                </a:solidFill>
                <a:latin typeface="Aptos"/>
              </a:rPr>
              <a:t>Compliance &amp; audit agent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The 30-day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Move from thesis to client operating artifact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30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73152" cy="2057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8366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240280"/>
            <a:ext cx="1911096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Map the client software estate to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73736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88366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240280"/>
            <a:ext cx="1911096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Score volume, determinism, and data moat with stakeholders.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73736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737360"/>
            <a:ext cx="73152" cy="2057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88366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240280"/>
            <a:ext cx="1911096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Build the replace / renegotiate / keep portfolio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173736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0" y="173736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188366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240280"/>
            <a:ext cx="1911096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Pick pilots, renewal asks, and AEO pages.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Decision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Approve the scorecard as a client-facing diagnostic, not a static research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31 /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95097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Use the deck to open executive conversations about SaaS spend, agent pilots, and renewal leverage.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Use the scorecard workshop to generate client-specific replacement and renegotiation actions.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Use the AEO plan to publish buyer-facing answers grounded in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00600"/>
            <a:ext cx="9784080" cy="594360"/>
          </a:xfrm>
          <a:prstGeom prst="roundRect">
            <a:avLst>
              <a:gd name="adj" fmla="val 10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00176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Approve v3 for client use after proof-source URL tieout.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Aptos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13258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80467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E"/>
                </a:solidFill>
                <a:latin typeface="Aptos"/>
              </a:rPr>
              <a:t>Method, guardrails, and use-case detail for reviewers.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Method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What this deck can and cannot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33 /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37944"/>
            <a:ext cx="43342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4334255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Curated scorecard; directional exposure logic; use-case-backed commercial motions; workshop diagnostic.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916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691640"/>
            <a:ext cx="73152" cy="2194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837944"/>
            <a:ext cx="43342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B1020"/>
                </a:solidFill>
                <a:latin typeface="Aptos"/>
              </a:rPr>
              <a:t>Not yet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194560"/>
            <a:ext cx="4334255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0F172A"/>
                </a:solidFill>
                <a:latin typeface="Aptos"/>
              </a:rPr>
              <a:t>Statistical market sizing; universal SaaS replacement forecast; guaranteed savings; source-verified proof URLs for every row.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Appendix: replacement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Detailed roster for reviewers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34 / 37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0992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Conversational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6481" y="1691640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93976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75688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Messaging-channel 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6481" y="2075688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478024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5973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Document AI /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481" y="2459736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Low moat · Replace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62072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843784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Agentic auto-remediation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6481" y="2843784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Low moat · Replace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46120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27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6481" y="3227832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630168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11879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6481" y="3611879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Low moat · Replace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014215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995928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Personalized marketing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6481" y="3995928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Low moat · Replace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398264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997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Doc summarization &amp; drafting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6481" y="4379976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Low moat · Replace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782312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764024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Ad &amp; creative generation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6481" y="4764024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Low moat · Replace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166359"/>
            <a:ext cx="109728" cy="2560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14807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Legal research &amp; drafting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6481" y="5148072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Low moat · Replace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Appendix: renegotiation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Detailed roster for reviewers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35 / 37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09928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6481" y="1691640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93976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75688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NL analytics (text-to-SQL)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6481" y="2075688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Medium moat · Renegotiate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478024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5973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481" y="2459736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62072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843784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HR / onboarding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6481" y="2843784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Employee · Medium moat · Renegotiate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46120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27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AI code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6481" y="3227832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Medium moat · Renegotiate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630168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11879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In-product owner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6481" y="3611879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Customer · Medium moat · Renegotiate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014215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995928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Video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6481" y="3995928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Medium moat · Renegotiate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398264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997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App build / migration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6481" y="4379976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Medium moat · Renegotiate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782312"/>
            <a:ext cx="109728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764024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Research &amp; insight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6481" y="4764024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Medium moat · Renegotiate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Appendix: keep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Detailed roster for reviewers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36 / 37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09928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Fraud &amp; risk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6481" y="1691640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93976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75688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Threat detection / 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6481" y="2075688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478024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5973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481" y="2459736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Data · High moat · Keep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62072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843784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6481" y="2843784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Creative · High moat · Keep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46120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2783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6481" y="3227832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Security · High moat · Keep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630168"/>
            <a:ext cx="109728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11879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B1020"/>
                </a:solidFill>
                <a:latin typeface="Aptos"/>
              </a:rPr>
              <a:t>Legacy-IT modernization (NL→SAP)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6481" y="3611879"/>
            <a:ext cx="375269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ptos"/>
              </a:rPr>
              <a:t>Code · High moat · Keep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B1020"/>
                </a:solidFill>
                <a:latin typeface="Aptos Display"/>
              </a:rPr>
              <a:t>Reproducibility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12801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64748B"/>
                </a:solidFill>
                <a:latin typeface="Aptos"/>
              </a:rPr>
              <a:t>Artifacts generated alongside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executive story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37 /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F172A"/>
                </a:solidFill>
                <a:latin typeface="Aptos"/>
              </a:rPr>
              <a:t>•  Input scorecard: /mnt/c/Users/sheke/OneDrive/Desktop/Agent-Replacement-Scorecard.csv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0F172A"/>
                </a:solidFill>
                <a:latin typeface="Aptos"/>
              </a:rPr>
              <a:t>•  AI Analyst pack: /home/shekerk/content-ideas/runs/2026-06-30-agent-replacement-scorecard-synthesis/outputs/ai_analyst_pack_v3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0F172A"/>
                </a:solidFill>
                <a:latin typeface="Aptos"/>
              </a:rPr>
              <a:t>•  Deck builder: /home/shekerk/content-ideas/runs/2026-06-30-agent-replacement-scorecard-synthesis/build_executive_story_deck_v3.py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0F172A"/>
                </a:solidFill>
                <a:latin typeface="Aptos"/>
              </a:rPr>
              <a:t>•  Output deck: /home/shekerk/content-ideas/runs/2026-06-30-agent-replacement-scorecard-synthesis/outputs/Agent-Replacement-Scorecard-Executive-Story-Reviewed-v3.pptx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