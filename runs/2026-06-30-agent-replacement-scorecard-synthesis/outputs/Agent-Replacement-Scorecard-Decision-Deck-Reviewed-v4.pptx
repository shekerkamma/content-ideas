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1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6840" y="0"/>
            <a:ext cx="7315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DD4BF"/>
                </a:solidFill>
                <a:latin typeface="Aptos"/>
              </a:rPr>
              <a:t>DECISION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790956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Aptos"/>
              </a:rPr>
              <a:t>Approve a 30-Day Agent Replacement 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7498079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20" b="0" i="0">
                <a:solidFill>
                  <a:srgbClr val="DFFDF7"/>
                </a:solidFill>
                <a:latin typeface="Aptos"/>
              </a:rPr>
              <a:t>A client-ready recommendation for finding replace, renegotiate, and keep actions across SaaS 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77639"/>
            <a:ext cx="141732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65836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4748B"/>
                </a:solidFill>
                <a:latin typeface="Aptos"/>
              </a:rPr>
              <a:t>Built from the Agent Replacement Scorecard evidence base · reviewed 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Recommendation: approve a 30-day AI agent software-portfolio diagnostic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The decision is whether to turn a broad AI-agent thesis into a client-specific portfolio 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8111F"/>
                </a:solidFill>
                <a:latin typeface="Aptos"/>
              </a:rPr>
              <a:t>Approve the diagnostic.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667512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11827"/>
                </a:solidFill>
                <a:latin typeface="Aptos"/>
              </a:rPr>
              <a:t>•  Classify workflows into replace, renegotiate, and keep actions.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00" b="0" i="0">
                <a:solidFill>
                  <a:srgbClr val="111827"/>
                </a:solidFill>
                <a:latin typeface="Aptos"/>
              </a:rPr>
              <a:t>•  Tie AI-agent potential to SaaS spend, renewal leverage, and governance risk.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00" b="0" i="0">
                <a:solidFill>
                  <a:srgbClr val="111827"/>
                </a:solidFill>
                <a:latin typeface="Aptos"/>
              </a:rPr>
              <a:t>•  Use the scorecard as the workshop operating model, not as a generic research deck.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91640"/>
            <a:ext cx="28346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691640"/>
            <a:ext cx="73152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828800"/>
            <a:ext cx="2514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Decision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194560"/>
            <a:ext cx="2514600" cy="17099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Approve v4 as a diagnostic sales narrative, subject to proof-source URL tieout before external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The executive problem is not 'will AI replace SaaS?'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The real problem is deciding which workflow spend is exposed before the next renewal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3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971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73152" cy="21488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78308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Bad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48840"/>
            <a:ext cx="2651760" cy="1527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A category-level prediction: agents replace SaaS.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2971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45920"/>
            <a:ext cx="73152" cy="21488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78308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Better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48840"/>
            <a:ext cx="2651760" cy="1527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A workflow-level diagnosis: some layers are exposed; some are defensible.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45920"/>
            <a:ext cx="2971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64592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78308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Best framing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148840"/>
            <a:ext cx="2651760" cy="1527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A portfolio decision: replace, renegotiate, or keep by workflow layer.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00600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08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965192"/>
            <a:ext cx="95097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FFFFFF"/>
                </a:solidFill>
                <a:latin typeface="Aptos"/>
              </a:rPr>
              <a:t>The deck must sell a decision process, not explain a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The answer is a three-motion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Each motion has a different owner, evidence bar, and executive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4 / 25</a:t>
            </a:r>
          </a:p>
        </p:txBody>
      </p:sp>
      <p:pic>
        <p:nvPicPr>
          <p:cNvPr id="9" name="Picture 8" descr="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4572000" cy="198782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89320" y="1600200"/>
            <a:ext cx="4343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600200"/>
            <a:ext cx="73152" cy="7772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73736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Replace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103120"/>
            <a:ext cx="4023360" cy="1554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Run agent pilots against exposed workflow layers.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651760"/>
            <a:ext cx="4343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265176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78892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Renegotiate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154680"/>
            <a:ext cx="4023360" cy="1554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Challenge modules, add-ons, and seat pricing.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703320"/>
            <a:ext cx="4343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70332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84048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Keep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206240"/>
            <a:ext cx="4023360" cy="15544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Protect governed systems of record and data moats.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The diagnostic creates four executive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This is what the client gets after 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5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73152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783080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Workflow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48840"/>
            <a:ext cx="4297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Named workflows, vendors, seats/modules, renewal timing.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45920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64592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783080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Moat scorecard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148840"/>
            <a:ext cx="4297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Volume, determinism, data moat, and verdict by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63240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063240"/>
            <a:ext cx="73152" cy="9601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0400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Action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566160"/>
            <a:ext cx="4297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Replace pilots, renegotiation targets, protected systems.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063240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306324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3200400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566160"/>
            <a:ext cx="4297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Owners, tests, data needs, and 30/60/90-day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Aptos"/>
              </a:rPr>
              <a:t>Decision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51760"/>
            <a:ext cx="13258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80467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DFFDF7"/>
                </a:solidFill>
                <a:latin typeface="Aptos"/>
              </a:rPr>
              <a:t>The deck should make the decision logic obvious before showing the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Data moat is the decision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Moat turns AI feasibility into a commercial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7 / 25</a:t>
            </a:r>
          </a:p>
        </p:txBody>
      </p:sp>
      <p:pic>
        <p:nvPicPr>
          <p:cNvPr id="9" name="Picture 8" descr="m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72768"/>
            <a:ext cx="4709160" cy="378535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89320" y="1645920"/>
            <a:ext cx="4389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645920"/>
            <a:ext cx="73152" cy="7498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783080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Low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148840"/>
            <a:ext cx="4069080" cy="1280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Replace: agent can recreate the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697480"/>
            <a:ext cx="4389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2697480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834640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Medium moat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200400"/>
            <a:ext cx="4069080" cy="1280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Renegotiate: platform stays, workflow module compresses.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749039"/>
            <a:ext cx="4389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749039"/>
            <a:ext cx="73152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886200"/>
            <a:ext cx="40690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High moat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251959"/>
            <a:ext cx="4069080" cy="1280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Keep: governed data and control-plane value remain durable.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Volume and determinism determine sequencing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The first wave should be economically meaningful and operationally testable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8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29718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2880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High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2651760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Enough spend or work volume to matter to CFO and COO stakeholders.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29718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73152" cy="16459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82880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High determinism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94560"/>
            <a:ext cx="2651760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Repeatable enough for replay, parallel run, QA, and measurement.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9164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691640"/>
            <a:ext cx="73152" cy="16459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82880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Low 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194560"/>
            <a:ext cx="2423160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Weak enough substrate protection to create replacement leverage.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8111F"/>
                </a:solidFill>
                <a:latin typeface="Aptos"/>
              </a:rPr>
              <a:t>Priority rule: start with high-volume, repeatable, weakly defended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The scorecard is a workshop instrument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Executives should not be asked to admire the model; they should use it to make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960120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111827"/>
                </a:solidFill>
                <a:latin typeface="Aptos"/>
              </a:rPr>
              <a:t>•  Map the workflow layer, control layer, and substrate layer.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11827"/>
                </a:solidFill>
                <a:latin typeface="Aptos"/>
              </a:rPr>
              <a:t>•  Score the workflow with business stakeholders, not only AI experts.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11827"/>
                </a:solidFill>
                <a:latin typeface="Aptos"/>
              </a:rPr>
              <a:t>•  Assign the action: replace, renegotiate, or keep.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50" b="0" i="0">
                <a:solidFill>
                  <a:srgbClr val="111827"/>
                </a:solidFill>
                <a:latin typeface="Aptos"/>
              </a:rPr>
              <a:t>•  Translate the action into a pilot, renewal ask, or governance protection.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Aptos"/>
              </a:rPr>
              <a:t>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51760"/>
            <a:ext cx="13258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80467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DFFDF7"/>
                </a:solidFill>
                <a:latin typeface="Aptos"/>
              </a:rPr>
              <a:t>A consulting deck must show what was rejected, not only what is recommended.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Three options were considered; only one creates portfolio leverage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The recommended option links AI capability to renewal economics and operating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11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2331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2880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1. Wait for vendors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2743200" cy="17099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Low effort, but vendors keep control of pricing and packaging.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3434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4462272"/>
            <a:ext cx="19202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Aptos"/>
              </a:rPr>
              <a:t>Reject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9164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691640"/>
            <a:ext cx="73152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82880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2. Run isolated pilots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94560"/>
            <a:ext cx="2743200" cy="17099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Fast learning, but pilots stay disconnected from SaaS spend.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3434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3752" y="4462272"/>
            <a:ext cx="19202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69164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1691640"/>
            <a:ext cx="73152" cy="2331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182880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3. Portfolio diagnostic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2194560"/>
            <a:ext cx="2743200" cy="17099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Connects AI, spend, renewal, risk, and operating 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3434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4462272"/>
            <a:ext cx="19202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Aptos"/>
              </a:rPr>
              <a:t>Recommend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Why isolated pilots are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Pilots prove feasibility; they do not automatically create renewal leverage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4663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19659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2880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Pilot-only 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4343400" cy="13441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The team demos an agent, but cannot connect it to module spend, vendor pricing, workflow volume, or risk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91640"/>
            <a:ext cx="4663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691640"/>
            <a:ext cx="73152" cy="19659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82880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Diagnostic-led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194560"/>
            <a:ext cx="4343400" cy="13441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The team targets pilots where the commercial motion is already clear: replace, renegotiate, or keep.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Aptos"/>
              </a:rPr>
              <a:t>Evidence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51760"/>
            <a:ext cx="13258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80467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DFFDF7"/>
                </a:solidFill>
                <a:latin typeface="Aptos"/>
              </a:rPr>
              <a:t>The scorecard supports the decision; it should not dominate the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The current evidence base is enough for a diagnostic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It is not enough for a market-wide replacement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2011680" cy="960120"/>
          </a:xfrm>
          <a:prstGeom prst="roundRect">
            <a:avLst>
              <a:gd name="adj" fmla="val 10000"/>
            </a:avLst>
          </a:prstGeom>
          <a:solidFill>
            <a:srgbClr val="08111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1051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2DD4BF"/>
                </a:solidFill>
                <a:latin typeface="Apto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2199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1" i="0">
                <a:solidFill>
                  <a:srgbClr val="FFFFFF"/>
                </a:solidFill>
                <a:latin typeface="Aptos"/>
              </a:rPr>
              <a:t>scored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59736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DFFDF7"/>
                </a:solidFill>
                <a:latin typeface="Aptos"/>
              </a:rPr>
              <a:t>cross-domain examples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691640"/>
            <a:ext cx="2011680" cy="960120"/>
          </a:xfrm>
          <a:prstGeom prst="roundRect">
            <a:avLst>
              <a:gd name="adj" fmla="val 10000"/>
            </a:avLst>
          </a:prstGeom>
          <a:solidFill>
            <a:srgbClr val="08111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181051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E11D48"/>
                </a:solidFill>
                <a:latin typeface="Apto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22199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1" i="0">
                <a:solidFill>
                  <a:srgbClr val="FFFFFF"/>
                </a:solidFill>
                <a:latin typeface="Aptos"/>
              </a:rPr>
              <a:t>replace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459736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DFFDF7"/>
                </a:solidFill>
                <a:latin typeface="Aptos"/>
              </a:rPr>
              <a:t>exposed workflow layers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79" y="1691640"/>
            <a:ext cx="2011680" cy="960120"/>
          </a:xfrm>
          <a:prstGeom prst="roundRect">
            <a:avLst>
              <a:gd name="adj" fmla="val 10000"/>
            </a:avLst>
          </a:prstGeom>
          <a:solidFill>
            <a:srgbClr val="08111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1" y="181051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59E0B"/>
                </a:solidFill>
                <a:latin typeface="Aptos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1" y="222199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1" i="0">
                <a:solidFill>
                  <a:srgbClr val="FFFFFF"/>
                </a:solidFill>
                <a:latin typeface="Aptos"/>
              </a:rPr>
              <a:t>renegotiate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1" y="2459736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DFFDF7"/>
                </a:solidFill>
                <a:latin typeface="Aptos"/>
              </a:rPr>
              <a:t>module / seat leverage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691640"/>
            <a:ext cx="2011680" cy="960120"/>
          </a:xfrm>
          <a:prstGeom prst="roundRect">
            <a:avLst>
              <a:gd name="adj" fmla="val 10000"/>
            </a:avLst>
          </a:prstGeom>
          <a:solidFill>
            <a:srgbClr val="08111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1810512"/>
            <a:ext cx="16916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10B981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222199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30" b="1" i="0">
                <a:solidFill>
                  <a:srgbClr val="FFFFFF"/>
                </a:solidFill>
                <a:latin typeface="Aptos"/>
              </a:rPr>
              <a:t>keep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459736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DFFDF7"/>
                </a:solidFill>
                <a:latin typeface="Aptos"/>
              </a:rPr>
              <a:t>governed substrates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429000"/>
            <a:ext cx="950976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11827"/>
                </a:solidFill>
                <a:latin typeface="Aptos"/>
              </a:rPr>
              <a:t>•  Use as directional consulting evidence.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11827"/>
                </a:solidFill>
                <a:latin typeface="Aptos"/>
              </a:rPr>
              <a:t>•  Add source URLs before external final distribution.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111827"/>
                </a:solidFill>
                <a:latin typeface="Aptos"/>
              </a:rPr>
              <a:t>•  Do not present as statistical market proof.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Replace targets are exposed workflow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The value pool is labor, seats, add-ons, or runbooks.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15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55648"/>
            <a:ext cx="91440" cy="23774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Conversational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8116" y="1737360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Customer · Low moat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03120"/>
            <a:ext cx="91440" cy="23774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084831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Messaging-channel chatbot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8116" y="2084831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Customer · Low moat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450591"/>
            <a:ext cx="91440" cy="23774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432303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Document AI /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8116" y="2432303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Data · Low moat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798063"/>
            <a:ext cx="91440" cy="23774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2779775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Agentic auto-remediation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8116" y="2779775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Security · Low moat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145535"/>
            <a:ext cx="91440" cy="23774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127247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AI shopping / sales consultant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8116" y="3127247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Customer · Low moat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493007"/>
            <a:ext cx="91440" cy="23774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474719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Travel &amp; booking 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8116" y="3474719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Customer · Low moat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840479"/>
            <a:ext cx="91440" cy="23774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3822191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Personalized marketing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8116" y="3822191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Creative · Low moat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120640"/>
            <a:ext cx="9784080" cy="4114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248656"/>
            <a:ext cx="93268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08111F"/>
                </a:solidFill>
                <a:latin typeface="Aptos"/>
              </a:rPr>
              <a:t>Commercial motion: Replace is an action, not a category label.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Renegotiation targets are the fastest executive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The platform matters, but modules and seats become vulnerable.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16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55648"/>
            <a:ext cx="9144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Enterprise knowledge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8116" y="1737360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Employee · Medium moat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03120"/>
            <a:ext cx="9144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084831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NL analytics (text-to-SQL)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8116" y="2084831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Data · Medium moat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450591"/>
            <a:ext cx="9144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432303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Contact-center agent assist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8116" y="2432303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Employee · Medium moat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798063"/>
            <a:ext cx="9144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2779775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HR / onboarding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8116" y="2779775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Employee · Medium moat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145535"/>
            <a:ext cx="9144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127247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AI code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8116" y="3127247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Code · Medium moat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493007"/>
            <a:ext cx="9144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474719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In-product owner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8116" y="3474719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Customer · Medium moat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840479"/>
            <a:ext cx="9144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3822191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Video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8116" y="3822191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Creative · Medium moat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120640"/>
            <a:ext cx="9784080" cy="4114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248656"/>
            <a:ext cx="93268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08111F"/>
                </a:solidFill>
                <a:latin typeface="Aptos"/>
              </a:rPr>
              <a:t>Commercial motion: Renegotiate is an action, not a category label.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Keep targets prevent overreach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Governed data and audit create durable control-plane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17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55648"/>
            <a:ext cx="91440" cy="2377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Fraud &amp; risk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8116" y="1737360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Security · High moat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03120"/>
            <a:ext cx="91440" cy="2377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084831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Threat detection / SecOps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8116" y="2084831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Security · High moat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450591"/>
            <a:ext cx="91440" cy="2377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432303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Forecasting / predictive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8116" y="2432303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Data · High moat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798063"/>
            <a:ext cx="91440" cy="2377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2779775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Brand / 3D asset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8116" y="2779775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Creative · High moat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145535"/>
            <a:ext cx="91440" cy="2377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127247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Compliance &amp; audit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8116" y="3127247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Security · High moat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493007"/>
            <a:ext cx="91440" cy="2377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474719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08111F"/>
                </a:solidFill>
                <a:latin typeface="Aptos"/>
              </a:rPr>
              <a:t>Legacy-IT modernization (NL→SAP)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8116" y="3474719"/>
            <a:ext cx="32954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64748B"/>
                </a:solidFill>
                <a:latin typeface="Aptos"/>
              </a:rPr>
              <a:t>Code · High moat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120640"/>
            <a:ext cx="9784080" cy="4114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248656"/>
            <a:ext cx="93268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08111F"/>
                </a:solidFill>
                <a:latin typeface="Aptos"/>
              </a:rPr>
              <a:t>Commercial motion: Keep is an action, not a category label.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Aptos"/>
              </a:rPr>
              <a:t>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51760"/>
            <a:ext cx="13258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80467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DFFDF7"/>
                </a:solidFill>
                <a:latin typeface="Aptos"/>
              </a:rPr>
              <a:t>The recommendation needs owners, timeline, and success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30-day diagnostic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The work converts a thesis into a client-specific action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19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21488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2880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1920240" cy="1527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Inventory workflows, vendors, modules, seats, renewal 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916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69164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182880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194560"/>
            <a:ext cx="1920240" cy="1527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Score volume, determinism, data moat with stakeholders.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16916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59" y="1691640"/>
            <a:ext cx="73152" cy="21488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7" y="182880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2194560"/>
            <a:ext cx="1920240" cy="1527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Build replace / renegotiate / keep portfolio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19" y="16916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19" y="169164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182880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194560"/>
            <a:ext cx="1920240" cy="1527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Select pilots, renewal asks, protected systems, and AEO pages.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Owners and 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A decision deck must define who does what after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20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65836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28800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CFO /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2606040" cy="36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Renewal leverage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911095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8111F"/>
                </a:solidFill>
                <a:latin typeface="Aptos"/>
              </a:rPr>
              <a:t>Modules/seats challenged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96312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496312"/>
            <a:ext cx="73152" cy="65836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633472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CIO /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2999232"/>
            <a:ext cx="2606040" cy="36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System-of-record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715768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8111F"/>
                </a:solidFill>
                <a:latin typeface="Aptos"/>
              </a:rPr>
              <a:t>Governed systems preserved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00984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00984"/>
            <a:ext cx="73152" cy="65836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438144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COO / function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803904"/>
            <a:ext cx="2606040" cy="36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Pilot backlog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520439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8111F"/>
                </a:solidFill>
                <a:latin typeface="Aptos"/>
              </a:rPr>
              <a:t>Workflows moved to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05656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105656"/>
            <a:ext cx="73152" cy="65836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242816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Marketing / AEO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608576"/>
            <a:ext cx="2606040" cy="36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Buyer-answer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325112"/>
            <a:ext cx="59436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8111F"/>
                </a:solidFill>
                <a:latin typeface="Aptos"/>
              </a:rPr>
              <a:t>Pages shipped and cited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Risks and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The recommendation is credible only if the weak points are named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21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4617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8686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28800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Evidence is curated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4297680" cy="246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Position as diagnostic; add source URL tieout.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91640"/>
            <a:ext cx="4617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69164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828800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Spend data 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194560"/>
            <a:ext cx="4297680" cy="246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Use workshop to collect modules, seats, and renewals.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17520"/>
            <a:ext cx="4617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017520"/>
            <a:ext cx="73152" cy="8686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154679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Over-replacement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520439"/>
            <a:ext cx="4297680" cy="246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Make keep and renegotiate first-class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017520"/>
            <a:ext cx="4617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301752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3154679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Vendor pushback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520439"/>
            <a:ext cx="4297680" cy="246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Use workflow-level evidence, not category claims.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Decision required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Approve the diagnostic, then harden the evidence before external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"/>
              </a:rPr>
              <a:t>Approve the 30-day diagnostic.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95097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11827"/>
                </a:solidFill>
                <a:latin typeface="Aptos"/>
              </a:rPr>
              <a:t>•  Use the deck to sell the problem and recommendation.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00" b="0" i="0">
                <a:solidFill>
                  <a:srgbClr val="111827"/>
                </a:solidFill>
                <a:latin typeface="Aptos"/>
              </a:rPr>
              <a:t>•  Use the workshop to produce client-specific actions.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400" b="0" i="0">
                <a:solidFill>
                  <a:srgbClr val="111827"/>
                </a:solidFill>
                <a:latin typeface="Aptos"/>
              </a:rPr>
              <a:t>•  Use proof-source tieout to move from reviewed draft to external final.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846320"/>
            <a:ext cx="9875520" cy="548640"/>
          </a:xfrm>
          <a:prstGeom prst="roundRect">
            <a:avLst>
              <a:gd name="adj" fmla="val 8000"/>
            </a:avLst>
          </a:prstGeom>
          <a:solidFill>
            <a:srgbClr val="08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93268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FFFFFF"/>
                </a:solidFill>
                <a:latin typeface="Aptos"/>
              </a:rPr>
              <a:t>Next gate: source-tied proof pack + client-specific spend fields.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51760"/>
            <a:ext cx="13258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80467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DFFDF7"/>
                </a:solidFill>
                <a:latin typeface="Aptos"/>
              </a:rPr>
              <a:t>Keep the method available without making it the executive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Method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What this deck can and cannot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46634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2057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2880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94560"/>
            <a:ext cx="4343400" cy="1435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Curated scorecard; workflow-level diagnostic; replace / renegotiate / keep operating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91640"/>
            <a:ext cx="46634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691640"/>
            <a:ext cx="73152" cy="20574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82880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8111F"/>
                </a:solidFill>
                <a:latin typeface="Aptos"/>
              </a:rPr>
              <a:t>Not yet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194560"/>
            <a:ext cx="4343400" cy="1435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11827"/>
                </a:solidFill>
                <a:latin typeface="Aptos"/>
              </a:rPr>
              <a:t>Statistical market sizing; guaranteed savings; universal category replacement; source-verified proof for every named example.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8111F"/>
                </a:solidFill>
                <a:latin typeface="Aptos Display"/>
              </a:rPr>
              <a:t>Reproducibility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258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64748B"/>
                </a:solidFill>
                <a:latin typeface="Aptos"/>
              </a:rPr>
              <a:t>Artifacts generated with the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Aptos"/>
              </a:rPr>
              <a:t>Agent Replacement Scorecard · decision deck reviewed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4748B"/>
                </a:solidFill>
                <a:latin typeface="Aptos"/>
              </a:rPr>
              <a:t>25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11827"/>
                </a:solidFill>
                <a:latin typeface="Aptos"/>
              </a:rPr>
              <a:t>•  Decision memo: /home/shekerk/content-ideas/runs/2026-06-30-agent-replacement-scorecard-synthesis/outputs/decision_memo_v4.md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80" b="0" i="0">
                <a:solidFill>
                  <a:srgbClr val="111827"/>
                </a:solidFill>
                <a:latin typeface="Aptos"/>
              </a:rPr>
              <a:t>•  Input scorecard: /mnt/c/Users/sheke/OneDrive/Desktop/Agent-Replacement-Scorecard.csv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80" b="0" i="0">
                <a:solidFill>
                  <a:srgbClr val="111827"/>
                </a:solidFill>
                <a:latin typeface="Aptos"/>
              </a:rPr>
              <a:t>•  Decision pack: /home/shekerk/content-ideas/runs/2026-06-30-agent-replacement-scorecard-synthesis/outputs/decision_pack_v4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80" b="0" i="0">
                <a:solidFill>
                  <a:srgbClr val="111827"/>
                </a:solidFill>
                <a:latin typeface="Aptos"/>
              </a:rPr>
              <a:t>•  Builder: /home/shekerk/content-ideas/runs/2026-06-30-agent-replacement-scorecard-synthesis/build_decision_deck_v4.py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