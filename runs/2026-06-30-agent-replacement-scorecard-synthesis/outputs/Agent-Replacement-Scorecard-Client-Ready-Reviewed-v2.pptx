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738360" y="0"/>
            <a:ext cx="2450592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38360" y="0"/>
            <a:ext cx="7315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71323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22D3EE"/>
                </a:solidFill>
                <a:latin typeface="Aptos"/>
              </a:rPr>
              <a:t>DATA-BACKED CLIENT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61872"/>
            <a:ext cx="7863840" cy="1508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300" b="1" i="0">
                <a:solidFill>
                  <a:srgbClr val="FFFFFF"/>
                </a:solidFill>
                <a:latin typeface="Aptos"/>
              </a:rPr>
              <a:t>Agent Replacement Scorecard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971800"/>
            <a:ext cx="150876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337560"/>
            <a:ext cx="7498079" cy="10515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E0F7FE"/>
                </a:solidFill>
                <a:latin typeface="Aptos"/>
              </a:rPr>
              <a:t>Client-ready data synthesis: which SaaS layers agents replace, renegotiate, or preserve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892040"/>
            <a:ext cx="1965960" cy="384048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4992624"/>
            <a:ext cx="17373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Aptos"/>
              </a:rPr>
              <a:t>25 scored use cases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70048" y="4892040"/>
            <a:ext cx="1965960" cy="384048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992624"/>
            <a:ext cx="17373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Aptos"/>
              </a:rPr>
              <a:t>6 agent domains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91456" y="4892040"/>
            <a:ext cx="1965960" cy="384048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10328" y="4992624"/>
            <a:ext cx="17373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Aptos"/>
              </a:rPr>
              <a:t>3 verdicts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12864" y="4892040"/>
            <a:ext cx="1965960" cy="384048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31736" y="4992624"/>
            <a:ext cx="17373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Aptos"/>
              </a:rPr>
              <a:t>data moat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80644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64748B"/>
                </a:solidFill>
                <a:latin typeface="Aptos"/>
              </a:rPr>
              <a:t>Reviewed client-ready draft | 2026-06-30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Aptos"/>
              </a:rPr>
              <a:t>Agent Replacement Scorecard · client-ready reviewed draft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Aptos"/>
              </a:rPr>
              <a:t>1 / 60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1094415" cy="7680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50" b="1" i="0">
                <a:solidFill>
                  <a:srgbClr val="0F172A"/>
                </a:solidFill>
                <a:latin typeface="Aptos Display"/>
              </a:rPr>
              <a:t>This deck has been rebuilt around the scorecard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60704"/>
            <a:ext cx="13258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0" i="0">
                <a:solidFill>
                  <a:srgbClr val="64748B"/>
                </a:solidFill>
                <a:latin typeface="Aptos"/>
              </a:rPr>
              <a:t>Use cases and data moats come before the final narrative so the recommendation is earned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client-ready reviewed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2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1920240" cy="105156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737360"/>
            <a:ext cx="159105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22D3EE"/>
                </a:solidFill>
                <a:latin typeface="Aptos"/>
              </a:rPr>
              <a:t>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130552"/>
            <a:ext cx="1591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scored use cases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1600200"/>
            <a:ext cx="1920240" cy="105156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4952" y="1737360"/>
            <a:ext cx="159105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F59E0B"/>
                </a:solidFill>
                <a:latin typeface="Aptos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4952" y="2130552"/>
            <a:ext cx="1591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agent domains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1600200"/>
            <a:ext cx="1920240" cy="105156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93792" y="1737360"/>
            <a:ext cx="159105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22D3EE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3792" y="2130552"/>
            <a:ext cx="1591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commercial verdicts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1600200"/>
            <a:ext cx="1920240" cy="105156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42631" y="1737360"/>
            <a:ext cx="159105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F59E0B"/>
                </a:solidFill>
                <a:latin typeface="Aptos"/>
              </a:rPr>
              <a:t>H/M/L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42631" y="2130552"/>
            <a:ext cx="1591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moat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127248"/>
            <a:ext cx="9692640" cy="1737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0" i="0">
                <a:solidFill>
                  <a:srgbClr val="0F172A"/>
                </a:solidFill>
                <a:latin typeface="Aptos"/>
              </a:rPr>
              <a:t>•  Prior version jumped to the story before the use-case and moat evidence.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80" b="0" i="0">
                <a:solidFill>
                  <a:srgbClr val="0F172A"/>
                </a:solidFill>
                <a:latin typeface="Aptos"/>
              </a:rPr>
              <a:t>•  This version separates data foundation, use-case catalogue, moat synthesis, and executive narrative.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80" b="0" i="0">
                <a:solidFill>
                  <a:srgbClr val="0F172A"/>
                </a:solidFill>
                <a:latin typeface="Aptos"/>
              </a:rPr>
              <a:t>•  Client-ready structure: action titles, guardrails, domain pages, and a decision ask.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1094415" cy="7680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50" b="1" i="0">
                <a:solidFill>
                  <a:srgbClr val="0F172A"/>
                </a:solidFill>
                <a:latin typeface="Aptos Display"/>
              </a:rPr>
              <a:t>The executive answer is a three-way commercial split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60704"/>
            <a:ext cx="13258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0" i="0">
                <a:solidFill>
                  <a:srgbClr val="64748B"/>
                </a:solidFill>
                <a:latin typeface="Aptos"/>
              </a:rPr>
              <a:t>Agents do not create one SaaS outcome; they create replace, renegotiate, and keep motions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client-ready reviewed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3 / 60</a:t>
            </a:r>
          </a:p>
        </p:txBody>
      </p:sp>
      <p:pic>
        <p:nvPicPr>
          <p:cNvPr id="9" name="Picture 8" descr="verd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4983480" cy="235708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080760" y="1554480"/>
            <a:ext cx="45262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0760" y="1554480"/>
            <a:ext cx="73152" cy="96012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1928" y="1700784"/>
            <a:ext cx="42062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Replace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1928" y="2057400"/>
            <a:ext cx="4206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10 workflows where the exposed layer is seats, add-ons, or runbooks.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2788920"/>
            <a:ext cx="45262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80760" y="2788920"/>
            <a:ext cx="73152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2935224"/>
            <a:ext cx="42062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Renegotiate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1928" y="3291839"/>
            <a:ext cx="4206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9 workflows where the platform survives but modules and seat pricing are challenged.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4023360"/>
            <a:ext cx="45262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80760" y="4023360"/>
            <a:ext cx="73152" cy="960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81928" y="4169664"/>
            <a:ext cx="42062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Keep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8" y="4526280"/>
            <a:ext cx="4206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6 workflows where proprietary data, audit, permissions, or telemetry defend the system of record.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1094415" cy="7680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50" b="1" i="0">
                <a:solidFill>
                  <a:srgbClr val="0F172A"/>
                </a:solidFill>
                <a:latin typeface="Aptos Display"/>
              </a:rPr>
              <a:t>BLUF: data moat is the boundary, volume is the urgency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60704"/>
            <a:ext cx="13258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0" i="0">
                <a:solidFill>
                  <a:srgbClr val="64748B"/>
                </a:solidFill>
                <a:latin typeface="Aptos"/>
              </a:rPr>
              <a:t>The cleanest synthesis is not a category label; it is a mechanism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client-ready reviewed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4 / 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9784080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F172A"/>
                </a:solidFill>
                <a:latin typeface="Aptos"/>
              </a:rPr>
              <a:t>Data moat explains the verdict boundary in this curated dataset.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9784080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0F172A"/>
                </a:solidFill>
                <a:latin typeface="Aptos"/>
              </a:rPr>
              <a:t>•  Low-moat workflows map to replacement because the agent can reproduce the work without defending a proprietary substrate.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500" b="0" i="0">
                <a:solidFill>
                  <a:srgbClr val="0F172A"/>
                </a:solidFill>
                <a:latin typeface="Aptos"/>
              </a:rPr>
              <a:t>•  Medium-moat workflows map to renegotiation because the platform survives while the workflow layer compresses.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500" b="0" i="0">
                <a:solidFill>
                  <a:srgbClr val="0F172A"/>
                </a:solidFill>
                <a:latin typeface="Aptos"/>
              </a:rPr>
              <a:t>•  High-moat workflows map to keep because the durable value is governed records, telemetry, permissions, and audit.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500" b="0" i="0">
                <a:solidFill>
                  <a:srgbClr val="0F172A"/>
                </a:solidFill>
                <a:latin typeface="Aptos"/>
              </a:rPr>
              <a:t>•  Volume decides which opportunities deserve commercial attention first.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074920"/>
            <a:ext cx="9966960" cy="59436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5266944"/>
            <a:ext cx="93268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Client implication: run this as a diagnostic against an account's software estate before making replacement claims.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1094415" cy="7680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50" b="1" i="0">
                <a:solidFill>
                  <a:srgbClr val="0F172A"/>
                </a:solidFill>
                <a:latin typeface="Aptos Display"/>
              </a:rPr>
              <a:t>The storyboard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60704"/>
            <a:ext cx="13258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0" i="0">
                <a:solidFill>
                  <a:srgbClr val="64748B"/>
                </a:solidFill>
                <a:latin typeface="Aptos"/>
              </a:rPr>
              <a:t>Situation → Complication → Question → Answer →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client-ready reviewed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5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91640"/>
            <a:ext cx="2057400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691640"/>
            <a:ext cx="73152" cy="31546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837944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1. Situation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194560"/>
            <a:ext cx="1737360" cy="25328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Agents are moving from generic copilots into task-owning workflow layers.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40" y="1691640"/>
            <a:ext cx="2057400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34640" y="1691640"/>
            <a:ext cx="73152" cy="3154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35808" y="1837944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2. Complication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2194560"/>
            <a:ext cx="1737360" cy="25328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SaaS portfolios are full of add-ons and per-seat modules that look valuable until an agent absorbs the workflow.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74920" y="1691640"/>
            <a:ext cx="2057400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74920" y="1691640"/>
            <a:ext cx="73152" cy="31546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6088" y="1837944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3.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76088" y="2194560"/>
            <a:ext cx="1737360" cy="25328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Which systems are actually replaceable, and which remain protected?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1691640"/>
            <a:ext cx="2057400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0" y="1691640"/>
            <a:ext cx="73152" cy="3154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16368" y="1837944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4. Answer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16368" y="2194560"/>
            <a:ext cx="1737360" cy="25328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Data moat separates the verdict; volume and determinism prioritize the action.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55480" y="1691640"/>
            <a:ext cx="2057400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55480" y="1691640"/>
            <a:ext cx="73152" cy="31546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56648" y="1837944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5. 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56648" y="2194560"/>
            <a:ext cx="1737360" cy="25328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Use the scorecard to launch targeted replacement pilots and renewal renegotiations.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22D3EE"/>
                </a:solidFill>
                <a:latin typeface="Aptos"/>
              </a:rPr>
              <a:t>SECTION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9509760" cy="1353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300" b="1" i="0">
                <a:solidFill>
                  <a:srgbClr val="FFFFFF"/>
                </a:solidFill>
                <a:latin typeface="Aptos"/>
              </a:rPr>
              <a:t>Scorecard Data Foundation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743200"/>
            <a:ext cx="137160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127248"/>
            <a:ext cx="768096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0" i="0">
                <a:solidFill>
                  <a:srgbClr val="E0F7FE"/>
                </a:solidFill>
                <a:latin typeface="Aptos"/>
              </a:rPr>
              <a:t>We first establish the dataset, scoring method, and high-level segmentation before making client recommendations.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Aptos"/>
              </a:rPr>
              <a:t>Agent Replacement Scorecard · client-ready reviewed draft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Aptos"/>
              </a:rPr>
              <a:t>6 / 60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1094415" cy="7680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50" b="1" i="0">
                <a:solidFill>
                  <a:srgbClr val="0F172A"/>
                </a:solidFill>
                <a:latin typeface="Aptos Display"/>
              </a:rPr>
              <a:t>Dataset quality is sufficient for a v1 diagnostic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60704"/>
            <a:ext cx="13258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0" i="0">
                <a:solidFill>
                  <a:srgbClr val="64748B"/>
                </a:solidFill>
                <a:latin typeface="Aptos"/>
              </a:rPr>
              <a:t>It is complete and internally consistent, but curated rather than statistically sampled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client-ready reviewed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7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00200"/>
            <a:ext cx="2057400" cy="109728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737360"/>
            <a:ext cx="172821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22D3EE"/>
                </a:solidFill>
                <a:latin typeface="Aptos"/>
              </a:rPr>
              <a:t>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130552"/>
            <a:ext cx="172821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source rows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423160"/>
            <a:ext cx="172821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0" i="0">
                <a:solidFill>
                  <a:srgbClr val="E0F7FE"/>
                </a:solidFill>
                <a:latin typeface="Aptos"/>
              </a:rPr>
              <a:t>all use cases scored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08960" y="1600200"/>
            <a:ext cx="2057400" cy="109728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73552" y="1737360"/>
            <a:ext cx="172821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22D3EE"/>
                </a:solidFill>
                <a:latin typeface="Aptos"/>
              </a:rPr>
              <a:t>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73552" y="2130552"/>
            <a:ext cx="172821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null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73552" y="2423160"/>
            <a:ext cx="172821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0" i="0">
                <a:solidFill>
                  <a:srgbClr val="E0F7FE"/>
                </a:solidFill>
                <a:latin typeface="Aptos"/>
              </a:rPr>
              <a:t>modeled fields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40679" y="1600200"/>
            <a:ext cx="2057400" cy="109728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05271" y="1737360"/>
            <a:ext cx="172821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22D3EE"/>
                </a:solidFill>
                <a:latin typeface="Aptos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05271" y="2130552"/>
            <a:ext cx="172821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duplicate use cases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05271" y="2423160"/>
            <a:ext cx="172821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0" i="0">
                <a:solidFill>
                  <a:srgbClr val="E0F7FE"/>
                </a:solidFill>
                <a:latin typeface="Aptos"/>
              </a:rPr>
              <a:t>unique roster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1600200"/>
            <a:ext cx="2057400" cy="109728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36992" y="1737360"/>
            <a:ext cx="172821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F59E0B"/>
                </a:solidFill>
                <a:latin typeface="Aptos"/>
              </a:rPr>
              <a:t>medium-high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6992" y="2130552"/>
            <a:ext cx="172821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confidence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36992" y="2423160"/>
            <a:ext cx="172821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0" i="0">
                <a:solidFill>
                  <a:srgbClr val="E0F7FE"/>
                </a:solidFill>
                <a:latin typeface="Aptos"/>
              </a:rPr>
              <a:t>internal synthesis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246120"/>
            <a:ext cx="960120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0F172A"/>
                </a:solidFill>
                <a:latin typeface="Aptos"/>
              </a:rPr>
              <a:t>•  Use as a client diagnostic, not a statistically sampled market-sizing study.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0" i="0">
                <a:solidFill>
                  <a:srgbClr val="0F172A"/>
                </a:solidFill>
                <a:latin typeface="Aptos"/>
              </a:rPr>
              <a:t>•  Every row has domain, use case, proof, affected SaaS layer, H/M/L scores, and verdict.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0" i="0">
                <a:solidFill>
                  <a:srgbClr val="0F172A"/>
                </a:solidFill>
                <a:latin typeface="Aptos"/>
              </a:rPr>
              <a:t>•  Validation found no arithmetic mismatch across source, scored output, and deck claims.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1094415" cy="7680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50" b="1" i="0">
                <a:solidFill>
                  <a:srgbClr val="0F172A"/>
                </a:solidFill>
                <a:latin typeface="Aptos Display"/>
              </a:rPr>
              <a:t>The score formula is simple enough for executives to audit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60704"/>
            <a:ext cx="13258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0" i="0">
                <a:solidFill>
                  <a:srgbClr val="64748B"/>
                </a:solidFill>
                <a:latin typeface="Aptos"/>
              </a:rPr>
              <a:t>Replacement exposure = volume + determinism + inverse data moat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client-ready reviewed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8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46177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00200"/>
            <a:ext cx="73152" cy="1143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746504"/>
            <a:ext cx="429768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Volume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103120"/>
            <a:ext cx="4297680" cy="52120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H/M/L estimate of how much throughput or recurring work is attached to the workflow.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1600200"/>
            <a:ext cx="46177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97880" y="1600200"/>
            <a:ext cx="73152" cy="1143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9048" y="1746504"/>
            <a:ext cx="429768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Determinism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8" y="2103120"/>
            <a:ext cx="4297680" cy="52120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H/M/L estimate of whether the task has repeatable inputs, rules, and outputs.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200400"/>
            <a:ext cx="46177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200400"/>
            <a:ext cx="73152" cy="1143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346704"/>
            <a:ext cx="429768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Moat exposure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3703320"/>
            <a:ext cx="4297680" cy="52120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Inverse of data moat: low moat means high exposure; high moat means lower replacement pressure.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97880" y="3200400"/>
            <a:ext cx="46177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97880" y="3200400"/>
            <a:ext cx="73152" cy="1143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9048" y="3346704"/>
            <a:ext cx="429768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Verdict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9048" y="3703320"/>
            <a:ext cx="4297680" cy="52120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Commercial action: replace, renegotiate, or keep. It is a client action, not a moral score.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166360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1" i="0">
                <a:solidFill>
                  <a:srgbClr val="0F172A"/>
                </a:solidFill>
                <a:latin typeface="Aptos"/>
              </a:rPr>
              <a:t>Guardrail: if the data moat rating changes, the commercial verdict should be revisited before the deck is used externally.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1094415" cy="7680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50" b="1" i="0">
                <a:solidFill>
                  <a:srgbClr val="0F172A"/>
                </a:solidFill>
                <a:latin typeface="Aptos Display"/>
              </a:rPr>
              <a:t>Verdicts are distributed enough to support real advisory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60704"/>
            <a:ext cx="13258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0" i="0">
                <a:solidFill>
                  <a:srgbClr val="64748B"/>
                </a:solidFill>
                <a:latin typeface="Aptos"/>
              </a:rPr>
              <a:t>The deck does not collapse into a one-note replacement thesis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client-ready reviewed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9 / 60</a:t>
            </a:r>
          </a:p>
        </p:txBody>
      </p:sp>
      <p:pic>
        <p:nvPicPr>
          <p:cNvPr id="9" name="Picture 8" descr="verd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5120640" cy="242196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0" y="1828800"/>
            <a:ext cx="4389120" cy="1828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20" b="0" i="0">
                <a:solidFill>
                  <a:srgbClr val="0F172A"/>
                </a:solidFill>
                <a:latin typeface="Aptos"/>
              </a:rPr>
              <a:t>•  Replacement exists, but it is not universal.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20" b="0" i="0">
                <a:solidFill>
                  <a:srgbClr val="0F172A"/>
                </a:solidFill>
                <a:latin typeface="Aptos"/>
              </a:rPr>
              <a:t>•  Renegotiation is nearly as large as replacement.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20" b="0" i="0">
                <a:solidFill>
                  <a:srgbClr val="0F172A"/>
                </a:solidFill>
                <a:latin typeface="Aptos"/>
              </a:rPr>
              <a:t>•  Keep cases make the framework more credible.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1094415" cy="7680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50" b="1" i="0">
                <a:solidFill>
                  <a:srgbClr val="0F172A"/>
                </a:solidFill>
                <a:latin typeface="Aptos Display"/>
              </a:rPr>
              <a:t>Agent domains expose different commercial motions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60704"/>
            <a:ext cx="13258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0" i="0">
                <a:solidFill>
                  <a:srgbClr val="64748B"/>
                </a:solidFill>
                <a:latin typeface="Aptos"/>
              </a:rPr>
              <a:t>Customer-facing workflows skew replacement; security skews durability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client-ready reviewed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10 / 60</a:t>
            </a:r>
          </a:p>
        </p:txBody>
      </p:sp>
      <p:pic>
        <p:nvPicPr>
          <p:cNvPr id="9" name="Picture 8" descr="agent_verd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08760"/>
            <a:ext cx="5852160" cy="296995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03720" y="1828800"/>
            <a:ext cx="3931920" cy="1737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60" b="0" i="0">
                <a:solidFill>
                  <a:srgbClr val="0F172A"/>
                </a:solidFill>
                <a:latin typeface="Aptos"/>
              </a:rPr>
              <a:t>•  Customer workflows are the clearest pilot start.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60" b="0" i="0">
                <a:solidFill>
                  <a:srgbClr val="0F172A"/>
                </a:solidFill>
                <a:latin typeface="Aptos"/>
              </a:rPr>
              <a:t>•  Employee and data workflows create renewal pressure.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60" b="0" i="0">
                <a:solidFill>
                  <a:srgbClr val="0F172A"/>
                </a:solidFill>
                <a:latin typeface="Aptos"/>
              </a:rPr>
              <a:t>•  Security is defended by telemetry, audit, and governance.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1094415" cy="7680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50" b="1" i="0">
                <a:solidFill>
                  <a:srgbClr val="0F172A"/>
                </a:solidFill>
                <a:latin typeface="Aptos Display"/>
              </a:rPr>
              <a:t>Exposure scores separate the commercial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60704"/>
            <a:ext cx="13258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0" i="0">
                <a:solidFill>
                  <a:srgbClr val="64748B"/>
                </a:solidFill>
                <a:latin typeface="Aptos"/>
              </a:rPr>
              <a:t>The score does not replace judgment; it makes the judgment inspectable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client-ready reviewed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11 / 60</a:t>
            </a:r>
          </a:p>
        </p:txBody>
      </p:sp>
      <p:pic>
        <p:nvPicPr>
          <p:cNvPr id="9" name="Picture 8" descr="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08760"/>
            <a:ext cx="5577840" cy="289403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03720" y="1828800"/>
            <a:ext cx="3840480" cy="1737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60" b="0" i="0">
                <a:solidFill>
                  <a:srgbClr val="0F172A"/>
                </a:solidFill>
                <a:latin typeface="Aptos"/>
              </a:rPr>
              <a:t>•  Replace cases cluster high.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60" b="0" i="0">
                <a:solidFill>
                  <a:srgbClr val="0F172A"/>
                </a:solidFill>
                <a:latin typeface="Aptos"/>
              </a:rPr>
              <a:t>•  Renegotiate cases occupy the middle.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60" b="0" i="0">
                <a:solidFill>
                  <a:srgbClr val="0F172A"/>
                </a:solidFill>
                <a:latin typeface="Aptos"/>
              </a:rPr>
              <a:t>•  Keep cases cluster low because moat reduces exposure.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22D3EE"/>
                </a:solidFill>
                <a:latin typeface="Aptos"/>
              </a:rPr>
              <a:t>SECTION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9509760" cy="1353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300" b="1" i="0">
                <a:solidFill>
                  <a:srgbClr val="FFFFFF"/>
                </a:solidFill>
                <a:latin typeface="Aptos"/>
              </a:rPr>
              <a:t>Use-Case Catalogue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743200"/>
            <a:ext cx="137160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127248"/>
            <a:ext cx="768096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0" i="0">
                <a:solidFill>
                  <a:srgbClr val="E0F7FE"/>
                </a:solidFill>
                <a:latin typeface="Aptos"/>
              </a:rPr>
              <a:t>The use cases come before the final narrative so the client sees the evidence base, not just a point of view.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Aptos"/>
              </a:rPr>
              <a:t>Agent Replacement Scorecard · client-ready reviewed draft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Aptos"/>
              </a:rPr>
              <a:t>12 / 60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1094415" cy="7680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50" b="1" i="0">
                <a:solidFill>
                  <a:srgbClr val="0F172A"/>
                </a:solidFill>
                <a:latin typeface="Aptos Display"/>
              </a:rPr>
              <a:t>Customer use cases show where the scorecard bites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60704"/>
            <a:ext cx="13258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0" i="0">
                <a:solidFill>
                  <a:srgbClr val="64748B"/>
                </a:solidFill>
                <a:latin typeface="Aptos"/>
              </a:rPr>
              <a:t>Domain summary before individual use-case pages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client-ready reviewed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13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00200"/>
            <a:ext cx="1874519" cy="987552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737360"/>
            <a:ext cx="154533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E11D48"/>
                </a:solidFill>
                <a:latin typeface="Aptos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130552"/>
            <a:ext cx="15453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replace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1600200"/>
            <a:ext cx="1874519" cy="987552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07792" y="1737360"/>
            <a:ext cx="154533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F59E0B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07792" y="2130552"/>
            <a:ext cx="15453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renegotiate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00600" y="1600200"/>
            <a:ext cx="1874519" cy="987552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65192" y="1737360"/>
            <a:ext cx="154533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10B981"/>
                </a:solidFill>
                <a:latin typeface="Aptos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65192" y="2130552"/>
            <a:ext cx="15453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keep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999232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F172A"/>
                </a:solidFill>
                <a:latin typeface="Aptos"/>
              </a:rPr>
              <a:t>Use-case roster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401568"/>
            <a:ext cx="310896" cy="256032"/>
          </a:xfrm>
          <a:prstGeom prst="roundRect">
            <a:avLst>
              <a:gd name="adj" fmla="val 8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7008" y="3392424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F172A"/>
                </a:solidFill>
                <a:latin typeface="Aptos"/>
              </a:rPr>
              <a:t>Conversational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92424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64748B"/>
                </a:solidFill>
                <a:latin typeface="Aptos"/>
              </a:rPr>
              <a:t>REPLACE · Low moat · score 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840480"/>
            <a:ext cx="310896" cy="256032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07008" y="3831336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F172A"/>
                </a:solidFill>
                <a:latin typeface="Aptos"/>
              </a:rPr>
              <a:t>In-product owner assistant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3831336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64748B"/>
                </a:solidFill>
                <a:latin typeface="Aptos"/>
              </a:rPr>
              <a:t>RENEGOTIATE · Medium moat · score 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279392"/>
            <a:ext cx="310896" cy="256032"/>
          </a:xfrm>
          <a:prstGeom prst="roundRect">
            <a:avLst>
              <a:gd name="adj" fmla="val 8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7008" y="4270248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F172A"/>
                </a:solidFill>
                <a:latin typeface="Aptos"/>
              </a:rPr>
              <a:t>AI shopping / sales consultant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4270248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64748B"/>
                </a:solidFill>
                <a:latin typeface="Aptos"/>
              </a:rPr>
              <a:t>REPLACE · Low moat · score 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718304"/>
            <a:ext cx="310896" cy="256032"/>
          </a:xfrm>
          <a:prstGeom prst="roundRect">
            <a:avLst>
              <a:gd name="adj" fmla="val 8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07008" y="470916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F172A"/>
                </a:solidFill>
                <a:latin typeface="Aptos"/>
              </a:rPr>
              <a:t>Travel &amp; booking planner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60" y="4709160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64748B"/>
                </a:solidFill>
                <a:latin typeface="Aptos"/>
              </a:rPr>
              <a:t>REPLACE · Low moat · score 8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5157216"/>
            <a:ext cx="310896" cy="256032"/>
          </a:xfrm>
          <a:prstGeom prst="roundRect">
            <a:avLst>
              <a:gd name="adj" fmla="val 8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07008" y="514807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F172A"/>
                </a:solidFill>
                <a:latin typeface="Aptos"/>
              </a:rPr>
              <a:t>Messaging-channel chatbot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514807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64748B"/>
                </a:solidFill>
                <a:latin typeface="Aptos"/>
              </a:rPr>
              <a:t>REPLACE · Low moat · score 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532120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F172A"/>
                </a:solidFill>
                <a:latin typeface="Aptos"/>
              </a:rPr>
              <a:t>Domain implication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5532120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0F172A"/>
                </a:solidFill>
                <a:latin typeface="Aptos"/>
              </a:rPr>
              <a:t>Start client conversations here: visible workflows, measurable volume, and obvious seat compression.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49377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USE CASE 01 · CUSTOMER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6766560" cy="621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F172A"/>
                </a:solidFill>
                <a:latin typeface="Aptos"/>
              </a:rPr>
              <a:t>Conversational support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475488"/>
            <a:ext cx="2331720" cy="475488"/>
          </a:xfrm>
          <a:prstGeom prst="roundRect">
            <a:avLst>
              <a:gd name="adj" fmla="val 15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7696" y="621792"/>
            <a:ext cx="19659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Aptos"/>
              </a:rPr>
              <a:t>REPLACE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34072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Volume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28432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85632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58784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Repeat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53144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10344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83496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Moat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7856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725912" y="1078992"/>
            <a:ext cx="777240" cy="621792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90504" y="1216151"/>
            <a:ext cx="44805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F59E0B"/>
                </a:solidFill>
                <a:latin typeface="Aptos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90504" y="1609343"/>
            <a:ext cx="448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score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00200"/>
            <a:ext cx="35204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1600200"/>
            <a:ext cx="73152" cy="1234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1746504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What is deployed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2103120"/>
            <a:ext cx="3200400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Mercedes MBUX, Wendy's FreshAI, Home Depot Magic Apron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07408" y="1600200"/>
            <a:ext cx="31546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07408" y="1600200"/>
            <a:ext cx="73152" cy="123444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08576" y="1746504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SaaS in the crosshairs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8576" y="2103120"/>
            <a:ext cx="2834640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Per-seat help desks (Zendesk)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90688" y="1600200"/>
            <a:ext cx="32461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90688" y="1600200"/>
            <a:ext cx="73152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91856" y="1746504"/>
            <a:ext cx="2926079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Commercial translation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91856" y="2103120"/>
            <a:ext cx="2926079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80 support seats → 1 agent + KB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32461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ptos"/>
              </a:rPr>
              <a:t>Client narrative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3584448"/>
            <a:ext cx="5394960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0" i="0">
                <a:solidFill>
                  <a:srgbClr val="0F172A"/>
                </a:solidFill>
                <a:latin typeface="Aptos"/>
              </a:rPr>
              <a:t>Replacement target: high-volume workflow layer, weak proprietary data protection, and visible seat or add-on compression.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2461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ptos"/>
              </a:rPr>
              <a:t>Why the moat matters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584448"/>
            <a:ext cx="4434840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90" b="0" i="0">
                <a:solidFill>
                  <a:srgbClr val="0F172A"/>
                </a:solidFill>
                <a:latin typeface="Aptos"/>
              </a:rPr>
              <a:t>Low moat: the agent can reproduce the user-facing workflow without needing a defensible proprietary substrate.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983480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212080"/>
            <a:ext cx="99669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F172A"/>
                </a:solidFill>
                <a:latin typeface="Aptos"/>
              </a:rPr>
              <a:t>Proof: Mercedes MBUX, Wendy's FreshAI, Home Depot Magic Apron  |  SaaS affected: Per-seat help desks (Zendesk)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client-ready reviewed draft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14 / 60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49377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USE CASE 02 · CUSTOMER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6766560" cy="621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F172A"/>
                </a:solidFill>
                <a:latin typeface="Aptos"/>
              </a:rPr>
              <a:t>In-product owner assistant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475488"/>
            <a:ext cx="2331720" cy="475488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7696" y="621792"/>
            <a:ext cx="19659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Aptos"/>
              </a:rPr>
              <a:t>RENEGOTIATE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34072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Volume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28432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85632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58784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Repeat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53144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10344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83496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Moat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7856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725912" y="1078992"/>
            <a:ext cx="777240" cy="621792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90504" y="1216151"/>
            <a:ext cx="44805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F59E0B"/>
                </a:solidFill>
                <a:latin typeface="Aptos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90504" y="1609343"/>
            <a:ext cx="448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score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00200"/>
            <a:ext cx="35204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1600200"/>
            <a:ext cx="73152" cy="1234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1746504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What is deployed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2103120"/>
            <a:ext cx="3200400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Volkswagen myVW, GM OnStar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07408" y="1600200"/>
            <a:ext cx="31546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07408" y="1600200"/>
            <a:ext cx="73152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08576" y="1746504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SaaS in the crosshairs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8576" y="2103120"/>
            <a:ext cx="2834640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Manuals / FAQ / deflection tools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90688" y="1600200"/>
            <a:ext cx="32461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90688" y="1600200"/>
            <a:ext cx="73152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91856" y="1746504"/>
            <a:ext cx="2926079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Commercial translation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91856" y="2103120"/>
            <a:ext cx="2926079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Keep platform; drop deflection seats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32461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ptos"/>
              </a:rPr>
              <a:t>Client narrative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3584448"/>
            <a:ext cx="5394960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0" i="0">
                <a:solidFill>
                  <a:srgbClr val="0F172A"/>
                </a:solidFill>
                <a:latin typeface="Aptos"/>
              </a:rPr>
              <a:t>Renewal target: keep the core platform, challenge workflow modules, assist layers, and per-seat pricing.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2461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ptos"/>
              </a:rPr>
              <a:t>Why the moat matters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584448"/>
            <a:ext cx="4434840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90" b="0" i="0">
                <a:solidFill>
                  <a:srgbClr val="0F172A"/>
                </a:solidFill>
                <a:latin typeface="Aptos"/>
              </a:rPr>
              <a:t>Medium moat: the platform likely survives, but workflow modules and seats become negotiable.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983480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212080"/>
            <a:ext cx="99669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F172A"/>
                </a:solidFill>
                <a:latin typeface="Aptos"/>
              </a:rPr>
              <a:t>Proof: Volkswagen myVW, GM OnStar  |  SaaS affected: Manuals / FAQ / deflection tools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client-ready reviewed draft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15 / 60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49377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USE CASE 03 · CUSTOMER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6766560" cy="621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F172A"/>
                </a:solidFill>
                <a:latin typeface="Aptos"/>
              </a:rPr>
              <a:t>AI shopping / sales consultant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475488"/>
            <a:ext cx="2331720" cy="475488"/>
          </a:xfrm>
          <a:prstGeom prst="roundRect">
            <a:avLst>
              <a:gd name="adj" fmla="val 15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7696" y="621792"/>
            <a:ext cx="19659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Aptos"/>
              </a:rPr>
              <a:t>REPLACE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34072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Volume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28432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85632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58784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Repeat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53144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10344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83496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Moat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7856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725912" y="1078992"/>
            <a:ext cx="777240" cy="621792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90504" y="1216151"/>
            <a:ext cx="44805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F59E0B"/>
                </a:solidFill>
                <a:latin typeface="Aptos"/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90504" y="1609343"/>
            <a:ext cx="448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score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00200"/>
            <a:ext cx="35204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1600200"/>
            <a:ext cx="73152" cy="1234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1746504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What is deployed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2103120"/>
            <a:ext cx="3200400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Mercedes smart sales, Mobiauto, Best Buy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07408" y="1600200"/>
            <a:ext cx="31546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07408" y="1600200"/>
            <a:ext cx="73152" cy="123444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08576" y="1746504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SaaS in the crosshairs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8576" y="2103120"/>
            <a:ext cx="2834640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Guided-selling SaaS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90688" y="1600200"/>
            <a:ext cx="32461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90688" y="1600200"/>
            <a:ext cx="73152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91856" y="1746504"/>
            <a:ext cx="2926079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Commercial translation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91856" y="2103120"/>
            <a:ext cx="2926079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Guided-selling seats → 1 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32461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ptos"/>
              </a:rPr>
              <a:t>Client narrative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3584448"/>
            <a:ext cx="5394960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0" i="0">
                <a:solidFill>
                  <a:srgbClr val="0F172A"/>
                </a:solidFill>
                <a:latin typeface="Aptos"/>
              </a:rPr>
              <a:t>Replacement target: high-volume workflow layer, weak proprietary data protection, and visible seat or add-on compression.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2461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ptos"/>
              </a:rPr>
              <a:t>Why the moat matters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584448"/>
            <a:ext cx="4434840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90" b="0" i="0">
                <a:solidFill>
                  <a:srgbClr val="0F172A"/>
                </a:solidFill>
                <a:latin typeface="Aptos"/>
              </a:rPr>
              <a:t>Low moat: the agent can reproduce the user-facing workflow without needing a defensible proprietary substrate.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983480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212080"/>
            <a:ext cx="99669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F172A"/>
                </a:solidFill>
                <a:latin typeface="Aptos"/>
              </a:rPr>
              <a:t>Proof: Mercedes smart sales, Mobiauto, Best Buy  |  SaaS affected: Guided-selling SaaS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client-ready reviewed draft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16 / 60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49377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USE CASE 04 · CUSTOMER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6766560" cy="621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F172A"/>
                </a:solidFill>
                <a:latin typeface="Aptos"/>
              </a:rPr>
              <a:t>Travel &amp; booking planner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475488"/>
            <a:ext cx="2331720" cy="475488"/>
          </a:xfrm>
          <a:prstGeom prst="roundRect">
            <a:avLst>
              <a:gd name="adj" fmla="val 15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7696" y="621792"/>
            <a:ext cx="19659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Aptos"/>
              </a:rPr>
              <a:t>REPLACE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34072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Volume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28432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85632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58784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Repeat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53144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10344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83496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Moat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7856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725912" y="1078992"/>
            <a:ext cx="777240" cy="621792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90504" y="1216151"/>
            <a:ext cx="44805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F59E0B"/>
                </a:solidFill>
                <a:latin typeface="Aptos"/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90504" y="1609343"/>
            <a:ext cx="448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score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00200"/>
            <a:ext cx="35204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1600200"/>
            <a:ext cx="73152" cy="1234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1746504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What is deployed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2103120"/>
            <a:ext cx="3200400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Agoda, Priceline, LATAM Cosmos, Virgin Voyages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07408" y="1600200"/>
            <a:ext cx="31546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07408" y="1600200"/>
            <a:ext cx="73152" cy="123444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08576" y="1746504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SaaS in the crosshairs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8576" y="2103120"/>
            <a:ext cx="2834640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Booking / itinerary tools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90688" y="1600200"/>
            <a:ext cx="32461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90688" y="1600200"/>
            <a:ext cx="73152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91856" y="1746504"/>
            <a:ext cx="2926079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Commercial translation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91856" y="2103120"/>
            <a:ext cx="2926079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Booking seats → agent + inventory API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32461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ptos"/>
              </a:rPr>
              <a:t>Client narrative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3584448"/>
            <a:ext cx="5394960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0" i="0">
                <a:solidFill>
                  <a:srgbClr val="0F172A"/>
                </a:solidFill>
                <a:latin typeface="Aptos"/>
              </a:rPr>
              <a:t>Replacement target: high-volume workflow layer, weak proprietary data protection, and visible seat or add-on compression.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2461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ptos"/>
              </a:rPr>
              <a:t>Why the moat matters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584448"/>
            <a:ext cx="4434840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90" b="0" i="0">
                <a:solidFill>
                  <a:srgbClr val="0F172A"/>
                </a:solidFill>
                <a:latin typeface="Aptos"/>
              </a:rPr>
              <a:t>Low moat: the agent can reproduce the user-facing workflow without needing a defensible proprietary substrate.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983480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212080"/>
            <a:ext cx="99669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F172A"/>
                </a:solidFill>
                <a:latin typeface="Aptos"/>
              </a:rPr>
              <a:t>Proof: Agoda, Priceline, LATAM Cosmos, Virgin Voyages  |  SaaS affected: Booking / itinerary tools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client-ready reviewed draft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17 / 60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49377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USE CASE 05 · CUSTOMER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6766560" cy="621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F172A"/>
                </a:solidFill>
                <a:latin typeface="Aptos"/>
              </a:rPr>
              <a:t>Messaging-channel chatbot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475488"/>
            <a:ext cx="2331720" cy="475488"/>
          </a:xfrm>
          <a:prstGeom prst="roundRect">
            <a:avLst>
              <a:gd name="adj" fmla="val 15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7696" y="621792"/>
            <a:ext cx="19659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Aptos"/>
              </a:rPr>
              <a:t>REPLACE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34072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Volume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28432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85632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58784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Repeat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53144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10344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83496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Moat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7856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725912" y="1078992"/>
            <a:ext cx="777240" cy="621792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90504" y="1216151"/>
            <a:ext cx="44805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F59E0B"/>
                </a:solidFill>
                <a:latin typeface="Aptos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90504" y="1609343"/>
            <a:ext cx="448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score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00200"/>
            <a:ext cx="35204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1600200"/>
            <a:ext cx="73152" cy="1234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1746504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What is deployed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2103120"/>
            <a:ext cx="3200400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LUXGEN (LINE), Banglalink REN, DT MINDR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07408" y="1600200"/>
            <a:ext cx="31546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07408" y="1600200"/>
            <a:ext cx="73152" cy="123444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08576" y="1746504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SaaS in the crosshairs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8576" y="2103120"/>
            <a:ext cx="2834640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Chatbot / CCaaS bots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90688" y="1600200"/>
            <a:ext cx="32461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90688" y="1600200"/>
            <a:ext cx="73152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91856" y="1746504"/>
            <a:ext cx="2926079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Commercial translation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91856" y="2103120"/>
            <a:ext cx="2926079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Bot-builder seats → 1 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32461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ptos"/>
              </a:rPr>
              <a:t>Client narrative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3584448"/>
            <a:ext cx="5394960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0" i="0">
                <a:solidFill>
                  <a:srgbClr val="0F172A"/>
                </a:solidFill>
                <a:latin typeface="Aptos"/>
              </a:rPr>
              <a:t>Replacement target: high-volume workflow layer, weak proprietary data protection, and visible seat or add-on compression.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2461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ptos"/>
              </a:rPr>
              <a:t>Why the moat matters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584448"/>
            <a:ext cx="4434840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90" b="0" i="0">
                <a:solidFill>
                  <a:srgbClr val="0F172A"/>
                </a:solidFill>
                <a:latin typeface="Aptos"/>
              </a:rPr>
              <a:t>Low moat: the agent can reproduce the user-facing workflow without needing a defensible proprietary substrate.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983480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212080"/>
            <a:ext cx="99669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F172A"/>
                </a:solidFill>
                <a:latin typeface="Aptos"/>
              </a:rPr>
              <a:t>Proof: LUXGEN (LINE), Banglalink REN, DT MINDR  |  SaaS affected: Chatbot / CCaaS bots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client-ready reviewed draft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18 / 60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1094415" cy="7680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50" b="1" i="0">
                <a:solidFill>
                  <a:srgbClr val="0F172A"/>
                </a:solidFill>
                <a:latin typeface="Aptos Display"/>
              </a:rPr>
              <a:t>Employee use cases show where the scorecard bites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60704"/>
            <a:ext cx="13258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0" i="0">
                <a:solidFill>
                  <a:srgbClr val="64748B"/>
                </a:solidFill>
                <a:latin typeface="Aptos"/>
              </a:rPr>
              <a:t>Domain summary before individual use-case pages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client-ready reviewed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19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00200"/>
            <a:ext cx="1874519" cy="987552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737360"/>
            <a:ext cx="154533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E11D48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130552"/>
            <a:ext cx="15453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replace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1600200"/>
            <a:ext cx="1874519" cy="987552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07792" y="1737360"/>
            <a:ext cx="154533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F59E0B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07792" y="2130552"/>
            <a:ext cx="15453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renegotiate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00600" y="1600200"/>
            <a:ext cx="1874519" cy="987552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65192" y="1737360"/>
            <a:ext cx="154533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10B981"/>
                </a:solidFill>
                <a:latin typeface="Aptos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65192" y="2130552"/>
            <a:ext cx="15453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keep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999232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F172A"/>
                </a:solidFill>
                <a:latin typeface="Aptos"/>
              </a:rPr>
              <a:t>Use-case roster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401568"/>
            <a:ext cx="310896" cy="256032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7008" y="3392424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F172A"/>
                </a:solidFill>
                <a:latin typeface="Aptos"/>
              </a:rPr>
              <a:t>Enterprise knowledge 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92424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64748B"/>
                </a:solidFill>
                <a:latin typeface="Aptos"/>
              </a:rPr>
              <a:t>RENEGOTIATE · Medium moat · score 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840480"/>
            <a:ext cx="310896" cy="256032"/>
          </a:xfrm>
          <a:prstGeom prst="roundRect">
            <a:avLst>
              <a:gd name="adj" fmla="val 8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07008" y="3831336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F172A"/>
                </a:solidFill>
                <a:latin typeface="Aptos"/>
              </a:rPr>
              <a:t>Doc summarization &amp; drafting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3831336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64748B"/>
                </a:solidFill>
                <a:latin typeface="Aptos"/>
              </a:rPr>
              <a:t>REPLACE · Low moat · score 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279392"/>
            <a:ext cx="310896" cy="256032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7008" y="4270248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F172A"/>
                </a:solidFill>
                <a:latin typeface="Aptos"/>
              </a:rPr>
              <a:t>Contact-center agent assist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4270248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64748B"/>
                </a:solidFill>
                <a:latin typeface="Aptos"/>
              </a:rPr>
              <a:t>RENEGOTIATE · Medium moat · score 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718304"/>
            <a:ext cx="310896" cy="256032"/>
          </a:xfrm>
          <a:prstGeom prst="roundRect">
            <a:avLst>
              <a:gd name="adj" fmla="val 8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07008" y="470916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F172A"/>
                </a:solidFill>
                <a:latin typeface="Aptos"/>
              </a:rPr>
              <a:t>Legal research &amp; drafting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60" y="4709160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64748B"/>
                </a:solidFill>
                <a:latin typeface="Aptos"/>
              </a:rPr>
              <a:t>REPLACE · Low moat · score 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5157216"/>
            <a:ext cx="310896" cy="256032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07008" y="514807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F172A"/>
                </a:solidFill>
                <a:latin typeface="Aptos"/>
              </a:rPr>
              <a:t>HR / onboarding 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514807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64748B"/>
                </a:solidFill>
                <a:latin typeface="Aptos"/>
              </a:rPr>
              <a:t>RENEGOTIATE · Medium moat · score 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532120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F172A"/>
                </a:solidFill>
                <a:latin typeface="Aptos"/>
              </a:rPr>
              <a:t>Domain implication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5532120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0F172A"/>
                </a:solidFill>
                <a:latin typeface="Aptos"/>
              </a:rPr>
              <a:t>Expect mixed actions: agent productivity compresses add-ons, but internal systems often remain.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49377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USE CASE 06 · EMPLOYEE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6766560" cy="621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F172A"/>
                </a:solidFill>
                <a:latin typeface="Aptos"/>
              </a:rPr>
              <a:t>Enterprise knowledge search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475488"/>
            <a:ext cx="2331720" cy="475488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7696" y="621792"/>
            <a:ext cx="19659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Aptos"/>
              </a:rPr>
              <a:t>RENEGOTIATE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34072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Volume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28432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85632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58784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Repeat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53144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10344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83496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Moat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7856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725912" y="1078992"/>
            <a:ext cx="777240" cy="621792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90504" y="1216151"/>
            <a:ext cx="44805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F59E0B"/>
                </a:solidFill>
                <a:latin typeface="Aptos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90504" y="1609343"/>
            <a:ext cx="448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score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00200"/>
            <a:ext cx="35204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1600200"/>
            <a:ext cx="73152" cy="1234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1746504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What is deployed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2103120"/>
            <a:ext cx="3200400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Geotab, Bosch AskBosch, Glean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07408" y="1600200"/>
            <a:ext cx="31546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07408" y="1600200"/>
            <a:ext cx="73152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08576" y="1746504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SaaS in the crosshairs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8576" y="2103120"/>
            <a:ext cx="2834640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Enterprise search SaaS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90688" y="1600200"/>
            <a:ext cx="32461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90688" y="1600200"/>
            <a:ext cx="73152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91856" y="1746504"/>
            <a:ext cx="2926079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Commercial translation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91856" y="2103120"/>
            <a:ext cx="2926079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Agent over your data; trim search seats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32461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ptos"/>
              </a:rPr>
              <a:t>Client narrative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3584448"/>
            <a:ext cx="5394960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0" i="0">
                <a:solidFill>
                  <a:srgbClr val="0F172A"/>
                </a:solidFill>
                <a:latin typeface="Aptos"/>
              </a:rPr>
              <a:t>Renewal target: keep the core platform, challenge workflow modules, assist layers, and per-seat pricing.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2461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ptos"/>
              </a:rPr>
              <a:t>Why the moat matters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584448"/>
            <a:ext cx="4434840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90" b="0" i="0">
                <a:solidFill>
                  <a:srgbClr val="0F172A"/>
                </a:solidFill>
                <a:latin typeface="Aptos"/>
              </a:rPr>
              <a:t>Medium moat: the platform likely survives, but workflow modules and seats become negotiable.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983480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212080"/>
            <a:ext cx="99669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F172A"/>
                </a:solidFill>
                <a:latin typeface="Aptos"/>
              </a:rPr>
              <a:t>Proof: Geotab, Bosch AskBosch, Glean  |  SaaS affected: Enterprise search SaaS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client-ready reviewed draft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20 / 60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49377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USE CASE 07 · EMPLOYEE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6766560" cy="621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F172A"/>
                </a:solidFill>
                <a:latin typeface="Aptos"/>
              </a:rPr>
              <a:t>Doc summarization &amp; drafting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475488"/>
            <a:ext cx="2331720" cy="475488"/>
          </a:xfrm>
          <a:prstGeom prst="roundRect">
            <a:avLst>
              <a:gd name="adj" fmla="val 15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7696" y="621792"/>
            <a:ext cx="19659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Aptos"/>
              </a:rPr>
              <a:t>REPLACE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34072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Volume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28432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85632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58784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Repeat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53144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10344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83496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Moat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7856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725912" y="1078992"/>
            <a:ext cx="777240" cy="621792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90504" y="1216151"/>
            <a:ext cx="44805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F59E0B"/>
                </a:solidFill>
                <a:latin typeface="Aptos"/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90504" y="1609343"/>
            <a:ext cx="448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score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00200"/>
            <a:ext cx="35204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1600200"/>
            <a:ext cx="73152" cy="1234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1746504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What is deployed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2103120"/>
            <a:ext cx="3200400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KPMG, PwC, Deloitte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07408" y="1600200"/>
            <a:ext cx="31546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07408" y="1600200"/>
            <a:ext cx="73152" cy="123444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08576" y="1746504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SaaS in the crosshairs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8576" y="2103120"/>
            <a:ext cx="2834640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Doc / productivity add-ons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90688" y="1600200"/>
            <a:ext cx="32461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90688" y="1600200"/>
            <a:ext cx="73152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91856" y="1746504"/>
            <a:ext cx="2926079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Commercial translation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91856" y="2103120"/>
            <a:ext cx="2926079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Native LLM; drop add-on seats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32461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ptos"/>
              </a:rPr>
              <a:t>Client narrative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3584448"/>
            <a:ext cx="5394960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0" i="0">
                <a:solidFill>
                  <a:srgbClr val="0F172A"/>
                </a:solidFill>
                <a:latin typeface="Aptos"/>
              </a:rPr>
              <a:t>Replacement target: high-volume workflow layer, weak proprietary data protection, and visible seat or add-on compression.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2461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ptos"/>
              </a:rPr>
              <a:t>Why the moat matters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584448"/>
            <a:ext cx="4434840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90" b="0" i="0">
                <a:solidFill>
                  <a:srgbClr val="0F172A"/>
                </a:solidFill>
                <a:latin typeface="Aptos"/>
              </a:rPr>
              <a:t>Low moat: the agent can reproduce the user-facing workflow without needing a defensible proprietary substrate.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983480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212080"/>
            <a:ext cx="99669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F172A"/>
                </a:solidFill>
                <a:latin typeface="Aptos"/>
              </a:rPr>
              <a:t>Proof: KPMG, PwC, Deloitte  |  SaaS affected: Doc / productivity add-ons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client-ready reviewed draft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21 / 60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49377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USE CASE 08 · EMPLOYEE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6766560" cy="621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F172A"/>
                </a:solidFill>
                <a:latin typeface="Aptos"/>
              </a:rPr>
              <a:t>Contact-center agent assist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475488"/>
            <a:ext cx="2331720" cy="475488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7696" y="621792"/>
            <a:ext cx="19659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Aptos"/>
              </a:rPr>
              <a:t>RENEGOTIATE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34072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Volume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28432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85632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58784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Repeat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53144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10344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83496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Moat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7856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725912" y="1078992"/>
            <a:ext cx="777240" cy="621792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90504" y="1216151"/>
            <a:ext cx="44805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F59E0B"/>
                </a:solidFill>
                <a:latin typeface="Aptos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90504" y="1609343"/>
            <a:ext cx="448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score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00200"/>
            <a:ext cx="35204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1600200"/>
            <a:ext cx="73152" cy="1234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1746504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What is deployed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2103120"/>
            <a:ext cx="3200400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Humana Agent Assist, Vodafone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07408" y="1600200"/>
            <a:ext cx="31546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07408" y="1600200"/>
            <a:ext cx="73152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08576" y="1746504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SaaS in the crosshairs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8576" y="2103120"/>
            <a:ext cx="2834640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CCaaS agent-assist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90688" y="1600200"/>
            <a:ext cx="32461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90688" y="1600200"/>
            <a:ext cx="73152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91856" y="1746504"/>
            <a:ext cx="2926079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Commercial translation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91856" y="2103120"/>
            <a:ext cx="2926079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Keep CCaaS; agent-assist replaces add-on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32461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ptos"/>
              </a:rPr>
              <a:t>Client narrative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3584448"/>
            <a:ext cx="5394960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0" i="0">
                <a:solidFill>
                  <a:srgbClr val="0F172A"/>
                </a:solidFill>
                <a:latin typeface="Aptos"/>
              </a:rPr>
              <a:t>Renewal target: keep the core platform, challenge workflow modules, assist layers, and per-seat pricing.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2461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ptos"/>
              </a:rPr>
              <a:t>Why the moat matters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584448"/>
            <a:ext cx="4434840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90" b="0" i="0">
                <a:solidFill>
                  <a:srgbClr val="0F172A"/>
                </a:solidFill>
                <a:latin typeface="Aptos"/>
              </a:rPr>
              <a:t>Medium moat: the platform likely survives, but workflow modules and seats become negotiable.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983480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212080"/>
            <a:ext cx="99669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F172A"/>
                </a:solidFill>
                <a:latin typeface="Aptos"/>
              </a:rPr>
              <a:t>Proof: Humana Agent Assist, Vodafone  |  SaaS affected: CCaaS agent-assist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client-ready reviewed draft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22 / 60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49377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USE CASE 09 · EMPLOYEE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6766560" cy="621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F172A"/>
                </a:solidFill>
                <a:latin typeface="Aptos"/>
              </a:rPr>
              <a:t>Legal research &amp; drafting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475488"/>
            <a:ext cx="2331720" cy="475488"/>
          </a:xfrm>
          <a:prstGeom prst="roundRect">
            <a:avLst>
              <a:gd name="adj" fmla="val 15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7696" y="621792"/>
            <a:ext cx="19659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Aptos"/>
              </a:rPr>
              <a:t>REPLACE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34072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Volume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28432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85632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58784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Repeat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53144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10344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83496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Moat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7856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725912" y="1078992"/>
            <a:ext cx="777240" cy="621792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90504" y="1216151"/>
            <a:ext cx="44805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F59E0B"/>
                </a:solidFill>
                <a:latin typeface="Aptos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90504" y="1609343"/>
            <a:ext cx="448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score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00200"/>
            <a:ext cx="35204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1600200"/>
            <a:ext cx="73152" cy="1234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1746504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What is deployed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2103120"/>
            <a:ext cx="3200400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Harvey, Thomson Reuters, Deutsche Bank DB Lumina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07408" y="1600200"/>
            <a:ext cx="31546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07408" y="1600200"/>
            <a:ext cx="73152" cy="123444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08576" y="1746504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SaaS in the crosshairs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8576" y="2103120"/>
            <a:ext cx="2834640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Westlaw, LexisNexis, CLM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90688" y="1600200"/>
            <a:ext cx="32461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90688" y="1600200"/>
            <a:ext cx="73152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91856" y="1746504"/>
            <a:ext cx="2926079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Commercial translation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91856" y="2103120"/>
            <a:ext cx="2926079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Per-lawyer research seats → 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32461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ptos"/>
              </a:rPr>
              <a:t>Client narrative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3584448"/>
            <a:ext cx="5394960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0" i="0">
                <a:solidFill>
                  <a:srgbClr val="0F172A"/>
                </a:solidFill>
                <a:latin typeface="Aptos"/>
              </a:rPr>
              <a:t>Replacement target: high-volume workflow layer, weak proprietary data protection, and visible seat or add-on compression.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2461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ptos"/>
              </a:rPr>
              <a:t>Why the moat matters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584448"/>
            <a:ext cx="4434840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90" b="0" i="0">
                <a:solidFill>
                  <a:srgbClr val="0F172A"/>
                </a:solidFill>
                <a:latin typeface="Aptos"/>
              </a:rPr>
              <a:t>Low moat: the agent can reproduce the user-facing workflow without needing a defensible proprietary substrate.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983480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212080"/>
            <a:ext cx="99669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F172A"/>
                </a:solidFill>
                <a:latin typeface="Aptos"/>
              </a:rPr>
              <a:t>Proof: Harvey, Thomson Reuters, Deutsche Bank DB Lumina  |  SaaS affected: Westlaw, LexisNexis, CLM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client-ready reviewed draft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23 / 60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49377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USE CASE 10 · EMPLOYEE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6766560" cy="621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F172A"/>
                </a:solidFill>
                <a:latin typeface="Aptos"/>
              </a:rPr>
              <a:t>HR / onboarding 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475488"/>
            <a:ext cx="2331720" cy="475488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7696" y="621792"/>
            <a:ext cx="19659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Aptos"/>
              </a:rPr>
              <a:t>RENEGOTIATE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34072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Volume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28432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85632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58784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Repeat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53144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10344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83496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Moat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7856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725912" y="1078992"/>
            <a:ext cx="777240" cy="621792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90504" y="1216151"/>
            <a:ext cx="44805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F59E0B"/>
                </a:solidFill>
                <a:latin typeface="Aptos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90504" y="1609343"/>
            <a:ext cx="448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score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00200"/>
            <a:ext cx="35204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1600200"/>
            <a:ext cx="73152" cy="1234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1746504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What is deployed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2103120"/>
            <a:ext cx="3200400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Grupo Ruiz, employee-agent deployments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07408" y="1600200"/>
            <a:ext cx="31546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07408" y="1600200"/>
            <a:ext cx="73152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08576" y="1746504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SaaS in the crosshairs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8576" y="2103120"/>
            <a:ext cx="2834640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HR workflow SaaS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90688" y="1600200"/>
            <a:ext cx="32461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90688" y="1600200"/>
            <a:ext cx="73152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91856" y="1746504"/>
            <a:ext cx="2926079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Commercial translation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91856" y="2103120"/>
            <a:ext cx="2926079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Agent runs workflow; keep record 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32461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ptos"/>
              </a:rPr>
              <a:t>Client narrative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3584448"/>
            <a:ext cx="5394960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0" i="0">
                <a:solidFill>
                  <a:srgbClr val="0F172A"/>
                </a:solidFill>
                <a:latin typeface="Aptos"/>
              </a:rPr>
              <a:t>Renewal target: keep the core platform, challenge workflow modules, assist layers, and per-seat pricing.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2461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ptos"/>
              </a:rPr>
              <a:t>Why the moat matters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584448"/>
            <a:ext cx="4434840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90" b="0" i="0">
                <a:solidFill>
                  <a:srgbClr val="0F172A"/>
                </a:solidFill>
                <a:latin typeface="Aptos"/>
              </a:rPr>
              <a:t>Medium moat: the platform likely survives, but workflow modules and seats become negotiable.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983480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212080"/>
            <a:ext cx="99669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F172A"/>
                </a:solidFill>
                <a:latin typeface="Aptos"/>
              </a:rPr>
              <a:t>Proof: Grupo Ruiz, employee-agent deployments  |  SaaS affected: HR workflow SaaS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client-ready reviewed draft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24 / 60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1094415" cy="7680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50" b="1" i="0">
                <a:solidFill>
                  <a:srgbClr val="0F172A"/>
                </a:solidFill>
                <a:latin typeface="Aptos Display"/>
              </a:rPr>
              <a:t>Creative use cases show where the scorecard bites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60704"/>
            <a:ext cx="13258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0" i="0">
                <a:solidFill>
                  <a:srgbClr val="64748B"/>
                </a:solidFill>
                <a:latin typeface="Aptos"/>
              </a:rPr>
              <a:t>Domain summary before individual use-case pages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client-ready reviewed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25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00200"/>
            <a:ext cx="1874519" cy="987552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737360"/>
            <a:ext cx="154533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E11D48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130552"/>
            <a:ext cx="15453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replace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1600200"/>
            <a:ext cx="1874519" cy="987552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07792" y="1737360"/>
            <a:ext cx="154533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F59E0B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07792" y="2130552"/>
            <a:ext cx="15453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renegotiate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00600" y="1600200"/>
            <a:ext cx="1874519" cy="987552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65192" y="1737360"/>
            <a:ext cx="154533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10B981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65192" y="2130552"/>
            <a:ext cx="15453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keep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999232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F172A"/>
                </a:solidFill>
                <a:latin typeface="Aptos"/>
              </a:rPr>
              <a:t>Use-case roster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401568"/>
            <a:ext cx="310896" cy="256032"/>
          </a:xfrm>
          <a:prstGeom prst="roundRect">
            <a:avLst>
              <a:gd name="adj" fmla="val 8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7008" y="3392424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F172A"/>
                </a:solidFill>
                <a:latin typeface="Aptos"/>
              </a:rPr>
              <a:t>Ad &amp; creative generation at 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92424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64748B"/>
                </a:solidFill>
                <a:latin typeface="Aptos"/>
              </a:rPr>
              <a:t>REPLACE · Low moat · score 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840480"/>
            <a:ext cx="310896" cy="256032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07008" y="3831336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F172A"/>
                </a:solidFill>
                <a:latin typeface="Aptos"/>
              </a:rPr>
              <a:t>Video generation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3831336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64748B"/>
                </a:solidFill>
                <a:latin typeface="Aptos"/>
              </a:rPr>
              <a:t>RENEGOTIATE · Medium moat · score 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279392"/>
            <a:ext cx="310896" cy="256032"/>
          </a:xfrm>
          <a:prstGeom prst="roundRect">
            <a:avLst>
              <a:gd name="adj" fmla="val 8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7008" y="4270248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F172A"/>
                </a:solidFill>
                <a:latin typeface="Aptos"/>
              </a:rPr>
              <a:t>Personalized marketing content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4270248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64748B"/>
                </a:solidFill>
                <a:latin typeface="Aptos"/>
              </a:rPr>
              <a:t>REPLACE · Low moat · score 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718304"/>
            <a:ext cx="310896" cy="256032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07008" y="470916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F172A"/>
                </a:solidFill>
                <a:latin typeface="Aptos"/>
              </a:rPr>
              <a:t>Brand / 3D asset generation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60" y="4709160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64748B"/>
                </a:solidFill>
                <a:latin typeface="Aptos"/>
              </a:rPr>
              <a:t>KEEP · High moat · score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532120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F172A"/>
                </a:solidFill>
                <a:latin typeface="Aptos"/>
              </a:rPr>
              <a:t>Domain implication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31720" y="5532120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0F172A"/>
                </a:solidFill>
                <a:latin typeface="Aptos"/>
              </a:rPr>
              <a:t>Separate production throughput from brand/IP governance; they drive different verdicts.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49377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USE CASE 11 · CREATIVE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6766560" cy="621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F172A"/>
                </a:solidFill>
                <a:latin typeface="Aptos"/>
              </a:rPr>
              <a:t>Ad &amp; creative generation at scale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475488"/>
            <a:ext cx="2331720" cy="475488"/>
          </a:xfrm>
          <a:prstGeom prst="roundRect">
            <a:avLst>
              <a:gd name="adj" fmla="val 15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7696" y="621792"/>
            <a:ext cx="19659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Aptos"/>
              </a:rPr>
              <a:t>REPLACE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34072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Volume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28432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85632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58784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Repeat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53144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10344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83496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Moat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7856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725912" y="1078992"/>
            <a:ext cx="777240" cy="621792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90504" y="1216151"/>
            <a:ext cx="44805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F59E0B"/>
                </a:solidFill>
                <a:latin typeface="Aptos"/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90504" y="1609343"/>
            <a:ext cx="448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score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00200"/>
            <a:ext cx="35204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1600200"/>
            <a:ext cx="73152" cy="1234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1746504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What is deployed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2103120"/>
            <a:ext cx="3200400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WPP, Authentic Brands Group, PODS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07408" y="1600200"/>
            <a:ext cx="31546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07408" y="1600200"/>
            <a:ext cx="73152" cy="123444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08576" y="1746504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SaaS in the crosshairs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8576" y="2103120"/>
            <a:ext cx="2834640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Creative production seats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90688" y="1600200"/>
            <a:ext cx="32461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90688" y="1600200"/>
            <a:ext cx="73152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91856" y="1746504"/>
            <a:ext cx="2926079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Commercial translation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91856" y="2103120"/>
            <a:ext cx="2926079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Production seats → gen pipeline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32461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ptos"/>
              </a:rPr>
              <a:t>Client narrative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3584448"/>
            <a:ext cx="5394960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0" i="0">
                <a:solidFill>
                  <a:srgbClr val="0F172A"/>
                </a:solidFill>
                <a:latin typeface="Aptos"/>
              </a:rPr>
              <a:t>Replacement target: high-volume workflow layer, weak proprietary data protection, and visible seat or add-on compression.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2461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ptos"/>
              </a:rPr>
              <a:t>Why the moat matters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584448"/>
            <a:ext cx="4434840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90" b="0" i="0">
                <a:solidFill>
                  <a:srgbClr val="0F172A"/>
                </a:solidFill>
                <a:latin typeface="Aptos"/>
              </a:rPr>
              <a:t>Low moat: the agent can reproduce the user-facing workflow without needing a defensible proprietary substrate.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983480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212080"/>
            <a:ext cx="99669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F172A"/>
                </a:solidFill>
                <a:latin typeface="Aptos"/>
              </a:rPr>
              <a:t>Proof: WPP, Authentic Brands Group, PODS  |  SaaS affected: Creative production seats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client-ready reviewed draft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26 / 60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49377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USE CASE 12 · CREATIVE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6766560" cy="621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F172A"/>
                </a:solidFill>
                <a:latin typeface="Aptos"/>
              </a:rPr>
              <a:t>Video generation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475488"/>
            <a:ext cx="2331720" cy="475488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7696" y="621792"/>
            <a:ext cx="19659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Aptos"/>
              </a:rPr>
              <a:t>RENEGOTIATE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34072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Volume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28432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85632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58784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Repeat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53144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10344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83496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Moat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7856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725912" y="1078992"/>
            <a:ext cx="777240" cy="621792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90504" y="1216151"/>
            <a:ext cx="44805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F59E0B"/>
                </a:solidFill>
                <a:latin typeface="Aptos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90504" y="1609343"/>
            <a:ext cx="448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score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00200"/>
            <a:ext cx="35204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1600200"/>
            <a:ext cx="73152" cy="1234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1746504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What is deployed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2103120"/>
            <a:ext cx="3200400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Veo deployments, Adobe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07408" y="1600200"/>
            <a:ext cx="31546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07408" y="1600200"/>
            <a:ext cx="73152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08576" y="1746504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SaaS in the crosshairs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8576" y="2103120"/>
            <a:ext cx="2834640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Video editing SaaS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90688" y="1600200"/>
            <a:ext cx="32461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90688" y="1600200"/>
            <a:ext cx="73152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91856" y="1746504"/>
            <a:ext cx="2926079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Commercial translation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91856" y="2103120"/>
            <a:ext cx="2926079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Agent drafts; editors finish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32461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ptos"/>
              </a:rPr>
              <a:t>Client narrative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3584448"/>
            <a:ext cx="5394960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0" i="0">
                <a:solidFill>
                  <a:srgbClr val="0F172A"/>
                </a:solidFill>
                <a:latin typeface="Aptos"/>
              </a:rPr>
              <a:t>Renewal target: keep the core platform, challenge workflow modules, assist layers, and per-seat pricing.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2461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ptos"/>
              </a:rPr>
              <a:t>Why the moat matters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584448"/>
            <a:ext cx="4434840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90" b="0" i="0">
                <a:solidFill>
                  <a:srgbClr val="0F172A"/>
                </a:solidFill>
                <a:latin typeface="Aptos"/>
              </a:rPr>
              <a:t>Medium moat: the platform likely survives, but workflow modules and seats become negotiable.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983480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212080"/>
            <a:ext cx="99669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F172A"/>
                </a:solidFill>
                <a:latin typeface="Aptos"/>
              </a:rPr>
              <a:t>Proof: Veo deployments, Adobe  |  SaaS affected: Video editing SaaS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client-ready reviewed draft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27 / 60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49377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USE CASE 13 · CREATIVE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6766560" cy="621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F172A"/>
                </a:solidFill>
                <a:latin typeface="Aptos"/>
              </a:rPr>
              <a:t>Personalized marketing content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475488"/>
            <a:ext cx="2331720" cy="475488"/>
          </a:xfrm>
          <a:prstGeom prst="roundRect">
            <a:avLst>
              <a:gd name="adj" fmla="val 15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7696" y="621792"/>
            <a:ext cx="19659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Aptos"/>
              </a:rPr>
              <a:t>REPLACE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34072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Volume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28432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85632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58784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Repeat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53144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10344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83496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Moat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7856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725912" y="1078992"/>
            <a:ext cx="777240" cy="621792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90504" y="1216151"/>
            <a:ext cx="44805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F59E0B"/>
                </a:solidFill>
                <a:latin typeface="Aptos"/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90504" y="1609343"/>
            <a:ext cx="448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score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00200"/>
            <a:ext cx="35204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1600200"/>
            <a:ext cx="73152" cy="1234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1746504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What is deployed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2103120"/>
            <a:ext cx="3200400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Adobe, ElevenLabs (voice)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07408" y="1600200"/>
            <a:ext cx="31546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07408" y="1600200"/>
            <a:ext cx="73152" cy="123444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08576" y="1746504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SaaS in the crosshairs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8576" y="2103120"/>
            <a:ext cx="2834640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Marketing content tools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90688" y="1600200"/>
            <a:ext cx="32461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90688" y="1600200"/>
            <a:ext cx="73152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91856" y="1746504"/>
            <a:ext cx="2926079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Commercial translation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91856" y="2103120"/>
            <a:ext cx="2926079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Content-tool seats → 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32461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ptos"/>
              </a:rPr>
              <a:t>Client narrative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3584448"/>
            <a:ext cx="5394960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0" i="0">
                <a:solidFill>
                  <a:srgbClr val="0F172A"/>
                </a:solidFill>
                <a:latin typeface="Aptos"/>
              </a:rPr>
              <a:t>Replacement target: high-volume workflow layer, weak proprietary data protection, and visible seat or add-on compression.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2461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ptos"/>
              </a:rPr>
              <a:t>Why the moat matters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584448"/>
            <a:ext cx="4434840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90" b="0" i="0">
                <a:solidFill>
                  <a:srgbClr val="0F172A"/>
                </a:solidFill>
                <a:latin typeface="Aptos"/>
              </a:rPr>
              <a:t>Low moat: the agent can reproduce the user-facing workflow without needing a defensible proprietary substrate.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983480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212080"/>
            <a:ext cx="99669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F172A"/>
                </a:solidFill>
                <a:latin typeface="Aptos"/>
              </a:rPr>
              <a:t>Proof: Adobe, ElevenLabs (voice)  |  SaaS affected: Marketing content tools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client-ready reviewed draft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28 / 60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49377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USE CASE 14 · CREATIVE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6766560" cy="621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F172A"/>
                </a:solidFill>
                <a:latin typeface="Aptos"/>
              </a:rPr>
              <a:t>Brand / 3D asset generation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475488"/>
            <a:ext cx="2331720" cy="475488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7696" y="621792"/>
            <a:ext cx="19659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Aptos"/>
              </a:rPr>
              <a:t>KEEP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34072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Volume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28432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85632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58784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Repeat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53144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10344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83496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Moat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7856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725912" y="1078992"/>
            <a:ext cx="777240" cy="621792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90504" y="1216151"/>
            <a:ext cx="44805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F59E0B"/>
                </a:solidFill>
                <a:latin typeface="Aptos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90504" y="1609343"/>
            <a:ext cx="448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score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00200"/>
            <a:ext cx="35204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1600200"/>
            <a:ext cx="73152" cy="1234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1746504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What is deployed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2103120"/>
            <a:ext cx="3200400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BMW Group SORDI.ai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07408" y="1600200"/>
            <a:ext cx="31546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07408" y="1600200"/>
            <a:ext cx="73152" cy="1234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08576" y="1746504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SaaS in the crosshairs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8576" y="2103120"/>
            <a:ext cx="2834640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Asset / DAM tooling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90688" y="1600200"/>
            <a:ext cx="32461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90688" y="1600200"/>
            <a:ext cx="73152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91856" y="1746504"/>
            <a:ext cx="2926079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Commercial translation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91856" y="2103120"/>
            <a:ext cx="2926079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DAM stays SoR; agent feeds 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32461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ptos"/>
              </a:rPr>
              <a:t>Client narrative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3584448"/>
            <a:ext cx="5394960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0" i="0">
                <a:solidFill>
                  <a:srgbClr val="0F172A"/>
                </a:solidFill>
                <a:latin typeface="Aptos"/>
              </a:rPr>
              <a:t>Keep target: use the agent to improve work while governed data, audit, telemetry, or permissions defend the substrate.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2461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ptos"/>
              </a:rPr>
              <a:t>Why the moat matters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584448"/>
            <a:ext cx="4434840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90" b="0" i="0">
                <a:solidFill>
                  <a:srgbClr val="0F172A"/>
                </a:solidFill>
                <a:latin typeface="Aptos"/>
              </a:rPr>
              <a:t>High moat: the system protects value through governed data, audit, permissions, telemetry, or regulatory context.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983480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212080"/>
            <a:ext cx="99669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F172A"/>
                </a:solidFill>
                <a:latin typeface="Aptos"/>
              </a:rPr>
              <a:t>Proof: BMW Group SORDI.ai  |  SaaS affected: Asset / DAM tooling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client-ready reviewed draft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29 / 60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1094415" cy="7680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50" b="1" i="0">
                <a:solidFill>
                  <a:srgbClr val="0F172A"/>
                </a:solidFill>
                <a:latin typeface="Aptos Display"/>
              </a:rPr>
              <a:t>Code use cases show where the scorecard bites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60704"/>
            <a:ext cx="13258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0" i="0">
                <a:solidFill>
                  <a:srgbClr val="64748B"/>
                </a:solidFill>
                <a:latin typeface="Aptos"/>
              </a:rPr>
              <a:t>Domain summary before individual use-case pages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client-ready reviewed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30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00200"/>
            <a:ext cx="1874519" cy="987552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737360"/>
            <a:ext cx="154533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E11D48"/>
                </a:solidFill>
                <a:latin typeface="Aptos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130552"/>
            <a:ext cx="15453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replace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1600200"/>
            <a:ext cx="1874519" cy="987552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07792" y="1737360"/>
            <a:ext cx="154533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F59E0B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07792" y="2130552"/>
            <a:ext cx="15453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renegotiate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00600" y="1600200"/>
            <a:ext cx="1874519" cy="987552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65192" y="1737360"/>
            <a:ext cx="154533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10B981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65192" y="2130552"/>
            <a:ext cx="15453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keep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999232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F172A"/>
                </a:solidFill>
                <a:latin typeface="Aptos"/>
              </a:rPr>
              <a:t>Use-case roster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401568"/>
            <a:ext cx="310896" cy="256032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7008" y="3392424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F172A"/>
                </a:solidFill>
                <a:latin typeface="Aptos"/>
              </a:rPr>
              <a:t>AI code assistant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92424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64748B"/>
                </a:solidFill>
                <a:latin typeface="Aptos"/>
              </a:rPr>
              <a:t>RENEGOTIATE · Medium moat · score 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840480"/>
            <a:ext cx="310896" cy="256032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07008" y="3831336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F172A"/>
                </a:solidFill>
                <a:latin typeface="Aptos"/>
              </a:rPr>
              <a:t>Legacy-IT modernization (NL→SAP)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3831336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64748B"/>
                </a:solidFill>
                <a:latin typeface="Aptos"/>
              </a:rPr>
              <a:t>KEEP · High moat · score 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279392"/>
            <a:ext cx="310896" cy="256032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7008" y="4270248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F172A"/>
                </a:solidFill>
                <a:latin typeface="Aptos"/>
              </a:rPr>
              <a:t>App build / migration automation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4270248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64748B"/>
                </a:solidFill>
                <a:latin typeface="Aptos"/>
              </a:rPr>
              <a:t>RENEGOTIATE · Medium moat · score 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532120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F172A"/>
                </a:solidFill>
                <a:latin typeface="Aptos"/>
              </a:rPr>
              <a:t>Domain implication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20" y="5532120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0F172A"/>
                </a:solidFill>
                <a:latin typeface="Aptos"/>
              </a:rPr>
              <a:t>Treat as engineering leverage and renewal pressure, not full replacement of SDLC systems.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49377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USE CASE 15 ·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6766560" cy="621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F172A"/>
                </a:solidFill>
                <a:latin typeface="Aptos"/>
              </a:rPr>
              <a:t>AI code assistant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475488"/>
            <a:ext cx="2331720" cy="475488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7696" y="621792"/>
            <a:ext cx="19659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Aptos"/>
              </a:rPr>
              <a:t>RENEGOTIATE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34072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Volume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28432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85632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58784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Repeat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53144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10344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83496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Moat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7856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725912" y="1078992"/>
            <a:ext cx="777240" cy="621792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90504" y="1216151"/>
            <a:ext cx="44805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F59E0B"/>
                </a:solidFill>
                <a:latin typeface="Aptos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90504" y="1609343"/>
            <a:ext cx="448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score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00200"/>
            <a:ext cx="35204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1600200"/>
            <a:ext cx="73152" cy="1234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1746504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What is deployed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2103120"/>
            <a:ext cx="3200400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Valeo, Broadcom (Gemini Code Assist)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07408" y="1600200"/>
            <a:ext cx="31546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07408" y="1600200"/>
            <a:ext cx="73152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08576" y="1746504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SaaS in the crosshairs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8576" y="2103120"/>
            <a:ext cx="2834640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IDE / code-review add-ons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90688" y="1600200"/>
            <a:ext cx="32461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90688" y="1600200"/>
            <a:ext cx="73152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91856" y="1746504"/>
            <a:ext cx="2926079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Commercial translation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91856" y="2103120"/>
            <a:ext cx="2926079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Enriches IDE; consumption not seats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32461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ptos"/>
              </a:rPr>
              <a:t>Client narrative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3584448"/>
            <a:ext cx="5394960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0" i="0">
                <a:solidFill>
                  <a:srgbClr val="0F172A"/>
                </a:solidFill>
                <a:latin typeface="Aptos"/>
              </a:rPr>
              <a:t>Renewal target: keep the core platform, challenge workflow modules, assist layers, and per-seat pricing.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2461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ptos"/>
              </a:rPr>
              <a:t>Why the moat matters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584448"/>
            <a:ext cx="4434840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90" b="0" i="0">
                <a:solidFill>
                  <a:srgbClr val="0F172A"/>
                </a:solidFill>
                <a:latin typeface="Aptos"/>
              </a:rPr>
              <a:t>Medium moat: the platform likely survives, but workflow modules and seats become negotiable.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983480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212080"/>
            <a:ext cx="99669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F172A"/>
                </a:solidFill>
                <a:latin typeface="Aptos"/>
              </a:rPr>
              <a:t>Proof: Valeo, Broadcom (Gemini Code Assist)  |  SaaS affected: IDE / code-review add-ons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client-ready reviewed draft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31 / 60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49377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USE CASE 16 ·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6766560" cy="621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F172A"/>
                </a:solidFill>
                <a:latin typeface="Aptos"/>
              </a:rPr>
              <a:t>Legacy-IT modernization (NL→SAP)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475488"/>
            <a:ext cx="2331720" cy="475488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7696" y="621792"/>
            <a:ext cx="19659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Aptos"/>
              </a:rPr>
              <a:t>KEEP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34072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Volume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28432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85632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58784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Repeat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53144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10344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83496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Moat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7856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725912" y="1078992"/>
            <a:ext cx="777240" cy="621792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90504" y="1216151"/>
            <a:ext cx="44805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F59E0B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90504" y="1609343"/>
            <a:ext cx="448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score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00200"/>
            <a:ext cx="35204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1600200"/>
            <a:ext cx="73152" cy="1234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1746504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What is deployed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2103120"/>
            <a:ext cx="3200400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Suzano, Deutsche Telekom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07408" y="1600200"/>
            <a:ext cx="31546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07408" y="1600200"/>
            <a:ext cx="73152" cy="1234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08576" y="1746504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SaaS in the crosshairs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8576" y="2103120"/>
            <a:ext cx="2834640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Modernization consulting / tools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90688" y="1600200"/>
            <a:ext cx="32461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90688" y="1600200"/>
            <a:ext cx="73152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91856" y="1746504"/>
            <a:ext cx="2926079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Commercial translation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91856" y="2103120"/>
            <a:ext cx="2926079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Agent unlocks legacy; keep core systems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32461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ptos"/>
              </a:rPr>
              <a:t>Client narrative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3584448"/>
            <a:ext cx="5394960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0" i="0">
                <a:solidFill>
                  <a:srgbClr val="0F172A"/>
                </a:solidFill>
                <a:latin typeface="Aptos"/>
              </a:rPr>
              <a:t>Keep target: use the agent to improve work while governed data, audit, telemetry, or permissions defend the substrate.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2461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ptos"/>
              </a:rPr>
              <a:t>Why the moat matters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584448"/>
            <a:ext cx="4434840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90" b="0" i="0">
                <a:solidFill>
                  <a:srgbClr val="0F172A"/>
                </a:solidFill>
                <a:latin typeface="Aptos"/>
              </a:rPr>
              <a:t>High moat: the system protects value through governed data, audit, permissions, telemetry, or regulatory context.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983480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212080"/>
            <a:ext cx="99669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F172A"/>
                </a:solidFill>
                <a:latin typeface="Aptos"/>
              </a:rPr>
              <a:t>Proof: Suzano, Deutsche Telekom  |  SaaS affected: Modernization consulting / tools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client-ready reviewed draft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32 / 60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49377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USE CASE 17 ·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6766560" cy="621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F172A"/>
                </a:solidFill>
                <a:latin typeface="Aptos"/>
              </a:rPr>
              <a:t>App build / migration automation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475488"/>
            <a:ext cx="2331720" cy="475488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7696" y="621792"/>
            <a:ext cx="19659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Aptos"/>
              </a:rPr>
              <a:t>RENEGOTIATE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34072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Volume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28432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85632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58784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Repeat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53144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10344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83496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Moat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7856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725912" y="1078992"/>
            <a:ext cx="777240" cy="621792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90504" y="1216151"/>
            <a:ext cx="44805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F59E0B"/>
                </a:solidFill>
                <a:latin typeface="Aptos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90504" y="1609343"/>
            <a:ext cx="448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score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00200"/>
            <a:ext cx="35204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1600200"/>
            <a:ext cx="73152" cy="1234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1746504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What is deployed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2103120"/>
            <a:ext cx="3200400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Code-agent deployments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07408" y="1600200"/>
            <a:ext cx="31546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07408" y="1600200"/>
            <a:ext cx="73152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08576" y="1746504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SaaS in the crosshairs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8576" y="2103120"/>
            <a:ext cx="2834640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Low-code &amp; migration tooling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90688" y="1600200"/>
            <a:ext cx="32461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90688" y="1600200"/>
            <a:ext cx="73152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91856" y="1746504"/>
            <a:ext cx="2926079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Commercial translation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91856" y="2103120"/>
            <a:ext cx="2926079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Agent replaces low-code seats partially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32461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ptos"/>
              </a:rPr>
              <a:t>Client narrative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3584448"/>
            <a:ext cx="5394960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0" i="0">
                <a:solidFill>
                  <a:srgbClr val="0F172A"/>
                </a:solidFill>
                <a:latin typeface="Aptos"/>
              </a:rPr>
              <a:t>Renewal target: keep the core platform, challenge workflow modules, assist layers, and per-seat pricing.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2461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ptos"/>
              </a:rPr>
              <a:t>Why the moat matters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584448"/>
            <a:ext cx="4434840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90" b="0" i="0">
                <a:solidFill>
                  <a:srgbClr val="0F172A"/>
                </a:solidFill>
                <a:latin typeface="Aptos"/>
              </a:rPr>
              <a:t>Medium moat: the platform likely survives, but workflow modules and seats become negotiable.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983480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212080"/>
            <a:ext cx="99669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F172A"/>
                </a:solidFill>
                <a:latin typeface="Aptos"/>
              </a:rPr>
              <a:t>Proof: Code-agent deployments  |  SaaS affected: Low-code &amp; migration tooling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client-ready reviewed draft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33 / 60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1094415" cy="7680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50" b="1" i="0">
                <a:solidFill>
                  <a:srgbClr val="0F172A"/>
                </a:solidFill>
                <a:latin typeface="Aptos Display"/>
              </a:rPr>
              <a:t>Data use cases show where the scorecard bites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60704"/>
            <a:ext cx="13258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0" i="0">
                <a:solidFill>
                  <a:srgbClr val="64748B"/>
                </a:solidFill>
                <a:latin typeface="Aptos"/>
              </a:rPr>
              <a:t>Domain summary before individual use-case pages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client-ready reviewed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34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00200"/>
            <a:ext cx="1874519" cy="987552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737360"/>
            <a:ext cx="154533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E11D48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130552"/>
            <a:ext cx="15453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replace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1600200"/>
            <a:ext cx="1874519" cy="987552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07792" y="1737360"/>
            <a:ext cx="154533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F59E0B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07792" y="2130552"/>
            <a:ext cx="15453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renegotiate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00600" y="1600200"/>
            <a:ext cx="1874519" cy="987552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65192" y="1737360"/>
            <a:ext cx="154533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10B981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65192" y="2130552"/>
            <a:ext cx="15453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keep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999232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F172A"/>
                </a:solidFill>
                <a:latin typeface="Aptos"/>
              </a:rPr>
              <a:t>Use-case roster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401568"/>
            <a:ext cx="310896" cy="256032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7008" y="3392424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F172A"/>
                </a:solidFill>
                <a:latin typeface="Aptos"/>
              </a:rPr>
              <a:t>NL analytics (text-to-SQL)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92424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64748B"/>
                </a:solidFill>
                <a:latin typeface="Aptos"/>
              </a:rPr>
              <a:t>RENEGOTIATE · Medium moat · score 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840480"/>
            <a:ext cx="310896" cy="256032"/>
          </a:xfrm>
          <a:prstGeom prst="roundRect">
            <a:avLst>
              <a:gd name="adj" fmla="val 8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07008" y="3831336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F172A"/>
                </a:solidFill>
                <a:latin typeface="Aptos"/>
              </a:rPr>
              <a:t>Document AI / extraction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3831336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64748B"/>
                </a:solidFill>
                <a:latin typeface="Aptos"/>
              </a:rPr>
              <a:t>REPLACE · Low moat · score 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279392"/>
            <a:ext cx="310896" cy="256032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7008" y="4270248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F172A"/>
                </a:solidFill>
                <a:latin typeface="Aptos"/>
              </a:rPr>
              <a:t>Forecasting / predictive ops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4270248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64748B"/>
                </a:solidFill>
                <a:latin typeface="Aptos"/>
              </a:rPr>
              <a:t>KEEP · High moat · score 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718304"/>
            <a:ext cx="310896" cy="256032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07008" y="470916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F172A"/>
                </a:solidFill>
                <a:latin typeface="Aptos"/>
              </a:rPr>
              <a:t>Research &amp; insight 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60" y="4709160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64748B"/>
                </a:solidFill>
                <a:latin typeface="Aptos"/>
              </a:rPr>
              <a:t>RENEGOTIATE · Medium moat · score 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532120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F172A"/>
                </a:solidFill>
                <a:latin typeface="Aptos"/>
              </a:rPr>
              <a:t>Domain implication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31720" y="5532120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0F172A"/>
                </a:solidFill>
                <a:latin typeface="Aptos"/>
              </a:rPr>
              <a:t>Workflow automation can replace extraction layers while governed analytics substrates survive.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49377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USE CASE 18 ·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6766560" cy="621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F172A"/>
                </a:solidFill>
                <a:latin typeface="Aptos"/>
              </a:rPr>
              <a:t>NL analytics (text-to-SQL)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475488"/>
            <a:ext cx="2331720" cy="475488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7696" y="621792"/>
            <a:ext cx="19659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Aptos"/>
              </a:rPr>
              <a:t>RENEGOTIATE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34072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Volume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28432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85632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58784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Repeat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53144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10344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83496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Moat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7856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725912" y="1078992"/>
            <a:ext cx="777240" cy="621792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90504" y="1216151"/>
            <a:ext cx="44805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F59E0B"/>
                </a:solidFill>
                <a:latin typeface="Aptos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90504" y="1609343"/>
            <a:ext cx="448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score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00200"/>
            <a:ext cx="35204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1600200"/>
            <a:ext cx="73152" cy="1234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1746504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What is deployed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2103120"/>
            <a:ext cx="3200400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Spotify, Etsy (BigQuery)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07408" y="1600200"/>
            <a:ext cx="31546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07408" y="1600200"/>
            <a:ext cx="73152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08576" y="1746504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SaaS in the crosshairs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8576" y="2103120"/>
            <a:ext cx="2834640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BI dashboards (Looker-class)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90688" y="1600200"/>
            <a:ext cx="32461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90688" y="1600200"/>
            <a:ext cx="73152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91856" y="1746504"/>
            <a:ext cx="2926079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Commercial translation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91856" y="2103120"/>
            <a:ext cx="2926079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Agent over warehouse; trim BI seats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32461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ptos"/>
              </a:rPr>
              <a:t>Client narrative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3584448"/>
            <a:ext cx="5394960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0" i="0">
                <a:solidFill>
                  <a:srgbClr val="0F172A"/>
                </a:solidFill>
                <a:latin typeface="Aptos"/>
              </a:rPr>
              <a:t>Renewal target: keep the core platform, challenge workflow modules, assist layers, and per-seat pricing.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2461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ptos"/>
              </a:rPr>
              <a:t>Why the moat matters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584448"/>
            <a:ext cx="4434840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90" b="0" i="0">
                <a:solidFill>
                  <a:srgbClr val="0F172A"/>
                </a:solidFill>
                <a:latin typeface="Aptos"/>
              </a:rPr>
              <a:t>Medium moat: the platform likely survives, but workflow modules and seats become negotiable.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983480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212080"/>
            <a:ext cx="99669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F172A"/>
                </a:solidFill>
                <a:latin typeface="Aptos"/>
              </a:rPr>
              <a:t>Proof: Spotify, Etsy (BigQuery)  |  SaaS affected: BI dashboards (Looker-class)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client-ready reviewed draft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35 / 60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49377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USE CASE 19 ·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6766560" cy="621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F172A"/>
                </a:solidFill>
                <a:latin typeface="Aptos"/>
              </a:rPr>
              <a:t>Document AI / extraction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475488"/>
            <a:ext cx="2331720" cy="475488"/>
          </a:xfrm>
          <a:prstGeom prst="roundRect">
            <a:avLst>
              <a:gd name="adj" fmla="val 15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7696" y="621792"/>
            <a:ext cx="19659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Aptos"/>
              </a:rPr>
              <a:t>REPLACE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34072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Volume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28432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85632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58784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Repeat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53144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10344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83496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Moat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7856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725912" y="1078992"/>
            <a:ext cx="777240" cy="621792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90504" y="1216151"/>
            <a:ext cx="44805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F59E0B"/>
                </a:solidFill>
                <a:latin typeface="Aptos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90504" y="1609343"/>
            <a:ext cx="448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score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00200"/>
            <a:ext cx="35204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1600200"/>
            <a:ext cx="73152" cy="1234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1746504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What is deployed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2103120"/>
            <a:ext cx="3200400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Document AI deployments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07408" y="1600200"/>
            <a:ext cx="31546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07408" y="1600200"/>
            <a:ext cx="73152" cy="123444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08576" y="1746504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SaaS in the crosshairs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8576" y="2103120"/>
            <a:ext cx="2834640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IDP / OCR SaaS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90688" y="1600200"/>
            <a:ext cx="32461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90688" y="1600200"/>
            <a:ext cx="73152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91856" y="1746504"/>
            <a:ext cx="2926079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Commercial translation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91856" y="2103120"/>
            <a:ext cx="2926079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IDP/OCR seats → agent + Document 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32461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ptos"/>
              </a:rPr>
              <a:t>Client narrative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3584448"/>
            <a:ext cx="5394960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0" i="0">
                <a:solidFill>
                  <a:srgbClr val="0F172A"/>
                </a:solidFill>
                <a:latin typeface="Aptos"/>
              </a:rPr>
              <a:t>Replacement target: high-volume workflow layer, weak proprietary data protection, and visible seat or add-on compression.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2461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ptos"/>
              </a:rPr>
              <a:t>Why the moat matters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584448"/>
            <a:ext cx="4434840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90" b="0" i="0">
                <a:solidFill>
                  <a:srgbClr val="0F172A"/>
                </a:solidFill>
                <a:latin typeface="Aptos"/>
              </a:rPr>
              <a:t>Low moat: the agent can reproduce the user-facing workflow without needing a defensible proprietary substrate.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983480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212080"/>
            <a:ext cx="99669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F172A"/>
                </a:solidFill>
                <a:latin typeface="Aptos"/>
              </a:rPr>
              <a:t>Proof: Document AI deployments  |  SaaS affected: IDP / OCR SaaS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client-ready reviewed draft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36 / 60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49377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USE CASE 20 ·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6766560" cy="621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F172A"/>
                </a:solidFill>
                <a:latin typeface="Aptos"/>
              </a:rPr>
              <a:t>Forecasting / predictive ops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475488"/>
            <a:ext cx="2331720" cy="475488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7696" y="621792"/>
            <a:ext cx="19659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Aptos"/>
              </a:rPr>
              <a:t>KEEP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34072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Volume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28432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85632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58784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Repeat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53144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10344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83496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Moat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7856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725912" y="1078992"/>
            <a:ext cx="777240" cy="621792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90504" y="1216151"/>
            <a:ext cx="44805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F59E0B"/>
                </a:solidFill>
                <a:latin typeface="Aptos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90504" y="1609343"/>
            <a:ext cx="448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score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00200"/>
            <a:ext cx="35204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1600200"/>
            <a:ext cx="73152" cy="1234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1746504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What is deployed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2103120"/>
            <a:ext cx="3200400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Honeywell, Geotab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07408" y="1600200"/>
            <a:ext cx="31546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07408" y="1600200"/>
            <a:ext cx="73152" cy="1234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08576" y="1746504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SaaS in the crosshairs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8576" y="2103120"/>
            <a:ext cx="2834640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Predictive-analytics SaaS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90688" y="1600200"/>
            <a:ext cx="32461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90688" y="1600200"/>
            <a:ext cx="73152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91856" y="1746504"/>
            <a:ext cx="2926079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Commercial translation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91856" y="2103120"/>
            <a:ext cx="2926079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Agent augments; data moat compounds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32461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ptos"/>
              </a:rPr>
              <a:t>Client narrative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3584448"/>
            <a:ext cx="5394960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0" i="0">
                <a:solidFill>
                  <a:srgbClr val="0F172A"/>
                </a:solidFill>
                <a:latin typeface="Aptos"/>
              </a:rPr>
              <a:t>Keep target: use the agent to improve work while governed data, audit, telemetry, or permissions defend the substrate.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2461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ptos"/>
              </a:rPr>
              <a:t>Why the moat matters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584448"/>
            <a:ext cx="4434840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90" b="0" i="0">
                <a:solidFill>
                  <a:srgbClr val="0F172A"/>
                </a:solidFill>
                <a:latin typeface="Aptos"/>
              </a:rPr>
              <a:t>High moat: the system protects value through governed data, audit, permissions, telemetry, or regulatory context.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983480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212080"/>
            <a:ext cx="99669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F172A"/>
                </a:solidFill>
                <a:latin typeface="Aptos"/>
              </a:rPr>
              <a:t>Proof: Honeywell, Geotab  |  SaaS affected: Predictive-analytics SaaS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client-ready reviewed draft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37 / 60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49377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USE CASE 21 ·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6766560" cy="621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F172A"/>
                </a:solidFill>
                <a:latin typeface="Aptos"/>
              </a:rPr>
              <a:t>Research &amp; insight 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475488"/>
            <a:ext cx="2331720" cy="475488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7696" y="621792"/>
            <a:ext cx="19659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Aptos"/>
              </a:rPr>
              <a:t>RENEGOTIATE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34072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Volume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28432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85632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58784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Repeat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53144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10344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83496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Moat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7856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725912" y="1078992"/>
            <a:ext cx="777240" cy="621792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90504" y="1216151"/>
            <a:ext cx="44805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F59E0B"/>
                </a:solidFill>
                <a:latin typeface="Aptos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90504" y="1609343"/>
            <a:ext cx="448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score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00200"/>
            <a:ext cx="35204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1600200"/>
            <a:ext cx="73152" cy="1234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1746504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What is deployed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2103120"/>
            <a:ext cx="3200400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MLB Scout Insights, NotebookLM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07408" y="1600200"/>
            <a:ext cx="31546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07408" y="1600200"/>
            <a:ext cx="73152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08576" y="1746504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SaaS in the crosshairs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8576" y="2103120"/>
            <a:ext cx="2834640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Market-research tooling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90688" y="1600200"/>
            <a:ext cx="32461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90688" y="1600200"/>
            <a:ext cx="73152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91856" y="1746504"/>
            <a:ext cx="2926079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Commercial translation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91856" y="2103120"/>
            <a:ext cx="2926079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Agent replaces research-tool seats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32461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ptos"/>
              </a:rPr>
              <a:t>Client narrative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3584448"/>
            <a:ext cx="5394960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0" i="0">
                <a:solidFill>
                  <a:srgbClr val="0F172A"/>
                </a:solidFill>
                <a:latin typeface="Aptos"/>
              </a:rPr>
              <a:t>Renewal target: keep the core platform, challenge workflow modules, assist layers, and per-seat pricing.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2461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ptos"/>
              </a:rPr>
              <a:t>Why the moat matters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584448"/>
            <a:ext cx="4434840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90" b="0" i="0">
                <a:solidFill>
                  <a:srgbClr val="0F172A"/>
                </a:solidFill>
                <a:latin typeface="Aptos"/>
              </a:rPr>
              <a:t>Medium moat: the platform likely survives, but workflow modules and seats become negotiable.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983480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212080"/>
            <a:ext cx="99669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F172A"/>
                </a:solidFill>
                <a:latin typeface="Aptos"/>
              </a:rPr>
              <a:t>Proof: MLB Scout Insights, NotebookLM  |  SaaS affected: Market-research tooling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client-ready reviewed draft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38 / 60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1094415" cy="7680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50" b="1" i="0">
                <a:solidFill>
                  <a:srgbClr val="0F172A"/>
                </a:solidFill>
                <a:latin typeface="Aptos Display"/>
              </a:rPr>
              <a:t>Security use cases show where the scorecard bites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60704"/>
            <a:ext cx="13258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0" i="0">
                <a:solidFill>
                  <a:srgbClr val="64748B"/>
                </a:solidFill>
                <a:latin typeface="Aptos"/>
              </a:rPr>
              <a:t>Domain summary before individual use-case pages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client-ready reviewed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39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00200"/>
            <a:ext cx="1874519" cy="987552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737360"/>
            <a:ext cx="154533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E11D48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130552"/>
            <a:ext cx="15453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replace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1600200"/>
            <a:ext cx="1874519" cy="987552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07792" y="1737360"/>
            <a:ext cx="154533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F59E0B"/>
                </a:solidFill>
                <a:latin typeface="Aptos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07792" y="2130552"/>
            <a:ext cx="15453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renegotiate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00600" y="1600200"/>
            <a:ext cx="1874519" cy="987552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65192" y="1737360"/>
            <a:ext cx="154533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10B981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65192" y="2130552"/>
            <a:ext cx="15453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keep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999232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F172A"/>
                </a:solidFill>
                <a:latin typeface="Aptos"/>
              </a:rPr>
              <a:t>Use-case roster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401568"/>
            <a:ext cx="310896" cy="256032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7008" y="3392424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F172A"/>
                </a:solidFill>
                <a:latin typeface="Aptos"/>
              </a:rPr>
              <a:t>Threat detection / SecOps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92424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64748B"/>
                </a:solidFill>
                <a:latin typeface="Aptos"/>
              </a:rPr>
              <a:t>KEEP · High moat · score 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840480"/>
            <a:ext cx="310896" cy="256032"/>
          </a:xfrm>
          <a:prstGeom prst="roundRect">
            <a:avLst>
              <a:gd name="adj" fmla="val 8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07008" y="3831336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F172A"/>
                </a:solidFill>
                <a:latin typeface="Aptos"/>
              </a:rPr>
              <a:t>Agentic auto-remediation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3831336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64748B"/>
                </a:solidFill>
                <a:latin typeface="Aptos"/>
              </a:rPr>
              <a:t>REPLACE · Low moat · score 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279392"/>
            <a:ext cx="310896" cy="256032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7008" y="4270248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F172A"/>
                </a:solidFill>
                <a:latin typeface="Aptos"/>
              </a:rPr>
              <a:t>Fraud &amp; risk detection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4270248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64748B"/>
                </a:solidFill>
                <a:latin typeface="Aptos"/>
              </a:rPr>
              <a:t>KEEP · High moat · score 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718304"/>
            <a:ext cx="310896" cy="256032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07008" y="470916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F172A"/>
                </a:solidFill>
                <a:latin typeface="Aptos"/>
              </a:rPr>
              <a:t>Compliance &amp; audit 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60" y="4709160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64748B"/>
                </a:solidFill>
                <a:latin typeface="Aptos"/>
              </a:rPr>
              <a:t>KEEP · High moat · score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532120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F172A"/>
                </a:solidFill>
                <a:latin typeface="Aptos"/>
              </a:rPr>
              <a:t>Domain implication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31720" y="5532120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0F172A"/>
                </a:solidFill>
                <a:latin typeface="Aptos"/>
              </a:rPr>
              <a:t>Most security platforms survive when telemetry and audit are the moat; runbooks are more exposed.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49377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USE CASE 22 ·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6766560" cy="621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F172A"/>
                </a:solidFill>
                <a:latin typeface="Aptos"/>
              </a:rPr>
              <a:t>Threat detection / SecOps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475488"/>
            <a:ext cx="2331720" cy="475488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7696" y="621792"/>
            <a:ext cx="19659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Aptos"/>
              </a:rPr>
              <a:t>KEEP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34072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Volume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28432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85632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58784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Repeat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53144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10344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83496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Moat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7856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725912" y="1078992"/>
            <a:ext cx="777240" cy="621792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90504" y="1216151"/>
            <a:ext cx="44805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F59E0B"/>
                </a:solidFill>
                <a:latin typeface="Aptos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90504" y="1609343"/>
            <a:ext cx="448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score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00200"/>
            <a:ext cx="35204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1600200"/>
            <a:ext cx="73152" cy="1234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1746504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What is deployed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2103120"/>
            <a:ext cx="3200400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Google Security Operations deployments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07408" y="1600200"/>
            <a:ext cx="31546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07408" y="1600200"/>
            <a:ext cx="73152" cy="1234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08576" y="1746504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SaaS in the crosshairs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8576" y="2103120"/>
            <a:ext cx="2834640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SIEM tier-1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90688" y="1600200"/>
            <a:ext cx="32461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90688" y="1600200"/>
            <a:ext cx="73152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91856" y="1746504"/>
            <a:ext cx="2926079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Commercial translation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91856" y="2103120"/>
            <a:ext cx="2926079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Agent rides on SIEM; keep record 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32461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ptos"/>
              </a:rPr>
              <a:t>Client narrative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3584448"/>
            <a:ext cx="5394960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0" i="0">
                <a:solidFill>
                  <a:srgbClr val="0F172A"/>
                </a:solidFill>
                <a:latin typeface="Aptos"/>
              </a:rPr>
              <a:t>Keep target: use the agent to improve work while governed data, audit, telemetry, or permissions defend the substrate.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2461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ptos"/>
              </a:rPr>
              <a:t>Why the moat matters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584448"/>
            <a:ext cx="4434840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90" b="0" i="0">
                <a:solidFill>
                  <a:srgbClr val="0F172A"/>
                </a:solidFill>
                <a:latin typeface="Aptos"/>
              </a:rPr>
              <a:t>High moat: the system protects value through governed data, audit, permissions, telemetry, or regulatory context.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983480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212080"/>
            <a:ext cx="99669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F172A"/>
                </a:solidFill>
                <a:latin typeface="Aptos"/>
              </a:rPr>
              <a:t>Proof: Google Security Operations deployments  |  SaaS affected: SIEM tier-1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client-ready reviewed draft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40 / 60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49377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USE CASE 23 ·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6766560" cy="621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F172A"/>
                </a:solidFill>
                <a:latin typeface="Aptos"/>
              </a:rPr>
              <a:t>Agentic auto-remediation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475488"/>
            <a:ext cx="2331720" cy="475488"/>
          </a:xfrm>
          <a:prstGeom prst="roundRect">
            <a:avLst>
              <a:gd name="adj" fmla="val 15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7696" y="621792"/>
            <a:ext cx="19659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Aptos"/>
              </a:rPr>
              <a:t>REPLACE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34072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Volume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28432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85632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58784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Repeat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53144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10344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83496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Moat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7856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725912" y="1078992"/>
            <a:ext cx="777240" cy="621792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90504" y="1216151"/>
            <a:ext cx="44805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F59E0B"/>
                </a:solidFill>
                <a:latin typeface="Aptos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90504" y="1609343"/>
            <a:ext cx="448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score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00200"/>
            <a:ext cx="35204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1600200"/>
            <a:ext cx="73152" cy="1234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1746504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What is deployed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2103120"/>
            <a:ext cx="3200400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Security-agent deployments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07408" y="1600200"/>
            <a:ext cx="31546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07408" y="1600200"/>
            <a:ext cx="73152" cy="123444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08576" y="1746504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SaaS in the crosshairs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8576" y="2103120"/>
            <a:ext cx="2834640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SOAR / runbooks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90688" y="1600200"/>
            <a:ext cx="32461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90688" y="1600200"/>
            <a:ext cx="73152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91856" y="1746504"/>
            <a:ext cx="2926079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Commercial translation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91856" y="2103120"/>
            <a:ext cx="2926079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SOAR/runbook seats → agent in policy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32461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ptos"/>
              </a:rPr>
              <a:t>Client narrative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3584448"/>
            <a:ext cx="5394960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0" i="0">
                <a:solidFill>
                  <a:srgbClr val="0F172A"/>
                </a:solidFill>
                <a:latin typeface="Aptos"/>
              </a:rPr>
              <a:t>Replacement target: high-volume workflow layer, weak proprietary data protection, and visible seat or add-on compression.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2461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ptos"/>
              </a:rPr>
              <a:t>Why the moat matters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584448"/>
            <a:ext cx="4434840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90" b="0" i="0">
                <a:solidFill>
                  <a:srgbClr val="0F172A"/>
                </a:solidFill>
                <a:latin typeface="Aptos"/>
              </a:rPr>
              <a:t>Low moat: the agent can reproduce the user-facing workflow without needing a defensible proprietary substrate.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983480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212080"/>
            <a:ext cx="99669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F172A"/>
                </a:solidFill>
                <a:latin typeface="Aptos"/>
              </a:rPr>
              <a:t>Proof: Security-agent deployments  |  SaaS affected: SOAR / runbooks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client-ready reviewed draft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41 / 60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49377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USE CASE 24 ·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6766560" cy="621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F172A"/>
                </a:solidFill>
                <a:latin typeface="Aptos"/>
              </a:rPr>
              <a:t>Fraud &amp; risk detection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475488"/>
            <a:ext cx="2331720" cy="475488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7696" y="621792"/>
            <a:ext cx="19659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Aptos"/>
              </a:rPr>
              <a:t>KEEP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34072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Volume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28432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85632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58784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Repeat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53144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10344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83496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Moat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7856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725912" y="1078992"/>
            <a:ext cx="777240" cy="621792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90504" y="1216151"/>
            <a:ext cx="44805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F59E0B"/>
                </a:solidFill>
                <a:latin typeface="Aptos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90504" y="1609343"/>
            <a:ext cx="448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score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00200"/>
            <a:ext cx="35204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1600200"/>
            <a:ext cx="73152" cy="1234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1746504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What is deployed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2103120"/>
            <a:ext cx="3200400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Citi, Wells Fargo, Commerzbank Bene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07408" y="1600200"/>
            <a:ext cx="31546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07408" y="1600200"/>
            <a:ext cx="73152" cy="1234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08576" y="1746504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SaaS in the crosshairs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8576" y="2103120"/>
            <a:ext cx="2834640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Fraud / risk add-ons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90688" y="1600200"/>
            <a:ext cx="32461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90688" y="1600200"/>
            <a:ext cx="73152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91856" y="1746504"/>
            <a:ext cx="2926079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Commercial translation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91856" y="2103120"/>
            <a:ext cx="2926079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Agent enriches; proprietary data wins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32461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ptos"/>
              </a:rPr>
              <a:t>Client narrative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3584448"/>
            <a:ext cx="5394960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0" i="0">
                <a:solidFill>
                  <a:srgbClr val="0F172A"/>
                </a:solidFill>
                <a:latin typeface="Aptos"/>
              </a:rPr>
              <a:t>Keep target: use the agent to improve work while governed data, audit, telemetry, or permissions defend the substrate.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2461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ptos"/>
              </a:rPr>
              <a:t>Why the moat matters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584448"/>
            <a:ext cx="4434840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90" b="0" i="0">
                <a:solidFill>
                  <a:srgbClr val="0F172A"/>
                </a:solidFill>
                <a:latin typeface="Aptos"/>
              </a:rPr>
              <a:t>High moat: the system protects value through governed data, audit, permissions, telemetry, or regulatory context.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983480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212080"/>
            <a:ext cx="99669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F172A"/>
                </a:solidFill>
                <a:latin typeface="Aptos"/>
              </a:rPr>
              <a:t>Proof: Citi, Wells Fargo, Commerzbank Bene  |  SaaS affected: Fraud / risk add-ons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client-ready reviewed draft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42 / 60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49377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USE CASE 25 ·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6766560" cy="621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F172A"/>
                </a:solidFill>
                <a:latin typeface="Aptos"/>
              </a:rPr>
              <a:t>Compliance &amp; audit 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475488"/>
            <a:ext cx="2331720" cy="475488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7696" y="621792"/>
            <a:ext cx="19659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Aptos"/>
              </a:rPr>
              <a:t>KEEP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34072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Volume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28432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85632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58784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Repeat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53144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10344" y="1143000"/>
            <a:ext cx="987552" cy="493776"/>
          </a:xfrm>
          <a:prstGeom prst="roundRect">
            <a:avLst>
              <a:gd name="adj" fmla="val 12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83496" y="121615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Aptos"/>
              </a:rPr>
              <a:t>Moat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7856" y="1207008"/>
            <a:ext cx="2194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725912" y="1078992"/>
            <a:ext cx="777240" cy="621792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90504" y="1216151"/>
            <a:ext cx="44805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F59E0B"/>
                </a:solidFill>
                <a:latin typeface="Aptos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90504" y="1609343"/>
            <a:ext cx="4480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score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00200"/>
            <a:ext cx="35204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1600200"/>
            <a:ext cx="73152" cy="1234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1746504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What is deployed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2103120"/>
            <a:ext cx="3200400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U.S. FDA, regulated deployments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07408" y="1600200"/>
            <a:ext cx="31546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07408" y="1600200"/>
            <a:ext cx="73152" cy="1234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08576" y="1746504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SaaS in the crosshairs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8576" y="2103120"/>
            <a:ext cx="2834640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GRC tooling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90688" y="1600200"/>
            <a:ext cx="32461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90688" y="1600200"/>
            <a:ext cx="73152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91856" y="1746504"/>
            <a:ext cx="2926079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Commercial translation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91856" y="2103120"/>
            <a:ext cx="2926079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Agent drafts; GRC stays record 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32461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ptos"/>
              </a:rPr>
              <a:t>Client narrative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3584448"/>
            <a:ext cx="5394960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0" i="0">
                <a:solidFill>
                  <a:srgbClr val="0F172A"/>
                </a:solidFill>
                <a:latin typeface="Aptos"/>
              </a:rPr>
              <a:t>Keep target: use the agent to improve work while governed data, audit, telemetry, or permissions defend the substrate.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2461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ptos"/>
              </a:rPr>
              <a:t>Why the moat matters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584448"/>
            <a:ext cx="4434840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90" b="0" i="0">
                <a:solidFill>
                  <a:srgbClr val="0F172A"/>
                </a:solidFill>
                <a:latin typeface="Aptos"/>
              </a:rPr>
              <a:t>High moat: the system protects value through governed data, audit, permissions, telemetry, or regulatory context.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983480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212080"/>
            <a:ext cx="99669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F172A"/>
                </a:solidFill>
                <a:latin typeface="Aptos"/>
              </a:rPr>
              <a:t>Proof: U.S. FDA, regulated deployments  |  SaaS affected: GRC tooling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client-ready reviewed draft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43 / 60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22D3EE"/>
                </a:solidFill>
                <a:latin typeface="Aptos"/>
              </a:rPr>
              <a:t>SECTION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9509760" cy="1353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300" b="1" i="0">
                <a:solidFill>
                  <a:srgbClr val="FFFFFF"/>
                </a:solidFill>
                <a:latin typeface="Aptos"/>
              </a:rPr>
              <a:t>Data Moat Logic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743200"/>
            <a:ext cx="137160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127248"/>
            <a:ext cx="768096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0" i="0">
                <a:solidFill>
                  <a:srgbClr val="E0F7FE"/>
                </a:solidFill>
                <a:latin typeface="Aptos"/>
              </a:rPr>
              <a:t>Data moat is the analytical bridge between use-case evidence and the client-ready recommendation.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Aptos"/>
              </a:rPr>
              <a:t>Agent Replacement Scorecard · client-ready reviewed draft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Aptos"/>
              </a:rPr>
              <a:t>44 / 60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1094415" cy="7680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50" b="1" i="0">
                <a:solidFill>
                  <a:srgbClr val="0F172A"/>
                </a:solidFill>
                <a:latin typeface="Aptos Display"/>
              </a:rPr>
              <a:t>Data moat is the strongest explanatory variable in the scorecard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60704"/>
            <a:ext cx="13258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0" i="0">
                <a:solidFill>
                  <a:srgbClr val="64748B"/>
                </a:solidFill>
                <a:latin typeface="Aptos"/>
              </a:rPr>
              <a:t>Low moat maps to replace; medium moat maps to renegotiate; high moat maps to keep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client-ready reviewed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45 / 60</a:t>
            </a:r>
          </a:p>
        </p:txBody>
      </p:sp>
      <p:pic>
        <p:nvPicPr>
          <p:cNvPr id="9" name="Picture 8" descr="mo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508760"/>
            <a:ext cx="5532120" cy="39527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12280" y="1783080"/>
            <a:ext cx="3931920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80" b="0" i="0">
                <a:solidFill>
                  <a:srgbClr val="0F172A"/>
                </a:solidFill>
                <a:latin typeface="Aptos"/>
              </a:rPr>
              <a:t>•  10 / 10 low-moat rows are replacement candidates.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80" b="0" i="0">
                <a:solidFill>
                  <a:srgbClr val="0F172A"/>
                </a:solidFill>
                <a:latin typeface="Aptos"/>
              </a:rPr>
              <a:t>•  9 / 9 medium-moat rows are renegotiation candidates.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80" b="0" i="0">
                <a:solidFill>
                  <a:srgbClr val="0F172A"/>
                </a:solidFill>
                <a:latin typeface="Aptos"/>
              </a:rPr>
              <a:t>•  6 / 6 high-moat rows are keep candidates.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80" b="0" i="0">
                <a:solidFill>
                  <a:srgbClr val="0F172A"/>
                </a:solidFill>
                <a:latin typeface="Aptos"/>
              </a:rPr>
              <a:t>•  This is a decision heuristic, not market proof.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1094415" cy="7680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50" b="1" i="0">
                <a:solidFill>
                  <a:srgbClr val="0F172A"/>
                </a:solidFill>
                <a:latin typeface="Aptos Display"/>
              </a:rPr>
              <a:t>Low moat: replace the exposed workflow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60704"/>
            <a:ext cx="13258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0" i="0">
                <a:solidFill>
                  <a:srgbClr val="64748B"/>
                </a:solidFill>
                <a:latin typeface="Aptos"/>
              </a:rPr>
              <a:t>The agent can recreate the task without depending on a defensible proprietary substrate.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client-ready reviewed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46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572768"/>
            <a:ext cx="1874519" cy="96012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709928"/>
            <a:ext cx="154533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22D3EE"/>
                </a:solidFill>
                <a:latin typeface="Aptos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103120"/>
            <a:ext cx="15453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use cases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1572768"/>
            <a:ext cx="1874519" cy="96012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4952" y="1709928"/>
            <a:ext cx="154533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E11D48"/>
                </a:solidFill>
                <a:latin typeface="Aptos"/>
              </a:rPr>
              <a:t>REPL.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4952" y="2103120"/>
            <a:ext cx="15453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dominant verdict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2880360"/>
            <a:ext cx="292608" cy="228600"/>
          </a:xfrm>
          <a:prstGeom prst="roundRect">
            <a:avLst>
              <a:gd name="adj" fmla="val 7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2862072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F172A"/>
                </a:solidFill>
                <a:latin typeface="Aptos"/>
              </a:rPr>
              <a:t>Conversational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286207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60" b="0" i="0">
                <a:solidFill>
                  <a:srgbClr val="64748B"/>
                </a:solidFill>
                <a:latin typeface="Aptos"/>
              </a:rPr>
              <a:t>Customer · REPLACE · score 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264408"/>
            <a:ext cx="292608" cy="228600"/>
          </a:xfrm>
          <a:prstGeom prst="roundRect">
            <a:avLst>
              <a:gd name="adj" fmla="val 7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3246120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F172A"/>
                </a:solidFill>
                <a:latin typeface="Aptos"/>
              </a:rPr>
              <a:t>Messaging-channel chatbot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3246120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60" b="0" i="0">
                <a:solidFill>
                  <a:srgbClr val="64748B"/>
                </a:solidFill>
                <a:latin typeface="Aptos"/>
              </a:rPr>
              <a:t>Customer · REPLACE · score 9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648456"/>
            <a:ext cx="292608" cy="228600"/>
          </a:xfrm>
          <a:prstGeom prst="roundRect">
            <a:avLst>
              <a:gd name="adj" fmla="val 7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4440" y="3630168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F172A"/>
                </a:solidFill>
                <a:latin typeface="Aptos"/>
              </a:rPr>
              <a:t>Document AI / extraction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3630168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60" b="0" i="0">
                <a:solidFill>
                  <a:srgbClr val="64748B"/>
                </a:solidFill>
                <a:latin typeface="Aptos"/>
              </a:rPr>
              <a:t>Data · REPLACE · score 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032504"/>
            <a:ext cx="292608" cy="228600"/>
          </a:xfrm>
          <a:prstGeom prst="roundRect">
            <a:avLst>
              <a:gd name="adj" fmla="val 7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4440" y="4014216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F172A"/>
                </a:solidFill>
                <a:latin typeface="Aptos"/>
              </a:rPr>
              <a:t>Agentic auto-remediation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4014216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60" b="0" i="0">
                <a:solidFill>
                  <a:srgbClr val="64748B"/>
                </a:solidFill>
                <a:latin typeface="Aptos"/>
              </a:rPr>
              <a:t>Security · REPLACE · score 9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4416552"/>
            <a:ext cx="292608" cy="228600"/>
          </a:xfrm>
          <a:prstGeom prst="roundRect">
            <a:avLst>
              <a:gd name="adj" fmla="val 7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34440" y="4398264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F172A"/>
                </a:solidFill>
                <a:latin typeface="Aptos"/>
              </a:rPr>
              <a:t>AI shopping / sales consultant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4398264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60" b="0" i="0">
                <a:solidFill>
                  <a:srgbClr val="64748B"/>
                </a:solidFill>
                <a:latin typeface="Aptos"/>
              </a:rPr>
              <a:t>Customer · REPLACE · score 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4800600"/>
            <a:ext cx="292608" cy="228600"/>
          </a:xfrm>
          <a:prstGeom prst="roundRect">
            <a:avLst>
              <a:gd name="adj" fmla="val 7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34440" y="4782312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F172A"/>
                </a:solidFill>
                <a:latin typeface="Aptos"/>
              </a:rPr>
              <a:t>Travel &amp; booking planner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47823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60" b="0" i="0">
                <a:solidFill>
                  <a:srgbClr val="64748B"/>
                </a:solidFill>
                <a:latin typeface="Aptos"/>
              </a:rPr>
              <a:t>Customer · REPLACE · score 8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5184648"/>
            <a:ext cx="292608" cy="228600"/>
          </a:xfrm>
          <a:prstGeom prst="roundRect">
            <a:avLst>
              <a:gd name="adj" fmla="val 7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34440" y="5166360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F172A"/>
                </a:solidFill>
                <a:latin typeface="Aptos"/>
              </a:rPr>
              <a:t>Personalized marketing content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5166360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60" b="0" i="0">
                <a:solidFill>
                  <a:srgbClr val="64748B"/>
                </a:solidFill>
                <a:latin typeface="Aptos"/>
              </a:rPr>
              <a:t>Creative · REPLACE · score 8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5568696"/>
            <a:ext cx="292608" cy="228600"/>
          </a:xfrm>
          <a:prstGeom prst="roundRect">
            <a:avLst>
              <a:gd name="adj" fmla="val 7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34440" y="5550408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F172A"/>
                </a:solidFill>
                <a:latin typeface="Aptos"/>
              </a:rPr>
              <a:t>Doc summarization &amp; drafting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5550408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60" b="0" i="0">
                <a:solidFill>
                  <a:srgbClr val="64748B"/>
                </a:solidFill>
                <a:latin typeface="Aptos"/>
              </a:rPr>
              <a:t>Employee · REPLACE · score 8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5952744"/>
            <a:ext cx="292608" cy="228600"/>
          </a:xfrm>
          <a:prstGeom prst="roundRect">
            <a:avLst>
              <a:gd name="adj" fmla="val 7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34440" y="5934456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F172A"/>
                </a:solidFill>
                <a:latin typeface="Aptos"/>
              </a:rPr>
              <a:t>Ad &amp; creative generation at scale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0" y="5934456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60" b="0" i="0">
                <a:solidFill>
                  <a:srgbClr val="64748B"/>
                </a:solidFill>
                <a:latin typeface="Aptos"/>
              </a:rPr>
              <a:t>Creative · REPLACE · score 8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960" y="6336792"/>
            <a:ext cx="292608" cy="228600"/>
          </a:xfrm>
          <a:prstGeom prst="roundRect">
            <a:avLst>
              <a:gd name="adj" fmla="val 7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34440" y="6318504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F172A"/>
                </a:solidFill>
                <a:latin typeface="Aptos"/>
              </a:rPr>
              <a:t>Legal research &amp; drafting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0" y="6318504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60" b="0" i="0">
                <a:solidFill>
                  <a:srgbClr val="64748B"/>
                </a:solidFill>
                <a:latin typeface="Aptos"/>
              </a:rPr>
              <a:t>Employee · REPLACE · score 7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1094415" cy="7680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50" b="1" i="0">
                <a:solidFill>
                  <a:srgbClr val="0F172A"/>
                </a:solidFill>
                <a:latin typeface="Aptos Display"/>
              </a:rPr>
              <a:t>Medium moat: renegotiate the workflow module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60704"/>
            <a:ext cx="13258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0" i="0">
                <a:solidFill>
                  <a:srgbClr val="64748B"/>
                </a:solidFill>
                <a:latin typeface="Aptos"/>
              </a:rPr>
              <a:t>The platform survives, but agent absorption gives procurement leverage.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client-ready reviewed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47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572768"/>
            <a:ext cx="1874519" cy="96012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709928"/>
            <a:ext cx="154533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22D3EE"/>
                </a:solidFill>
                <a:latin typeface="Aptos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103120"/>
            <a:ext cx="15453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use cases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1572768"/>
            <a:ext cx="1874519" cy="96012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4952" y="1709928"/>
            <a:ext cx="154533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F59E0B"/>
                </a:solidFill>
                <a:latin typeface="Aptos"/>
              </a:rPr>
              <a:t>RENEG.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4952" y="2103120"/>
            <a:ext cx="15453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dominant verdict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2880360"/>
            <a:ext cx="292608" cy="228600"/>
          </a:xfrm>
          <a:prstGeom prst="roundRect">
            <a:avLst>
              <a:gd name="adj" fmla="val 7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2862072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F172A"/>
                </a:solidFill>
                <a:latin typeface="Aptos"/>
              </a:rPr>
              <a:t>Enterprise knowledge 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286207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60" b="0" i="0">
                <a:solidFill>
                  <a:srgbClr val="64748B"/>
                </a:solidFill>
                <a:latin typeface="Aptos"/>
              </a:rPr>
              <a:t>Employee · RENEGOTIATE · score 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264408"/>
            <a:ext cx="292608" cy="228600"/>
          </a:xfrm>
          <a:prstGeom prst="roundRect">
            <a:avLst>
              <a:gd name="adj" fmla="val 7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3246120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F172A"/>
                </a:solidFill>
                <a:latin typeface="Aptos"/>
              </a:rPr>
              <a:t>NL analytics (text-to-SQL)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3246120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60" b="0" i="0">
                <a:solidFill>
                  <a:srgbClr val="64748B"/>
                </a:solidFill>
                <a:latin typeface="Aptos"/>
              </a:rPr>
              <a:t>Data · RENEGOTIATE · score 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648456"/>
            <a:ext cx="292608" cy="228600"/>
          </a:xfrm>
          <a:prstGeom prst="roundRect">
            <a:avLst>
              <a:gd name="adj" fmla="val 7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4440" y="3630168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F172A"/>
                </a:solidFill>
                <a:latin typeface="Aptos"/>
              </a:rPr>
              <a:t>Contact-center agent assist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3630168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60" b="0" i="0">
                <a:solidFill>
                  <a:srgbClr val="64748B"/>
                </a:solidFill>
                <a:latin typeface="Aptos"/>
              </a:rPr>
              <a:t>Employee · RENEGOTIATE · score 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032504"/>
            <a:ext cx="292608" cy="228600"/>
          </a:xfrm>
          <a:prstGeom prst="roundRect">
            <a:avLst>
              <a:gd name="adj" fmla="val 7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4440" y="4014216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F172A"/>
                </a:solidFill>
                <a:latin typeface="Aptos"/>
              </a:rPr>
              <a:t>HR / onboarding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4014216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60" b="0" i="0">
                <a:solidFill>
                  <a:srgbClr val="64748B"/>
                </a:solidFill>
                <a:latin typeface="Aptos"/>
              </a:rPr>
              <a:t>Employee · RENEGOTIATE · score 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4416552"/>
            <a:ext cx="292608" cy="228600"/>
          </a:xfrm>
          <a:prstGeom prst="roundRect">
            <a:avLst>
              <a:gd name="adj" fmla="val 7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34440" y="4398264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F172A"/>
                </a:solidFill>
                <a:latin typeface="Aptos"/>
              </a:rPr>
              <a:t>AI code assistant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4398264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60" b="0" i="0">
                <a:solidFill>
                  <a:srgbClr val="64748B"/>
                </a:solidFill>
                <a:latin typeface="Aptos"/>
              </a:rPr>
              <a:t>Code · RENEGOTIATE · score 7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4800600"/>
            <a:ext cx="292608" cy="228600"/>
          </a:xfrm>
          <a:prstGeom prst="roundRect">
            <a:avLst>
              <a:gd name="adj" fmla="val 7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34440" y="4782312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F172A"/>
                </a:solidFill>
                <a:latin typeface="Aptos"/>
              </a:rPr>
              <a:t>In-product owner assistant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47823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60" b="0" i="0">
                <a:solidFill>
                  <a:srgbClr val="64748B"/>
                </a:solidFill>
                <a:latin typeface="Aptos"/>
              </a:rPr>
              <a:t>Customer · RENEGOTIATE · score 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5184648"/>
            <a:ext cx="292608" cy="228600"/>
          </a:xfrm>
          <a:prstGeom prst="roundRect">
            <a:avLst>
              <a:gd name="adj" fmla="val 7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34440" y="5166360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F172A"/>
                </a:solidFill>
                <a:latin typeface="Aptos"/>
              </a:rPr>
              <a:t>Video generation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5166360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60" b="0" i="0">
                <a:solidFill>
                  <a:srgbClr val="64748B"/>
                </a:solidFill>
                <a:latin typeface="Aptos"/>
              </a:rPr>
              <a:t>Creative · RENEGOTIATE · score 6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5568696"/>
            <a:ext cx="292608" cy="228600"/>
          </a:xfrm>
          <a:prstGeom prst="roundRect">
            <a:avLst>
              <a:gd name="adj" fmla="val 7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34440" y="5550408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F172A"/>
                </a:solidFill>
                <a:latin typeface="Aptos"/>
              </a:rPr>
              <a:t>App build / migration automation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5550408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60" b="0" i="0">
                <a:solidFill>
                  <a:srgbClr val="64748B"/>
                </a:solidFill>
                <a:latin typeface="Aptos"/>
              </a:rPr>
              <a:t>Code · RENEGOTIATE · score 6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5952744"/>
            <a:ext cx="292608" cy="228600"/>
          </a:xfrm>
          <a:prstGeom prst="roundRect">
            <a:avLst>
              <a:gd name="adj" fmla="val 7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34440" y="5934456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F172A"/>
                </a:solidFill>
                <a:latin typeface="Aptos"/>
              </a:rPr>
              <a:t>Research &amp; insight agent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0" y="5934456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60" b="0" i="0">
                <a:solidFill>
                  <a:srgbClr val="64748B"/>
                </a:solidFill>
                <a:latin typeface="Aptos"/>
              </a:rPr>
              <a:t>Data · RENEGOTIATE · score 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1094415" cy="7680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50" b="1" i="0">
                <a:solidFill>
                  <a:srgbClr val="0F172A"/>
                </a:solidFill>
                <a:latin typeface="Aptos Display"/>
              </a:rPr>
              <a:t>High moat: keep the governed substrate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60704"/>
            <a:ext cx="13258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0" i="0">
                <a:solidFill>
                  <a:srgbClr val="64748B"/>
                </a:solidFill>
                <a:latin typeface="Aptos"/>
              </a:rPr>
              <a:t>The durable value is records, telemetry, permissions, audit, or regulatory context.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client-ready reviewed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48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572768"/>
            <a:ext cx="1874519" cy="96012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709928"/>
            <a:ext cx="154533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22D3EE"/>
                </a:solidFill>
                <a:latin typeface="Aptos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103120"/>
            <a:ext cx="15453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use cases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1572768"/>
            <a:ext cx="1874519" cy="96012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4952" y="1709928"/>
            <a:ext cx="154533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10B981"/>
                </a:solidFill>
                <a:latin typeface="Aptos"/>
              </a:rPr>
              <a:t>KEEP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4952" y="2103120"/>
            <a:ext cx="15453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dominant verdict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2880360"/>
            <a:ext cx="292608" cy="228600"/>
          </a:xfrm>
          <a:prstGeom prst="roundRect">
            <a:avLst>
              <a:gd name="adj" fmla="val 7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2862072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F172A"/>
                </a:solidFill>
                <a:latin typeface="Aptos"/>
              </a:rPr>
              <a:t>Fraud &amp; risk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286207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60" b="0" i="0">
                <a:solidFill>
                  <a:srgbClr val="64748B"/>
                </a:solidFill>
                <a:latin typeface="Aptos"/>
              </a:rPr>
              <a:t>Security · KEEP · score 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264408"/>
            <a:ext cx="292608" cy="228600"/>
          </a:xfrm>
          <a:prstGeom prst="roundRect">
            <a:avLst>
              <a:gd name="adj" fmla="val 7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3246120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F172A"/>
                </a:solidFill>
                <a:latin typeface="Aptos"/>
              </a:rPr>
              <a:t>Threat detection / SecOps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3246120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60" b="0" i="0">
                <a:solidFill>
                  <a:srgbClr val="64748B"/>
                </a:solidFill>
                <a:latin typeface="Aptos"/>
              </a:rPr>
              <a:t>Security · KEEP · score 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648456"/>
            <a:ext cx="292608" cy="228600"/>
          </a:xfrm>
          <a:prstGeom prst="roundRect">
            <a:avLst>
              <a:gd name="adj" fmla="val 7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4440" y="3630168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F172A"/>
                </a:solidFill>
                <a:latin typeface="Aptos"/>
              </a:rPr>
              <a:t>Forecasting / predictive 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3630168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60" b="0" i="0">
                <a:solidFill>
                  <a:srgbClr val="64748B"/>
                </a:solidFill>
                <a:latin typeface="Aptos"/>
              </a:rPr>
              <a:t>Data · KEEP · score 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032504"/>
            <a:ext cx="292608" cy="228600"/>
          </a:xfrm>
          <a:prstGeom prst="roundRect">
            <a:avLst>
              <a:gd name="adj" fmla="val 7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4440" y="4014216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F172A"/>
                </a:solidFill>
                <a:latin typeface="Aptos"/>
              </a:rPr>
              <a:t>Brand / 3D asset generation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4014216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60" b="0" i="0">
                <a:solidFill>
                  <a:srgbClr val="64748B"/>
                </a:solidFill>
                <a:latin typeface="Aptos"/>
              </a:rPr>
              <a:t>Creative · KEEP · score 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4416552"/>
            <a:ext cx="292608" cy="228600"/>
          </a:xfrm>
          <a:prstGeom prst="roundRect">
            <a:avLst>
              <a:gd name="adj" fmla="val 7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34440" y="4398264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F172A"/>
                </a:solidFill>
                <a:latin typeface="Aptos"/>
              </a:rPr>
              <a:t>Compliance &amp; audit 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4398264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60" b="0" i="0">
                <a:solidFill>
                  <a:srgbClr val="64748B"/>
                </a:solidFill>
                <a:latin typeface="Aptos"/>
              </a:rPr>
              <a:t>Security · KEEP · score 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4800600"/>
            <a:ext cx="292608" cy="228600"/>
          </a:xfrm>
          <a:prstGeom prst="roundRect">
            <a:avLst>
              <a:gd name="adj" fmla="val 7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34440" y="4782312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F172A"/>
                </a:solidFill>
                <a:latin typeface="Aptos"/>
              </a:rPr>
              <a:t>Legacy-IT modernization (NL→SAP)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47823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60" b="0" i="0">
                <a:solidFill>
                  <a:srgbClr val="64748B"/>
                </a:solidFill>
                <a:latin typeface="Aptos"/>
              </a:rPr>
              <a:t>Code · KEEP · score 4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1094415" cy="7680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50" b="1" i="0">
                <a:solidFill>
                  <a:srgbClr val="0F172A"/>
                </a:solidFill>
                <a:latin typeface="Aptos Display"/>
              </a:rPr>
              <a:t>Moat signals to test in client discovery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60704"/>
            <a:ext cx="13258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0" i="0">
                <a:solidFill>
                  <a:srgbClr val="64748B"/>
                </a:solidFill>
                <a:latin typeface="Aptos"/>
              </a:rPr>
              <a:t>These questions turn the scorecard into a workshop instrument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client-ready reviewed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49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00200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691640"/>
            <a:ext cx="164592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1627632"/>
            <a:ext cx="969264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0F172A"/>
                </a:solidFill>
                <a:latin typeface="Aptos"/>
              </a:rPr>
              <a:t>Where does the workflow read or write the system of record?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258568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350008"/>
            <a:ext cx="164592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285999"/>
            <a:ext cx="969264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0F172A"/>
                </a:solidFill>
                <a:latin typeface="Aptos"/>
              </a:rPr>
              <a:t>Which permissions, audit trails, or regulated records must survive?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916935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008375"/>
            <a:ext cx="164592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2944367"/>
            <a:ext cx="969264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0F172A"/>
                </a:solidFill>
                <a:latin typeface="Aptos"/>
              </a:rPr>
              <a:t>Does the workflow depend on proprietary telemetry or mostly public/common data?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575303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3666743"/>
            <a:ext cx="164592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1872" y="3602735"/>
            <a:ext cx="969264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0F172A"/>
                </a:solidFill>
                <a:latin typeface="Aptos"/>
              </a:rPr>
              <a:t>Can the agent execute safely in parallel before cutover?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233671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4325111"/>
            <a:ext cx="164592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61872" y="4261103"/>
            <a:ext cx="969264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0F172A"/>
                </a:solidFill>
                <a:latin typeface="Aptos"/>
              </a:rPr>
              <a:t>Which vendor module is priced by seats but now behaves like an automation layer?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892039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4983479"/>
            <a:ext cx="164592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61872" y="4919471"/>
            <a:ext cx="969264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0F172A"/>
                </a:solidFill>
                <a:latin typeface="Aptos"/>
              </a:rPr>
              <a:t>What would procurement renegotiate if the agent handles 30-70% of the task?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22D3EE"/>
                </a:solidFill>
                <a:latin typeface="Aptos"/>
              </a:rPr>
              <a:t>SECTION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9509760" cy="1353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300" b="1" i="0">
                <a:solidFill>
                  <a:srgbClr val="FFFFFF"/>
                </a:solidFill>
                <a:latin typeface="Aptos"/>
              </a:rPr>
              <a:t>Client Narrative &amp; Commercial Motion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743200"/>
            <a:ext cx="137160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127248"/>
            <a:ext cx="768096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0" i="0">
                <a:solidFill>
                  <a:srgbClr val="E0F7FE"/>
                </a:solidFill>
                <a:latin typeface="Aptos"/>
              </a:rPr>
              <a:t>Only after the use cases and moats are clear should the deck move into recommendation, execution, and AEO.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Aptos"/>
              </a:rPr>
              <a:t>Agent Replacement Scorecard · client-ready reviewed draft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Aptos"/>
              </a:rPr>
              <a:t>50 / 60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1094415" cy="7680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50" b="1" i="0">
                <a:solidFill>
                  <a:srgbClr val="0F172A"/>
                </a:solidFill>
                <a:latin typeface="Aptos Display"/>
              </a:rPr>
              <a:t>The client-ready narrative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60704"/>
            <a:ext cx="13258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0" i="0">
                <a:solidFill>
                  <a:srgbClr val="64748B"/>
                </a:solidFill>
                <a:latin typeface="Aptos"/>
              </a:rPr>
              <a:t>From evidence to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client-ready reviewed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51 / 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91640"/>
            <a:ext cx="9875520" cy="2331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0" i="0">
                <a:solidFill>
                  <a:srgbClr val="0F172A"/>
                </a:solidFill>
                <a:latin typeface="Aptos"/>
              </a:rPr>
              <a:t>•  Agents first compress seats, add-ons, runbooks, and scripted task tools.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320" b="0" i="0">
                <a:solidFill>
                  <a:srgbClr val="0F172A"/>
                </a:solidFill>
                <a:latin typeface="Aptos"/>
              </a:rPr>
              <a:t>•  Platforms with proprietary records, permissions, telemetry, and audit survive.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320" b="0" i="0">
                <a:solidFill>
                  <a:srgbClr val="0F172A"/>
                </a:solidFill>
                <a:latin typeface="Aptos"/>
              </a:rPr>
              <a:t>•  The strategic move is to separate replace, renegotiate, and keep at workflow level.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320" b="0" i="0">
                <a:solidFill>
                  <a:srgbClr val="0F172A"/>
                </a:solidFill>
                <a:latin typeface="Aptos"/>
              </a:rPr>
              <a:t>•  Use the scorecard to target pilots, renewals, and AEO pages with evidence.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800600"/>
            <a:ext cx="9784080" cy="658368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5029200"/>
            <a:ext cx="923544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20" b="1" i="0">
                <a:solidFill>
                  <a:srgbClr val="FFFFFF"/>
                </a:solidFill>
                <a:latin typeface="Aptos"/>
              </a:rPr>
              <a:t>Client message: replace exposed workflow layers; renegotiate assist modules; keep governed substrates.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1094415" cy="7680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50" b="1" i="0">
                <a:solidFill>
                  <a:srgbClr val="0F172A"/>
                </a:solidFill>
                <a:latin typeface="Aptos Display"/>
              </a:rPr>
              <a:t>Replace playbook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60704"/>
            <a:ext cx="13258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0" i="0">
                <a:solidFill>
                  <a:srgbClr val="64748B"/>
                </a:solidFill>
                <a:latin typeface="Aptos"/>
              </a:rPr>
              <a:t>Replace cases need a distinct commercial motion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client-ready reviewed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52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00200"/>
            <a:ext cx="2057400" cy="566928"/>
          </a:xfrm>
          <a:prstGeom prst="roundRect">
            <a:avLst>
              <a:gd name="adj" fmla="val 16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783080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REPLACE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14600"/>
            <a:ext cx="4892040" cy="2103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0F172A"/>
                </a:solidFill>
                <a:latin typeface="Aptos"/>
              </a:rPr>
              <a:t>•  Target high-volume, low-moat workflows.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600" b="0" i="0">
                <a:solidFill>
                  <a:srgbClr val="0F172A"/>
                </a:solidFill>
                <a:latin typeface="Aptos"/>
              </a:rPr>
              <a:t>•  Pilot against real historical tasks.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600" b="0" i="0">
                <a:solidFill>
                  <a:srgbClr val="0F172A"/>
                </a:solidFill>
                <a:latin typeface="Aptos"/>
              </a:rPr>
              <a:t>•  Measure seat, add-on, or BPO compression.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600" b="0" i="0">
                <a:solidFill>
                  <a:srgbClr val="0F172A"/>
                </a:solidFill>
                <a:latin typeface="Aptos"/>
              </a:rPr>
              <a:t>•  Keep the system of record where needed; remove the workflow layer.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828800"/>
            <a:ext cx="91440" cy="38404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828800"/>
            <a:ext cx="306324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F172A"/>
                </a:solidFill>
                <a:latin typeface="Aptos"/>
              </a:rPr>
              <a:t>Conversational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00032" y="1828800"/>
            <a:ext cx="150876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30" b="0" i="0">
                <a:solidFill>
                  <a:srgbClr val="64748B"/>
                </a:solidFill>
                <a:latin typeface="Aptos"/>
              </a:rPr>
              <a:t>Customer · score 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331720"/>
            <a:ext cx="91440" cy="38404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2331720"/>
            <a:ext cx="306324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F172A"/>
                </a:solidFill>
                <a:latin typeface="Aptos"/>
              </a:rPr>
              <a:t>Messaging-channel chatbot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00032" y="2331720"/>
            <a:ext cx="150876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30" b="0" i="0">
                <a:solidFill>
                  <a:srgbClr val="64748B"/>
                </a:solidFill>
                <a:latin typeface="Aptos"/>
              </a:rPr>
              <a:t>Customer · score 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2834639"/>
            <a:ext cx="91440" cy="38404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2834639"/>
            <a:ext cx="306324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F172A"/>
                </a:solidFill>
                <a:latin typeface="Aptos"/>
              </a:rPr>
              <a:t>Document AI / extraction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00032" y="2834639"/>
            <a:ext cx="150876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30" b="0" i="0">
                <a:solidFill>
                  <a:srgbClr val="64748B"/>
                </a:solidFill>
                <a:latin typeface="Aptos"/>
              </a:rPr>
              <a:t>Data · score 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337559"/>
            <a:ext cx="91440" cy="38404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3337559"/>
            <a:ext cx="306324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F172A"/>
                </a:solidFill>
                <a:latin typeface="Aptos"/>
              </a:rPr>
              <a:t>Agentic auto-remediation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0032" y="3337559"/>
            <a:ext cx="150876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30" b="0" i="0">
                <a:solidFill>
                  <a:srgbClr val="64748B"/>
                </a:solidFill>
                <a:latin typeface="Aptos"/>
              </a:rPr>
              <a:t>Security · score 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840479"/>
            <a:ext cx="91440" cy="38404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82512" y="3840479"/>
            <a:ext cx="306324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F172A"/>
                </a:solidFill>
                <a:latin typeface="Aptos"/>
              </a:rPr>
              <a:t>AI shopping / sales consultant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00032" y="3840479"/>
            <a:ext cx="150876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30" b="0" i="0">
                <a:solidFill>
                  <a:srgbClr val="64748B"/>
                </a:solidFill>
                <a:latin typeface="Aptos"/>
              </a:rPr>
              <a:t>Customer · score 8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1094415" cy="7680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50" b="1" i="0">
                <a:solidFill>
                  <a:srgbClr val="0F172A"/>
                </a:solidFill>
                <a:latin typeface="Aptos Display"/>
              </a:rPr>
              <a:t>Renegotiate playbook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60704"/>
            <a:ext cx="13258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0" i="0">
                <a:solidFill>
                  <a:srgbClr val="64748B"/>
                </a:solidFill>
                <a:latin typeface="Aptos"/>
              </a:rPr>
              <a:t>Renegotiate cases need a distinct commercial motion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client-ready reviewed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53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00200"/>
            <a:ext cx="2057400" cy="566928"/>
          </a:xfrm>
          <a:prstGeom prst="roundRect">
            <a:avLst>
              <a:gd name="adj" fmla="val 1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783080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RENEGOTIATE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14600"/>
            <a:ext cx="4892040" cy="2103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0F172A"/>
                </a:solidFill>
                <a:latin typeface="Aptos"/>
              </a:rPr>
              <a:t>•  Keep the platform, challenge the module.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600" b="0" i="0">
                <a:solidFill>
                  <a:srgbClr val="0F172A"/>
                </a:solidFill>
                <a:latin typeface="Aptos"/>
              </a:rPr>
              <a:t>•  Use agent capability as renewal leverage.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600" b="0" i="0">
                <a:solidFill>
                  <a:srgbClr val="0F172A"/>
                </a:solidFill>
                <a:latin typeface="Aptos"/>
              </a:rPr>
              <a:t>•  Quantify assist-layer overlap.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600" b="0" i="0">
                <a:solidFill>
                  <a:srgbClr val="0F172A"/>
                </a:solidFill>
                <a:latin typeface="Aptos"/>
              </a:rPr>
              <a:t>•  Ask vendors to reprice around value, not seats.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828800"/>
            <a:ext cx="91440" cy="3840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828800"/>
            <a:ext cx="306324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F172A"/>
                </a:solidFill>
                <a:latin typeface="Aptos"/>
              </a:rPr>
              <a:t>Enterprise knowledge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00032" y="1828800"/>
            <a:ext cx="150876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30" b="0" i="0">
                <a:solidFill>
                  <a:srgbClr val="64748B"/>
                </a:solidFill>
                <a:latin typeface="Aptos"/>
              </a:rPr>
              <a:t>Employee · score 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331720"/>
            <a:ext cx="91440" cy="3840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2331720"/>
            <a:ext cx="306324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F172A"/>
                </a:solidFill>
                <a:latin typeface="Aptos"/>
              </a:rPr>
              <a:t>NL analytics (text-to-SQL)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00032" y="2331720"/>
            <a:ext cx="150876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30" b="0" i="0">
                <a:solidFill>
                  <a:srgbClr val="64748B"/>
                </a:solidFill>
                <a:latin typeface="Aptos"/>
              </a:rPr>
              <a:t>Data · score 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2834639"/>
            <a:ext cx="91440" cy="3840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2834639"/>
            <a:ext cx="306324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F172A"/>
                </a:solidFill>
                <a:latin typeface="Aptos"/>
              </a:rPr>
              <a:t>Contact-center agent assist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00032" y="2834639"/>
            <a:ext cx="150876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30" b="0" i="0">
                <a:solidFill>
                  <a:srgbClr val="64748B"/>
                </a:solidFill>
                <a:latin typeface="Aptos"/>
              </a:rPr>
              <a:t>Employee · score 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337559"/>
            <a:ext cx="91440" cy="3840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3337559"/>
            <a:ext cx="306324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F172A"/>
                </a:solidFill>
                <a:latin typeface="Aptos"/>
              </a:rPr>
              <a:t>HR / onboarding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0032" y="3337559"/>
            <a:ext cx="150876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30" b="0" i="0">
                <a:solidFill>
                  <a:srgbClr val="64748B"/>
                </a:solidFill>
                <a:latin typeface="Aptos"/>
              </a:rPr>
              <a:t>Employee · score 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840479"/>
            <a:ext cx="91440" cy="3840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82512" y="3840479"/>
            <a:ext cx="306324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F172A"/>
                </a:solidFill>
                <a:latin typeface="Aptos"/>
              </a:rPr>
              <a:t>AI code assistant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00032" y="3840479"/>
            <a:ext cx="150876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30" b="0" i="0">
                <a:solidFill>
                  <a:srgbClr val="64748B"/>
                </a:solidFill>
                <a:latin typeface="Aptos"/>
              </a:rPr>
              <a:t>Code · score 7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1094415" cy="7680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50" b="1" i="0">
                <a:solidFill>
                  <a:srgbClr val="0F172A"/>
                </a:solidFill>
                <a:latin typeface="Aptos Display"/>
              </a:rPr>
              <a:t>Keep playbook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60704"/>
            <a:ext cx="13258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0" i="0">
                <a:solidFill>
                  <a:srgbClr val="64748B"/>
                </a:solidFill>
                <a:latin typeface="Aptos"/>
              </a:rPr>
              <a:t>Keep cases need a distinct commercial motion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client-ready reviewed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54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00200"/>
            <a:ext cx="2057400" cy="566928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783080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ptos"/>
              </a:rPr>
              <a:t>KEEP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14600"/>
            <a:ext cx="4892040" cy="2103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0F172A"/>
                </a:solidFill>
                <a:latin typeface="Aptos"/>
              </a:rPr>
              <a:t>•  Protect governed data and audit trails.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600" b="0" i="0">
                <a:solidFill>
                  <a:srgbClr val="0F172A"/>
                </a:solidFill>
                <a:latin typeface="Aptos"/>
              </a:rPr>
              <a:t>•  Use agents as workflow accelerators.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600" b="0" i="0">
                <a:solidFill>
                  <a:srgbClr val="0F172A"/>
                </a:solidFill>
                <a:latin typeface="Aptos"/>
              </a:rPr>
              <a:t>•  Avoid risky replacement claims.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600" b="0" i="0">
                <a:solidFill>
                  <a:srgbClr val="0F172A"/>
                </a:solidFill>
                <a:latin typeface="Aptos"/>
              </a:rPr>
              <a:t>•  Make the moat visible to buyers and executives.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828800"/>
            <a:ext cx="91440" cy="3840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828800"/>
            <a:ext cx="306324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F172A"/>
                </a:solidFill>
                <a:latin typeface="Aptos"/>
              </a:rPr>
              <a:t>Fraud &amp; risk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00032" y="1828800"/>
            <a:ext cx="150876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30" b="0" i="0">
                <a:solidFill>
                  <a:srgbClr val="64748B"/>
                </a:solidFill>
                <a:latin typeface="Aptos"/>
              </a:rPr>
              <a:t>Security · score 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331720"/>
            <a:ext cx="91440" cy="3840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2331720"/>
            <a:ext cx="306324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F172A"/>
                </a:solidFill>
                <a:latin typeface="Aptos"/>
              </a:rPr>
              <a:t>Threat detection / SecOps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00032" y="2331720"/>
            <a:ext cx="150876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30" b="0" i="0">
                <a:solidFill>
                  <a:srgbClr val="64748B"/>
                </a:solidFill>
                <a:latin typeface="Aptos"/>
              </a:rPr>
              <a:t>Security · score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2834639"/>
            <a:ext cx="91440" cy="3840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2834639"/>
            <a:ext cx="306324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F172A"/>
                </a:solidFill>
                <a:latin typeface="Aptos"/>
              </a:rPr>
              <a:t>Forecasting / predictive ops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00032" y="2834639"/>
            <a:ext cx="150876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30" b="0" i="0">
                <a:solidFill>
                  <a:srgbClr val="64748B"/>
                </a:solidFill>
                <a:latin typeface="Aptos"/>
              </a:rPr>
              <a:t>Data · score 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337559"/>
            <a:ext cx="91440" cy="3840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3337559"/>
            <a:ext cx="306324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F172A"/>
                </a:solidFill>
                <a:latin typeface="Aptos"/>
              </a:rPr>
              <a:t>Brand / 3D asset generation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0032" y="3337559"/>
            <a:ext cx="150876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30" b="0" i="0">
                <a:solidFill>
                  <a:srgbClr val="64748B"/>
                </a:solidFill>
                <a:latin typeface="Aptos"/>
              </a:rPr>
              <a:t>Creative · score 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840479"/>
            <a:ext cx="91440" cy="3840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82512" y="3840479"/>
            <a:ext cx="306324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F172A"/>
                </a:solidFill>
                <a:latin typeface="Aptos"/>
              </a:rPr>
              <a:t>Compliance &amp; audit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00032" y="3840479"/>
            <a:ext cx="150876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30" b="0" i="0">
                <a:solidFill>
                  <a:srgbClr val="64748B"/>
                </a:solidFill>
                <a:latin typeface="Aptos"/>
              </a:rPr>
              <a:t>Security · score 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22D3EE"/>
                </a:solidFill>
                <a:latin typeface="Aptos"/>
              </a:rPr>
              <a:t>SECTION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9509760" cy="1353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300" b="1" i="0">
                <a:solidFill>
                  <a:srgbClr val="FFFFFF"/>
                </a:solidFill>
                <a:latin typeface="Aptos"/>
              </a:rPr>
              <a:t>AEO &amp; Productization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743200"/>
            <a:ext cx="137160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127248"/>
            <a:ext cx="768096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0" i="0">
                <a:solidFill>
                  <a:srgbClr val="E0F7FE"/>
                </a:solidFill>
                <a:latin typeface="Aptos"/>
              </a:rPr>
              <a:t>The AEO plan should publish the scorecard logic and buyer questions, not generic AI claims.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Aptos"/>
              </a:rPr>
              <a:t>Agent Replacement Scorecard · client-ready reviewed draft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Aptos"/>
              </a:rPr>
              <a:t>55 / 60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1094415" cy="7680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50" b="1" i="0">
                <a:solidFill>
                  <a:srgbClr val="0F172A"/>
                </a:solidFill>
                <a:latin typeface="Aptos Display"/>
              </a:rPr>
              <a:t>AEO pages should be generated from the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60704"/>
            <a:ext cx="13258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0" i="0">
                <a:solidFill>
                  <a:srgbClr val="64748B"/>
                </a:solidFill>
                <a:latin typeface="Aptos"/>
              </a:rPr>
              <a:t>Each page answers a buyer question with a scorecard-backed claim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client-ready reviewed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56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00200"/>
            <a:ext cx="283464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600200"/>
            <a:ext cx="73152" cy="6217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746504"/>
            <a:ext cx="25146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Replacement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103120"/>
            <a:ext cx="2514600" cy="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Which SaaS seats can AI agents replace first?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1728216"/>
            <a:ext cx="621792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F172A"/>
                </a:solidFill>
                <a:latin typeface="Aptos"/>
              </a:rPr>
              <a:t>Use low-moat replacement cases.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377440"/>
            <a:ext cx="283464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377440"/>
            <a:ext cx="73152" cy="6217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2523744"/>
            <a:ext cx="25146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Renewal leverage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2880360"/>
            <a:ext cx="2514600" cy="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Which add-ons should be renegotiated?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2505456"/>
            <a:ext cx="621792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F172A"/>
                </a:solidFill>
                <a:latin typeface="Aptos"/>
              </a:rPr>
              <a:t>Use medium-moat renegotiate cases.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154680"/>
            <a:ext cx="283464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154680"/>
            <a:ext cx="73152" cy="6217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" y="3300984"/>
            <a:ext cx="25146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Moat defense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3657600"/>
            <a:ext cx="2514600" cy="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Which platforms survive agent adoption?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39" y="3282696"/>
            <a:ext cx="621792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F172A"/>
                </a:solidFill>
                <a:latin typeface="Aptos"/>
              </a:rPr>
              <a:t>Use high-moat keep cases.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931920"/>
            <a:ext cx="283464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3931920"/>
            <a:ext cx="73152" cy="6217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" y="4078224"/>
            <a:ext cx="25146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Pilot design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" y="4434840"/>
            <a:ext cx="2514600" cy="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How should we test replacement safely?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7639" y="4059935"/>
            <a:ext cx="621792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F172A"/>
                </a:solidFill>
                <a:latin typeface="Aptos"/>
              </a:rPr>
              <a:t>Use volume + determinism.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4709159"/>
            <a:ext cx="283464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" y="4709159"/>
            <a:ext cx="73152" cy="6217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8408" y="4855464"/>
            <a:ext cx="25146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Procurement script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" y="5212079"/>
            <a:ext cx="2514600" cy="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What should we ask vendors at renewal?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77639" y="4837175"/>
            <a:ext cx="621792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F172A"/>
                </a:solidFill>
                <a:latin typeface="Aptos"/>
              </a:rPr>
              <a:t>Use the commercial playbooks.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1094415" cy="7680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50" b="1" i="0">
                <a:solidFill>
                  <a:srgbClr val="0F172A"/>
                </a:solidFill>
                <a:latin typeface="Aptos Display"/>
              </a:rPr>
              <a:t>30-day evidence sprint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60704"/>
            <a:ext cx="13258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0" i="0">
                <a:solidFill>
                  <a:srgbClr val="64748B"/>
                </a:solidFill>
                <a:latin typeface="Aptos"/>
              </a:rPr>
              <a:t>The sprint turns a strong v1 diagnostic into stronger client proof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client-ready reviewed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57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00200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691640"/>
            <a:ext cx="164592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1627632"/>
            <a:ext cx="969264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0F172A"/>
                </a:solidFill>
                <a:latin typeface="Aptos"/>
              </a:rPr>
              <a:t>Expand the dataset from 25 to 75+ scored use cases.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258568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350008"/>
            <a:ext cx="164592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285999"/>
            <a:ext cx="969264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0F172A"/>
                </a:solidFill>
                <a:latin typeface="Aptos"/>
              </a:rPr>
              <a:t>Add source URLs and proof-status labels to every deployed example.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916935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008375"/>
            <a:ext cx="164592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2944367"/>
            <a:ext cx="969264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0F172A"/>
                </a:solidFill>
                <a:latin typeface="Aptos"/>
              </a:rPr>
              <a:t>Run two independent reviewers against volume, determinism, and moat scores.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575303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3666743"/>
            <a:ext cx="164592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1872" y="3602735"/>
            <a:ext cx="969264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0F172A"/>
                </a:solidFill>
                <a:latin typeface="Aptos"/>
              </a:rPr>
              <a:t>Attach approximate seat/module economics where the client has spend data.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233671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4325111"/>
            <a:ext cx="164592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61872" y="4261103"/>
            <a:ext cx="969264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0F172A"/>
                </a:solidFill>
                <a:latin typeface="Aptos"/>
              </a:rPr>
              <a:t>Publish five AEO pages grounded in the scorecard model.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892039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4983479"/>
            <a:ext cx="164592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61872" y="4919471"/>
            <a:ext cx="969264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0F172A"/>
                </a:solidFill>
                <a:latin typeface="Aptos"/>
              </a:rPr>
              <a:t>Rerun the deck after new evidence and mark changed verdicts explicitly.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1094415" cy="7680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50" b="1" i="0">
                <a:solidFill>
                  <a:srgbClr val="0F172A"/>
                </a:solidFill>
                <a:latin typeface="Aptos Display"/>
              </a:rPr>
              <a:t>Decision ask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60704"/>
            <a:ext cx="13258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0" i="0">
                <a:solidFill>
                  <a:srgbClr val="64748B"/>
                </a:solidFill>
                <a:latin typeface="Aptos"/>
              </a:rPr>
              <a:t>Launch the diagnostic and harden the evidence base in parallel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client-ready reviewed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58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737360"/>
            <a:ext cx="2057400" cy="105156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874519"/>
            <a:ext cx="172821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F59E0B"/>
                </a:solidFill>
                <a:latin typeface="Aptos"/>
              </a:rPr>
              <a:t>v1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267712"/>
            <a:ext cx="172821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diagnostic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60320"/>
            <a:ext cx="172821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0" i="0">
                <a:solidFill>
                  <a:srgbClr val="E0F7FE"/>
                </a:solidFill>
                <a:latin typeface="Aptos"/>
              </a:rPr>
              <a:t>use with clients now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4679" y="1737360"/>
            <a:ext cx="2057400" cy="105156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9272" y="1874519"/>
            <a:ext cx="172821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22D3EE"/>
                </a:solidFill>
                <a:latin typeface="Aptos"/>
              </a:rPr>
              <a:t>75+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9272" y="2267712"/>
            <a:ext cx="172821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rows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9272" y="2560320"/>
            <a:ext cx="172821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0" i="0">
                <a:solidFill>
                  <a:srgbClr val="E0F7FE"/>
                </a:solidFill>
                <a:latin typeface="Aptos"/>
              </a:rPr>
              <a:t>next evidence target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0" y="1737360"/>
            <a:ext cx="2057400" cy="105156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50992" y="1874519"/>
            <a:ext cx="172821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22D3EE"/>
                </a:solidFill>
                <a:latin typeface="Aptos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50992" y="2267712"/>
            <a:ext cx="172821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AEO pages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50992" y="2560320"/>
            <a:ext cx="172821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0" i="0">
                <a:solidFill>
                  <a:srgbClr val="E0F7FE"/>
                </a:solidFill>
                <a:latin typeface="Aptos"/>
              </a:rPr>
              <a:t>publish model-derived answers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19" y="1737360"/>
            <a:ext cx="2057400" cy="105156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82711" y="1874519"/>
            <a:ext cx="172821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22D3EE"/>
                </a:solidFill>
                <a:latin typeface="Aptos"/>
              </a:rPr>
              <a:t>2x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82711" y="2267712"/>
            <a:ext cx="172821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Aptos"/>
              </a:rPr>
              <a:t>reviewers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82711" y="2560320"/>
            <a:ext cx="172821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0" i="0">
                <a:solidFill>
                  <a:srgbClr val="E0F7FE"/>
                </a:solidFill>
                <a:latin typeface="Aptos"/>
              </a:rPr>
              <a:t>score reliability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429000"/>
            <a:ext cx="9509760" cy="1325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0F172A"/>
                </a:solidFill>
                <a:latin typeface="Aptos"/>
              </a:rPr>
              <a:t>•  Approve the client-ready scorecard as a reviewed v2 narrative.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500" b="0" i="0">
                <a:solidFill>
                  <a:srgbClr val="0F172A"/>
                </a:solidFill>
                <a:latin typeface="Aptos"/>
              </a:rPr>
              <a:t>•  Use it in discovery where the buyer has SaaS renewal, automation, or AI transformation pressure.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500" b="0" i="0">
                <a:solidFill>
                  <a:srgbClr val="0F172A"/>
                </a:solidFill>
                <a:latin typeface="Aptos"/>
              </a:rPr>
              <a:t>•  Do not position it as statistical market proof until the evidence sprint is complete.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1094415" cy="7680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50" b="1" i="0">
                <a:solidFill>
                  <a:srgbClr val="0F172A"/>
                </a:solidFill>
                <a:latin typeface="Aptos Display"/>
              </a:rPr>
              <a:t>Appendix: claim guardrails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60704"/>
            <a:ext cx="13258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0" i="0">
                <a:solidFill>
                  <a:srgbClr val="64748B"/>
                </a:solidFill>
                <a:latin typeface="Aptos"/>
              </a:rPr>
              <a:t>Use these boundaries when presenting externally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client-ready reviewed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59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00200"/>
            <a:ext cx="466344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600200"/>
            <a:ext cx="73152" cy="2926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746504"/>
            <a:ext cx="43434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Supported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103120"/>
            <a:ext cx="4343400" cy="23042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Curated 25-row scorecard; directional exposure model; evidence-backed examples; client diagnostic; procurement and pilot prioritization.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600200"/>
            <a:ext cx="466344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9320" y="1600200"/>
            <a:ext cx="73152" cy="292608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0488" y="1746504"/>
            <a:ext cx="43434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F172A"/>
                </a:solidFill>
                <a:latin typeface="Aptos"/>
              </a:rPr>
              <a:t>Not supported yet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2103120"/>
            <a:ext cx="4343400" cy="23042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0" i="0">
                <a:solidFill>
                  <a:srgbClr val="0F172A"/>
                </a:solidFill>
                <a:latin typeface="Aptos"/>
              </a:rPr>
              <a:t>Statistical SaaS market forecast; universal category verdicts; guaranteed savings; proof that all named vendors are displaced.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1094415" cy="7680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50" b="1" i="0">
                <a:solidFill>
                  <a:srgbClr val="0F172A"/>
                </a:solidFill>
                <a:latin typeface="Aptos Display"/>
              </a:rPr>
              <a:t>Appendix: source and reproducibility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60704"/>
            <a:ext cx="13258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0" i="0">
                <a:solidFill>
                  <a:srgbClr val="64748B"/>
                </a:solidFill>
                <a:latin typeface="Aptos"/>
              </a:rPr>
              <a:t>Deck build artifacts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client-ready reviewed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60 / 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45920"/>
            <a:ext cx="9692640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0F172A"/>
                </a:solidFill>
                <a:latin typeface="Aptos"/>
              </a:rPr>
              <a:t>•  Input CSV: /mnt/c/Users/sheke/OneDrive/Desktop/Agent-Replacement-Scorecard.csv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0" i="0">
                <a:solidFill>
                  <a:srgbClr val="0F172A"/>
                </a:solidFill>
                <a:latin typeface="Aptos"/>
              </a:rPr>
              <a:t>•  Builder script: /home/shekerk/content-ideas/runs/2026-06-30-agent-replacement-scorecard-synthesis/build_client_ready_deck_v2.py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0" i="0">
                <a:solidFill>
                  <a:srgbClr val="0F172A"/>
                </a:solidFill>
                <a:latin typeface="Aptos"/>
              </a:rPr>
              <a:t>•  Output deck: /home/shekerk/content-ideas/runs/2026-06-30-agent-replacement-scorecard-synthesis/outputs/Agent-Replacement-Scorecard-Client-Ready-Reviewed-v2.pptx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0" i="0">
                <a:solidFill>
                  <a:srgbClr val="0F172A"/>
                </a:solidFill>
                <a:latin typeface="Aptos"/>
              </a:rPr>
              <a:t>•  Validation: Deck.save() structural validation plus source/scored CSV arithmetic checks.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0" i="0">
                <a:solidFill>
                  <a:srgbClr val="0F172A"/>
                </a:solidFill>
                <a:latin typeface="Aptos"/>
              </a:rPr>
              <a:t>•  Status: reviewed client-ready draft; rendered preview attempted via available tooling.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