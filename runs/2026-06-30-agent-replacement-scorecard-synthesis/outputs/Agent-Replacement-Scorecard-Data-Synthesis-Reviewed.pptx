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REVIEWED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Agent Replacement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Data synthesis deck built from 25 scored use cases, not AEO gate narration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1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828800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100" b="1">
                <a:solidFill>
                  <a:srgbClr val="1F2937"/>
                </a:solidFill>
                <a:latin typeface="Aptos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48256"/>
            <a:ext cx="182880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1F2937"/>
                </a:solidFill>
                <a:latin typeface="Aptos"/>
              </a:rPr>
              <a:t>use cases scored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60020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691640"/>
            <a:ext cx="1828800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100" b="1">
                <a:solidFill>
                  <a:srgbClr val="DC2626"/>
                </a:solidFill>
                <a:latin typeface="Apto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048256"/>
            <a:ext cx="182880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1F2937"/>
                </a:solidFill>
                <a:latin typeface="Aptos"/>
              </a:rPr>
              <a:t>replace candidates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160020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691640"/>
            <a:ext cx="1828800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100" b="1">
                <a:solidFill>
                  <a:srgbClr val="D97706"/>
                </a:solidFill>
                <a:latin typeface="Aptos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048256"/>
            <a:ext cx="182880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1F2937"/>
                </a:solidFill>
                <a:latin typeface="Aptos"/>
              </a:rPr>
              <a:t>renegotiate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160020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79" y="1691640"/>
            <a:ext cx="1828800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100" b="1">
                <a:solidFill>
                  <a:srgbClr val="6B7280"/>
                </a:solidFill>
                <a:latin typeface="Apto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79" y="2048256"/>
            <a:ext cx="182880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1F2937"/>
                </a:solidFill>
                <a:latin typeface="Aptos"/>
              </a:rPr>
              <a:t>keep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71800"/>
            <a:ext cx="7315200" cy="1097280"/>
          </a:xfrm>
          <a:prstGeom prst="rect">
            <a:avLst/>
          </a:prstGeom>
          <a:noFill/>
        </p:spPr>
        <p:txBody>
          <a:bodyPr wrap="none" rIns="7315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Question: which SaaS layers are exposed to agent replacement, renegotiation, or durability?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Model: volume + determinism + inverse data moat, validated against verdict distribution.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Main finding: data moat is the dominant separator; volume determines where replacement becomes economically urgent.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15000"/>
            <a:ext cx="9601200" cy="32004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0">
                <a:solidFill>
                  <a:srgbClr val="6B7280"/>
                </a:solidFill>
                <a:latin typeface="Aptos"/>
              </a:rPr>
              <a:t>Source: Agent-Replacement-Scorecard.csv; original deck repaired because its AEO evidence-gate story did not match the structured scorecard dataset.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EXECUTIVE 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The answer is not 'agents replace SaaS'; it is a three-way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Replacement, renegotiation, and durability each appear in the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2 / 18</a:t>
            </a:r>
          </a:p>
        </p:txBody>
      </p:sp>
      <p:pic>
        <p:nvPicPr>
          <p:cNvPr id="7" name="Picture 6" descr="verdic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166360" cy="31202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463040"/>
            <a:ext cx="1828800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Aptos"/>
              </a:rPr>
              <a:t>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1600200"/>
          </a:xfrm>
          <a:prstGeom prst="rect">
            <a:avLst/>
          </a:prstGeom>
          <a:noFill/>
        </p:spPr>
        <p:txBody>
          <a:bodyPr wrap="none" rIns="7315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10 workflows are replacement candidates where the exposed layer is seats, add-ons, or scripted workflow tooling.</a:t>
            </a:r>
          </a:p>
          <a:p>
            <a:pPr>
              <a:spcAft>
                <a:spcPts val="5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9 workflows are renegotiation cases where the system of record survives but add-on modules compress.</a:t>
            </a:r>
          </a:p>
          <a:p>
            <a:pPr>
              <a:spcAft>
                <a:spcPts val="5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6 workflows are keep cases, mostly where high data moat, permissions, audit, or proprietary telemetry are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977639"/>
            <a:ext cx="2194560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Aptos"/>
              </a:rPr>
              <a:t>Decision implication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343400"/>
            <a:ext cx="4297680" cy="457200"/>
          </a:xfrm>
          <a:prstGeom prst="rect">
            <a:avLst/>
          </a:prstGeom>
          <a:noFill/>
        </p:spPr>
        <p:txBody>
          <a:bodyPr wrap="none" rIns="73152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Lead with a diagnostic. Do not market a blanket replacement thesis.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Data moat explains the verdict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The scorecard is strongest when it shows the mechanism, not just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3 / 18</a:t>
            </a:r>
          </a:p>
        </p:txBody>
      </p:sp>
      <p:pic>
        <p:nvPicPr>
          <p:cNvPr id="7" name="Picture 6" descr="data_moat_verdic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303520" cy="41089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645920"/>
            <a:ext cx="4480560" cy="1554480"/>
          </a:xfrm>
          <a:prstGeom prst="rect">
            <a:avLst/>
          </a:prstGeom>
          <a:noFill/>
        </p:spPr>
        <p:txBody>
          <a:bodyPr wrap="none" rIns="73152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Low moat: 10 / 10 rows are REPLACE.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Medium moat: 9 / 9 rows are RENEGOTIATE.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High moat: 6 / 6 rows are KEEP.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This is the cleanest synthetic finding and should anchor the deck.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4480560" cy="8686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Aptos"/>
              </a:rPr>
              <a:t>Interpretation: agents compress the interaction/workflow layer first. The durable substrate is where proprietary records, permissions, governance, and audit trails remain hard to dislodge.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DRIVER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High volume turns exposure into near-term commercial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Volume does not decide the verdict alone; it makes replacement worth pursuing.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4 / 18</a:t>
            </a:r>
          </a:p>
        </p:txBody>
      </p:sp>
      <p:pic>
        <p:nvPicPr>
          <p:cNvPr id="7" name="Picture 6" descr="volume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303520" cy="32031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737360"/>
            <a:ext cx="4480560" cy="1371600"/>
          </a:xfrm>
          <a:prstGeom prst="rect">
            <a:avLst/>
          </a:prstGeom>
          <a:noFill/>
        </p:spPr>
        <p:txBody>
          <a:bodyPr wrap="none" rIns="73152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High-volume rows produce 9 of the 10 replacement calls.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Medium-volume rows skew toward renegotiate or keep.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Priority should go to high-volume, low-moat workflows first because the cost takeout is easiest to explain.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794760"/>
            <a:ext cx="4480560" cy="4114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250" b="1">
                <a:solidFill>
                  <a:srgbClr val="1F2937"/>
                </a:solidFill>
                <a:latin typeface="Aptos"/>
              </a:rPr>
              <a:t>Use this as the commercial filter after the technical replacement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The replacement score makes the ranking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Score = volume + determinism + moat exposure. High score is more exposed.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5 / 18</a:t>
            </a:r>
          </a:p>
        </p:txBody>
      </p:sp>
      <p:pic>
        <p:nvPicPr>
          <p:cNvPr id="7" name="Picture 6" descr="score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303520" cy="272352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1353312"/>
          <a:ext cx="4343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77240"/>
                <a:gridCol w="411480"/>
                <a:gridCol w="411480"/>
                <a:gridCol w="457200"/>
                <a:gridCol w="457200"/>
              </a:tblGrid>
              <a:tr h="467360"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</a:defRPr>
                      </a:pPr>
                      <a:r>
                        <a:t>Vol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</a:defRPr>
                      </a:pPr>
                      <a:r>
                        <a:t>Det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</a:defRPr>
                      </a:pPr>
                      <a:r>
                        <a:t>Moat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Conversational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Messaging-channel chatbot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Document AI /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Agentic auto-remediation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AI shopping / sales consultant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Travel &amp; booking planner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Doc summarization &amp; drafting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Ad &amp; creative generation at scale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Creative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SEGMENT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Customer-facing workflows carry the clearest replacement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The category split shows where to start the client conversation.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6 / 18</a:t>
            </a:r>
          </a:p>
        </p:txBody>
      </p:sp>
      <p:pic>
        <p:nvPicPr>
          <p:cNvPr id="7" name="Picture 6" descr="agent_type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486400" cy="33135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1691640"/>
            <a:ext cx="4480560" cy="1600200"/>
          </a:xfrm>
          <a:prstGeom prst="rect">
            <a:avLst/>
          </a:prstGeom>
          <a:noFill/>
        </p:spPr>
        <p:txBody>
          <a:bodyPr wrap="none" rIns="7315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Customer use cases: 4 replace, 1 renegotiate, 0 keep.</a:t>
            </a:r>
          </a:p>
          <a:p>
            <a:pPr>
              <a:spcAft>
                <a:spcPts val="5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Security use cases: 3 keep, 1 replace; the moat is usually telemetry, policy, and audit.</a:t>
            </a:r>
          </a:p>
          <a:p>
            <a:pPr>
              <a:spcAft>
                <a:spcPts val="5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Employee and data workflows split because proprietary context often keeps the platform while compressing add-ons.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REPLACE SHORTLIST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Top replacement candidates share the same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High volume, repeatable intent, and weak data moat.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7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83210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057400"/>
                <a:gridCol w="3611880"/>
                <a:gridCol w="502920"/>
              </a:tblGrid>
              <a:tr h="554355"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SaaS exposed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Compression thesis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Conversational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Per-seat help desks (Zendesk)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80 support seats → 1 agent +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Messaging-channel chatbot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Chatbot / CCaaS bots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Bot-builder seats → 1 agent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Document AI /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IDP / OCR SaaS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IDP/OCR seats → agent + Document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Agentic auto-remediation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SOAR / runbooks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SOAR/runbook seats → agent in policy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AI shopping / sales consultant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Guided-selling SaaS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Guided-selling seats → 1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Travel &amp; booking planner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Booking / itinerary tools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Booking seats → agent + inventory API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Doc summarization &amp; drafting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Doc / productivity add-ons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Native LLM; drop add-on seats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DURABLE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Keep cases are not anti-agent; they are substrate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The agent can improve workflow without replacing the durable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8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7452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502920"/>
                <a:gridCol w="1005840"/>
                <a:gridCol w="2743200"/>
              </a:tblGrid>
              <a:tr h="52578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Moat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Durable SaaS layer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Legacy-IT modernization (NL→SAP)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KEEP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Modernization consulting /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Brand / 3D asset generation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Creative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KEEP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Asset / DAM tooling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Forecasting / predictive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KEEP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Predictive-analytics SaaS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Compliance &amp; audit agent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KEEP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GRC tooling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In-product owner assistant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RENEGOTIATE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Manuals / FAQ / deflection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Video generation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Creative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RENEGOTIATE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Video editing SaaS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App build / migration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RENEGOTIATE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F2937"/>
                          </a:solidFill>
                        </a:defRPr>
                      </a:pPr>
                      <a:r>
                        <a:t>Low-code &amp; migration tooling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8" y="5715000"/>
            <a:ext cx="8961120" cy="36576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Aptos"/>
              </a:rPr>
              <a:t>Message: sell workflow compression, not platform eradication, when the moat is proprietary data or governance.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RENEGOTIATE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Renegotiate is the commercial middle, not a weak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Nine rows preserve the system of record while compressing modules and seats.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9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71600"/>
          <a:ext cx="81838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2103120"/>
                <a:gridCol w="2880360"/>
              </a:tblGrid>
              <a:tr h="4927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SaaS affected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Negotiation lever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In-product owner assistant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Manuals / FAQ / deflection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Keep platform; drop deflection seats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Enterprise knowledge search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Enterprise search SaaS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Agent over your data; trim search seats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Contact-center agent assist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CCaaS agent-assist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Keep CCaaS; agent-assist replaces add-on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HR / onboarding agent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HR workflow SaaS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Agent runs workflow; keep record system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Video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Creative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Video editing SaaS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Agent drafts; editors finish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AI code assistant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IDE / code-review add-ons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Enriches IDE; consumption not seats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App build / migration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Low-code &amp; migration tooling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Agent replaces low-code seats partially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NL analytics (text-to-SQL)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BI dashboards (Looker-class)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Agent over warehouse; trim BI seats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8" y="5742432"/>
            <a:ext cx="8778240" cy="32004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Aptos"/>
              </a:rPr>
              <a:t>This is the procurement wedge: keep the core, challenge the per-seat workflow module.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Proof examples should be evidence rows, not decoration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Each scorecard row has a deployed proof claim and a SaaS-in-crosshairs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10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92024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00" b="1">
                <a:solidFill>
                  <a:srgbClr val="1F2937"/>
                </a:solidFill>
                <a:latin typeface="Aptos"/>
              </a:rPr>
              <a:t>Conversational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17320"/>
            <a:ext cx="2971800" cy="34747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0">
                <a:solidFill>
                  <a:srgbClr val="6B7280"/>
                </a:solidFill>
                <a:latin typeface="Aptos"/>
              </a:rPr>
              <a:t>Mercedes MBUX, Wendy's FreshAI, Home Depot Magic Apron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417320"/>
            <a:ext cx="2011680" cy="34747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DC2626"/>
                </a:solidFill>
                <a:latin typeface="Aptos"/>
              </a:rPr>
              <a:t>Per-seat help desks (Zendesk)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417320"/>
            <a:ext cx="2606040" cy="34747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0">
                <a:solidFill>
                  <a:srgbClr val="1F2937"/>
                </a:solidFill>
                <a:latin typeface="Aptos"/>
              </a:rPr>
              <a:t>80 support seats → 1 agent +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192024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00" b="1">
                <a:solidFill>
                  <a:srgbClr val="1F2937"/>
                </a:solidFill>
                <a:latin typeface="Aptos"/>
              </a:rPr>
              <a:t>AI shopping / sales consultant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40280"/>
            <a:ext cx="2971800" cy="34747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0">
                <a:solidFill>
                  <a:srgbClr val="6B7280"/>
                </a:solidFill>
                <a:latin typeface="Aptos"/>
              </a:rPr>
              <a:t>Mercedes smart sales, Mobiauto, Best Buy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240280"/>
            <a:ext cx="2011680" cy="34747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DC2626"/>
                </a:solidFill>
                <a:latin typeface="Aptos"/>
              </a:rPr>
              <a:t>Guided-selling SaaS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2606040" cy="34747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0">
                <a:solidFill>
                  <a:srgbClr val="1F2937"/>
                </a:solidFill>
                <a:latin typeface="Aptos"/>
              </a:rPr>
              <a:t>Guided-selling seats → 1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192024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00" b="1">
                <a:solidFill>
                  <a:srgbClr val="1F2937"/>
                </a:solidFill>
                <a:latin typeface="Aptos"/>
              </a:rPr>
              <a:t>Travel &amp; booking 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63240"/>
            <a:ext cx="2971800" cy="34747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0">
                <a:solidFill>
                  <a:srgbClr val="6B7280"/>
                </a:solidFill>
                <a:latin typeface="Aptos"/>
              </a:rPr>
              <a:t>Agoda, Priceline, LATAM Cosmos, Virgin Voyages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063240"/>
            <a:ext cx="2011680" cy="34747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DC2626"/>
                </a:solidFill>
                <a:latin typeface="Aptos"/>
              </a:rPr>
              <a:t>Booking / itinerary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063240"/>
            <a:ext cx="2606040" cy="34747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0">
                <a:solidFill>
                  <a:srgbClr val="1F2937"/>
                </a:solidFill>
                <a:latin typeface="Aptos"/>
              </a:rPr>
              <a:t>Booking seats → agent + inventory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192024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00" b="1">
                <a:solidFill>
                  <a:srgbClr val="1F2937"/>
                </a:solidFill>
                <a:latin typeface="Aptos"/>
              </a:rPr>
              <a:t>Messaging-channel chatbot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886200"/>
            <a:ext cx="2971800" cy="34747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0">
                <a:solidFill>
                  <a:srgbClr val="6B7280"/>
                </a:solidFill>
                <a:latin typeface="Aptos"/>
              </a:rPr>
              <a:t>LUXGEN (LINE), Banglalink REN, DT MINDR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886200"/>
            <a:ext cx="2011680" cy="34747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DC2626"/>
                </a:solidFill>
                <a:latin typeface="Aptos"/>
              </a:rPr>
              <a:t>Chatbot / CCaaS bots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886200"/>
            <a:ext cx="2606040" cy="34747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0">
                <a:solidFill>
                  <a:srgbClr val="1F2937"/>
                </a:solidFill>
                <a:latin typeface="Aptos"/>
              </a:rPr>
              <a:t>Bot-builder seats → 1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623560"/>
            <a:ext cx="7498079" cy="36576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Aptos"/>
              </a:rPr>
              <a:t>Deck repair: move from anecdote lists to proof-to-verdict traceability.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Validation passed, with one important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The dataset is internally complete, but it is curated rather than statistically sampled.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11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828800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100" b="1">
                <a:solidFill>
                  <a:srgbClr val="059669"/>
                </a:solidFill>
                <a:latin typeface="Apto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56815"/>
            <a:ext cx="182880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1F2937"/>
                </a:solidFill>
                <a:latin typeface="Aptos"/>
              </a:rPr>
              <a:t>null columns over 20%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50876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600200"/>
            <a:ext cx="1828800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100" b="1">
                <a:solidFill>
                  <a:srgbClr val="059669"/>
                </a:solidFill>
                <a:latin typeface="Apto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956815"/>
            <a:ext cx="182880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1F2937"/>
                </a:solidFill>
                <a:latin typeface="Aptos"/>
              </a:rPr>
              <a:t>duplicate use 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50876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79" y="1600200"/>
            <a:ext cx="1828800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100" b="1">
                <a:solidFill>
                  <a:srgbClr val="059669"/>
                </a:solidFill>
                <a:latin typeface="Aptos"/>
              </a:rPr>
              <a:t>25/25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1956815"/>
            <a:ext cx="182880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1F2937"/>
                </a:solidFill>
                <a:latin typeface="Aptos"/>
              </a:rPr>
              <a:t>rows with proof 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150876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1600200"/>
            <a:ext cx="1828800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100" b="1">
                <a:solidFill>
                  <a:srgbClr val="059669"/>
                </a:solidFill>
                <a:latin typeface="Aptos"/>
              </a:rPr>
              <a:t>25/25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956815"/>
            <a:ext cx="182880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1F2937"/>
                </a:solidFill>
                <a:latin typeface="Aptos"/>
              </a:rPr>
              <a:t>rows with verdict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71800"/>
            <a:ext cx="9601200" cy="1188720"/>
          </a:xfrm>
          <a:prstGeom prst="rect">
            <a:avLst/>
          </a:prstGeom>
          <a:noFill/>
        </p:spPr>
        <p:txBody>
          <a:bodyPr wrap="none" rIns="73152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High confidence in internal arithmetic: counts, cross-tabs, and score derivation reconcile to 25 rows.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Medium confidence in market generalization: the rows are evidence-backed examples, not a random market sample.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Guardrail: call this a replacement exposure scorecard, not a statistically validated SaaS replacement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PRODUCTIZATION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The scorecard should become a diagnostic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Each client account can be scored with the same dimensions.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846320" cy="2743200"/>
          </a:xfrm>
          <a:prstGeom prst="rect">
            <a:avLst/>
          </a:prstGeom>
          <a:noFill/>
        </p:spPr>
        <p:txBody>
          <a:bodyPr wrap="none" rIns="7315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1. Inventory workflows and attached SaaS modules.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2. Score volume, determinism, and data moat on H/M/L.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3. Classify each line as replace, renegotiate, or keep.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4. Attach deployed proof examples and a buyer-specific savings lever.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5. Convert high-scoring rows into pilot candidates or procurement asks.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297680" cy="9144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900" b="1">
                <a:solidFill>
                  <a:srgbClr val="D97706"/>
                </a:solidFill>
                <a:latin typeface="Aptos"/>
              </a:rPr>
              <a:t>The artifact is stronger as an interactive account diagnostic than as a static thought-leadership deck.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AEO REBUILD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AEO angle: publish the model, not just the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AEO pages should answer buyer questions grounded in the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13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8412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10896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Page cluster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Buyer question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Data-backed answer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Replacement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Which SaaS seats can AI agents replace first?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Use replace shortlist + score formula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Renegotiation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Which AI agent gains should lower my SaaS bill?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Use renegotiate table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Moat defense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Which SaaS systems survive agent adoption?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Use keep cases + data moat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Pilot design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How do I test agent replacement safely?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Use volume/determinism filters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Procurement 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What should I ask vendors at renewal?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F2937"/>
                          </a:solidFill>
                        </a:defRPr>
                      </a:pPr>
                      <a:r>
                        <a:t>Use compression 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257800"/>
            <a:ext cx="9601200" cy="4114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Aptos"/>
              </a:rPr>
              <a:t>This connects AEO to synthesis: pages are generated from observed scorecard patterns, not generic AI positioning.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Claim guardrails keep the deck credible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Separate what the data supports from what still needs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14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828800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Aptos"/>
              </a:rPr>
              <a:t>Supported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114800" cy="2011680"/>
          </a:xfrm>
          <a:prstGeom prst="rect">
            <a:avLst/>
          </a:prstGeom>
          <a:noFill/>
        </p:spPr>
        <p:txBody>
          <a:bodyPr wrap="none" rIns="73152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25-row curated scorecard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Directional exposure model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Evidence-backed examples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Client diagnostic v1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Procurement/pilot prioritization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2011680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300" b="1">
                <a:solidFill>
                  <a:srgbClr val="DC2626"/>
                </a:solidFill>
                <a:latin typeface="Aptos"/>
              </a:rPr>
              <a:t>Not supported yet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114800" cy="2011680"/>
          </a:xfrm>
          <a:prstGeom prst="rect">
            <a:avLst/>
          </a:prstGeom>
          <a:noFill/>
        </p:spPr>
        <p:txBody>
          <a:bodyPr wrap="none" rIns="73152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Total SaaS replacement forecast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Statistical market sizing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Engine consensus proof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Universal category verdicts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Guaranteed savings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NEXT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30-day evidence sprint should harden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Move from curated synthesis to repeatable scoring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15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63040"/>
          <a:ext cx="8183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743200"/>
                <a:gridCol w="4023360"/>
              </a:tblGrid>
              <a:tr h="594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Workstream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Expand 25 rows to 75+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More stable segment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Scoring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Score two reviewers independently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Inter-rater reliability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Economics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Attach seat/module cost ranges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Dollarized replacement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AEO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Publish 5 model-derived pages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Crawlable buyer answers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Track vendor/customer proof links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Source tieout for each proof 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Decision ask: launch the diagnostic, not the proof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The synthesis is strong enough for v1 account work and page briefs.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16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828800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100" b="1">
                <a:solidFill>
                  <a:srgbClr val="D97706"/>
                </a:solidFill>
                <a:latin typeface="Aptos"/>
              </a:rPr>
              <a:t>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93976"/>
            <a:ext cx="182880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1F2937"/>
                </a:solidFill>
                <a:latin typeface="Aptos"/>
              </a:rPr>
              <a:t>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828800" cy="17373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diagnostic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64592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737360"/>
            <a:ext cx="1828800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100" b="1">
                <a:solidFill>
                  <a:srgbClr val="1F2937"/>
                </a:solidFill>
                <a:latin typeface="Aptos"/>
              </a:rPr>
              <a:t>75+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093976"/>
            <a:ext cx="182880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1F2937"/>
                </a:solidFill>
                <a:latin typeface="Aptos"/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13432"/>
            <a:ext cx="1828800" cy="17373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next rows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64592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59" y="1737360"/>
            <a:ext cx="1828800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100" b="1">
                <a:solidFill>
                  <a:srgbClr val="1F2937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093976"/>
            <a:ext cx="182880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1F2937"/>
                </a:solidFill>
                <a:latin typeface="Aptos"/>
              </a:rPr>
              <a:t>publish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2313432"/>
            <a:ext cx="1828800" cy="17373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AEO pages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64592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737360"/>
            <a:ext cx="1828800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100" b="1">
                <a:solidFill>
                  <a:srgbClr val="1F2937"/>
                </a:solidFill>
                <a:latin typeface="Aptos"/>
              </a:rPr>
              <a:t>2x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093976"/>
            <a:ext cx="182880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80" b="1">
                <a:solidFill>
                  <a:srgbClr val="1F2937"/>
                </a:solidFill>
                <a:latin typeface="Aptos"/>
              </a:rP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313432"/>
            <a:ext cx="1828800" cy="17373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reviewers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154680"/>
            <a:ext cx="8778240" cy="1280160"/>
          </a:xfrm>
          <a:prstGeom prst="rect">
            <a:avLst/>
          </a:prstGeom>
          <a:noFill/>
        </p:spPr>
        <p:txBody>
          <a:bodyPr wrap="none" rIns="7315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Use this deck for client discovery and procurement strategy.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Use the CSV model as the source of truth for page briefs and account diagnostics.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Do not present the current evidence as final market proof until the expanded sprint is complete.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Appendix: scoring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Simple enough to explain in a workshop; explicit enough to audit.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17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8321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657600"/>
                <a:gridCol w="3200400"/>
              </a:tblGrid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H = high throughput / frequent 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More economic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Determinism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H = repeatable rules and stable outputs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Easier automation boundary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Data moat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 = weak proprietary substrate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Higher replacement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Replace / Renegotiate / Keep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Commercial action, not moral judgment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892040"/>
            <a:ext cx="8686800" cy="4114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Aptos"/>
              </a:rPr>
              <a:t>Exposure score used in this deck: Volume score + Determinism score + inverse Data Moat score.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800" b="1">
                <a:solidFill>
                  <a:srgbClr val="D97706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ptos"/>
              </a:rPr>
              <a:t>Appendix: files and QA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Reproducible deck build with explicit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720" b="0">
                <a:solidFill>
                  <a:srgbClr val="6B7280"/>
                </a:solidFill>
                <a:latin typeface="Aptos"/>
              </a:rPr>
              <a:t>Agent Replacement Scorecard | data synthesis reviewed draft |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011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Aptos"/>
              </a:rP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241280" cy="2560320"/>
          </a:xfrm>
          <a:prstGeom prst="rect">
            <a:avLst/>
          </a:prstGeom>
          <a:noFill/>
        </p:spPr>
        <p:txBody>
          <a:bodyPr wrap="none" rIns="7315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Input CSV: /mnt/c/Users/sheke/OneDrive/Desktop/Agent-Replacement-Scorecard.csv</a:t>
            </a:r>
          </a:p>
          <a:p>
            <a:pPr>
              <a:spcAft>
                <a:spcPts val="5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Original deck inspected: /mnt/c/Users/sheke/OneDrive/Desktop/Agent-Replacement-Scorecard-AEO-Data-Backed-Client-Reviewed.pptx</a:t>
            </a:r>
          </a:p>
          <a:p>
            <a:pPr>
              <a:spcAft>
                <a:spcPts val="5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Builder script: /home/shekerk/content-ideas/runs/2026-06-30-agent-replacement-scorecard-synthesis/build_scorecard_synthesis_deck.py</a:t>
            </a:r>
          </a:p>
          <a:p>
            <a:pPr>
              <a:spcAft>
                <a:spcPts val="5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Charts: /home/shekerk/content-ideas/runs/2026-06-30-agent-replacement-scorecard-synthesis/outputs/charts</a:t>
            </a:r>
          </a:p>
          <a:p>
            <a:pPr>
              <a:spcAft>
                <a:spcPts val="5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Status: reviewed draft; data synthesis repaired; visual QA performed by slide text and file generation checks.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960120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150" b="0">
                <a:solidFill>
                  <a:srgbClr val="6B7280"/>
                </a:solidFill>
                <a:latin typeface="Aptos"/>
              </a:rPr>
              <a:t>Note: the original AEO evidence-gate material was not discarded conceptually; it was reframed as a downstream AEO page plan after the scorecard synthesis.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10912</Words>
  <Application>Microsoft Office PowerPoint</Application>
  <PresentationFormat>Widescreen</PresentationFormat>
  <Paragraphs>1188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sheker kamma</dc:creator>
  <cp:keywords/>
  <dc:description>generated using python-pptx</dc:description>
  <cp:lastModifiedBy>sheker kamma</cp:lastModifiedBy>
  <cp:revision>1</cp:revision>
  <dcterms:created xsi:type="dcterms:W3CDTF">2013-01-27T09:14:16Z</dcterms:created>
  <dcterms:modified xsi:type="dcterms:W3CDTF">2026-05-25T15:25:33Z</dcterms:modified>
  <cp:category/>
</cp:coreProperties>
</file>