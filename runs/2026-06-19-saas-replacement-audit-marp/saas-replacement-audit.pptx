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2DD4BF"/>
                </a:solidFill>
              </a:rPr>
              <a:t>SaaS Replacement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FOUNDER'S BUILD STACK · COST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EB8C7"/>
                </a:solidFill>
              </a:rPr>
              <a:t>15 tools · $33,288/yr current spend · $29,500 in 3-year savings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EF2F7"/>
                </a:solidFill>
              </a:rPr>
              <a:t>You're renting infrastructure you should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EEF2F7"/>
                </a:solidFill>
              </a:rPr>
              <a:t>→  Average Series A startup: $2,500–$5,000/mo in SaaS tools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EF2F7"/>
                </a:solidFill>
              </a:rPr>
              <a:t>→  Of that, 30–45% is replaceable with owned code in under 30 days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EEF2F7"/>
                </a:solidFill>
              </a:rPr>
              <a:t>→  The remainder: negotiable, consolidatable, or simply unaudited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AEB8C7"/>
                </a:solidFill>
              </a:rPr>
              <a:t>"You don't have a SaaS problem. You have a build-vs-buy decision you never made."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4572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01 · 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2F7"/>
                </a:solidFill>
              </a:rPr>
              <a:t>15 tools audited · $2,774/mo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TOOLS REVIEWED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15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Retool, Airtable, Zapier, Segment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Intercom, Datadog, Mixpanel, Postman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Loom, Notion, Linear, Calendly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Algolia, SendGrid, Typeform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$33,288 / 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VERDICT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5 Buckets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REPLACE: 5 tools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KEEP: 4 tools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NEGOTIATE: 3 tools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CONSOLIDATE: 1 tool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AUDIT USAGE: 1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79F9"/>
                </a:solidFill>
              </a:rPr>
              <a:t>ACTION ON 10 OF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02 ·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2F7"/>
                </a:solidFill>
              </a:rPr>
              <a:t>5-Bucket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64592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BUCKET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194560"/>
            <a:ext cx="438912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24028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CRITERIA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194560"/>
            <a:ext cx="429768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6459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REPLACE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560320"/>
            <a:ext cx="4389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651760"/>
            <a:ext cx="4206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Build cost &lt; 3-yr SaaS AND complexity ≤ 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560320"/>
            <a:ext cx="42976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651760"/>
            <a:ext cx="4114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Retool, Zapier, Airtable, Segment, Typeform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35808"/>
            <a:ext cx="16459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27248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9748A"/>
                </a:solidFill>
              </a:rPr>
              <a:t>KEEP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035808"/>
            <a:ext cx="43891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127248"/>
            <a:ext cx="4206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Strategic, integrated, or cheap to ignore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035808"/>
            <a:ext cx="429768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27248"/>
            <a:ext cx="4114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Algolia, Linear, Notion, Loom, Calendly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11296"/>
            <a:ext cx="16459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02736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6B94B"/>
                </a:solidFill>
              </a:rPr>
              <a:t>NEGOTIATE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511296"/>
            <a:ext cx="4389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602736"/>
            <a:ext cx="4206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Overpriced; cheaper alternatives exist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511296"/>
            <a:ext cx="42976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602736"/>
            <a:ext cx="4114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Datadog, Intercom, SendGrid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86784"/>
            <a:ext cx="16459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78224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CONSOLIDATE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986784"/>
            <a:ext cx="43891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078224"/>
            <a:ext cx="4206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Overlapping functionality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3986784"/>
            <a:ext cx="429768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078224"/>
            <a:ext cx="4114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Mixpanel → drop, use Segment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62272"/>
            <a:ext cx="16459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553712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79F9"/>
                </a:solidFill>
              </a:rPr>
              <a:t>AUDIT USAGE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462272"/>
            <a:ext cx="4389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553712"/>
            <a:ext cx="4206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Unclear if actively used; no clear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4462272"/>
            <a:ext cx="42976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553712"/>
            <a:ext cx="4114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Postman (free tier likely enough)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02 · REPLACE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2F7"/>
                </a:solidFill>
              </a:rPr>
              <a:t>Top 3 by 3-Year Savings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286000"/>
            <a:ext cx="164592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286000"/>
            <a:ext cx="173736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ANNUAL SAAS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286000"/>
            <a:ext cx="173736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BUILD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286000"/>
            <a:ext cx="182880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BREAK-EVEN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286000"/>
            <a:ext cx="265176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3-YR SAVINGS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51760"/>
            <a:ext cx="7315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43200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#1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651760"/>
            <a:ext cx="16459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743200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Retool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651760"/>
            <a:ext cx="173736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2743200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$7,200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651760"/>
            <a:ext cx="173736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743200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$8,700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651760"/>
            <a:ext cx="182880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16.6 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265176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743200"/>
            <a:ext cx="2468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$15,132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127248"/>
            <a:ext cx="7315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218688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#2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127248"/>
            <a:ext cx="16459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3218688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Zapier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27248"/>
            <a:ext cx="173736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218688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$2,388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127248"/>
            <a:ext cx="173736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3218688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$1,380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127248"/>
            <a:ext cx="182880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218688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7.1 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3127248"/>
            <a:ext cx="265176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3218688"/>
            <a:ext cx="2468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$6,524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602736"/>
            <a:ext cx="7315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694176"/>
            <a:ext cx="548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#3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3602736"/>
            <a:ext cx="16459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3694176"/>
            <a:ext cx="14630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Airtable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3602736"/>
            <a:ext cx="173736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3694176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$2,880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3602736"/>
            <a:ext cx="173736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3694176"/>
            <a:ext cx="15544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$4,350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602736"/>
            <a:ext cx="182880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694176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21.4 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3602736"/>
            <a:ext cx="265176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694176"/>
            <a:ext cx="2468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$5,183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9748A"/>
                </a:solidFill>
              </a:rPr>
              <a:t>Intercom reclassified → NEGOTIATE (build cost exceeds 3-yr SaaS at current complexity)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03 · REPLACEMENT PLAN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7"/>
                </a:solidFill>
              </a:rPr>
              <a:t>Retool → Custom Next.js Admin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Next.js + Supabase + shadcn/ui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User list + impersonation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Subscription management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NextAuth admin role guard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Deploy on existing Vercel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2 WEEKS · 1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THE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$15,132 saved over 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3-yr SaaS cost: $23,832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Build cost: $8,700 one-time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Break-even: month 17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Hosting: $0 (existing Vercel)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79F9"/>
                </a:solidFill>
              </a:rPr>
              <a:t>HIGHEST VALUE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03 · REPLACEMENT PLAN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7"/>
                </a:solidFill>
              </a:rPr>
              <a:t>Zapier → n8n Self-Hosted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THE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n8n on $5/mo Hetzner VPS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Docker install: 1 hour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10 zaps → n8n workflows: 3 days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1-week parallel shadow run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Cancel Zapier on day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3 DAYS · 0 NEW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THE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$6,524 saved over 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3-yr SaaS cost: $7,904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Total migration cost: $1,380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Break-even: month 8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Fastest payback in the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</a:rPr>
              <a:t>FASTEST WIN · 7.1 MO PAYBACK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03 · REPLACEMENT PLAN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EF2F7"/>
                </a:solidFill>
              </a:rPr>
              <a:t>Airtable → Supabase CRM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Supabase Schema + Admin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contacts / companies / deals / activities tables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Pipeline view in the admin panel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CSV import from Airtable export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RLS: sales team sees only their deals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1 WEEK · SHARED WITH PLAN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THE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$5,183 saved over 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3-yr SaaS cost: $9,533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Build cost: $4,350 (→ $1,500 with Plan #1 scaffold)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Break-even: month 22 (→ month 7 shared)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79F9"/>
                </a:solidFill>
              </a:rPr>
              <a:t>SYNERGISTIC WITH PLAN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04 · QUICK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2F7"/>
                </a:solidFill>
              </a:rPr>
              <a:t>Negotiate + Consolidate First (Months 1–3)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EEF2F7"/>
                </a:solidFill>
              </a:rPr>
              <a:t>→  Postman → downgrade to free tier · save $588/yr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EF2F7"/>
                </a:solidFill>
              </a:rPr>
              <a:t>→  Mixpanel → cancel, use Segment data in Supabase queries · save $1,068/yr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EF2F7"/>
                </a:solidFill>
              </a:rPr>
              <a:t>→  Datadog → push for SMB tier or migrate to Vercel observability · save $1,476/yr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EF2F7"/>
                </a:solidFill>
              </a:rPr>
              <a:t>→  Intercom → benchmark Crisp, push for 20% reduction · save $718/yr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EEF2F7"/>
                </a:solidFill>
              </a:rPr>
              <a:t>→  SendGrid → migrate to Resend (5× cheaper) or negotiate · save est. $600/yr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75488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2DD4BF"/>
                </a:solidFill>
              </a:rPr>
              <a:t>$4,450</a:t>
            </a:r>
          </a:p>
          <a:p>
            <a:pPr algn="ctr"/>
            <a:r>
              <a:rPr sz="1000" b="1">
                <a:solidFill>
                  <a:srgbClr val="69748A"/>
                </a:solidFill>
              </a:rPr>
              <a:t>QUICK WIN ANNUAL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05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2F7"/>
                </a:solidFill>
              </a:rPr>
              <a:t>12-Month 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9728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03120"/>
            <a:ext cx="411480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03120"/>
            <a:ext cx="301752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488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103120"/>
            <a:ext cx="2103120" cy="365760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1488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</a:rPr>
              <a:t>ANNUAL SAVINGS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10972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468880"/>
            <a:ext cx="411480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560320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Audit + downgrade to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468880"/>
            <a:ext cx="30175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560320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Postman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468880"/>
            <a:ext cx="2103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560320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$588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44368"/>
            <a:ext cx="109728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3580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2944368"/>
            <a:ext cx="411480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3035808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Cancel (consolidate)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944368"/>
            <a:ext cx="30175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035808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Mixpanel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944368"/>
            <a:ext cx="21031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035808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$1,068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19856"/>
            <a:ext cx="10972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11296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419856"/>
            <a:ext cx="411480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511296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Negotiate -20% / -30%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419856"/>
            <a:ext cx="30175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511296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Intercom + Datadog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419856"/>
            <a:ext cx="2103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511296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$2,194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895344"/>
            <a:ext cx="109728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986784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3–4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3895344"/>
            <a:ext cx="411480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3986784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Migrate to n8n self-hosted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895344"/>
            <a:ext cx="30175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3986784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Zapier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895344"/>
            <a:ext cx="21031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986784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$2,388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370832"/>
            <a:ext cx="10972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462272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4–7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4370832"/>
            <a:ext cx="411480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40" y="4462272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Build custom admin panel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370832"/>
            <a:ext cx="30175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4462272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Retool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4370832"/>
            <a:ext cx="2103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462272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$7,200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846320"/>
            <a:ext cx="109728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937760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5–8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4846320"/>
            <a:ext cx="411480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0240" y="4937760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Build Supabase CRM (with #1)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4846320"/>
            <a:ext cx="30175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4937760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Airtable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4846320"/>
            <a:ext cx="2103120" cy="438912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4937760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$2,880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321808"/>
            <a:ext cx="109728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413248"/>
            <a:ext cx="9144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9–12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5321808"/>
            <a:ext cx="411480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20240" y="5413248"/>
            <a:ext cx="3931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Build event pipeline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5321808"/>
            <a:ext cx="30175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5413248"/>
            <a:ext cx="2834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EF2F7"/>
                </a:solidFill>
              </a:rPr>
              <a:t>Segment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5321808"/>
            <a:ext cx="2103120" cy="438912"/>
          </a:xfrm>
          <a:prstGeom prst="rect">
            <a:avLst/>
          </a:prstGeom>
          <a:solidFill>
            <a:srgbClr val="0F1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5413248"/>
            <a:ext cx="19202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D4BF"/>
                </a:solidFill>
              </a:rPr>
              <a:t>$1,440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CHAPTER 06 ·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EF2F7"/>
                </a:solidFill>
              </a:rPr>
              <a:t>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$33,288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15 tools, $2,774/mo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5 redundant / replaceable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3 overpriced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1 possibly unused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79F9"/>
                </a:solidFill>
              </a:rPr>
              <a:t>CURRENT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5029200" cy="3291840"/>
          </a:xfrm>
          <a:prstGeom prst="rect">
            <a:avLst/>
          </a:prstGeom>
          <a:solidFill>
            <a:srgbClr val="0F141D"/>
          </a:solidFill>
          <a:ln>
            <a:solidFill>
              <a:srgbClr val="25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AFTER (YEAR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EF2F7"/>
                </a:solidFill>
              </a:rPr>
              <a:t>$16,970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3 tools replaced with owned code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3 negotiated down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1 consolidated, 1 cancelled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AEB8C7"/>
                </a:solidFill>
              </a:rPr>
              <a:t>→  Stack is leaner + you own the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D4BF"/>
                </a:solidFill>
              </a:rPr>
              <a:t>$29,500 SAVED OVER 3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</a:rPr>
              <a:t>NEXT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2DD4BF"/>
                </a:solidFill>
              </a:rPr>
              <a:t>Start with Zapier.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EB8C7"/>
                </a:solidFill>
              </a:rPr>
              <a:t>7.1-month payback. 3 days of work. n8n self-hosted on a $5/mo VPS.
Ship it this week — then tackle Retool in month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48A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