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713232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Real Estate Domain
AI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22376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multi-use-case portfolio deck built from gbrain semantic recall, the latest strategy feed, and five validated real-estate lane runs already completed in this repo.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CASES · DOMAIN THESIS · IMPLEMENTATION PATTERN · BUYER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50" b="1" i="0">
                <a:solidFill>
                  <a:srgbClr val="0A1628"/>
                </a:solidFill>
                <a:latin typeface="Calibri"/>
              </a:rPr>
              <a:t>The real-estate domain supports a five-lane AI engineering portfolio with clear buyers and measurable workflow pain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This chain started with gbrain semantic recall, then used the latest feed plus five validated lane runs already completed on June 4,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Where to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Brokerage routing is the cleanest commercial wedge.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Leasing, maintenance, commissions, and closing extend the same thesis across adjacent buyers.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Each lane is already validated with structured research and a reviewed deck.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What repeats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Incumbent software is the system of record across every lane.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OpenHands is the reusable orchestration layer for workflow agents and MCP-connected tools.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1B2B3C"/>
                </a:solidFill>
                <a:latin typeface="Calibri"/>
              </a:rPr>
              <a:t>•  The value story is operational throughput, not generic assistant novelty.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What to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Select the first wedge by buyer pain and existing account motion.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Start with one queue, one team, or one office before broadening support.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160" b="0" i="0">
                <a:solidFill>
                  <a:srgbClr val="E0F7F1"/>
                </a:solidFill>
                <a:latin typeface="Calibri"/>
              </a:rPr>
              <a:t>•  Use this deck as the portfolio index and the lane decks for account follow-up.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19" b="1" i="0">
                <a:solidFill>
                  <a:srgbClr val="0A1628"/>
                </a:solidFill>
                <a:latin typeface="Calibri"/>
              </a:rPr>
              <a:t>THE ASK: choose the first wedge, then use the matching reviewed lane deck for direct client pursuit.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01  · BROKERAGE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Brokerage Lead Routing &amp; Transaction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Slow response and weak routing waste paid and marketplace leads.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Transaction work is split across CRM, docs, and finance tools.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Agents reject tools that add admin without measurable lift.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Score and route inbound leads inside the CRM workflow.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Automate follow-up, milestone nudges, and document prep.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Keep automation assistive so adoption risk stays manageable.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25/35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Reviewed lane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Cloze AI sales-lift claim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30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Zillow routing timer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Ingest leads from portals, campaigns, and forms.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Score intent and assign the next best owner and action.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Track conversion, follow-up, and milestones in the CRM stack.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CRM workspace + manager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OpenHands routing and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CRM, lead, listing, and milestone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Assignments, drafts, DocuSign, commissions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SYSTEMS: CRM · Zillow · DocuSign · QuickBooks · marketing systems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broker-owner · team lead · ops · agent ·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Large brokerage with expanding AI workflow investment.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66544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Zillow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04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Lead-routing marketplace and AI-assist signal.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62656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Cloze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00400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Connected brokerage platform with AI assist.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587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Rechat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096512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Unified AI operating system for brokerage workflows.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02  · MULTIFAMILY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Leasing &amp; Resident Communication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Leasing teams lose prospects to slow response and broken follow-up.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Renewal and resident communication work is repetitive and fragmented.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Property operators need visible ROI, not another sidecar AI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Automate prospect response, routing, and renewal nudges.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Support resident communication and document-heavy leasing steps.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Embed workflows in PMS and CRM tools already used by operators.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26/35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Reviewed lane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Always-on leasing response expectation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Core proof vendors: AppFolio, Yardi, Docusign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Capture prospect or resident inquiry from the current channel.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Classify intent and trigger the right follow-up or renewal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Hand off only high-value or exception cases to the team.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leasing inbox + resident messaging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OpenHands leasing and renewal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PMS, CRM, applicant, and renewal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messages, reminders, packets, escalations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SYSTEMS: AppFolio · Yardi · leasing CRM · Docusign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leasing agent · community manager · regional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Realm-X proves AI inside property workflows.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66544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Yardi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04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CRM and resident workflow visibility at scale.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62656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Greystar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00400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Operator archetype for centralized leasing flows.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587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Regional owner-operator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096512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Buyer who needs renewal and response lift.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03  · BACK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Commission &amp; Deal Payout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Commission processing is rules-heavy and exception-prone.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Payout timing and auditability matter to brokerages and agents.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Transaction state and payout state often diverge across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Validate splits, caps, fees, and payout rules automatically.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Route exceptions to the right ops owner with audit context.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Synchronize payout readiness with transaction and document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26/35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Reviewed lane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Brokerages served by Brokermint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400K+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Annual transactions cited by Brokermint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Pull transaction and commission inputs from current systems.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Evaluate rule sets and flag payout exceptions early.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Send clean handoffs into accounting and approval workflows.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ops review queue + payout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OpenHands payout and exception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transaction, split, fee, and document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approvals, alerts, accounting handoffs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SYSTEMS: Brokermint · Docusign · brokerage finance systems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brokerage ops · finance lead · transaction 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Brokermint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Scaled proof that the category already exists.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66544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Docusign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04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Transaction state needs to inform payout state.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62656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Mid-market brokerage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00400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Buyer who values payout speed and control.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587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Controller or ops lead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096512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Primary operational stakeholder.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04  · PROPERTY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Service Request &amp; Maintenance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Maintenance intake and triage are high-volume and time-sensitive.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Residents expect visibility and updates, not silent queues.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Vendor coordination and prioritization create operational drag.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Automate request intake, triage, routing, and resident updates.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Escalate true exceptions while clearing routine queue work.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Keep request state visible across resident, staff, and vendor 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26/35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Reviewed lane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Maintenance response expectation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Core proof vendors: AppFolio, Buildium, Yardi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Capture a request from resident, portal, phone, or staff input.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Classify urgency, route work, and trigger updates automatically.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Track completion, delays, and service quality in one queue.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resident portal + ops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OpenHands intake and dispatch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property, unit, history, vendor, SLA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routing, updates, escalations, reporting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SYSTEMS: AppFolio · Buildium · Yardi · vendor workflows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property ops · maintenance lead · vendor coordinator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AppFolio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Maintenance AI proof inside property operations.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66544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Buildium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04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24/7 maintenance contact-center pattern.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62656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Yardi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00400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Resident-facing request and tracking workflow.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587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Regional PM 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096512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Buyer with measurable service bottlenecks.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05  · CLOSING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Title, Escrow &amp; Closing Workflow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Closing files stall on missing items and fragmented coordination.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Checklist progression and exception handling are manual and repetitive.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Title and escrow teams depend on multi-party document state staying aligned.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Automate file-opening, checklist progression, and exception routing.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Coordinate updates across title, escrow, lender, and partner workflows.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60" b="0" i="0">
                <a:solidFill>
                  <a:srgbClr val="1B2B3C"/>
                </a:solidFill>
                <a:latin typeface="Calibri"/>
              </a:rPr>
              <a:t>•  Improve closing readiness without replacing the core transaction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26/35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Reviewed lane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Core proof vendors: Qualia, SoftPro, Docusign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69" b="1" i="0">
                <a:solidFill>
                  <a:srgbClr val="0A1628"/>
                </a:solidFill>
                <a:latin typeface="Calibri"/>
              </a:rPr>
              <a:t>Best initial wedge: one queue or one closing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Open and classify a new file from the incoming transaction packet.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Route missing items, checklist tasks, and partner updates automatically.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90" b="0" i="0">
                <a:solidFill>
                  <a:srgbClr val="1B2B3C"/>
                </a:solidFill>
                <a:latin typeface="Calibri"/>
              </a:rPr>
              <a:t>Surface closing-readiness status and exception backlog clearly.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closing queue + readiness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OpenHands file and checklist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file, checklist, partner, lender, signature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20" b="0" i="0">
                <a:solidFill>
                  <a:srgbClr val="FFFFFF"/>
                </a:solidFill>
                <a:latin typeface="Calibri"/>
              </a:rPr>
              <a:t>task routing, updates, escalations, audit trail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SYSTEMS: Qualia · SoftPro · Docusign · lender portals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10" b="1" i="0">
                <a:solidFill>
                  <a:srgbClr val="FFFFFF"/>
                </a:solidFill>
                <a:latin typeface="Calibri"/>
              </a:rPr>
              <a:t>USERS: title ops · escrow officer · closing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Qualia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Connected title and escrow workflow proof.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66544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SoftPro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04288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Closing and title software category incumbent.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62656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Docusign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00400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Signature and document-state coordination layer.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8587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Title ops team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096512"/>
            <a:ext cx="359633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Buyer with backlog and closing-readiness pain.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50" b="1" i="0">
                <a:solidFill>
                  <a:srgbClr val="0A1628"/>
                </a:solidFill>
                <a:latin typeface="Calibri"/>
              </a:rPr>
              <a:t>The portfolio is portable because the implementation posture stays consistent across all five lanes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implementation slide grounded in gbrain recall, prior lane research, and the repo's OpenHands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49240" cy="4069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469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COMMON EXECUTION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4690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Use incumbent brokerage, PMS, title, and finance software as the system of record.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Use OpenHands internally for routing agents, checklist agents, exception agents, and reusable skills.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Connect tools through MCP-friendly APIs and workflow surfaces rather than replacing the user workspace.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Start assistive: scoring, routing, drafts, queue updates, and exception handling before autonomous commitments.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20" b="0" i="0">
                <a:solidFill>
                  <a:srgbClr val="FFFFFF"/>
                </a:solidFill>
                <a:latin typeface="Calibri"/>
              </a:rPr>
              <a:t>•  Measure one operational outcome per lane before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440680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46504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Shared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CRM, PMS, transaction platforms, Docusign, accounting systems, portals, and vendor or lender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11880"/>
            <a:ext cx="5440680" cy="1874519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58184"/>
            <a:ext cx="50749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Selection rule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Pick the first wedge where the buyer already owns the pain and the operational queue is visible enough to measure.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Real-estate AI is strongest as a portfolio of workflow wedges, each tied to a buyer, a queue, and a system-of-record that already exists.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90672"/>
            <a:ext cx="9966960" cy="1783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80" b="0" i="0">
                <a:solidFill>
                  <a:srgbClr val="E0F7F1"/>
                </a:solidFill>
                <a:latin typeface="Calibri"/>
              </a:rPr>
              <a:t>•  Start with the wedge that matches the current account motion: brokerage, leasing, back office, service, or closing.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80" b="0" i="0">
                <a:solidFill>
                  <a:srgbClr val="E0F7F1"/>
                </a:solidFill>
                <a:latin typeface="Calibri"/>
              </a:rPr>
              <a:t>•  Use OpenHands as the internal execution layer and keep the user workflow inside the existing real-estate stack.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80" b="0" i="0">
                <a:solidFill>
                  <a:srgbClr val="E0F7F1"/>
                </a:solidFill>
                <a:latin typeface="Calibri"/>
              </a:rPr>
              <a:t>•  After the first wedge proves ROI, expand horizontally into the other reviewed lanes.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21808"/>
            <a:ext cx="5943600" cy="768096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Suggested next step: select the first wedge and pair this portfolio deck with the corresponding reviewed lane deck for the target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Domain AI Use Cases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