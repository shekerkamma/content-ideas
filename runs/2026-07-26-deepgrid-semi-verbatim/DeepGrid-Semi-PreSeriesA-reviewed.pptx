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35784" y="2730431"/>
            <a:ext cx="1523961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22D3EE"/>
                </a:solidFill>
                <a:latin typeface="JetBrains Mono"/>
              </a:rPr>
              <a:t>DGRID</a:t>
            </a:r>
          </a:p>
          <a:p>
            <a:pPr algn="ctr">
              <a:lnSpc>
                <a:spcPct val="120000"/>
              </a:lnSpc>
            </a:pPr>
            <a:r>
              <a:rPr sz="1150" b="1">
                <a:solidFill>
                  <a:srgbClr val="B7C7DE"/>
                </a:solidFill>
                <a:latin typeface="JetBrains Mono"/>
              </a:rPr>
              <a:t>ALPHA / 28nm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507987"/>
            <a:ext cx="253993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1">
                <a:solidFill>
                  <a:srgbClr val="22D3EE"/>
                </a:solidFill>
                <a:latin typeface="JetBrains Mono"/>
              </a:rPr>
              <a:t>DEEPGRID · SEMI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4761" y="507987"/>
            <a:ext cx="2031949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700" b="0">
                <a:solidFill>
                  <a:srgbClr val="7A8CA6"/>
                </a:solidFill>
                <a:latin typeface="JetBrains Mono"/>
              </a:rPr>
              <a:t>PRE-SERIES A ·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96965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2D3EE"/>
                </a:solidFill>
                <a:latin typeface="JetBrains Mono"/>
              </a:rPr>
              <a:t>INVESTOR + GTM STRATEGY · V2.0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0" y="1714457"/>
            <a:ext cx="6857828" cy="17779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2000"/>
              </a:lnSpc>
            </a:pPr>
            <a:r>
              <a:rPr sz="4400" b="1">
                <a:solidFill>
                  <a:srgbClr val="E8F1FF"/>
                </a:solidFill>
                <a:latin typeface="Space Grotesk"/>
              </a:rPr>
              <a:t> Vertically integrated</a:t>
            </a:r>
          </a:p>
          <a:p>
            <a:pPr algn="l">
              <a:lnSpc>
                <a:spcPct val="102000"/>
              </a:lnSpc>
            </a:pPr>
            <a:r>
              <a:rPr sz="4400" b="1">
                <a:solidFill>
                  <a:srgbClr val="E8F1FF"/>
                </a:solidFill>
                <a:latin typeface="Space Grotesk"/>
              </a:rPr>
              <a:t> edge-AI silicon for</a:t>
            </a:r>
          </a:p>
          <a:p>
            <a:pPr algn="l">
              <a:lnSpc>
                <a:spcPct val="102000"/>
              </a:lnSpc>
            </a:pPr>
            <a:r>
              <a:rPr sz="4400" b="1">
                <a:solidFill>
                  <a:srgbClr val="E8F1FF"/>
                </a:solidFill>
                <a:latin typeface="Space Grotesk"/>
              </a:rPr>
              <a:t> </a:t>
            </a:r>
            <a:r>
              <a:rPr sz="4400" b="1">
                <a:solidFill>
                  <a:srgbClr val="22D3EE"/>
                </a:solidFill>
                <a:latin typeface="Space Grotesk"/>
              </a:rPr>
              <a:t>commercial vehicles.</a:t>
            </a:r>
            <a:r>
              <a:rPr sz="4400" b="1">
                <a:solidFill>
                  <a:srgbClr val="E8F1FF"/>
                </a:solidFill>
                <a:latin typeface="Space Grotesk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980" y="3746406"/>
            <a:ext cx="6349841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 Fabless custom-ASIC combo-die for autonomous / ADAS commercial fleets in India and the GCC. FPGA-validated architecture, 28 nm ASIC path, and a red-teamed go-to-market plan built to survive contact with buyers.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5079873"/>
            <a:ext cx="2285942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BLENDED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5232269"/>
            <a:ext cx="2285942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₹55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5676758"/>
            <a:ext cx="2285942" cy="2412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₹45 Cr CCPS equity + ₹10 Cr CGTMSE debt (~$4.79M)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409" y="5079873"/>
            <a:ext cx="2285942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PRIMARY ICP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409" y="5232269"/>
            <a:ext cx="2285942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79.2</a:t>
            </a:r>
            <a:r>
              <a:rPr sz="2600" b="1">
                <a:solidFill>
                  <a:srgbClr val="7A8CA6"/>
                </a:solidFill>
                <a:latin typeface="Space Grotesk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409" y="5676758"/>
            <a:ext cx="2285942" cy="2412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Tactical Defense &amp; Off-Highway/Port, 3.96/5 weighted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342" y="5079873"/>
            <a:ext cx="2285942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COST REDUCTION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342" y="5232269"/>
            <a:ext cx="2285942" cy="41908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3–7</a:t>
            </a:r>
            <a:r>
              <a:rPr sz="2600" b="1">
                <a:solidFill>
                  <a:srgbClr val="7A8CA6"/>
                </a:solidFill>
                <a:latin typeface="Space Grotesk"/>
              </a:rPr>
              <a:t>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342" y="5676758"/>
            <a:ext cx="2285942" cy="1206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vs imported ADAS stacks at equivalent function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276" y="5079873"/>
            <a:ext cx="2285942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GTM DECISION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276" y="5270368"/>
            <a:ext cx="2285942" cy="5028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CD34D"/>
                </a:solidFill>
                <a:latin typeface="Space Grotesk"/>
              </a:rPr>
              <a:t>Proceed with</a:t>
            </a: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FCD34D"/>
                </a:solidFill>
                <a:latin typeface="Space Grotesk"/>
              </a:rPr>
              <a:t>Conditions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276" y="5798595"/>
            <a:ext cx="2285942" cy="1206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5 conditions, day-90 re-scoring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980" y="6286342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01 · COVER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8" y="6286342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Not an offer to sell securities · For discussion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02 ·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The one-page thesis, with the numbers reconciled.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875" y="1739856"/>
            <a:ext cx="3047923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01 · WHAT IS 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875" y="1968450"/>
            <a:ext cx="304792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F1FF"/>
                </a:solidFill>
                <a:latin typeface="Space Grotesk"/>
              </a:rPr>
              <a:t>Architecture works on FPGA.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875" y="2603434"/>
            <a:ext cx="3047923" cy="21589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3D Systolic Tensor Cube (64×512 MAC, dual-issue @ 600 MHz) delivers a measured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39.3 TOPS INT8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on FPGA.</a:t>
            </a:r>
          </a:p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Batch-dispatch firmware demonstrates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~200× utilization gain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vs naive per-frame scheduling on the same silicon.</a:t>
            </a:r>
          </a:p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Six-chiplet combo-die (A100 / R100 / T100 / D100 / S100 / H100) covers ADAS, radar, LiDAR, secure enclave, telematics and health in one BOM slot.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7285" y="1739856"/>
            <a:ext cx="3047923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F59E0B"/>
                </a:solidFill>
                <a:latin typeface="JetBrains Mono"/>
              </a:rPr>
              <a:t>02 · WHY FPGA IS NOT THE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285" y="1968450"/>
            <a:ext cx="304792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F1FF"/>
                </a:solidFill>
                <a:latin typeface="Space Grotesk"/>
              </a:rPr>
              <a:t>FPGA boards are uneconomic at volume.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285" y="2603434"/>
            <a:ext cx="3047923" cy="21589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FPGA validation board cost is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~₹35,000 / unit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. Fine for defense pilots, fatal for retrofit fleets.</a:t>
            </a:r>
          </a:p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The custom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28 nm ASIC path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collapses die cost to </a:t>
            </a:r>
            <a:r>
              <a:rPr sz="850" b="1">
                <a:solidFill>
                  <a:srgbClr val="22D3EE"/>
                </a:solidFill>
                <a:latin typeface="IBM Plex Sans"/>
              </a:rPr>
              <a:t>$3.876 at 1M units (under $4)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and total board BOM to </a:t>
            </a:r>
            <a:r>
              <a:rPr sz="850" b="1">
                <a:solidFill>
                  <a:srgbClr val="22D3EE"/>
                </a:solidFill>
                <a:latin typeface="IBM Plex Sans"/>
              </a:rPr>
              <a:t>~$30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.</a:t>
            </a:r>
          </a:p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This is the entire investment thesis: fund the ASIC transition, not another FPGA generation.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6694" y="1739856"/>
            <a:ext cx="3047923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03 · WHAT WE ARE ASKING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6694" y="1968450"/>
            <a:ext cx="304792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F1FF"/>
                </a:solidFill>
                <a:latin typeface="Space Grotesk"/>
              </a:rPr>
              <a:t>₹55 Cr blended raise.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6694" y="2603434"/>
            <a:ext cx="3047923" cy="21589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₹45 Cr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CCPS equity (Pre-Series A) funds NRE + MPW tape-out + a 30-month runway to positive net income in FY2029.</a:t>
            </a:r>
          </a:p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₹10 Cr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CGTMSE-backed venture debt covers working capital against 90–180 day government payment cycles.</a:t>
            </a:r>
          </a:p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Blended cost of capital is materially lower than a pure-equity round of the same size. Full use of funds on slide 35.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5333866"/>
            <a:ext cx="1777955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F59E0B"/>
                </a:solidFill>
                <a:latin typeface="JetBrains Mono"/>
              </a:rPr>
              <a:t>⚠ CORRECTION ON-SLIDE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476" y="5549761"/>
            <a:ext cx="10286742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950" b="0">
                <a:solidFill>
                  <a:srgbClr val="E8F1FF"/>
                </a:solidFill>
                <a:latin typeface="IBM Plex Sans"/>
              </a:rPr>
              <a:t> Earlier materials cited a </a:t>
            </a:r>
            <a:r>
              <a:rPr sz="950" b="0">
                <a:solidFill>
                  <a:srgbClr val="FCD34D"/>
                </a:solidFill>
                <a:latin typeface="IBM Plex Sans"/>
              </a:rPr>
              <a:t>₹25 Cr</a:t>
            </a:r>
            <a:r>
              <a:rPr sz="950" b="0">
                <a:solidFill>
                  <a:srgbClr val="E8F1FF"/>
                </a:solidFill>
                <a:latin typeface="IBM Plex Sans"/>
              </a:rPr>
              <a:t> ask. The reconciled figure is </a:t>
            </a:r>
            <a:r>
              <a:rPr sz="950" b="1">
                <a:solidFill>
                  <a:srgbClr val="22D3EE"/>
                </a:solidFill>
                <a:latin typeface="IBM Plex Sans"/>
              </a:rPr>
              <a:t>₹45 Cr equity CCPS + ₹10 Cr CGTMSE debt = ₹55 Cr blended</a:t>
            </a:r>
            <a:r>
              <a:rPr sz="950" b="0">
                <a:solidFill>
                  <a:srgbClr val="E8F1FF"/>
                </a:solidFill>
                <a:latin typeface="IBM Plex Sans"/>
              </a:rPr>
              <a:t>. Any external document, deck, or one-pager still quoting ₹25 Cr should be withdrawn and replaced. Full corrections ledger on slide 06.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1 · COMPANY, PROBLEM,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02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03 ·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The Squeeze Zone.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33466"/>
            <a:ext cx="8889777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Every pure-play autonomy stack in India inherits merchant-silicon economics — and prices itself out of its own market.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2120846"/>
            <a:ext cx="2666933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LAYER 1 · SOFTWARE PLAYERS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324041"/>
            <a:ext cx="266693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F1FF"/>
                </a:solidFill>
                <a:latin typeface="Space Grotesk"/>
              </a:rPr>
              <a:t>Pure-Play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F1FF"/>
                </a:solidFill>
                <a:latin typeface="Space Grotesk"/>
              </a:rPr>
              <a:t>AI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959026"/>
            <a:ext cx="2666933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Minus Zero, Swaayatt Robots, RoshAI — algorithm-first, hardware-agnostic. Excellent perception IP, but treats silicon as a black-box commodity.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380" y="1993850"/>
            <a:ext cx="2666933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LAYER 2 · WHERE VALUE LEAKS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380" y="2197045"/>
            <a:ext cx="2666933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The Squeeze</a:t>
            </a:r>
          </a:p>
          <a:p>
            <a:pPr algn="l">
              <a:lnSpc>
                <a:spcPct val="110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Zone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2380" y="2895527"/>
            <a:ext cx="2666933" cy="888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Merchant silicon (NVIDIA DRIVE, Ambarella, Mobileye, Qualcomm) drives per-vehicle BOM past </a:t>
            </a:r>
            <a:r>
              <a:rPr sz="800" b="1">
                <a:solidFill>
                  <a:srgbClr val="EF4444"/>
                </a:solidFill>
                <a:latin typeface="IBM Plex Sans"/>
              </a:rPr>
              <a:t>$6,000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 Add radar, camera, enclosure, integration — the stack cannot land under fleet payback thresholds.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285" y="2120846"/>
            <a:ext cx="2666933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LAYER 3 · MARKET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285" y="2324041"/>
            <a:ext cx="266693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F1FF"/>
                </a:solidFill>
                <a:latin typeface="Space Grotesk"/>
              </a:rPr>
              <a:t>Sales limited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F1FF"/>
                </a:solidFill>
                <a:latin typeface="Space Grotesk"/>
              </a:rPr>
              <a:t>to rich fleets.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285" y="2959026"/>
            <a:ext cx="2666933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Only US / EU / GCC logistics majors can amortize the cost. Indian and cost-sensitive GCC fleets get shut out of the safety-mandate wave.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476" y="4406789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EVIDENCE — REPRESENTATIVE BOM COMPOSITION OF IMPORTED ADAS L2+ STACKS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476" y="4698882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JetBrains Mono"/>
              </a:rPr>
              <a:t>Compute SoC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0336" y="4698882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E8F1FF"/>
                </a:solidFill>
                <a:latin typeface="JetBrains Mono"/>
              </a:rPr>
              <a:t>$2,400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476" y="4940176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JetBrains Mono"/>
              </a:rPr>
              <a:t>Radar 4× + LiDAR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51358" y="4940176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E8F1FF"/>
                </a:solidFill>
                <a:latin typeface="JetBrains Mono"/>
              </a:rPr>
              <a:t>$1,900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5181470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JetBrains Mono"/>
              </a:rPr>
              <a:t>Cameras 6–8×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73403" y="5181470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E8F1FF"/>
                </a:solidFill>
                <a:latin typeface="JetBrains Mono"/>
              </a:rPr>
              <a:t>$880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76" y="5422764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JetBrains Mono"/>
              </a:rPr>
              <a:t>Enclosure + wiring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4920" y="5422764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E8F1FF"/>
                </a:solidFill>
                <a:latin typeface="JetBrains Mono"/>
              </a:rPr>
              <a:t>$470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476" y="5664058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JetBrains Mono"/>
              </a:rPr>
              <a:t>Integration + 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84425" y="5664058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E8F1FF"/>
                </a:solidFill>
                <a:latin typeface="JetBrains Mono"/>
              </a:rPr>
              <a:t>$350+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790" y="4762380"/>
            <a:ext cx="2793930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TOTAL IMPORTED BOM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1790" y="4978275"/>
            <a:ext cx="2793930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EF4444"/>
                </a:solidFill>
                <a:latin typeface="Space Grotesk"/>
              </a:rPr>
              <a:t>$6,000+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790" y="5524361"/>
            <a:ext cx="2793930" cy="27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Representative L2+ stack. Excludes install labour. Fleet payback impossible below ₹8 L retrofit price at Indian diesel-fleet TCOs.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1 · COMPANY, PROBLEM, SOLUTION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03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04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DGrid Alpha — a single combo-die closes the BOM gap.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8889777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Four proven engineering choices, one BOM slot, ~$30 board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17652"/>
            <a:ext cx="215894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01 · COMPUTE FABRIC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158946"/>
            <a:ext cx="2158946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3D Systolic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Tensor Cube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933626"/>
            <a:ext cx="2158946" cy="888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64 × 512 MAC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lattice, dual-issue @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600 MHz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→ measured </a:t>
            </a:r>
            <a:r>
              <a:rPr sz="800" b="1">
                <a:solidFill>
                  <a:srgbClr val="22D3EE"/>
                </a:solidFill>
                <a:latin typeface="IBM Plex Sans"/>
              </a:rPr>
              <a:t>39.3 TOPS INT8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Sized for one 8MP camera cluster + 4-corner radar without off-chip DRAM thrash.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409" y="1917652"/>
            <a:ext cx="215894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02 · FIRMWARE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409" y="2158946"/>
            <a:ext cx="2158946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Batch-dispatch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scheduler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409" y="2933626"/>
            <a:ext cx="2158946" cy="888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Micro-batches perception ops across camera + radar streams. Measured </a:t>
            </a:r>
            <a:r>
              <a:rPr sz="750" b="1">
                <a:solidFill>
                  <a:srgbClr val="22D3EE"/>
                </a:solidFill>
                <a:latin typeface="IBM Plex Sans"/>
              </a:rPr>
              <a:t>~200×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utilization gain over naive per-frame dispatch on the same silicon.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Reason MAC array actually reaches its TOPS ceiling.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342" y="1917652"/>
            <a:ext cx="215894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03 ·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342" y="2158946"/>
            <a:ext cx="2158946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Six chiplets,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one combo-die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342" y="2933626"/>
            <a:ext cx="2158946" cy="888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80" b="0">
                <a:solidFill>
                  <a:srgbClr val="B7C7DE"/>
                </a:solidFill>
                <a:latin typeface="IBM Plex Sans"/>
              </a:rPr>
              <a:t> ADAS, radar DSP, thermal / LiDAR DSP, secure enclave, telematics, and driver-health in one package on 28 nm HPC+.</a:t>
            </a:r>
          </a:p>
          <a:p>
            <a:pPr algn="l">
              <a:lnSpc>
                <a:spcPct val="150000"/>
              </a:lnSpc>
            </a:pPr>
            <a:r>
              <a:rPr sz="780" b="0">
                <a:solidFill>
                  <a:srgbClr val="B7C7DE"/>
                </a:solidFill>
                <a:latin typeface="IBM Plex Sans"/>
              </a:rPr>
              <a:t> Replaces the four-to-six chip stack most Tier-1 designs still ship.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276" y="1917652"/>
            <a:ext cx="215894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04 · COST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3276" y="2158946"/>
            <a:ext cx="2158946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~$30 board</a:t>
            </a:r>
          </a:p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BOM at 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276" y="2933626"/>
            <a:ext cx="2158946" cy="888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80" b="0">
                <a:solidFill>
                  <a:srgbClr val="B7C7DE"/>
                </a:solidFill>
                <a:latin typeface="IBM Plex Sans"/>
              </a:rPr>
              <a:t> Die cost </a:t>
            </a:r>
            <a:r>
              <a:rPr sz="780" b="1">
                <a:solidFill>
                  <a:srgbClr val="22D3EE"/>
                </a:solidFill>
                <a:latin typeface="IBM Plex Sans"/>
              </a:rPr>
              <a:t>$3.876</a:t>
            </a:r>
            <a:r>
              <a:rPr sz="780" b="0">
                <a:solidFill>
                  <a:srgbClr val="B7C7DE"/>
                </a:solidFill>
                <a:latin typeface="IBM Plex Sans"/>
              </a:rPr>
              <a:t> at 1M units (28 nm HPC+).</a:t>
            </a:r>
          </a:p>
          <a:p>
            <a:pPr algn="l">
              <a:lnSpc>
                <a:spcPct val="150000"/>
              </a:lnSpc>
            </a:pPr>
            <a:r>
              <a:rPr sz="780" b="0">
                <a:solidFill>
                  <a:srgbClr val="B7C7DE"/>
                </a:solidFill>
                <a:latin typeface="IBM Plex Sans"/>
              </a:rPr>
              <a:t> Board BOM </a:t>
            </a:r>
            <a:r>
              <a:rPr sz="780" b="1">
                <a:solidFill>
                  <a:srgbClr val="22D3EE"/>
                </a:solidFill>
                <a:latin typeface="IBM Plex Sans"/>
              </a:rPr>
              <a:t>~$30</a:t>
            </a:r>
            <a:r>
              <a:rPr sz="780" b="0">
                <a:solidFill>
                  <a:srgbClr val="B7C7DE"/>
                </a:solidFill>
                <a:latin typeface="IBM Plex Sans"/>
              </a:rPr>
              <a:t> including package, PMIC, DDR, enclosure headers.</a:t>
            </a:r>
          </a:p>
          <a:p>
            <a:pPr algn="l">
              <a:lnSpc>
                <a:spcPct val="150000"/>
              </a:lnSpc>
            </a:pPr>
            <a:r>
              <a:rPr sz="780" b="0">
                <a:solidFill>
                  <a:srgbClr val="B7C7DE"/>
                </a:solidFill>
                <a:latin typeface="IBM Plex Sans"/>
              </a:rPr>
              <a:t> Direct comparison: Mobileye ASP $50 → </a:t>
            </a:r>
            <a:r>
              <a:rPr sz="780" b="1">
                <a:solidFill>
                  <a:srgbClr val="22D3EE"/>
                </a:solidFill>
                <a:latin typeface="IBM Plex Sans"/>
              </a:rPr>
              <a:t>12.9× cost advantage</a:t>
            </a:r>
            <a:r>
              <a:rPr sz="780" b="0">
                <a:solidFill>
                  <a:srgbClr val="B7C7DE"/>
                </a:solidFill>
                <a:latin typeface="IBM Plex Sans"/>
              </a:rPr>
              <a:t> at the compute node.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476" y="4343291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COMPUTE-NODE COST, APPLES-TO-APPLES (SINGLE UNIT SHOWN AT SCALE)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6" y="4698882"/>
            <a:ext cx="1777955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B7C7DE"/>
                </a:solidFill>
                <a:latin typeface="IBM Plex Sans"/>
              </a:rPr>
              <a:t>Merchant SoC (imported)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0736" y="4698882"/>
            <a:ext cx="888977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F4444"/>
                </a:solidFill>
                <a:latin typeface="JetBrains Mono"/>
              </a:rPr>
              <a:t>~$2,400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476" y="5079873"/>
            <a:ext cx="1777955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B7C7DE"/>
                </a:solidFill>
                <a:latin typeface="IBM Plex Sans"/>
              </a:rPr>
              <a:t>FPGA validation (current)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90895" y="5079873"/>
            <a:ext cx="1142971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FCD34D"/>
                </a:solidFill>
                <a:latin typeface="JetBrains Mono"/>
              </a:rPr>
              <a:t>~$420 (₹35k)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476" y="5460863"/>
            <a:ext cx="1777955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2D3EE"/>
                </a:solidFill>
                <a:latin typeface="IBM Plex Sans"/>
              </a:rPr>
              <a:t>DGrid Alpha 28 nm ASIC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4425" y="5460863"/>
            <a:ext cx="1777955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2D3EE"/>
                </a:solidFill>
                <a:latin typeface="JetBrains Mono"/>
              </a:rPr>
              <a:t>$3.876 die · ~$30 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476" y="5810104"/>
            <a:ext cx="10286742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7A8CA6"/>
                </a:solidFill>
                <a:latin typeface="IBM Plex Sans"/>
              </a:rPr>
              <a:t>Die cost from foundry quote at 1M units, 28 nm HPC+, ~20 mm² net. See slide 31 for full unit economics build-up.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1 · COMPANY, PROBLEM, 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04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05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Six chiplets on one 28 nm combo-die.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8889777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Each chiplet maps to a specific regulatory function or revenue lane. No decorative silicon.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977" y="1955751"/>
            <a:ext cx="253993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DGRID·ALPHA · 28NM HPC+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904" y="1955751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~20mm² · 6 CHIPLETS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572" y="2387540"/>
            <a:ext cx="1333466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A100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572" y="2527236"/>
            <a:ext cx="1333466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F1FF"/>
                </a:solidFill>
                <a:latin typeface="Space Grotesk"/>
              </a:rPr>
              <a:t>ADAS / AI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572" y="2731622"/>
            <a:ext cx="133346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67E8F9"/>
                </a:solidFill>
                <a:latin typeface="JetBrains Mono"/>
              </a:rPr>
              <a:t>39.3 TOPS INT8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572" y="2884018"/>
            <a:ext cx="1333466" cy="2228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650" b="0">
                <a:solidFill>
                  <a:srgbClr val="7A8CA6"/>
                </a:solidFill>
                <a:latin typeface="IBM Plex Sans"/>
              </a:rPr>
              <a:t>64×512 MAC tensor cube · perception, sensor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5032" y="2387540"/>
            <a:ext cx="1333466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8B5CF6"/>
                </a:solidFill>
                <a:latin typeface="JetBrains Mono"/>
              </a:rPr>
              <a:t>R100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5032" y="2527236"/>
            <a:ext cx="1333466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F1FF"/>
                </a:solidFill>
                <a:latin typeface="Space Grotesk"/>
              </a:rPr>
              <a:t>Radar DSP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5032" y="2731622"/>
            <a:ext cx="133346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C4B5FD"/>
                </a:solidFill>
                <a:latin typeface="JetBrains Mono"/>
              </a:rPr>
              <a:t>77 GHz FMCW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5032" y="2884018"/>
            <a:ext cx="1333466" cy="2228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650" b="0">
                <a:solidFill>
                  <a:srgbClr val="7A8CA6"/>
                </a:solidFill>
                <a:latin typeface="IBM Plex Sans"/>
              </a:rPr>
              <a:t>FFT + CFAR pipeline · 4-corner radar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2492" y="2387540"/>
            <a:ext cx="1460463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14B8A6"/>
                </a:solidFill>
                <a:latin typeface="JetBrains Mono"/>
              </a:rPr>
              <a:t>T100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2492" y="2527236"/>
            <a:ext cx="1460463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F1FF"/>
                </a:solidFill>
                <a:latin typeface="Space Grotesk"/>
              </a:rPr>
              <a:t>Thermal / LiDAR DSP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2492" y="2731622"/>
            <a:ext cx="1460463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5EEAD4"/>
                </a:solidFill>
                <a:latin typeface="JetBrains Mono"/>
              </a:rPr>
              <a:t>MIPI CSI-2 + SPI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2492" y="2884018"/>
            <a:ext cx="1460463" cy="2228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650" b="0">
                <a:solidFill>
                  <a:srgbClr val="7A8CA6"/>
                </a:solidFill>
                <a:latin typeface="IBM Plex Sans"/>
              </a:rPr>
              <a:t>Night / low-light + optional solid-state LiDAR channel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7572" y="3657508"/>
            <a:ext cx="1333466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D100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7572" y="3797205"/>
            <a:ext cx="1333466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F1FF"/>
                </a:solidFill>
                <a:latin typeface="Space Grotesk"/>
              </a:rPr>
              <a:t>Secure Enclave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7572" y="4001590"/>
            <a:ext cx="133346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FCA5A5"/>
                </a:solidFill>
                <a:latin typeface="JetBrains Mono"/>
              </a:rPr>
              <a:t>Lockstep RISC-V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572" y="4153986"/>
            <a:ext cx="1333466" cy="2228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650" b="0">
                <a:solidFill>
                  <a:srgbClr val="7A8CA6"/>
                </a:solidFill>
                <a:latin typeface="IBM Plex Sans"/>
              </a:rPr>
              <a:t>ISO 26262 target, HSM, keys stay on-die (sovereign data)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5032" y="3657508"/>
            <a:ext cx="1333466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S100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05032" y="3797205"/>
            <a:ext cx="1333466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F1FF"/>
                </a:solidFill>
                <a:latin typeface="Space Grotesk"/>
              </a:rPr>
              <a:t>SDV Telematics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5032" y="4001590"/>
            <a:ext cx="1333466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FCD34D"/>
                </a:solidFill>
                <a:latin typeface="JetBrains Mono"/>
              </a:rPr>
              <a:t>AIS-140 compliant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5032" y="4153986"/>
            <a:ext cx="1333466" cy="2228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650" b="0">
                <a:solidFill>
                  <a:srgbClr val="7A8CA6"/>
                </a:solidFill>
                <a:latin typeface="IBM Plex Sans"/>
              </a:rPr>
              <a:t>GNSS + LTE + emergency button · kills secondary tracker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2492" y="3657508"/>
            <a:ext cx="1460463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C55E"/>
                </a:solidFill>
                <a:latin typeface="JetBrains Mono"/>
              </a:rPr>
              <a:t>H100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2492" y="3797205"/>
            <a:ext cx="1460463" cy="15358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E8F1FF"/>
                </a:solidFill>
                <a:latin typeface="Space Grotesk"/>
              </a:rPr>
              <a:t>Health / Bio-ADC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2492" y="4001590"/>
            <a:ext cx="1460463" cy="1142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86EFAC"/>
                </a:solidFill>
                <a:latin typeface="JetBrains Mono"/>
              </a:rPr>
              <a:t>DMS analog front-end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2492" y="4153986"/>
            <a:ext cx="1460463" cy="2228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650" b="0">
                <a:solidFill>
                  <a:srgbClr val="7A8CA6"/>
                </a:solidFill>
                <a:latin typeface="IBM Plex Sans"/>
              </a:rPr>
              <a:t>Drowsiness / distraction detection · AIS-184 relevant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7572" y="4927476"/>
            <a:ext cx="4635384" cy="10159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FABRIC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7572" y="5067173"/>
            <a:ext cx="4635384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F1FF"/>
                </a:solidFill>
                <a:latin typeface="Space Grotesk"/>
              </a:rPr>
              <a:t>Coherent chiplet interconnect + unified LPDDR4 controller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7572" y="5295767"/>
            <a:ext cx="4635384" cy="2666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Zero-copy tensor handoff A100 ↔ R100 ↔ T100. D100 owns the boot chain, S100 owns the modem, H100 streams straight into A100's classifier heads.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9841" y="1981150"/>
            <a:ext cx="4762380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CHIPLET → REGULATORY FUNCTION MAP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9841" y="2349441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CHIPLET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5320" y="2349441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FUNCTION IT OWNS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99282" y="2349441"/>
            <a:ext cx="114297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INDIA MANDATE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32749" y="2349441"/>
            <a:ext cx="114297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REVENUE LANE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9841" y="2628834"/>
            <a:ext cx="825479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22D3EE"/>
                </a:solidFill>
                <a:latin typeface="JetBrains Mono"/>
              </a:rPr>
              <a:t>A100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5320" y="2628834"/>
            <a:ext cx="1523961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ADAS perception + fusion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99282" y="2628834"/>
            <a:ext cx="1333466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AIS-184 / 186 / 187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2749" y="2628834"/>
            <a:ext cx="1079473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Retrofit + OEM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9841" y="3213019"/>
            <a:ext cx="825479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8B5CF6"/>
                </a:solidFill>
                <a:latin typeface="JetBrains Mono"/>
              </a:rPr>
              <a:t>R100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5320" y="3213019"/>
            <a:ext cx="1523961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77 GHz radar processing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99282" y="3213019"/>
            <a:ext cx="1333466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AIS-188 (AEBS)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32749" y="3213019"/>
            <a:ext cx="1079473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Retrofit + OEM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9841" y="3797205"/>
            <a:ext cx="825479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14B8A6"/>
                </a:solidFill>
                <a:latin typeface="JetBrains Mono"/>
              </a:rPr>
              <a:t>T100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75320" y="3797205"/>
            <a:ext cx="1523961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Thermal / LiDAR DSP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99282" y="3797205"/>
            <a:ext cx="1333466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AIS-189 / 190 (night)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32749" y="3797205"/>
            <a:ext cx="1079473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Off-highway, defense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49841" y="4381390"/>
            <a:ext cx="825479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EF4444"/>
                </a:solidFill>
                <a:latin typeface="JetBrains Mono"/>
              </a:rPr>
              <a:t>D100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5320" y="4381390"/>
            <a:ext cx="1523961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Secure boot, HSM, keys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99282" y="4381390"/>
            <a:ext cx="1333466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ISO 26262 target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32749" y="4381390"/>
            <a:ext cx="1079473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Defense (moat)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49841" y="4965575"/>
            <a:ext cx="825479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F59E0B"/>
                </a:solidFill>
                <a:latin typeface="JetBrains Mono"/>
              </a:rPr>
              <a:t>S100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5320" y="4965575"/>
            <a:ext cx="1523961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Telematics + GNSS + LTE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99282" y="4965575"/>
            <a:ext cx="1333466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AIS-140 / 162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32749" y="4965575"/>
            <a:ext cx="1079473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SaaS attach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49841" y="5549761"/>
            <a:ext cx="825479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22C55E"/>
                </a:solidFill>
                <a:latin typeface="JetBrains Mono"/>
              </a:rPr>
              <a:t>H100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5320" y="5549761"/>
            <a:ext cx="1523961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DMS analog front-end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99282" y="5549761"/>
            <a:ext cx="1333466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AIS-184 relevant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32749" y="5549761"/>
            <a:ext cx="1079473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Retrofit + insurer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1 · COMPANY, PROBLEM, SOLUTION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05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F59E0B"/>
                </a:solidFill>
                <a:latin typeface="JetBrains Mono"/>
              </a:rPr>
              <a:t>06 · CORRECTIONS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Numbers we are explicitly retracting.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8889777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Every earlier draft, one-pager or external note quoting the left column should be withdrawn and replaced with the 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36701"/>
            <a:ext cx="114297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8946" y="1936701"/>
            <a:ext cx="253993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EARLIER / DRAFT FIGURE (RETRACTED)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5879" y="1936701"/>
            <a:ext cx="253993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RECONCILED FIGURE (USE)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2812" y="1936701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WHY THE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2298642"/>
            <a:ext cx="1142971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Blended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8946" y="2298642"/>
            <a:ext cx="2539936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F4444"/>
                </a:solidFill>
                <a:latin typeface="JetBrains Mono"/>
              </a:rPr>
              <a:t>₹25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5879" y="2298642"/>
            <a:ext cx="2539936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2D3EE"/>
                </a:solidFill>
                <a:latin typeface="JetBrains Mono"/>
              </a:rPr>
              <a:t>₹55 Cr blended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7A8CA6"/>
                </a:solidFill>
                <a:latin typeface="JetBrains Mono"/>
              </a:rPr>
              <a:t>₹45 Cr CCPS + ₹10 Cr CGTMSE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2812" y="2298642"/>
            <a:ext cx="3809904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Original ₹25 Cr covered NRE only. Reconciled ask funds NRE + tape-out + 30-month runway to net-income-positive in FY2029.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111422"/>
            <a:ext cx="1142971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Tape-out NRE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8946" y="3111422"/>
            <a:ext cx="2539936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F4444"/>
                </a:solidFill>
                <a:latin typeface="JetBrains Mono"/>
              </a:rPr>
              <a:t>$8M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5879" y="3111422"/>
            <a:ext cx="2539936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2D3EE"/>
                </a:solidFill>
                <a:latin typeface="JetBrains Mono"/>
              </a:rPr>
              <a:t>$3.17M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7A8CA6"/>
                </a:solidFill>
                <a:latin typeface="JetBrains Mono"/>
              </a:rPr>
              <a:t>Full MPW phasing on slide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2812" y="3111422"/>
            <a:ext cx="3809904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MPW (multi-project wafer) shuttle on 28 nm HPC+, shared reticle, no full-mask commit. Prior $8M assumed dedicated mask.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476" y="3924201"/>
            <a:ext cx="1142971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Break-even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8946" y="3924201"/>
            <a:ext cx="2539936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F4444"/>
                </a:solidFill>
                <a:latin typeface="JetBrains Mono"/>
              </a:rPr>
              <a:t>3,636 units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879" y="3924201"/>
            <a:ext cx="2539936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2D3EE"/>
                </a:solidFill>
                <a:latin typeface="JetBrains Mono"/>
              </a:rPr>
              <a:t>~174,908 chips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7A8CA6"/>
                </a:solidFill>
                <a:latin typeface="JetBrains Mono"/>
              </a:rPr>
              <a:t>Crossing FY2032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2812" y="3924201"/>
            <a:ext cx="3809904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Recalculated with actual NRE, fully-loaded opex, and chip-level (not board-level) margin. Retire the 3,636 figure entirely.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76" y="4736981"/>
            <a:ext cx="1142971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Die cost at 1M units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8946" y="4736981"/>
            <a:ext cx="2539936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F4444"/>
                </a:solidFill>
                <a:latin typeface="JetBrains Mono"/>
              </a:rPr>
              <a:t>"&lt; $3"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5879" y="4736981"/>
            <a:ext cx="2539936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2D3EE"/>
                </a:solidFill>
                <a:latin typeface="JetBrains Mono"/>
              </a:rPr>
              <a:t>$3.876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7A8CA6"/>
                </a:solidFill>
                <a:latin typeface="JetBrains Mono"/>
              </a:rPr>
              <a:t>Foundry-quoted, still under $4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2812" y="4736981"/>
            <a:ext cx="3809904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Includes wafer, package, test, yield-loss provision. Still delivers a 12.9× advantage vs Mobileye ASP $50 — not 774×.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76" y="5549761"/>
            <a:ext cx="1142971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Banned narrative claims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58946" y="5549761"/>
            <a:ext cx="253993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EF4444"/>
                </a:solidFill>
                <a:latin typeface="IBM Plex Sans"/>
              </a:rPr>
              <a:t>"84% ASIC gross margin" · any insurance-premium-reduction % · "mandate-ready" AD2 · accident-reduction % · 5M+ truck TAM as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5879" y="5549761"/>
            <a:ext cx="253993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22D3EE"/>
                </a:solidFill>
                <a:latin typeface="IBM Plex Sans"/>
              </a:rPr>
              <a:t>Do not repeat. See slide 18 for approved substitutes and slide 33 for the actual margin curve.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2812" y="5549761"/>
            <a:ext cx="3809904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Each of these is either unreconciled arithmetic, unmeasured effect, or forecast confused with demand.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1 · COMPANY, PROBLEM, 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06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07 · GTM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How this GTM was built. Six stages, two gates, one red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Every downstream slide in this deck traces back to an artifact produced in one of these stages. Nothing is hand-wavy.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977" y="2044648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STAGE 0–1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977" y="2349441"/>
            <a:ext cx="146046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E8F1FF"/>
                </a:solidFill>
                <a:latin typeface="Space Grotesk"/>
              </a:rPr>
              <a:t>Source intake &amp; competitor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977" y="2933626"/>
            <a:ext cx="1460463" cy="152396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34 sourced claims from filings, mandate notifications, competitor material, primary interviews.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Each classified as one of: </a:t>
            </a:r>
            <a:r>
              <a:rPr sz="750" b="1">
                <a:solidFill>
                  <a:srgbClr val="22D3EE"/>
                </a:solidFill>
                <a:latin typeface="IBM Plex Sans"/>
              </a:rPr>
              <a:t>fact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, </a:t>
            </a:r>
            <a:r>
              <a:rPr sz="750" b="1">
                <a:solidFill>
                  <a:srgbClr val="67E8F9"/>
                </a:solidFill>
                <a:latin typeface="IBM Plex Sans"/>
              </a:rPr>
              <a:t>claim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, </a:t>
            </a:r>
            <a:r>
              <a:rPr sz="750" b="1">
                <a:solidFill>
                  <a:srgbClr val="FCD34D"/>
                </a:solidFill>
                <a:latin typeface="IBM Plex Sans"/>
              </a:rPr>
              <a:t>inference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, </a:t>
            </a:r>
            <a:r>
              <a:rPr sz="750" b="1">
                <a:solidFill>
                  <a:srgbClr val="EF4444"/>
                </a:solidFill>
                <a:latin typeface="IBM Plex Sans"/>
              </a:rPr>
              <a:t>unknown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→ Feeds all scoring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4233" y="2044648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4233" y="2349441"/>
            <a:ext cx="146046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ICP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4233" y="2933626"/>
            <a:ext cx="1460463" cy="152396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Independent 10-dimension weighted scorecard. 5 candidate segments scored against evidence, not narrative preference.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Producer of the 79.2% / 68.0% / 52.4% / 46.4% / 43.0% numbers.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→ Methodology slide 08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2492" y="2628834"/>
            <a:ext cx="4444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550" b="0">
                <a:solidFill>
                  <a:srgbClr val="F59E0B"/>
                </a:solidFill>
                <a:latin typeface="JetBrains Mono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5192" y="2857428"/>
            <a:ext cx="419089" cy="101597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35000"/>
              </a:lnSpc>
            </a:pPr>
            <a:r>
              <a:rPr sz="600" b="0">
                <a:solidFill>
                  <a:srgbClr val="FCD34D"/>
                </a:solidFill>
                <a:latin typeface="IBM Plex Sans"/>
              </a:rPr>
              <a:t>MANDATORY · USER APPROVAL BEFORE ADVANCE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4777" y="2044648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4777" y="2349441"/>
            <a:ext cx="146046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Validation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4777" y="2933626"/>
            <a:ext cx="1460463" cy="152396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Fatal-assumptions test.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27-question buyer discovery guide (Defense + Fleet variants).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Paid-pilot charter template.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Kill criteria written 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before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outreach, not after.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0032" y="2044648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STAGE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0032" y="2349441"/>
            <a:ext cx="146046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GTM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0032" y="2933626"/>
            <a:ext cx="1460463" cy="152396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Positioning statements (two-track), pricing logic, channel matrix, and the 13-week execution plan.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→ Slides 17–20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5288" y="2044648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STAGE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5288" y="2349441"/>
            <a:ext cx="146046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Red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5288" y="2933626"/>
            <a:ext cx="1460463" cy="152396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Adversarial review against the plan produced by Stage 4.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Found </a:t>
            </a:r>
            <a:r>
              <a:rPr sz="750" b="1">
                <a:solidFill>
                  <a:srgbClr val="EF4444"/>
                </a:solidFill>
                <a:latin typeface="IBM Plex Sans"/>
              </a:rPr>
              <a:t>2 real gaps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(Indian defense primes unassessed; nature of the ₹1 Cr revenue unconfirmed).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→ Slide 36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6742" y="2158946"/>
            <a:ext cx="101597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F59E0B"/>
                </a:solidFill>
                <a:latin typeface="JetBrains Mono"/>
              </a:rPr>
              <a:t>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6742" y="2400239"/>
            <a:ext cx="1015974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CD34D"/>
                </a:solidFill>
                <a:latin typeface="Space Grotesk"/>
              </a:rPr>
              <a:t>Proceed</a:t>
            </a: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FCD34D"/>
                </a:solidFill>
                <a:latin typeface="Space Grotesk"/>
              </a:rPr>
              <a:t>with</a:t>
            </a: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FCD34D"/>
                </a:solidFill>
                <a:latin typeface="Space Grotesk"/>
              </a:rPr>
              <a:t>Conditions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6742" y="3301917"/>
            <a:ext cx="1015974" cy="11429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 5 conditions, priority-ordered.</a:t>
            </a:r>
          </a:p>
          <a:p>
            <a:pPr algn="l">
              <a:lnSpc>
                <a:spcPct val="15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 Day-90 hard re-scoring gate.</a:t>
            </a:r>
          </a:p>
          <a:p>
            <a:pPr algn="l">
              <a:lnSpc>
                <a:spcPct val="15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00" b="0">
                <a:solidFill>
                  <a:srgbClr val="7A8CA6"/>
                </a:solidFill>
                <a:latin typeface="IBM Plex Sans"/>
              </a:rPr>
              <a:t>→ Slide 37</a:t>
            </a:r>
            <a:r>
              <a:rPr sz="700" b="0">
                <a:solidFill>
                  <a:srgbClr val="B7C7DE"/>
                </a:solidFill>
                <a:latin typeface="IBM Plex Sans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76" y="4914777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EVIDENCE-CLASSIFICATION LEGEND USED ACROSS THE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7572" y="5156071"/>
            <a:ext cx="228594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FACT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— directly observable, audited or cited.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7572" y="5397365"/>
            <a:ext cx="228594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CLAIM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— asserted by a party with stake in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572" y="5638659"/>
            <a:ext cx="228594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20" b="1">
                <a:solidFill>
                  <a:srgbClr val="E8F1FF"/>
                </a:solidFill>
                <a:latin typeface="IBM Plex Sans"/>
              </a:rPr>
              <a:t>INFERENCE</a:t>
            </a:r>
            <a:r>
              <a:rPr sz="720" b="0">
                <a:solidFill>
                  <a:srgbClr val="E8F1FF"/>
                </a:solidFill>
                <a:latin typeface="IBM Plex Sans"/>
              </a:rPr>
              <a:t> — derived from facts, not itself measured.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508" y="5156071"/>
            <a:ext cx="406389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UNKNOWN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— flagged and gated, never treated as evidence.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2412" y="5422764"/>
            <a:ext cx="774680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Of the 34 sourced claims: 12 facts, 11 claims, 8 inferences, </a:t>
            </a:r>
            <a:r>
              <a:rPr sz="750" b="1">
                <a:solidFill>
                  <a:srgbClr val="EF4444"/>
                </a:solidFill>
                <a:latin typeface="IBM Plex Sans"/>
              </a:rPr>
              <a:t>3 unknowns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. The three unknowns include the nature of the ₹1 Cr Defense revenue (grant vs commercial sale), which gates further Defense resourcing until confirmed — see slide 36.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07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08 · ICP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Ten dimensions. Weighted. Applied identically to every segment.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Five core dimensions from the founder's original hypothesis, five added by the pipeline for evidence discipline.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43051"/>
            <a:ext cx="2539936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FIVE CORE · FOUNDER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2876" y="1943051"/>
            <a:ext cx="952476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412939"/>
            <a:ext cx="380990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617D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6965" y="2387540"/>
            <a:ext cx="3428914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F1FF"/>
                </a:solidFill>
                <a:latin typeface="IBM Plex Sans"/>
              </a:rPr>
              <a:t>Regulatory Compulsion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Is buying forced by mandate on a hard date?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2876" y="2463738"/>
            <a:ext cx="95247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22D3EE"/>
                </a:solidFill>
                <a:latin typeface="JetBrains Mono"/>
              </a:rPr>
              <a:t>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2959026"/>
            <a:ext cx="380990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617D"/>
                </a:solidFill>
                <a:latin typeface="JetBrains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96965" y="2933626"/>
            <a:ext cx="3428914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F1FF"/>
                </a:solidFill>
                <a:latin typeface="IBM Plex Sans"/>
              </a:rPr>
              <a:t>Integration / Cert Friction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How much OEM validation stands between us and a sale?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876" y="3009824"/>
            <a:ext cx="95247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22D3EE"/>
                </a:solidFill>
                <a:latin typeface="JetBrains Mono"/>
              </a:rPr>
              <a:t>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505112"/>
            <a:ext cx="380990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617D"/>
                </a:solidFill>
                <a:latin typeface="JetBrain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6965" y="3479713"/>
            <a:ext cx="3428914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F1FF"/>
                </a:solidFill>
                <a:latin typeface="IBM Plex Sans"/>
              </a:rPr>
              <a:t>Price Elasticity / BOM Limit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Can the buyer absorb our unit economics?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2876" y="3555911"/>
            <a:ext cx="95247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22D3EE"/>
                </a:solidFill>
                <a:latin typeface="JetBrains Mono"/>
              </a:rPr>
              <a:t>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051198"/>
            <a:ext cx="380990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617D"/>
                </a:solidFill>
                <a:latin typeface="JetBrains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6965" y="4025799"/>
            <a:ext cx="3428914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F1FF"/>
                </a:solidFill>
                <a:latin typeface="IBM Plex Sans"/>
              </a:rPr>
              <a:t>Sales Cycle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Weeks vs quarters vs years from intro to PO?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2876" y="4101997"/>
            <a:ext cx="95247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22D3EE"/>
                </a:solidFill>
                <a:latin typeface="JetBrains Mono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476" y="4597285"/>
            <a:ext cx="380990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617D"/>
                </a:solidFill>
                <a:latin typeface="JetBrains Mono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6965" y="4571885"/>
            <a:ext cx="3428914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F1FF"/>
                </a:solidFill>
                <a:latin typeface="IBM Plex Sans"/>
              </a:rPr>
              <a:t>ODD Entropy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Complexity of the Operational Design Domain — highway is simpler than urban chaos.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2876" y="4648083"/>
            <a:ext cx="95247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22D3EE"/>
                </a:solidFill>
                <a:latin typeface="JetBrains Mono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2876" y="4838579"/>
            <a:ext cx="952476" cy="1396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IBM Plex Sans"/>
              </a:rPr>
              <a:t>qualitative filter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476" y="5359266"/>
            <a:ext cx="4952876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These five are the founder's original ICP thesis. They ask 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who has to buy this, at what price, on what schedule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. They are necessary but insufficient — they were passing the Fleet segment even without any signed customers.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3339" y="1943051"/>
            <a:ext cx="3301917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F59E0B"/>
                </a:solidFill>
                <a:latin typeface="JetBrains Mono"/>
              </a:rPr>
              <a:t>FIVE ADDED · EVIDENCE DISCIPLINE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86742" y="1943051"/>
            <a:ext cx="952476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WEIGHT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3339" y="2412939"/>
            <a:ext cx="380990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617D"/>
                </a:solidFill>
                <a:latin typeface="JetBrains Mono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7828" y="2387540"/>
            <a:ext cx="3301917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F1FF"/>
                </a:solidFill>
                <a:latin typeface="IBM Plex Sans"/>
              </a:rPr>
              <a:t>Budget verified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Named line item, not "should have budget".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6742" y="2463738"/>
            <a:ext cx="95247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FCD34D"/>
                </a:solidFill>
                <a:latin typeface="JetBrains Mono"/>
              </a:rPr>
              <a:t>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3339" y="2959026"/>
            <a:ext cx="380990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617D"/>
                </a:solidFill>
                <a:latin typeface="JetBrains Mono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828" y="2933626"/>
            <a:ext cx="3301917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F1FF"/>
                </a:solidFill>
                <a:latin typeface="IBM Plex Sans"/>
              </a:rPr>
              <a:t>Competitive pressure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Real, active competitors already selling into the segment?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6742" y="3009824"/>
            <a:ext cx="95247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FCD34D"/>
                </a:solidFill>
                <a:latin typeface="JetBrains Mono"/>
              </a:rPr>
              <a:t>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3339" y="3505112"/>
            <a:ext cx="380990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617D"/>
                </a:solidFill>
                <a:latin typeface="JetBrains Mono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7828" y="3479713"/>
            <a:ext cx="3301917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F1FF"/>
                </a:solidFill>
                <a:latin typeface="IBM Plex Sans"/>
              </a:rPr>
              <a:t>Margin at this segment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Segment-specific gross margin, not deck-average.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6742" y="3555911"/>
            <a:ext cx="95247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FCD34D"/>
                </a:solidFill>
                <a:latin typeface="JetBrains Mono"/>
              </a:rPr>
              <a:t>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3339" y="4051198"/>
            <a:ext cx="380990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617D"/>
                </a:solidFill>
                <a:latin typeface="JetBrains Mono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7828" y="4025799"/>
            <a:ext cx="3301917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F1FF"/>
                </a:solidFill>
                <a:latin typeface="IBM Plex Sans"/>
              </a:rPr>
              <a:t>Repeatability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Does the second sale look like the first?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6742" y="4101997"/>
            <a:ext cx="95247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FCD34D"/>
                </a:solidFill>
                <a:latin typeface="JetBrains Mono"/>
              </a:rPr>
              <a:t>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3339" y="4597285"/>
            <a:ext cx="380990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E617D"/>
                </a:solidFill>
                <a:latin typeface="JetBrains Mono"/>
              </a:rP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7828" y="4571885"/>
            <a:ext cx="3301917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E8F1FF"/>
                </a:solidFill>
                <a:latin typeface="IBM Plex Sans"/>
              </a:rPr>
              <a:t>Evidence strength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Booked revenue, signed pilot, LOI, quote — vs a claim.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6742" y="4648083"/>
            <a:ext cx="95247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FCD34D"/>
                </a:solidFill>
                <a:latin typeface="JetBrains Mono"/>
              </a:rPr>
              <a:t>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3339" y="5333866"/>
            <a:ext cx="4889377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 </a:t>
            </a:r>
            <a:r>
              <a:rPr sz="750" b="0">
                <a:solidFill>
                  <a:srgbClr val="FCD34D"/>
                </a:solidFill>
                <a:latin typeface="IBM Plex Sans"/>
              </a:rPr>
              <a:t>Problem 15% · Urgency 15% · Fit 12% · Budget 12% · Cert 10% · Cycle 10% · Comp 8% · Margin 8% · Repeat 5% · Evidence 5% = 100%.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 Applied identically to all five candidate segments. See slide 09 for the resulting scorecard.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08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09 · WEIGHTED ICP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Five segments. One weighted score each. Ranked.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Scale 0–5 per dimension, weighted &amp; summed. Bar length is the weighted average expressed as a % of 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68450"/>
            <a:ext cx="241293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8914" y="1968450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WEIGHTED SCORE (OF 5.00)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07269" y="1968450"/>
            <a:ext cx="9524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6742" y="1968450"/>
            <a:ext cx="9524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VERDICT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2400239"/>
            <a:ext cx="2412939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1000" b="1">
                <a:solidFill>
                  <a:srgbClr val="E8F1FF"/>
                </a:solidFill>
                <a:latin typeface="IBM Plex Sans"/>
              </a:rPr>
              <a:t>Tactical Defense &amp; Off-Highway / Port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Primary ICP · sovereign UGVs, border, AGVs</a:t>
            </a:r>
            <a:r>
              <a:rPr sz="1000" b="0">
                <a:solidFill>
                  <a:srgbClr val="E8F1FF"/>
                </a:solidFill>
                <a:latin typeface="IBM Plex San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7269" y="2527236"/>
            <a:ext cx="952476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22D3EE"/>
                </a:solidFill>
                <a:latin typeface="JetBrains Mono"/>
              </a:rPr>
              <a:t>3.96 </a:t>
            </a:r>
            <a:r>
              <a:rPr sz="1200" b="1">
                <a:solidFill>
                  <a:srgbClr val="7A8CA6"/>
                </a:solidFill>
                <a:latin typeface="JetBrains Mono"/>
              </a:rPr>
              <a:t>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6742" y="2527236"/>
            <a:ext cx="952476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22D3EE"/>
                </a:solidFill>
                <a:latin typeface="JetBrains Mono"/>
              </a:rPr>
              <a:t>79.2%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3149521"/>
            <a:ext cx="2412939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1000" b="1">
                <a:solidFill>
                  <a:srgbClr val="E8F1FF"/>
                </a:solidFill>
                <a:latin typeface="IBM Plex Sans"/>
              </a:rPr>
              <a:t>3PL / Dedicated Fleet Retrofit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Secondary experiment · N2/N3 trucks</a:t>
            </a:r>
            <a:r>
              <a:rPr sz="1000" b="0">
                <a:solidFill>
                  <a:srgbClr val="E8F1FF"/>
                </a:solidFill>
                <a:latin typeface="IBM Plex Sans"/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7269" y="3276518"/>
            <a:ext cx="952476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67E8F9"/>
                </a:solidFill>
                <a:latin typeface="JetBrains Mono"/>
              </a:rPr>
              <a:t>3.40 </a:t>
            </a:r>
            <a:r>
              <a:rPr sz="1200" b="1">
                <a:solidFill>
                  <a:srgbClr val="7A8CA6"/>
                </a:solidFill>
                <a:latin typeface="JetBrains Mono"/>
              </a:rPr>
              <a:t>/5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6742" y="3276518"/>
            <a:ext cx="952476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67E8F9"/>
                </a:solidFill>
                <a:latin typeface="JetBrains Mono"/>
              </a:rPr>
              <a:t>68.0%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476" y="3898802"/>
            <a:ext cx="2412939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1000" b="1">
                <a:solidFill>
                  <a:srgbClr val="E8F1FF"/>
                </a:solidFill>
                <a:latin typeface="IBM Plex Sans"/>
              </a:rPr>
              <a:t>AD0 Owner-Operator Direct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Below threshold · direct to individual truck owners</a:t>
            </a:r>
            <a:r>
              <a:rPr sz="1000" b="0">
                <a:solidFill>
                  <a:srgbClr val="E8F1FF"/>
                </a:solidFill>
                <a:latin typeface="IBM Plex Sans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7269" y="4025799"/>
            <a:ext cx="952476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B7C7DE"/>
                </a:solidFill>
                <a:latin typeface="JetBrains Mono"/>
              </a:rPr>
              <a:t>2.62 </a:t>
            </a:r>
            <a:r>
              <a:rPr sz="1200" b="1">
                <a:solidFill>
                  <a:srgbClr val="7A8CA6"/>
                </a:solidFill>
                <a:latin typeface="JetBrains Mono"/>
              </a:rPr>
              <a:t>/5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6742" y="4025799"/>
            <a:ext cx="952476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B7C7DE"/>
                </a:solidFill>
                <a:latin typeface="JetBrains Mono"/>
              </a:rPr>
              <a:t>52.4%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6" y="4648083"/>
            <a:ext cx="2412939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1000" b="1">
                <a:solidFill>
                  <a:srgbClr val="E8F1FF"/>
                </a:solidFill>
                <a:latin typeface="IBM Plex Sans"/>
              </a:rPr>
              <a:t>Automobile OEM / Tier-1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7A8CA6"/>
                </a:solidFill>
                <a:latin typeface="IBM Plex Sans"/>
              </a:rPr>
              <a:t>Deferred · long-term line-fit only via Tier-1</a:t>
            </a:r>
            <a:r>
              <a:rPr sz="1000" b="0">
                <a:solidFill>
                  <a:srgbClr val="E8F1FF"/>
                </a:solidFill>
                <a:latin typeface="IBM Plex Sans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7269" y="4775080"/>
            <a:ext cx="952476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B7C7DE"/>
                </a:solidFill>
                <a:latin typeface="JetBrains Mono"/>
              </a:rPr>
              <a:t>2.32 </a:t>
            </a:r>
            <a:r>
              <a:rPr sz="1200" b="1">
                <a:solidFill>
                  <a:srgbClr val="7A8CA6"/>
                </a:solidFill>
                <a:latin typeface="JetBrains Mono"/>
              </a:rPr>
              <a:t>/5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6742" y="4775080"/>
            <a:ext cx="952476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B7C7DE"/>
                </a:solidFill>
                <a:latin typeface="JetBrains Mono"/>
              </a:rPr>
              <a:t>46.4%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76" y="5397365"/>
            <a:ext cx="2412939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1000" b="1">
                <a:solidFill>
                  <a:srgbClr val="E8F1FF"/>
                </a:solidFill>
                <a:latin typeface="IBM Plex Sans"/>
              </a:rPr>
              <a:t>Commercial Motor Insurers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EF4444"/>
                </a:solidFill>
                <a:latin typeface="IBM Plex Sans"/>
              </a:rPr>
              <a:t>Anti-ICP · evidence partner at best, never customer</a:t>
            </a:r>
            <a:r>
              <a:rPr sz="1000" b="0">
                <a:solidFill>
                  <a:srgbClr val="E8F1FF"/>
                </a:solidFill>
                <a:latin typeface="IBM Plex Sans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7269" y="5524361"/>
            <a:ext cx="952476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CA5A5"/>
                </a:solidFill>
                <a:latin typeface="JetBrains Mono"/>
              </a:rPr>
              <a:t>2.15 </a:t>
            </a:r>
            <a:r>
              <a:rPr sz="1200" b="1">
                <a:solidFill>
                  <a:srgbClr val="7A8CA6"/>
                </a:solidFill>
                <a:latin typeface="JetBrains Mono"/>
              </a:rPr>
              <a:t>/5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6742" y="5524361"/>
            <a:ext cx="952476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EF4444"/>
                </a:solidFill>
                <a:latin typeface="JetBrains Mono"/>
              </a:rPr>
              <a:t>43.0%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476" y="5943451"/>
            <a:ext cx="10286742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1">
                <a:solidFill>
                  <a:srgbClr val="22D3EE"/>
                </a:solidFill>
                <a:latin typeface="IBM Plex Sans"/>
              </a:rPr>
              <a:t>Weights: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Problem 15% · Budget 12% · Urgency 15% · Fit 12% · Cert friction 10% · Sales cycle 10% · Competitive pressure 8% · Margin 8% · Repeatability 5% · Evidence 5%.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09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10 · ICP OPTION A — PRIMARY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6349841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Tactical Defense &amp; Constrained Robotics.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7619809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Sovereign UGVs, border surveillance, seaport &amp; container-yard AGVs.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1" y="990575"/>
            <a:ext cx="215894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WEIGHTED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1" y="1142971"/>
            <a:ext cx="215894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2D3EE"/>
                </a:solidFill>
                <a:latin typeface="Space Grotesk"/>
              </a:rPr>
              <a:t>3.96</a:t>
            </a:r>
            <a:r>
              <a:rPr sz="3200" b="1">
                <a:solidFill>
                  <a:srgbClr val="7A8CA6"/>
                </a:solidFill>
                <a:latin typeface="Space Grotesk"/>
              </a:rPr>
              <a:t> / 5 · 79.2%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1981150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WHY IT SCORES 3.96 — DIMENSION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2285942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Evidence 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9873" y="2273243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2D3EE"/>
                </a:solidFill>
                <a:latin typeface="JetBrains Mono"/>
              </a:rPr>
              <a:t>5 /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2641533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Budget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9873" y="2628834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2D3EE"/>
                </a:solidFill>
                <a:latin typeface="JetBrains Mono"/>
              </a:rPr>
              <a:t>5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2997125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Technical fit (ships today)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9873" y="2984425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2D3EE"/>
                </a:solidFill>
                <a:latin typeface="JetBrains Mono"/>
              </a:rPr>
              <a:t>5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476" y="3352716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Price elasticity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9873" y="3340016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2D3EE"/>
                </a:solidFill>
                <a:latin typeface="JetBrains Mono"/>
              </a:rPr>
              <a:t>4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3708307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Regulatory / urgency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9873" y="3695607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2D3EE"/>
                </a:solidFill>
                <a:latin typeface="JetBrains Mono"/>
              </a:rPr>
              <a:t>4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6" y="4063898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Sales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9873" y="4051198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67E8F9"/>
                </a:solidFill>
                <a:latin typeface="JetBrains Mono"/>
              </a:rPr>
              <a:t>3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476" y="4419489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Cert friction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9873" y="4406789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67E8F9"/>
                </a:solidFill>
                <a:latin typeface="JetBrains Mono"/>
              </a:rPr>
              <a:t>3 /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476" y="4775080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Competitive pressure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9873" y="4762380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2D3EE"/>
                </a:solidFill>
                <a:latin typeface="JetBrains Mono"/>
              </a:rPr>
              <a:t>4 /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476" y="5130671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EF4444"/>
                </a:solidFill>
                <a:latin typeface="IBM Plex Sans"/>
              </a:rPr>
              <a:t>Repeatability</a:t>
            </a:r>
            <a:r>
              <a:rPr sz="800" b="0">
                <a:solidFill>
                  <a:srgbClr val="EF4444"/>
                </a:solidFill>
                <a:latin typeface="IBM Plex Sans"/>
              </a:rPr>
              <a:t> </a:t>
            </a:r>
            <a:r>
              <a:rPr sz="800" b="0">
                <a:solidFill>
                  <a:srgbClr val="7A8CA6"/>
                </a:solidFill>
                <a:latin typeface="IBM Plex Sans"/>
              </a:rPr>
              <a:t>(the flaw)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9873" y="5117972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EF4444"/>
                </a:solidFill>
                <a:latin typeface="JetBrains Mono"/>
              </a:rPr>
              <a:t>2 /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476" y="5537061"/>
            <a:ext cx="4825879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 Defense wins on evidence (real booked revenue vs zero signed Fleet customers), budget (cost-insensitive sovereign buyers), and technical fit (the product ships today). It 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loses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 on repeatability — and that is why it cannot be the whole plan. See slide 14 for the synthesis.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342" y="1981150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WHY IT IS THE PRIMARY ICP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342" y="2285942"/>
            <a:ext cx="4952876" cy="203194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19" b="0">
                <a:solidFill>
                  <a:srgbClr val="B7C7DE"/>
                </a:solidFill>
                <a:latin typeface="IBM Plex Sans"/>
              </a:rPr>
              <a:t> </a:t>
            </a:r>
            <a:r>
              <a:rPr sz="819" b="1">
                <a:solidFill>
                  <a:srgbClr val="E8F1FF"/>
                </a:solidFill>
                <a:latin typeface="IBM Plex Sans"/>
              </a:rPr>
              <a:t>Extremely cost-insensitive at the chip level.</a:t>
            </a:r>
            <a:r>
              <a:rPr sz="819" b="0">
                <a:solidFill>
                  <a:srgbClr val="B7C7DE"/>
                </a:solidFill>
                <a:latin typeface="IBM Plex Sans"/>
              </a:rPr>
              <a:t> Sovereign buyers optimise for supply-chain sovereignty and audit posture, not BOM. Our ~$30 board is a rounding error against a UGV platform cost.</a:t>
            </a:r>
          </a:p>
          <a:p>
            <a:pPr algn="l">
              <a:lnSpc>
                <a:spcPct val="160000"/>
              </a:lnSpc>
            </a:pPr>
            <a:r>
              <a:rPr sz="819" b="0">
                <a:solidFill>
                  <a:srgbClr val="B7C7DE"/>
                </a:solidFill>
                <a:latin typeface="IBM Plex Sans"/>
              </a:rPr>
              <a:t> </a:t>
            </a:r>
            <a:r>
              <a:rPr sz="819" b="1">
                <a:solidFill>
                  <a:srgbClr val="E8F1FF"/>
                </a:solidFill>
                <a:latin typeface="IBM Plex Sans"/>
              </a:rPr>
              <a:t>D100 secure enclave is a first-order feature.</a:t>
            </a:r>
            <a:r>
              <a:rPr sz="819" b="0">
                <a:solidFill>
                  <a:srgbClr val="B7C7DE"/>
                </a:solidFill>
                <a:latin typeface="IBM Plex Sans"/>
              </a:rPr>
              <a:t> Lockstep RISC-V, on-die HSM, keys never leave the die. This maps directly onto Ministry of Defence data-sovereignty requirements — it is not a checkbox, it is the whole reason to buy.</a:t>
            </a:r>
          </a:p>
          <a:p>
            <a:pPr algn="l">
              <a:lnSpc>
                <a:spcPct val="160000"/>
              </a:lnSpc>
            </a:pPr>
            <a:r>
              <a:rPr sz="819" b="0">
                <a:solidFill>
                  <a:srgbClr val="B7C7DE"/>
                </a:solidFill>
                <a:latin typeface="IBM Plex Sans"/>
              </a:rPr>
              <a:t> </a:t>
            </a:r>
            <a:r>
              <a:rPr sz="819" b="1">
                <a:solidFill>
                  <a:srgbClr val="E8F1FF"/>
                </a:solidFill>
                <a:latin typeface="IBM Plex Sans"/>
              </a:rPr>
              <a:t>Off-highway / port variants share the SKU.</a:t>
            </a:r>
            <a:r>
              <a:rPr sz="819" b="0">
                <a:solidFill>
                  <a:srgbClr val="B7C7DE"/>
                </a:solidFill>
                <a:latin typeface="IBM Plex Sans"/>
              </a:rPr>
              <a:t> Container terminals in Mundra, Chennai and Jebel Ali need the same secure-boot AGV compute node. One BOM, two buyer types.</a:t>
            </a:r>
          </a:p>
          <a:p>
            <a:pPr algn="l">
              <a:lnSpc>
                <a:spcPct val="160000"/>
              </a:lnSpc>
            </a:pPr>
            <a:r>
              <a:rPr sz="819" b="0">
                <a:solidFill>
                  <a:srgbClr val="B7C7DE"/>
                </a:solidFill>
                <a:latin typeface="IBM Plex Sans"/>
              </a:rPr>
              <a:t> </a:t>
            </a:r>
            <a:r>
              <a:rPr sz="819" b="1">
                <a:solidFill>
                  <a:srgbClr val="E8F1FF"/>
                </a:solidFill>
                <a:latin typeface="IBM Plex Sans"/>
              </a:rPr>
              <a:t>Revenue already exists.</a:t>
            </a:r>
            <a:r>
              <a:rPr sz="819" b="0">
                <a:solidFill>
                  <a:srgbClr val="B7C7DE"/>
                </a:solidFill>
                <a:latin typeface="IBM Plex Sans"/>
              </a:rPr>
              <a:t> ~</a:t>
            </a:r>
            <a:r>
              <a:rPr sz="819" b="1">
                <a:solidFill>
                  <a:srgbClr val="22D3EE"/>
                </a:solidFill>
                <a:latin typeface="IBM Plex Sans"/>
              </a:rPr>
              <a:t>₹1 Cr</a:t>
            </a:r>
            <a:r>
              <a:rPr sz="819" b="0">
                <a:solidFill>
                  <a:srgbClr val="B7C7DE"/>
                </a:solidFill>
                <a:latin typeface="IBM Plex Sans"/>
              </a:rPr>
              <a:t> in Defense contract revenue booked. It is </a:t>
            </a:r>
            <a:r>
              <a:rPr sz="819" b="0">
                <a:solidFill>
                  <a:srgbClr val="B7C7DE"/>
                </a:solidFill>
                <a:latin typeface="IBM Plex Sans"/>
              </a:rPr>
              <a:t>the only</a:t>
            </a:r>
            <a:r>
              <a:rPr sz="819" b="0">
                <a:solidFill>
                  <a:srgbClr val="B7C7DE"/>
                </a:solidFill>
                <a:latin typeface="IBM Plex Sans"/>
              </a:rPr>
              <a:t> external validation across all 5 candidate segments.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342" y="4648083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EF4444"/>
                </a:solidFill>
                <a:latin typeface="JetBrains Mono"/>
              </a:rPr>
              <a:t>⚠ RED-TEAM FLAG — GATES FURTHER DEFENSE RESOURCING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342" y="4889377"/>
            <a:ext cx="495287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The exact nature of the ₹1 Cr revenue is unconfirmed.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342" y="5321166"/>
            <a:ext cx="4952876" cy="888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Is it a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commercial sale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(repeatable customer signal) or a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grant / subsidy / R&amp;D contract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(one-off, not customer signal)? These score entirely differently on dimensions 9 &amp; 10. Until confirmed within one week (see slide 37, Condition 1), further Defense hiring / BD spend is paused. If it turns out to be a grant, Defense and Fleet re-score as evidence-equal.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11 · ICP OPTION B — SECONDARY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7619809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Non-Discretionary Aftermarket Fleet Retrofit.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7619809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Medium and heavy commercial vehicles — N2/N3 — forced by mandate to retrofit 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1" y="990575"/>
            <a:ext cx="215894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67E8F9"/>
                </a:solidFill>
                <a:latin typeface="JetBrains Mono"/>
              </a:rPr>
              <a:t>WEIGHTED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1" y="1142971"/>
            <a:ext cx="215894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67E8F9"/>
                </a:solidFill>
                <a:latin typeface="Space Grotesk"/>
              </a:rPr>
              <a:t>3.40</a:t>
            </a:r>
            <a:r>
              <a:rPr sz="3200" b="1">
                <a:solidFill>
                  <a:srgbClr val="7A8CA6"/>
                </a:solidFill>
                <a:latin typeface="Space Grotesk"/>
              </a:rPr>
              <a:t> / 5 · 68.0%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1955751"/>
            <a:ext cx="10286742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F59E0B"/>
                </a:solidFill>
                <a:latin typeface="JetBrains Mono"/>
              </a:rPr>
              <a:t>⚑ FOUNDER'S WORKING-HYPOTHESIS FAVOURITE — BUT STILL ASPIRATIONAL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2120846"/>
            <a:ext cx="10286742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8F1FF"/>
                </a:solidFill>
                <a:latin typeface="IBM Plex Sans"/>
              </a:rPr>
              <a:t>Priced at </a:t>
            </a:r>
            <a:r>
              <a:rPr sz="900" b="1">
                <a:solidFill>
                  <a:srgbClr val="22D3EE"/>
                </a:solidFill>
                <a:latin typeface="IBM Plex Sans"/>
              </a:rPr>
              <a:t>₹2–2.5 Lakh</a:t>
            </a:r>
            <a:r>
              <a:rPr sz="900" b="0">
                <a:solidFill>
                  <a:srgbClr val="E8F1FF"/>
                </a:solidFill>
                <a:latin typeface="IBM Plex Sans"/>
              </a:rPr>
              <a:t> per retrofit kit. </a:t>
            </a:r>
            <a:r>
              <a:rPr sz="900" b="1">
                <a:solidFill>
                  <a:srgbClr val="EF4444"/>
                </a:solidFill>
                <a:latin typeface="IBM Plex Sans"/>
              </a:rPr>
              <a:t>Zero signed customers</a:t>
            </a:r>
            <a:r>
              <a:rPr sz="900" b="0">
                <a:solidFill>
                  <a:srgbClr val="E8F1FF"/>
                </a:solidFill>
                <a:latin typeface="IBM Plex Sans"/>
              </a:rPr>
              <a:t>. Every argument for this segment right now is theoretical.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2679633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DIMENSION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2959026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Regulatory urgency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9873" y="2946326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2D3EE"/>
                </a:solidFill>
                <a:latin typeface="JetBrains Mono"/>
              </a:rPr>
              <a:t>5 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3314617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Technical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9873" y="3301917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2D3EE"/>
                </a:solidFill>
                <a:latin typeface="JetBrains Mono"/>
              </a:rPr>
              <a:t>4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476" y="3670208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Repeatability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9873" y="3657508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2D3EE"/>
                </a:solidFill>
                <a:latin typeface="JetBrains Mono"/>
              </a:rPr>
              <a:t>5 /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025799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Cert friction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9873" y="4013099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2D3EE"/>
                </a:solidFill>
                <a:latin typeface="JetBrains Mono"/>
              </a:rPr>
              <a:t>4 /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6" y="4381390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CD34D"/>
                </a:solidFill>
                <a:latin typeface="IBM Plex Sans"/>
              </a:rPr>
              <a:t>Price elasticity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9873" y="4368690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FCD34D"/>
                </a:solidFill>
                <a:latin typeface="JetBrains Mono"/>
              </a:rPr>
              <a:t>3 /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476" y="4736981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CD34D"/>
                </a:solidFill>
                <a:latin typeface="IBM Plex Sans"/>
              </a:rPr>
              <a:t>Sales 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9873" y="4724281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FCD34D"/>
                </a:solidFill>
                <a:latin typeface="JetBrains Mono"/>
              </a:rPr>
              <a:t>3 /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476" y="5092572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EF4444"/>
                </a:solidFill>
                <a:latin typeface="IBM Plex Sans"/>
              </a:rPr>
              <a:t>Evidence strength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9873" y="5079873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EF4444"/>
                </a:solidFill>
                <a:latin typeface="JetBrains Mono"/>
              </a:rPr>
              <a:t>1 /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476" y="5511662"/>
            <a:ext cx="4825879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 Fleet scores 68% on mandate math and technical fit. Evidence dimension is the single reason it isn't primary. The kill criterion turns that 1/5 into a measurable test.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342" y="2666933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WHY IT STAYS ON THE BOARD (NOT KILLED)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342" y="2920926"/>
            <a:ext cx="4952876" cy="1269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India's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N2/N3 fleet mandate wave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(AIS-184/186/187/188) starts landing in FY26–27 and hits enforcement in FY28. That is a genuine ~5M-vehicle addressable base, and it is the segment that eventually justifies the ₹55 Cr raise as a chip-volume business.</a:t>
            </a:r>
          </a:p>
          <a:p>
            <a:pPr algn="l">
              <a:lnSpc>
                <a:spcPct val="16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But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"eventually"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and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"if a fleet actually pays ₹2–2.5 L"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are two different bets. Until one fleet signs, we don't know the price holds.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342" y="4508387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EF4444"/>
                </a:solidFill>
                <a:latin typeface="JetBrains Mono"/>
              </a:rPr>
              <a:t>⚑ KILL CRITERION — HARD, DATED, MEASURABLE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342" y="4762380"/>
            <a:ext cx="495287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F1FF"/>
                </a:solidFill>
                <a:latin typeface="Space Grotesk"/>
              </a:rPr>
              <a:t>At least 1 of the first 20 buyer interviews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F1FF"/>
                </a:solidFill>
                <a:latin typeface="Space Grotesk"/>
              </a:rPr>
              <a:t>must convert to a paid pilot within 90 days.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6342" y="5537061"/>
            <a:ext cx="495287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1">
                <a:solidFill>
                  <a:srgbClr val="22C55E"/>
                </a:solidFill>
                <a:latin typeface="IBM Plex Sans"/>
              </a:rPr>
              <a:t>Pass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→ Fleet re-scores as co-primary, resource shifts. </a:t>
            </a:r>
            <a:r>
              <a:rPr sz="800" b="1">
                <a:solidFill>
                  <a:srgbClr val="EF4444"/>
                </a:solidFill>
                <a:latin typeface="IBM Plex Sans"/>
              </a:rPr>
              <a:t>Fail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→ Fleet stays secondary; no additional GTM spend beyond discovery; revisit at Month 12 only if the mandate calendar tightens.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12 · ICP OPTION C — DEFERRED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7619809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OEM Factory Line-Fit Embedding.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7619809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Long-term the biggest opportunity. Short-term the wrong door to knock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1" y="990575"/>
            <a:ext cx="215894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WEIGHTED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1" y="1142971"/>
            <a:ext cx="215894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B7C7DE"/>
                </a:solidFill>
                <a:latin typeface="Space Grotesk"/>
              </a:rPr>
              <a:t>2.32</a:t>
            </a:r>
            <a:r>
              <a:rPr sz="3200" b="1">
                <a:solidFill>
                  <a:srgbClr val="7A8CA6"/>
                </a:solidFill>
                <a:latin typeface="Space Grotesk"/>
              </a:rPr>
              <a:t> / 5 · 46.4%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1981150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THE TWO SCORES THAT KILL IT RIGHT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9473" y="2412939"/>
            <a:ext cx="209544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CERT FRICTION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473" y="2616134"/>
            <a:ext cx="2095447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F4444"/>
                </a:solidFill>
                <a:latin typeface="Space Grotesk"/>
              </a:rPr>
              <a:t>1</a:t>
            </a:r>
            <a:r>
              <a:rPr sz="2800" b="1">
                <a:solidFill>
                  <a:srgbClr val="7A8CA6"/>
                </a:solidFill>
                <a:latin typeface="Space Grotesk"/>
              </a:rPr>
              <a:t>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473" y="3111422"/>
            <a:ext cx="2095447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680" b="0">
                <a:solidFill>
                  <a:srgbClr val="B7C7DE"/>
                </a:solidFill>
                <a:latin typeface="IBM Plex Sans"/>
              </a:rPr>
              <a:t>Full OEM validation. ISO 26262 ASIL-B minimum, functional-safety audit, EMI/EMC, thermal cycling, 3-year AEC-Q100.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5911" y="2412939"/>
            <a:ext cx="209544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SALES 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5911" y="2616134"/>
            <a:ext cx="2095447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F4444"/>
                </a:solidFill>
                <a:latin typeface="Space Grotesk"/>
              </a:rPr>
              <a:t>1</a:t>
            </a:r>
            <a:r>
              <a:rPr sz="2800" b="1">
                <a:solidFill>
                  <a:srgbClr val="7A8CA6"/>
                </a:solidFill>
                <a:latin typeface="Space Grotesk"/>
              </a:rPr>
              <a:t>/5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5911" y="3111422"/>
            <a:ext cx="2095447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SOP cycles are 24–36 months. Design-in NRE only pays back after multi-year platform commitment.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476" y="3746406"/>
            <a:ext cx="4825879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These are the 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worst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cert-friction and sales-cycle scores of any of the five segments. Under any resourcing plausible for a Pre-Series A, direct OEM sales cannot generate revenue inside the 30-month runway.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476" y="4482987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OTHER DIMENSIONS (FOR THE RECORD)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673483"/>
            <a:ext cx="4825879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Fit 4/5 · Margin at OEM ASP 3/5 · Regulatory urgency 3/5 · Repeatability 4/5 · Evidence 1/5 (no LOI). Numerator good, denominator (time) fatal.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342" y="1981150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THE ONE ENTRY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342" y="2235144"/>
            <a:ext cx="4952876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Enter </a:t>
            </a:r>
            <a:r>
              <a:rPr sz="1800" b="1">
                <a:solidFill>
                  <a:srgbClr val="22D3EE"/>
                </a:solidFill>
                <a:latin typeface="Space Grotesk"/>
              </a:rPr>
              <a:t>only</a:t>
            </a:r>
            <a:r>
              <a:rPr sz="1800" b="1">
                <a:solidFill>
                  <a:srgbClr val="E8F1FF"/>
                </a:solidFill>
                <a:latin typeface="Space Grotesk"/>
              </a:rPr>
              <a:t> via a signed Tier-1 partnership.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342" y="2793930"/>
            <a:ext cx="4952876" cy="21589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Why Tier-1 changes the math.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Uno Minda, Spark Minda or Bosch India already sit on OEM homologation panels. They amortise cert cost across their existing portfolio; we ride their AEC-Q100 audit trail.</a:t>
            </a:r>
          </a:p>
          <a:p>
            <a:pPr algn="l">
              <a:lnSpc>
                <a:spcPct val="16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What "signed" means.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A binding co-development agreement with committed NRE reimbursement — not an MoU, not a "letter of interest". Any softer instrument does not unlock OEM resourcing.</a:t>
            </a:r>
          </a:p>
          <a:p>
            <a:pPr algn="l">
              <a:lnSpc>
                <a:spcPct val="16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Until then — the stop-doing list.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No direct OEM BD calls, no OEM-facing marketing, no ISO 26262 pre-audit spend, no AEC-Q100 stress program on the FPGA validation board.</a:t>
            </a:r>
          </a:p>
          <a:p>
            <a:pPr algn="l">
              <a:lnSpc>
                <a:spcPct val="16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Phase 3 of the roadmap (slide 28) is where this switches on — not before.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476" y="5473563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TIME-TO-FIRST-REVENUE BY SEGMENT (ORDER-OF-MAGNITUDE ESTIMATE)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479" y="5905352"/>
            <a:ext cx="380990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0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4425" y="5905352"/>
            <a:ext cx="380990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6 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3371" y="5905352"/>
            <a:ext cx="50798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12 mo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02317" y="5905352"/>
            <a:ext cx="50798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24 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1263" y="5905352"/>
            <a:ext cx="50798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36+ 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2971" y="5600559"/>
            <a:ext cx="114297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1">
                <a:solidFill>
                  <a:srgbClr val="22D3EE"/>
                </a:solidFill>
                <a:latin typeface="IBM Plex Sans"/>
              </a:rPr>
              <a:t>Defense</a:t>
            </a:r>
            <a:r>
              <a:rPr sz="700" b="0">
                <a:solidFill>
                  <a:srgbClr val="22D3EE"/>
                </a:solidFill>
                <a:latin typeface="IBM Plex Sans"/>
              </a:rPr>
              <a:t> (booked)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5911" y="5600559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1">
                <a:solidFill>
                  <a:srgbClr val="67E8F9"/>
                </a:solidFill>
                <a:latin typeface="IBM Plex Sans"/>
              </a:rPr>
              <a:t>Fleet pilot</a:t>
            </a:r>
            <a:r>
              <a:rPr sz="700" b="0">
                <a:solidFill>
                  <a:srgbClr val="67E8F9"/>
                </a:solidFill>
                <a:latin typeface="IBM Plex Sans"/>
              </a:rPr>
              <a:t> (if kill-criterion passes)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6774" y="5600559"/>
            <a:ext cx="177795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700" b="1">
                <a:solidFill>
                  <a:srgbClr val="7A8CA6"/>
                </a:solidFill>
                <a:latin typeface="IBM Plex Sans"/>
              </a:rPr>
              <a:t>OEM SOP</a:t>
            </a:r>
            <a:r>
              <a:rPr sz="700" b="0">
                <a:solidFill>
                  <a:srgbClr val="7A8CA6"/>
                </a:solidFill>
                <a:latin typeface="IBM Plex Sans"/>
              </a:rPr>
              <a:t> (via Tier-1, earliest)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13 · DEFERRED &amp; ANTI-ICP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The two segments we are explicitly not selling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One is a "later, and only via partner". One is a "never as a direct customer".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43051"/>
            <a:ext cx="2539936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B7C7DE"/>
                </a:solidFill>
                <a:latin typeface="JetBrains Mono"/>
              </a:rPr>
              <a:t>DEFERRED · REVISIT 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2876" y="1943051"/>
            <a:ext cx="952476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JetBrains Mono"/>
              </a:rPr>
              <a:t>46.4%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349441"/>
            <a:ext cx="482587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Automobile OEM / Tier-1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2870128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WHAT "DEFERRED" MEANS OPERATIONALLY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3060623"/>
            <a:ext cx="4825879" cy="139696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19" b="0">
                <a:solidFill>
                  <a:srgbClr val="B7C7DE"/>
                </a:solidFill>
                <a:latin typeface="IBM Plex Sans"/>
              </a:rPr>
              <a:t> </a:t>
            </a:r>
            <a:r>
              <a:rPr sz="819" b="1">
                <a:solidFill>
                  <a:srgbClr val="E8F1FF"/>
                </a:solidFill>
                <a:latin typeface="IBM Plex Sans"/>
              </a:rPr>
              <a:t>Not killed — timed.</a:t>
            </a:r>
            <a:r>
              <a:rPr sz="819" b="0">
                <a:solidFill>
                  <a:srgbClr val="B7C7DE"/>
                </a:solidFill>
                <a:latin typeface="IBM Plex Sans"/>
              </a:rPr>
              <a:t> This is where the volume lives once the chip has a Tier-1 sponsor and an OEM SOP.</a:t>
            </a:r>
          </a:p>
          <a:p>
            <a:pPr algn="l">
              <a:lnSpc>
                <a:spcPct val="160000"/>
              </a:lnSpc>
            </a:pPr>
            <a:r>
              <a:rPr sz="819" b="0">
                <a:solidFill>
                  <a:srgbClr val="B7C7DE"/>
                </a:solidFill>
                <a:latin typeface="IBM Plex Sans"/>
              </a:rPr>
              <a:t> Direct OEM effort is </a:t>
            </a:r>
            <a:r>
              <a:rPr sz="819" b="1">
                <a:solidFill>
                  <a:srgbClr val="E8F1FF"/>
                </a:solidFill>
                <a:latin typeface="IBM Plex Sans"/>
              </a:rPr>
              <a:t>paused</a:t>
            </a:r>
            <a:r>
              <a:rPr sz="819" b="0">
                <a:solidFill>
                  <a:srgbClr val="B7C7DE"/>
                </a:solidFill>
                <a:latin typeface="IBM Plex Sans"/>
              </a:rPr>
              <a:t> until at least one of: (a) a signed Tier-1 co-development agreement is in hand, or (b) the Fleet retrofit pilot proves the compute node in field conditions on the same vehicle classes OEMs care about.</a:t>
            </a:r>
          </a:p>
          <a:p>
            <a:pPr algn="l">
              <a:lnSpc>
                <a:spcPct val="160000"/>
              </a:lnSpc>
            </a:pPr>
            <a:r>
              <a:rPr sz="819" b="0">
                <a:solidFill>
                  <a:srgbClr val="B7C7DE"/>
                </a:solidFill>
                <a:latin typeface="IBM Plex Sans"/>
              </a:rPr>
              <a:t> The one exception: </a:t>
            </a:r>
            <a:r>
              <a:rPr sz="819" b="1">
                <a:solidFill>
                  <a:srgbClr val="E8F1FF"/>
                </a:solidFill>
                <a:latin typeface="IBM Plex Sans"/>
              </a:rPr>
              <a:t>sovereign OEMs</a:t>
            </a:r>
            <a:r>
              <a:rPr sz="819" b="0">
                <a:solidFill>
                  <a:srgbClr val="B7C7DE"/>
                </a:solidFill>
                <a:latin typeface="IBM Plex Sans"/>
              </a:rPr>
              <a:t> (Tata Advanced Systems, Mahindra Defence) — addressed through the Defense track, not through automotive BD.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4762380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TRIGGER TO REACTIVATE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4952876"/>
            <a:ext cx="4825879" cy="107947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→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Any Tier-1 signs a binding co-development agreement with NRE terms.</a:t>
            </a:r>
          </a:p>
          <a:p>
            <a:pPr algn="l">
              <a:lnSpc>
                <a:spcPct val="155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→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OR — a sovereign OEM specifies DGrid Alpha for a defence-adjacent platform.</a:t>
            </a:r>
          </a:p>
          <a:p>
            <a:pPr algn="l">
              <a:lnSpc>
                <a:spcPct val="155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→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OR — the Fleet retrofit generates a public field-safety dataset the OEM can cite in its own homologation package.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342" y="1943051"/>
            <a:ext cx="2539936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EF4444"/>
                </a:solidFill>
                <a:latin typeface="JetBrains Mono"/>
              </a:rPr>
              <a:t>ANTI-ICP · LOWEST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6742" y="1943051"/>
            <a:ext cx="952476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FCA5A5"/>
                </a:solidFill>
                <a:latin typeface="JetBrains Mono"/>
              </a:rPr>
              <a:t>43.0%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342" y="2349441"/>
            <a:ext cx="495287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Commercial Motor Insurers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342" y="2870128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CA5A5"/>
                </a:solidFill>
                <a:latin typeface="JetBrains Mono"/>
              </a:rPr>
              <a:t>WHY WE ARE LABELLING THIS "NEVER A DIRECT CUSTOMER"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342" y="3060623"/>
            <a:ext cx="4952876" cy="152396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Lowest score across every segment. The whole insurer thesis in the founder's original draft rested on an </a:t>
            </a:r>
            <a:r>
              <a:rPr sz="850" b="1">
                <a:solidFill>
                  <a:srgbClr val="FCA5A5"/>
                </a:solidFill>
                <a:latin typeface="IBM Plex Sans"/>
              </a:rPr>
              <a:t>unsupported "premium-reduction %"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claim. There is no measured accident-reduction data behind it, no actuarial partnership, no signed data-share agreement.</a:t>
            </a:r>
          </a:p>
          <a:p>
            <a:pPr algn="l">
              <a:lnSpc>
                <a:spcPct val="16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The model has </a:t>
            </a:r>
            <a:r>
              <a:rPr sz="850" b="1">
                <a:solidFill>
                  <a:srgbClr val="FCA5A5"/>
                </a:solidFill>
                <a:latin typeface="IBM Plex Sans"/>
              </a:rPr>
              <a:t>zero insurer-revenue rows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. There is no line item to defend.</a:t>
            </a:r>
          </a:p>
          <a:p>
            <a:pPr algn="l">
              <a:lnSpc>
                <a:spcPct val="16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Insurers may eventually be an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evidence partner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— a channel we help underwrite fleet-side ROI — but under no circumstances are they a direct customer of the chip in this plan.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342" y="4825879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CA5A5"/>
                </a:solidFill>
                <a:latin typeface="JetBrains Mono"/>
              </a:rPr>
              <a:t>TRIGGER TO REVISIT AS EVIDENCE PARTNER (NOT CUSTOMER)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342" y="5016374"/>
            <a:ext cx="4952876" cy="107947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→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Fleet pilot generates a measured accident-reduction dataset with an insurer already on-record willing to underwrite it.</a:t>
            </a:r>
          </a:p>
          <a:p>
            <a:pPr algn="l">
              <a:lnSpc>
                <a:spcPct val="155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→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Only then does an insurer channel deserve pipeline effort — and even then it is a data-sharing motion, not a sales motion.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14 · ICP SELECTION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Defense first, Fleet in parallel. Not a pivot — a sequence.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588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The synthesis of the scorecard, red-team, and the roadmap already in the original pitch.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81150"/>
            <a:ext cx="3047923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F59E0B"/>
                </a:solidFill>
                <a:latin typeface="JetBrains Mono"/>
              </a:rPr>
              <a:t>THE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222444"/>
            <a:ext cx="304792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F1FF"/>
                </a:solidFill>
                <a:latin typeface="Space Grotesk"/>
              </a:rPr>
              <a:t>Defense wins the scorecard — but flunks repeatability.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857428"/>
            <a:ext cx="3047923" cy="21589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Defense scores </a:t>
            </a:r>
            <a:r>
              <a:rPr sz="800" b="1">
                <a:solidFill>
                  <a:srgbClr val="22D3EE"/>
                </a:solidFill>
                <a:latin typeface="IBM Plex Sans"/>
              </a:rPr>
              <a:t>5/5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on evidence, </a:t>
            </a:r>
            <a:r>
              <a:rPr sz="800" b="1">
                <a:solidFill>
                  <a:srgbClr val="22D3EE"/>
                </a:solidFill>
                <a:latin typeface="IBM Plex Sans"/>
              </a:rPr>
              <a:t>5/5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on budget, </a:t>
            </a:r>
            <a:r>
              <a:rPr sz="800" b="1">
                <a:solidFill>
                  <a:srgbClr val="22D3EE"/>
                </a:solidFill>
                <a:latin typeface="IBM Plex Sans"/>
              </a:rPr>
              <a:t>5/5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on fit — but </a:t>
            </a:r>
            <a:r>
              <a:rPr sz="800" b="1">
                <a:solidFill>
                  <a:srgbClr val="EF4444"/>
                </a:solidFill>
                <a:latin typeface="IBM Plex Sans"/>
              </a:rPr>
              <a:t>2/5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on repeatability.</a:t>
            </a:r>
          </a:p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Defense contracts are lumpy. Two won contracts don't imply twenty. They do not scale into the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~88% systems-revenue business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that the ₹55 Cr raise is built to fund.</a:t>
            </a:r>
          </a:p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Fleet, meanwhile, is a repeatable-by-design segment (</a:t>
            </a:r>
            <a:r>
              <a:rPr sz="800" b="1">
                <a:solidFill>
                  <a:srgbClr val="22D3EE"/>
                </a:solidFill>
                <a:latin typeface="IBM Plex Sans"/>
              </a:rPr>
              <a:t>5/5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repeatability) — but has </a:t>
            </a:r>
            <a:r>
              <a:rPr sz="800" b="1">
                <a:solidFill>
                  <a:srgbClr val="EF4444"/>
                </a:solidFill>
                <a:latin typeface="IBM Plex Sans"/>
              </a:rPr>
              <a:t>1/5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evidence.</a:t>
            </a:r>
          </a:p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You cannot ship the deck as "Defense company" and you cannot ship it as "Fleet company either." One has revenue, the other has volume physics.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8387" y="1981150"/>
            <a:ext cx="3174920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THE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8387" y="2222444"/>
            <a:ext cx="3174920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F1FF"/>
                </a:solidFill>
                <a:latin typeface="Space Grotesk"/>
              </a:rPr>
              <a:t>Two-track: Defense as resourced primary, Fleet as experiment.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387" y="2984425"/>
            <a:ext cx="3174920" cy="203194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78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80" b="1">
                <a:solidFill>
                  <a:srgbClr val="22D3EE"/>
                </a:solidFill>
                <a:latin typeface="IBM Plex Sans"/>
              </a:rPr>
              <a:t>Months 0–6.</a:t>
            </a:r>
            <a:r>
              <a:rPr sz="780" b="0">
                <a:solidFill>
                  <a:srgbClr val="B7C7DE"/>
                </a:solidFill>
                <a:latin typeface="IBM Plex Sans"/>
              </a:rPr>
              <a:t> Defense runs as resourced primary. Objective: get the second signed contract that turns "1 CR revenue" into a customer signal, and generate the field data Fleet needs to close its first pilot.</a:t>
            </a:r>
          </a:p>
          <a:p>
            <a:pPr algn="l">
              <a:lnSpc>
                <a:spcPct val="160000"/>
              </a:lnSpc>
            </a:pPr>
            <a:r>
              <a:rPr sz="78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80" b="1">
                <a:solidFill>
                  <a:srgbClr val="22D3EE"/>
                </a:solidFill>
                <a:latin typeface="IBM Plex Sans"/>
              </a:rPr>
              <a:t>In parallel, months 0–3.</a:t>
            </a:r>
            <a:r>
              <a:rPr sz="780" b="0">
                <a:solidFill>
                  <a:srgbClr val="B7C7DE"/>
                </a:solidFill>
                <a:latin typeface="IBM Plex Sans"/>
              </a:rPr>
              <a:t> Fleet runs as a 20-interview discovery experiment against the paid-pilot kill criterion.</a:t>
            </a:r>
          </a:p>
          <a:p>
            <a:pPr algn="l">
              <a:lnSpc>
                <a:spcPct val="160000"/>
              </a:lnSpc>
            </a:pPr>
            <a:r>
              <a:rPr sz="78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80" b="1">
                <a:solidFill>
                  <a:srgbClr val="22D3EE"/>
                </a:solidFill>
                <a:latin typeface="IBM Plex Sans"/>
              </a:rPr>
              <a:t>Month 6 gate.</a:t>
            </a:r>
            <a:r>
              <a:rPr sz="780" b="0">
                <a:solidFill>
                  <a:srgbClr val="B7C7DE"/>
                </a:solidFill>
                <a:latin typeface="IBM Plex Sans"/>
              </a:rPr>
              <a:t> Re-score both segments with fresh evidence. If Fleet passed its kill criterion, it becomes co-primary. If not, Defense stays primary and Fleet drops to watch-only.</a:t>
            </a:r>
          </a:p>
          <a:p>
            <a:pPr algn="l">
              <a:lnSpc>
                <a:spcPct val="160000"/>
              </a:lnSpc>
            </a:pPr>
            <a:r>
              <a:rPr sz="78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80" b="0">
                <a:solidFill>
                  <a:srgbClr val="7A8CA6"/>
                </a:solidFill>
                <a:latin typeface="IBM Plex Sans"/>
              </a:rPr>
              <a:t>This confirms — not invents — the original pitch's three-phase roadmap.</a:t>
            </a:r>
            <a:r>
              <a:rPr sz="780" b="0">
                <a:solidFill>
                  <a:srgbClr val="B7C7DE"/>
                </a:solidFill>
                <a:latin typeface="IBM Plex Sans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295" y="1981150"/>
            <a:ext cx="3047923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EF4444"/>
                </a:solidFill>
                <a:latin typeface="JetBrains Mono"/>
              </a:rPr>
              <a:t>THE STRONGEST COUNTER-CASE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295" y="2222444"/>
            <a:ext cx="3047923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F1FF"/>
                </a:solidFill>
                <a:latin typeface="Space Grotesk"/>
              </a:rPr>
              <a:t>A defence-first motion risks the fundraising narrative.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295" y="2984425"/>
            <a:ext cx="3047923" cy="21589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 Investors are being asked to fund a chip business, priced against a </a:t>
            </a:r>
            <a:r>
              <a:rPr sz="700" b="1">
                <a:solidFill>
                  <a:srgbClr val="E8F1FF"/>
                </a:solidFill>
                <a:latin typeface="IBM Plex Sans"/>
              </a:rPr>
              <a:t>5M+ commercial-vehicle TAM</a:t>
            </a:r>
            <a:r>
              <a:rPr sz="700" b="0">
                <a:solidFill>
                  <a:srgbClr val="B7C7DE"/>
                </a:solidFill>
                <a:latin typeface="IBM Plex Sans"/>
              </a:rPr>
              <a:t>. A defense-only story does not clear that hurdle.</a:t>
            </a:r>
          </a:p>
          <a:p>
            <a:pPr algn="l">
              <a:lnSpc>
                <a:spcPct val="16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 So this only holds together as a </a:t>
            </a:r>
            <a:r>
              <a:rPr sz="700" b="1">
                <a:solidFill>
                  <a:srgbClr val="22D3EE"/>
                </a:solidFill>
                <a:latin typeface="IBM Plex Sans"/>
              </a:rPr>
              <a:t>sequenced two-track plan</a:t>
            </a:r>
            <a:r>
              <a:rPr sz="700" b="0">
                <a:solidFill>
                  <a:srgbClr val="B7C7DE"/>
                </a:solidFill>
                <a:latin typeface="IBM Plex Sans"/>
              </a:rPr>
              <a:t> — never as a flat pivot.</a:t>
            </a:r>
          </a:p>
          <a:p>
            <a:pPr algn="l">
              <a:lnSpc>
                <a:spcPct val="16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00" b="1">
                <a:solidFill>
                  <a:srgbClr val="E8F1FF"/>
                </a:solidFill>
                <a:latin typeface="IBM Plex Sans"/>
              </a:rPr>
              <a:t>External framing rule (Condition 4, slide 37).</a:t>
            </a:r>
            <a:r>
              <a:rPr sz="700" b="0">
                <a:solidFill>
                  <a:srgbClr val="B7C7DE"/>
                </a:solidFill>
                <a:latin typeface="IBM Plex Sans"/>
              </a:rPr>
              <a:t> Every deck, one-pager, and investor email must present the plan as </a:t>
            </a:r>
            <a:r>
              <a:rPr sz="700" b="0">
                <a:solidFill>
                  <a:srgbClr val="B7C7DE"/>
                </a:solidFill>
                <a:latin typeface="IBM Plex Sans"/>
              </a:rPr>
              <a:t>Defense-sequenced-then-Fleet</a:t>
            </a:r>
            <a:r>
              <a:rPr sz="700" b="0">
                <a:solidFill>
                  <a:srgbClr val="B7C7DE"/>
                </a:solidFill>
                <a:latin typeface="IBM Plex Sans"/>
              </a:rPr>
              <a:t>, not </a:t>
            </a:r>
            <a:r>
              <a:rPr sz="700" b="0">
                <a:solidFill>
                  <a:srgbClr val="B7C7DE"/>
                </a:solidFill>
                <a:latin typeface="IBM Plex Sans"/>
              </a:rPr>
              <a:t>Defense-only</a:t>
            </a:r>
            <a:r>
              <a:rPr sz="700" b="0">
                <a:solidFill>
                  <a:srgbClr val="B7C7DE"/>
                </a:solidFill>
                <a:latin typeface="IBM Plex Sans"/>
              </a:rPr>
              <a:t>. Any external doc that reads as "pivot to defense" gets pulled.</a:t>
            </a:r>
          </a:p>
          <a:p>
            <a:pPr algn="l">
              <a:lnSpc>
                <a:spcPct val="16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00" b="1">
                <a:solidFill>
                  <a:srgbClr val="E8F1FF"/>
                </a:solidFill>
                <a:latin typeface="IBM Plex Sans"/>
              </a:rPr>
              <a:t>Internal escalation rule.</a:t>
            </a:r>
            <a:r>
              <a:rPr sz="700" b="0">
                <a:solidFill>
                  <a:srgbClr val="B7C7DE"/>
                </a:solidFill>
                <a:latin typeface="IBM Plex Sans"/>
              </a:rPr>
              <a:t> If the day-90 checkpoint shows Fleet failing AND Defense-2 not signed, this becomes a Board-level re-plan, not a marketing tweak.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476" y="5486262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THE ONE-LINE SYNTHESIS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476" y="5702157"/>
            <a:ext cx="10286742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E8F1FF"/>
                </a:solidFill>
                <a:latin typeface="Space Grotesk"/>
              </a:rPr>
              <a:t> Run Defense as resourced primary for 6 months — the fastest way to generate the missing Fleet evidence — while Fleet runs in parallel as a secondary, kill-criterion-gated experiment.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15 · BUYER COMMITTEE — TACTICAL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Who has to sign, and what each one is afraid of.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Defense &amp; port-authority buying committee — roles, fears, and what will lose the deal.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43051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5942" y="1943051"/>
            <a:ext cx="241293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WHO THEY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5879" y="1943051"/>
            <a:ext cx="330191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PRIMARY FEAR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4793" y="1943051"/>
            <a:ext cx="304792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WHAT WE BRING TO THEIR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473" y="2298642"/>
            <a:ext cx="120646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22D3EE"/>
                </a:solidFill>
                <a:latin typeface="IBM Plex Sans"/>
              </a:rPr>
              <a:t>Economic</a:t>
            </a:r>
          </a:p>
          <a:p>
            <a:pPr algn="l">
              <a:lnSpc>
                <a:spcPct val="130000"/>
              </a:lnSpc>
            </a:pPr>
            <a:r>
              <a:rPr sz="850" b="1">
                <a:solidFill>
                  <a:srgbClr val="22D3EE"/>
                </a:solidFill>
                <a:latin typeface="IBM Plex Sans"/>
              </a:rPr>
              <a:t>buyer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5942" y="2349441"/>
            <a:ext cx="2476438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Defense procurement officer / port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5879" y="2349441"/>
            <a:ext cx="336541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Vendor lock-in on foreign silicon; being unable to audit the supply chain if geopolitics turn.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4793" y="2349441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Made-in-India die + full IP ownership + reference design.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473" y="2870128"/>
            <a:ext cx="120646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22D3EE"/>
                </a:solidFill>
                <a:latin typeface="IBM Plex Sans"/>
              </a:rPr>
              <a:t>Technical</a:t>
            </a:r>
          </a:p>
          <a:p>
            <a:pPr algn="l">
              <a:lnSpc>
                <a:spcPct val="130000"/>
              </a:lnSpc>
            </a:pPr>
            <a:r>
              <a:rPr sz="850" b="1">
                <a:solidFill>
                  <a:srgbClr val="22D3EE"/>
                </a:solidFill>
                <a:latin typeface="IBM Plex Sans"/>
              </a:rPr>
              <a:t>buyer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5942" y="2920926"/>
            <a:ext cx="2476438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Systems-integration engineer at prime /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5879" y="2920926"/>
            <a:ext cx="336541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Undocumented failure modes; a chip they can't debug in a black-flag environment.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4793" y="2920926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Full BSP + JTAG + lockstep-fault documentation, on-site FAE.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473" y="3441613"/>
            <a:ext cx="120646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F59E0B"/>
                </a:solidFill>
                <a:latin typeface="IBM Plex Sans"/>
              </a:rPr>
              <a:t>Champion</a:t>
            </a:r>
          </a:p>
          <a:p>
            <a:pPr algn="l">
              <a:lnSpc>
                <a:spcPct val="130000"/>
              </a:lnSpc>
            </a:pPr>
            <a:r>
              <a:rPr sz="850" b="0">
                <a:solidFill>
                  <a:srgbClr val="FCD34D"/>
                </a:solidFill>
                <a:latin typeface="IBM Plex Sans"/>
              </a:rPr>
              <a:t>not yet identified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5942" y="3492412"/>
            <a:ext cx="2476438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Program manager on a UGV / border / AGV program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879" y="3492412"/>
            <a:ext cx="336541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Delivery slip; being blamed for a program held up by a novel vendor.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4793" y="3492412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FPGA-ready hardware ships now; ASIC drop-in with pin-compatible carrier.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9473" y="4013099"/>
            <a:ext cx="120646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EF4444"/>
                </a:solidFill>
                <a:latin typeface="IBM Plex Sans"/>
              </a:rPr>
              <a:t>Blocker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5942" y="4063898"/>
            <a:ext cx="2476438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Security clearance / compliance office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5879" y="4063898"/>
            <a:ext cx="336541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Data exfiltration through any component with an off-die firmware update path.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4793" y="4063898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D100 HSM — signed boot chain, keys never leave die, air-gap update mode.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9473" y="4584585"/>
            <a:ext cx="120646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B7C7DE"/>
                </a:solidFill>
                <a:latin typeface="IBM Plex Sans"/>
              </a:rPr>
              <a:t>End 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5942" y="4635384"/>
            <a:ext cx="2476438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UGV / AGV operator, control-room staff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5879" y="4635384"/>
            <a:ext cx="336541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Missed detections; a false-negative in a live sortie.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4793" y="4635384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Redundant sensor fusion (R100 + T100) + confidence-graded outputs.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476" y="5486262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MINIMUM PROOF TO ADVANCE THE DEFENSE 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476" y="5702157"/>
            <a:ext cx="10286742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F1FF"/>
                </a:solidFill>
                <a:latin typeface="Space Grotesk"/>
              </a:rPr>
              <a:t> Either a </a:t>
            </a:r>
            <a:r>
              <a:rPr sz="1200" b="1">
                <a:solidFill>
                  <a:srgbClr val="22D3EE"/>
                </a:solidFill>
                <a:latin typeface="Space Grotesk"/>
              </a:rPr>
              <a:t>second signed defense contract</a:t>
            </a:r>
            <a:r>
              <a:rPr sz="1200" b="0">
                <a:solidFill>
                  <a:srgbClr val="E8F1FF"/>
                </a:solidFill>
                <a:latin typeface="Space Grotesk"/>
              </a:rPr>
              <a:t>, or an </a:t>
            </a:r>
            <a:r>
              <a:rPr sz="1200" b="1">
                <a:solidFill>
                  <a:srgbClr val="22D3EE"/>
                </a:solidFill>
                <a:latin typeface="Space Grotesk"/>
              </a:rPr>
              <a:t>audited third-party confirmation</a:t>
            </a:r>
            <a:r>
              <a:rPr sz="1200" b="0">
                <a:solidFill>
                  <a:srgbClr val="E8F1FF"/>
                </a:solidFill>
                <a:latin typeface="Space Grotesk"/>
              </a:rPr>
              <a:t> that the existing ₹1 Cr revenue is a commercial sale (not a grant / R&amp;D subsidy). Whichever comes first — within Month 6.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16 · BUYER COMMITTEE — 3PL / FLEET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Fleet buying committee — a different animal entirely.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ROI-first buyer, mandate-driven champion, and the compliance officer is the one actually pushing.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43051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67E8F9"/>
                </a:solidFill>
                <a:latin typeface="JetBrains Mono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5942" y="1943051"/>
            <a:ext cx="241293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67E8F9"/>
                </a:solidFill>
                <a:latin typeface="JetBrains Mono"/>
              </a:rPr>
              <a:t>WHO THEY 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5879" y="1943051"/>
            <a:ext cx="330191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67E8F9"/>
                </a:solidFill>
                <a:latin typeface="JetBrains Mono"/>
              </a:rPr>
              <a:t>PRIMARY FEAR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4793" y="1943051"/>
            <a:ext cx="304792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67E8F9"/>
                </a:solidFill>
                <a:latin typeface="JetBrains Mono"/>
              </a:rPr>
              <a:t>WHAT WE BRING TO THEIR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9473" y="2298642"/>
            <a:ext cx="120646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22D3EE"/>
                </a:solidFill>
                <a:latin typeface="IBM Plex Sans"/>
              </a:rPr>
              <a:t>Economic</a:t>
            </a:r>
          </a:p>
          <a:p>
            <a:pPr algn="l">
              <a:lnSpc>
                <a:spcPct val="130000"/>
              </a:lnSpc>
            </a:pPr>
            <a:r>
              <a:rPr sz="850" b="1">
                <a:solidFill>
                  <a:srgbClr val="22D3EE"/>
                </a:solidFill>
                <a:latin typeface="IBM Plex Sans"/>
              </a:rPr>
              <a:t>buyer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5942" y="2349441"/>
            <a:ext cx="2476438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Fleet owner / operator (CEO of a 200+ truck 3PL)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5879" y="2349441"/>
            <a:ext cx="336541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Unproven ROI — paying ₹2 L per truck for a device whose accident-reduction is not yet measured on their duty cycle.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4793" y="2349441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Money-back pilot on N vehicles + measured baseline &amp; delta on their fleet.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473" y="2870128"/>
            <a:ext cx="120646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22D3EE"/>
                </a:solidFill>
                <a:latin typeface="IBM Plex Sans"/>
              </a:rPr>
              <a:t>Technical</a:t>
            </a:r>
          </a:p>
          <a:p>
            <a:pPr algn="l">
              <a:lnSpc>
                <a:spcPct val="130000"/>
              </a:lnSpc>
            </a:pPr>
            <a:r>
              <a:rPr sz="850" b="1">
                <a:solidFill>
                  <a:srgbClr val="22D3EE"/>
                </a:solidFill>
                <a:latin typeface="IBM Plex Sans"/>
              </a:rPr>
              <a:t>buyer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5942" y="2920926"/>
            <a:ext cx="2476438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Fleet maintenance / telematics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5879" y="2920926"/>
            <a:ext cx="336541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One more black box on a truck already carrying an AIS-140 tracker, an FMS, and a dashcam.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4793" y="2920926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S100 subsumes tracker &amp; telematics — net devices per truck goes 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down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, not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473" y="3441613"/>
            <a:ext cx="120646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22C55E"/>
                </a:solidFill>
                <a:latin typeface="IBM Plex Sans"/>
              </a:rPr>
              <a:t>Champion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5942" y="3492412"/>
            <a:ext cx="2476438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Safety / compliance officer — the one with a mandate deadline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879" y="3492412"/>
            <a:ext cx="336541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Missing the AIS-184/188 enforcement date and losing route contracts because trucks fail inspection.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4793" y="3492412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One kit that covers the four mandated functions (DMS + AEBS + LDW + BSD).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9473" y="4013099"/>
            <a:ext cx="120646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EF4444"/>
                </a:solidFill>
                <a:latin typeface="IBM Plex Sans"/>
              </a:rPr>
              <a:t>Blocker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5942" y="4063898"/>
            <a:ext cx="2476438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Procurement / vehicle owner (attached-fleet model)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5879" y="4063898"/>
            <a:ext cx="336541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Capex on a vehicle they lease out; unclear who pays if the truck gets sold with the kit installed.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4793" y="4063898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Owner-transferable license; kit reassignable on ownership change.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9473" y="4584585"/>
            <a:ext cx="120646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850" b="1">
                <a:solidFill>
                  <a:srgbClr val="B7C7DE"/>
                </a:solidFill>
                <a:latin typeface="IBM Plex Sans"/>
              </a:rPr>
              <a:t>End 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5942" y="4635384"/>
            <a:ext cx="2476438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Driver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5879" y="4635384"/>
            <a:ext cx="336541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Being surveilled and disciplined by the DMS; every camera as a monitoring device.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4793" y="4635384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On-die inference — alerts stay in-cab; only aggregate events uploaded.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476" y="5486262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67E8F9"/>
                </a:solidFill>
                <a:latin typeface="JetBrains Mono"/>
              </a:rPr>
              <a:t>MINIMUM PROOF TO ADVANCE THE FLEET TRACK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476" y="5702157"/>
            <a:ext cx="10286742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8F1FF"/>
                </a:solidFill>
                <a:latin typeface="Space Grotesk"/>
              </a:rPr>
              <a:t> </a:t>
            </a:r>
            <a:r>
              <a:rPr sz="1200" b="1">
                <a:solidFill>
                  <a:srgbClr val="67E8F9"/>
                </a:solidFill>
                <a:latin typeface="Space Grotesk"/>
              </a:rPr>
              <a:t>One signed paid pilot</a:t>
            </a:r>
            <a:r>
              <a:rPr sz="1200" b="0">
                <a:solidFill>
                  <a:srgbClr val="E8F1FF"/>
                </a:solidFill>
                <a:latin typeface="Space Grotesk"/>
              </a:rPr>
              <a:t> from the first 20 buyer discovery interviews — converted within 90 days of first contact. Same kill criterion as slide 11.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17 · POSITIONING — TWO TRACKS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Two positioning statements. Not one blurred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Different buyers, different fears, different proof burden — positioning cannot be laundered into a single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81150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TRACK A · TACTICAL DEFENSE + OFF-HIGHWAY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222444"/>
            <a:ext cx="4825879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8F1FF"/>
                </a:solidFill>
                <a:latin typeface="Space Grotesk"/>
              </a:rPr>
              <a:t>Positioning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" y="2997125"/>
            <a:ext cx="4571885" cy="1460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E8F1FF"/>
                </a:solidFill>
                <a:latin typeface="Space Grotesk"/>
              </a:rPr>
              <a:t> “For sovereign UGV, border-surveillance and port-AGV programs where </a:t>
            </a:r>
            <a:r>
              <a:rPr sz="1200" b="1">
                <a:solidFill>
                  <a:srgbClr val="22D3EE"/>
                </a:solidFill>
                <a:latin typeface="Space Grotesk"/>
              </a:rPr>
              <a:t>data cannot leave Indian soil</a:t>
            </a:r>
            <a:r>
              <a:rPr sz="1200" b="0">
                <a:solidFill>
                  <a:srgbClr val="E8F1FF"/>
                </a:solidFill>
                <a:latin typeface="Space Grotesk"/>
              </a:rPr>
              <a:t>, DGrid Alpha is the only Indian-designed combo-die whose on-die HSM makes data-exfil physically impossible — shipping today on FPGA, ASIC drop-in next.”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4762380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KILL CRITERION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4952876"/>
            <a:ext cx="4825879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Track drops from primary if Month 6 arrives without EITHER a second signed contract OR audited confirmation of the ₹1 Cr revenue's commercial nature.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342" y="1981150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67E8F9"/>
                </a:solidFill>
                <a:latin typeface="JetBrains Mono"/>
              </a:rPr>
              <a:t>TRACK B · 3PL / DEDICATED FLEET RETROFIT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342" y="2222444"/>
            <a:ext cx="495287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E8F1FF"/>
                </a:solidFill>
                <a:latin typeface="Space Grotesk"/>
              </a:rPr>
              <a:t>Positioning statement </a:t>
            </a:r>
            <a:r>
              <a:rPr sz="1700" b="1">
                <a:solidFill>
                  <a:srgbClr val="FCD34D"/>
                </a:solidFill>
                <a:latin typeface="Space Grotesk"/>
              </a:rPr>
              <a:t>· PENDING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838" y="2997125"/>
            <a:ext cx="4698882" cy="1460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E8F1FF"/>
                </a:solidFill>
                <a:latin typeface="Space Grotesk"/>
              </a:rPr>
              <a:t> “For N2/N3 fleet operators facing 2027–28 ADAS mandate deadlines, DGrid Alpha ships one retrofit kit that satisfies AEBS, LDW, DMS and BSD at roughly </a:t>
            </a:r>
            <a:r>
              <a:rPr sz="1200" b="1">
                <a:solidFill>
                  <a:srgbClr val="67E8F9"/>
                </a:solidFill>
                <a:latin typeface="Space Grotesk"/>
              </a:rPr>
              <a:t>1/3 the imported-stack price</a:t>
            </a:r>
            <a:r>
              <a:rPr sz="1200" b="0">
                <a:solidFill>
                  <a:srgbClr val="E8F1FF"/>
                </a:solidFill>
                <a:latin typeface="Space Grotesk"/>
              </a:rPr>
              <a:t> — pending first paid pilot.”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342" y="4762380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KILL CRITERION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342" y="4952876"/>
            <a:ext cx="4952876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Statement is retracted (from decks, site, sales collateral) if the first 20 buyer interviews fail to produce one paid pilot in 90 days.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476" y="5956151"/>
            <a:ext cx="10286742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1">
                <a:solidFill>
                  <a:srgbClr val="22D3EE"/>
                </a:solidFill>
                <a:latin typeface="IBM Plex Sans"/>
              </a:rPr>
              <a:t>Positioning discipline: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the retrofit-price line does not appear in a defense deck; the sovereign-data line does not appear in a fleet deck. Buyers hear one story at a time.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F59E0B"/>
                </a:solidFill>
                <a:latin typeface="JetBrains Mono"/>
              </a:rPr>
              <a:t>18 · FIVE CLAIMS TO STOP USING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Words we will not use in front of a buyer or investor.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Every one of these is either unreconciled math, unmeasured effect, or forecast confused with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43051"/>
            <a:ext cx="380990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6965" y="1943051"/>
            <a:ext cx="330191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BANNED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5879" y="1943051"/>
            <a:ext cx="2793930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WHY IT IS WRONG / UNSUPPORTED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6806" y="1943051"/>
            <a:ext cx="355591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USE 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2317692"/>
            <a:ext cx="380990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CD34D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6965" y="2298642"/>
            <a:ext cx="3301917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EF4444"/>
                </a:solidFill>
                <a:latin typeface="IBM Plex Sans"/>
              </a:rPr>
              <a:t>“84% ASIC-stage gross margin”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5879" y="2298642"/>
            <a:ext cx="2793930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Unreconciled arithmetic. Given $3.876 die + ASP assumptions, the segment margin actually implies </a:t>
            </a:r>
            <a:r>
              <a:rPr sz="750" b="1">
                <a:solidFill>
                  <a:srgbClr val="FCD34D"/>
                </a:solidFill>
                <a:latin typeface="IBM Plex Sans"/>
              </a:rPr>
              <a:t>~92–93%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, which is either right (and 84% understates) or wrong (and everything is off). We retract until reconciled.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6806" y="2298642"/>
            <a:ext cx="3555911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22D3EE"/>
                </a:solidFill>
                <a:latin typeface="IBM Plex Sans"/>
              </a:rPr>
              <a:t>"Chip-level margin curve on slide 33; blended systems margin FY32 88%. We publish the arithmetic, not the headline."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238419"/>
            <a:ext cx="380990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CD34D"/>
                </a:solidFill>
                <a:latin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6965" y="3225719"/>
            <a:ext cx="3301917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EF4444"/>
                </a:solidFill>
                <a:latin typeface="IBM Plex Sans"/>
              </a:rPr>
              <a:t>Any insurance-premium-reduction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5879" y="3225719"/>
            <a:ext cx="2793930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No actuarial partnership, no signed data-share, no measured baseline. Any "12% / 20% / 30% premium reduction" claim is invented.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6806" y="3225719"/>
            <a:ext cx="3555911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22D3EE"/>
                </a:solidFill>
                <a:latin typeface="IBM Plex Sans"/>
              </a:rPr>
              <a:t>Silence — until a Fleet pilot produces a measured accident-reduction delta an insurer will co-sign.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476" y="4165495"/>
            <a:ext cx="380990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CD34D"/>
                </a:solidFill>
                <a:latin typeface="JetBrains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96965" y="4152796"/>
            <a:ext cx="3301917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EF4444"/>
                </a:solidFill>
                <a:latin typeface="IBM Plex Sans"/>
              </a:rPr>
              <a:t>“Mandate-ready” for AD2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5879" y="4152796"/>
            <a:ext cx="2793930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Unvalidated. AD2 requirements have not been mapped 1:1 to DGrid Alpha chiplets in a public homologation document.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6806" y="4152796"/>
            <a:ext cx="3555911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22D3EE"/>
                </a:solidFill>
                <a:latin typeface="IBM Plex Sans"/>
              </a:rPr>
              <a:t>"AIS-184/186/187/188 addressable by design; AIS-140 native via S100." Point to slide 05.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76" y="5092572"/>
            <a:ext cx="380990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CD34D"/>
                </a:solidFill>
                <a:latin typeface="JetBrains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6965" y="5079873"/>
            <a:ext cx="3301917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EF4444"/>
                </a:solidFill>
                <a:latin typeface="IBM Plex Sans"/>
              </a:rPr>
              <a:t>Any accident-reduction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5879" y="5079873"/>
            <a:ext cx="2793930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Nothing measured. FPGA has not been in a fleet long enough to produce a baseline / delta.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6806" y="5079873"/>
            <a:ext cx="3555911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22D3EE"/>
                </a:solidFill>
                <a:latin typeface="IBM Plex Sans"/>
              </a:rPr>
              <a:t>"Pilot design targets a measurable delta; measurement plan on slide 20."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76" y="5829154"/>
            <a:ext cx="380990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CD34D"/>
                </a:solidFill>
                <a:latin typeface="JetBrains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6965" y="5816454"/>
            <a:ext cx="3301917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EF4444"/>
                </a:solidFill>
                <a:latin typeface="IBM Plex Sans"/>
              </a:rPr>
              <a:t>“5M+ truck TAM” as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5879" y="5816454"/>
            <a:ext cx="2793930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Forecast confused with demand. TAM ≠ SAM ≠ SOM ≠ pipeline.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6806" y="5816454"/>
            <a:ext cx="3555911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22D3EE"/>
                </a:solidFill>
                <a:latin typeface="IBM Plex Sans"/>
              </a:rPr>
              <a:t>"TAM 5M+; addressable at our BOM ~1.2M; pipeline is what has a name."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19 · PRICING LOGIC &amp;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Pricing is a data-collection plan, not a price sheet.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Manufacturing false price precision is worse than admitting we are still measuring.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81150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PRICING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273243"/>
            <a:ext cx="4825879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7E8F9"/>
                </a:solidFill>
                <a:latin typeface="Space Grotesk"/>
              </a:rPr>
              <a:t>Fleet retrofit — AD2 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539936"/>
            <a:ext cx="482587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₹2–2.5 Lakh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is a 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roadmap figure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, not a validated price. Bottom-up cost build ($200 BOM) plus mandate-driven willingness-to-pay assumption, neither externally tested.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3086022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WHAT WE COLLECT IN THE FIRST 20 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3289217"/>
            <a:ext cx="4825879" cy="13334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Ceiling: max ₹ the fleet has ever paid per truck for a safety add-on.</a:t>
            </a:r>
          </a:p>
          <a:p>
            <a:pPr algn="l">
              <a:lnSpc>
                <a:spcPct val="16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Payback horizon they will underwrite (months, not years).</a:t>
            </a:r>
          </a:p>
          <a:p>
            <a:pPr algn="l">
              <a:lnSpc>
                <a:spcPct val="16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Whether pricing is per-truck, per-fleet, or subscription.</a:t>
            </a:r>
          </a:p>
          <a:p>
            <a:pPr algn="l">
              <a:lnSpc>
                <a:spcPct val="16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Fault attribution — who pays if a truck with the kit has an incident.</a:t>
            </a:r>
          </a:p>
          <a:p>
            <a:pPr algn="l">
              <a:lnSpc>
                <a:spcPct val="16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Attached-fleet vs owner-operated split — who has budget authority.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4813179"/>
            <a:ext cx="4825879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2D3EE"/>
                </a:solidFill>
                <a:latin typeface="Space Grotesk"/>
              </a:rPr>
              <a:t>Defense — contract-negotiated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5079873"/>
            <a:ext cx="4825879" cy="88897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No public price. Sovereign buyers negotiate line-item against program budget. NRE reimbursement + per-unit + support &amp; spares tail.</a:t>
            </a:r>
          </a:p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Discipline: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we never publish a defense price. We publish a chip technology envelope. Program-specific pricing lives in the RFP response.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342" y="1981150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CHANNEL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342" y="2349441"/>
            <a:ext cx="215894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8787" y="2349441"/>
            <a:ext cx="114297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VERDICT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8755" y="2349441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CONDITION TO UNLOCK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342" y="2641533"/>
            <a:ext cx="215894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Direct — Defense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8787" y="2666933"/>
            <a:ext cx="1142971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00" b="0">
                <a:solidFill>
                  <a:srgbClr val="22C55E"/>
                </a:solidFill>
                <a:latin typeface="JetBrains Mono"/>
              </a:rPr>
              <a:t>RECOMMENDED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8755" y="2666933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In place. Ships today.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342" y="3213019"/>
            <a:ext cx="215894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Direct — Fleet (pilot)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8787" y="3238419"/>
            <a:ext cx="1142971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00" b="0">
                <a:solidFill>
                  <a:srgbClr val="22C55E"/>
                </a:solidFill>
                <a:latin typeface="JetBrains Mono"/>
              </a:rPr>
              <a:t>RECOMMENDED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8755" y="3238419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Founder-led first 20 buyers.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342" y="3784505"/>
            <a:ext cx="215894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System integrator (SI)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8787" y="3809904"/>
            <a:ext cx="1142971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NOT YET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8755" y="3809904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No named partner today.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342" y="4355991"/>
            <a:ext cx="215894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Indian defense primes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8787" y="4381390"/>
            <a:ext cx="1142971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00" b="0">
                <a:solidFill>
                  <a:srgbClr val="C4B5FD"/>
                </a:solidFill>
                <a:latin typeface="JetBrains Mono"/>
              </a:rPr>
              <a:t>CONDITIONAL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78755" y="4381390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Only after 2+ Defense contracts.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342" y="4927476"/>
            <a:ext cx="215894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Tier-1 / OEM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8787" y="4952876"/>
            <a:ext cx="1142971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00" b="0">
                <a:solidFill>
                  <a:srgbClr val="B7C7DE"/>
                </a:solidFill>
                <a:latin typeface="JetBrains Mono"/>
              </a:rPr>
              <a:t>DEFERRED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78755" y="4952876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Only after signed Tier-1 co-dev.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6342" y="5498962"/>
            <a:ext cx="215894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Insurer channel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8787" y="5524361"/>
            <a:ext cx="1142971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NEVER (SALES)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8755" y="5524361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Evidence partner only.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20 · 90-DAY EXECUTION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13 weeks. Three phases. One hard gate.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Every activity has a deliverable an outsider can verify.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43051"/>
            <a:ext cx="152396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PHASE /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9936" y="1943051"/>
            <a:ext cx="330191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DEFENSE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8850" y="1943051"/>
            <a:ext cx="330191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FLEET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7765" y="1943051"/>
            <a:ext cx="190495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2324041"/>
            <a:ext cx="1523961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850" b="1">
                <a:solidFill>
                  <a:srgbClr val="22D3EE"/>
                </a:solidFill>
                <a:latin typeface="IBM Plex Sans"/>
              </a:rPr>
              <a:t>Phase 1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7A8CA6"/>
                </a:solidFill>
                <a:latin typeface="IBM Plex Sans"/>
              </a:rPr>
              <a:t>WEEKS 1–4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Evidence gathering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9936" y="2324041"/>
            <a:ext cx="3301917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Third-party audit of ₹1 Cr revenue nature.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Add Indian defense primes (BEL, BDL, Tata, Mahindra) to benchmark.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Named-account list: 3 UGV / border, 2 seaport AGV.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8850" y="2324041"/>
            <a:ext cx="3301917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10 fleet-owner discovery calls using 27-question guide.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Attached vs owner-operated segmentation.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No commercial ask yet.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7765" y="2324041"/>
            <a:ext cx="1904952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00" b="0">
                <a:solidFill>
                  <a:srgbClr val="22D3EE"/>
                </a:solidFill>
                <a:latin typeface="IBM Plex Sans"/>
              </a:rPr>
              <a:t> Signed revenue-nature attestation.</a:t>
            </a:r>
          </a:p>
          <a:p>
            <a:pPr algn="l">
              <a:lnSpc>
                <a:spcPct val="150000"/>
              </a:lnSpc>
            </a:pPr>
            <a:r>
              <a:rPr sz="700" b="0">
                <a:solidFill>
                  <a:srgbClr val="22D3EE"/>
                </a:solidFill>
                <a:latin typeface="IBM Plex Sans"/>
              </a:rPr>
              <a:t>Named-account tracker.</a:t>
            </a:r>
          </a:p>
          <a:p>
            <a:pPr algn="l">
              <a:lnSpc>
                <a:spcPct val="150000"/>
              </a:lnSpc>
            </a:pPr>
            <a:r>
              <a:rPr sz="700" b="0">
                <a:solidFill>
                  <a:srgbClr val="22D3EE"/>
                </a:solidFill>
                <a:latin typeface="IBM Plex Sans"/>
              </a:rPr>
              <a:t>Interview verbatims log.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3213019"/>
            <a:ext cx="1523961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850" b="1">
                <a:solidFill>
                  <a:srgbClr val="22D3EE"/>
                </a:solidFill>
                <a:latin typeface="IBM Plex Sans"/>
              </a:rPr>
              <a:t>Phase 2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7A8CA6"/>
                </a:solidFill>
                <a:latin typeface="IBM Plex Sans"/>
              </a:rPr>
              <a:t>WEEKS 5–9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Conversion attempts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9936" y="3213019"/>
            <a:ext cx="3301917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Technical evaluation advances at ≥1 UGV lab.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RFP submission for one border-surveillance program.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Port-AGV site visit + demonstrator install plan.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8850" y="3213019"/>
            <a:ext cx="3301917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Complete interviews 11–20.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First paid pilot term sheet issued.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Pilot design: N vehicles, baseline / delta measurement, exit clause.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7765" y="3213019"/>
            <a:ext cx="1904952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00" b="0">
                <a:solidFill>
                  <a:srgbClr val="22D3EE"/>
                </a:solidFill>
                <a:latin typeface="IBM Plex Sans"/>
              </a:rPr>
              <a:t> Countersigned RFP.</a:t>
            </a:r>
          </a:p>
          <a:p>
            <a:pPr algn="l">
              <a:lnSpc>
                <a:spcPct val="150000"/>
              </a:lnSpc>
            </a:pPr>
            <a:r>
              <a:rPr sz="700" b="0">
                <a:solidFill>
                  <a:srgbClr val="22D3EE"/>
                </a:solidFill>
                <a:latin typeface="IBM Plex Sans"/>
              </a:rPr>
              <a:t>Signed pilot MSA (or documented refusal).</a:t>
            </a:r>
          </a:p>
          <a:p>
            <a:pPr algn="l">
              <a:lnSpc>
                <a:spcPct val="150000"/>
              </a:lnSpc>
            </a:pPr>
            <a:r>
              <a:rPr sz="700" b="0">
                <a:solidFill>
                  <a:srgbClr val="22D3EE"/>
                </a:solidFill>
                <a:latin typeface="IBM Plex Sans"/>
              </a:rPr>
              <a:t>20-interview readout.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476" y="4101997"/>
            <a:ext cx="1523961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850" b="1">
                <a:solidFill>
                  <a:srgbClr val="F59E0B"/>
                </a:solidFill>
                <a:latin typeface="IBM Plex Sans"/>
              </a:rPr>
              <a:t>Phase 3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7A8CA6"/>
                </a:solidFill>
                <a:latin typeface="IBM Plex Sans"/>
              </a:rPr>
              <a:t>WEEKS 10–13</a:t>
            </a:r>
          </a:p>
          <a:p>
            <a:pPr algn="l">
              <a:lnSpc>
                <a:spcPct val="135000"/>
              </a:lnSpc>
            </a:pPr>
            <a:r>
              <a:rPr sz="850" b="0">
                <a:solidFill>
                  <a:srgbClr val="FCD34D"/>
                </a:solidFill>
                <a:latin typeface="IBM Plex Sans"/>
              </a:rPr>
              <a:t>Governance &amp; re-score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9936" y="4101997"/>
            <a:ext cx="3301917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Working-capital model against 90–180 day govt payment cycles.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Defense-primes competitive slide baked into all decks.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8850" y="4101997"/>
            <a:ext cx="3301917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Pilot data ingest &amp; measurement baseline.</a:t>
            </a:r>
          </a:p>
          <a:p>
            <a:pPr algn="l">
              <a:lnSpc>
                <a:spcPct val="15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→ Fleet track goes co-primary </a:t>
            </a:r>
            <a:r>
              <a:rPr sz="750" b="1">
                <a:solidFill>
                  <a:srgbClr val="22C55E"/>
                </a:solidFill>
                <a:latin typeface="IBM Plex Sans"/>
              </a:rPr>
              <a:t>OR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drops to watch-only.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7765" y="4101997"/>
            <a:ext cx="1904952" cy="69848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00" b="0">
                <a:solidFill>
                  <a:srgbClr val="FCD34D"/>
                </a:solidFill>
                <a:latin typeface="IBM Plex Sans"/>
              </a:rPr>
              <a:t> </a:t>
            </a:r>
            <a:r>
              <a:rPr sz="700" b="1">
                <a:solidFill>
                  <a:srgbClr val="FCD34D"/>
                </a:solidFill>
                <a:latin typeface="IBM Plex Sans"/>
              </a:rPr>
              <a:t>Day-90 re-scoring memo</a:t>
            </a:r>
            <a:r>
              <a:rPr sz="700" b="0">
                <a:solidFill>
                  <a:srgbClr val="FCD34D"/>
                </a:solidFill>
                <a:latin typeface="IBM Plex Sans"/>
              </a:rPr>
              <a:t> — same 10-dim rubric, fresh evidence, Board-visible.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76" y="4914777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EF4444"/>
                </a:solidFill>
                <a:latin typeface="JetBrains Mono"/>
              </a:rPr>
              <a:t>STOP-DOING LIST — WHERE WE WILL NOT SPEND THE NEXT 90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476" y="5156071"/>
            <a:ext cx="2539936" cy="7619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×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No OEM GTM spend until a Tier-1 partner signs.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82907" y="5156071"/>
            <a:ext cx="2539936" cy="7619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×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No insurer-facing sales motion — ever, under this plan.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3339" y="5156071"/>
            <a:ext cx="2539936" cy="7619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×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No unevidenced external claims (the five on slide 18).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771" y="5156071"/>
            <a:ext cx="2158946" cy="7619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×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No AD0 owner-operator resourcing pending evidence check.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2 · ICP &amp; GTM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21 · GLOBAL COMPETITOR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Every credible autonomy playbook picks one lane.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Aurora, Kodiak, Gatik, DeepWay — four coherent bets, none at our BOM.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776" y="2006549"/>
            <a:ext cx="2222444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USA · HEAVY OEM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776" y="2222444"/>
            <a:ext cx="2222444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Aurora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776" y="2666933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7E8F9"/>
                </a:solidFill>
                <a:latin typeface="IBM Plex Sans"/>
              </a:rPr>
              <a:t>Long-haul Class-8 highway trucks.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776" y="3086022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SILICON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776" y="3225719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Dual NVIDIA DRIVE Thor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776" y="3505112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COMPUTE BOM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9776" y="3644808"/>
            <a:ext cx="2222444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F4444"/>
                </a:solidFill>
                <a:latin typeface="JetBrains Mono"/>
              </a:rPr>
              <a:t>$6,000+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776" y="3975000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PARTNERSHIP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776" y="4114697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Continental (Tier-1)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776" y="4419489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BET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776" y="4571885"/>
            <a:ext cx="2222444" cy="1269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Highway freight L4 is a big-enough market to amortise a $6k+ compute node. Sells to Class-8 OEMs, not to fleet operators.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6709" y="2006549"/>
            <a:ext cx="2222444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C4B5FD"/>
                </a:solidFill>
                <a:latin typeface="JetBrains Mono"/>
              </a:rPr>
              <a:t>USA · DUAL-USE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6709" y="2222444"/>
            <a:ext cx="2222444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Kodiak Robotics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6709" y="2666933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C4B5FD"/>
                </a:solidFill>
                <a:latin typeface="IBM Plex Sans"/>
              </a:rPr>
              <a:t>Highway freight + DoD contracts.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6709" y="3086022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SILICON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6709" y="3225719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Ambarella CV3-AD685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6709" y="3505112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COMPUTE BOM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06709" y="3644808"/>
            <a:ext cx="2222444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F4444"/>
                </a:solidFill>
                <a:latin typeface="JetBrains Mono"/>
              </a:rPr>
              <a:t>~$2,500–3,500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6709" y="3975000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PARTNERSHIP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6709" y="4114697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US DoD (autonomy)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6709" y="4419489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BET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6709" y="4571885"/>
            <a:ext cx="2222444" cy="1269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Cross-subsidise commercial R&amp;D with defense revenue. Same architectural pattern we propose — but at 100× our BOM.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643" y="2006549"/>
            <a:ext cx="2222444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5EEAD4"/>
                </a:solidFill>
                <a:latin typeface="JetBrains Mono"/>
              </a:rPr>
              <a:t>USA · CONSTRAINED ODD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643" y="2222444"/>
            <a:ext cx="2222444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Gatik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643" y="2666933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5EEAD4"/>
                </a:solidFill>
                <a:latin typeface="IBM Plex Sans"/>
              </a:rPr>
              <a:t>Middle-mile fixed routes, box trucks.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643" y="3086022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SILICON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643" y="3225719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NVIDIA DRIVE AGX Orin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3643" y="3505112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COMPUTE BOM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643" y="3644808"/>
            <a:ext cx="2222444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F4444"/>
                </a:solidFill>
                <a:latin typeface="JetBrains Mono"/>
              </a:rPr>
              <a:t>~$2,000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3643" y="3975000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PARTNERSHIP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73643" y="4114697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Isuzu · Walmart · Kroger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3643" y="4419489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BET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73643" y="4571885"/>
            <a:ext cx="2222444" cy="1269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Fixed-route middle mile keeps ODD entropy tiny. Ship the vehicle, sell the mile. Software company that also owns the truck.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40576" y="2006549"/>
            <a:ext cx="2222444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CA5A5"/>
                </a:solidFill>
                <a:latin typeface="JetBrains Mono"/>
              </a:rPr>
              <a:t>CHINA · DOMESTIC FLEET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0576" y="2222444"/>
            <a:ext cx="2222444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DeepWay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0576" y="2666933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FCA5A5"/>
                </a:solidFill>
                <a:latin typeface="IBM Plex Sans"/>
              </a:rPr>
              <a:t>“Xingtu” L4 electric trucks.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0576" y="3086022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SILICON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40576" y="3225719"/>
            <a:ext cx="2222444" cy="27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50" b="0">
                <a:solidFill>
                  <a:srgbClr val="E8F1FF"/>
                </a:solidFill>
                <a:latin typeface="IBM Plex Sans"/>
              </a:rPr>
              <a:t>High-compute NPU + Baidu Apollo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40576" y="3505112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COMPUTE BOM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40576" y="3644808"/>
            <a:ext cx="2222444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F4444"/>
                </a:solidFill>
                <a:latin typeface="JetBrains Mono"/>
              </a:rPr>
              <a:t>~$4,000+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0576" y="3975000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PARTNERSHIP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0576" y="4114697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Baidu (autonomy stack)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40576" y="4419489"/>
            <a:ext cx="222244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BET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40576" y="4571885"/>
            <a:ext cx="2222444" cy="12699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Vertically integrated at the truck level, subsidised by Chinese logistics demand. Not export-viable to India / GCC on cost or sanctions.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1980" y="6540336"/>
            <a:ext cx="761980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LESSON — NO INCUMBENT RUNS DEFENSE + FLEET + OEM SIMULTANEOUSLY AT DEEPGRID'S ~$30 BOM.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9777" y="6540336"/>
            <a:ext cx="253993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22 · SEMICONDUCTOR DEPENDENCY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Everyone else is renting silicon. We own 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Silicon partner, compute model, and BOM cost across the same five companies.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55751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76438" y="1955751"/>
            <a:ext cx="177795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SILICON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1390" y="1955751"/>
            <a:ext cx="177795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COMPUTE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342" y="1955751"/>
            <a:ext cx="177795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CHIP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295" y="1955751"/>
            <a:ext cx="152396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COMPUTE BOM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2253" y="1955751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MULTIPLE VS DGRID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2400239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E8F1FF"/>
                </a:solidFill>
                <a:latin typeface="IBM Plex Sans"/>
              </a:rPr>
              <a:t>Aurora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438" y="2400239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NVIDIA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1390" y="2400239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Merchant SoC (dual Thor)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342" y="2400239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F4444"/>
                </a:solidFill>
                <a:latin typeface="IBM Plex Sans"/>
              </a:rPr>
              <a:t>Full — sole-source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295" y="2400239"/>
            <a:ext cx="1523961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F4444"/>
                </a:solidFill>
                <a:latin typeface="JetBrains Mono"/>
              </a:rPr>
              <a:t>$6,000+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2253" y="2400239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F4444"/>
                </a:solidFill>
                <a:latin typeface="JetBrains Mono"/>
              </a:rPr>
              <a:t>200×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476" y="2933626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E8F1FF"/>
                </a:solidFill>
                <a:latin typeface="IBM Plex Sans"/>
              </a:rPr>
              <a:t>Kodiak Robotics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6438" y="2933626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Ambarella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1390" y="2933626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Merchant SoC (CV3-AD685)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342" y="2933626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F4444"/>
                </a:solidFill>
                <a:latin typeface="IBM Plex Sans"/>
              </a:rPr>
              <a:t>Full — sole-source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295" y="2933626"/>
            <a:ext cx="1523961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F4444"/>
                </a:solidFill>
                <a:latin typeface="JetBrains Mono"/>
              </a:rPr>
              <a:t>~$2.5–3.5k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2253" y="2933626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F4444"/>
                </a:solidFill>
                <a:latin typeface="JetBrains Mono"/>
              </a:rPr>
              <a:t>83–117×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476" y="3467013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E8F1FF"/>
                </a:solidFill>
                <a:latin typeface="IBM Plex Sans"/>
              </a:rPr>
              <a:t>Gatik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76438" y="3467013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NVIDIA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1390" y="3467013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Merchant SoC (Orin)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342" y="3467013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F4444"/>
                </a:solidFill>
                <a:latin typeface="IBM Plex Sans"/>
              </a:rPr>
              <a:t>Full — sole-source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295" y="3467013"/>
            <a:ext cx="1523961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F4444"/>
                </a:solidFill>
                <a:latin typeface="JetBrains Mono"/>
              </a:rPr>
              <a:t>~$2,000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2253" y="3467013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F4444"/>
                </a:solidFill>
                <a:latin typeface="JetBrains Mono"/>
              </a:rPr>
              <a:t>67×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476" y="4000399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1">
                <a:solidFill>
                  <a:srgbClr val="E8F1FF"/>
                </a:solidFill>
                <a:latin typeface="IBM Plex Sans"/>
              </a:rPr>
              <a:t>DeepWay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76438" y="4000399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Baidu / Chinese NPU vendors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1390" y="4000399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Vertically-integrated via Baidu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6342" y="4000399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F59E0B"/>
                </a:solidFill>
                <a:latin typeface="IBM Plex Sans"/>
              </a:rPr>
              <a:t>Partial — stack partner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1295" y="4000399"/>
            <a:ext cx="1523961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F4444"/>
                </a:solidFill>
                <a:latin typeface="JetBrains Mono"/>
              </a:rPr>
              <a:t>~$4,000+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2253" y="4000399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F4444"/>
                </a:solidFill>
                <a:latin typeface="JetBrains Mono"/>
              </a:rPr>
              <a:t>133×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9473" y="4635384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2D3EE"/>
                </a:solidFill>
                <a:latin typeface="IBM Plex Sans"/>
              </a:rPr>
              <a:t>DeepGrid Semi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76438" y="4635384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None</a:t>
            </a:r>
            <a:r>
              <a:rPr sz="800" b="0">
                <a:solidFill>
                  <a:srgbClr val="E8F1FF"/>
                </a:solidFill>
                <a:latin typeface="IBM Plex Sans"/>
              </a:rPr>
              <a:t> — own die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1390" y="4635384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Custom 28 nm combo-die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6342" y="4635384"/>
            <a:ext cx="177795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22D3EE"/>
                </a:solidFill>
                <a:latin typeface="IBM Plex Sans"/>
              </a:rPr>
              <a:t>Zero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1295" y="4635384"/>
            <a:ext cx="1523961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2D3EE"/>
                </a:solidFill>
                <a:latin typeface="JetBrains Mono"/>
              </a:rPr>
              <a:t>~$30 (board)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42253" y="4635384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2D3EE"/>
                </a:solidFill>
                <a:latin typeface="JetBrains Mono"/>
              </a:rPr>
              <a:t>baseline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476" y="5270368"/>
            <a:ext cx="10286742" cy="7619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Read this table twice.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Column 4 (chip dependency) is the moat — not column 5 (BOM). Any of the top four could pass a NVIDIA-supply or Chinese-export shock straight to the customer. DeepGrid's dependency is TSMC-fab access and its own tape-out cadence — concentrated risk, but not on a third party's product roadmap.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3 · COMPETITIVE LANDSCAPE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23 · INDIAN SEMICONDUCTOR WAVE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India's chip wave is real. And a year behind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Three well-funded domestic fabless startups — none has commercial autonomous-CV silicon revenue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2971" y="2158946"/>
            <a:ext cx="2920926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FABLESS · VISION SOC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71" y="2349441"/>
            <a:ext cx="292092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Netrasemi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2971" y="2743131"/>
            <a:ext cx="29209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7E8F9"/>
                </a:solidFill>
                <a:latin typeface="IBM Plex Sans"/>
              </a:rPr>
              <a:t>A2000 vision SoC on TSMC 12 nm.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2971" y="3098722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2971" y="3238419"/>
            <a:ext cx="1396965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F1FF"/>
                </a:solidFill>
                <a:latin typeface="JetBrains Mono"/>
              </a:rPr>
              <a:t>₹125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6933" y="3098722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6933" y="3238419"/>
            <a:ext cx="1396965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CD34D"/>
                </a:solidFill>
                <a:latin typeface="JetBrains Mono"/>
              </a:rPr>
              <a:t>Mid-2027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2971" y="3594010"/>
            <a:ext cx="29209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2971" y="3746406"/>
            <a:ext cx="2920926" cy="107947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General-purpose vision SoC. Broadest but least ADAS-specific of the three. 12 nm node is more expensive per die than our 28 nm — different bet on where value lives.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885" y="2158946"/>
            <a:ext cx="2920926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FABLESS · RISC-V MCU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885" y="2349441"/>
            <a:ext cx="292092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Mindgrove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885" y="2743131"/>
            <a:ext cx="29209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7E8F9"/>
                </a:solidFill>
                <a:latin typeface="IBM Plex Sans"/>
              </a:rPr>
              <a:t>RISC-V MCU on TSMC 28 nm.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885" y="3098722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FUNDING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885" y="3238419"/>
            <a:ext cx="1396965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F1FF"/>
                </a:solidFill>
                <a:latin typeface="JetBrains Mono"/>
              </a:rPr>
              <a:t>$10.3M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3098722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PARTNER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5847" y="3238419"/>
            <a:ext cx="1396965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CD34D"/>
                </a:solidFill>
                <a:latin typeface="JetBrains Mono"/>
              </a:rPr>
              <a:t>Bosch MoU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885" y="3594010"/>
            <a:ext cx="29209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POSITIONING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885" y="3746406"/>
            <a:ext cx="2920926" cy="107947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MCU-class chip, not an inference-class one. Bosch MoU is genuinely interesting but is a supply agreement for MCU sockets, not a competing ADAS SoC. Adjacent, not overlapping.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0799" y="2158946"/>
            <a:ext cx="3047923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FABLESS · GAN POWER / RF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0799" y="2349441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Agnit Semiconductors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0799" y="2743131"/>
            <a:ext cx="304792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7E8F9"/>
                </a:solidFill>
                <a:latin typeface="IBM Plex Sans"/>
              </a:rPr>
              <a:t>GaN devices for defense radar.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0799" y="3098722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FUNDING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799" y="3238419"/>
            <a:ext cx="1396965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F1FF"/>
                </a:solidFill>
                <a:latin typeface="JetBrains Mono"/>
              </a:rPr>
              <a:t>$7.47M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4761" y="3098722"/>
            <a:ext cx="152396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STATUS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4761" y="3238419"/>
            <a:ext cx="1523961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CD34D"/>
                </a:solidFill>
                <a:latin typeface="JetBrains Mono"/>
              </a:rPr>
              <a:t>Defense pilots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0799" y="3594010"/>
            <a:ext cx="304792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POSITIONING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0799" y="3746406"/>
            <a:ext cx="3047923" cy="107947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Complements rather than competes — GaN power devices sit alongside our R100 digital radar DSP. Potential collaboration for defense radar programs.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476" y="5486262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READ OF THE DOMESTIC WAVE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476" y="5702157"/>
            <a:ext cx="10286742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8F1FF"/>
                </a:solidFill>
                <a:latin typeface="Space Grotesk"/>
              </a:rPr>
              <a:t> The wave is real and well-funded. But DeepGrid is </a:t>
            </a:r>
            <a:r>
              <a:rPr sz="1100" b="1">
                <a:solidFill>
                  <a:srgbClr val="22D3EE"/>
                </a:solidFill>
                <a:latin typeface="Space Grotesk"/>
              </a:rPr>
              <a:t>the only Indian fabless startup with commercial autonomous-CV silicon revenue today</a:t>
            </a:r>
            <a:r>
              <a:rPr sz="1100" b="0">
                <a:solidFill>
                  <a:srgbClr val="E8F1FF"/>
                </a:solidFill>
                <a:latin typeface="Space Grotesk"/>
              </a:rPr>
              <a:t>. Netrasemi ships mid-2027; Mindgrove is MCU-class; Agnit is a partner, not a competitor.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3 · COMPETITIVE LANDSCAPE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24 · SOFTWARE-FIRST AUTONOMY COMPETITORS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Great algorithms. Wrong cost structure.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India's three most-cited autonomy competitors are hardware-agnostic — they inherit merchant-silicon economics regardless of algorithm quality.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81150"/>
            <a:ext cx="3047923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MINUS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184345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F1FF"/>
                </a:solidFill>
                <a:latin typeface="Space Grotesk"/>
              </a:rPr>
              <a:t>True-vision autonomy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743131"/>
            <a:ext cx="3047923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SILICON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2882827"/>
            <a:ext cx="3047923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F4444"/>
                </a:solidFill>
                <a:latin typeface="IBM Plex Sans"/>
              </a:rPr>
              <a:t>Merchant — NVIDIA / Qualcomm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3314617"/>
            <a:ext cx="3047923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3454313"/>
            <a:ext cx="3047923" cy="11429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Camera-only perception, deep-learning-heavy stack. Differentiation is the model, not the chip.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4635384"/>
            <a:ext cx="3047923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INHERITED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4775080"/>
            <a:ext cx="3047923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Whatever the SoC vendor charges — they don't control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885" y="1981150"/>
            <a:ext cx="3047923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SWAAYATT ROBOTS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885" y="2184345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F1FF"/>
                </a:solidFill>
                <a:latin typeface="Space Grotesk"/>
              </a:rPr>
              <a:t>Indian-road negotiation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885" y="2743131"/>
            <a:ext cx="3047923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SILICON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885" y="2882827"/>
            <a:ext cx="3047923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F4444"/>
                </a:solidFill>
                <a:latin typeface="IBM Plex Sans"/>
              </a:rPr>
              <a:t>Merchant — hardware-agnostic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885" y="3314617"/>
            <a:ext cx="3047923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885" y="3454313"/>
            <a:ext cx="3047923" cy="11429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Motion-planning for Indian traffic entropy. Strong research pedigree, dependent on whatever compute the OEM specs.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1885" y="4635384"/>
            <a:ext cx="3047923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INHERITED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1885" y="4775080"/>
            <a:ext cx="3047923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Same — algorithmic edge doesn't compress BOM.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1295" y="1981150"/>
            <a:ext cx="3047923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ROSHAI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295" y="2184345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8F1FF"/>
                </a:solidFill>
                <a:latin typeface="Space Grotesk"/>
              </a:rPr>
              <a:t>Fleet-safety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1295" y="2743131"/>
            <a:ext cx="3047923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SILICON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295" y="2882827"/>
            <a:ext cx="3047923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EF4444"/>
                </a:solidFill>
                <a:latin typeface="IBM Plex Sans"/>
              </a:rPr>
              <a:t>Merchant — commodity dashcam 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1295" y="3314617"/>
            <a:ext cx="3047923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295" y="3454313"/>
            <a:ext cx="3047923" cy="11429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DMS + telematics platform on commodity dashcam hardware. Software-as-service revenue, not chip revenue.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1295" y="4635384"/>
            <a:ext cx="3047923" cy="126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INHERITED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295" y="4775080"/>
            <a:ext cx="3047923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Dashcam hardware margin belongs to somebody else.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476" y="5486262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THE STRUCTURAL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476" y="5702157"/>
            <a:ext cx="10286742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E8F1FF"/>
                </a:solidFill>
                <a:latin typeface="Space Grotesk"/>
              </a:rPr>
              <a:t> Software-first competitors can win on </a:t>
            </a:r>
            <a:r>
              <a:rPr sz="1100" b="0">
                <a:solidFill>
                  <a:srgbClr val="E8F1FF"/>
                </a:solidFill>
                <a:latin typeface="Space Grotesk"/>
              </a:rPr>
              <a:t>algorithm quality</a:t>
            </a:r>
            <a:r>
              <a:rPr sz="1100" b="0">
                <a:solidFill>
                  <a:srgbClr val="E8F1FF"/>
                </a:solidFill>
                <a:latin typeface="Space Grotesk"/>
              </a:rPr>
              <a:t>. They cannot win on </a:t>
            </a:r>
            <a:r>
              <a:rPr sz="1100" b="0">
                <a:solidFill>
                  <a:srgbClr val="E8F1FF"/>
                </a:solidFill>
                <a:latin typeface="Space Grotesk"/>
              </a:rPr>
              <a:t>BOM</a:t>
            </a:r>
            <a:r>
              <a:rPr sz="1100" b="0">
                <a:solidFill>
                  <a:srgbClr val="E8F1FF"/>
                </a:solidFill>
                <a:latin typeface="Space Grotesk"/>
              </a:rPr>
              <a:t>. Their unit economics converge to whatever the merchant SoC vendor charges — and that is the Squeeze Zone (slide 3) by definition.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3 · COMPETITIVE LANDSCAPE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25 · COMPETITIVE POSITIONING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The whitespace, mapped.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Vertical integration on x-axis, BOM discipline on y-axis. DeepGrid occupies the top-right quadrant — alone, for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28" y="3873403"/>
            <a:ext cx="761980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400" b="0">
                <a:solidFill>
                  <a:srgbClr val="7A8CA6"/>
                </a:solidFill>
                <a:latin typeface="JetBrains Mono"/>
              </a:rPr>
              <a:t>BOM DISCIPLINE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9968" y="5841853"/>
            <a:ext cx="654033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VERTICAL INTEGRATION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0463" y="2285942"/>
            <a:ext cx="29209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4E617D"/>
                </a:solidFill>
                <a:latin typeface="JetBrains Mono"/>
              </a:rPr>
              <a:t>HIGH BOM · LOW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8882" y="2285942"/>
            <a:ext cx="29209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4E617D"/>
                </a:solidFill>
                <a:latin typeface="JetBrains Mono"/>
              </a:rPr>
              <a:t>HIGH BOM · VERTICAL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0463" y="4063898"/>
            <a:ext cx="29209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4E617D"/>
                </a:solidFill>
                <a:latin typeface="JetBrains Mono"/>
              </a:rPr>
              <a:t>LOW BOM · SOFTWARE-INHERITED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8882" y="4063898"/>
            <a:ext cx="29209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LOW BOM · VERTICAL (WHITESPACE)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9441" y="2730431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EF4444"/>
                </a:solidFill>
                <a:latin typeface="IBM Plex Sans"/>
              </a:rPr>
              <a:t>Aurora 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$6k+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9217" y="3238419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EF4444"/>
                </a:solidFill>
                <a:latin typeface="IBM Plex Sans"/>
              </a:rPr>
              <a:t>Kodiak 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~$3k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1230" y="3555911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F59E0B"/>
                </a:solidFill>
                <a:latin typeface="IBM Plex Sans"/>
              </a:rPr>
              <a:t>Gatik 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~$2k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163" y="2920926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F97316"/>
                </a:solidFill>
                <a:latin typeface="IBM Plex Sans"/>
              </a:rPr>
              <a:t>DeepWay 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~$4k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4153" y="4559186"/>
            <a:ext cx="114297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Minus Zero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5639" y="4876678"/>
            <a:ext cx="114297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Swaayatt Robots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7620" y="5067173"/>
            <a:ext cx="114297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RoshAI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9761" y="4559186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C4B5FD"/>
                </a:solidFill>
                <a:latin typeface="IBM Plex Sans"/>
              </a:rPr>
              <a:t>Netrasemi </a:t>
            </a:r>
            <a:r>
              <a:rPr sz="700" b="0">
                <a:solidFill>
                  <a:srgbClr val="7A8CA6"/>
                </a:solidFill>
                <a:latin typeface="IBM Plex Sans"/>
              </a:rPr>
              <a:t>(2027)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94250" y="4876678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C4B5FD"/>
                </a:solidFill>
                <a:latin typeface="IBM Plex Sans"/>
              </a:rPr>
              <a:t>Mindgrove (MCU)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7828" y="4952876"/>
            <a:ext cx="27939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700" b="1">
                <a:solidFill>
                  <a:srgbClr val="05090F"/>
                </a:solidFill>
                <a:latin typeface="JetBrains Mono"/>
              </a:rPr>
              <a:t>DG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342" y="5238619"/>
            <a:ext cx="1396965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22D3EE"/>
                </a:solidFill>
                <a:latin typeface="Space Grotesk"/>
              </a:rPr>
              <a:t>DeepGrid Semi</a:t>
            </a:r>
          </a:p>
          <a:p>
            <a:pPr algn="ctr">
              <a:lnSpc>
                <a:spcPct val="130000"/>
              </a:lnSpc>
            </a:pPr>
            <a:r>
              <a:rPr sz="900" b="1">
                <a:solidFill>
                  <a:srgbClr val="67E8F9"/>
                </a:solidFill>
                <a:latin typeface="Space Grotesk"/>
              </a:rPr>
              <a:t>~$30 · own die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1790" y="1981150"/>
            <a:ext cx="2857428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THE 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1790" y="2222444"/>
            <a:ext cx="2857428" cy="7619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DeepGrid is the only Indian startup shipping a vertically-integrated, single-die ADAS combo-die at a disruptive price.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790" y="3174920"/>
            <a:ext cx="2857428" cy="279393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Top-right is empty by construction.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Merchant-silicon incumbents can't shrink to ~$30 — they'd cannibalise their core margin. Software-first competitors can't move right — no tape-out cadence.</a:t>
            </a:r>
          </a:p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Indian semi peers occupy adjacent tiles.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Netrasemi and Mindgrove are on the vertical-integration axis but haven't shipped ADAS revenue yet. Agnit is a complement.</a:t>
            </a:r>
          </a:p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The whitespace has a shelf life.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By 2027–28 at least one of them will be a real competitor. The 30-month runway is what buys the head-start.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3 · COMPETITIVE LANDSCAPE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26 · GTM ROADMAP · PHASE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7619809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Phase 1 — Tactical &amp; Off-Highway Wedge.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Months 0–6 · The only phase currently generating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1" y="990575"/>
            <a:ext cx="215894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STATUS ·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1" y="1142971"/>
            <a:ext cx="215894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2D3EE"/>
                </a:solidFill>
                <a:latin typeface="Space Grotesk"/>
              </a:rPr>
              <a:t>0</a:t>
            </a:r>
            <a:r>
              <a:rPr sz="3000" b="1">
                <a:solidFill>
                  <a:srgbClr val="7A8CA6"/>
                </a:solidFill>
                <a:latin typeface="Space Grotesk"/>
              </a:rPr>
              <a:t> →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1981150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OBJECTIVES &amp; 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2235144"/>
            <a:ext cx="4825879" cy="38099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1. Direct FPGA field deployments.</a:t>
            </a:r>
          </a:p>
          <a:p>
            <a:pPr algn="l">
              <a:lnSpc>
                <a:spcPct val="16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~₹35,000 FPGA validation board is uneconomic at fleet scale, but fine for defense-pilot volumes. Ship what we have.</a:t>
            </a:r>
          </a:p>
          <a:p>
            <a:pPr algn="l">
              <a:lnSpc>
                <a:spcPct val="16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2. Tactical defense positioning.</a:t>
            </a:r>
          </a:p>
          <a:p>
            <a:pPr algn="l">
              <a:lnSpc>
                <a:spcPct val="16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Lead with the D100 secure-enclave narrative. Never lead with BOM cost in defense conversations — it's a category error.</a:t>
            </a:r>
          </a:p>
          <a:p>
            <a:pPr algn="l">
              <a:lnSpc>
                <a:spcPct val="16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3. Off-highway / port cross-sell.</a:t>
            </a:r>
          </a:p>
          <a:p>
            <a:pPr algn="l">
              <a:lnSpc>
                <a:spcPct val="16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Same SKU addresses container-terminal AGV compute. Mundra, Chennai, Jebel Ali on the target list.</a:t>
            </a:r>
          </a:p>
          <a:p>
            <a:pPr algn="l">
              <a:lnSpc>
                <a:spcPct val="16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4. Second contract as gate.</a:t>
            </a:r>
          </a:p>
          <a:p>
            <a:pPr algn="l">
              <a:lnSpc>
                <a:spcPct val="16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Second signed defense contract by Month 6 unlocks Phase 2 resource ramp.</a:t>
            </a:r>
          </a:p>
          <a:p>
            <a:pPr algn="l">
              <a:lnSpc>
                <a:spcPct val="16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5. Institutional groundwork.</a:t>
            </a:r>
          </a:p>
          <a:p>
            <a:pPr algn="l">
              <a:lnSpc>
                <a:spcPct val="16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File MeitY DLI application — Phase 2 funding depends on it landing before capital is deployed on tape-out.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342" y="1981150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C55E"/>
                </a:solidFill>
                <a:latin typeface="JetBrains Mono"/>
              </a:rPr>
              <a:t>TRACTION TO DATE — ON-SLIDE FACT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342" y="2222444"/>
            <a:ext cx="495287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22C55E"/>
                </a:solidFill>
                <a:latin typeface="Space Grotesk"/>
              </a:rPr>
              <a:t>~₹1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342" y="2730431"/>
            <a:ext cx="4952876" cy="107947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Non-dilutive contract revenue already booked through Phase 1 activity. This is the only externally-verifiable customer signal we hold today.</a:t>
            </a:r>
          </a:p>
          <a:p>
            <a:pPr algn="l">
              <a:lnSpc>
                <a:spcPct val="155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Real revenue. Real customer. </a:t>
            </a:r>
            <a:r>
              <a:rPr sz="850" b="1">
                <a:solidFill>
                  <a:srgbClr val="FCD34D"/>
                </a:solidFill>
                <a:latin typeface="IBM Plex Sans"/>
              </a:rPr>
              <a:t>One open question flagged below ↓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342" y="4140096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F59E0B"/>
                </a:solidFill>
                <a:latin typeface="JetBrains Mono"/>
              </a:rPr>
              <a:t>⚑ OPEN QUESTION — DO NOT SKIP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342" y="4381390"/>
            <a:ext cx="495287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Nature of the ₹1 Cr — commercial sale, grant, or R&amp;D subsidy?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342" y="5003674"/>
            <a:ext cx="4952876" cy="107947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Commercial sale → repeatable customer signal → Phase 2 gets full resourcing.</a:t>
            </a:r>
          </a:p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Grant / subsidy → not a customer signal → Defense and Fleet re-score as evidence-equal.</a:t>
            </a:r>
          </a:p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Third-party revenue attestation is Condition 1 (slide 37) — due within one week.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4 · GTM ROADMAP + REGULATORY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27 · GTM ROADMAP · PHASE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7619809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Phase 2 — Regulatory Aftermarket Volume.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Months 6–18 · The phase this ₹55 Cr raise actually funds.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1" y="990575"/>
            <a:ext cx="215894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1" y="1142971"/>
            <a:ext cx="215894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2D3EE"/>
                </a:solidFill>
                <a:latin typeface="Space Grotesk"/>
              </a:rPr>
              <a:t>6</a:t>
            </a:r>
            <a:r>
              <a:rPr sz="3000" b="1">
                <a:solidFill>
                  <a:srgbClr val="7A8CA6"/>
                </a:solidFill>
                <a:latin typeface="Space Grotesk"/>
              </a:rPr>
              <a:t> →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1981150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FOUR WORKSTREAMS — PARALLEL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2971" y="2412939"/>
            <a:ext cx="215894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01 ·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2971" y="2616134"/>
            <a:ext cx="215894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Close the ₹55 Cr blended raise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71" y="3111422"/>
            <a:ext cx="2158946" cy="27304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50" b="1">
                <a:solidFill>
                  <a:srgbClr val="E8F1FF"/>
                </a:solidFill>
                <a:latin typeface="IBM Plex Sans"/>
              </a:rPr>
              <a:t>₹45 Cr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CCPS equity + </a:t>
            </a:r>
            <a:r>
              <a:rPr sz="750" b="1">
                <a:solidFill>
                  <a:srgbClr val="E8F1FF"/>
                </a:solidFill>
                <a:latin typeface="IBM Plex Sans"/>
              </a:rPr>
              <a:t>₹10 Cr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CGTMSE-backed debt.</a:t>
            </a:r>
          </a:p>
          <a:p>
            <a:pPr algn="l">
              <a:lnSpc>
                <a:spcPct val="16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Equity funds tape-out NRE + 30-month runway. Debt covers working-capital exposure to 90–180 day government payment cycles.</a:t>
            </a:r>
          </a:p>
          <a:p>
            <a:pPr algn="l">
              <a:lnSpc>
                <a:spcPct val="16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Blended cost of capital materially lower than a pure-equity round of the same size.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6406" y="2412939"/>
            <a:ext cx="215894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02 · SUBSIDY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6406" y="2616134"/>
            <a:ext cx="215894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MeitY DLI approval landed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6406" y="3111422"/>
            <a:ext cx="2158946" cy="27304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Product-linked DLI up to 50% NRE reimbursement (capped ₹15 Cr).</a:t>
            </a:r>
          </a:p>
          <a:p>
            <a:pPr algn="l">
              <a:lnSpc>
                <a:spcPct val="16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Deployment-linked incentive at 4–6% of net sales (capped ₹30 Cr).</a:t>
            </a:r>
          </a:p>
          <a:p>
            <a:pPr algn="l">
              <a:lnSpc>
                <a:spcPct val="16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ChipIN Centre EDA / IP support in parallel.</a:t>
            </a:r>
          </a:p>
          <a:p>
            <a:pPr algn="l">
              <a:lnSpc>
                <a:spcPct val="16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Sequenced 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before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tape-out spend commits so we capture reimbursement.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9841" y="2412939"/>
            <a:ext cx="215894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C4B5FD"/>
                </a:solidFill>
                <a:latin typeface="JetBrains Mono"/>
              </a:rPr>
              <a:t>03 · SILICON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9841" y="2616134"/>
            <a:ext cx="215894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TSMC 28 nm HPC+ MPW tape-out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9841" y="3111422"/>
            <a:ext cx="2158946" cy="27304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Multi-project wafer shuttle. Shared reticle, no full-mask commit — the reason NRE lands at </a:t>
            </a:r>
            <a:r>
              <a:rPr sz="750" b="1">
                <a:solidFill>
                  <a:srgbClr val="E8F1FF"/>
                </a:solidFill>
                <a:latin typeface="IBM Plex Sans"/>
              </a:rPr>
              <a:t>$3.17M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, not $8M.</a:t>
            </a:r>
          </a:p>
          <a:p>
            <a:pPr algn="l">
              <a:lnSpc>
                <a:spcPct val="16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First-silicon target month 14. Characterisation and PSR targeted month 18.</a:t>
            </a:r>
          </a:p>
          <a:p>
            <a:pPr algn="l">
              <a:lnSpc>
                <a:spcPct val="16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Pin-compatible carrier with the FPGA validation board — early customers migrate without redesigning their platform.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276" y="2412939"/>
            <a:ext cx="215894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67E8F9"/>
                </a:solidFill>
                <a:latin typeface="JetBrains Mono"/>
              </a:rPr>
              <a:t>04 ·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276" y="2616134"/>
            <a:ext cx="215894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F1FF"/>
                </a:solidFill>
                <a:latin typeface="Space Grotesk"/>
              </a:rPr>
              <a:t>Retrofit kit launched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276" y="3111422"/>
            <a:ext cx="2158946" cy="27304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₹2–2.5 L target price — </a:t>
            </a:r>
            <a:r>
              <a:rPr sz="750" b="0">
                <a:solidFill>
                  <a:srgbClr val="FCD34D"/>
                </a:solidFill>
                <a:latin typeface="IBM Plex Sans"/>
              </a:rPr>
              <a:t>still unconverted at this point of the plan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.</a:t>
            </a:r>
          </a:p>
          <a:p>
            <a:pPr algn="l">
              <a:lnSpc>
                <a:spcPct val="16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Launch is </a:t>
            </a:r>
            <a:r>
              <a:rPr sz="750" b="1">
                <a:solidFill>
                  <a:srgbClr val="E8F1FF"/>
                </a:solidFill>
                <a:latin typeface="IBM Plex Sans"/>
              </a:rPr>
              <a:t>conditional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on the Phase 1 Fleet kill-criterion passing: at least one paid pilot from the first 20 buyer discovery interviews.</a:t>
            </a:r>
          </a:p>
          <a:p>
            <a:pPr algn="l">
              <a:lnSpc>
                <a:spcPct val="16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If not, this workstream slips to Phase 3 and 01/02/03 continue on Defense track only.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4 · GTM ROADMAP + 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28 · GTM ROADMAP · PHASE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7619809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Phase 3 — OEM &amp; Tier-1 integration.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Months 18–36 · Where recurring revenue and OEM scale unlock — only after Phase 2 lands.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3771" y="990575"/>
            <a:ext cx="215894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22D3EE"/>
                </a:solidFill>
                <a:latin typeface="JetBrains Mono"/>
              </a:rPr>
              <a:t>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3771" y="1142971"/>
            <a:ext cx="215894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2D3EE"/>
                </a:solidFill>
                <a:latin typeface="Space Grotesk"/>
              </a:rPr>
              <a:t>18</a:t>
            </a:r>
            <a:r>
              <a:rPr sz="3000" b="1">
                <a:solidFill>
                  <a:srgbClr val="7A8CA6"/>
                </a:solidFill>
                <a:latin typeface="Space Grotesk"/>
              </a:rPr>
              <a:t> → 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1981150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THREE REVENUE LANES COME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2971" y="2412939"/>
            <a:ext cx="304792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01 · TIER-1 ALLIANCES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2971" y="2616134"/>
            <a:ext cx="304792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Uno Minda · Spark Minda · Bosch India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71" y="3238419"/>
            <a:ext cx="3047923" cy="26034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Co-development agreement with at least one named Tier-1 by month 24. Not an MoU — a binding NRE-reimbursement co-dev.</a:t>
            </a:r>
          </a:p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Tier-1 amortises ISO 26262 / AEC-Q100 audit cost across its existing OEM portfolio; we ride that audit trail.</a:t>
            </a:r>
          </a:p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This is the one door into automotive OEM sales that is defensible for a fabless startup.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3634" y="2412939"/>
            <a:ext cx="304792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C4B5FD"/>
                </a:solidFill>
                <a:latin typeface="JetBrains Mono"/>
              </a:rPr>
              <a:t>02 · SOVEREIGN OEM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3634" y="2616134"/>
            <a:ext cx="304792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Line-fit at sovereign OEMs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3634" y="3238419"/>
            <a:ext cx="3047923" cy="26034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Tata Advanced Systems &amp; Mahindra Defence: defense-adjacent platforms first.</a:t>
            </a:r>
          </a:p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This is where the Phase 1 Defense credentials compound. The D100 secure-enclave story that won the first contracts becomes the sole-source justification for design-in wins.</a:t>
            </a:r>
          </a:p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Real long-term chip volume lives here, not in the aftermarket.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4298" y="2412939"/>
            <a:ext cx="304792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C55E"/>
                </a:solidFill>
                <a:latin typeface="JetBrains Mono"/>
              </a:rPr>
              <a:t>03 · RECURRING SAAS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4298" y="2616134"/>
            <a:ext cx="304792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Shift to recurring, sovereign data moat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4298" y="3238419"/>
            <a:ext cx="3047923" cy="260343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Every deployed chip becomes a S100-anchored telematics endpoint; SaaS tiers layer on top (slide 34).</a:t>
            </a:r>
          </a:p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Cabin, fleet-safety, and cross-mandate anonymised data stays in-country by design — on-die inference means only aggregate events reach cloud.</a:t>
            </a:r>
          </a:p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Compounding data moat as installed base grows. FY32 SaaS margin drives 88% blended (slide 33).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4 · GTM ROADMAP + REGULATORY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29 · REGULATORY MANDATE —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India AIS mandates — mapped to our chiplets.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One retrofit kit satisfies four mandated functions plus telematics native.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43051"/>
            <a:ext cx="1142971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AIS 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58946" y="1943051"/>
            <a:ext cx="177795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3898" y="1943051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CHIPLET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4361" y="1943051"/>
            <a:ext cx="190495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SEGMENT IMPLICATION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2298642"/>
            <a:ext cx="1142971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8F1FF"/>
                </a:solidFill>
                <a:latin typeface="JetBrains Mono"/>
              </a:rPr>
              <a:t>AIS-184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8946" y="2285942"/>
            <a:ext cx="1777955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DMS — driver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3898" y="2285942"/>
            <a:ext cx="1269968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2C55E"/>
                </a:solidFill>
                <a:latin typeface="JetBrains Mono"/>
              </a:rPr>
              <a:t>A100 + H100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361" y="2285942"/>
            <a:ext cx="1904952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Fleet retrofit + insurer evidence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2781230"/>
            <a:ext cx="1142971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8F1FF"/>
                </a:solidFill>
                <a:latin typeface="JetBrains Mono"/>
              </a:rPr>
              <a:t>AIS-186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8946" y="2768530"/>
            <a:ext cx="1777955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LDW — lane departure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3898" y="2768530"/>
            <a:ext cx="1269968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2C55E"/>
                </a:solidFill>
                <a:latin typeface="JetBrains Mono"/>
              </a:rPr>
              <a:t>A100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361" y="2768530"/>
            <a:ext cx="1904952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Fleet + OEM line-fit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476" y="3263818"/>
            <a:ext cx="1142971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8F1FF"/>
                </a:solidFill>
                <a:latin typeface="JetBrains Mono"/>
              </a:rPr>
              <a:t>AIS-187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8946" y="3251118"/>
            <a:ext cx="1777955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BSD — blind spot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3898" y="3251118"/>
            <a:ext cx="1269968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2C55E"/>
                </a:solidFill>
                <a:latin typeface="JetBrains Mono"/>
              </a:rPr>
              <a:t>A100 + R100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4361" y="3251118"/>
            <a:ext cx="1904952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Fleet + OEM line-fit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76" y="3746406"/>
            <a:ext cx="1142971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8F1FF"/>
                </a:solidFill>
                <a:latin typeface="JetBrains Mono"/>
              </a:rPr>
              <a:t>AIS-188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58946" y="3733706"/>
            <a:ext cx="1777955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AEBS — autonomous braking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3898" y="3733706"/>
            <a:ext cx="1269968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2C55E"/>
                </a:solidFill>
                <a:latin typeface="JetBrains Mono"/>
              </a:rPr>
              <a:t>A100 + R100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4361" y="3733706"/>
            <a:ext cx="1904952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Fleet + OEM line-fit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476" y="4228994"/>
            <a:ext cx="1142971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8F1FF"/>
                </a:solidFill>
                <a:latin typeface="JetBrains Mono"/>
              </a:rPr>
              <a:t>AIS-140 / 162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58946" y="4216294"/>
            <a:ext cx="1777955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Telematics + emergency btn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3898" y="4216294"/>
            <a:ext cx="1269968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2C55E"/>
                </a:solidFill>
                <a:latin typeface="JetBrains Mono"/>
              </a:rPr>
              <a:t>S100 (native)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4361" y="4216294"/>
            <a:ext cx="1904952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Kills secondary tracker — SaaS anchor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476" y="4711582"/>
            <a:ext cx="1142971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E8F1FF"/>
                </a:solidFill>
                <a:latin typeface="JetBrains Mono"/>
              </a:rPr>
              <a:t>AIS-189 / 190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58946" y="4698882"/>
            <a:ext cx="1777955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Night / low-light perception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3898" y="4698882"/>
            <a:ext cx="1269968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2C55E"/>
                </a:solidFill>
                <a:latin typeface="JetBrains Mono"/>
              </a:rPr>
              <a:t>A100 + T100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24361" y="4698882"/>
            <a:ext cx="1904952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Off-highway / defense edge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7301" y="1981150"/>
            <a:ext cx="3301917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F59E0B"/>
                </a:solidFill>
                <a:latin typeface="JetBrains Mono"/>
              </a:rPr>
              <a:t>⚠ CORRECTION — OPERATIVE DATES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37301" y="2235144"/>
            <a:ext cx="3301917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EF4444"/>
                </a:solidFill>
                <a:latin typeface="JetBrains Mono"/>
              </a:rPr>
              <a:t>EARLIER DRAFT (RETRACT): 2026 DATES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7301" y="2666933"/>
            <a:ext cx="330191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RECONCILED — USE THESE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02397" y="3060623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2D3EE"/>
                </a:solidFill>
                <a:latin typeface="JetBrains Mono"/>
              </a:rPr>
              <a:t>1 Oct 2027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02397" y="3301917"/>
            <a:ext cx="3047923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AEBS + ESC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mandatory</a:t>
            </a:r>
          </a:p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on new N2/N3 vehicles.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2397" y="4394090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2D3EE"/>
                </a:solidFill>
                <a:latin typeface="JetBrains Mono"/>
              </a:rPr>
              <a:t>1 Jan 2028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02397" y="4635384"/>
            <a:ext cx="3047923" cy="6349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800" b="1">
                <a:solidFill>
                  <a:srgbClr val="E8F1FF"/>
                </a:solidFill>
                <a:latin typeface="IBM Plex Sans"/>
              </a:rPr>
              <a:t>All four functions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mandatory</a:t>
            </a:r>
          </a:p>
          <a:p>
            <a:pPr algn="l">
              <a:lnSpc>
                <a:spcPct val="15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(AEBS + LDW + BSD + DMS).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37301" y="5524361"/>
            <a:ext cx="3301917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00" b="0">
                <a:solidFill>
                  <a:srgbClr val="7A8CA6"/>
                </a:solidFill>
                <a:latin typeface="IBM Plex Sans"/>
              </a:rPr>
              <a:t>Any deck, one-pager, or investor email still citing the earlier 2026 date should be withdrawn.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476" y="5473563"/>
            <a:ext cx="6476838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READ OF THE MANDATE CALENDAR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476" y="5689457"/>
            <a:ext cx="6476838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E8F1FF"/>
                </a:solidFill>
                <a:latin typeface="IBM Plex Sans"/>
              </a:rPr>
              <a:t> A retrofit kit that ships in Phase 2 (months 14–18 first silicon) has 12–18 months of runway before the enforcement date — enough to convert a paid pilot into commercial volume.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4 · GTM ROADMAP + REGULATORY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30 · REGULATORY MANDATE — GCC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GCC — Saudi TGA / WASL is the primary door.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Second addressable market — enters via Phase 2 export; the S100 chiplet is the wedge.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81150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SAUDI TGA / WASL MANDATE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235144"/>
            <a:ext cx="4825879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8F1FF"/>
                </a:solidFill>
                <a:latin typeface="Space Grotesk"/>
              </a:rPr>
              <a:t>Every commercial vehicle operating in KSA must be registered on WASL.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920926"/>
            <a:ext cx="4825879" cy="17779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Transport General Authority (TGA)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requires certified GPS + telematics tracker approved for WASL data ingest.</a:t>
            </a:r>
          </a:p>
          <a:p>
            <a:pPr algn="l">
              <a:lnSpc>
                <a:spcPct val="16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Fleet operators today install a </a:t>
            </a:r>
            <a:r>
              <a:rPr sz="850" b="1">
                <a:solidFill>
                  <a:srgbClr val="E8F1FF"/>
                </a:solidFill>
                <a:latin typeface="IBM Plex Sans"/>
              </a:rPr>
              <a:t>secondary tracker</a:t>
            </a:r>
            <a:r>
              <a:rPr sz="850" b="0">
                <a:solidFill>
                  <a:srgbClr val="B7C7DE"/>
                </a:solidFill>
                <a:latin typeface="IBM Plex Sans"/>
              </a:rPr>
              <a:t> in addition to any safety hardware — ~$60–120 per vehicle in BOM plus install.</a:t>
            </a:r>
          </a:p>
          <a:p>
            <a:pPr algn="l">
              <a:lnSpc>
                <a:spcPct val="16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 Our S100 chiplet is designed as a WASL-compatible endpoint, so ADAS + telematics ship in one BOM slot.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5016374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ADJACENT GCC MARKETS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5206869"/>
            <a:ext cx="4825879" cy="7619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UAE (RTA fleet-safety framework), Oman (ROP transport mandate), and Kuwait (MOI fleet registration) trail the Saudi model. S100 firmware profiles are portable across all four with configuration changes.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342" y="1981150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WHY S100 CHANGES THE BUYER CONVERSATION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342" y="2235144"/>
            <a:ext cx="495287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F1FF"/>
                </a:solidFill>
                <a:latin typeface="Space Grotesk"/>
              </a:rPr>
              <a:t>Two devices → one device.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3339" y="2920926"/>
            <a:ext cx="190495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EF4444"/>
                </a:solidFill>
                <a:latin typeface="JetBrains Mono"/>
              </a:rPr>
              <a:t>TODAY — IMPORTED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3339" y="3111422"/>
            <a:ext cx="1904952" cy="8254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ADAS box (imported SoC) + secondary WASL tracker + installation of both.</a:t>
            </a:r>
          </a:p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50" b="1">
                <a:solidFill>
                  <a:srgbClr val="EF4444"/>
                </a:solidFill>
                <a:latin typeface="IBM Plex Sans"/>
              </a:rPr>
              <a:t>2 devices, 2 antennas, 2 SIMs.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9282" y="2920926"/>
            <a:ext cx="241293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C55E"/>
                </a:solidFill>
                <a:latin typeface="JetBrains Mono"/>
              </a:rPr>
              <a:t>WITH DGRID ALPHA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9282" y="3111422"/>
            <a:ext cx="2412939" cy="8254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S100 handles WASL telematics natively while A100+R100 handle ADAS on the same die.</a:t>
            </a:r>
          </a:p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</a:t>
            </a:r>
            <a:r>
              <a:rPr sz="750" b="1">
                <a:solidFill>
                  <a:srgbClr val="22C55E"/>
                </a:solidFill>
                <a:latin typeface="IBM Plex Sans"/>
              </a:rPr>
              <a:t>1 device, 1 antenna, 1 SIM.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342" y="4508387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SALES-MOTION CONSEQUENCE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342" y="4711582"/>
            <a:ext cx="4952876" cy="139696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In GCC we lead with the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"kill the tracker" narrative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, not the "cheap ADAS" narrative. The buyer's existing pain is the redundant tracker they already resent paying for.</a:t>
            </a:r>
          </a:p>
          <a:p>
            <a:pPr algn="l">
              <a:lnSpc>
                <a:spcPct val="16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ADAS savings become the second-order benefit rather than the pitch — same positioning discipline as slide 17.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4 · GTM ROADMAP + REGULATORY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31 · HARDWARE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Bottom-up cost build. Every line traceable.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Die cost at 1M chips + full retrofit kit BOM + one clean cost-advantage comparison.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81150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DIE COST BUILD @ 1M CHIPS · 28NM HPC+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285942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Wafer share (~20mm²)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380" y="2285942"/>
            <a:ext cx="1015974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E8F1FF"/>
                </a:solidFill>
                <a:latin typeface="JetBrains Mono"/>
              </a:rPr>
              <a:t>$2.180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2641533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Package (WLCSP + substrate)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380" y="2641533"/>
            <a:ext cx="1015974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E8F1FF"/>
                </a:solidFill>
                <a:latin typeface="JetBrains Mono"/>
              </a:rPr>
              <a:t>$0.820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2997125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Test + burn-in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2380" y="2997125"/>
            <a:ext cx="1015974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E8F1FF"/>
                </a:solidFill>
                <a:latin typeface="JetBrains Mono"/>
              </a:rPr>
              <a:t>$0.460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3352716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Yield-loss provision (@ ~85% yield)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380" y="3352716"/>
            <a:ext cx="1015974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E8F1FF"/>
                </a:solidFill>
                <a:latin typeface="JetBrains Mono"/>
              </a:rPr>
              <a:t>$0.416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476" y="3733706"/>
            <a:ext cx="253993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2D3EE"/>
                </a:solidFill>
                <a:latin typeface="IBM Plex Sans"/>
              </a:rPr>
              <a:t>Total die cost / chip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0895" y="3714657"/>
            <a:ext cx="1587460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900" b="1">
                <a:solidFill>
                  <a:srgbClr val="22D3EE"/>
                </a:solidFill>
                <a:latin typeface="JetBrains Mono"/>
              </a:rPr>
              <a:t>$3.876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476" y="4190895"/>
            <a:ext cx="4825879" cy="8254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 </a:t>
            </a:r>
            <a:r>
              <a:rPr sz="750" b="1">
                <a:solidFill>
                  <a:srgbClr val="FCD34D"/>
                </a:solidFill>
                <a:latin typeface="IBM Plex Sans"/>
              </a:rPr>
              <a:t>CORRECTION on-slide:</a:t>
            </a:r>
            <a:r>
              <a:rPr sz="750" b="0">
                <a:solidFill>
                  <a:srgbClr val="7A8CA6"/>
                </a:solidFill>
                <a:latin typeface="IBM Plex Sans"/>
              </a:rPr>
              <a:t> earlier "~$3" claim retracted. Reconciled figure is $3.876 — still under $4. The 12.9× cost advantage vs Mobileye ASP $50 still holds; the retracted 774× multiplier does not.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342" y="1981150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RETROFIT KIT BOM (FLEET-FACING SKU)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342" y="2285942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DGrid Alpha ASIC + 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247" y="2285942"/>
            <a:ext cx="1142971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E8F1FF"/>
                </a:solidFill>
                <a:latin typeface="JetBrains Mono"/>
              </a:rPr>
              <a:t>$30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342" y="2641533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Radar (4× corner)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6247" y="2641533"/>
            <a:ext cx="1142971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E8F1FF"/>
                </a:solidFill>
                <a:latin typeface="JetBrains Mono"/>
              </a:rPr>
              <a:t>$100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342" y="2997125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Cameras (6–8×)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6247" y="2997125"/>
            <a:ext cx="1142971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E8F1FF"/>
                </a:solidFill>
                <a:latin typeface="JetBrains Mono"/>
              </a:rPr>
              <a:t>$50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342" y="3352716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Enclosure + wiring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6247" y="3352716"/>
            <a:ext cx="1142971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E8F1FF"/>
                </a:solidFill>
                <a:latin typeface="JetBrains Mono"/>
              </a:rPr>
              <a:t>$20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342" y="3733706"/>
            <a:ext cx="253993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2D3EE"/>
                </a:solidFill>
                <a:latin typeface="IBM Plex Sans"/>
              </a:rPr>
              <a:t>Total kit BOM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24761" y="3714657"/>
            <a:ext cx="1714457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900" b="1">
                <a:solidFill>
                  <a:srgbClr val="22D3EE"/>
                </a:solidFill>
                <a:latin typeface="JetBrains Mono"/>
              </a:rPr>
              <a:t>$200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342" y="4190895"/>
            <a:ext cx="4952876" cy="82547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 Same functional envelope as an imported $6,000+ L2+ stack. Kit ASP target ₹2–2.5 L (still unvalidated — slide 19). Do NOT repeat "84% gross margin" — segment margin implies ~92–93%.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476" y="5473563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APPLES-TO-APPLES COST ADVANTAGE — COMPUTE NODE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476" y="5689457"/>
            <a:ext cx="10286742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E8F1FF"/>
                </a:solidFill>
                <a:latin typeface="IBM Plex Sans"/>
              </a:rPr>
              <a:t> </a:t>
            </a:r>
            <a:r>
              <a:rPr sz="1000" b="1">
                <a:solidFill>
                  <a:srgbClr val="22D3EE"/>
                </a:solidFill>
                <a:latin typeface="IBM Plex Sans"/>
              </a:rPr>
              <a:t>$3.876</a:t>
            </a:r>
            <a:r>
              <a:rPr sz="1000" b="0">
                <a:solidFill>
                  <a:srgbClr val="E8F1FF"/>
                </a:solidFill>
                <a:latin typeface="IBM Plex Sans"/>
              </a:rPr>
              <a:t> vs Mobileye reference ASP </a:t>
            </a:r>
            <a:r>
              <a:rPr sz="1000" b="1">
                <a:solidFill>
                  <a:srgbClr val="EF4444"/>
                </a:solidFill>
                <a:latin typeface="IBM Plex Sans"/>
              </a:rPr>
              <a:t>$50</a:t>
            </a:r>
            <a:r>
              <a:rPr sz="1000" b="0">
                <a:solidFill>
                  <a:srgbClr val="E8F1FF"/>
                </a:solidFill>
                <a:latin typeface="IBM Plex Sans"/>
              </a:rPr>
              <a:t> = </a:t>
            </a:r>
            <a:r>
              <a:rPr sz="1000" b="1">
                <a:solidFill>
                  <a:srgbClr val="22D3EE"/>
                </a:solidFill>
                <a:latin typeface="IBM Plex Sans"/>
              </a:rPr>
              <a:t>12.9× advantage</a:t>
            </a:r>
            <a:r>
              <a:rPr sz="1000" b="0">
                <a:solidFill>
                  <a:srgbClr val="E8F1FF"/>
                </a:solidFill>
                <a:latin typeface="IBM Plex Sans"/>
              </a:rPr>
              <a:t>. That is the honest number, and it is enough — we do not need the retracted 774×.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5 · FINANCIALS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32 · COST CURVES &amp;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NRE phasing + honest break-even.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$3.17M NRE phased against the MPW shuttle. Break-even ~174,908 chips — crossing FY2032.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81150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MPW TAPE-OUT NRE PHASING — $3.17M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285942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RTL freeze +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904" y="2285942"/>
            <a:ext cx="1079473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JetBrains Mono"/>
              </a:rPr>
              <a:t>M0–4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2876" y="2285942"/>
            <a:ext cx="82547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E8F1FF"/>
                </a:solidFill>
                <a:latin typeface="JetBrains Mono"/>
              </a:rPr>
              <a:t>$0.78M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2641533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Physical design + DRC/LVS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904" y="2641533"/>
            <a:ext cx="1079473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JetBrains Mono"/>
              </a:rPr>
              <a:t>M4–9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2876" y="2641533"/>
            <a:ext cx="82547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E8F1FF"/>
                </a:solidFill>
                <a:latin typeface="JetBrains Mono"/>
              </a:rPr>
              <a:t>$0.66M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2997125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MPW shuttle slot + mask share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9904" y="2997125"/>
            <a:ext cx="1079473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JetBrains Mono"/>
              </a:rPr>
              <a:t>M10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2876" y="2997125"/>
            <a:ext cx="82547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E8F1FF"/>
                </a:solidFill>
                <a:latin typeface="JetBrains Mono"/>
              </a:rPr>
              <a:t>$1.15M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476" y="3352716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Silicon bring-up + characterisation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9904" y="3352716"/>
            <a:ext cx="1079473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JetBrains Mono"/>
              </a:rPr>
              <a:t>M14–17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2876" y="3352716"/>
            <a:ext cx="82547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E8F1FF"/>
                </a:solidFill>
                <a:latin typeface="JetBrains Mono"/>
              </a:rPr>
              <a:t>$0.38M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6" y="3708307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EDA + IP + tooling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904" y="3708307"/>
            <a:ext cx="1079473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JetBrains Mono"/>
              </a:rPr>
              <a:t>continuous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876" y="3708307"/>
            <a:ext cx="82547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850" b="0">
                <a:solidFill>
                  <a:srgbClr val="E8F1FF"/>
                </a:solidFill>
                <a:latin typeface="JetBrains Mono"/>
              </a:rPr>
              <a:t>$0.20M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76" y="4089297"/>
            <a:ext cx="2539936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2D3EE"/>
                </a:solidFill>
                <a:latin typeface="IBM Plex Sans"/>
              </a:rPr>
              <a:t>Total NRE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0895" y="4076598"/>
            <a:ext cx="1587460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600" b="1">
                <a:solidFill>
                  <a:srgbClr val="22D3EE"/>
                </a:solidFill>
                <a:latin typeface="JetBrains Mono"/>
              </a:rPr>
              <a:t>$3.17M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476" y="4635384"/>
            <a:ext cx="4825879" cy="1460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7A8CA6"/>
                </a:solidFill>
                <a:latin typeface="IBM Plex Sans"/>
              </a:rPr>
              <a:t> Full phasing. Chunked against the MPW shuttle timeline — not a lump-sum commit at day zero. The MeitY P-DLI reimbursement (up to 50%) reduces cash outflow on M4–M17 line items, subject to acceptance testing.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6342" y="1981150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F59E0B"/>
                </a:solidFill>
                <a:latin typeface="JetBrains Mono"/>
              </a:rPr>
              <a:t>⚠ MARQUEE CORRECTION — BREAK-EVEN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342" y="2285942"/>
            <a:ext cx="495287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F4444"/>
                </a:solidFill>
                <a:latin typeface="JetBrains Mono"/>
              </a:rPr>
              <a:t>EARLIER DRAFT (RETRACT ENTIRELY)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3339" y="2705032"/>
            <a:ext cx="4762380" cy="35559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F4444"/>
                </a:solidFill>
                <a:latin typeface="JetBrains Mono"/>
              </a:rPr>
              <a:t>$8M NRE · 3,636-unit break-even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6342" y="3428914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RECONCILED — USE THESE NUMBERS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6838" y="3822604"/>
            <a:ext cx="2031949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NRE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6838" y="4000399"/>
            <a:ext cx="203194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22D3EE"/>
                </a:solidFill>
                <a:latin typeface="JetBrains Mono"/>
              </a:rPr>
              <a:t>$3.17M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6838" y="4457588"/>
            <a:ext cx="203194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Full phasing at left. Not $8M.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3276" y="3822604"/>
            <a:ext cx="215894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BREAK-EVEN UNITS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3276" y="4000399"/>
            <a:ext cx="215894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2D3EE"/>
                </a:solidFill>
                <a:latin typeface="JetBrains Mono"/>
              </a:rPr>
              <a:t>~174,908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3276" y="4457588"/>
            <a:ext cx="215894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700" b="0">
                <a:solidFill>
                  <a:srgbClr val="B7C7DE"/>
                </a:solidFill>
                <a:latin typeface="IBM Plex Sans"/>
              </a:rPr>
              <a:t>Chips, crossing FY2032. Not 3,636.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6342" y="5016374"/>
            <a:ext cx="4952876" cy="101597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The retracted 3,636-unit figure was calculated against a board-level margin, not the chip-level cost structure, and ignored fully-loaded opex. It is not a smaller-model version of this number — it is the wrong number. Do not repeat it in any external doc.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5 · FINANCIALS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33 · REVENUE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6-year revenue trajectory.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CD34D"/>
                </a:solidFill>
                <a:latin typeface="IBM Plex Sans"/>
              </a:rPr>
              <a:t>Management projection · unaudited · assumes Phase 2 tape-out lands and Fleet pilot converts to volume.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479" y="2158946"/>
            <a:ext cx="380990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1,500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79" y="2952676"/>
            <a:ext cx="380990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479" y="3714657"/>
            <a:ext cx="380990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479" y="5371965"/>
            <a:ext cx="380990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9968" y="1955751"/>
            <a:ext cx="253993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550" b="0">
                <a:solidFill>
                  <a:srgbClr val="7A8CA6"/>
                </a:solidFill>
                <a:latin typeface="JetBrains Mono"/>
              </a:rPr>
              <a:t>₹ CR · MANAGEMENT 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958" y="5219569"/>
            <a:ext cx="698482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750" b="1">
                <a:solidFill>
                  <a:srgbClr val="B7C7DE"/>
                </a:solidFill>
                <a:latin typeface="JetBrains Mono"/>
              </a:rPr>
              <a:t>₹6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0958" y="5587860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JetBrains Mono"/>
              </a:rPr>
              <a:t>FY27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3434" y="5156071"/>
            <a:ext cx="698482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750" b="1">
                <a:solidFill>
                  <a:srgbClr val="B7C7DE"/>
                </a:solidFill>
                <a:latin typeface="JetBrains Mono"/>
              </a:rPr>
              <a:t>₹41.17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3434" y="5587860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JetBrains Mono"/>
              </a:rPr>
              <a:t>FY28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5911" y="4927476"/>
            <a:ext cx="698482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750" b="1">
                <a:solidFill>
                  <a:srgbClr val="67E8F9"/>
                </a:solidFill>
                <a:latin typeface="JetBrains Mono"/>
              </a:rPr>
              <a:t>₹144.73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5911" y="5587860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700" b="1">
                <a:solidFill>
                  <a:srgbClr val="E8F1FF"/>
                </a:solidFill>
                <a:latin typeface="JetBrains Mono"/>
              </a:rPr>
              <a:t>FY29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8387" y="4476638"/>
            <a:ext cx="698482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750" b="1">
                <a:solidFill>
                  <a:srgbClr val="22D3EE"/>
                </a:solidFill>
                <a:latin typeface="JetBrains Mono"/>
              </a:rPr>
              <a:t>₹351.35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8387" y="5587860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JetBrains Mono"/>
              </a:rPr>
              <a:t>FY30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0863" y="3638459"/>
            <a:ext cx="698482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750" b="1">
                <a:solidFill>
                  <a:srgbClr val="22D3EE"/>
                </a:solidFill>
                <a:latin typeface="JetBrains Mono"/>
              </a:rPr>
              <a:t>₹731.54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0863" y="5587860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JetBrains Mono"/>
              </a:rPr>
              <a:t>FY31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9841" y="2203394"/>
            <a:ext cx="825479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750" b="1">
                <a:solidFill>
                  <a:srgbClr val="22D3EE"/>
                </a:solidFill>
                <a:latin typeface="JetBrains Mono"/>
              </a:rPr>
              <a:t>₹1,387.95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3339" y="5587860"/>
            <a:ext cx="698482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700" b="1">
                <a:solidFill>
                  <a:srgbClr val="E8F1FF"/>
                </a:solidFill>
                <a:latin typeface="JetBrains Mono"/>
              </a:rPr>
              <a:t>FY32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4010" y="2190695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C55E"/>
                </a:solidFill>
                <a:latin typeface="JetBrains Mono"/>
              </a:rPr>
              <a:t>NET INCOME 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9968" y="5841853"/>
            <a:ext cx="654033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FISCAL YEAR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790" y="1981150"/>
            <a:ext cx="2857428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GROSS MARGIN CURVE (SYSTEMS)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790" y="2285942"/>
            <a:ext cx="50798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JetBrains Mono"/>
              </a:rPr>
              <a:t>FY27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59746" y="2285942"/>
            <a:ext cx="107947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B7C7DE"/>
                </a:solidFill>
                <a:latin typeface="JetBrains Mono"/>
              </a:rPr>
              <a:t>53%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1790" y="2527236"/>
            <a:ext cx="50798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JetBrains Mono"/>
              </a:rPr>
              <a:t>FY29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59746" y="2527236"/>
            <a:ext cx="107947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7E8F9"/>
                </a:solidFill>
                <a:latin typeface="JetBrains Mono"/>
              </a:rPr>
              <a:t>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1790" y="2768530"/>
            <a:ext cx="50798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JetBrains Mono"/>
              </a:rPr>
              <a:t>FY31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59746" y="2768530"/>
            <a:ext cx="107947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22D3EE"/>
                </a:solidFill>
                <a:latin typeface="JetBrains Mono"/>
              </a:rPr>
              <a:t>82%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81790" y="3009824"/>
            <a:ext cx="50798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B7C7DE"/>
                </a:solidFill>
                <a:latin typeface="JetBrains Mono"/>
              </a:rPr>
              <a:t>FY32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59746" y="3009824"/>
            <a:ext cx="107947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1">
                <a:solidFill>
                  <a:srgbClr val="22D3EE"/>
                </a:solidFill>
                <a:latin typeface="JetBrains Mono"/>
              </a:rPr>
              <a:t>88%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1790" y="3314617"/>
            <a:ext cx="2857428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00" b="0">
                <a:solidFill>
                  <a:srgbClr val="7A8CA6"/>
                </a:solidFill>
                <a:latin typeface="IBM Plex Sans"/>
              </a:rPr>
              <a:t>Blended (chip + retrofit + SaaS) systems margin. Do NOT repeat "84% ASIC margin" — segment implies ~92–93%; reconciled blended figure is 88%.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1790" y="4190895"/>
            <a:ext cx="2857428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FY32 EXIT STACK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1790" y="4432189"/>
            <a:ext cx="2857428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7A8CA6"/>
                </a:solidFill>
                <a:latin typeface="IBM Plex Sans"/>
              </a:rPr>
              <a:t>Revenue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1790" y="4584585"/>
            <a:ext cx="2857428" cy="27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22D3EE"/>
                </a:solidFill>
                <a:latin typeface="JetBrains Mono"/>
              </a:rPr>
              <a:t>₹1,387.95 Cr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1790" y="4927476"/>
            <a:ext cx="2857428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7A8CA6"/>
                </a:solidFill>
                <a:latin typeface="IBM Plex Sans"/>
              </a:rPr>
              <a:t>EBITDA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1790" y="5079873"/>
            <a:ext cx="2857428" cy="27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2D3EE"/>
                </a:solidFill>
                <a:latin typeface="JetBrains Mono"/>
              </a:rPr>
              <a:t>₹536.63 Cr </a:t>
            </a:r>
            <a:r>
              <a:rPr sz="1500" b="1">
                <a:solidFill>
                  <a:srgbClr val="B7C7DE"/>
                </a:solidFill>
                <a:latin typeface="JetBrains Mono"/>
              </a:rPr>
              <a:t>(~39%)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1790" y="5422764"/>
            <a:ext cx="2857428" cy="2031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7A8CA6"/>
                </a:solidFill>
                <a:latin typeface="IBM Plex Sans"/>
              </a:rPr>
              <a:t>First profitable year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1790" y="5575160"/>
            <a:ext cx="2857428" cy="27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2C55E"/>
                </a:solidFill>
                <a:latin typeface="JetBrains Mono"/>
              </a:rPr>
              <a:t>FY2029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1790" y="5841853"/>
            <a:ext cx="2857428" cy="27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7A8CA6"/>
                </a:solidFill>
                <a:latin typeface="IBM Plex Sans"/>
              </a:rPr>
              <a:t>Net income positive from FY29 onwards.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5 · FINANCIALS · MANAGEMENT PROJECTION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34 · SaaS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Recurring revenue tiers. Sovereign-data moat.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Three annual tiers per vehicle — the FY31–32 margin curve above 82% comes from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2006549"/>
            <a:ext cx="304792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B7C7DE"/>
                </a:solidFill>
                <a:latin typeface="JetBrains Mono"/>
              </a:rPr>
              <a:t>TIER 01 ·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222444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730431"/>
            <a:ext cx="304792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E8F1FF"/>
                </a:solidFill>
                <a:latin typeface="Space Grotesk"/>
              </a:rPr>
              <a:t>₹10,000</a:t>
            </a:r>
            <a:r>
              <a:rPr sz="2800" b="1">
                <a:solidFill>
                  <a:srgbClr val="7A8CA6"/>
                </a:solidFill>
                <a:latin typeface="Space Grotesk"/>
              </a:rPr>
              <a:t> /yr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3301917"/>
            <a:ext cx="304792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PER VEHICLE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476" y="3670208"/>
            <a:ext cx="3047923" cy="15874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AIS-140 telematics + emergency-button ingest</a:t>
            </a:r>
          </a:p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Basic geo-fencing</a:t>
            </a:r>
          </a:p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Trip / driver report</a:t>
            </a:r>
          </a:p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30-day event log retention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885" y="2006549"/>
            <a:ext cx="304792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67E8F9"/>
                </a:solidFill>
                <a:latin typeface="JetBrains Mono"/>
              </a:rPr>
              <a:t>TIER 02 · ADVANCED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885" y="2222444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Advanced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885" y="2730431"/>
            <a:ext cx="304792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67E8F9"/>
                </a:solidFill>
                <a:latin typeface="Space Grotesk"/>
              </a:rPr>
              <a:t>₹15,000</a:t>
            </a:r>
            <a:r>
              <a:rPr sz="2800" b="1">
                <a:solidFill>
                  <a:srgbClr val="7A8CA6"/>
                </a:solidFill>
                <a:latin typeface="Space Grotesk"/>
              </a:rPr>
              <a:t> 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885" y="3301917"/>
            <a:ext cx="304792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PER VEHICLE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885" y="3670208"/>
            <a:ext cx="3047923" cy="15874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Everything in Base</a:t>
            </a:r>
          </a:p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DMS event stream (drowsy / distraction / phone)</a:t>
            </a:r>
          </a:p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Lane / following distance analytics</a:t>
            </a:r>
          </a:p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Fleet-safety dashboard</a:t>
            </a:r>
          </a:p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180-day retention + video snippet on trigger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295" y="2006549"/>
            <a:ext cx="304792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TIER 03 · 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295" y="2222444"/>
            <a:ext cx="3047923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E8F1FF"/>
                </a:solidFill>
                <a:latin typeface="Space Grotesk"/>
              </a:rPr>
              <a:t>Premium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295" y="2730431"/>
            <a:ext cx="3047923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22D3EE"/>
                </a:solidFill>
                <a:latin typeface="Space Grotesk"/>
              </a:rPr>
              <a:t>₹25,000</a:t>
            </a:r>
            <a:r>
              <a:rPr sz="2800" b="1">
                <a:solidFill>
                  <a:srgbClr val="7A8CA6"/>
                </a:solidFill>
                <a:latin typeface="Space Grotesk"/>
              </a:rPr>
              <a:t> /yr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295" y="3301917"/>
            <a:ext cx="3047923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PER VEHICLE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295" y="3670208"/>
            <a:ext cx="3047923" cy="15874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Everything in Advanced</a:t>
            </a:r>
          </a:p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ADAS event stream (AEBS / LDW / BSD) analytics</a:t>
            </a:r>
          </a:p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Model over-the-air update channel</a:t>
            </a:r>
          </a:p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Sovereign data enclave — data never leaves geography</a:t>
            </a:r>
          </a:p>
          <a:p>
            <a:pPr algn="l">
              <a:lnSpc>
                <a:spcPct val="170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→ API access for fleet / insurer integrations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476" y="5702157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WHY THE MOAT COMPOUNDS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76" y="5905352"/>
            <a:ext cx="10286742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680" b="0">
                <a:solidFill>
                  <a:srgbClr val="E8F1FF"/>
                </a:solidFill>
                <a:latin typeface="IBM Plex Sans"/>
              </a:rPr>
              <a:t> The D100 + S100 combo keeps event data in-country by design. Every deployed vehicle is a data endpoint for the next model iteration — without exporting raw video / trip data across borders. Sovereign-data compliance is not a feature — it is the reason SaaS attach rate scales.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5 · FINANCIALS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35 · CAPITAL EFFICIENCY &amp; SUBSIDIES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Use of funds. Sized against ₹55 Cr blended, not ₹25 Cr.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Institutional subsidy stack sequenced before capital deployment — every rupee stretched.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81150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BLENDED ₹55 CR — 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273243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Tape-out NRE ($3.17M)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6869" y="2273243"/>
            <a:ext cx="634984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750" b="0">
                <a:solidFill>
                  <a:srgbClr val="22D3EE"/>
                </a:solidFill>
                <a:latin typeface="JetBrains Mono"/>
              </a:rPr>
              <a:t>~₹27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2628834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Team &amp; opex (30-month runway)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6869" y="2628834"/>
            <a:ext cx="634984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750" b="0">
                <a:solidFill>
                  <a:srgbClr val="67E8F9"/>
                </a:solidFill>
                <a:latin typeface="JetBrains Mono"/>
              </a:rPr>
              <a:t>~₹18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2984425"/>
            <a:ext cx="253993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B7C7DE"/>
                </a:solidFill>
                <a:latin typeface="IBM Plex Sans"/>
              </a:rPr>
              <a:t>Working capital (CGTMSE debt)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6869" y="2984425"/>
            <a:ext cx="634984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750" b="0">
                <a:solidFill>
                  <a:srgbClr val="FCD34D"/>
                </a:solidFill>
                <a:latin typeface="JetBrains Mono"/>
              </a:rPr>
              <a:t>₹10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3365415"/>
            <a:ext cx="2539936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2D3EE"/>
                </a:solidFill>
                <a:latin typeface="IBM Plex Sans"/>
              </a:rPr>
              <a:t>Total blended raise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09904" y="3352716"/>
            <a:ext cx="1968450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600" b="1">
                <a:solidFill>
                  <a:srgbClr val="22D3EE"/>
                </a:solidFill>
                <a:latin typeface="JetBrains Mono"/>
              </a:rPr>
              <a:t>₹55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476" y="3809904"/>
            <a:ext cx="4825879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700" b="0">
                <a:solidFill>
                  <a:srgbClr val="7A8CA6"/>
                </a:solidFill>
                <a:latin typeface="IBM Plex Sans"/>
              </a:rPr>
              <a:t> Blended cost of capital materially lower than an equivalent ₹55 Cr pure-equity round. Debt tranche exists to buffer government payment cycles (see slide 36 — working-capital risk).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342" y="1981150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NON-DILUTIVE SUBSIDY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342" y="2387540"/>
            <a:ext cx="215894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PROGRAMME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8787" y="2387540"/>
            <a:ext cx="1396965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INSTRUMENT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2749" y="2387540"/>
            <a:ext cx="126996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CAP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6342" y="2679633"/>
            <a:ext cx="2158946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MeitY P-DLI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8787" y="2679633"/>
            <a:ext cx="1523961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50% NRE reimbursement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2749" y="2679633"/>
            <a:ext cx="1269968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22D3EE"/>
                </a:solidFill>
                <a:latin typeface="JetBrains Mono"/>
              </a:rPr>
              <a:t>₹15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342" y="3162220"/>
            <a:ext cx="2158946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Deployment-Linked Incentive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8787" y="3162220"/>
            <a:ext cx="1523961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4–6% of net sales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2749" y="3162220"/>
            <a:ext cx="1269968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1000" b="1">
                <a:solidFill>
                  <a:srgbClr val="22D3EE"/>
                </a:solidFill>
                <a:latin typeface="JetBrains Mono"/>
              </a:rPr>
              <a:t>₹30 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86342" y="3644808"/>
            <a:ext cx="2158946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E8F1FF"/>
                </a:solidFill>
                <a:latin typeface="IBM Plex Sans"/>
              </a:rPr>
              <a:t>ChipIN Centre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8787" y="3644808"/>
            <a:ext cx="1523961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EDA / IP tool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2749" y="3644808"/>
            <a:ext cx="1269968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7E8F9"/>
                </a:solidFill>
                <a:latin typeface="JetBrains Mono"/>
              </a:rPr>
              <a:t>in-kind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6342" y="4063898"/>
            <a:ext cx="4952876" cy="2793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7A8CA6"/>
                </a:solidFill>
                <a:latin typeface="IBM Plex Sans"/>
              </a:rPr>
              <a:t>Sequenced </a:t>
            </a:r>
            <a:r>
              <a:rPr sz="700" b="1">
                <a:solidFill>
                  <a:srgbClr val="7A8CA6"/>
                </a:solidFill>
                <a:latin typeface="IBM Plex Sans"/>
              </a:rPr>
              <a:t>before</a:t>
            </a:r>
            <a:r>
              <a:rPr sz="700" b="0">
                <a:solidFill>
                  <a:srgbClr val="7A8CA6"/>
                </a:solidFill>
                <a:latin typeface="IBM Plex Sans"/>
              </a:rPr>
              <a:t> capital deploys on NRE so we capture reimbursement, not absorb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476" y="4711582"/>
            <a:ext cx="10286742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EFFECTIVE RAISE, AFTER SUBSIDIES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2971" y="5143371"/>
            <a:ext cx="29209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7A8CA6"/>
                </a:solidFill>
                <a:latin typeface="JetBrains Mono"/>
              </a:rPr>
              <a:t>GROSS 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2971" y="5321166"/>
            <a:ext cx="292092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E8F1FF"/>
                </a:solidFill>
                <a:latin typeface="JetBrains Mono"/>
              </a:rPr>
              <a:t>₹55 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2971" y="5714857"/>
            <a:ext cx="292092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7A8CA6"/>
                </a:solidFill>
                <a:latin typeface="IBM Plex Sans"/>
              </a:rPr>
              <a:t>CCPS equity + CGTMSE debt.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5384" y="5143371"/>
            <a:ext cx="29209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F59E0B"/>
                </a:solidFill>
                <a:latin typeface="JetBrains Mono"/>
              </a:rPr>
              <a:t>NON-DILUTIVE OFFSET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5384" y="5321166"/>
            <a:ext cx="292092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CD34D"/>
                </a:solidFill>
                <a:latin typeface="JetBrains Mono"/>
              </a:rPr>
              <a:t>up to ₹45 Cr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5384" y="5714857"/>
            <a:ext cx="292092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7A8CA6"/>
                </a:solidFill>
                <a:latin typeface="IBM Plex Sans"/>
              </a:rPr>
              <a:t>P-DLI + DLI, subject to acceptance testing.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27796" y="5143371"/>
            <a:ext cx="292092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22D3EE"/>
                </a:solidFill>
                <a:latin typeface="JetBrains Mono"/>
              </a:rPr>
              <a:t>EFFECTIVE NET CAPITAL 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7796" y="5321166"/>
            <a:ext cx="292092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22D3EE"/>
                </a:solidFill>
                <a:latin typeface="JetBrains Mono"/>
              </a:rPr>
              <a:t>as low as ₹10 Cr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7796" y="5714857"/>
            <a:ext cx="2920926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7A8CA6"/>
                </a:solidFill>
                <a:latin typeface="IBM Plex Sans"/>
              </a:rPr>
              <a:t>If both subsidy programmes hit full cap.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5 · FINANCIALS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EF4444"/>
                </a:solidFill>
                <a:latin typeface="JetBrains Mono"/>
              </a:rPr>
              <a:t>36 · RED TEAM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10667733" cy="44448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8F1FF"/>
                </a:solidFill>
                <a:latin typeface="Space Grotesk"/>
              </a:rPr>
              <a:t>Two real gaps, two structural risks. Named, not hidden.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46166"/>
            <a:ext cx="10159746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Red-team Stage 5 output — these are the things a bad investor question would find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1981150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EF4444"/>
                </a:solidFill>
                <a:latin typeface="JetBrains Mono"/>
              </a:rPr>
              <a:t>GAP #1 · COMPETITIVE BENCHMARK BLIND 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2222444"/>
            <a:ext cx="4825879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F1FF"/>
                </a:solidFill>
                <a:latin typeface="Space Grotesk"/>
              </a:rPr>
              <a:t>Indian defense primes were never assessed as competitors.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2857428"/>
            <a:ext cx="4825879" cy="107947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Competitive slides 21–25 benchmark against Aurora / Kodiak / Netrasemi / Minus Zero. But for the Defense track the relevant competitor is a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BEL / BDL / Tata Advanced Systems / Mahindra Defence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with existing security clearance, existing UGV programs, and 30+ years of MoD relationships.</a:t>
            </a:r>
          </a:p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A startup vs an established cleared incumbent is a fundamentally different competitive problem than vs Netrasemi. </a:t>
            </a:r>
            <a:r>
              <a:rPr sz="800" b="1">
                <a:solidFill>
                  <a:srgbClr val="FCD34D"/>
                </a:solidFill>
                <a:latin typeface="IBM Plex Sans"/>
              </a:rPr>
              <a:t>Fix in Phase 1, Weeks 1–4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(slide 20).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342" y="1981150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EF4444"/>
                </a:solidFill>
                <a:latin typeface="JetBrains Mono"/>
              </a:rPr>
              <a:t>GAP #2 · EVIDENCE PEDIGREE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342" y="2222444"/>
            <a:ext cx="4952876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F1FF"/>
                </a:solidFill>
                <a:latin typeface="Space Grotesk"/>
              </a:rPr>
              <a:t>Nature of the ₹1 Cr revenue is unconfirmed.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342" y="2857428"/>
            <a:ext cx="4952876" cy="107947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Everything in the deck — the ICP scorecard, the Defense-primary decision, the resourcing plan — depends on the ₹1 Cr being a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commercial sale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.</a:t>
            </a:r>
          </a:p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If it turns out to be a grant, subsidy, or R&amp;D contract, Defense re-scores as evidence-equal to Fleet and the "Defense-first sequence" argument reopens. Third-party audit within one week is </a:t>
            </a:r>
            <a:r>
              <a:rPr sz="800" b="1">
                <a:solidFill>
                  <a:srgbClr val="FCD34D"/>
                </a:solidFill>
                <a:latin typeface="IBM Plex Sans"/>
              </a:rPr>
              <a:t>Condition 1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(slide 37).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476" y="4330591"/>
            <a:ext cx="4825879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F59E0B"/>
                </a:solidFill>
                <a:latin typeface="JetBrains Mono"/>
              </a:rPr>
              <a:t>STRUCTURAL RISK · CIRCULAR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4571885"/>
            <a:ext cx="4825879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8F1FF"/>
                </a:solidFill>
                <a:latin typeface="Space Grotesk"/>
              </a:rPr>
              <a:t>Defense scores 5/5 on evidence </a:t>
            </a:r>
            <a:r>
              <a:rPr sz="1100" b="1">
                <a:solidFill>
                  <a:srgbClr val="E8F1FF"/>
                </a:solidFill>
                <a:latin typeface="Space Grotesk"/>
              </a:rPr>
              <a:t>because</a:t>
            </a:r>
            <a:r>
              <a:rPr sz="1100" b="1">
                <a:solidFill>
                  <a:srgbClr val="E8F1FF"/>
                </a:solidFill>
                <a:latin typeface="Space Grotesk"/>
              </a:rPr>
              <a:t> of the ₹1 Cr.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476" y="5079873"/>
            <a:ext cx="4825879" cy="9524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If Gap #2 resolves against us, the evidence score drops from 5/5 to 1/5, and Defense's weighted score collapses from 3.96 to ~3.20. That still beats Fleet on the other dimensions — but the primary-ICP decision is no longer default-obvious, and the day-90 checkpoint (Condition 5) becomes a real re-plan gate.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342" y="4330591"/>
            <a:ext cx="4952876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F59E0B"/>
                </a:solidFill>
                <a:latin typeface="JetBrains Mono"/>
              </a:rPr>
              <a:t>STRUCTURAL RISK · WORKING CAPITAL &amp; RUNWAY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342" y="4571885"/>
            <a:ext cx="4952876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8F1FF"/>
                </a:solidFill>
                <a:latin typeface="Space Grotesk"/>
              </a:rPr>
              <a:t>₹2.48 Cr raised to date vs ₹55 Cr ask.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342" y="5079873"/>
            <a:ext cx="4952876" cy="95247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50" b="0">
                <a:solidFill>
                  <a:srgbClr val="B7C7DE"/>
                </a:solidFill>
                <a:latin typeface="IBM Plex Sans"/>
              </a:rPr>
              <a:t> Government + Defense payment cycles run </a:t>
            </a:r>
            <a:r>
              <a:rPr sz="750" b="1">
                <a:solidFill>
                  <a:srgbClr val="E8F1FF"/>
                </a:solidFill>
                <a:latin typeface="IBM Plex Sans"/>
              </a:rPr>
              <a:t>90–180+ days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. On the current cash position, a single delayed invoice can compress the runway inside a quarter. The ₹10 Cr CGTMSE debt exists specifically to buffer this — but only if the raise closes on schedule. </a:t>
            </a:r>
            <a:r>
              <a:rPr sz="750" b="1">
                <a:solidFill>
                  <a:srgbClr val="FCD34D"/>
                </a:solidFill>
                <a:latin typeface="IBM Plex Sans"/>
              </a:rPr>
              <a:t>Condition 3</a:t>
            </a:r>
            <a:r>
              <a:rPr sz="750" b="0">
                <a:solidFill>
                  <a:srgbClr val="B7C7DE"/>
                </a:solidFill>
                <a:latin typeface="IBM Plex Sans"/>
              </a:rPr>
              <a:t> mandates modelling this before external commitments.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6 · RISK, RED TEAM, DECISION, 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380990"/>
            <a:ext cx="4444888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37 · DECISION &amp;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9" y="380990"/>
            <a:ext cx="3809904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50" b="0">
                <a:solidFill>
                  <a:srgbClr val="4E617D"/>
                </a:solidFill>
                <a:latin typeface="JetBrains Mono"/>
              </a:rPr>
              <a:t>DEEPGRID SEMI · PRE-SERIES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0" y="888977"/>
            <a:ext cx="8889777" cy="11429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E8F1FF"/>
                </a:solidFill>
                <a:latin typeface="Space Grotesk"/>
              </a:rPr>
              <a:t>Proceed </a:t>
            </a:r>
            <a:r>
              <a:rPr sz="3800" b="1">
                <a:solidFill>
                  <a:srgbClr val="FCD34D"/>
                </a:solidFill>
                <a:latin typeface="Space Grotesk"/>
              </a:rPr>
              <a:t>with</a:t>
            </a:r>
          </a:p>
          <a:p>
            <a:pPr algn="l">
              <a:lnSpc>
                <a:spcPct val="105000"/>
              </a:lnSpc>
            </a:pPr>
            <a:r>
              <a:rPr sz="3800" b="1">
                <a:solidFill>
                  <a:srgbClr val="E8F1FF"/>
                </a:solidFill>
                <a:latin typeface="Space Grotesk"/>
              </a:rPr>
              <a:t>Conditions.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2158946"/>
            <a:ext cx="8889777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7C7DE"/>
                </a:solidFill>
                <a:latin typeface="IBM Plex Sans"/>
              </a:rPr>
              <a:t>Not an unconditional go. Five conditions, priority-ordered, all measurable.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476" y="2743131"/>
            <a:ext cx="6476838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F59E0B"/>
                </a:solidFill>
                <a:latin typeface="JetBrains Mono"/>
              </a:rPr>
              <a:t>FIVE CONDITIONS TO PROCEED — PRIORITY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3098722"/>
            <a:ext cx="279393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5090F"/>
                </a:solidFill>
                <a:latin typeface="JetBrains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466" y="3035224"/>
            <a:ext cx="6095847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E8F1FF"/>
                </a:solidFill>
                <a:latin typeface="IBM Plex Sans"/>
              </a:rPr>
              <a:t>Confirm ₹1 Cr revenue nature within 1 week.</a:t>
            </a:r>
            <a:r>
              <a:rPr sz="850" b="0">
                <a:solidFill>
                  <a:srgbClr val="E8F1FF"/>
                </a:solidFill>
                <a:latin typeface="IBM Plex Sans"/>
              </a:rPr>
              <a:t> Third-party audited attestation: commercial sale vs grant / subsidy.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476" y="3632109"/>
            <a:ext cx="279393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5090F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466" y="3568610"/>
            <a:ext cx="6095847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E8F1FF"/>
                </a:solidFill>
                <a:latin typeface="IBM Plex Sans"/>
              </a:rPr>
              <a:t>Add Indian defense primes to competitive benchmark.</a:t>
            </a:r>
            <a:r>
              <a:rPr sz="850" b="0">
                <a:solidFill>
                  <a:srgbClr val="E8F1FF"/>
                </a:solidFill>
                <a:latin typeface="IBM Plex Sans"/>
              </a:rPr>
              <a:t> BEL, BDL, Tata Advanced Systems, Mahindra Defence. Fix Gap #1 by Week 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476" y="4165495"/>
            <a:ext cx="279393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5090F"/>
                </a:solidFill>
                <a:latin typeface="JetBrains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466" y="4101997"/>
            <a:ext cx="6095847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E8F1FF"/>
                </a:solidFill>
                <a:latin typeface="IBM Plex Sans"/>
              </a:rPr>
              <a:t>Model working-capital exposure to 90–180 day payment cycles.</a:t>
            </a:r>
            <a:r>
              <a:rPr sz="850" b="0">
                <a:solidFill>
                  <a:srgbClr val="E8F1FF"/>
                </a:solidFill>
                <a:latin typeface="IBM Plex Sans"/>
              </a:rPr>
              <a:t> Before any external commitment on CGTMSE debt drawdown.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476" y="4698882"/>
            <a:ext cx="279393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5090F"/>
                </a:solidFill>
                <a:latin typeface="JetBrains Mono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466" y="4635384"/>
            <a:ext cx="6095847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E8F1FF"/>
                </a:solidFill>
                <a:latin typeface="IBM Plex Sans"/>
              </a:rPr>
              <a:t>Every external doc frames this as sequenced two-track plan.</a:t>
            </a:r>
            <a:r>
              <a:rPr sz="850" b="0">
                <a:solidFill>
                  <a:srgbClr val="E8F1FF"/>
                </a:solidFill>
                <a:latin typeface="IBM Plex Sans"/>
              </a:rPr>
              <a:t> Never a flat pivot narrative. Any deck / one-pager reading as "Defense-only" gets pulled.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476" y="5295767"/>
            <a:ext cx="279393" cy="1650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1">
                <a:solidFill>
                  <a:srgbClr val="05090F"/>
                </a:solidFill>
                <a:latin typeface="JetBrains Mono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3466" y="5232269"/>
            <a:ext cx="6095847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850" b="1">
                <a:solidFill>
                  <a:srgbClr val="E8F1FF"/>
                </a:solidFill>
                <a:latin typeface="IBM Plex Sans"/>
              </a:rPr>
              <a:t>Day-90 checkpoint is a HARD re-scoring gate.</a:t>
            </a:r>
            <a:r>
              <a:rPr sz="850" b="0">
                <a:solidFill>
                  <a:srgbClr val="E8F1FF"/>
                </a:solidFill>
                <a:latin typeface="IBM Plex Sans"/>
              </a:rPr>
              <a:t> Not a status review. Same 10-dim rubric, fresh evidence, Board-visible go / no-go on Fleet co-primary.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466" y="5714857"/>
            <a:ext cx="6095847" cy="3174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700" b="0">
                <a:solidFill>
                  <a:srgbClr val="7A8CA6"/>
                </a:solidFill>
                <a:latin typeface="IBM Plex Sans"/>
              </a:rPr>
              <a:t> All five conditions are dated, owned, and instrumented. Missing any of them re-opens the decision.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7301" y="2743131"/>
            <a:ext cx="3301917" cy="1777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50" b="0">
                <a:solidFill>
                  <a:srgbClr val="22D3EE"/>
                </a:solidFill>
                <a:latin typeface="JetBrains Mono"/>
              </a:rPr>
              <a:t>A DEFENSIBLE, EVIDENCE-LED 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7301" y="2984425"/>
            <a:ext cx="3301917" cy="38099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E8F1FF"/>
                </a:solidFill>
                <a:latin typeface="Space Grotesk"/>
              </a:rPr>
              <a:t>Four pillars.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7301" y="3492412"/>
            <a:ext cx="3301917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0">
                <a:solidFill>
                  <a:srgbClr val="22D3EE"/>
                </a:solidFill>
                <a:latin typeface="IBM Plex Sans"/>
              </a:rPr>
              <a:t>01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Eliminating the hardware squeeze zone.</a:t>
            </a:r>
          </a:p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$3.876 die, ~$30 board, 12.9× compute-node advantage.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7301" y="4013099"/>
            <a:ext cx="3301917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0">
                <a:solidFill>
                  <a:srgbClr val="22D3EE"/>
                </a:solidFill>
                <a:latin typeface="IBM Plex Sans"/>
              </a:rPr>
              <a:t>02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De-risked technical validation.</a:t>
            </a:r>
          </a:p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39.3 TOPS on FPGA. One open commercial question, publicly flagged.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7301" y="4533786"/>
            <a:ext cx="3301917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0">
                <a:solidFill>
                  <a:srgbClr val="22D3EE"/>
                </a:solidFill>
                <a:latin typeface="IBM Plex Sans"/>
              </a:rPr>
              <a:t>03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Non-discretionary mandate capture.</a:t>
            </a:r>
          </a:p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AIS-184/186/187/188 chiplet-mapped, dated enforcement 2027–28.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7301" y="5054473"/>
            <a:ext cx="3301917" cy="5079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0">
                <a:solidFill>
                  <a:srgbClr val="22D3EE"/>
                </a:solidFill>
                <a:latin typeface="IBM Plex Sans"/>
              </a:rPr>
              <a:t>04</a:t>
            </a:r>
            <a:r>
              <a:rPr sz="800" b="0">
                <a:solidFill>
                  <a:srgbClr val="B7C7DE"/>
                </a:solidFill>
                <a:latin typeface="IBM Plex Sans"/>
              </a:rPr>
              <a:t> </a:t>
            </a:r>
            <a:r>
              <a:rPr sz="800" b="1">
                <a:solidFill>
                  <a:srgbClr val="E8F1FF"/>
                </a:solidFill>
                <a:latin typeface="IBM Plex Sans"/>
              </a:rPr>
              <a:t>Capital-efficient engineering.</a:t>
            </a:r>
          </a:p>
          <a:p>
            <a:pPr algn="l">
              <a:lnSpc>
                <a:spcPct val="155000"/>
              </a:lnSpc>
            </a:pPr>
            <a:r>
              <a:rPr sz="800" b="0">
                <a:solidFill>
                  <a:srgbClr val="B7C7DE"/>
                </a:solidFill>
                <a:latin typeface="IBM Plex Sans"/>
              </a:rPr>
              <a:t> $3.17M NRE, MPW-phased, evidence-gated at day-90.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7301" y="5778355"/>
            <a:ext cx="3301917" cy="25399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00" b="0">
                <a:solidFill>
                  <a:srgbClr val="22D3EE"/>
                </a:solidFill>
                <a:latin typeface="JetBrains Mono"/>
              </a:rPr>
              <a:t>₹55 CR · 79.2% · 5 CONDITIONS · FY29 PROFITABLE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980" y="6540336"/>
            <a:ext cx="5714857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SECTION 6 · CONFIDENTIAL · NOT AN OFFER TO SELL SECURITIES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6838" y="6540336"/>
            <a:ext cx="4952876" cy="1523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20000"/>
              </a:lnSpc>
            </a:pPr>
            <a:r>
              <a:rPr sz="600" b="0">
                <a:solidFill>
                  <a:srgbClr val="4E617D"/>
                </a:solidFill>
                <a:latin typeface="JetBrains Mono"/>
              </a:rP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