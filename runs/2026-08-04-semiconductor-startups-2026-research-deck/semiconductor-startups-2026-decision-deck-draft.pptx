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SEMICONDUCTOR STARTUPS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 race is fragmenting
around four bottlenecks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47872"/>
            <a:ext cx="1417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5876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E0F7F1"/>
                </a:solidFill>
                <a:latin typeface="Calibri"/>
              </a:rPr>
              <a:t>A buyer’s map of CRN’s ten coolest semiconductor startups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4243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DECISION BRIEF  ·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Do not evaluate these startups as one GPU-replacement 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4415" cy="960120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BLUF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00200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Match each vendor to the bottleneck it removes—and demand proof at system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52928"/>
            <a:ext cx="3401568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52928"/>
            <a:ext cx="73152" cy="1965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29900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Ten companies span compute, memory, networks, and complete racks.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852928"/>
            <a:ext cx="3401568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852928"/>
            <a:ext cx="73152" cy="1965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29900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56432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Useful throughput now depends on feeding and utilizing silicon—not peak arithmetic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2852928"/>
            <a:ext cx="3401568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2852928"/>
            <a:ext cx="73152" cy="1965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3017520"/>
            <a:ext cx="29900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456432"/>
            <a:ext cx="299008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Separate shipping products from 2027–2028 roadmaps before procurement.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FFFF"/>
                </a:solidFill>
                <a:latin typeface="Calibri"/>
              </a:rPr>
              <a:t>A $1.3T market makes bottleneck relief commercially valuable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8404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800" b="1" i="0">
                <a:solidFill>
                  <a:srgbClr val="FFB800"/>
                </a:solidFill>
                <a:latin typeface="Calibri"/>
              </a:rPr>
              <a:t>&gt;$1.3T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70048"/>
            <a:ext cx="411480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2026 global semiconductor revenue forecast cited by CRN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554480"/>
            <a:ext cx="54864" cy="36118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155448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The strategic unit is shifting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21284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chip → completed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92608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peak FLOPS → tokens per watt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639312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accelerator → rack utilization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4352544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Calibri"/>
              </a:rPr>
              <a:t>benchmark → deployment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1616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Forecast, not realized revenue · CRN citing Gartner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Four architectural bets explain the ten-company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230368" cy="162763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824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66420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WORKLOAD-SPECIFIC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231136"/>
            <a:ext cx="4023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Axelera · d-Matrix · Fractile · MatX · Etched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81328"/>
            <a:ext cx="5230368" cy="162763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8249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66420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DATA MOVEMENT + INTERCONNECT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2231136"/>
            <a:ext cx="4023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Lightmatter · Cornelis · Xsight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56432"/>
            <a:ext cx="5230368" cy="162763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639312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OPEN + RECONFIGURABLE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206240"/>
            <a:ext cx="4023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Tenstorrent · NextSilicon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56432"/>
            <a:ext cx="5230368" cy="1627632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3639312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RACK-SCALE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4206240"/>
            <a:ext cx="4023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d-Matrix · Cornelis · Tenstorrent · Xsight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50992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1">
                <a:solidFill>
                  <a:srgbClr val="5B6B7C"/>
                </a:solidFill>
                <a:latin typeface="Calibri"/>
              </a:rPr>
              <a:t>The categories overlap: system builders increasingly cross chip, fabric, and software boundaries.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Inference specialists trade generality for latency and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624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AXELERA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389888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Digital in-memory 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389888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Edge power +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92808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40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67712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Digital in-memory 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267712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Data-center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70632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45536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181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145536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In-memory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145536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Memory bandwidth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48456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959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023360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LLM-specific processor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023360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Frontier-model throughput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01184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737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901184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Transformer-specific ASIC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901184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5B6B7C"/>
                </a:solidFill>
                <a:latin typeface="Calibri"/>
              </a:rPr>
              <a:t>Maximum specialization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04104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715000"/>
            <a:ext cx="11094415" cy="438912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15584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Upside: efficiency  ·  Risk: workload and model architecture drift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Three companies monetize the cost of idle compute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383280" cy="297180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3852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00C9A7"/>
                </a:solidFill>
                <a:latin typeface="Calibri"/>
              </a:rPr>
              <a:t>6.4 Tbps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0779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LIGHTMATTER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Passage L20 · each direction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00200"/>
            <a:ext cx="3383280" cy="297180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3852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800 Gbps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0779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XSIGHT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2900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E-series DPU · 64 Arm N2 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00200"/>
            <a:ext cx="3383280" cy="297180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93852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E05A6B"/>
                </a:solidFill>
                <a:latin typeface="Calibri"/>
              </a:rPr>
              <a:t>LOSSLESS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90779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CORNELIS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42900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CN5000 scale-out fabric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F7F1"/>
                </a:solidFill>
                <a:latin typeface="Calibri"/>
              </a:rPr>
              <a:t>Vendor specifications; validate on customer workloads and real topology.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Openness is becoming a distribution strategy—not an ideology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07492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73152" cy="2560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TENSTORRENT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466344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Tensix accelerators + RISC-V CPU IP + systems + Ethernet scale-out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81328"/>
            <a:ext cx="507492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481328"/>
            <a:ext cx="73152" cy="25603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4592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NEXTSILICON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84832"/>
            <a:ext cx="466344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Runtime-reconfigurable dataflow + RISC-V CPU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159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CUSTOMIZATION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↓ lock-in anxiety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3159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64515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↑ licensing 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3159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TRADE-OFF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645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tools must mature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30368"/>
            <a:ext cx="11094415" cy="65836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394960"/>
            <a:ext cx="1058235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Open interfaces widen options; they do not guarantee production support.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commercial unit is expanding from chip to rack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70078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SILICON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170078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211226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874519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103120"/>
            <a:ext cx="170078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999232"/>
            <a:ext cx="170078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11226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1874519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2103120"/>
            <a:ext cx="170078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FABRIC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2999232"/>
            <a:ext cx="170078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Utilization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11226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87184" y="1874519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2103120"/>
            <a:ext cx="170078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2999232"/>
            <a:ext cx="170078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Portability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211226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0032" y="1874519"/>
            <a:ext cx="1700784" cy="914400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2103120"/>
            <a:ext cx="170078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999232"/>
            <a:ext cx="170078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41648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d-Matrix · Cornelis · Tenstorrent · Xsight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36592"/>
            <a:ext cx="11094415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5B6B7C"/>
                </a:solidFill>
                <a:latin typeface="Calibri"/>
              </a:rPr>
              <a:t>System execution is harder than chip benchmarking—and more relevant to buyers.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Commercial evidence divides the field into two procurement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49240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1072" y="1417320"/>
            <a:ext cx="5349240" cy="5303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6362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CURRENT COMMERCIAL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156362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ROADMAP-DEPENDENT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00C9A7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70632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00C9A7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4320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Cornelis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00C9A7"/>
                </a:solidFill>
                <a:latin typeface="Calibr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735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31336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00C9A7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0390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61688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00C9A7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3425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9204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00C9A7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8646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Xsight 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4028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5A6B"/>
                </a:solidFill>
                <a:latin typeface="Calibri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2128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953512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5A6B"/>
                </a:solidFill>
                <a:latin typeface="Calibri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260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666744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5A6B"/>
                </a:solidFill>
                <a:latin typeface="Calibri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63931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379976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5A6B"/>
                </a:solidFill>
                <a:latin typeface="Calibri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352544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50992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5B6B7C"/>
                </a:solidFill>
                <a:latin typeface="Calibri"/>
              </a:rPr>
              <a:t>Signals include products, deployments, production status, sampling, or named customers; they are not equivalent proof.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Funding buys runway—not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393192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400" b="1" i="0">
                <a:solidFill>
                  <a:srgbClr val="FFB800"/>
                </a:solidFill>
                <a:latin typeface="Calibri"/>
              </a:rPr>
              <a:t>~$10.7B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33472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semiconductor startup funding reported in 2026 through publication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9472" y="157276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4533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6872" y="1572768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runway + investor conviction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2352" y="2185416"/>
            <a:ext cx="6080760" cy="127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268833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66090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SILICON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688336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working chip + repeatable yield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2352" y="3300984"/>
            <a:ext cx="6080760" cy="127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380390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77647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803904"/>
            <a:ext cx="43434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software + reliability +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07024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Crunchbase News (2026) · funding is an ecosystem-level estimate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Specialization creates the highest upside—and the sharpest roadmap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EFFICIENCY UPSIDE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801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9052560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17739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Open / adaptable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7739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30428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Workload tuned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7739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30428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Architecture specific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18688"/>
            <a:ext cx="3401568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73152" cy="16002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29900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MODEL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22192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Architecture, precision, or memory patterns change before volume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218688"/>
            <a:ext cx="3401568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218688"/>
            <a:ext cx="73152" cy="16002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383280"/>
            <a:ext cx="29900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SOFTWARE DRAG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22192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Compiler, framework, and operations maturity erase theoretical gains.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218688"/>
            <a:ext cx="3401568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218688"/>
            <a:ext cx="73152" cy="16002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383280"/>
            <a:ext cx="299008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SUPPLY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822192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Packaging, yield, and support determine repeatable rack delivery.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21808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more specialized the silicon, the more often the workload contract must be revalidated.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one workload-matched scorecard before advancing any vendor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447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Comparable precision +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4475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536192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81328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Latency + throughput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249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61488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Rack power + utilization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7249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816352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761488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Software maturity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050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96512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41648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Reliability + supply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0050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096512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041648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Deployment lead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13248"/>
            <a:ext cx="11094415" cy="60350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68696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Gate 1: available product  ·  Gate 2: roadmap silicon  ·  Never mix proof thresholds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93268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Buy bottleneck relief—
not startup mythology.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18688"/>
            <a:ext cx="1417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84448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E0F7F1"/>
                </a:solidFill>
                <a:latin typeface="Calibri"/>
              </a:rPr>
              <a:t>Benchmark the complete system. Preserve optionality. Keep roadmap claims in a separate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42432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Primary framing: CRN (2026) · details verified against company releases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decision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