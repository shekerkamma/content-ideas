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051560"/>
            <a:ext cx="9784080" cy="18288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300" b="1" i="0">
                <a:solidFill>
                  <a:srgbClr val="FFFFFF"/>
                </a:solidFill>
                <a:latin typeface="Calibri"/>
              </a:rPr>
              <a:t>The picks-and-shovels portfolio
beats the accelerator lottery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37560"/>
            <a:ext cx="731520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900" b="1" i="0">
                <a:solidFill>
                  <a:srgbClr val="00C9A7"/>
                </a:solidFill>
                <a:latin typeface="Calibri"/>
              </a:rPr>
              <a:t>Ten semiconductor startups · one investable hierarchy</a:t>
            </a:r>
          </a:p>
        </p:txBody>
      </p:sp>
      <p:sp>
        <p:nvSpPr>
          <p:cNvPr id="6" name="Rectangle 5"/>
          <p:cNvSpPr/>
          <p:nvPr/>
        </p:nvSpPr>
        <p:spPr>
          <a:xfrm>
            <a:off x="548640" y="4069080"/>
            <a:ext cx="7040880" cy="7315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548640" y="4407408"/>
            <a:ext cx="9509760" cy="8229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E0F7F1"/>
                </a:solidFill>
                <a:latin typeface="Calibri"/>
              </a:rPr>
              <a:t>Anchor in horizontal infrastructure. Buy specialist compute as options, not certainty.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AI semiconductor startups · investor lens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 / 12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The investable asymmetry sits between bottleneck urgency and proof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118872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C9A7"/>
                </a:solidFill>
                <a:latin typeface="Calibri"/>
              </a:rPr>
              <a:t>HIGH URGENCY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0241280" y="5367528"/>
            <a:ext cx="10972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E05A6B"/>
                </a:solidFill>
                <a:latin typeface="Calibri"/>
              </a:rPr>
              <a:t>LOW PROOF</a:t>
            </a:r>
          </a:p>
        </p:txBody>
      </p:sp>
      <p:sp>
        <p:nvSpPr>
          <p:cNvPr id="8" name="Rectangle 7"/>
          <p:cNvSpPr/>
          <p:nvPr/>
        </p:nvSpPr>
        <p:spPr>
          <a:xfrm>
            <a:off x="1143000" y="1874519"/>
            <a:ext cx="9875520" cy="3154680"/>
          </a:xfrm>
          <a:prstGeom prst="rect">
            <a:avLst/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Rectangle 8"/>
          <p:cNvSpPr/>
          <p:nvPr/>
        </p:nvSpPr>
        <p:spPr>
          <a:xfrm>
            <a:off x="1143000" y="1874519"/>
            <a:ext cx="4937760" cy="1572768"/>
          </a:xfrm>
          <a:prstGeom prst="rect">
            <a:avLst/>
          </a:prstGeom>
          <a:solidFill>
            <a:srgbClr val="E0F7F1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080760" y="3447288"/>
            <a:ext cx="4937760" cy="1581912"/>
          </a:xfrm>
          <a:prstGeom prst="rect">
            <a:avLst/>
          </a:prstGeom>
          <a:solidFill>
            <a:srgbClr val="F4F7F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1417320" y="214884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CORE COMPOUNDERS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417320" y="25877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0A1628"/>
                </a:solidFill>
                <a:latin typeface="Calibri"/>
              </a:rPr>
              <a:t>Lightmatter · Xsight · Cornelis · Tenstorrent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55080" y="2148840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EXECUTION BETS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55080" y="25877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0A1628"/>
                </a:solidFill>
                <a:latin typeface="Calibri"/>
              </a:rPr>
              <a:t>d-Matrix · Axelera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417320" y="3749039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WATCHLIST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417320" y="4187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0A1628"/>
                </a:solidFill>
                <a:latin typeface="Calibri"/>
              </a:rPr>
              <a:t>NextSilicon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355080" y="3749039"/>
            <a:ext cx="420624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MOONSHOTS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55080" y="4187952"/>
            <a:ext cx="4206240" cy="457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0A1628"/>
                </a:solidFill>
                <a:latin typeface="Calibri"/>
              </a:rPr>
              <a:t>Etched · MatX · Fractile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5715000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1">
                <a:solidFill>
                  <a:srgbClr val="5B6B7C"/>
                </a:solidFill>
                <a:latin typeface="Calibri"/>
              </a:rPr>
              <a:t>Placement is analyst judgment from the verified research bundle—not an investment recommendation.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semiconductor startups · investor lens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2 / 12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66928"/>
            <a:ext cx="11094415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100" b="1" i="0">
                <a:solidFill>
                  <a:srgbClr val="FFFFFF"/>
                </a:solidFill>
                <a:latin typeface="Calibri"/>
              </a:rPr>
              <a:t>The market rewards whoever keeps expensive compute busy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874519"/>
            <a:ext cx="2240280" cy="196596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48640" y="1874519"/>
            <a:ext cx="2240280" cy="109728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731520" y="2286000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E05A6B"/>
                </a:solidFill>
                <a:latin typeface="Calibri"/>
              </a:rPr>
              <a:t>COMPUTE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31520" y="2862072"/>
            <a:ext cx="187451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FFFF"/>
                </a:solidFill>
                <a:latin typeface="Calibri"/>
              </a:rPr>
              <a:t>Accelerators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880360" y="256032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5B6B7C"/>
                </a:solidFill>
                <a:latin typeface="Calibri"/>
              </a:rPr>
              <a:t>→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3319272" y="1874519"/>
            <a:ext cx="2240280" cy="196596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3319272" y="1874519"/>
            <a:ext cx="2240280" cy="109728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502152" y="2286000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B800"/>
                </a:solidFill>
                <a:latin typeface="Calibri"/>
              </a:rPr>
              <a:t>MEMORY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502152" y="2862072"/>
            <a:ext cx="187451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FFFF"/>
                </a:solidFill>
                <a:latin typeface="Calibri"/>
              </a:rPr>
              <a:t>Movement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50992" y="256032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5B6B7C"/>
                </a:solidFill>
                <a:latin typeface="Calibri"/>
              </a:rPr>
              <a:t>→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6089904" y="1874519"/>
            <a:ext cx="2240280" cy="196596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089904" y="1874519"/>
            <a:ext cx="2240280" cy="109728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272784" y="2286000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FABRIC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272784" y="2862072"/>
            <a:ext cx="187451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FFFF"/>
                </a:solidFill>
                <a:latin typeface="Calibri"/>
              </a:rPr>
              <a:t>Utilization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421624" y="2560320"/>
            <a:ext cx="365760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5B6B7C"/>
                </a:solidFill>
                <a:latin typeface="Calibri"/>
              </a:rP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8860536" y="1874519"/>
            <a:ext cx="2240280" cy="1965960"/>
          </a:xfrm>
          <a:prstGeom prst="roundRect">
            <a:avLst>
              <a:gd name="adj" fmla="val 5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Rectangle 19"/>
          <p:cNvSpPr/>
          <p:nvPr/>
        </p:nvSpPr>
        <p:spPr>
          <a:xfrm>
            <a:off x="8860536" y="1874519"/>
            <a:ext cx="2240280" cy="109728"/>
          </a:xfrm>
          <a:prstGeom prst="rect">
            <a:avLst/>
          </a:prstGeom>
          <a:solidFill>
            <a:srgbClr val="009B82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9043416" y="2286000"/>
            <a:ext cx="1874519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9B82"/>
                </a:solidFill>
                <a:latin typeface="Calibri"/>
              </a:rPr>
              <a:t>SYSTEM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043416" y="2862072"/>
            <a:ext cx="1874519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FFFFFF"/>
                </a:solidFill>
                <a:latin typeface="Calibri"/>
              </a:rPr>
              <a:t>Deployment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48640" y="4407408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Investor implication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423160" y="4297680"/>
            <a:ext cx="8869680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100" b="1" i="0">
                <a:solidFill>
                  <a:srgbClr val="E0F7F1"/>
                </a:solidFill>
                <a:latin typeface="Calibri"/>
              </a:rPr>
              <a:t>Infrastructure vendors can monetize heterogeneity; narrow accelerators must correctly predict the winning workload.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AI semiconductor startups · investor lens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3 / 12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Three companies tie for the strongest risk-adjusted profile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152144"/>
            <a:ext cx="11094415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50" b="0" i="0">
                <a:solidFill>
                  <a:srgbClr val="5B6B7C"/>
                </a:solidFill>
                <a:latin typeface="Calibri"/>
              </a:rPr>
              <a:t>Ten dimensions · 1–5 analyst score per dimension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1645920"/>
            <a:ext cx="347472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01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051560" y="1627632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Lightmatter</a:t>
            </a:r>
          </a:p>
        </p:txBody>
      </p:sp>
      <p:sp>
        <p:nvSpPr>
          <p:cNvPr id="9" name="Rectangle 8"/>
          <p:cNvSpPr/>
          <p:nvPr/>
        </p:nvSpPr>
        <p:spPr>
          <a:xfrm>
            <a:off x="2743200" y="1682496"/>
            <a:ext cx="5698540" cy="16459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9921240" y="1618488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41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10515600" y="1591056"/>
            <a:ext cx="749808" cy="347472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10515600" y="1655064"/>
            <a:ext cx="74980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A1628"/>
                </a:solidFill>
                <a:latin typeface="Calibri"/>
              </a:rPr>
              <a:t>Core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48640" y="2048256"/>
            <a:ext cx="347472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02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051560" y="2029968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Tenstorrent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2743200" y="2084832"/>
            <a:ext cx="5698540" cy="16459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9921240" y="2020824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41</a:t>
            </a:r>
          </a:p>
        </p:txBody>
      </p:sp>
      <p:sp>
        <p:nvSpPr>
          <p:cNvPr id="17" name="Rounded Rectangle 16"/>
          <p:cNvSpPr/>
          <p:nvPr/>
        </p:nvSpPr>
        <p:spPr>
          <a:xfrm>
            <a:off x="10515600" y="1993392"/>
            <a:ext cx="749808" cy="347472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10515600" y="2057400"/>
            <a:ext cx="74980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A1628"/>
                </a:solidFill>
                <a:latin typeface="Calibri"/>
              </a:rPr>
              <a:t>Core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48640" y="2450592"/>
            <a:ext cx="347472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03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51560" y="2432304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Xsight Labs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2743200" y="2487168"/>
            <a:ext cx="5698540" cy="16459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9921240" y="2423160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41</a:t>
            </a:r>
          </a:p>
        </p:txBody>
      </p:sp>
      <p:sp>
        <p:nvSpPr>
          <p:cNvPr id="23" name="Rounded Rectangle 22"/>
          <p:cNvSpPr/>
          <p:nvPr/>
        </p:nvSpPr>
        <p:spPr>
          <a:xfrm>
            <a:off x="10515600" y="2395728"/>
            <a:ext cx="749808" cy="347472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4" name="TextBox 23"/>
          <p:cNvSpPr txBox="1"/>
          <p:nvPr/>
        </p:nvSpPr>
        <p:spPr>
          <a:xfrm>
            <a:off x="10515600" y="2459736"/>
            <a:ext cx="74980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A1628"/>
                </a:solidFill>
                <a:latin typeface="Calibri"/>
              </a:rPr>
              <a:t>Core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48640" y="2852928"/>
            <a:ext cx="347472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04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1051560" y="2834640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Cornelis</a:t>
            </a:r>
          </a:p>
        </p:txBody>
      </p:sp>
      <p:sp>
        <p:nvSpPr>
          <p:cNvPr id="27" name="Rectangle 26"/>
          <p:cNvSpPr/>
          <p:nvPr/>
        </p:nvSpPr>
        <p:spPr>
          <a:xfrm>
            <a:off x="2743200" y="2889504"/>
            <a:ext cx="5420563" cy="16459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8" name="TextBox 27"/>
          <p:cNvSpPr txBox="1"/>
          <p:nvPr/>
        </p:nvSpPr>
        <p:spPr>
          <a:xfrm>
            <a:off x="9921240" y="2825496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39</a:t>
            </a:r>
          </a:p>
        </p:txBody>
      </p:sp>
      <p:sp>
        <p:nvSpPr>
          <p:cNvPr id="29" name="Rounded Rectangle 28"/>
          <p:cNvSpPr/>
          <p:nvPr/>
        </p:nvSpPr>
        <p:spPr>
          <a:xfrm>
            <a:off x="10515600" y="2798064"/>
            <a:ext cx="749808" cy="347472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TextBox 29"/>
          <p:cNvSpPr txBox="1"/>
          <p:nvPr/>
        </p:nvSpPr>
        <p:spPr>
          <a:xfrm>
            <a:off x="10515600" y="2862072"/>
            <a:ext cx="74980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A1628"/>
                </a:solidFill>
                <a:latin typeface="Calibri"/>
              </a:rPr>
              <a:t>Core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48640" y="3255264"/>
            <a:ext cx="347472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FB800"/>
                </a:solidFill>
                <a:latin typeface="Calibri"/>
              </a:rPr>
              <a:t>05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1051560" y="3236976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d-Matrix</a:t>
            </a:r>
          </a:p>
        </p:txBody>
      </p:sp>
      <p:sp>
        <p:nvSpPr>
          <p:cNvPr id="33" name="Rectangle 32"/>
          <p:cNvSpPr/>
          <p:nvPr/>
        </p:nvSpPr>
        <p:spPr>
          <a:xfrm>
            <a:off x="2743200" y="3291840"/>
            <a:ext cx="5281574" cy="16459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4" name="TextBox 33"/>
          <p:cNvSpPr txBox="1"/>
          <p:nvPr/>
        </p:nvSpPr>
        <p:spPr>
          <a:xfrm>
            <a:off x="9921240" y="3227832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38</a:t>
            </a:r>
          </a:p>
        </p:txBody>
      </p:sp>
      <p:sp>
        <p:nvSpPr>
          <p:cNvPr id="35" name="Rounded Rectangle 34"/>
          <p:cNvSpPr/>
          <p:nvPr/>
        </p:nvSpPr>
        <p:spPr>
          <a:xfrm>
            <a:off x="10515600" y="3200400"/>
            <a:ext cx="749808" cy="347472"/>
          </a:xfrm>
          <a:prstGeom prst="roundRect">
            <a:avLst>
              <a:gd name="adj" fmla="val 50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6" name="TextBox 35"/>
          <p:cNvSpPr txBox="1"/>
          <p:nvPr/>
        </p:nvSpPr>
        <p:spPr>
          <a:xfrm>
            <a:off x="10515600" y="3264408"/>
            <a:ext cx="74980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A1628"/>
                </a:solidFill>
                <a:latin typeface="Calibri"/>
              </a:rPr>
              <a:t>Growth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3657600"/>
            <a:ext cx="347472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FB800"/>
                </a:solidFill>
                <a:latin typeface="Calibri"/>
              </a:rPr>
              <a:t>06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051560" y="3639312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Axelera AI</a:t>
            </a:r>
          </a:p>
        </p:txBody>
      </p:sp>
      <p:sp>
        <p:nvSpPr>
          <p:cNvPr id="39" name="Rectangle 38"/>
          <p:cNvSpPr/>
          <p:nvPr/>
        </p:nvSpPr>
        <p:spPr>
          <a:xfrm>
            <a:off x="2743200" y="3694176"/>
            <a:ext cx="4864607" cy="16459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0" name="TextBox 39"/>
          <p:cNvSpPr txBox="1"/>
          <p:nvPr/>
        </p:nvSpPr>
        <p:spPr>
          <a:xfrm>
            <a:off x="9921240" y="3630168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35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10515600" y="3602736"/>
            <a:ext cx="749808" cy="347472"/>
          </a:xfrm>
          <a:prstGeom prst="roundRect">
            <a:avLst>
              <a:gd name="adj" fmla="val 50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2" name="TextBox 41"/>
          <p:cNvSpPr txBox="1"/>
          <p:nvPr/>
        </p:nvSpPr>
        <p:spPr>
          <a:xfrm>
            <a:off x="10515600" y="3666744"/>
            <a:ext cx="74980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A1628"/>
                </a:solidFill>
                <a:latin typeface="Calibri"/>
              </a:rPr>
              <a:t>Growth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548640" y="4059936"/>
            <a:ext cx="347472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FFB800"/>
                </a:solidFill>
                <a:latin typeface="Calibri"/>
              </a:rPr>
              <a:t>07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1051560" y="4041648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NextSilicon</a:t>
            </a:r>
          </a:p>
        </p:txBody>
      </p:sp>
      <p:sp>
        <p:nvSpPr>
          <p:cNvPr id="45" name="Rectangle 44"/>
          <p:cNvSpPr/>
          <p:nvPr/>
        </p:nvSpPr>
        <p:spPr>
          <a:xfrm>
            <a:off x="2743200" y="4096512"/>
            <a:ext cx="4864607" cy="16459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6" name="TextBox 45"/>
          <p:cNvSpPr txBox="1"/>
          <p:nvPr/>
        </p:nvSpPr>
        <p:spPr>
          <a:xfrm>
            <a:off x="9921240" y="4032504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35</a:t>
            </a:r>
          </a:p>
        </p:txBody>
      </p:sp>
      <p:sp>
        <p:nvSpPr>
          <p:cNvPr id="47" name="Rounded Rectangle 46"/>
          <p:cNvSpPr/>
          <p:nvPr/>
        </p:nvSpPr>
        <p:spPr>
          <a:xfrm>
            <a:off x="10515600" y="4005072"/>
            <a:ext cx="749808" cy="347472"/>
          </a:xfrm>
          <a:prstGeom prst="roundRect">
            <a:avLst>
              <a:gd name="adj" fmla="val 50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8" name="TextBox 47"/>
          <p:cNvSpPr txBox="1"/>
          <p:nvPr/>
        </p:nvSpPr>
        <p:spPr>
          <a:xfrm>
            <a:off x="10515600" y="4069080"/>
            <a:ext cx="74980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A1628"/>
                </a:solidFill>
                <a:latin typeface="Calibri"/>
              </a:rPr>
              <a:t>Option</a:t>
            </a:r>
          </a:p>
        </p:txBody>
      </p:sp>
      <p:sp>
        <p:nvSpPr>
          <p:cNvPr id="49" name="TextBox 48"/>
          <p:cNvSpPr txBox="1"/>
          <p:nvPr/>
        </p:nvSpPr>
        <p:spPr>
          <a:xfrm>
            <a:off x="548640" y="4462272"/>
            <a:ext cx="347472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E05A6B"/>
                </a:solidFill>
                <a:latin typeface="Calibri"/>
              </a:rPr>
              <a:t>08</a:t>
            </a:r>
          </a:p>
        </p:txBody>
      </p:sp>
      <p:sp>
        <p:nvSpPr>
          <p:cNvPr id="50" name="TextBox 49"/>
          <p:cNvSpPr txBox="1"/>
          <p:nvPr/>
        </p:nvSpPr>
        <p:spPr>
          <a:xfrm>
            <a:off x="1051560" y="4443984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Etched</a:t>
            </a:r>
          </a:p>
        </p:txBody>
      </p:sp>
      <p:sp>
        <p:nvSpPr>
          <p:cNvPr id="51" name="Rectangle 50"/>
          <p:cNvSpPr/>
          <p:nvPr/>
        </p:nvSpPr>
        <p:spPr>
          <a:xfrm>
            <a:off x="2743200" y="4498848"/>
            <a:ext cx="4308652" cy="164592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2" name="TextBox 51"/>
          <p:cNvSpPr txBox="1"/>
          <p:nvPr/>
        </p:nvSpPr>
        <p:spPr>
          <a:xfrm>
            <a:off x="9921240" y="4434840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31</a:t>
            </a:r>
          </a:p>
        </p:txBody>
      </p:sp>
      <p:sp>
        <p:nvSpPr>
          <p:cNvPr id="53" name="Rounded Rectangle 52"/>
          <p:cNvSpPr/>
          <p:nvPr/>
        </p:nvSpPr>
        <p:spPr>
          <a:xfrm>
            <a:off x="10515600" y="4407408"/>
            <a:ext cx="749808" cy="347472"/>
          </a:xfrm>
          <a:prstGeom prst="roundRect">
            <a:avLst>
              <a:gd name="adj" fmla="val 50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4" name="TextBox 53"/>
          <p:cNvSpPr txBox="1"/>
          <p:nvPr/>
        </p:nvSpPr>
        <p:spPr>
          <a:xfrm>
            <a:off x="10515600" y="4471416"/>
            <a:ext cx="74980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Moonshot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548640" y="4864608"/>
            <a:ext cx="347472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E05A6B"/>
                </a:solidFill>
                <a:latin typeface="Calibri"/>
              </a:rPr>
              <a:t>09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1051560" y="4846320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MatX</a:t>
            </a:r>
          </a:p>
        </p:txBody>
      </p:sp>
      <p:sp>
        <p:nvSpPr>
          <p:cNvPr id="57" name="Rectangle 56"/>
          <p:cNvSpPr/>
          <p:nvPr/>
        </p:nvSpPr>
        <p:spPr>
          <a:xfrm>
            <a:off x="2743200" y="4901184"/>
            <a:ext cx="3891686" cy="164592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8" name="TextBox 57"/>
          <p:cNvSpPr txBox="1"/>
          <p:nvPr/>
        </p:nvSpPr>
        <p:spPr>
          <a:xfrm>
            <a:off x="9921240" y="4837176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28</a:t>
            </a:r>
          </a:p>
        </p:txBody>
      </p:sp>
      <p:sp>
        <p:nvSpPr>
          <p:cNvPr id="59" name="Rounded Rectangle 58"/>
          <p:cNvSpPr/>
          <p:nvPr/>
        </p:nvSpPr>
        <p:spPr>
          <a:xfrm>
            <a:off x="10515600" y="4809744"/>
            <a:ext cx="749808" cy="347472"/>
          </a:xfrm>
          <a:prstGeom prst="roundRect">
            <a:avLst>
              <a:gd name="adj" fmla="val 50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0" name="TextBox 59"/>
          <p:cNvSpPr txBox="1"/>
          <p:nvPr/>
        </p:nvSpPr>
        <p:spPr>
          <a:xfrm>
            <a:off x="10515600" y="4873752"/>
            <a:ext cx="74980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Moonshot</a:t>
            </a:r>
          </a:p>
        </p:txBody>
      </p:sp>
      <p:sp>
        <p:nvSpPr>
          <p:cNvPr id="61" name="TextBox 60"/>
          <p:cNvSpPr txBox="1"/>
          <p:nvPr/>
        </p:nvSpPr>
        <p:spPr>
          <a:xfrm>
            <a:off x="548640" y="5266944"/>
            <a:ext cx="347472" cy="2286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E05A6B"/>
                </a:solidFill>
                <a:latin typeface="Calibri"/>
              </a:rPr>
              <a:t>10</a:t>
            </a:r>
          </a:p>
        </p:txBody>
      </p:sp>
      <p:sp>
        <p:nvSpPr>
          <p:cNvPr id="62" name="TextBox 61"/>
          <p:cNvSpPr txBox="1"/>
          <p:nvPr/>
        </p:nvSpPr>
        <p:spPr>
          <a:xfrm>
            <a:off x="1051560" y="5248656"/>
            <a:ext cx="15087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Fractile</a:t>
            </a:r>
          </a:p>
        </p:txBody>
      </p:sp>
      <p:sp>
        <p:nvSpPr>
          <p:cNvPr id="63" name="Rectangle 62"/>
          <p:cNvSpPr/>
          <p:nvPr/>
        </p:nvSpPr>
        <p:spPr>
          <a:xfrm>
            <a:off x="2743200" y="5303520"/>
            <a:ext cx="3891686" cy="164592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4" name="TextBox 63"/>
          <p:cNvSpPr txBox="1"/>
          <p:nvPr/>
        </p:nvSpPr>
        <p:spPr>
          <a:xfrm>
            <a:off x="9921240" y="5239512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28</a:t>
            </a:r>
          </a:p>
        </p:txBody>
      </p:sp>
      <p:sp>
        <p:nvSpPr>
          <p:cNvPr id="65" name="Rounded Rectangle 64"/>
          <p:cNvSpPr/>
          <p:nvPr/>
        </p:nvSpPr>
        <p:spPr>
          <a:xfrm>
            <a:off x="10515600" y="5212080"/>
            <a:ext cx="749808" cy="347472"/>
          </a:xfrm>
          <a:prstGeom prst="roundRect">
            <a:avLst>
              <a:gd name="adj" fmla="val 50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6" name="TextBox 65"/>
          <p:cNvSpPr txBox="1"/>
          <p:nvPr/>
        </p:nvSpPr>
        <p:spPr>
          <a:xfrm>
            <a:off x="10515600" y="5276088"/>
            <a:ext cx="74980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Moonshot</a:t>
            </a:r>
          </a:p>
        </p:txBody>
      </p:sp>
      <p:sp>
        <p:nvSpPr>
          <p:cNvPr id="67" name="TextBox 66"/>
          <p:cNvSpPr txBox="1"/>
          <p:nvPr/>
        </p:nvSpPr>
        <p:spPr>
          <a:xfrm>
            <a:off x="548640" y="5715000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1">
                <a:solidFill>
                  <a:srgbClr val="5B6B7C"/>
                </a:solidFill>
                <a:latin typeface="Calibri"/>
              </a:rPr>
              <a:t>Dimensions: urgency, TAM adjacency, maturity, differentiation, proof, ecosystem, optionality, capital efficiency, timing, exits.</a:t>
            </a:r>
          </a:p>
        </p:txBody>
      </p:sp>
      <p:sp>
        <p:nvSpPr>
          <p:cNvPr id="68" name="TextBox 6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semiconductor startups · investor lens</a:t>
            </a:r>
          </a:p>
        </p:txBody>
      </p:sp>
      <p:sp>
        <p:nvSpPr>
          <p:cNvPr id="69" name="TextBox 6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4 / 12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Core exposure should monetize multiple accelerator winners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48640" y="1371600"/>
            <a:ext cx="2057400" cy="786384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685800" y="1572768"/>
            <a:ext cx="178308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LIGHTMATTER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88920" y="1536192"/>
            <a:ext cx="24231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Optical interconnect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532120" y="1536192"/>
            <a:ext cx="205740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Bandwidth scarcity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001000" y="1536192"/>
            <a:ext cx="324612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Strategic fit across compute stacks</a:t>
            </a:r>
          </a:p>
        </p:txBody>
      </p:sp>
      <p:sp>
        <p:nvSpPr>
          <p:cNvPr id="11" name="Rectangle 10"/>
          <p:cNvSpPr/>
          <p:nvPr/>
        </p:nvSpPr>
        <p:spPr>
          <a:xfrm>
            <a:off x="548640" y="2423160"/>
            <a:ext cx="2057400" cy="786384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85800" y="2624328"/>
            <a:ext cx="178308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XSIGHT LABS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587752"/>
            <a:ext cx="24231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Programmable Ethernet + DPU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532120" y="2587752"/>
            <a:ext cx="205740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Network throughput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001000" y="2587752"/>
            <a:ext cx="324612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Open, standard deployment surface</a:t>
            </a:r>
          </a:p>
        </p:txBody>
      </p:sp>
      <p:sp>
        <p:nvSpPr>
          <p:cNvPr id="16" name="Rectangle 15"/>
          <p:cNvSpPr/>
          <p:nvPr/>
        </p:nvSpPr>
        <p:spPr>
          <a:xfrm>
            <a:off x="548640" y="3474720"/>
            <a:ext cx="2057400" cy="786384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85800" y="3675888"/>
            <a:ext cx="178308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CORNELIS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788920" y="3639312"/>
            <a:ext cx="24231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Lossless scale-out fabric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532120" y="3639312"/>
            <a:ext cx="205740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Cluster utilization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8001000" y="3639312"/>
            <a:ext cx="324612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Named HPC/AI deployment signals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48640" y="4526280"/>
            <a:ext cx="2057400" cy="786384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4727448"/>
            <a:ext cx="1783080" cy="32004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TENSTORRENT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788920" y="4690872"/>
            <a:ext cx="242316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Open compute + licensable IP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532120" y="4690872"/>
            <a:ext cx="205740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00C9A7"/>
                </a:solidFill>
                <a:latin typeface="Calibri"/>
              </a:rPr>
              <a:t>Lock-in + customization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001000" y="4690872"/>
            <a:ext cx="3246120" cy="43891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0" i="0">
                <a:solidFill>
                  <a:srgbClr val="1B2B3C"/>
                </a:solidFill>
                <a:latin typeface="Calibri"/>
              </a:rPr>
              <a:t>Multiple monetization paths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48640" y="5650992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C9A7"/>
                </a:solidFill>
                <a:latin typeface="Calibri"/>
              </a:rPr>
              <a:t>PORTFOLIO ROLE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828800" y="5596128"/>
            <a:ext cx="2011680" cy="3657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700" b="1" i="0">
                <a:solidFill>
                  <a:srgbClr val="0A1628"/>
                </a:solidFill>
                <a:latin typeface="Calibri"/>
              </a:rPr>
              <a:t>Anchor positions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3977639" y="5614416"/>
            <a:ext cx="7040880" cy="329184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0" i="0">
                <a:solidFill>
                  <a:srgbClr val="5B6B7C"/>
                </a:solidFill>
                <a:latin typeface="Calibri"/>
              </a:rPr>
              <a:t>Revenue paths survive a fragmented accelerator market.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semiconductor startups · investor lens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5 / 12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548640"/>
            <a:ext cx="11094415" cy="9144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FFFFFF"/>
                </a:solidFill>
                <a:latin typeface="Calibri"/>
              </a:rPr>
              <a:t>Capital must climb four proof gates before it earns conviction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548640" y="1600200"/>
            <a:ext cx="2286000" cy="2377440"/>
          </a:xfrm>
          <a:prstGeom prst="roundRect">
            <a:avLst>
              <a:gd name="adj" fmla="val 4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731520" y="178308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01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2350008"/>
            <a:ext cx="1874519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ARCHITECTURE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926080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E0F7F1"/>
                </a:solidFill>
                <a:latin typeface="Calibri"/>
              </a:rPr>
              <a:t>Plausible advantage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319272" y="2011680"/>
            <a:ext cx="2286000" cy="2377440"/>
          </a:xfrm>
          <a:prstGeom prst="roundRect">
            <a:avLst>
              <a:gd name="adj" fmla="val 4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502152" y="219456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02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502152" y="2761488"/>
            <a:ext cx="1874519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SILICON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547872" y="3337560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E0F7F1"/>
                </a:solidFill>
                <a:latin typeface="Calibri"/>
              </a:rPr>
              <a:t>Working chip + yield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089904" y="2423160"/>
            <a:ext cx="2286000" cy="2377440"/>
          </a:xfrm>
          <a:prstGeom prst="roundRect">
            <a:avLst>
              <a:gd name="adj" fmla="val 4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272784" y="260604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03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272784" y="3172968"/>
            <a:ext cx="1874519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CUSTOMER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6318504" y="3749040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E0F7F1"/>
                </a:solidFill>
                <a:latin typeface="Calibri"/>
              </a:rPr>
              <a:t>Reproducible workload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8860536" y="2834640"/>
            <a:ext cx="2286000" cy="2377440"/>
          </a:xfrm>
          <a:prstGeom prst="roundRect">
            <a:avLst>
              <a:gd name="adj" fmla="val 4000"/>
            </a:avLst>
          </a:prstGeom>
          <a:solidFill>
            <a:srgbClr val="12243A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9043416" y="3017520"/>
            <a:ext cx="457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04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9043416" y="3584448"/>
            <a:ext cx="1874519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SYSTEM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9089136" y="4160520"/>
            <a:ext cx="182880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E0F7F1"/>
                </a:solidFill>
                <a:latin typeface="Calibri"/>
              </a:rPr>
              <a:t>Repeatable deployment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48640" y="5257800"/>
            <a:ext cx="11094415" cy="45720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FFB800"/>
                </a:solidFill>
                <a:latin typeface="Calibri"/>
              </a:rPr>
              <a:t>Funding is not a fifth gate.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AI semiconductor startups · investor lens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6 / 12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d-Matrix and Axelera become investable through execution—not architecture alone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481328"/>
            <a:ext cx="507492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500" b="1" i="0">
                <a:solidFill>
                  <a:srgbClr val="0A1628"/>
                </a:solidFill>
                <a:latin typeface="Calibri"/>
              </a:rPr>
              <a:t>d-Matrix</a:t>
            </a:r>
          </a:p>
        </p:txBody>
      </p:sp>
      <p:sp>
        <p:nvSpPr>
          <p:cNvPr id="7" name="Rectangle 6"/>
          <p:cNvSpPr/>
          <p:nvPr/>
        </p:nvSpPr>
        <p:spPr>
          <a:xfrm>
            <a:off x="548640" y="2121408"/>
            <a:ext cx="5074920" cy="73152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548640" y="2514600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C9A7"/>
                </a:solidFill>
                <a:latin typeface="Calibri"/>
              </a:rPr>
              <a:t>THESIS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874520" y="2487168"/>
            <a:ext cx="356616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Rack-scale inference integration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3474720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00C9A7"/>
                </a:solidFill>
                <a:latin typeface="Calibri"/>
              </a:rPr>
              <a:t>PROOF TO BUY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874520" y="3447288"/>
            <a:ext cx="356616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Production claims + GigaIO assets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48640" y="4434840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E05A6B"/>
                </a:solidFill>
                <a:latin typeface="Calibri"/>
              </a:rPr>
              <a:t>RISK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874520" y="4407408"/>
            <a:ext cx="356616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System complexity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80760" y="1481328"/>
            <a:ext cx="5074920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500" b="1" i="0">
                <a:solidFill>
                  <a:srgbClr val="0A1628"/>
                </a:solidFill>
                <a:latin typeface="Calibri"/>
              </a:rPr>
              <a:t>Axelera AI</a:t>
            </a:r>
          </a:p>
        </p:txBody>
      </p:sp>
      <p:sp>
        <p:nvSpPr>
          <p:cNvPr id="15" name="Rectangle 14"/>
          <p:cNvSpPr/>
          <p:nvPr/>
        </p:nvSpPr>
        <p:spPr>
          <a:xfrm>
            <a:off x="6080760" y="2121408"/>
            <a:ext cx="5074920" cy="73152"/>
          </a:xfrm>
          <a:prstGeom prst="rect">
            <a:avLst/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080760" y="2514600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B800"/>
                </a:solidFill>
                <a:latin typeface="Calibri"/>
              </a:rPr>
              <a:t>THESIS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406640" y="2487168"/>
            <a:ext cx="356616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Edge inference economics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080760" y="3474720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B800"/>
                </a:solidFill>
                <a:latin typeface="Calibri"/>
              </a:rPr>
              <a:t>PROOF TO BUY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406640" y="3447288"/>
            <a:ext cx="356616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Metis products + 2026 financing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080760" y="4434840"/>
            <a:ext cx="11430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E05A6B"/>
                </a:solidFill>
                <a:latin typeface="Calibri"/>
              </a:rPr>
              <a:t>RISK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406640" y="4407408"/>
            <a:ext cx="3566160" cy="5029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500" b="1" i="0">
                <a:solidFill>
                  <a:srgbClr val="0A1628"/>
                </a:solidFill>
                <a:latin typeface="Calibri"/>
              </a:rPr>
              <a:t>Workload-dependent vendor claims</a:t>
            </a:r>
          </a:p>
        </p:txBody>
      </p:sp>
      <p:sp>
        <p:nvSpPr>
          <p:cNvPr id="22" name="Rectangle 21"/>
          <p:cNvSpPr/>
          <p:nvPr/>
        </p:nvSpPr>
        <p:spPr>
          <a:xfrm>
            <a:off x="548640" y="5504688"/>
            <a:ext cx="11094415" cy="530352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731520" y="5641848"/>
            <a:ext cx="10728655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Advance only when customer economics reproduce at rack level.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semiconductor startups · investor lens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7 / 12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Specialist compute is a call option on workload stability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481328"/>
            <a:ext cx="3401568" cy="361188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49808" y="1755648"/>
            <a:ext cx="29718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ETCHED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1600200" y="2304288"/>
            <a:ext cx="1298448" cy="347472"/>
          </a:xfrm>
          <a:prstGeom prst="roundRect">
            <a:avLst>
              <a:gd name="adj" fmla="val 50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1600200" y="2368296"/>
            <a:ext cx="129844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MOONSHOT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49808" y="2852928"/>
            <a:ext cx="749808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BET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536192" y="283464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Transformer-only ASIC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9808" y="3511296"/>
            <a:ext cx="749808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UPSIDE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536192" y="3493008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Highest specialization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49808" y="4169664"/>
            <a:ext cx="749808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E05A6B"/>
                </a:solidFill>
                <a:latin typeface="Calibri"/>
              </a:rPr>
              <a:t>BREAKS IF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536192" y="4151376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Model architecture drift</a:t>
            </a:r>
          </a:p>
        </p:txBody>
      </p:sp>
      <p:sp>
        <p:nvSpPr>
          <p:cNvPr id="16" name="Rounded Rectangle 15"/>
          <p:cNvSpPr/>
          <p:nvPr/>
        </p:nvSpPr>
        <p:spPr>
          <a:xfrm>
            <a:off x="4251960" y="1481328"/>
            <a:ext cx="3401568" cy="361188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4453128" y="1755648"/>
            <a:ext cx="29718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MATX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5303520" y="2304288"/>
            <a:ext cx="1298448" cy="347472"/>
          </a:xfrm>
          <a:prstGeom prst="roundRect">
            <a:avLst>
              <a:gd name="adj" fmla="val 50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9" name="TextBox 18"/>
          <p:cNvSpPr txBox="1"/>
          <p:nvPr/>
        </p:nvSpPr>
        <p:spPr>
          <a:xfrm>
            <a:off x="5303520" y="2368296"/>
            <a:ext cx="129844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MOONSHOT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453128" y="2852928"/>
            <a:ext cx="749808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BET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239512" y="283464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Large-model processor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4453128" y="3511296"/>
            <a:ext cx="749808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UPSIDE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5239512" y="3493008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Frontier throughput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53128" y="4169664"/>
            <a:ext cx="749808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E05A6B"/>
                </a:solidFill>
                <a:latin typeface="Calibri"/>
              </a:rPr>
              <a:t>BREAKS IF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239512" y="4151376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2027 shipping + limited proof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7955280" y="1481328"/>
            <a:ext cx="3401568" cy="3611880"/>
          </a:xfrm>
          <a:prstGeom prst="roundRect">
            <a:avLst>
              <a:gd name="adj" fmla="val 3000"/>
            </a:avLst>
          </a:prstGeom>
          <a:solidFill>
            <a:srgbClr val="F4F7F8"/>
          </a:solidFill>
          <a:ln w="12700">
            <a:solidFill>
              <a:srgbClr val="D9DFE5"/>
            </a:solidFill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8156448" y="1755648"/>
            <a:ext cx="2971800" cy="4114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0A1628"/>
                </a:solidFill>
                <a:latin typeface="Calibri"/>
              </a:rPr>
              <a:t>FRACTILE</a:t>
            </a:r>
          </a:p>
        </p:txBody>
      </p:sp>
      <p:sp>
        <p:nvSpPr>
          <p:cNvPr id="28" name="Rounded Rectangle 27"/>
          <p:cNvSpPr/>
          <p:nvPr/>
        </p:nvSpPr>
        <p:spPr>
          <a:xfrm>
            <a:off x="9006840" y="2304288"/>
            <a:ext cx="1298448" cy="347472"/>
          </a:xfrm>
          <a:prstGeom prst="roundRect">
            <a:avLst>
              <a:gd name="adj" fmla="val 50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006840" y="2368296"/>
            <a:ext cx="1298448" cy="20116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FFFFFF"/>
                </a:solidFill>
                <a:latin typeface="Calibri"/>
              </a:rPr>
              <a:t>MOONSHOT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8156448" y="2852928"/>
            <a:ext cx="749808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BET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8942832" y="2834640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In-memory inference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8156448" y="3511296"/>
            <a:ext cx="749808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00C9A7"/>
                </a:solidFill>
                <a:latin typeface="Calibri"/>
              </a:rPr>
              <a:t>UPSIDE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8942832" y="3493008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Memory bottleneck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8156448" y="4169664"/>
            <a:ext cx="749808" cy="25603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1" i="0">
                <a:solidFill>
                  <a:srgbClr val="E05A6B"/>
                </a:solidFill>
                <a:latin typeface="Calibri"/>
              </a:rPr>
              <a:t>BREAKS IF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8942832" y="4151376"/>
            <a:ext cx="2148840" cy="36576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A1628"/>
                </a:solidFill>
                <a:latin typeface="Calibri"/>
              </a:rPr>
              <a:t>Hardware availability + benchmarks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548640" y="5715000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1">
                <a:solidFill>
                  <a:srgbClr val="5B6B7C"/>
                </a:solidFill>
                <a:latin typeface="Calibri"/>
              </a:rPr>
              <a:t>Underwrite as staged options with technical milestones—not as scaled platform companies.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semiconductor startups · investor lens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8 / 12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548640" y="658368"/>
            <a:ext cx="11094415" cy="64008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200" b="1" i="0">
                <a:solidFill>
                  <a:srgbClr val="FFFFFF"/>
                </a:solidFill>
                <a:latin typeface="Calibri"/>
              </a:rPr>
              <a:t>Roadmap duration is hidden dilution</a:t>
            </a:r>
          </a:p>
        </p:txBody>
      </p:sp>
      <p:sp>
        <p:nvSpPr>
          <p:cNvPr id="4" name="Rectangle 3"/>
          <p:cNvSpPr/>
          <p:nvPr/>
        </p:nvSpPr>
        <p:spPr>
          <a:xfrm>
            <a:off x="1005840" y="3246120"/>
            <a:ext cx="10104120" cy="73152"/>
          </a:xfrm>
          <a:prstGeom prst="rect">
            <a:avLst/>
          </a:prstGeom>
          <a:solidFill>
            <a:srgbClr val="5B6B7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ounded Rectangle 4"/>
          <p:cNvSpPr/>
          <p:nvPr/>
        </p:nvSpPr>
        <p:spPr>
          <a:xfrm>
            <a:off x="1005840" y="3035808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94360" y="2057400"/>
            <a:ext cx="128016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00C9A7"/>
                </a:solidFill>
                <a:latin typeface="Calibri"/>
              </a:rPr>
              <a:t>NOW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74320" y="3703320"/>
            <a:ext cx="1920240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Products / deployments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3794760" y="3035808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FFB8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9" name="TextBox 8"/>
          <p:cNvSpPr txBox="1"/>
          <p:nvPr/>
        </p:nvSpPr>
        <p:spPr>
          <a:xfrm>
            <a:off x="3383280" y="2057400"/>
            <a:ext cx="128016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FFB800"/>
                </a:solidFill>
                <a:latin typeface="Calibri"/>
              </a:rPr>
              <a:t>LATE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063240" y="3703320"/>
            <a:ext cx="1920240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Lightmatter sampling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629400" y="3035808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217920" y="2057400"/>
            <a:ext cx="128016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2027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897880" y="3703320"/>
            <a:ext cx="1920240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MatX target</a:t>
            </a:r>
          </a:p>
        </p:txBody>
      </p:sp>
      <p:sp>
        <p:nvSpPr>
          <p:cNvPr id="14" name="Rounded Rectangle 13"/>
          <p:cNvSpPr/>
          <p:nvPr/>
        </p:nvSpPr>
        <p:spPr>
          <a:xfrm>
            <a:off x="9144000" y="3035808"/>
            <a:ext cx="475488" cy="475488"/>
          </a:xfrm>
          <a:prstGeom prst="roundRect">
            <a:avLst>
              <a:gd name="adj" fmla="val 50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8732520" y="2057400"/>
            <a:ext cx="1280160" cy="347472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200" b="1" i="0">
                <a:solidFill>
                  <a:srgbClr val="E05A6B"/>
                </a:solidFill>
                <a:latin typeface="Calibri"/>
              </a:rPr>
              <a:t>Q1 2028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412480" y="3703320"/>
            <a:ext cx="1920240" cy="566928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NextSilicon Arbel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48640" y="4937760"/>
            <a:ext cx="11094415" cy="5029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2000" b="1" i="0">
                <a:solidFill>
                  <a:srgbClr val="E0F7F1"/>
                </a:solidFill>
                <a:latin typeface="Calibri"/>
              </a:rPr>
              <a:t>Every slip consumes runway while incumbents ship another generation.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AI semiconductor startups · investor lens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9 / 12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A barbell captures infrastructure compounding and specialist convexity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ounded Rectangle 5"/>
          <p:cNvSpPr/>
          <p:nvPr/>
        </p:nvSpPr>
        <p:spPr>
          <a:xfrm>
            <a:off x="548640" y="1508760"/>
            <a:ext cx="6720840" cy="3383280"/>
          </a:xfrm>
          <a:prstGeom prst="roundRect">
            <a:avLst>
              <a:gd name="adj" fmla="val 3000"/>
            </a:avLst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868680" y="1828800"/>
            <a:ext cx="18288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800" b="1" i="0">
                <a:solidFill>
                  <a:srgbClr val="00C9A7"/>
                </a:solidFill>
                <a:latin typeface="Calibri"/>
              </a:rPr>
              <a:t>70%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" y="2788920"/>
            <a:ext cx="27432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CORE + EXECUTION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68680" y="3355848"/>
            <a:ext cx="5989320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E0F7F1"/>
                </a:solidFill>
                <a:latin typeface="Calibri"/>
              </a:rPr>
              <a:t>Lightmatter · Xsight · Cornelis · Tenstorrent · d-Matrix · Axelera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7543800" y="1508760"/>
            <a:ext cx="4096512" cy="3383280"/>
          </a:xfrm>
          <a:prstGeom prst="roundRect">
            <a:avLst>
              <a:gd name="adj" fmla="val 3000"/>
            </a:avLst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7863840" y="1828800"/>
            <a:ext cx="1828800" cy="82296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800" b="1" i="0">
                <a:solidFill>
                  <a:srgbClr val="FFFFFF"/>
                </a:solidFill>
                <a:latin typeface="Calibri"/>
              </a:rPr>
              <a:t>30%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863840" y="2788920"/>
            <a:ext cx="1828800" cy="32004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FFFFFF"/>
                </a:solidFill>
                <a:latin typeface="Calibri"/>
              </a:rPr>
              <a:t>OPTIONS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863840" y="3355848"/>
            <a:ext cx="3246120" cy="73152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800" b="1" i="0">
                <a:solidFill>
                  <a:srgbClr val="FFFFFF"/>
                </a:solidFill>
                <a:latin typeface="Calibri"/>
              </a:rPr>
              <a:t>NextSilicon · Etched · MatX · Fractile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48640" y="5715000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1">
                <a:solidFill>
                  <a:srgbClr val="5B6B7C"/>
                </a:solidFill>
                <a:latin typeface="Calibri"/>
              </a:rPr>
              <a:t>Illustrative construction, not a recommendation; size positions by stage, valuation, ownership, and follow-on reserves.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semiconductor startups · investor lens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10 / 12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FFFFF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2191695" cy="146304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384048"/>
            <a:ext cx="11094415" cy="603504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3000" b="1" i="0">
                <a:solidFill>
                  <a:srgbClr val="0A1628"/>
                </a:solidFill>
                <a:latin typeface="Calibri"/>
              </a:rPr>
              <a:t>Six kill criteria prevent conviction from becoming narrative lock-in</a:t>
            </a:r>
          </a:p>
        </p:txBody>
      </p:sp>
      <p:sp>
        <p:nvSpPr>
          <p:cNvPr id="5" name="Rectangle 4"/>
          <p:cNvSpPr/>
          <p:nvPr/>
        </p:nvSpPr>
        <p:spPr>
          <a:xfrm>
            <a:off x="548640" y="1024128"/>
            <a:ext cx="1325880" cy="4572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48640" y="1371600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E05A6B"/>
                </a:solidFill>
                <a:latin typeface="Calibri"/>
              </a:rPr>
              <a:t>01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115568" y="1344168"/>
            <a:ext cx="11430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BENCHMARK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377440" y="1344168"/>
            <a:ext cx="3246120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1B2B3C"/>
                </a:solidFill>
                <a:latin typeface="Calibri"/>
              </a:rPr>
              <a:t>Fails comparable precision, batch, latency, or power</a:t>
            </a:r>
          </a:p>
        </p:txBody>
      </p:sp>
      <p:sp>
        <p:nvSpPr>
          <p:cNvPr id="9" name="Rectangle 8"/>
          <p:cNvSpPr/>
          <p:nvPr/>
        </p:nvSpPr>
        <p:spPr>
          <a:xfrm>
            <a:off x="548640" y="2029968"/>
            <a:ext cx="5074920" cy="12700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080760" y="1371600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E05A6B"/>
                </a:solidFill>
                <a:latin typeface="Calibri"/>
              </a:rPr>
              <a:t>02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647688" y="1344168"/>
            <a:ext cx="11430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SOFTWARE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909560" y="1344168"/>
            <a:ext cx="3246120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1B2B3C"/>
                </a:solidFill>
                <a:latin typeface="Calibri"/>
              </a:rPr>
              <a:t>Migration friction erases silicon advantage</a:t>
            </a:r>
          </a:p>
        </p:txBody>
      </p:sp>
      <p:sp>
        <p:nvSpPr>
          <p:cNvPr id="13" name="Rectangle 12"/>
          <p:cNvSpPr/>
          <p:nvPr/>
        </p:nvSpPr>
        <p:spPr>
          <a:xfrm>
            <a:off x="6080760" y="2029968"/>
            <a:ext cx="5074920" cy="12700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548640" y="2670048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E05A6B"/>
                </a:solidFill>
                <a:latin typeface="Calibri"/>
              </a:rPr>
              <a:t>03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1115568" y="2642616"/>
            <a:ext cx="11430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SUPPLY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377440" y="2642616"/>
            <a:ext cx="3246120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1B2B3C"/>
                </a:solidFill>
                <a:latin typeface="Calibri"/>
              </a:rPr>
              <a:t>Yield or packaging blocks repeatable delivery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48640" y="3328416"/>
            <a:ext cx="5074920" cy="12700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080760" y="2670048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E05A6B"/>
                </a:solidFill>
                <a:latin typeface="Calibri"/>
              </a:rPr>
              <a:t>04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647688" y="2642616"/>
            <a:ext cx="11430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CUSTOMER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909560" y="2642616"/>
            <a:ext cx="3246120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1B2B3C"/>
                </a:solidFill>
                <a:latin typeface="Calibri"/>
              </a:rPr>
              <a:t>Design wins do not convert to production revenue</a:t>
            </a:r>
          </a:p>
        </p:txBody>
      </p:sp>
      <p:sp>
        <p:nvSpPr>
          <p:cNvPr id="21" name="Rectangle 20"/>
          <p:cNvSpPr/>
          <p:nvPr/>
        </p:nvSpPr>
        <p:spPr>
          <a:xfrm>
            <a:off x="6080760" y="3328416"/>
            <a:ext cx="5074920" cy="12700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548640" y="3968496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E05A6B"/>
                </a:solidFill>
                <a:latin typeface="Calibri"/>
              </a:rPr>
              <a:t>05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115568" y="3941064"/>
            <a:ext cx="11430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TIMING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2377440" y="3941064"/>
            <a:ext cx="3246120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1B2B3C"/>
                </a:solidFill>
                <a:latin typeface="Calibri"/>
              </a:rPr>
              <a:t>Roadmap slips beyond buyer deployment windows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548640" y="4626864"/>
            <a:ext cx="5074920" cy="12700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6080760" y="3968496"/>
            <a:ext cx="4114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E05A6B"/>
                </a:solidFill>
                <a:latin typeface="Calibri"/>
              </a:rPr>
              <a:t>06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6647688" y="3941064"/>
            <a:ext cx="1143000" cy="310896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300" b="1" i="0">
                <a:solidFill>
                  <a:srgbClr val="0A1628"/>
                </a:solidFill>
                <a:latin typeface="Calibri"/>
              </a:rPr>
              <a:t>DRIFT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09560" y="3941064"/>
            <a:ext cx="3246120" cy="530352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1B2B3C"/>
                </a:solidFill>
                <a:latin typeface="Calibri"/>
              </a:rPr>
              <a:t>Model architecture invalidates specialization</a:t>
            </a:r>
          </a:p>
        </p:txBody>
      </p:sp>
      <p:sp>
        <p:nvSpPr>
          <p:cNvPr id="29" name="Rectangle 28"/>
          <p:cNvSpPr/>
          <p:nvPr/>
        </p:nvSpPr>
        <p:spPr>
          <a:xfrm>
            <a:off x="6080760" y="4626864"/>
            <a:ext cx="5074920" cy="12700"/>
          </a:xfrm>
          <a:prstGeom prst="rect">
            <a:avLst/>
          </a:prstGeom>
          <a:solidFill>
            <a:srgbClr val="D9DFE5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48640" y="5440680"/>
            <a:ext cx="11094415" cy="566928"/>
          </a:xfrm>
          <a:prstGeom prst="rect">
            <a:avLst/>
          </a:prstGeom>
          <a:solidFill>
            <a:srgbClr val="E05A6B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31520" y="5586984"/>
            <a:ext cx="10728655" cy="292608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ctr">
              <a:lnSpc>
                <a:spcPct val="105000"/>
              </a:lnSpc>
              <a:spcBef>
                <a:spcPts val="0"/>
              </a:spcBef>
            </a:pPr>
            <a:r>
              <a:rPr sz="1400" b="1" i="0">
                <a:solidFill>
                  <a:srgbClr val="FFFFFF"/>
                </a:solidFill>
                <a:latin typeface="Calibri"/>
              </a:rPr>
              <a:t>If a company fails two gates, stop funding the story and reprice the option.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5B6B7C"/>
                </a:solidFill>
                <a:latin typeface="Calibri"/>
              </a:rPr>
              <a:t>AI semiconductor startups · investor lens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5B6B7C"/>
                </a:solidFill>
                <a:latin typeface="Calibri"/>
              </a:rPr>
              <a:t>11 / 12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solidFill>
            <a:srgbClr val="0A162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Rectangle 2"/>
          <p:cNvSpPr/>
          <p:nvPr/>
        </p:nvSpPr>
        <p:spPr>
          <a:xfrm>
            <a:off x="0" y="0"/>
            <a:ext cx="146304" cy="6858000"/>
          </a:xfrm>
          <a:prstGeom prst="rect">
            <a:avLst/>
          </a:prstGeom>
          <a:solidFill>
            <a:srgbClr val="00C9A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548640" y="1143000"/>
            <a:ext cx="8686800" cy="160020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4800" b="1" i="0">
                <a:solidFill>
                  <a:srgbClr val="FFFFFF"/>
                </a:solidFill>
                <a:latin typeface="Calibri"/>
              </a:rPr>
              <a:t>Back the toll roads.
Option the rockets.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48640" y="3337560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00C9A7"/>
                </a:solidFill>
                <a:latin typeface="Calibri"/>
              </a:rPr>
              <a:t>Core thesis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011680" y="3246120"/>
            <a:ext cx="859536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E0F7F1"/>
                </a:solidFill>
                <a:latin typeface="Calibri"/>
              </a:rPr>
              <a:t>Interconnect, open IP, and rack infrastructure compound across winners.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48640" y="4315968"/>
            <a:ext cx="128016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100" b="1" i="0">
                <a:solidFill>
                  <a:srgbClr val="E05A6B"/>
                </a:solidFill>
                <a:latin typeface="Calibri"/>
              </a:rPr>
              <a:t>Discipline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011680" y="4224528"/>
            <a:ext cx="8595360" cy="640080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2200" b="1" i="0">
                <a:solidFill>
                  <a:srgbClr val="FFFFFF"/>
                </a:solidFill>
                <a:latin typeface="Calibri"/>
              </a:rPr>
              <a:t>Specialist compute earns follow-on capital only by clearing proof gates.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48640" y="5797296"/>
            <a:ext cx="11094415" cy="310896"/>
          </a:xfrm>
          <a:prstGeom prst="rect">
            <a:avLst/>
          </a:prstGeom>
          <a:noFill/>
        </p:spPr>
        <p:txBody>
          <a:bodyPr wrap="square" anchor="t" lIns="0" rIns="0" tIns="0" bIns="0">
            <a:norm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1000" b="0" i="1">
                <a:solidFill>
                  <a:srgbClr val="E0F7F1"/>
                </a:solidFill>
                <a:latin typeface="Calibri"/>
              </a:rPr>
              <a:t>CRN list; company releases; You.com Livecrawl Level 2 research · August 2026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48640" y="6473952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l">
              <a:lnSpc>
                <a:spcPct val="105000"/>
              </a:lnSpc>
              <a:spcBef>
                <a:spcPts val="0"/>
              </a:spcBef>
            </a:pPr>
            <a:r>
              <a:rPr sz="900" b="0" i="0">
                <a:solidFill>
                  <a:srgbClr val="889098"/>
                </a:solidFill>
                <a:latin typeface="Calibri"/>
              </a:rPr>
              <a:t>AI semiconductor startups · investor lens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1002975" y="6455664"/>
            <a:ext cx="640080" cy="274320"/>
          </a:xfrm>
          <a:prstGeom prst="rect">
            <a:avLst/>
          </a:prstGeom>
          <a:noFill/>
        </p:spPr>
        <p:txBody>
          <a:bodyPr wrap="square" anchor="t" lIns="0" rIns="0" tIns="0" bIns="0">
            <a:noAutofit/>
          </a:bodyPr>
          <a:lstStyle/>
          <a:p>
            <a:pPr algn="r">
              <a:lnSpc>
                <a:spcPct val="105000"/>
              </a:lnSpc>
              <a:spcBef>
                <a:spcPts val="0"/>
              </a:spcBef>
            </a:pPr>
            <a:r>
              <a:rPr sz="1000" b="1" i="0">
                <a:solidFill>
                  <a:srgbClr val="889098"/>
                </a:solidFill>
                <a:latin typeface="Calibri"/>
              </a:rPr>
              <a:t>12 / 12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