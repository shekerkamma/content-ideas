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 SEMICONDUCTOR STARTUPS · INVESTOR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1024128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The cohort is not ten NVIDIA challengers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834640"/>
            <a:ext cx="98755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F7F1"/>
                </a:solidFill>
                <a:latin typeface="Calibri"/>
              </a:rPr>
              <a:t>It is five competitive games with radically different proof burdens, attachment breadth, and failure modes.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4251960"/>
            <a:ext cx="768096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5720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Calibri"/>
              </a:rPr>
              <a:t>Decision: where to diligence, where to wait, and what evidence changes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CRN cohort · evidence current through 4 Aug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Lead with interfaces and shipping systems; option the architecture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536192"/>
            <a:ext cx="11109960" cy="107899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536192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CORE DILIGENCE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107442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Lightmatter · Cornelis · Xsight · Tenstorrent
Broad attachment or multiple monetization paths; demand evidence is imperfect but the economic role survives heterogeneous compute.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889504"/>
            <a:ext cx="11109960" cy="107899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889504"/>
            <a:ext cx="64008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EXECUTION DILIGENCE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83864"/>
            <a:ext cx="107442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d-Matrix · Axelera · NextSilicon
Credible product or named validation; value depends on repeatable systems deployment, channel conversion, and software usability.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242816"/>
            <a:ext cx="11109960" cy="1078992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4242816"/>
            <a:ext cx="64008" cy="10789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07408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MILESTONE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37176"/>
            <a:ext cx="1074420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Etched · MatX · Fractile
Exceptional upside is inseparable from workload concentration, roadmap timing, and vendor-controlled benchmarks.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Investor judgment from evidence ledger; not investment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30991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storyboard resolves four investment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508760"/>
            <a:ext cx="5257800" cy="164592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508760"/>
            <a:ext cx="64008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  WHERE DOES VALUE ACCRUE?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892040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Map bottlenecks and real competitive arenas.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508760"/>
            <a:ext cx="5257800" cy="164592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3912" y="1508760"/>
            <a:ext cx="64008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733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02  WHAT IS ACTUALLY PROVEN?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4892040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Separate product, validation, production, and independent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566160"/>
            <a:ext cx="5257800" cy="164592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566160"/>
            <a:ext cx="64008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03  WHO CAN WIN—AND WHY NOT?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892040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Teardown each company against its true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3566160"/>
            <a:ext cx="5257800" cy="164592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912" y="3566160"/>
            <a:ext cx="64008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307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04  WHAT CHANGES THE DECISION?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60520"/>
            <a:ext cx="4892040" cy="8961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Set proof gates, scenarios, kill criteria, and monitoring triggers.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Useful deployed throughput—not peak FLOPS—determines economic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2395728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Model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NVIDIA · AMD · hyperscaler 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514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508760"/>
            <a:ext cx="2395728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78308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860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Keep data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2461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HBM · in-memory 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514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508760"/>
            <a:ext cx="2395728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78308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860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Keep chips busy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2461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InfiniBand · Ethernet · Omni-Path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5146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7112" y="1508760"/>
            <a:ext cx="2395728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178308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286000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Deploy repeatedly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24612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Racks · software ·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Interfaces can attach across winners; accelerator value is more sensitive to model, compiler, and incumbent roadmaps.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NVIDIA FY2026 10-K; cohort product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ten companies compete in five arenas—not one leaderboard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INTERCONNECT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8872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Ayar Labs · Celestial AI · Broadcom/TSMC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46504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7627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FABRIC + DPU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3055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Cornelis · Xsight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NVIDIA · Broadcom · Marvell · HPE Slingshot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688336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18104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OPEN / 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072384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Tenstorrent · NextSilicon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72384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NVIDIA · AMD · Intel · Arm/RISC-V 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6301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059936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INFERENCE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01421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d-Matrix · Axelera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014216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Groq-class systems · Hailo · SiMa · Positron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572000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01768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SPECIALIST FRONTIER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9560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Etched · MatX · Fractile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56048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NVIDIA · TPU/Trainium/Maia · Broadcom ASICs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513832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30991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most dangerous competitors are absent from the CRN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1732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VERTICALLY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3716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NVIDIA · Google TPU · AWS Trainium · Microsoft Maia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371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Bundle silicon, software, network, cloud demand, and financing.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56032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AT-SCALE MERCHANT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5146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AMD · Broadcom · Marvell · Qualcomm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Manufacturing leverage, channels, roadmaps, and customer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70332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STARTUP SURVIVORS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6576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Cerebras · SambaNova · Rebellions · Furiosa · Positron · Hailo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Provide the closest commercialization and exit comparables.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84632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STANDARDS +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8006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Ultra Ethernet · OIF · HPE Slingshot · Arista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800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Can commoditize a proprietary advantage or slow adoption.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NVIDIA 10-K; OIF; company and industry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Product, validation, and production are different investment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2423160" cy="306324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53512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Architecture and target disclosed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4048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Question: can it be built?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828800"/>
            <a:ext cx="2423160" cy="306324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011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743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SILICON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273552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Working or sampled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4160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Question: can it yield?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2148840"/>
            <a:ext cx="2423160" cy="306324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06324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593592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Named partner/customer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4805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Question: does it reproduce?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7112" y="2468880"/>
            <a:ext cx="2423160" cy="306324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26517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33832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913632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Repeatable paid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8006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Question: can it scale?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Evidence-state definitions in metric-definitions.md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Public evidence is concentrated in validation—not repeatable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371600"/>
            <a:ext cx="1965960" cy="7589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91056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PRODUCTION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447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Tenstorrent · d-Matrix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417320"/>
            <a:ext cx="5303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Shipping language; customer economics remain mostly private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450592"/>
            <a:ext cx="1965960" cy="7589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NAMED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237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Cornelis · NextSilicon · Axelera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496312"/>
            <a:ext cx="5303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DOE/partner evidence reduces—but does not eliminate—vendor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529584"/>
            <a:ext cx="1965960" cy="7589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EARLY ACCESS / SYSTEM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0273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Lightmatter · Xsight · Etched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575304"/>
            <a:ext cx="5303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Working systems or silicon; limited independent production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608576"/>
            <a:ext cx="1965960" cy="7589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ROADMAP-DOMINANT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68172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MatX · Fractile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54296"/>
            <a:ext cx="53035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Capital and architecture precede available product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Company releases; Sandia; industry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30991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Capital has repriced possibility faster than public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53312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$10.3B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38074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Etched 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53312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Working silicon + contracts claimed; production economics undisclosed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49424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$4.4B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76856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Lightmatter 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9424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Strong technical partners; early-access/customer disclosure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145536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$693M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172968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Tenstorrent Series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45536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Broader shipping stack and IP model; revenue remains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041648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$500M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06908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MatX Series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41648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Large-model processor targets 2027 shipment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937760"/>
            <a:ext cx="15087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$220M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96519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Fractile Series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9377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Upcoming silicon; simulation-heavy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Company releases; TechCrunch; values are financing signals, not operating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Compare companies on five questions—without manufacturing false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070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197864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Is buyer pain urgent and budgeted?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37360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6712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3969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ATTACHMENT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30552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Can the product monetize multiple winners?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67004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099816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COMMERCIAL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63240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Roadmap, silicon, validation, or production?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602736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032504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05072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EVIDENCE INDEPENDENCE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95928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Who reproduced the claim?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535424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965192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37760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FAILURE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928616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1B2B3C"/>
                </a:solidFill>
                <a:latin typeface="Calibri"/>
              </a:rPr>
              <a:t>What single event breaks the thesis?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468112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Lightmatter: Core diligence—broad attachment, but commercialization is 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Ayar Labs · Celestial AI · Broadcom/TSMC · pluggable optics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3D-stacked photonic I/O addresses package-edge bandwidth and power across accelerator winners.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Rackable validation hardware; Qualcomm, Cadence, ASE and SENKO relationships; 1.6 Tbps/fiber company demonstration.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Named production customers, yield/cost, BER/thermals at volume, serviceability and revenue concentration.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CPO adoption slips; incumbent optics improve; hyperscalers internalize the interface; packaging economics fail.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diligence—broad attachment, but commercialization is the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Lightmatter technical/product releases; OIF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Cornelis Networks: Core diligence—credible fabric proof in a standards war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 InfiniBand · Ultra Ethernet · HPE Slingshot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Omni-Path offers a differentiated lossless fabric and an independent supply path for HPC/AI clusters.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Named DOE deployment and peer-reviewed architectural inheritance; CN5000 product family.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Commercial scale, Ethernet interoperability timing, gross margins, software/tooling and pipeline outside government HPC.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Ultra Ethernet closes the feature gap; NVIDIA bundles network with compute; roadmap slips at 800G/1.6T.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diligence—credible fabric proof in a standards war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Cornelis; DOE/industry reporting; Journal of Supercomputing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Xsight Labs: Core diligence—strategic silicon, limited public economic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Broadcom · NVIDIA · Marvell · custom hyperscaler networking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Programmable Ethernet switches and 800G DPU can monetize data movement without choosing the winning accelerator.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Concrete X2 and E-series specifications; company-reported Starlink selection.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Independent power/latency benchmarks, named data-center production deployments, revenue mix and software adoption.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Merchant networking incumbents bundle equivalent capabilities or customer concentration turns one design win into fragility.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diligence—strategic silicon, limited public economic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Xsight product pages; company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Tenstorrent: Core diligence—broadest platform surface, highest execution breadth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 · AMD · Cerebras · RISC-V/Arm IP · hyperscaler ASICs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Licensable IP, RISC-V CPUs, accelerators, systems and Ethernet create multiple monetization paths and strategic-exit 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Blackhole systems and tooling ship; third-party Wormhole programming evidence; $693M Series 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Recognized revenue by line, repeat customers, production workload TCO, developer retention and IP-license economics.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Breadth dilutes focus; software ecosystem never reaches escape velocity; customers prefer incumbent or internal silicon.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Core diligence—broadest platform surface, highest execution breadth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Tenstorrent; arXiv:2603.23343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d-Matrix: Execution diligence—production claim with system-integration upside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 inference · Positron · FuriosaAI · Rebellions · SambaNova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Digital in-memory compute targets inference data movement; GigaIO assets extend the thesis toward rack-scale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Corsair production claim with TSMC/Alchip and named rack partners; GigaIO acquisition.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Named paid customers, reproducible end-to-end cost/token, availability, software migration effort and gross margin.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Heterogeneous system advantage disappears under fair batching; rack integration consumes capital and delays adoption.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Execution diligence—production claim with system-integration upside and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d-Matrix production and acquisition releases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Axelera AI: Execution diligence—edge focus lowers direct data-center collision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Hailo · SiMa.ai · Kneron · Qualcomm · NVIDIA Jetson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Edge inference has power, privacy and latency constraints where smaller accelerators can beat general-purpose GPUs.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Metis products; Advantech distribution/support relationship; reported business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Pipeline conversion, fleet utilization, software/support cost, ASP/margin by vertical and repeat OEM design wins.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Fragmented edge channels lengthen sales cycles; incumbent SoCs bundle adequate AI at lower integration cost.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Execution diligence—edge focus lowers direct data-center collision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Axelera and Advantech releases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NextSilicon: Execution diligence—rare independent HPC validation, software bridge incomplete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NVIDIA/AMD accelerators · Intel · FPGAs · national-lab incumbents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Runtime-reconfigurable dataflow targets scientific codes without wholesale rewrites; RISC-V host roadmap adds stack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Sandia Vanguard partnership; support for C/C++/Fortran/OpenMP/Kokkos; company says Maverick-2 is in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Commercial customers beyond labs, framework/CUDA/ROCm integration, repeat procurement, benchmark disclosure and Arbel timing.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Portability promise fails on real applications; market remains too narrow; 2028 CPU roadmap consumes runway.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Execution diligence—rare independent HPC validation, software bridge incomplete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Sandia; NextSilicon product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Etched: Milestone option—demand signal is extraordinary; concentration risk is structural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 · TPU/Trainium/Maia · Broadcom ASICs · specialist inference startups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Full-stack specialization can create step-change inference economics if frontier workloads remain compatible.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Working A0 N4P silicon; over $1B contracts claimed; customer system validation; substantial facilities and financing.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Independent workload/TCO results, contract terms, recognized revenue, yields, supply resilience and model compatibility boundaries.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Model architecture or batching changes compress the advantage; deployment slips; valuation leaves no room for normal execution.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Milestone option—demand signal is extraordinary; concentration risk is structural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Etched releases; TechCrunch; MLCommons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MatX: Milestone option—ambitious frontier processor priced ahead of shipment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NVIDIA · Cerebras · Google TPU · custom frontier silicon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Large-model co-design could optimize training, RL, prefill and decode across a narrow but valuable customer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Published architecture/specifications and $500M financing indicate talent and investor conviction.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Working production silicon, independent benchmarks, named customers, compiler usability, manufacturing plan and 2027 schedule confidence.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Incumbents ship another generation before launch; target workloads change; software and systems work overwhelms chip advantage.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Milestone option—ambitious frontier processor priced ahead of shipment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MatX; TechCrunch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Fractile: Milestone option—memory thesis is plausible; evidence remains pre-product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52144"/>
            <a:ext cx="111309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Real competitors · d-Matrix · Positron · Taalas · NVIDIA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898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89888"/>
            <a:ext cx="64008" cy="15727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 IT CAN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842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In-memory compute attacks the bandwidth and energy cost that increasingly dominates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898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389888"/>
            <a:ext cx="64008" cy="157276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5544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IS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842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$220M Series B and a coherent memory-centric architecture thesis.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218688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3218688"/>
            <a:ext cx="64008" cy="15727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5093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WHAT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Manufactured silicon, benchmark methodology, named customer evaluation, software stack and credible time-to-volume.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218688"/>
            <a:ext cx="5413248" cy="1572768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3218688"/>
            <a:ext cx="64008" cy="157276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383280"/>
            <a:ext cx="5065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DISCONFIRMING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13048"/>
            <a:ext cx="5047488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Simulation advantage fails on silicon; schedule slips; competing memory-rich systems capture the window first.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102352"/>
            <a:ext cx="11130991" cy="5943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INVESTOR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3036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Milestone option—memory thesis is plausible; evidence remains pre-product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Fractile financing release; independent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cross-company pattern is breadth versus proof—not a single winner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16152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216152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ATTACHMENT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16152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216152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216152"/>
            <a:ext cx="3273552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PRIMARY FAILURE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27048"/>
            <a:ext cx="11130991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7276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57276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Broad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57276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727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7276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CPO adoption / packaging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98424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8424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Broad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98424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8424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98424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Standards + bundling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350008"/>
            <a:ext cx="11130991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39572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Xsight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39572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Broad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39572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39572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Low–Med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9572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Customer 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280720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80720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Broad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80720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Production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80720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80720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Software ecosystem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3172968"/>
            <a:ext cx="11130991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21868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21868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Moderate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21868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Production claim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21868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Low–Med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1868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Rack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363016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Axelera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363016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Moderate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363016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63016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63016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Channel conversion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3995928"/>
            <a:ext cx="11130991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04164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04164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Moderate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04164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04164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04164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Market breadth / timing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445312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45312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Narrow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445312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System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45312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Low–Med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45312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Model + valuation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0352" y="4818888"/>
            <a:ext cx="11130991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86460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486460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Narrow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486460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Roadmap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86460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86460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Schedule + software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" y="5276088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5276088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Narrow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5276088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Roadmap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276088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5276088"/>
            <a:ext cx="327355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Silicon reality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Evidence-state comparison; investor interpretation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30991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Five independent lenses converge on the proof gate—and disagree on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71600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PRACTITIONER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35024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Named reproducible workload beats peak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12848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ACADEMIC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176272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Independent silicon evidence is rare and decisive.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54096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SKEPTIC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01752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cohort is more correlated than company count implies.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895344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ECONOMIST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858768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Evidence-adjusted valuation favors toll roads and shipping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736592"/>
            <a:ext cx="1600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HISTORIAN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700016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Interfaces retain strategic value; ecosystems defeat isolated chips.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623560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UNRESOLVED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53212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F7F1"/>
                </a:solidFill>
                <a:latin typeface="Calibri"/>
              </a:rPr>
              <a:t>How much credit should investors give shipping claims before workload economics and paid deployments are public?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Author-constructed STORM panel; convergence is a hypothesis, not field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Bull case: fragmentation creates more attach points than winners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BOTTLENECKS MULTIPLY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25296"/>
            <a:ext cx="7406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Power, memory, fabric and packaging become independent budget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762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488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CUSTOM SILICON NORMALIZES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39696"/>
            <a:ext cx="7406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Hyperscaler demand validates specialized architectures and acquisition paths.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90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632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INFERENCE EXPANDS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54096"/>
            <a:ext cx="7406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Serving economics create room for workload-specific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0050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STANDARDS LOWER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68496"/>
            <a:ext cx="7406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Ethernet, UCIe and RISC-V widen routes to distribution.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9194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920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STRATEGIC M&amp;A PERSISTS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82896"/>
            <a:ext cx="740664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1B2B3C"/>
                </a:solidFill>
                <a:latin typeface="Calibri"/>
              </a:rPr>
              <a:t>Incumbents buy talent, IP, fabric and system capabilities before standalone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OIF; AMD SeaMicro acquisition; cohort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30991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Bear case: ten names conceal six shared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41732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INCUMBENT BUNDLING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NVIDIA grew compute and networking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41732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41732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8191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SOFTWARE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CUDA compounds across two decades of tools and habits.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83464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83464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SUPPLY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Foundry, HBM and packaging dependencies correlate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283464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283464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9923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CUSTOMER CONCENTRATION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One design win can validate technology and destroy pricing power.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25196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425196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ROADMAP 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Every slip burns runway while incumbents ship again.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425196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4251960"/>
            <a:ext cx="64008" cy="10515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165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MODEL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4632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Specialization can expire before volume 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NVIDIA 10-K; CUDA docs; Cirrus Logic 10-K; 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Valuation should buy down uncertainty—not merely finance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6187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$10.3B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27101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Contracts + 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47548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5A6B"/>
                </a:solidFill>
                <a:latin typeface="Calibri"/>
              </a:rPr>
              <a:t>Production economics, concentration, model durability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013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2128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7627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$4.4B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8541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Technical ecosystem + optical scarcity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76272"/>
            <a:ext cx="47548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5A6B"/>
                </a:solidFill>
                <a:latin typeface="Calibri"/>
              </a:rPr>
              <a:t>Customer/revenue visibility, packaging economics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7157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272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9067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$2.0B pre-money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9981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Shipping stack + IP optionality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90672"/>
            <a:ext cx="47548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5A6B"/>
                </a:solidFill>
                <a:latin typeface="Calibri"/>
              </a:rPr>
              <a:t>Revenue mix, ecosystem conversion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6301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416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0507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$500M 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01421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Talent +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05072"/>
            <a:ext cx="47548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5A6B"/>
                </a:solidFill>
                <a:latin typeface="Calibri"/>
              </a:rPr>
              <a:t>2027 silicon, customers, software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5445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9560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1947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$220M 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2861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Memory 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19472"/>
            <a:ext cx="47548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5A6B"/>
                </a:solidFill>
                <a:latin typeface="Calibri"/>
              </a:rPr>
              <a:t>First silicon and workload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5458968"/>
            <a:ext cx="11130991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Financing values are not operating-value conclusions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Construct the portfolio by role, evidence burden, and reserve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298448"/>
            <a:ext cx="1965960" cy="11612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2704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FOUNDATIONAL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Lightmatter · Cornelis · Xsight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14173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Diligence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37160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Reserve for customer/volume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3716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Do not pay platform value without attach-rate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761488"/>
            <a:ext cx="1965960" cy="11612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9008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PLATFORM +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346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Tenstorrent · d-Matrix · Axelera · NextSilicon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834640"/>
            <a:ext cx="14173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Diligence selectively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3464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Reserve against deployment milestones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346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Segment by software, customer and manufacturing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224528"/>
            <a:ext cx="1965960" cy="11612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453128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SPECIALIST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976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Etched · MatX · Fractile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297680"/>
            <a:ext cx="14173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05A6B"/>
                </a:solidFill>
                <a:latin typeface="Calibri"/>
              </a:rPr>
              <a:t>Observe or price as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976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Fund only against explicit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29768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Assume correlated model and supply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5B6B7C"/>
                </a:solidFill>
                <a:latin typeface="Calibri"/>
              </a:rPr>
              <a:t>Role framework; position sizing requires price, ownership and fund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1130991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next diligence round should ask for evidence vendors cannot market around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41732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417320"/>
            <a:ext cx="64008" cy="10515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Named model/application, precision, batch, context, compiler and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41732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417320"/>
            <a:ext cx="64008" cy="10515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8191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SYSTEM TCO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Power at wall, utilization, networking, memory, labor and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83464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834640"/>
            <a:ext cx="64008" cy="10515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REPEATABILITY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90-day stability, second deployment and upgrade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283464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2834640"/>
            <a:ext cx="64008" cy="10515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9923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Paid status, contract terms, revenue recognition, renewals and concentration.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25196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4251960"/>
            <a:ext cx="64008" cy="10515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Yield, packaging, HBM, second source, lead time and warranty exposure.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4251960"/>
            <a:ext cx="5257800" cy="1051560"/>
          </a:xfrm>
          <a:prstGeom prst="roundRect">
            <a:avLst>
              <a:gd name="adj" fmla="val 35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4251960"/>
            <a:ext cx="64008" cy="10515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416552"/>
            <a:ext cx="491032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846320"/>
            <a:ext cx="4892040" cy="3017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Migration effort, developer retention, release cadence and customer-owned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scenarios produce different winners—and different follow-on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325880"/>
            <a:ext cx="11109960" cy="11430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64008" cy="1143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 · HETEROGENEOUS BOOM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74420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Multiple accelerator architectures survive  |  Interfaces and open systems compound  |  Prioritize Lightmatter, fabric/DPU, Tenstorrent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770632"/>
            <a:ext cx="11109960" cy="11430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770632"/>
            <a:ext cx="64008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35224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B · INCUMBENT REBUNDLING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64992"/>
            <a:ext cx="1074420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NVIDIA/hyperscalers absorb bottlenecks  |  Narrow merchant platforms compress  |  Favor strategic IP, standards and acquisition optionality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215384"/>
            <a:ext cx="11109960" cy="1143000"/>
          </a:xfrm>
          <a:prstGeom prst="roundRect">
            <a:avLst>
              <a:gd name="adj" fmla="val 35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4215384"/>
            <a:ext cx="64008" cy="11430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79976"/>
            <a:ext cx="1076248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C · MODEL DISCONTINUITY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9744"/>
            <a:ext cx="1074420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Workloads change faster than tape-outs  |  Fixed-function value decays  |  Favor adaptable compute; gate Etched/MatX/Fractile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Kill criteria turn narrative risk into observable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6187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23444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2" y="1234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Cannot reproduce under comparable workload conditions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56232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26187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23444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2344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Migration cost erases silicon advantage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856232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774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5000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35000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Yield, HBM or packaging blocks repeat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971800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23774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35000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35000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Evaluation does not convert to paid production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971800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49300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4655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346557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Roadmap misses the buyer deployment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087368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349300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34655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346557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One customer or supplier dominates economics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8192" y="4087368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60857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58114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45811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Model architecture invalidates specialization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5202936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460857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4581144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45811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Price assumes platform scale before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202936"/>
            <a:ext cx="516636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Back interfaces that survive fragmentation.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057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E0F7F1"/>
                </a:solidFill>
                <a:latin typeface="Calibri"/>
              </a:rPr>
              <a:t>Demand customer economics from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200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B800"/>
                </a:solidFill>
                <a:latin typeface="Calibri"/>
              </a:rPr>
              <a:t>Price specialist silicon as a milestone option.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4709160"/>
            <a:ext cx="11130991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507492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NEXT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965192"/>
            <a:ext cx="92354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Run six evidence requests against the seven diligence candidates; re-rank only after workload, commercial, and supply proof arrives.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153912"/>
            <a:ext cx="8869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50" b="0" i="0">
                <a:solidFill>
                  <a:srgbClr val="E0F7F1"/>
                </a:solidFill>
                <a:latin typeface="Calibri"/>
              </a:rPr>
              <a:t>Evidence-led investor dossier ·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diligence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