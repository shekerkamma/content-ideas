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963095" y="0"/>
            <a:ext cx="228600" cy="685800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0"/>
            <a:ext cx="54864"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77240"/>
            <a:ext cx="11094415"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IKIGAI PRO REPORT</a:t>
            </a:r>
          </a:p>
        </p:txBody>
      </p:sp>
      <p:sp>
        <p:nvSpPr>
          <p:cNvPr id="7" name="TextBox 6"/>
          <p:cNvSpPr txBox="1"/>
          <p:nvPr/>
        </p:nvSpPr>
        <p:spPr>
          <a:xfrm>
            <a:off x="548640" y="1234440"/>
            <a:ext cx="7436815" cy="1005840"/>
          </a:xfrm>
          <a:prstGeom prst="rect">
            <a:avLst/>
          </a:prstGeom>
          <a:noFill/>
        </p:spPr>
        <p:txBody>
          <a:bodyPr wrap="square" anchor="t" lIns="0" rIns="0" tIns="0" bIns="0">
            <a:normAutofit/>
          </a:bodyPr>
          <a:lstStyle/>
          <a:p>
            <a:pPr algn="l">
              <a:lnSpc>
                <a:spcPct val="105000"/>
              </a:lnSpc>
              <a:spcBef>
                <a:spcPts val="0"/>
              </a:spcBef>
            </a:pPr>
            <a:r>
              <a:rPr sz="5200" b="1" i="0">
                <a:solidFill>
                  <a:srgbClr val="FFFFFF"/>
                </a:solidFill>
                <a:latin typeface="Calibri"/>
              </a:rPr>
              <a:t>Srikumar V R</a:t>
            </a:r>
          </a:p>
        </p:txBody>
      </p:sp>
      <p:sp>
        <p:nvSpPr>
          <p:cNvPr id="8" name="Rectangle 7"/>
          <p:cNvSpPr/>
          <p:nvPr/>
        </p:nvSpPr>
        <p:spPr>
          <a:xfrm>
            <a:off x="548640" y="2331720"/>
            <a:ext cx="365760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487168"/>
            <a:ext cx="7436815" cy="822960"/>
          </a:xfrm>
          <a:prstGeom prst="rect">
            <a:avLst/>
          </a:prstGeom>
          <a:noFill/>
        </p:spPr>
        <p:txBody>
          <a:bodyPr wrap="square" anchor="t" lIns="0" rIns="0" tIns="0" bIns="0">
            <a:normAutofit/>
          </a:bodyPr>
          <a:lstStyle/>
          <a:p>
            <a:pPr algn="l">
              <a:lnSpc>
                <a:spcPct val="105000"/>
              </a:lnSpc>
              <a:spcBef>
                <a:spcPts val="0"/>
              </a:spcBef>
            </a:pPr>
            <a:r>
              <a:rPr sz="1800" b="0" i="0">
                <a:solidFill>
                  <a:srgbClr val="E0F7F1"/>
                </a:solidFill>
                <a:latin typeface="Calibri"/>
              </a:rPr>
              <a:t>Empowering GCCs in India with FPT Software's AI-First Capability Stack</a:t>
            </a:r>
          </a:p>
        </p:txBody>
      </p:sp>
      <p:sp>
        <p:nvSpPr>
          <p:cNvPr id="10" name="Rounded Rectangle 9"/>
          <p:cNvSpPr/>
          <p:nvPr/>
        </p:nvSpPr>
        <p:spPr>
          <a:xfrm>
            <a:off x="548640" y="3520440"/>
            <a:ext cx="3108960" cy="685800"/>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593592"/>
            <a:ext cx="2926080" cy="50292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Validation Score  88 / 100  ·  EXCEPTIONAL</a:t>
            </a:r>
          </a:p>
        </p:txBody>
      </p:sp>
      <p:sp>
        <p:nvSpPr>
          <p:cNvPr id="12" name="TextBox 11"/>
          <p:cNvSpPr txBox="1"/>
          <p:nvPr/>
        </p:nvSpPr>
        <p:spPr>
          <a:xfrm>
            <a:off x="548640" y="4370832"/>
            <a:ext cx="11094415" cy="320040"/>
          </a:xfrm>
          <a:prstGeom prst="rect">
            <a:avLst/>
          </a:prstGeom>
          <a:noFill/>
        </p:spPr>
        <p:txBody>
          <a:bodyPr wrap="square" anchor="t" lIns="0" rIns="0" tIns="0" bIns="0">
            <a:noAutofit/>
          </a:bodyPr>
          <a:lstStyle/>
          <a:p>
            <a:pPr algn="l">
              <a:lnSpc>
                <a:spcPct val="105000"/>
              </a:lnSpc>
              <a:spcBef>
                <a:spcPts val="0"/>
              </a:spcBef>
            </a:pPr>
            <a:r>
              <a:rPr sz="1300" b="0" i="0">
                <a:solidFill>
                  <a:srgbClr val="5B6B7C"/>
                </a:solidFill>
                <a:latin typeface="Calibri"/>
              </a:rPr>
              <a:t>Greater Bengaluru  ·  FPT Software  ·  Jun 2026</a:t>
            </a:r>
          </a:p>
        </p:txBody>
      </p:sp>
      <p:sp>
        <p:nvSpPr>
          <p:cNvPr id="13" name="Rounded Rectangle 12"/>
          <p:cNvSpPr/>
          <p:nvPr/>
        </p:nvSpPr>
        <p:spPr>
          <a:xfrm>
            <a:off x="548640" y="4846320"/>
            <a:ext cx="1783080" cy="347472"/>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882896"/>
            <a:ext cx="1572768" cy="274320"/>
          </a:xfrm>
          <a:prstGeom prst="rect">
            <a:avLst/>
          </a:prstGeom>
          <a:noFill/>
        </p:spPr>
        <p:txBody>
          <a:bodyPr wrap="square" anchor="ctr" lIns="0" rIns="0" tIns="0" bIns="0">
            <a:noAutofit/>
          </a:bodyPr>
          <a:lstStyle/>
          <a:p>
            <a:pPr algn="l">
              <a:lnSpc>
                <a:spcPct val="105000"/>
              </a:lnSpc>
              <a:spcBef>
                <a:spcPts val="0"/>
              </a:spcBef>
            </a:pPr>
            <a:r>
              <a:rPr sz="1150" b="1" i="0">
                <a:solidFill>
                  <a:srgbClr val="00C9A7"/>
                </a:solidFill>
                <a:latin typeface="Calibri"/>
              </a:rPr>
              <a:t>IIT Madras</a:t>
            </a:r>
          </a:p>
        </p:txBody>
      </p:sp>
      <p:sp>
        <p:nvSpPr>
          <p:cNvPr id="15" name="Rounded Rectangle 14"/>
          <p:cNvSpPr/>
          <p:nvPr/>
        </p:nvSpPr>
        <p:spPr>
          <a:xfrm>
            <a:off x="2468880" y="4846320"/>
            <a:ext cx="1783080" cy="347472"/>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78608" y="4882896"/>
            <a:ext cx="1572768" cy="274320"/>
          </a:xfrm>
          <a:prstGeom prst="rect">
            <a:avLst/>
          </a:prstGeom>
          <a:noFill/>
        </p:spPr>
        <p:txBody>
          <a:bodyPr wrap="square" anchor="ctr" lIns="0" rIns="0" tIns="0" bIns="0">
            <a:noAutofit/>
          </a:bodyPr>
          <a:lstStyle/>
          <a:p>
            <a:pPr algn="l">
              <a:lnSpc>
                <a:spcPct val="105000"/>
              </a:lnSpc>
              <a:spcBef>
                <a:spcPts val="0"/>
              </a:spcBef>
            </a:pPr>
            <a:r>
              <a:rPr sz="1150" b="1" i="0">
                <a:solidFill>
                  <a:srgbClr val="00C9A7"/>
                </a:solidFill>
                <a:latin typeface="Calibri"/>
              </a:rPr>
              <a:t>IIM Calcutta</a:t>
            </a:r>
          </a:p>
        </p:txBody>
      </p:sp>
      <p:sp>
        <p:nvSpPr>
          <p:cNvPr id="17" name="Rounded Rectangle 16"/>
          <p:cNvSpPr/>
          <p:nvPr/>
        </p:nvSpPr>
        <p:spPr>
          <a:xfrm>
            <a:off x="4389120" y="4846320"/>
            <a:ext cx="1783080" cy="347472"/>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8848" y="4882896"/>
            <a:ext cx="1572768" cy="274320"/>
          </a:xfrm>
          <a:prstGeom prst="rect">
            <a:avLst/>
          </a:prstGeom>
          <a:noFill/>
        </p:spPr>
        <p:txBody>
          <a:bodyPr wrap="square" anchor="ctr" lIns="0" rIns="0" tIns="0" bIns="0">
            <a:noAutofit/>
          </a:bodyPr>
          <a:lstStyle/>
          <a:p>
            <a:pPr algn="l">
              <a:lnSpc>
                <a:spcPct val="105000"/>
              </a:lnSpc>
              <a:spcBef>
                <a:spcPts val="0"/>
              </a:spcBef>
            </a:pPr>
            <a:r>
              <a:rPr sz="1150" b="1" i="0">
                <a:solidFill>
                  <a:srgbClr val="00C9A7"/>
                </a:solidFill>
                <a:latin typeface="Calibri"/>
              </a:rPr>
              <a:t>27 Years</a:t>
            </a:r>
          </a:p>
        </p:txBody>
      </p:sp>
      <p:sp>
        <p:nvSpPr>
          <p:cNvPr id="19" name="Rounded Rectangle 18"/>
          <p:cNvSpPr/>
          <p:nvPr/>
        </p:nvSpPr>
        <p:spPr>
          <a:xfrm>
            <a:off x="6309360" y="4846320"/>
            <a:ext cx="1783080" cy="347472"/>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4882896"/>
            <a:ext cx="1572768" cy="274320"/>
          </a:xfrm>
          <a:prstGeom prst="rect">
            <a:avLst/>
          </a:prstGeom>
          <a:noFill/>
        </p:spPr>
        <p:txBody>
          <a:bodyPr wrap="square" anchor="ctr" lIns="0" rIns="0" tIns="0" bIns="0">
            <a:noAutofit/>
          </a:bodyPr>
          <a:lstStyle/>
          <a:p>
            <a:pPr algn="l">
              <a:lnSpc>
                <a:spcPct val="105000"/>
              </a:lnSpc>
              <a:spcBef>
                <a:spcPts val="0"/>
              </a:spcBef>
            </a:pPr>
            <a:r>
              <a:rPr sz="1150" b="1" i="0">
                <a:solidFill>
                  <a:srgbClr val="00C9A7"/>
                </a:solidFill>
                <a:latin typeface="Calibri"/>
              </a:rPr>
              <a:t>5 Industries</a:t>
            </a:r>
          </a:p>
        </p:txBody>
      </p:sp>
      <p:sp>
        <p:nvSpPr>
          <p:cNvPr id="21" name="TextBox 2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Srikumar V R · Ikigai Pro Report · FPT Software GCC · Jun 2026</a:t>
            </a:r>
          </a:p>
        </p:txBody>
      </p:sp>
      <p:sp>
        <p:nvSpPr>
          <p:cNvPr id="22" name="TextBox 2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 / 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Trusted Human Bridge — FPT's Stack + Srikumar's Trust Equity</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Core Insight</a:t>
            </a:r>
          </a:p>
        </p:txBody>
      </p:sp>
      <p:sp>
        <p:nvSpPr>
          <p:cNvPr id="7" name="TextBox 6"/>
          <p:cNvSpPr txBox="1"/>
          <p:nvPr/>
        </p:nvSpPr>
        <p:spPr>
          <a:xfrm>
            <a:off x="548640" y="1508760"/>
            <a:ext cx="7894015" cy="4114800"/>
          </a:xfrm>
          <a:prstGeom prst="rect">
            <a:avLst/>
          </a:prstGeom>
          <a:noFill/>
        </p:spPr>
        <p:txBody>
          <a:bodyPr wrap="square" anchor="t" lIns="0" rIns="0" tIns="0" bIns="0">
            <a:normAutofit/>
          </a:bodyPr>
          <a:lstStyle/>
          <a:p>
            <a:pPr algn="l">
              <a:lnSpc>
                <a:spcPct val="105000"/>
              </a:lnSpc>
              <a:spcBef>
                <a:spcPts val="0"/>
              </a:spcBef>
            </a:pPr>
            <a:r>
              <a:rPr sz="1400" b="0" i="0">
                <a:solidFill>
                  <a:srgbClr val="1B2B3C"/>
                </a:solidFill>
                <a:latin typeface="Calibri"/>
              </a:rPr>
              <a:t>FPT Software has world-class AI platforms: FleziPT for production AI, EMT/xMainframe for legacy modernization, CodeVista for developer velocity, and vertical-specific tools for healthcare, manufacturing, and automotive.</a:t>
            </a:r>
          </a:p>
          <a:p>
            <a:pPr algn="l">
              <a:lnSpc>
                <a:spcPct val="105000"/>
              </a:lnSpc>
              <a:spcBef>
                <a:spcPts val="1400"/>
              </a:spcBef>
            </a:pPr>
            <a:r>
              <a:rPr sz="1500" b="1" i="0">
                <a:solidFill>
                  <a:srgbClr val="0A1628"/>
                </a:solidFill>
                <a:latin typeface="Calibri"/>
              </a:rPr>
              <a:t>The gap is not capability. The gap is trust at GCC leadership level in India.</a:t>
            </a:r>
          </a:p>
          <a:p>
            <a:pPr algn="l">
              <a:lnSpc>
                <a:spcPct val="105000"/>
              </a:lnSpc>
              <a:spcBef>
                <a:spcPts val="1400"/>
              </a:spcBef>
            </a:pPr>
            <a:r>
              <a:rPr sz="1400" b="0" i="0">
                <a:solidFill>
                  <a:srgbClr val="1B2B3C"/>
                </a:solidFill>
                <a:latin typeface="Calibri"/>
              </a:rPr>
              <a:t>GCC heads are fatigued by vendor pitches. They need someone with peer-level credibility — a BD leader who has built companies, held patents, and spent 27 years across 5 industries and 3 countries. When Srikumar introduces FPT's capability stack, GCC leaders listen differently.</a:t>
            </a:r>
          </a:p>
          <a:p>
            <a:pPr algn="l">
              <a:lnSpc>
                <a:spcPct val="105000"/>
              </a:lnSpc>
              <a:spcBef>
                <a:spcPts val="1400"/>
              </a:spcBef>
            </a:pPr>
            <a:r>
              <a:rPr sz="1400" b="1" i="0">
                <a:solidFill>
                  <a:srgbClr val="009B82"/>
                </a:solidFill>
                <a:latin typeface="Calibri"/>
              </a:rPr>
              <a:t>That is the structural advantage. FPT's world-class capability delivered through Srikumar's irreplaceable trust equity.</a:t>
            </a:r>
          </a:p>
        </p:txBody>
      </p:sp>
      <p:sp>
        <p:nvSpPr>
          <p:cNvPr id="8" name="Rounded Rectangle 7"/>
          <p:cNvSpPr/>
          <p:nvPr/>
        </p:nvSpPr>
        <p:spPr>
          <a:xfrm>
            <a:off x="9174175" y="1645920"/>
            <a:ext cx="2468880" cy="137160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57055" y="1783080"/>
            <a:ext cx="2286000" cy="640080"/>
          </a:xfrm>
          <a:prstGeom prst="rect">
            <a:avLst/>
          </a:prstGeom>
          <a:noFill/>
        </p:spPr>
        <p:txBody>
          <a:bodyPr wrap="square" anchor="t" lIns="0" rIns="0" tIns="0" bIns="0">
            <a:normAutofit/>
          </a:bodyPr>
          <a:lstStyle/>
          <a:p>
            <a:pPr algn="ctr">
              <a:lnSpc>
                <a:spcPct val="105000"/>
              </a:lnSpc>
              <a:spcBef>
                <a:spcPts val="0"/>
              </a:spcBef>
            </a:pPr>
            <a:r>
              <a:rPr sz="4200" b="1" i="0">
                <a:solidFill>
                  <a:srgbClr val="FFB800"/>
                </a:solidFill>
                <a:latin typeface="Calibri"/>
              </a:rPr>
              <a:t>88/100</a:t>
            </a:r>
          </a:p>
        </p:txBody>
      </p:sp>
      <p:sp>
        <p:nvSpPr>
          <p:cNvPr id="10" name="TextBox 9"/>
          <p:cNvSpPr txBox="1"/>
          <p:nvPr/>
        </p:nvSpPr>
        <p:spPr>
          <a:xfrm>
            <a:off x="9357055" y="2450592"/>
            <a:ext cx="2286000" cy="365760"/>
          </a:xfrm>
          <a:prstGeom prst="rect">
            <a:avLst/>
          </a:prstGeom>
          <a:noFill/>
        </p:spPr>
        <p:txBody>
          <a:bodyPr wrap="square" anchor="t" lIns="0" rIns="0" tIns="0" bIns="0">
            <a:noAutofit/>
          </a:bodyPr>
          <a:lstStyle/>
          <a:p>
            <a:pPr algn="ctr">
              <a:lnSpc>
                <a:spcPct val="105000"/>
              </a:lnSpc>
              <a:spcBef>
                <a:spcPts val="0"/>
              </a:spcBef>
            </a:pPr>
            <a:r>
              <a:rPr sz="1300" b="1" i="0">
                <a:solidFill>
                  <a:srgbClr val="00C9A7"/>
                </a:solidFill>
                <a:latin typeface="Calibri"/>
              </a:rPr>
              <a:t>EXCEPTIONAL</a:t>
            </a:r>
          </a:p>
        </p:txBody>
      </p:sp>
      <p:sp>
        <p:nvSpPr>
          <p:cNvPr id="11" name="TextBox 1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12" name="TextBox 1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27 Years · 5 Industries · 3 Countries · IIT Madras + IIM Calcutta</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Profile Snapshot</a:t>
            </a:r>
          </a:p>
        </p:txBody>
      </p:sp>
      <p:sp>
        <p:nvSpPr>
          <p:cNvPr id="7" name="Rectangle 6"/>
          <p:cNvSpPr/>
          <p:nvPr/>
        </p:nvSpPr>
        <p:spPr>
          <a:xfrm>
            <a:off x="548640" y="1572768"/>
            <a:ext cx="2194560" cy="47548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18488"/>
            <a:ext cx="2048256" cy="429768"/>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Company</a:t>
            </a:r>
          </a:p>
        </p:txBody>
      </p:sp>
      <p:sp>
        <p:nvSpPr>
          <p:cNvPr id="9" name="Rectangle 8"/>
          <p:cNvSpPr/>
          <p:nvPr/>
        </p:nvSpPr>
        <p:spPr>
          <a:xfrm>
            <a:off x="2743200" y="1572768"/>
            <a:ext cx="2560320" cy="47548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16352" y="1618488"/>
            <a:ext cx="2414016" cy="429768"/>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Role</a:t>
            </a:r>
          </a:p>
        </p:txBody>
      </p:sp>
      <p:sp>
        <p:nvSpPr>
          <p:cNvPr id="11" name="Rectangle 10"/>
          <p:cNvSpPr/>
          <p:nvPr/>
        </p:nvSpPr>
        <p:spPr>
          <a:xfrm>
            <a:off x="5303520" y="1572768"/>
            <a:ext cx="1463040" cy="47548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76672" y="1618488"/>
            <a:ext cx="1316736" cy="429768"/>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Period</a:t>
            </a:r>
          </a:p>
        </p:txBody>
      </p:sp>
      <p:sp>
        <p:nvSpPr>
          <p:cNvPr id="13" name="Rectangle 12"/>
          <p:cNvSpPr/>
          <p:nvPr/>
        </p:nvSpPr>
        <p:spPr>
          <a:xfrm>
            <a:off x="6766560" y="1572768"/>
            <a:ext cx="4663440" cy="47548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618488"/>
            <a:ext cx="4517136" cy="429768"/>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Domain</a:t>
            </a:r>
          </a:p>
        </p:txBody>
      </p:sp>
      <p:sp>
        <p:nvSpPr>
          <p:cNvPr id="15" name="Rectangle 14"/>
          <p:cNvSpPr/>
          <p:nvPr/>
        </p:nvSpPr>
        <p:spPr>
          <a:xfrm>
            <a:off x="548640" y="2048256"/>
            <a:ext cx="219456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093976"/>
            <a:ext cx="204825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FPT Software</a:t>
            </a:r>
          </a:p>
        </p:txBody>
      </p:sp>
      <p:sp>
        <p:nvSpPr>
          <p:cNvPr id="17" name="Rectangle 16"/>
          <p:cNvSpPr/>
          <p:nvPr/>
        </p:nvSpPr>
        <p:spPr>
          <a:xfrm>
            <a:off x="2743200" y="2048256"/>
            <a:ext cx="256032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16352" y="2093976"/>
            <a:ext cx="241401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Director, Strategic BD</a:t>
            </a:r>
          </a:p>
        </p:txBody>
      </p:sp>
      <p:sp>
        <p:nvSpPr>
          <p:cNvPr id="19" name="Rectangle 18"/>
          <p:cNvSpPr/>
          <p:nvPr/>
        </p:nvSpPr>
        <p:spPr>
          <a:xfrm>
            <a:off x="5303520" y="2048256"/>
            <a:ext cx="146304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76672" y="2093976"/>
            <a:ext cx="13167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2023–Present</a:t>
            </a:r>
          </a:p>
        </p:txBody>
      </p:sp>
      <p:sp>
        <p:nvSpPr>
          <p:cNvPr id="21" name="Rectangle 20"/>
          <p:cNvSpPr/>
          <p:nvPr/>
        </p:nvSpPr>
        <p:spPr>
          <a:xfrm>
            <a:off x="6766560" y="2048256"/>
            <a:ext cx="466344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9712" y="2093976"/>
            <a:ext cx="45171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GCC enablement · AI transformation · life sciences, BFSI, manufacturing</a:t>
            </a:r>
          </a:p>
        </p:txBody>
      </p:sp>
      <p:sp>
        <p:nvSpPr>
          <p:cNvPr id="23" name="Rectangle 22"/>
          <p:cNvSpPr/>
          <p:nvPr/>
        </p:nvSpPr>
        <p:spPr>
          <a:xfrm>
            <a:off x="548640" y="2523744"/>
            <a:ext cx="219456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2569464"/>
            <a:ext cx="204825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MaxedS</a:t>
            </a:r>
          </a:p>
        </p:txBody>
      </p:sp>
      <p:sp>
        <p:nvSpPr>
          <p:cNvPr id="25" name="Rectangle 24"/>
          <p:cNvSpPr/>
          <p:nvPr/>
        </p:nvSpPr>
        <p:spPr>
          <a:xfrm>
            <a:off x="2743200" y="2523744"/>
            <a:ext cx="256032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16352" y="2569464"/>
            <a:ext cx="241401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VP Client Relationship</a:t>
            </a:r>
          </a:p>
        </p:txBody>
      </p:sp>
      <p:sp>
        <p:nvSpPr>
          <p:cNvPr id="27" name="Rectangle 26"/>
          <p:cNvSpPr/>
          <p:nvPr/>
        </p:nvSpPr>
        <p:spPr>
          <a:xfrm>
            <a:off x="5303520" y="2523744"/>
            <a:ext cx="146304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76672" y="2569464"/>
            <a:ext cx="13167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2021–2023</a:t>
            </a:r>
          </a:p>
        </p:txBody>
      </p:sp>
      <p:sp>
        <p:nvSpPr>
          <p:cNvPr id="29" name="Rectangle 28"/>
          <p:cNvSpPr/>
          <p:nvPr/>
        </p:nvSpPr>
        <p:spPr>
          <a:xfrm>
            <a:off x="6766560" y="2523744"/>
            <a:ext cx="466344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39712" y="2569464"/>
            <a:ext cx="45171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UAV · EV · Utilities · Retail · Healthcare</a:t>
            </a:r>
          </a:p>
        </p:txBody>
      </p:sp>
      <p:sp>
        <p:nvSpPr>
          <p:cNvPr id="31" name="Rectangle 30"/>
          <p:cNvSpPr/>
          <p:nvPr/>
        </p:nvSpPr>
        <p:spPr>
          <a:xfrm>
            <a:off x="548640" y="2999232"/>
            <a:ext cx="219456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3044952"/>
            <a:ext cx="204825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OPUSTAYZ Hospitality</a:t>
            </a:r>
          </a:p>
        </p:txBody>
      </p:sp>
      <p:sp>
        <p:nvSpPr>
          <p:cNvPr id="33" name="Rectangle 32"/>
          <p:cNvSpPr/>
          <p:nvPr/>
        </p:nvSpPr>
        <p:spPr>
          <a:xfrm>
            <a:off x="2743200" y="2999232"/>
            <a:ext cx="256032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16352" y="3044952"/>
            <a:ext cx="241401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Director &amp; CEO</a:t>
            </a:r>
          </a:p>
        </p:txBody>
      </p:sp>
      <p:sp>
        <p:nvSpPr>
          <p:cNvPr id="35" name="Rectangle 34"/>
          <p:cNvSpPr/>
          <p:nvPr/>
        </p:nvSpPr>
        <p:spPr>
          <a:xfrm>
            <a:off x="5303520" y="2999232"/>
            <a:ext cx="146304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76672" y="3044952"/>
            <a:ext cx="13167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2016–2020</a:t>
            </a:r>
          </a:p>
        </p:txBody>
      </p:sp>
      <p:sp>
        <p:nvSpPr>
          <p:cNvPr id="37" name="Rectangle 36"/>
          <p:cNvSpPr/>
          <p:nvPr/>
        </p:nvSpPr>
        <p:spPr>
          <a:xfrm>
            <a:off x="6766560" y="2999232"/>
            <a:ext cx="466344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39712" y="3044952"/>
            <a:ext cx="45171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Hospitality tech · BLAAST Patent (COVID air sterilizer, IIT Tirupati)</a:t>
            </a:r>
          </a:p>
        </p:txBody>
      </p:sp>
      <p:sp>
        <p:nvSpPr>
          <p:cNvPr id="39" name="Rectangle 38"/>
          <p:cNvSpPr/>
          <p:nvPr/>
        </p:nvSpPr>
        <p:spPr>
          <a:xfrm>
            <a:off x="548640" y="3474720"/>
            <a:ext cx="219456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 y="3520440"/>
            <a:ext cx="204825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KC Travel Solutions</a:t>
            </a:r>
          </a:p>
        </p:txBody>
      </p:sp>
      <p:sp>
        <p:nvSpPr>
          <p:cNvPr id="41" name="Rectangle 40"/>
          <p:cNvSpPr/>
          <p:nvPr/>
        </p:nvSpPr>
        <p:spPr>
          <a:xfrm>
            <a:off x="2743200" y="3474720"/>
            <a:ext cx="256032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16352" y="3520440"/>
            <a:ext cx="241401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Director &amp; COO</a:t>
            </a:r>
          </a:p>
        </p:txBody>
      </p:sp>
      <p:sp>
        <p:nvSpPr>
          <p:cNvPr id="43" name="Rectangle 42"/>
          <p:cNvSpPr/>
          <p:nvPr/>
        </p:nvSpPr>
        <p:spPr>
          <a:xfrm>
            <a:off x="5303520" y="3474720"/>
            <a:ext cx="146304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76672" y="3520440"/>
            <a:ext cx="13167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2014–2015</a:t>
            </a:r>
          </a:p>
        </p:txBody>
      </p:sp>
      <p:sp>
        <p:nvSpPr>
          <p:cNvPr id="45" name="Rectangle 44"/>
          <p:cNvSpPr/>
          <p:nvPr/>
        </p:nvSpPr>
        <p:spPr>
          <a:xfrm>
            <a:off x="6766560" y="3474720"/>
            <a:ext cx="466344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39712" y="3520440"/>
            <a:ext cx="45171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SaaS travel platform · 300+ agents · AI/AR/VR personalization concept (Ci2Te2)</a:t>
            </a:r>
          </a:p>
        </p:txBody>
      </p:sp>
      <p:sp>
        <p:nvSpPr>
          <p:cNvPr id="47" name="Rectangle 46"/>
          <p:cNvSpPr/>
          <p:nvPr/>
        </p:nvSpPr>
        <p:spPr>
          <a:xfrm>
            <a:off x="548640" y="3950208"/>
            <a:ext cx="219456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3995928"/>
            <a:ext cx="204825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Interserve Travel</a:t>
            </a:r>
          </a:p>
        </p:txBody>
      </p:sp>
      <p:sp>
        <p:nvSpPr>
          <p:cNvPr id="49" name="Rectangle 48"/>
          <p:cNvSpPr/>
          <p:nvPr/>
        </p:nvSpPr>
        <p:spPr>
          <a:xfrm>
            <a:off x="2743200" y="3950208"/>
            <a:ext cx="256032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16352" y="3995928"/>
            <a:ext cx="241401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VP Strategy &amp; Operations</a:t>
            </a:r>
          </a:p>
        </p:txBody>
      </p:sp>
      <p:sp>
        <p:nvSpPr>
          <p:cNvPr id="51" name="Rectangle 50"/>
          <p:cNvSpPr/>
          <p:nvPr/>
        </p:nvSpPr>
        <p:spPr>
          <a:xfrm>
            <a:off x="5303520" y="3950208"/>
            <a:ext cx="146304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76672" y="3995928"/>
            <a:ext cx="13167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2008–2014</a:t>
            </a:r>
          </a:p>
        </p:txBody>
      </p:sp>
      <p:sp>
        <p:nvSpPr>
          <p:cNvPr id="53" name="Rectangle 52"/>
          <p:cNvSpPr/>
          <p:nvPr/>
        </p:nvSpPr>
        <p:spPr>
          <a:xfrm>
            <a:off x="6766560" y="3950208"/>
            <a:ext cx="466344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39712" y="3995928"/>
            <a:ext cx="45171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Airline sales · portal · 150+ agency rollout</a:t>
            </a:r>
          </a:p>
        </p:txBody>
      </p:sp>
      <p:sp>
        <p:nvSpPr>
          <p:cNvPr id="55" name="Rectangle 54"/>
          <p:cNvSpPr/>
          <p:nvPr/>
        </p:nvSpPr>
        <p:spPr>
          <a:xfrm>
            <a:off x="548640" y="4425696"/>
            <a:ext cx="219456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4471416"/>
            <a:ext cx="204825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Intelligent Media Tech</a:t>
            </a:r>
          </a:p>
        </p:txBody>
      </p:sp>
      <p:sp>
        <p:nvSpPr>
          <p:cNvPr id="57" name="Rectangle 56"/>
          <p:cNvSpPr/>
          <p:nvPr/>
        </p:nvSpPr>
        <p:spPr>
          <a:xfrm>
            <a:off x="2743200" y="4425696"/>
            <a:ext cx="256032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816352" y="4471416"/>
            <a:ext cx="241401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Director</a:t>
            </a:r>
          </a:p>
        </p:txBody>
      </p:sp>
      <p:sp>
        <p:nvSpPr>
          <p:cNvPr id="59" name="Rectangle 58"/>
          <p:cNvSpPr/>
          <p:nvPr/>
        </p:nvSpPr>
        <p:spPr>
          <a:xfrm>
            <a:off x="5303520" y="4425696"/>
            <a:ext cx="146304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76672" y="4471416"/>
            <a:ext cx="13167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2006–2008</a:t>
            </a:r>
          </a:p>
        </p:txBody>
      </p:sp>
      <p:sp>
        <p:nvSpPr>
          <p:cNvPr id="61" name="Rectangle 60"/>
          <p:cNvSpPr/>
          <p:nvPr/>
        </p:nvSpPr>
        <p:spPr>
          <a:xfrm>
            <a:off x="6766560" y="4425696"/>
            <a:ext cx="466344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39712" y="4471416"/>
            <a:ext cx="45171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Digital signage i-Screen · Malaysia &amp; India · USD 1M Malaysian govt grant</a:t>
            </a:r>
          </a:p>
        </p:txBody>
      </p:sp>
      <p:sp>
        <p:nvSpPr>
          <p:cNvPr id="63" name="Rectangle 62"/>
          <p:cNvSpPr/>
          <p:nvPr/>
        </p:nvSpPr>
        <p:spPr>
          <a:xfrm>
            <a:off x="548640" y="4901184"/>
            <a:ext cx="219456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1792" y="4946904"/>
            <a:ext cx="204825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Virinchi / Starspot</a:t>
            </a:r>
          </a:p>
        </p:txBody>
      </p:sp>
      <p:sp>
        <p:nvSpPr>
          <p:cNvPr id="65" name="Rectangle 64"/>
          <p:cNvSpPr/>
          <p:nvPr/>
        </p:nvSpPr>
        <p:spPr>
          <a:xfrm>
            <a:off x="2743200" y="4901184"/>
            <a:ext cx="256032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16352" y="4946904"/>
            <a:ext cx="241401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VP / Director</a:t>
            </a:r>
          </a:p>
        </p:txBody>
      </p:sp>
      <p:sp>
        <p:nvSpPr>
          <p:cNvPr id="67" name="Rectangle 66"/>
          <p:cNvSpPr/>
          <p:nvPr/>
        </p:nvSpPr>
        <p:spPr>
          <a:xfrm>
            <a:off x="5303520" y="4901184"/>
            <a:ext cx="146304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376672" y="4946904"/>
            <a:ext cx="13167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2001–2008</a:t>
            </a:r>
          </a:p>
        </p:txBody>
      </p:sp>
      <p:sp>
        <p:nvSpPr>
          <p:cNvPr id="69" name="Rectangle 68"/>
          <p:cNvSpPr/>
          <p:nvPr/>
        </p:nvSpPr>
        <p:spPr>
          <a:xfrm>
            <a:off x="6766560" y="4901184"/>
            <a:ext cx="4663440"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839712" y="4946904"/>
            <a:ext cx="45171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Enterprise software · Bollywood distribution · SE Asia · 50-engineer team</a:t>
            </a:r>
          </a:p>
        </p:txBody>
      </p:sp>
      <p:sp>
        <p:nvSpPr>
          <p:cNvPr id="71" name="Rectangle 70"/>
          <p:cNvSpPr/>
          <p:nvPr/>
        </p:nvSpPr>
        <p:spPr>
          <a:xfrm>
            <a:off x="548640" y="5376672"/>
            <a:ext cx="219456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1792" y="5422392"/>
            <a:ext cx="204825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Education</a:t>
            </a:r>
          </a:p>
        </p:txBody>
      </p:sp>
      <p:sp>
        <p:nvSpPr>
          <p:cNvPr id="73" name="Rectangle 72"/>
          <p:cNvSpPr/>
          <p:nvPr/>
        </p:nvSpPr>
        <p:spPr>
          <a:xfrm>
            <a:off x="2743200" y="5376672"/>
            <a:ext cx="256032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16352" y="5422392"/>
            <a:ext cx="241401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IIM Calcutta PGDM (Marketing/Finance/HR)  +  IIT Madras B.Tech Chemical Engineering</a:t>
            </a:r>
          </a:p>
        </p:txBody>
      </p:sp>
      <p:sp>
        <p:nvSpPr>
          <p:cNvPr id="75" name="Rectangle 74"/>
          <p:cNvSpPr/>
          <p:nvPr/>
        </p:nvSpPr>
        <p:spPr>
          <a:xfrm>
            <a:off x="5303520" y="5376672"/>
            <a:ext cx="146304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376672" y="5422392"/>
            <a:ext cx="13167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
            </a:r>
          </a:p>
        </p:txBody>
      </p:sp>
      <p:sp>
        <p:nvSpPr>
          <p:cNvPr id="77" name="Rectangle 76"/>
          <p:cNvSpPr/>
          <p:nvPr/>
        </p:nvSpPr>
        <p:spPr>
          <a:xfrm>
            <a:off x="6766560" y="5376672"/>
            <a:ext cx="4663440"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839712" y="5422392"/>
            <a:ext cx="4517136" cy="429768"/>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
            </a:r>
          </a:p>
        </p:txBody>
      </p:sp>
      <p:sp>
        <p:nvSpPr>
          <p:cNvPr id="79" name="TextBox 7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80" name="TextBox 7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Four Dimensions · One Intersection · One Unique Position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Ikigai Map</a:t>
            </a:r>
          </a:p>
        </p:txBody>
      </p:sp>
      <p:sp>
        <p:nvSpPr>
          <p:cNvPr id="7" name="Rounded Rectangle 6"/>
          <p:cNvSpPr/>
          <p:nvPr/>
        </p:nvSpPr>
        <p:spPr>
          <a:xfrm>
            <a:off x="548640" y="1572768"/>
            <a:ext cx="5394960" cy="21945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539496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64208"/>
            <a:ext cx="5212080" cy="292608"/>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WHAT HE LOVES</a:t>
            </a:r>
          </a:p>
        </p:txBody>
      </p:sp>
      <p:sp>
        <p:nvSpPr>
          <p:cNvPr id="10" name="TextBox 9"/>
          <p:cNvSpPr txBox="1"/>
          <p:nvPr/>
        </p:nvSpPr>
        <p:spPr>
          <a:xfrm>
            <a:off x="685800" y="2011680"/>
            <a:ext cx="5212080" cy="1691640"/>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Building ventures from scratch · Cross-industry strategic partnerships · Enabling GCC transformation · Emerging tech as business lever · Being the connector · Watching partners win</a:t>
            </a:r>
          </a:p>
        </p:txBody>
      </p:sp>
      <p:sp>
        <p:nvSpPr>
          <p:cNvPr id="11" name="Rounded Rectangle 10"/>
          <p:cNvSpPr/>
          <p:nvPr/>
        </p:nvSpPr>
        <p:spPr>
          <a:xfrm>
            <a:off x="6080760" y="1572768"/>
            <a:ext cx="5394960" cy="219456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80760" y="1572768"/>
            <a:ext cx="539496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664208"/>
            <a:ext cx="5212080" cy="292608"/>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WHAT HE'S GOOD AT</a:t>
            </a:r>
          </a:p>
        </p:txBody>
      </p:sp>
      <p:sp>
        <p:nvSpPr>
          <p:cNvPr id="14" name="TextBox 13"/>
          <p:cNvSpPr txBox="1"/>
          <p:nvPr/>
        </p:nvSpPr>
        <p:spPr>
          <a:xfrm>
            <a:off x="6217920" y="2011680"/>
            <a:ext cx="5212080" cy="1691640"/>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Opening GCC CXO doors · Translating FPT's tech depth into business outcomes · Cross-industry pattern matching · Multi-geography BD (India + Malaysia + SE Asia) · IIT+IIM rigor · Long-cycle enterprise deals</a:t>
            </a:r>
          </a:p>
        </p:txBody>
      </p:sp>
      <p:sp>
        <p:nvSpPr>
          <p:cNvPr id="15" name="Rounded Rectangle 14"/>
          <p:cNvSpPr/>
          <p:nvPr/>
        </p:nvSpPr>
        <p:spPr>
          <a:xfrm>
            <a:off x="548640" y="3904488"/>
            <a:ext cx="5394960" cy="2194560"/>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04488"/>
            <a:ext cx="539496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995928"/>
            <a:ext cx="5212080" cy="292608"/>
          </a:xfrm>
          <a:prstGeom prst="rect">
            <a:avLst/>
          </a:prstGeom>
          <a:noFill/>
        </p:spPr>
        <p:txBody>
          <a:bodyPr wrap="square" anchor="t" lIns="0" rIns="0" tIns="0" bIns="0">
            <a:noAutofit/>
          </a:bodyPr>
          <a:lstStyle/>
          <a:p>
            <a:pPr algn="l">
              <a:lnSpc>
                <a:spcPct val="105000"/>
              </a:lnSpc>
              <a:spcBef>
                <a:spcPts val="0"/>
              </a:spcBef>
            </a:pPr>
            <a:r>
              <a:rPr sz="1200" b="1" i="0">
                <a:solidFill>
                  <a:srgbClr val="FFFFFF"/>
                </a:solidFill>
                <a:latin typeface="Calibri"/>
              </a:rPr>
              <a:t>WHAT THE WORLD NEEDS</a:t>
            </a:r>
          </a:p>
        </p:txBody>
      </p:sp>
      <p:sp>
        <p:nvSpPr>
          <p:cNvPr id="18" name="TextBox 17"/>
          <p:cNvSpPr txBox="1"/>
          <p:nvPr/>
        </p:nvSpPr>
        <p:spPr>
          <a:xfrm>
            <a:off x="685800" y="4343400"/>
            <a:ext cx="5212080" cy="1691640"/>
          </a:xfrm>
          <a:prstGeom prst="rect">
            <a:avLst/>
          </a:prstGeom>
          <a:noFill/>
        </p:spPr>
        <p:txBody>
          <a:bodyPr wrap="square" anchor="t" lIns="0" rIns="0" tIns="0" bIns="0">
            <a:normAutofit/>
          </a:bodyPr>
          <a:lstStyle/>
          <a:p>
            <a:pPr algn="l">
              <a:lnSpc>
                <a:spcPct val="105000"/>
              </a:lnSpc>
              <a:spcBef>
                <a:spcPts val="0"/>
              </a:spcBef>
            </a:pPr>
            <a:r>
              <a:rPr sz="1050" b="0" i="0">
                <a:solidFill>
                  <a:srgbClr val="FFFFFF"/>
                </a:solidFill>
                <a:latin typeface="Calibri"/>
              </a:rPr>
              <a:t>FPT's AI-first stack delivered to GCCs with board AI mandates · FleziPT in production · Legacy modernization via xMainframe/EMT · Vertical AI: KnowMed.ai, Virtual Factory · India delivery at scale</a:t>
            </a:r>
          </a:p>
        </p:txBody>
      </p:sp>
      <p:sp>
        <p:nvSpPr>
          <p:cNvPr id="19" name="Rounded Rectangle 18"/>
          <p:cNvSpPr/>
          <p:nvPr/>
        </p:nvSpPr>
        <p:spPr>
          <a:xfrm>
            <a:off x="6080760" y="3904488"/>
            <a:ext cx="5394960" cy="21945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80760" y="3904488"/>
            <a:ext cx="539496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3995928"/>
            <a:ext cx="5212080" cy="292608"/>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WHAT PAYS</a:t>
            </a:r>
          </a:p>
        </p:txBody>
      </p:sp>
      <p:sp>
        <p:nvSpPr>
          <p:cNvPr id="22" name="TextBox 21"/>
          <p:cNvSpPr txBox="1"/>
          <p:nvPr/>
        </p:nvSpPr>
        <p:spPr>
          <a:xfrm>
            <a:off x="6217920" y="4343400"/>
            <a:ext cx="5212080" cy="1691640"/>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$2M–$10M/year Transformation Programs · $10M–$30M Strategic AI Partnerships · Managed services renewal tails · Platform licensing (FleziPT, KnowMed.ai) · FPT $10M+ contracts doubled YoY</a:t>
            </a:r>
          </a:p>
        </p:txBody>
      </p:sp>
      <p:sp>
        <p:nvSpPr>
          <p:cNvPr id="23" name="Rounded Rectangle 22"/>
          <p:cNvSpPr/>
          <p:nvPr/>
        </p:nvSpPr>
        <p:spPr>
          <a:xfrm>
            <a:off x="5440680" y="3584448"/>
            <a:ext cx="1143000" cy="502920"/>
          </a:xfrm>
          <a:prstGeom prst="roundRect">
            <a:avLst>
              <a:gd name="adj" fmla="val 6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04688" y="3630168"/>
            <a:ext cx="1005840" cy="411480"/>
          </a:xfrm>
          <a:prstGeom prst="rect">
            <a:avLst/>
          </a:prstGeom>
          <a:noFill/>
        </p:spPr>
        <p:txBody>
          <a:bodyPr wrap="square" anchor="ctr" lIns="0" rIns="0" tIns="0" bIns="0">
            <a:normAutofit/>
          </a:bodyPr>
          <a:lstStyle/>
          <a:p>
            <a:pPr algn="ctr">
              <a:lnSpc>
                <a:spcPct val="105000"/>
              </a:lnSpc>
              <a:spcBef>
                <a:spcPts val="0"/>
              </a:spcBef>
            </a:pPr>
            <a:r>
              <a:rPr sz="800" b="1" i="0">
                <a:solidFill>
                  <a:srgbClr val="0A1628"/>
                </a:solidFill>
                <a:latin typeface="Calibri"/>
              </a:rPr>
              <a:t>IKIGAI
INTERSECTION</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GCCs Have the Mandate · FPT Has Every Piece of the Stack</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What the World Needs — FPT Software Capabilities</a:t>
            </a:r>
          </a:p>
        </p:txBody>
      </p:sp>
      <p:sp>
        <p:nvSpPr>
          <p:cNvPr id="7" name="Rectangle 6"/>
          <p:cNvSpPr/>
          <p:nvPr/>
        </p:nvSpPr>
        <p:spPr>
          <a:xfrm>
            <a:off x="548640" y="1536192"/>
            <a:ext cx="2926080" cy="49377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581912"/>
            <a:ext cx="2779776" cy="448056"/>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GCC Need</a:t>
            </a:r>
          </a:p>
        </p:txBody>
      </p:sp>
      <p:sp>
        <p:nvSpPr>
          <p:cNvPr id="9" name="Rectangle 8"/>
          <p:cNvSpPr/>
          <p:nvPr/>
        </p:nvSpPr>
        <p:spPr>
          <a:xfrm>
            <a:off x="3474720" y="1536192"/>
            <a:ext cx="5669280" cy="49377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581912"/>
            <a:ext cx="5522976" cy="448056"/>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FPT Capability</a:t>
            </a:r>
          </a:p>
        </p:txBody>
      </p:sp>
      <p:sp>
        <p:nvSpPr>
          <p:cNvPr id="11" name="Rectangle 10"/>
          <p:cNvSpPr/>
          <p:nvPr/>
        </p:nvSpPr>
        <p:spPr>
          <a:xfrm>
            <a:off x="9144000" y="1536192"/>
            <a:ext cx="2286000" cy="49377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17152" y="1581912"/>
            <a:ext cx="2139696" cy="448056"/>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Platform / Product</a:t>
            </a:r>
          </a:p>
        </p:txBody>
      </p:sp>
      <p:sp>
        <p:nvSpPr>
          <p:cNvPr id="13" name="Rectangle 12"/>
          <p:cNvSpPr/>
          <p:nvPr/>
        </p:nvSpPr>
        <p:spPr>
          <a:xfrm>
            <a:off x="548640" y="2029968"/>
            <a:ext cx="292608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075688"/>
            <a:ext cx="27797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AI in production — not just pilots</a:t>
            </a:r>
          </a:p>
        </p:txBody>
      </p:sp>
      <p:sp>
        <p:nvSpPr>
          <p:cNvPr id="15" name="Rectangle 14"/>
          <p:cNvSpPr/>
          <p:nvPr/>
        </p:nvSpPr>
        <p:spPr>
          <a:xfrm>
            <a:off x="3474720" y="2029968"/>
            <a:ext cx="566928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7872" y="2075688"/>
            <a:ext cx="55229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Enterprise AI deployment with full lifecycle management</a:t>
            </a:r>
          </a:p>
        </p:txBody>
      </p:sp>
      <p:sp>
        <p:nvSpPr>
          <p:cNvPr id="17" name="Rectangle 16"/>
          <p:cNvSpPr/>
          <p:nvPr/>
        </p:nvSpPr>
        <p:spPr>
          <a:xfrm>
            <a:off x="9144000" y="2029968"/>
            <a:ext cx="228600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17152" y="2075688"/>
            <a:ext cx="213969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FleziPT</a:t>
            </a:r>
          </a:p>
        </p:txBody>
      </p:sp>
      <p:sp>
        <p:nvSpPr>
          <p:cNvPr id="19" name="Rectangle 18"/>
          <p:cNvSpPr/>
          <p:nvPr/>
        </p:nvSpPr>
        <p:spPr>
          <a:xfrm>
            <a:off x="548640" y="2523744"/>
            <a:ext cx="292608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2569464"/>
            <a:ext cx="27797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Legacy stack blocking AI adoption</a:t>
            </a:r>
          </a:p>
        </p:txBody>
      </p:sp>
      <p:sp>
        <p:nvSpPr>
          <p:cNvPr id="21" name="Rectangle 20"/>
          <p:cNvSpPr/>
          <p:nvPr/>
        </p:nvSpPr>
        <p:spPr>
          <a:xfrm>
            <a:off x="3474720" y="2523744"/>
            <a:ext cx="566928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47872" y="2569464"/>
            <a:ext cx="55229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AI-powered mainframe modernization — 30% faster onboarding, 90% accuracy</a:t>
            </a:r>
          </a:p>
        </p:txBody>
      </p:sp>
      <p:sp>
        <p:nvSpPr>
          <p:cNvPr id="23" name="Rectangle 22"/>
          <p:cNvSpPr/>
          <p:nvPr/>
        </p:nvSpPr>
        <p:spPr>
          <a:xfrm>
            <a:off x="9144000" y="2523744"/>
            <a:ext cx="228600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17152" y="2569464"/>
            <a:ext cx="213969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EMT + xMainframe</a:t>
            </a:r>
          </a:p>
        </p:txBody>
      </p:sp>
      <p:sp>
        <p:nvSpPr>
          <p:cNvPr id="25" name="Rectangle 24"/>
          <p:cNvSpPr/>
          <p:nvPr/>
        </p:nvSpPr>
        <p:spPr>
          <a:xfrm>
            <a:off x="548640" y="3017520"/>
            <a:ext cx="292608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063240"/>
            <a:ext cx="27797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Developer velocity without headcount</a:t>
            </a:r>
          </a:p>
        </p:txBody>
      </p:sp>
      <p:sp>
        <p:nvSpPr>
          <p:cNvPr id="27" name="Rectangle 26"/>
          <p:cNvSpPr/>
          <p:nvPr/>
        </p:nvSpPr>
        <p:spPr>
          <a:xfrm>
            <a:off x="3474720" y="3017520"/>
            <a:ext cx="566928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47872" y="3063240"/>
            <a:ext cx="55229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AI productivity tooling — 30% efficiency gain, 6,000 man-months saved</a:t>
            </a:r>
          </a:p>
        </p:txBody>
      </p:sp>
      <p:sp>
        <p:nvSpPr>
          <p:cNvPr id="29" name="Rectangle 28"/>
          <p:cNvSpPr/>
          <p:nvPr/>
        </p:nvSpPr>
        <p:spPr>
          <a:xfrm>
            <a:off x="9144000" y="3017520"/>
            <a:ext cx="228600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17152" y="3063240"/>
            <a:ext cx="213969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CodeVista</a:t>
            </a:r>
          </a:p>
        </p:txBody>
      </p:sp>
      <p:sp>
        <p:nvSpPr>
          <p:cNvPr id="31" name="Rectangle 30"/>
          <p:cNvSpPr/>
          <p:nvPr/>
        </p:nvSpPr>
        <p:spPr>
          <a:xfrm>
            <a:off x="548640" y="3511296"/>
            <a:ext cx="292608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3557016"/>
            <a:ext cx="27797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Healthcare GCC AI</a:t>
            </a:r>
          </a:p>
        </p:txBody>
      </p:sp>
      <p:sp>
        <p:nvSpPr>
          <p:cNvPr id="33" name="Rectangle 32"/>
          <p:cNvSpPr/>
          <p:nvPr/>
        </p:nvSpPr>
        <p:spPr>
          <a:xfrm>
            <a:off x="3474720" y="3511296"/>
            <a:ext cx="566928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47872" y="3557016"/>
            <a:ext cx="55229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Industry-specific AI platform for life sciences &amp; HIPAA-compliant workflows</a:t>
            </a:r>
          </a:p>
        </p:txBody>
      </p:sp>
      <p:sp>
        <p:nvSpPr>
          <p:cNvPr id="35" name="Rectangle 34"/>
          <p:cNvSpPr/>
          <p:nvPr/>
        </p:nvSpPr>
        <p:spPr>
          <a:xfrm>
            <a:off x="9144000" y="3511296"/>
            <a:ext cx="228600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17152" y="3557016"/>
            <a:ext cx="213969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KnowMed.ai</a:t>
            </a:r>
          </a:p>
        </p:txBody>
      </p:sp>
      <p:sp>
        <p:nvSpPr>
          <p:cNvPr id="37" name="Rectangle 36"/>
          <p:cNvSpPr/>
          <p:nvPr/>
        </p:nvSpPr>
        <p:spPr>
          <a:xfrm>
            <a:off x="548640" y="4005072"/>
            <a:ext cx="292608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4050792"/>
            <a:ext cx="27797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Manufacturing GCC AI</a:t>
            </a:r>
          </a:p>
        </p:txBody>
      </p:sp>
      <p:sp>
        <p:nvSpPr>
          <p:cNvPr id="39" name="Rectangle 38"/>
          <p:cNvSpPr/>
          <p:nvPr/>
        </p:nvSpPr>
        <p:spPr>
          <a:xfrm>
            <a:off x="3474720" y="4005072"/>
            <a:ext cx="566928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47872" y="4050792"/>
            <a:ext cx="55229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Anomaly detection, computer vision, predictive maintenance at plant level</a:t>
            </a:r>
          </a:p>
        </p:txBody>
      </p:sp>
      <p:sp>
        <p:nvSpPr>
          <p:cNvPr id="41" name="Rectangle 40"/>
          <p:cNvSpPr/>
          <p:nvPr/>
        </p:nvSpPr>
        <p:spPr>
          <a:xfrm>
            <a:off x="9144000" y="4005072"/>
            <a:ext cx="228600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17152" y="4050792"/>
            <a:ext cx="213969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Virtual Factory</a:t>
            </a:r>
          </a:p>
        </p:txBody>
      </p:sp>
      <p:sp>
        <p:nvSpPr>
          <p:cNvPr id="43" name="Rectangle 42"/>
          <p:cNvSpPr/>
          <p:nvPr/>
        </p:nvSpPr>
        <p:spPr>
          <a:xfrm>
            <a:off x="548640" y="4498848"/>
            <a:ext cx="292608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 y="4544568"/>
            <a:ext cx="27797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Automotive / IoT AI</a:t>
            </a:r>
          </a:p>
        </p:txBody>
      </p:sp>
      <p:sp>
        <p:nvSpPr>
          <p:cNvPr id="45" name="Rectangle 44"/>
          <p:cNvSpPr/>
          <p:nvPr/>
        </p:nvSpPr>
        <p:spPr>
          <a:xfrm>
            <a:off x="3474720" y="4498848"/>
            <a:ext cx="566928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47872" y="4544568"/>
            <a:ext cx="55229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Multi-agent edge AI on Qualcomm/NVIDIA — low-latency on-device intelligence</a:t>
            </a:r>
          </a:p>
        </p:txBody>
      </p:sp>
      <p:sp>
        <p:nvSpPr>
          <p:cNvPr id="47" name="Rectangle 46"/>
          <p:cNvSpPr/>
          <p:nvPr/>
        </p:nvSpPr>
        <p:spPr>
          <a:xfrm>
            <a:off x="9144000" y="4498848"/>
            <a:ext cx="228600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17152" y="4544568"/>
            <a:ext cx="213969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Edge AI Orchestrator</a:t>
            </a:r>
          </a:p>
        </p:txBody>
      </p:sp>
      <p:sp>
        <p:nvSpPr>
          <p:cNvPr id="49" name="Rectangle 48"/>
          <p:cNvSpPr/>
          <p:nvPr/>
        </p:nvSpPr>
        <p:spPr>
          <a:xfrm>
            <a:off x="548640" y="4992624"/>
            <a:ext cx="292608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5038344"/>
            <a:ext cx="27797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Strategy to execution in one partner</a:t>
            </a:r>
          </a:p>
        </p:txBody>
      </p:sp>
      <p:sp>
        <p:nvSpPr>
          <p:cNvPr id="51" name="Rectangle 50"/>
          <p:cNvSpPr/>
          <p:nvPr/>
        </p:nvSpPr>
        <p:spPr>
          <a:xfrm>
            <a:off x="3474720" y="4992624"/>
            <a:ext cx="566928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547872" y="5038344"/>
            <a:ext cx="55229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Assessment + delivery framework — from roadmap to measurable impact</a:t>
            </a:r>
          </a:p>
        </p:txBody>
      </p:sp>
      <p:sp>
        <p:nvSpPr>
          <p:cNvPr id="53" name="Rectangle 52"/>
          <p:cNvSpPr/>
          <p:nvPr/>
        </p:nvSpPr>
        <p:spPr>
          <a:xfrm>
            <a:off x="9144000" y="4992624"/>
            <a:ext cx="228600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17152" y="5038344"/>
            <a:ext cx="213969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CASAN Framework</a:t>
            </a:r>
          </a:p>
        </p:txBody>
      </p:sp>
      <p:sp>
        <p:nvSpPr>
          <p:cNvPr id="55" name="Rectangle 54"/>
          <p:cNvSpPr/>
          <p:nvPr/>
        </p:nvSpPr>
        <p:spPr>
          <a:xfrm>
            <a:off x="548640" y="5486400"/>
            <a:ext cx="292608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5532120"/>
            <a:ext cx="27797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Testing automation (regulated industries)</a:t>
            </a:r>
          </a:p>
        </p:txBody>
      </p:sp>
      <p:sp>
        <p:nvSpPr>
          <p:cNvPr id="57" name="Rectangle 56"/>
          <p:cNvSpPr/>
          <p:nvPr/>
        </p:nvSpPr>
        <p:spPr>
          <a:xfrm>
            <a:off x="3474720" y="5486400"/>
            <a:ext cx="566928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547872" y="5532120"/>
            <a:ext cx="552297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80% manual testing automated · V-Model and A-SPICE compliant</a:t>
            </a:r>
          </a:p>
        </p:txBody>
      </p:sp>
      <p:sp>
        <p:nvSpPr>
          <p:cNvPr id="59" name="Rectangle 58"/>
          <p:cNvSpPr/>
          <p:nvPr/>
        </p:nvSpPr>
        <p:spPr>
          <a:xfrm>
            <a:off x="9144000" y="5486400"/>
            <a:ext cx="228600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17152" y="5532120"/>
            <a:ext cx="2139696" cy="448056"/>
          </a:xfrm>
          <a:prstGeom prst="rect">
            <a:avLst/>
          </a:prstGeom>
          <a:noFill/>
        </p:spPr>
        <p:txBody>
          <a:bodyPr wrap="square" anchor="ctr" lIns="0" rIns="0" tIns="0" bIns="0">
            <a:normAutofit/>
          </a:bodyPr>
          <a:lstStyle/>
          <a:p>
            <a:pPr algn="l">
              <a:lnSpc>
                <a:spcPct val="105000"/>
              </a:lnSpc>
              <a:spcBef>
                <a:spcPts val="0"/>
              </a:spcBef>
            </a:pPr>
            <a:r>
              <a:rPr sz="1050" b="0" i="0">
                <a:solidFill>
                  <a:srgbClr val="1B2B3C"/>
                </a:solidFill>
                <a:latin typeface="Calibri"/>
              </a:rPr>
              <a:t>AI Testing Loop</a:t>
            </a:r>
          </a:p>
        </p:txBody>
      </p:sp>
      <p:sp>
        <p:nvSpPr>
          <p:cNvPr id="61" name="TextBox 6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62" name="TextBox 6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594360"/>
          </a:xfrm>
          <a:prstGeom prst="rect">
            <a:avLst/>
          </a:prstGeom>
          <a:noFill/>
        </p:spPr>
        <p:txBody>
          <a:bodyPr wrap="square" anchor="t" lIns="0" rIns="0" tIns="0" bIns="0">
            <a:normAutofit/>
          </a:bodyPr>
          <a:lstStyle/>
          <a:p>
            <a:pPr algn="l">
              <a:lnSpc>
                <a:spcPct val="105000"/>
              </a:lnSpc>
              <a:spcBef>
                <a:spcPts val="0"/>
              </a:spcBef>
            </a:pPr>
            <a:r>
              <a:rPr sz="2600" b="1" i="0">
                <a:solidFill>
                  <a:srgbClr val="FFFFFF"/>
                </a:solidFill>
                <a:latin typeface="Calibri"/>
              </a:rPr>
              <a:t>FPT's AI-First Platform Stack — Built for Enterprise GCC Deployment</a:t>
            </a:r>
          </a:p>
        </p:txBody>
      </p:sp>
      <p:sp>
        <p:nvSpPr>
          <p:cNvPr id="5" name="Rectangle 4"/>
          <p:cNvSpPr/>
          <p:nvPr/>
        </p:nvSpPr>
        <p:spPr>
          <a:xfrm>
            <a:off x="548640" y="987552"/>
            <a:ext cx="10972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15568"/>
            <a:ext cx="11094415" cy="32004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Eight platforms. One integrated stack. Production-grade for GCC environments.</a:t>
            </a:r>
          </a:p>
        </p:txBody>
      </p:sp>
      <p:sp>
        <p:nvSpPr>
          <p:cNvPr id="7" name="Rounded Rectangle 6"/>
          <p:cNvSpPr/>
          <p:nvPr/>
        </p:nvSpPr>
        <p:spPr>
          <a:xfrm>
            <a:off x="548640" y="1572768"/>
            <a:ext cx="5349240" cy="1115568"/>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64008"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45920"/>
            <a:ext cx="5166360"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FleziPT</a:t>
            </a:r>
          </a:p>
        </p:txBody>
      </p:sp>
      <p:sp>
        <p:nvSpPr>
          <p:cNvPr id="10" name="TextBox 9"/>
          <p:cNvSpPr txBox="1"/>
          <p:nvPr/>
        </p:nvSpPr>
        <p:spPr>
          <a:xfrm>
            <a:off x="685800" y="1920240"/>
            <a:ext cx="5166360" cy="676656"/>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AI production platform: data readiness, model integration, validation, traceability &amp; operational monitoring</a:t>
            </a:r>
          </a:p>
        </p:txBody>
      </p:sp>
      <p:sp>
        <p:nvSpPr>
          <p:cNvPr id="11" name="Rounded Rectangle 10"/>
          <p:cNvSpPr/>
          <p:nvPr/>
        </p:nvSpPr>
        <p:spPr>
          <a:xfrm>
            <a:off x="6025896" y="1572768"/>
            <a:ext cx="5349240" cy="1115568"/>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25896" y="1572768"/>
            <a:ext cx="64008"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1645920"/>
            <a:ext cx="5166360"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xMainframe</a:t>
            </a:r>
          </a:p>
        </p:txBody>
      </p:sp>
      <p:sp>
        <p:nvSpPr>
          <p:cNvPr id="14" name="TextBox 13"/>
          <p:cNvSpPr txBox="1"/>
          <p:nvPr/>
        </p:nvSpPr>
        <p:spPr>
          <a:xfrm>
            <a:off x="6163056" y="1920240"/>
            <a:ext cx="5166360" cy="676656"/>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AI mainframe migration · 30% faster onboarding · 90% accuracy · transforms monthly cycles to weekly</a:t>
            </a:r>
          </a:p>
        </p:txBody>
      </p:sp>
      <p:sp>
        <p:nvSpPr>
          <p:cNvPr id="15" name="Rounded Rectangle 14"/>
          <p:cNvSpPr/>
          <p:nvPr/>
        </p:nvSpPr>
        <p:spPr>
          <a:xfrm>
            <a:off x="548640" y="2816352"/>
            <a:ext cx="5349240" cy="1115568"/>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16352"/>
            <a:ext cx="64008"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889504"/>
            <a:ext cx="5166360"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CodeVista</a:t>
            </a:r>
          </a:p>
        </p:txBody>
      </p:sp>
      <p:sp>
        <p:nvSpPr>
          <p:cNvPr id="18" name="TextBox 17"/>
          <p:cNvSpPr txBox="1"/>
          <p:nvPr/>
        </p:nvSpPr>
        <p:spPr>
          <a:xfrm>
            <a:off x="685800" y="3163824"/>
            <a:ext cx="5166360" cy="676656"/>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AI developer productivity · 30% efficiency gain · 1.5M lines generated · 6,000 man-months saved</a:t>
            </a:r>
          </a:p>
        </p:txBody>
      </p:sp>
      <p:sp>
        <p:nvSpPr>
          <p:cNvPr id="19" name="Rounded Rectangle 18"/>
          <p:cNvSpPr/>
          <p:nvPr/>
        </p:nvSpPr>
        <p:spPr>
          <a:xfrm>
            <a:off x="6025896" y="2816352"/>
            <a:ext cx="5349240" cy="1115568"/>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25896" y="2816352"/>
            <a:ext cx="64008"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63056" y="2889504"/>
            <a:ext cx="5166360"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EMT</a:t>
            </a:r>
          </a:p>
        </p:txBody>
      </p:sp>
      <p:sp>
        <p:nvSpPr>
          <p:cNvPr id="22" name="TextBox 21"/>
          <p:cNvSpPr txBox="1"/>
          <p:nvPr/>
        </p:nvSpPr>
        <p:spPr>
          <a:xfrm>
            <a:off x="6163056" y="3163824"/>
            <a:ext cx="5166360" cy="676656"/>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Engineering Platform &amp; Modernization Technologies — full legacy modernization lifecycle from assessment to rewrite</a:t>
            </a:r>
          </a:p>
        </p:txBody>
      </p:sp>
      <p:sp>
        <p:nvSpPr>
          <p:cNvPr id="23" name="Rounded Rectangle 22"/>
          <p:cNvSpPr/>
          <p:nvPr/>
        </p:nvSpPr>
        <p:spPr>
          <a:xfrm>
            <a:off x="548640" y="4059936"/>
            <a:ext cx="5349240" cy="1115568"/>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059936"/>
            <a:ext cx="64008"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133088"/>
            <a:ext cx="5166360"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KnowMed.ai</a:t>
            </a:r>
          </a:p>
        </p:txBody>
      </p:sp>
      <p:sp>
        <p:nvSpPr>
          <p:cNvPr id="26" name="TextBox 25"/>
          <p:cNvSpPr txBox="1"/>
          <p:nvPr/>
        </p:nvSpPr>
        <p:spPr>
          <a:xfrm>
            <a:off x="685800" y="4407408"/>
            <a:ext cx="5166360" cy="676656"/>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Healthcare &amp; life sciences vertical AI · HIPAA-compliant · reduces patient intake friction · premium tier upsell</a:t>
            </a:r>
          </a:p>
        </p:txBody>
      </p:sp>
      <p:sp>
        <p:nvSpPr>
          <p:cNvPr id="27" name="Rounded Rectangle 26"/>
          <p:cNvSpPr/>
          <p:nvPr/>
        </p:nvSpPr>
        <p:spPr>
          <a:xfrm>
            <a:off x="6025896" y="4059936"/>
            <a:ext cx="5349240" cy="1115568"/>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25896" y="4059936"/>
            <a:ext cx="64008"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63056" y="4133088"/>
            <a:ext cx="5166360"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Virtual Factory</a:t>
            </a:r>
          </a:p>
        </p:txBody>
      </p:sp>
      <p:sp>
        <p:nvSpPr>
          <p:cNvPr id="30" name="TextBox 29"/>
          <p:cNvSpPr txBox="1"/>
          <p:nvPr/>
        </p:nvSpPr>
        <p:spPr>
          <a:xfrm>
            <a:off x="6163056" y="4407408"/>
            <a:ext cx="5166360" cy="676656"/>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Manufacturing AI: anomaly detection, computer vision, predictive maintenance · real-time plant monitoring</a:t>
            </a:r>
          </a:p>
        </p:txBody>
      </p:sp>
      <p:sp>
        <p:nvSpPr>
          <p:cNvPr id="31" name="Rounded Rectangle 30"/>
          <p:cNvSpPr/>
          <p:nvPr/>
        </p:nvSpPr>
        <p:spPr>
          <a:xfrm>
            <a:off x="548640" y="5303520"/>
            <a:ext cx="5349240" cy="1115568"/>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5303520"/>
            <a:ext cx="64008"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376672"/>
            <a:ext cx="5166360"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CASAN Framework</a:t>
            </a:r>
          </a:p>
        </p:txBody>
      </p:sp>
      <p:sp>
        <p:nvSpPr>
          <p:cNvPr id="34" name="TextBox 33"/>
          <p:cNvSpPr txBox="1"/>
          <p:nvPr/>
        </p:nvSpPr>
        <p:spPr>
          <a:xfrm>
            <a:off x="685800" y="5650992"/>
            <a:ext cx="5166360" cy="676656"/>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Scalable engineering + domain expertise + data + advanced AI · strategy-to-execution in one framework</a:t>
            </a:r>
          </a:p>
        </p:txBody>
      </p:sp>
      <p:sp>
        <p:nvSpPr>
          <p:cNvPr id="35" name="Rounded Rectangle 34"/>
          <p:cNvSpPr/>
          <p:nvPr/>
        </p:nvSpPr>
        <p:spPr>
          <a:xfrm>
            <a:off x="6025896" y="5303520"/>
            <a:ext cx="5349240" cy="1115568"/>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25896" y="5303520"/>
            <a:ext cx="64008"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63056" y="5376672"/>
            <a:ext cx="5166360" cy="274320"/>
          </a:xfrm>
          <a:prstGeom prst="rect">
            <a:avLst/>
          </a:prstGeom>
          <a:noFill/>
        </p:spPr>
        <p:txBody>
          <a:bodyPr wrap="square" anchor="t" lIns="0" rIns="0" tIns="0" bIns="0">
            <a:normAutofit/>
          </a:bodyPr>
          <a:lstStyle/>
          <a:p>
            <a:pPr algn="l">
              <a:lnSpc>
                <a:spcPct val="105000"/>
              </a:lnSpc>
              <a:spcBef>
                <a:spcPts val="0"/>
              </a:spcBef>
            </a:pPr>
            <a:r>
              <a:rPr sz="1100" b="1" i="0">
                <a:solidFill>
                  <a:srgbClr val="00C9A7"/>
                </a:solidFill>
                <a:latin typeface="Calibri"/>
              </a:rPr>
              <a:t>AI Testing Loop</a:t>
            </a:r>
          </a:p>
        </p:txBody>
      </p:sp>
      <p:sp>
        <p:nvSpPr>
          <p:cNvPr id="38" name="TextBox 37"/>
          <p:cNvSpPr txBox="1"/>
          <p:nvPr/>
        </p:nvSpPr>
        <p:spPr>
          <a:xfrm>
            <a:off x="6163056" y="5650992"/>
            <a:ext cx="5166360" cy="676656"/>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80% manual testing automated · V-Model &amp; A-SPICE compliance traceability · industrialised validation on AWS</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Srikumar V R · Ikigai Pro Report · FPT Software GCC · Jun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502920"/>
          </a:xfrm>
          <a:prstGeom prst="rect">
            <a:avLst/>
          </a:prstGeom>
          <a:noFill/>
        </p:spPr>
        <p:txBody>
          <a:bodyPr wrap="square" anchor="t" lIns="0" rIns="0" tIns="0" bIns="0">
            <a:normAutofit/>
          </a:bodyPr>
          <a:lstStyle/>
          <a:p>
            <a:pPr algn="l">
              <a:lnSpc>
                <a:spcPct val="105000"/>
              </a:lnSpc>
              <a:spcBef>
                <a:spcPts val="0"/>
              </a:spcBef>
            </a:pPr>
            <a:r>
              <a:rPr sz="2600" b="1" i="0">
                <a:solidFill>
                  <a:srgbClr val="FFFFFF"/>
                </a:solidFill>
                <a:latin typeface="Calibri"/>
              </a:rPr>
              <a:t>FPT Software — Global Scale, Proven Delivery Track Record</a:t>
            </a:r>
          </a:p>
        </p:txBody>
      </p:sp>
      <p:sp>
        <p:nvSpPr>
          <p:cNvPr id="5" name="Rectangle 4"/>
          <p:cNvSpPr/>
          <p:nvPr/>
        </p:nvSpPr>
        <p:spPr>
          <a:xfrm>
            <a:off x="548640" y="932688"/>
            <a:ext cx="10972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78992"/>
            <a:ext cx="11094415" cy="32004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Numbers that GCC heads and their global parents can take to the board.</a:t>
            </a:r>
          </a:p>
        </p:txBody>
      </p:sp>
      <p:sp>
        <p:nvSpPr>
          <p:cNvPr id="7" name="Rounded Rectangle 6"/>
          <p:cNvSpPr/>
          <p:nvPr/>
        </p:nvSpPr>
        <p:spPr>
          <a:xfrm>
            <a:off x="548640" y="1536192"/>
            <a:ext cx="3576218" cy="141732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36192"/>
            <a:ext cx="3576218"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45920"/>
            <a:ext cx="3393338" cy="566928"/>
          </a:xfrm>
          <a:prstGeom prst="rect">
            <a:avLst/>
          </a:prstGeom>
          <a:noFill/>
        </p:spPr>
        <p:txBody>
          <a:bodyPr wrap="square" anchor="t" lIns="0" rIns="0" tIns="0" bIns="0">
            <a:normAutofit/>
          </a:bodyPr>
          <a:lstStyle/>
          <a:p>
            <a:pPr algn="ctr">
              <a:lnSpc>
                <a:spcPct val="105000"/>
              </a:lnSpc>
              <a:spcBef>
                <a:spcPts val="0"/>
              </a:spcBef>
            </a:pPr>
            <a:r>
              <a:rPr sz="2800" b="1" i="0">
                <a:solidFill>
                  <a:srgbClr val="FFB800"/>
                </a:solidFill>
                <a:latin typeface="Calibri"/>
              </a:rPr>
              <a:t>1,100+</a:t>
            </a:r>
          </a:p>
        </p:txBody>
      </p:sp>
      <p:sp>
        <p:nvSpPr>
          <p:cNvPr id="10" name="TextBox 9"/>
          <p:cNvSpPr txBox="1"/>
          <p:nvPr/>
        </p:nvSpPr>
        <p:spPr>
          <a:xfrm>
            <a:off x="640080" y="2221992"/>
            <a:ext cx="3393338" cy="29260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Global Clients</a:t>
            </a:r>
          </a:p>
        </p:txBody>
      </p:sp>
      <p:sp>
        <p:nvSpPr>
          <p:cNvPr id="11" name="TextBox 10"/>
          <p:cNvSpPr txBox="1"/>
          <p:nvPr/>
        </p:nvSpPr>
        <p:spPr>
          <a:xfrm>
            <a:off x="640080" y="2523744"/>
            <a:ext cx="3393338" cy="256032"/>
          </a:xfrm>
          <a:prstGeom prst="rect">
            <a:avLst/>
          </a:prstGeom>
          <a:noFill/>
        </p:spPr>
        <p:txBody>
          <a:bodyPr wrap="square" anchor="t" lIns="0" rIns="0" tIns="0" bIns="0">
            <a:normAutofit/>
          </a:bodyPr>
          <a:lstStyle/>
          <a:p>
            <a:pPr algn="ctr">
              <a:lnSpc>
                <a:spcPct val="105000"/>
              </a:lnSpc>
              <a:spcBef>
                <a:spcPts val="0"/>
              </a:spcBef>
            </a:pPr>
            <a:r>
              <a:rPr sz="900" b="0" i="0">
                <a:solidFill>
                  <a:srgbClr val="5B6B7C"/>
                </a:solidFill>
                <a:latin typeface="Calibri"/>
              </a:rPr>
              <a:t>incl. 130+ Fortune 500</a:t>
            </a:r>
          </a:p>
        </p:txBody>
      </p:sp>
      <p:sp>
        <p:nvSpPr>
          <p:cNvPr id="12" name="Rounded Rectangle 11"/>
          <p:cNvSpPr/>
          <p:nvPr/>
        </p:nvSpPr>
        <p:spPr>
          <a:xfrm>
            <a:off x="4307738" y="1536192"/>
            <a:ext cx="3576218" cy="141732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1536192"/>
            <a:ext cx="3576218"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9178" y="1645920"/>
            <a:ext cx="3393338" cy="566928"/>
          </a:xfrm>
          <a:prstGeom prst="rect">
            <a:avLst/>
          </a:prstGeom>
          <a:noFill/>
        </p:spPr>
        <p:txBody>
          <a:bodyPr wrap="square" anchor="t" lIns="0" rIns="0" tIns="0" bIns="0">
            <a:normAutofit/>
          </a:bodyPr>
          <a:lstStyle/>
          <a:p>
            <a:pPr algn="ctr">
              <a:lnSpc>
                <a:spcPct val="105000"/>
              </a:lnSpc>
              <a:spcBef>
                <a:spcPts val="0"/>
              </a:spcBef>
            </a:pPr>
            <a:r>
              <a:rPr sz="2800" b="1" i="0">
                <a:solidFill>
                  <a:srgbClr val="FFB800"/>
                </a:solidFill>
                <a:latin typeface="Calibri"/>
              </a:rPr>
              <a:t>54,000+</a:t>
            </a:r>
          </a:p>
        </p:txBody>
      </p:sp>
      <p:sp>
        <p:nvSpPr>
          <p:cNvPr id="15" name="TextBox 14"/>
          <p:cNvSpPr txBox="1"/>
          <p:nvPr/>
        </p:nvSpPr>
        <p:spPr>
          <a:xfrm>
            <a:off x="4399178" y="2221992"/>
            <a:ext cx="3393338" cy="29260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Professionals</a:t>
            </a:r>
          </a:p>
        </p:txBody>
      </p:sp>
      <p:sp>
        <p:nvSpPr>
          <p:cNvPr id="16" name="TextBox 15"/>
          <p:cNvSpPr txBox="1"/>
          <p:nvPr/>
        </p:nvSpPr>
        <p:spPr>
          <a:xfrm>
            <a:off x="4399178" y="2523744"/>
            <a:ext cx="3393338" cy="256032"/>
          </a:xfrm>
          <a:prstGeom prst="rect">
            <a:avLst/>
          </a:prstGeom>
          <a:noFill/>
        </p:spPr>
        <p:txBody>
          <a:bodyPr wrap="square" anchor="t" lIns="0" rIns="0" tIns="0" bIns="0">
            <a:normAutofit/>
          </a:bodyPr>
          <a:lstStyle/>
          <a:p>
            <a:pPr algn="ctr">
              <a:lnSpc>
                <a:spcPct val="105000"/>
              </a:lnSpc>
              <a:spcBef>
                <a:spcPts val="0"/>
              </a:spcBef>
            </a:pPr>
            <a:r>
              <a:rPr sz="900" b="0" i="0">
                <a:solidFill>
                  <a:srgbClr val="5B6B7C"/>
                </a:solidFill>
                <a:latin typeface="Calibri"/>
              </a:rPr>
              <a:t>80+ nationalities, 30+ countries</a:t>
            </a:r>
          </a:p>
        </p:txBody>
      </p:sp>
      <p:sp>
        <p:nvSpPr>
          <p:cNvPr id="17" name="Rounded Rectangle 16"/>
          <p:cNvSpPr/>
          <p:nvPr/>
        </p:nvSpPr>
        <p:spPr>
          <a:xfrm>
            <a:off x="8066836" y="1536192"/>
            <a:ext cx="3576218" cy="141732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6836" y="1536192"/>
            <a:ext cx="3576218"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8276" y="1645920"/>
            <a:ext cx="3393338" cy="566928"/>
          </a:xfrm>
          <a:prstGeom prst="rect">
            <a:avLst/>
          </a:prstGeom>
          <a:noFill/>
        </p:spPr>
        <p:txBody>
          <a:bodyPr wrap="square" anchor="t" lIns="0" rIns="0" tIns="0" bIns="0">
            <a:normAutofit/>
          </a:bodyPr>
          <a:lstStyle/>
          <a:p>
            <a:pPr algn="ctr">
              <a:lnSpc>
                <a:spcPct val="105000"/>
              </a:lnSpc>
              <a:spcBef>
                <a:spcPts val="0"/>
              </a:spcBef>
            </a:pPr>
            <a:r>
              <a:rPr sz="2800" b="1" i="0">
                <a:solidFill>
                  <a:srgbClr val="FFB800"/>
                </a:solidFill>
                <a:latin typeface="Calibri"/>
              </a:rPr>
              <a:t>$256M</a:t>
            </a:r>
          </a:p>
        </p:txBody>
      </p:sp>
      <p:sp>
        <p:nvSpPr>
          <p:cNvPr id="20" name="TextBox 19"/>
          <p:cNvSpPr txBox="1"/>
          <p:nvPr/>
        </p:nvSpPr>
        <p:spPr>
          <a:xfrm>
            <a:off x="8158276" y="2221992"/>
            <a:ext cx="3393338" cy="29260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Largest AI Contract</a:t>
            </a:r>
          </a:p>
        </p:txBody>
      </p:sp>
      <p:sp>
        <p:nvSpPr>
          <p:cNvPr id="21" name="TextBox 20"/>
          <p:cNvSpPr txBox="1"/>
          <p:nvPr/>
        </p:nvSpPr>
        <p:spPr>
          <a:xfrm>
            <a:off x="8158276" y="2523744"/>
            <a:ext cx="3393338" cy="256032"/>
          </a:xfrm>
          <a:prstGeom prst="rect">
            <a:avLst/>
          </a:prstGeom>
          <a:noFill/>
        </p:spPr>
        <p:txBody>
          <a:bodyPr wrap="square" anchor="t" lIns="0" rIns="0" tIns="0" bIns="0">
            <a:normAutofit/>
          </a:bodyPr>
          <a:lstStyle/>
          <a:p>
            <a:pPr algn="ctr">
              <a:lnSpc>
                <a:spcPct val="105000"/>
              </a:lnSpc>
              <a:spcBef>
                <a:spcPts val="0"/>
              </a:spcBef>
            </a:pPr>
            <a:r>
              <a:rPr sz="900" b="0" i="0">
                <a:solidFill>
                  <a:srgbClr val="5B6B7C"/>
                </a:solidFill>
                <a:latin typeface="Calibri"/>
              </a:rPr>
              <a:t>5-year AI transformation, Asian energy group</a:t>
            </a:r>
          </a:p>
        </p:txBody>
      </p:sp>
      <p:sp>
        <p:nvSpPr>
          <p:cNvPr id="22" name="Rounded Rectangle 21"/>
          <p:cNvSpPr/>
          <p:nvPr/>
        </p:nvSpPr>
        <p:spPr>
          <a:xfrm>
            <a:off x="548640" y="3118104"/>
            <a:ext cx="3576218" cy="141732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118104"/>
            <a:ext cx="3576218"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227832"/>
            <a:ext cx="3393338" cy="566928"/>
          </a:xfrm>
          <a:prstGeom prst="rect">
            <a:avLst/>
          </a:prstGeom>
          <a:noFill/>
        </p:spPr>
        <p:txBody>
          <a:bodyPr wrap="square" anchor="t" lIns="0" rIns="0" tIns="0" bIns="0">
            <a:normAutofit/>
          </a:bodyPr>
          <a:lstStyle/>
          <a:p>
            <a:pPr algn="ctr">
              <a:lnSpc>
                <a:spcPct val="105000"/>
              </a:lnSpc>
              <a:spcBef>
                <a:spcPts val="0"/>
              </a:spcBef>
            </a:pPr>
            <a:r>
              <a:rPr sz="2800" b="1" i="0">
                <a:solidFill>
                  <a:srgbClr val="FFB800"/>
                </a:solidFill>
                <a:latin typeface="Calibri"/>
              </a:rPr>
              <a:t>22%</a:t>
            </a:r>
          </a:p>
        </p:txBody>
      </p:sp>
      <p:sp>
        <p:nvSpPr>
          <p:cNvPr id="25" name="TextBox 24"/>
          <p:cNvSpPr txBox="1"/>
          <p:nvPr/>
        </p:nvSpPr>
        <p:spPr>
          <a:xfrm>
            <a:off x="640080" y="3803904"/>
            <a:ext cx="3393338" cy="29260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Q1 2026 Contract Growth</a:t>
            </a:r>
          </a:p>
        </p:txBody>
      </p:sp>
      <p:sp>
        <p:nvSpPr>
          <p:cNvPr id="26" name="TextBox 25"/>
          <p:cNvSpPr txBox="1"/>
          <p:nvPr/>
        </p:nvSpPr>
        <p:spPr>
          <a:xfrm>
            <a:off x="640080" y="4105656"/>
            <a:ext cx="3393338" cy="256032"/>
          </a:xfrm>
          <a:prstGeom prst="rect">
            <a:avLst/>
          </a:prstGeom>
          <a:noFill/>
        </p:spPr>
        <p:txBody>
          <a:bodyPr wrap="square" anchor="t" lIns="0" rIns="0" tIns="0" bIns="0">
            <a:normAutofit/>
          </a:bodyPr>
          <a:lstStyle/>
          <a:p>
            <a:pPr algn="ctr">
              <a:lnSpc>
                <a:spcPct val="105000"/>
              </a:lnSpc>
              <a:spcBef>
                <a:spcPts val="0"/>
              </a:spcBef>
            </a:pPr>
            <a:r>
              <a:rPr sz="900" b="0" i="0">
                <a:solidFill>
                  <a:srgbClr val="5B6B7C"/>
                </a:solidFill>
                <a:latin typeface="Calibri"/>
              </a:rPr>
              <a:t>Newly signed international IT services</a:t>
            </a:r>
          </a:p>
        </p:txBody>
      </p:sp>
      <p:sp>
        <p:nvSpPr>
          <p:cNvPr id="27" name="Rounded Rectangle 26"/>
          <p:cNvSpPr/>
          <p:nvPr/>
        </p:nvSpPr>
        <p:spPr>
          <a:xfrm>
            <a:off x="4307738" y="3118104"/>
            <a:ext cx="3576218" cy="141732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07738" y="3118104"/>
            <a:ext cx="3576218"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99178" y="3227832"/>
            <a:ext cx="3393338" cy="566928"/>
          </a:xfrm>
          <a:prstGeom prst="rect">
            <a:avLst/>
          </a:prstGeom>
          <a:noFill/>
        </p:spPr>
        <p:txBody>
          <a:bodyPr wrap="square" anchor="t" lIns="0" rIns="0" tIns="0" bIns="0">
            <a:normAutofit/>
          </a:bodyPr>
          <a:lstStyle/>
          <a:p>
            <a:pPr algn="ctr">
              <a:lnSpc>
                <a:spcPct val="105000"/>
              </a:lnSpc>
              <a:spcBef>
                <a:spcPts val="0"/>
              </a:spcBef>
            </a:pPr>
            <a:r>
              <a:rPr sz="2800" b="1" i="0">
                <a:solidFill>
                  <a:srgbClr val="FFB800"/>
                </a:solidFill>
                <a:latin typeface="Calibri"/>
              </a:rPr>
              <a:t>$10M+</a:t>
            </a:r>
          </a:p>
        </p:txBody>
      </p:sp>
      <p:sp>
        <p:nvSpPr>
          <p:cNvPr id="30" name="TextBox 29"/>
          <p:cNvSpPr txBox="1"/>
          <p:nvPr/>
        </p:nvSpPr>
        <p:spPr>
          <a:xfrm>
            <a:off x="4399178" y="3803904"/>
            <a:ext cx="3393338" cy="29260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Deals Doubled YoY</a:t>
            </a:r>
          </a:p>
        </p:txBody>
      </p:sp>
      <p:sp>
        <p:nvSpPr>
          <p:cNvPr id="31" name="TextBox 30"/>
          <p:cNvSpPr txBox="1"/>
          <p:nvPr/>
        </p:nvSpPr>
        <p:spPr>
          <a:xfrm>
            <a:off x="4399178" y="4105656"/>
            <a:ext cx="3393338" cy="256032"/>
          </a:xfrm>
          <a:prstGeom prst="rect">
            <a:avLst/>
          </a:prstGeom>
          <a:noFill/>
        </p:spPr>
        <p:txBody>
          <a:bodyPr wrap="square" anchor="t" lIns="0" rIns="0" tIns="0" bIns="0">
            <a:normAutofit/>
          </a:bodyPr>
          <a:lstStyle/>
          <a:p>
            <a:pPr algn="ctr">
              <a:lnSpc>
                <a:spcPct val="105000"/>
              </a:lnSpc>
              <a:spcBef>
                <a:spcPts val="0"/>
              </a:spcBef>
            </a:pPr>
            <a:r>
              <a:rPr sz="900" b="0" i="0">
                <a:solidFill>
                  <a:srgbClr val="5B6B7C"/>
                </a:solidFill>
                <a:latin typeface="Calibri"/>
              </a:rPr>
              <a:t>2025 vs 2024 — FPT's enterprise momentum</a:t>
            </a:r>
          </a:p>
        </p:txBody>
      </p:sp>
      <p:sp>
        <p:nvSpPr>
          <p:cNvPr id="32" name="Rounded Rectangle 31"/>
          <p:cNvSpPr/>
          <p:nvPr/>
        </p:nvSpPr>
        <p:spPr>
          <a:xfrm>
            <a:off x="8066836" y="3118104"/>
            <a:ext cx="3576218" cy="141732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6836" y="3118104"/>
            <a:ext cx="3576218"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58276" y="3227832"/>
            <a:ext cx="3393338" cy="566928"/>
          </a:xfrm>
          <a:prstGeom prst="rect">
            <a:avLst/>
          </a:prstGeom>
          <a:noFill/>
        </p:spPr>
        <p:txBody>
          <a:bodyPr wrap="square" anchor="t" lIns="0" rIns="0" tIns="0" bIns="0">
            <a:normAutofit/>
          </a:bodyPr>
          <a:lstStyle/>
          <a:p>
            <a:pPr algn="ctr">
              <a:lnSpc>
                <a:spcPct val="105000"/>
              </a:lnSpc>
              <a:spcBef>
                <a:spcPts val="0"/>
              </a:spcBef>
            </a:pPr>
            <a:r>
              <a:rPr sz="2800" b="1" i="0">
                <a:solidFill>
                  <a:srgbClr val="FFB800"/>
                </a:solidFill>
                <a:latin typeface="Calibri"/>
              </a:rPr>
              <a:t>30,000+</a:t>
            </a:r>
          </a:p>
        </p:txBody>
      </p:sp>
      <p:sp>
        <p:nvSpPr>
          <p:cNvPr id="35" name="TextBox 34"/>
          <p:cNvSpPr txBox="1"/>
          <p:nvPr/>
        </p:nvSpPr>
        <p:spPr>
          <a:xfrm>
            <a:off x="8158276" y="3803904"/>
            <a:ext cx="3393338" cy="29260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Certified Engineers</a:t>
            </a:r>
          </a:p>
        </p:txBody>
      </p:sp>
      <p:sp>
        <p:nvSpPr>
          <p:cNvPr id="36" name="TextBox 35"/>
          <p:cNvSpPr txBox="1"/>
          <p:nvPr/>
        </p:nvSpPr>
        <p:spPr>
          <a:xfrm>
            <a:off x="8158276" y="4105656"/>
            <a:ext cx="3393338" cy="256032"/>
          </a:xfrm>
          <a:prstGeom prst="rect">
            <a:avLst/>
          </a:prstGeom>
          <a:noFill/>
        </p:spPr>
        <p:txBody>
          <a:bodyPr wrap="square" anchor="t" lIns="0" rIns="0" tIns="0" bIns="0">
            <a:normAutofit/>
          </a:bodyPr>
          <a:lstStyle/>
          <a:p>
            <a:pPr algn="ctr">
              <a:lnSpc>
                <a:spcPct val="105000"/>
              </a:lnSpc>
              <a:spcBef>
                <a:spcPts val="0"/>
              </a:spcBef>
            </a:pPr>
            <a:r>
              <a:rPr sz="900" b="0" i="0">
                <a:solidFill>
                  <a:srgbClr val="5B6B7C"/>
                </a:solidFill>
                <a:latin typeface="Calibri"/>
              </a:rPr>
              <a:t>Largest in Vietnam; AI-augmented delivery</a:t>
            </a:r>
          </a:p>
        </p:txBody>
      </p:sp>
      <p:sp>
        <p:nvSpPr>
          <p:cNvPr id="37" name="TextBox 3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Srikumar V R · Ikigai Pro Report · FPT Software GCC · Jun 2026</a:t>
            </a:r>
          </a:p>
        </p:txBody>
      </p:sp>
      <p:sp>
        <p:nvSpPr>
          <p:cNvPr id="38" name="TextBox 3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FPT's AI Credentials — First-Mover Partnerships + Production Scale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AI Proof Points</a:t>
            </a:r>
          </a:p>
        </p:txBody>
      </p:sp>
      <p:sp>
        <p:nvSpPr>
          <p:cNvPr id="7" name="Rounded Rectangle 6"/>
          <p:cNvSpPr/>
          <p:nvPr/>
        </p:nvSpPr>
        <p:spPr>
          <a:xfrm>
            <a:off x="548640" y="1572768"/>
            <a:ext cx="3606698" cy="100584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3606698" cy="4572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45920"/>
            <a:ext cx="3378098" cy="384048"/>
          </a:xfrm>
          <a:prstGeom prst="rect">
            <a:avLst/>
          </a:prstGeom>
          <a:noFill/>
        </p:spPr>
        <p:txBody>
          <a:bodyPr wrap="square" anchor="t" lIns="0" rIns="0" tIns="0" bIns="0">
            <a:normAutofit/>
          </a:bodyPr>
          <a:lstStyle/>
          <a:p>
            <a:pPr algn="ctr">
              <a:lnSpc>
                <a:spcPct val="105000"/>
              </a:lnSpc>
              <a:spcBef>
                <a:spcPts val="0"/>
              </a:spcBef>
            </a:pPr>
            <a:r>
              <a:rPr sz="1300" b="1" i="0">
                <a:solidFill>
                  <a:srgbClr val="FFB800"/>
                </a:solidFill>
                <a:latin typeface="Calibri"/>
              </a:rPr>
              <a:t>Microsoft
Frontier Partner</a:t>
            </a:r>
          </a:p>
        </p:txBody>
      </p:sp>
      <p:sp>
        <p:nvSpPr>
          <p:cNvPr id="10" name="TextBox 9"/>
          <p:cNvSpPr txBox="1"/>
          <p:nvPr/>
        </p:nvSpPr>
        <p:spPr>
          <a:xfrm>
            <a:off x="685800" y="2048256"/>
            <a:ext cx="3378098" cy="457200"/>
          </a:xfrm>
          <a:prstGeom prst="rect">
            <a:avLst/>
          </a:prstGeom>
          <a:noFill/>
        </p:spPr>
        <p:txBody>
          <a:bodyPr wrap="square" anchor="t" lIns="0" rIns="0" tIns="0" bIns="0">
            <a:normAutofit/>
          </a:bodyPr>
          <a:lstStyle/>
          <a:p>
            <a:pPr algn="ctr">
              <a:lnSpc>
                <a:spcPct val="105000"/>
              </a:lnSpc>
              <a:spcBef>
                <a:spcPts val="0"/>
              </a:spcBef>
            </a:pPr>
            <a:r>
              <a:rPr sz="1000" b="0" i="0">
                <a:solidFill>
                  <a:srgbClr val="E0F7F1"/>
                </a:solidFill>
                <a:latin typeface="Calibri"/>
              </a:rPr>
              <a:t>First Enterprise System Integrator in Southeast Asia to achieve this status</a:t>
            </a:r>
          </a:p>
        </p:txBody>
      </p:sp>
      <p:sp>
        <p:nvSpPr>
          <p:cNvPr id="11" name="Rounded Rectangle 10"/>
          <p:cNvSpPr/>
          <p:nvPr/>
        </p:nvSpPr>
        <p:spPr>
          <a:xfrm>
            <a:off x="4292498" y="1572768"/>
            <a:ext cx="3606698" cy="100584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2498" y="1572768"/>
            <a:ext cx="3606698" cy="4572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9658" y="1645920"/>
            <a:ext cx="3378098" cy="384048"/>
          </a:xfrm>
          <a:prstGeom prst="rect">
            <a:avLst/>
          </a:prstGeom>
          <a:noFill/>
        </p:spPr>
        <p:txBody>
          <a:bodyPr wrap="square" anchor="t" lIns="0" rIns="0" tIns="0" bIns="0">
            <a:normAutofit/>
          </a:bodyPr>
          <a:lstStyle/>
          <a:p>
            <a:pPr algn="ctr">
              <a:lnSpc>
                <a:spcPct val="105000"/>
              </a:lnSpc>
              <a:spcBef>
                <a:spcPts val="0"/>
              </a:spcBef>
            </a:pPr>
            <a:r>
              <a:rPr sz="1300" b="1" i="0">
                <a:solidFill>
                  <a:srgbClr val="FFB800"/>
                </a:solidFill>
                <a:latin typeface="Calibri"/>
              </a:rPr>
              <a:t>AWS Generative AI
Competency</a:t>
            </a:r>
          </a:p>
        </p:txBody>
      </p:sp>
      <p:sp>
        <p:nvSpPr>
          <p:cNvPr id="14" name="TextBox 13"/>
          <p:cNvSpPr txBox="1"/>
          <p:nvPr/>
        </p:nvSpPr>
        <p:spPr>
          <a:xfrm>
            <a:off x="4429658" y="2048256"/>
            <a:ext cx="3378098" cy="457200"/>
          </a:xfrm>
          <a:prstGeom prst="rect">
            <a:avLst/>
          </a:prstGeom>
          <a:noFill/>
        </p:spPr>
        <p:txBody>
          <a:bodyPr wrap="square" anchor="t" lIns="0" rIns="0" tIns="0" bIns="0">
            <a:normAutofit/>
          </a:bodyPr>
          <a:lstStyle/>
          <a:p>
            <a:pPr algn="ctr">
              <a:lnSpc>
                <a:spcPct val="105000"/>
              </a:lnSpc>
              <a:spcBef>
                <a:spcPts val="0"/>
              </a:spcBef>
            </a:pPr>
            <a:r>
              <a:rPr sz="1000" b="0" i="0">
                <a:solidFill>
                  <a:srgbClr val="E0F7F1"/>
                </a:solidFill>
                <a:latin typeface="Calibri"/>
              </a:rPr>
              <a:t>Recognised for production-grade GenAI delivery on AWS infrastructure</a:t>
            </a:r>
          </a:p>
        </p:txBody>
      </p:sp>
      <p:sp>
        <p:nvSpPr>
          <p:cNvPr id="15" name="Rounded Rectangle 14"/>
          <p:cNvSpPr/>
          <p:nvPr/>
        </p:nvSpPr>
        <p:spPr>
          <a:xfrm>
            <a:off x="8036356" y="1572768"/>
            <a:ext cx="3606698" cy="100584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6356" y="1572768"/>
            <a:ext cx="3606698" cy="4572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3516" y="1645920"/>
            <a:ext cx="3378098" cy="384048"/>
          </a:xfrm>
          <a:prstGeom prst="rect">
            <a:avLst/>
          </a:prstGeom>
          <a:noFill/>
        </p:spPr>
        <p:txBody>
          <a:bodyPr wrap="square" anchor="t" lIns="0" rIns="0" tIns="0" bIns="0">
            <a:normAutofit/>
          </a:bodyPr>
          <a:lstStyle/>
          <a:p>
            <a:pPr algn="ctr">
              <a:lnSpc>
                <a:spcPct val="105000"/>
              </a:lnSpc>
              <a:spcBef>
                <a:spcPts val="0"/>
              </a:spcBef>
            </a:pPr>
            <a:r>
              <a:rPr sz="1300" b="1" i="0">
                <a:solidFill>
                  <a:srgbClr val="FFB800"/>
                </a:solidFill>
                <a:latin typeface="Calibri"/>
              </a:rPr>
              <a:t>NVIDIA HGX
GPU Partnership</a:t>
            </a:r>
          </a:p>
        </p:txBody>
      </p:sp>
      <p:sp>
        <p:nvSpPr>
          <p:cNvPr id="18" name="TextBox 17"/>
          <p:cNvSpPr txBox="1"/>
          <p:nvPr/>
        </p:nvSpPr>
        <p:spPr>
          <a:xfrm>
            <a:off x="8173516" y="2048256"/>
            <a:ext cx="3378098" cy="457200"/>
          </a:xfrm>
          <a:prstGeom prst="rect">
            <a:avLst/>
          </a:prstGeom>
          <a:noFill/>
        </p:spPr>
        <p:txBody>
          <a:bodyPr wrap="square" anchor="t" lIns="0" rIns="0" tIns="0" bIns="0">
            <a:normAutofit/>
          </a:bodyPr>
          <a:lstStyle/>
          <a:p>
            <a:pPr algn="ctr">
              <a:lnSpc>
                <a:spcPct val="105000"/>
              </a:lnSpc>
              <a:spcBef>
                <a:spcPts val="0"/>
              </a:spcBef>
            </a:pPr>
            <a:r>
              <a:rPr sz="1000" b="0" i="0">
                <a:solidFill>
                  <a:srgbClr val="E0F7F1"/>
                </a:solidFill>
                <a:latin typeface="Calibri"/>
              </a:rPr>
              <a:t>Advanced GPU infrastructure for AI Factory — 70+ fine-tuned models running</a:t>
            </a:r>
          </a:p>
        </p:txBody>
      </p:sp>
      <p:sp>
        <p:nvSpPr>
          <p:cNvPr id="19" name="Rectangle 18"/>
          <p:cNvSpPr/>
          <p:nvPr/>
        </p:nvSpPr>
        <p:spPr>
          <a:xfrm>
            <a:off x="548640" y="2743200"/>
            <a:ext cx="11094415" cy="45720"/>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852928"/>
            <a:ext cx="11094415"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AI FACTORY METRICS</a:t>
            </a:r>
          </a:p>
        </p:txBody>
      </p:sp>
      <p:sp>
        <p:nvSpPr>
          <p:cNvPr id="21" name="TextBox 20"/>
          <p:cNvSpPr txBox="1"/>
          <p:nvPr/>
        </p:nvSpPr>
        <p:spPr>
          <a:xfrm>
            <a:off x="548640" y="3200400"/>
            <a:ext cx="2218883" cy="621792"/>
          </a:xfrm>
          <a:prstGeom prst="rect">
            <a:avLst/>
          </a:prstGeom>
          <a:noFill/>
        </p:spPr>
        <p:txBody>
          <a:bodyPr wrap="square" anchor="t" lIns="0" rIns="0" tIns="0" bIns="0">
            <a:normAutofit/>
          </a:bodyPr>
          <a:lstStyle/>
          <a:p>
            <a:pPr algn="ctr">
              <a:lnSpc>
                <a:spcPct val="105000"/>
              </a:lnSpc>
              <a:spcBef>
                <a:spcPts val="0"/>
              </a:spcBef>
            </a:pPr>
            <a:r>
              <a:rPr sz="2800" b="1" i="0">
                <a:solidFill>
                  <a:srgbClr val="0A1628"/>
                </a:solidFill>
                <a:latin typeface="Calibri"/>
              </a:rPr>
              <a:t>1,100B+</a:t>
            </a:r>
          </a:p>
        </p:txBody>
      </p:sp>
      <p:sp>
        <p:nvSpPr>
          <p:cNvPr id="22" name="TextBox 21"/>
          <p:cNvSpPr txBox="1"/>
          <p:nvPr/>
        </p:nvSpPr>
        <p:spPr>
          <a:xfrm>
            <a:off x="548640" y="3840480"/>
            <a:ext cx="2218883" cy="502920"/>
          </a:xfrm>
          <a:prstGeom prst="rect">
            <a:avLst/>
          </a:prstGeom>
          <a:noFill/>
        </p:spPr>
        <p:txBody>
          <a:bodyPr wrap="square" anchor="t" lIns="0" rIns="0" tIns="0" bIns="0">
            <a:normAutofit/>
          </a:bodyPr>
          <a:lstStyle/>
          <a:p>
            <a:pPr algn="ctr">
              <a:lnSpc>
                <a:spcPct val="105000"/>
              </a:lnSpc>
              <a:spcBef>
                <a:spcPts val="0"/>
              </a:spcBef>
            </a:pPr>
            <a:r>
              <a:rPr sz="1050" b="0" i="0">
                <a:solidFill>
                  <a:srgbClr val="5B6B7C"/>
                </a:solidFill>
                <a:latin typeface="Calibri"/>
              </a:rPr>
              <a:t>Tokens processed
by AI Factory</a:t>
            </a:r>
          </a:p>
        </p:txBody>
      </p:sp>
      <p:sp>
        <p:nvSpPr>
          <p:cNvPr id="23" name="Rectangle 22"/>
          <p:cNvSpPr/>
          <p:nvPr/>
        </p:nvSpPr>
        <p:spPr>
          <a:xfrm>
            <a:off x="2749235" y="3200400"/>
            <a:ext cx="27432" cy="1005840"/>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7523" y="3200400"/>
            <a:ext cx="2218883" cy="621792"/>
          </a:xfrm>
          <a:prstGeom prst="rect">
            <a:avLst/>
          </a:prstGeom>
          <a:noFill/>
        </p:spPr>
        <p:txBody>
          <a:bodyPr wrap="square" anchor="t" lIns="0" rIns="0" tIns="0" bIns="0">
            <a:normAutofit/>
          </a:bodyPr>
          <a:lstStyle/>
          <a:p>
            <a:pPr algn="ctr">
              <a:lnSpc>
                <a:spcPct val="105000"/>
              </a:lnSpc>
              <a:spcBef>
                <a:spcPts val="0"/>
              </a:spcBef>
            </a:pPr>
            <a:r>
              <a:rPr sz="2800" b="1" i="0">
                <a:solidFill>
                  <a:srgbClr val="0A1628"/>
                </a:solidFill>
                <a:latin typeface="Calibri"/>
              </a:rPr>
              <a:t>70+</a:t>
            </a:r>
          </a:p>
        </p:txBody>
      </p:sp>
      <p:sp>
        <p:nvSpPr>
          <p:cNvPr id="25" name="TextBox 24"/>
          <p:cNvSpPr txBox="1"/>
          <p:nvPr/>
        </p:nvSpPr>
        <p:spPr>
          <a:xfrm>
            <a:off x="2767523" y="3840480"/>
            <a:ext cx="2218883" cy="502920"/>
          </a:xfrm>
          <a:prstGeom prst="rect">
            <a:avLst/>
          </a:prstGeom>
          <a:noFill/>
        </p:spPr>
        <p:txBody>
          <a:bodyPr wrap="square" anchor="t" lIns="0" rIns="0" tIns="0" bIns="0">
            <a:normAutofit/>
          </a:bodyPr>
          <a:lstStyle/>
          <a:p>
            <a:pPr algn="ctr">
              <a:lnSpc>
                <a:spcPct val="105000"/>
              </a:lnSpc>
              <a:spcBef>
                <a:spcPts val="0"/>
              </a:spcBef>
            </a:pPr>
            <a:r>
              <a:rPr sz="1050" b="0" i="0">
                <a:solidFill>
                  <a:srgbClr val="5B6B7C"/>
                </a:solidFill>
                <a:latin typeface="Calibri"/>
              </a:rPr>
              <a:t>Fine-tuned AI
models in production</a:t>
            </a:r>
          </a:p>
        </p:txBody>
      </p:sp>
      <p:sp>
        <p:nvSpPr>
          <p:cNvPr id="26" name="Rectangle 25"/>
          <p:cNvSpPr/>
          <p:nvPr/>
        </p:nvSpPr>
        <p:spPr>
          <a:xfrm>
            <a:off x="4968118" y="3200400"/>
            <a:ext cx="27432" cy="1005840"/>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86406" y="3200400"/>
            <a:ext cx="2218883" cy="621792"/>
          </a:xfrm>
          <a:prstGeom prst="rect">
            <a:avLst/>
          </a:prstGeom>
          <a:noFill/>
        </p:spPr>
        <p:txBody>
          <a:bodyPr wrap="square" anchor="t" lIns="0" rIns="0" tIns="0" bIns="0">
            <a:normAutofit/>
          </a:bodyPr>
          <a:lstStyle/>
          <a:p>
            <a:pPr algn="ctr">
              <a:lnSpc>
                <a:spcPct val="105000"/>
              </a:lnSpc>
              <a:spcBef>
                <a:spcPts val="0"/>
              </a:spcBef>
            </a:pPr>
            <a:r>
              <a:rPr sz="2800" b="1" i="0">
                <a:solidFill>
                  <a:srgbClr val="0A1628"/>
                </a:solidFill>
                <a:latin typeface="Calibri"/>
              </a:rPr>
              <a:t>18,000+</a:t>
            </a:r>
          </a:p>
        </p:txBody>
      </p:sp>
      <p:sp>
        <p:nvSpPr>
          <p:cNvPr id="28" name="TextBox 27"/>
          <p:cNvSpPr txBox="1"/>
          <p:nvPr/>
        </p:nvSpPr>
        <p:spPr>
          <a:xfrm>
            <a:off x="4986406" y="3840480"/>
            <a:ext cx="2218883" cy="502920"/>
          </a:xfrm>
          <a:prstGeom prst="rect">
            <a:avLst/>
          </a:prstGeom>
          <a:noFill/>
        </p:spPr>
        <p:txBody>
          <a:bodyPr wrap="square" anchor="t" lIns="0" rIns="0" tIns="0" bIns="0">
            <a:normAutofit/>
          </a:bodyPr>
          <a:lstStyle/>
          <a:p>
            <a:pPr algn="ctr">
              <a:lnSpc>
                <a:spcPct val="105000"/>
              </a:lnSpc>
              <a:spcBef>
                <a:spcPts val="0"/>
              </a:spcBef>
            </a:pPr>
            <a:r>
              <a:rPr sz="1050" b="0" i="0">
                <a:solidFill>
                  <a:srgbClr val="5B6B7C"/>
                </a:solidFill>
                <a:latin typeface="Calibri"/>
              </a:rPr>
              <a:t>Engineers on
global AI platform</a:t>
            </a:r>
          </a:p>
        </p:txBody>
      </p:sp>
      <p:sp>
        <p:nvSpPr>
          <p:cNvPr id="29" name="Rectangle 28"/>
          <p:cNvSpPr/>
          <p:nvPr/>
        </p:nvSpPr>
        <p:spPr>
          <a:xfrm>
            <a:off x="7187001" y="3200400"/>
            <a:ext cx="27432" cy="1005840"/>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05289" y="3200400"/>
            <a:ext cx="2218883" cy="621792"/>
          </a:xfrm>
          <a:prstGeom prst="rect">
            <a:avLst/>
          </a:prstGeom>
          <a:noFill/>
        </p:spPr>
        <p:txBody>
          <a:bodyPr wrap="square" anchor="t" lIns="0" rIns="0" tIns="0" bIns="0">
            <a:normAutofit/>
          </a:bodyPr>
          <a:lstStyle/>
          <a:p>
            <a:pPr algn="ctr">
              <a:lnSpc>
                <a:spcPct val="105000"/>
              </a:lnSpc>
              <a:spcBef>
                <a:spcPts val="0"/>
              </a:spcBef>
            </a:pPr>
            <a:r>
              <a:rPr sz="2800" b="1" i="0">
                <a:solidFill>
                  <a:srgbClr val="0A1628"/>
                </a:solidFill>
                <a:latin typeface="Calibri"/>
              </a:rPr>
              <a:t>43</a:t>
            </a:r>
          </a:p>
        </p:txBody>
      </p:sp>
      <p:sp>
        <p:nvSpPr>
          <p:cNvPr id="31" name="TextBox 30"/>
          <p:cNvSpPr txBox="1"/>
          <p:nvPr/>
        </p:nvSpPr>
        <p:spPr>
          <a:xfrm>
            <a:off x="7205289" y="3840480"/>
            <a:ext cx="2218883" cy="502920"/>
          </a:xfrm>
          <a:prstGeom prst="rect">
            <a:avLst/>
          </a:prstGeom>
          <a:noFill/>
        </p:spPr>
        <p:txBody>
          <a:bodyPr wrap="square" anchor="t" lIns="0" rIns="0" tIns="0" bIns="0">
            <a:normAutofit/>
          </a:bodyPr>
          <a:lstStyle/>
          <a:p>
            <a:pPr algn="ctr">
              <a:lnSpc>
                <a:spcPct val="105000"/>
              </a:lnSpc>
              <a:spcBef>
                <a:spcPts val="0"/>
              </a:spcBef>
            </a:pPr>
            <a:r>
              <a:rPr sz="1050" b="0" i="0">
                <a:solidFill>
                  <a:srgbClr val="5B6B7C"/>
                </a:solidFill>
                <a:latin typeface="Calibri"/>
              </a:rPr>
              <a:t>AI cloud services
supported</a:t>
            </a:r>
          </a:p>
        </p:txBody>
      </p:sp>
      <p:sp>
        <p:nvSpPr>
          <p:cNvPr id="32" name="Rectangle 31"/>
          <p:cNvSpPr/>
          <p:nvPr/>
        </p:nvSpPr>
        <p:spPr>
          <a:xfrm>
            <a:off x="9405884" y="3200400"/>
            <a:ext cx="27432" cy="1005840"/>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24172" y="3200400"/>
            <a:ext cx="2218883" cy="621792"/>
          </a:xfrm>
          <a:prstGeom prst="rect">
            <a:avLst/>
          </a:prstGeom>
          <a:noFill/>
        </p:spPr>
        <p:txBody>
          <a:bodyPr wrap="square" anchor="t" lIns="0" rIns="0" tIns="0" bIns="0">
            <a:normAutofit/>
          </a:bodyPr>
          <a:lstStyle/>
          <a:p>
            <a:pPr algn="ctr">
              <a:lnSpc>
                <a:spcPct val="105000"/>
              </a:lnSpc>
              <a:spcBef>
                <a:spcPts val="0"/>
              </a:spcBef>
            </a:pPr>
            <a:r>
              <a:rPr sz="2800" b="1" i="0">
                <a:solidFill>
                  <a:srgbClr val="0A1628"/>
                </a:solidFill>
                <a:latin typeface="Calibri"/>
              </a:rPr>
              <a:t>~30%</a:t>
            </a:r>
          </a:p>
        </p:txBody>
      </p:sp>
      <p:sp>
        <p:nvSpPr>
          <p:cNvPr id="34" name="TextBox 33"/>
          <p:cNvSpPr txBox="1"/>
          <p:nvPr/>
        </p:nvSpPr>
        <p:spPr>
          <a:xfrm>
            <a:off x="9424172" y="3840480"/>
            <a:ext cx="2218883" cy="502920"/>
          </a:xfrm>
          <a:prstGeom prst="rect">
            <a:avLst/>
          </a:prstGeom>
          <a:noFill/>
        </p:spPr>
        <p:txBody>
          <a:bodyPr wrap="square" anchor="t" lIns="0" rIns="0" tIns="0" bIns="0">
            <a:normAutofit/>
          </a:bodyPr>
          <a:lstStyle/>
          <a:p>
            <a:pPr algn="ctr">
              <a:lnSpc>
                <a:spcPct val="105000"/>
              </a:lnSpc>
              <a:spcBef>
                <a:spcPts val="0"/>
              </a:spcBef>
            </a:pPr>
            <a:r>
              <a:rPr sz="1050" b="0" i="0">
                <a:solidFill>
                  <a:srgbClr val="5B6B7C"/>
                </a:solidFill>
                <a:latin typeface="Calibri"/>
              </a:rPr>
              <a:t>Productivity gains
delivered to clients</a:t>
            </a:r>
          </a:p>
        </p:txBody>
      </p:sp>
      <p:sp>
        <p:nvSpPr>
          <p:cNvPr id="35" name="Rounded Rectangle 34"/>
          <p:cNvSpPr/>
          <p:nvPr/>
        </p:nvSpPr>
        <p:spPr>
          <a:xfrm>
            <a:off x="548640" y="4617720"/>
            <a:ext cx="11094415" cy="47548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4681728"/>
            <a:ext cx="10865815"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CES 2026: FPT showcased FleziPT, Virtual Factory, Edge AI Orchestrator, and AI Testing Loop — validating AI-first strategy at the world's largest tech showcase.</a:t>
            </a:r>
          </a:p>
        </p:txBody>
      </p:sp>
      <p:sp>
        <p:nvSpPr>
          <p:cNvPr id="37" name="TextBox 3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38" name="TextBox 3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502920"/>
          </a:xfrm>
          <a:prstGeom prst="rect">
            <a:avLst/>
          </a:prstGeom>
          <a:noFill/>
        </p:spPr>
        <p:txBody>
          <a:bodyPr wrap="square" anchor="t" lIns="0" rIns="0" tIns="0" bIns="0">
            <a:normAutofit/>
          </a:bodyPr>
          <a:lstStyle/>
          <a:p>
            <a:pPr algn="l">
              <a:lnSpc>
                <a:spcPct val="105000"/>
              </a:lnSpc>
              <a:spcBef>
                <a:spcPts val="0"/>
              </a:spcBef>
            </a:pPr>
            <a:r>
              <a:rPr sz="2400" b="1" i="0">
                <a:solidFill>
                  <a:srgbClr val="FFFFFF"/>
                </a:solidFill>
                <a:latin typeface="Calibri"/>
              </a:rPr>
              <a:t>What Global Leaders Say — From Fortune 500 to Insurance to Energy</a:t>
            </a:r>
          </a:p>
        </p:txBody>
      </p:sp>
      <p:sp>
        <p:nvSpPr>
          <p:cNvPr id="5" name="Rectangle 4"/>
          <p:cNvSpPr/>
          <p:nvPr/>
        </p:nvSpPr>
        <p:spPr>
          <a:xfrm>
            <a:off x="548640" y="932688"/>
            <a:ext cx="10972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78992"/>
            <a:ext cx="11094415" cy="32004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Clients across every GCC-relevant vertical have validated FPT's delivery.</a:t>
            </a:r>
          </a:p>
        </p:txBody>
      </p:sp>
      <p:sp>
        <p:nvSpPr>
          <p:cNvPr id="7" name="Rounded Rectangle 6"/>
          <p:cNvSpPr/>
          <p:nvPr/>
        </p:nvSpPr>
        <p:spPr>
          <a:xfrm>
            <a:off x="548640" y="1536192"/>
            <a:ext cx="11094415" cy="932688"/>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36192"/>
            <a:ext cx="54864" cy="9326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609344"/>
            <a:ext cx="164592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GE Healthcare</a:t>
            </a:r>
          </a:p>
        </p:txBody>
      </p:sp>
      <p:sp>
        <p:nvSpPr>
          <p:cNvPr id="10" name="TextBox 9"/>
          <p:cNvSpPr txBox="1"/>
          <p:nvPr/>
        </p:nvSpPr>
        <p:spPr>
          <a:xfrm>
            <a:off x="713232" y="1920240"/>
            <a:ext cx="1645920" cy="22860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Healthcare</a:t>
            </a:r>
          </a:p>
        </p:txBody>
      </p:sp>
      <p:sp>
        <p:nvSpPr>
          <p:cNvPr id="11" name="TextBox 10"/>
          <p:cNvSpPr txBox="1"/>
          <p:nvPr/>
        </p:nvSpPr>
        <p:spPr>
          <a:xfrm>
            <a:off x="2468880" y="1627632"/>
            <a:ext cx="9082735" cy="768096"/>
          </a:xfrm>
          <a:prstGeom prst="rect">
            <a:avLst/>
          </a:prstGeom>
          <a:noFill/>
        </p:spPr>
        <p:txBody>
          <a:bodyPr wrap="square" anchor="t" lIns="0" rIns="0" tIns="0" bIns="0">
            <a:normAutofit/>
          </a:bodyPr>
          <a:lstStyle/>
          <a:p>
            <a:pPr algn="l">
              <a:lnSpc>
                <a:spcPct val="105000"/>
              </a:lnSpc>
              <a:spcBef>
                <a:spcPts val="0"/>
              </a:spcBef>
            </a:pPr>
            <a:r>
              <a:rPr sz="1150" b="0" i="1">
                <a:solidFill>
                  <a:srgbClr val="E0F7F1"/>
                </a:solidFill>
                <a:latin typeface="Calibri"/>
              </a:rPr>
              <a:t>"Accelerate AI-driven solutions improving hospital operations and patient care — building a connected healthcare ecosystem."</a:t>
            </a:r>
          </a:p>
        </p:txBody>
      </p:sp>
      <p:sp>
        <p:nvSpPr>
          <p:cNvPr id="12" name="Rounded Rectangle 11"/>
          <p:cNvSpPr/>
          <p:nvPr/>
        </p:nvSpPr>
        <p:spPr>
          <a:xfrm>
            <a:off x="548640" y="2578608"/>
            <a:ext cx="11094415" cy="932688"/>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578608"/>
            <a:ext cx="54864" cy="9326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651760"/>
            <a:ext cx="164592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Schaeffler</a:t>
            </a:r>
          </a:p>
        </p:txBody>
      </p:sp>
      <p:sp>
        <p:nvSpPr>
          <p:cNvPr id="15" name="TextBox 14"/>
          <p:cNvSpPr txBox="1"/>
          <p:nvPr/>
        </p:nvSpPr>
        <p:spPr>
          <a:xfrm>
            <a:off x="713232" y="2962656"/>
            <a:ext cx="1645920" cy="22860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Manufacturing</a:t>
            </a:r>
          </a:p>
        </p:txBody>
      </p:sp>
      <p:sp>
        <p:nvSpPr>
          <p:cNvPr id="16" name="TextBox 15"/>
          <p:cNvSpPr txBox="1"/>
          <p:nvPr/>
        </p:nvSpPr>
        <p:spPr>
          <a:xfrm>
            <a:off x="2468880" y="2670048"/>
            <a:ext cx="9082735" cy="768096"/>
          </a:xfrm>
          <a:prstGeom prst="rect">
            <a:avLst/>
          </a:prstGeom>
          <a:noFill/>
        </p:spPr>
        <p:txBody>
          <a:bodyPr wrap="square" anchor="t" lIns="0" rIns="0" tIns="0" bIns="0">
            <a:normAutofit/>
          </a:bodyPr>
          <a:lstStyle/>
          <a:p>
            <a:pPr algn="l">
              <a:lnSpc>
                <a:spcPct val="105000"/>
              </a:lnSpc>
              <a:spcBef>
                <a:spcPts val="0"/>
              </a:spcBef>
            </a:pPr>
            <a:r>
              <a:rPr sz="1150" b="0" i="1">
                <a:solidFill>
                  <a:srgbClr val="E0F7F1"/>
                </a:solidFill>
                <a:latin typeface="Calibri"/>
              </a:rPr>
              <a:t>"Flexibility and speed of people drive digital transformation success — FPT's teams deliver at the pace our business demands."</a:t>
            </a:r>
          </a:p>
        </p:txBody>
      </p:sp>
      <p:sp>
        <p:nvSpPr>
          <p:cNvPr id="17" name="Rounded Rectangle 16"/>
          <p:cNvSpPr/>
          <p:nvPr/>
        </p:nvSpPr>
        <p:spPr>
          <a:xfrm>
            <a:off x="548640" y="3621024"/>
            <a:ext cx="11094415" cy="932688"/>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621024"/>
            <a:ext cx="54864" cy="9326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694176"/>
            <a:ext cx="164592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RWE</a:t>
            </a:r>
          </a:p>
        </p:txBody>
      </p:sp>
      <p:sp>
        <p:nvSpPr>
          <p:cNvPr id="20" name="TextBox 19"/>
          <p:cNvSpPr txBox="1"/>
          <p:nvPr/>
        </p:nvSpPr>
        <p:spPr>
          <a:xfrm>
            <a:off x="713232" y="4005072"/>
            <a:ext cx="1645920" cy="22860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Energy &amp; Utilities</a:t>
            </a:r>
          </a:p>
        </p:txBody>
      </p:sp>
      <p:sp>
        <p:nvSpPr>
          <p:cNvPr id="21" name="TextBox 20"/>
          <p:cNvSpPr txBox="1"/>
          <p:nvPr/>
        </p:nvSpPr>
        <p:spPr>
          <a:xfrm>
            <a:off x="2468880" y="3712464"/>
            <a:ext cx="9082735" cy="768096"/>
          </a:xfrm>
          <a:prstGeom prst="rect">
            <a:avLst/>
          </a:prstGeom>
          <a:noFill/>
        </p:spPr>
        <p:txBody>
          <a:bodyPr wrap="square" anchor="t" lIns="0" rIns="0" tIns="0" bIns="0">
            <a:normAutofit/>
          </a:bodyPr>
          <a:lstStyle/>
          <a:p>
            <a:pPr algn="l">
              <a:lnSpc>
                <a:spcPct val="105000"/>
              </a:lnSpc>
              <a:spcBef>
                <a:spcPts val="0"/>
              </a:spcBef>
            </a:pPr>
            <a:r>
              <a:rPr sz="1150" b="0" i="1">
                <a:solidFill>
                  <a:srgbClr val="E0F7F1"/>
                </a:solidFill>
                <a:latin typeface="Calibri"/>
              </a:rPr>
              <a:t>"We receive innovative ideas to support our core business with IT — FPT brings strategic thinking, not just execution."</a:t>
            </a:r>
          </a:p>
        </p:txBody>
      </p:sp>
      <p:sp>
        <p:nvSpPr>
          <p:cNvPr id="22" name="Rounded Rectangle 21"/>
          <p:cNvSpPr/>
          <p:nvPr/>
        </p:nvSpPr>
        <p:spPr>
          <a:xfrm>
            <a:off x="548640" y="4663440"/>
            <a:ext cx="11094415" cy="932688"/>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663440"/>
            <a:ext cx="54864" cy="9326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736592"/>
            <a:ext cx="164592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ITOCHU Corporation</a:t>
            </a:r>
          </a:p>
        </p:txBody>
      </p:sp>
      <p:sp>
        <p:nvSpPr>
          <p:cNvPr id="25" name="TextBox 24"/>
          <p:cNvSpPr txBox="1"/>
          <p:nvPr/>
        </p:nvSpPr>
        <p:spPr>
          <a:xfrm>
            <a:off x="713232" y="5047488"/>
            <a:ext cx="1645920" cy="22860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Trading / Conglomerate</a:t>
            </a:r>
          </a:p>
        </p:txBody>
      </p:sp>
      <p:sp>
        <p:nvSpPr>
          <p:cNvPr id="26" name="TextBox 25"/>
          <p:cNvSpPr txBox="1"/>
          <p:nvPr/>
        </p:nvSpPr>
        <p:spPr>
          <a:xfrm>
            <a:off x="2468880" y="4754880"/>
            <a:ext cx="9082735" cy="768096"/>
          </a:xfrm>
          <a:prstGeom prst="rect">
            <a:avLst/>
          </a:prstGeom>
          <a:noFill/>
        </p:spPr>
        <p:txBody>
          <a:bodyPr wrap="square" anchor="t" lIns="0" rIns="0" tIns="0" bIns="0">
            <a:normAutofit/>
          </a:bodyPr>
          <a:lstStyle/>
          <a:p>
            <a:pPr algn="l">
              <a:lnSpc>
                <a:spcPct val="105000"/>
              </a:lnSpc>
              <a:spcBef>
                <a:spcPts val="0"/>
              </a:spcBef>
            </a:pPr>
            <a:r>
              <a:rPr sz="1150" b="0" i="1">
                <a:solidFill>
                  <a:srgbClr val="E0F7F1"/>
                </a:solidFill>
                <a:latin typeface="Calibri"/>
              </a:rPr>
              <a:t>"We avoid long proof-of-concept phases and move directly into production — FPT makes AI real, not theoretical."</a:t>
            </a:r>
          </a:p>
        </p:txBody>
      </p:sp>
      <p:sp>
        <p:nvSpPr>
          <p:cNvPr id="27" name="Rounded Rectangle 26"/>
          <p:cNvSpPr/>
          <p:nvPr/>
        </p:nvSpPr>
        <p:spPr>
          <a:xfrm>
            <a:off x="548640" y="5705856"/>
            <a:ext cx="11094415" cy="932688"/>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705856"/>
            <a:ext cx="54864" cy="9326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5779008"/>
            <a:ext cx="164592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Davies Insurance</a:t>
            </a:r>
          </a:p>
        </p:txBody>
      </p:sp>
      <p:sp>
        <p:nvSpPr>
          <p:cNvPr id="30" name="TextBox 29"/>
          <p:cNvSpPr txBox="1"/>
          <p:nvPr/>
        </p:nvSpPr>
        <p:spPr>
          <a:xfrm>
            <a:off x="713232" y="6089904"/>
            <a:ext cx="1645920" cy="22860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Financial Services</a:t>
            </a:r>
          </a:p>
        </p:txBody>
      </p:sp>
      <p:sp>
        <p:nvSpPr>
          <p:cNvPr id="31" name="TextBox 30"/>
          <p:cNvSpPr txBox="1"/>
          <p:nvPr/>
        </p:nvSpPr>
        <p:spPr>
          <a:xfrm>
            <a:off x="2468880" y="5797296"/>
            <a:ext cx="9082735" cy="768096"/>
          </a:xfrm>
          <a:prstGeom prst="rect">
            <a:avLst/>
          </a:prstGeom>
          <a:noFill/>
        </p:spPr>
        <p:txBody>
          <a:bodyPr wrap="square" anchor="t" lIns="0" rIns="0" tIns="0" bIns="0">
            <a:normAutofit/>
          </a:bodyPr>
          <a:lstStyle/>
          <a:p>
            <a:pPr algn="l">
              <a:lnSpc>
                <a:spcPct val="105000"/>
              </a:lnSpc>
              <a:spcBef>
                <a:spcPts val="0"/>
              </a:spcBef>
            </a:pPr>
            <a:r>
              <a:rPr sz="1150" b="0" i="1">
                <a:solidFill>
                  <a:srgbClr val="E0F7F1"/>
                </a:solidFill>
                <a:latin typeface="Calibri"/>
              </a:rPr>
              <a:t>"Move to market faster with 7 product teams adhering to our standards — FPT scaled our delivery without sacrificing quality."</a:t>
            </a:r>
          </a:p>
        </p:txBody>
      </p:sp>
      <p:sp>
        <p:nvSpPr>
          <p:cNvPr id="32" name="TextBox 3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Srikumar V R · Ikigai Pro Report · FPT Software GCC · Jun 2026</a:t>
            </a:r>
          </a:p>
        </p:txBody>
      </p:sp>
      <p:sp>
        <p:nvSpPr>
          <p:cNvPr id="33" name="TextBox 3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828800" cy="27432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USE CASE</a:t>
            </a:r>
          </a:p>
        </p:txBody>
      </p:sp>
      <p:sp>
        <p:nvSpPr>
          <p:cNvPr id="5" name="TextBox 4"/>
          <p:cNvSpPr txBox="1"/>
          <p:nvPr/>
        </p:nvSpPr>
        <p:spPr>
          <a:xfrm>
            <a:off x="548640" y="411480"/>
            <a:ext cx="8351215" cy="566928"/>
          </a:xfrm>
          <a:prstGeom prst="rect">
            <a:avLst/>
          </a:prstGeom>
          <a:noFill/>
        </p:spPr>
        <p:txBody>
          <a:bodyPr wrap="square" anchor="t" lIns="0" rIns="0" tIns="0" bIns="0">
            <a:normAutofit/>
          </a:bodyPr>
          <a:lstStyle/>
          <a:p>
            <a:pPr algn="l">
              <a:lnSpc>
                <a:spcPct val="105000"/>
              </a:lnSpc>
              <a:spcBef>
                <a:spcPts val="0"/>
              </a:spcBef>
            </a:pPr>
            <a:r>
              <a:rPr sz="2400" b="1" i="0">
                <a:solidFill>
                  <a:srgbClr val="FFFFFF"/>
                </a:solidFill>
                <a:latin typeface="Calibri"/>
              </a:rPr>
              <a:t>Use Case — Insurance &amp; Financial Services GCC</a:t>
            </a:r>
          </a:p>
        </p:txBody>
      </p:sp>
      <p:sp>
        <p:nvSpPr>
          <p:cNvPr id="6" name="TextBox 5"/>
          <p:cNvSpPr txBox="1"/>
          <p:nvPr/>
        </p:nvSpPr>
        <p:spPr>
          <a:xfrm>
            <a:off x="548640" y="1024128"/>
            <a:ext cx="8351215" cy="32004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AI underwriting · RPA automation · ServiceNow low-code · faster product delivery</a:t>
            </a:r>
          </a:p>
        </p:txBody>
      </p:sp>
      <p:sp>
        <p:nvSpPr>
          <p:cNvPr id="7" name="Rounded Rectangle 6"/>
          <p:cNvSpPr/>
          <p:nvPr/>
        </p:nvSpPr>
        <p:spPr>
          <a:xfrm>
            <a:off x="548640" y="1481328"/>
            <a:ext cx="5303520" cy="1078992"/>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72768"/>
            <a:ext cx="5120640" cy="256032"/>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CHALLENGE</a:t>
            </a:r>
          </a:p>
        </p:txBody>
      </p:sp>
      <p:sp>
        <p:nvSpPr>
          <p:cNvPr id="9" name="TextBox 8"/>
          <p:cNvSpPr txBox="1"/>
          <p:nvPr/>
        </p:nvSpPr>
        <p:spPr>
          <a:xfrm>
            <a:off x="685800" y="1828800"/>
            <a:ext cx="5120640" cy="658368"/>
          </a:xfrm>
          <a:prstGeom prst="rect">
            <a:avLst/>
          </a:prstGeom>
          <a:noFill/>
        </p:spPr>
        <p:txBody>
          <a:bodyPr wrap="square" anchor="t" lIns="0" rIns="0" tIns="0" bIns="0">
            <a:normAutofit/>
          </a:bodyPr>
          <a:lstStyle/>
          <a:p>
            <a:pPr algn="l">
              <a:lnSpc>
                <a:spcPct val="105000"/>
              </a:lnSpc>
              <a:spcBef>
                <a:spcPts val="0"/>
              </a:spcBef>
            </a:pPr>
            <a:r>
              <a:rPr sz="1150" b="0" i="0">
                <a:solidFill>
                  <a:srgbClr val="E0F7F1"/>
                </a:solidFill>
                <a:latin typeface="Calibri"/>
              </a:rPr>
              <a:t>Insurance and BFSI GCCs face board mandates to embed AI into underwriting, claims, compliance, and customer operations — but lack the domain-specific AI expertise and engineering capacity to deliver in production without 18-month hiring cycles.</a:t>
            </a:r>
          </a:p>
        </p:txBody>
      </p:sp>
      <p:sp>
        <p:nvSpPr>
          <p:cNvPr id="10" name="Rounded Rectangle 9"/>
          <p:cNvSpPr/>
          <p:nvPr/>
        </p:nvSpPr>
        <p:spPr>
          <a:xfrm>
            <a:off x="548640" y="2670048"/>
            <a:ext cx="5303520" cy="1170432"/>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61488"/>
            <a:ext cx="5120640" cy="256032"/>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FPT SOLUTION</a:t>
            </a:r>
          </a:p>
        </p:txBody>
      </p:sp>
      <p:sp>
        <p:nvSpPr>
          <p:cNvPr id="12" name="TextBox 11"/>
          <p:cNvSpPr txBox="1"/>
          <p:nvPr/>
        </p:nvSpPr>
        <p:spPr>
          <a:xfrm>
            <a:off x="685800" y="3017520"/>
            <a:ext cx="5120640" cy="749808"/>
          </a:xfrm>
          <a:prstGeom prst="rect">
            <a:avLst/>
          </a:prstGeom>
          <a:noFill/>
        </p:spPr>
        <p:txBody>
          <a:bodyPr wrap="square" anchor="t" lIns="0" rIns="0" tIns="0" bIns="0">
            <a:normAutofit/>
          </a:bodyPr>
          <a:lstStyle/>
          <a:p>
            <a:pPr algn="l">
              <a:lnSpc>
                <a:spcPct val="105000"/>
              </a:lnSpc>
              <a:spcBef>
                <a:spcPts val="0"/>
              </a:spcBef>
            </a:pPr>
            <a:r>
              <a:rPr sz="1150" b="0" i="0">
                <a:solidFill>
                  <a:srgbClr val="E0F7F1"/>
                </a:solidFill>
                <a:latin typeface="Calibri"/>
              </a:rPr>
              <a:t>FPT deploys AI underwriting systems, RPA for health insurance processing, ServiceNow low-code for workflow automation, and AI-augmented engineering teams that integrate with existing BFSI tech stacks (SAP, Microsoft Dynamics 365, core insurance platforms).</a:t>
            </a:r>
          </a:p>
        </p:txBody>
      </p:sp>
      <p:sp>
        <p:nvSpPr>
          <p:cNvPr id="13" name="Rounded Rectangle 12"/>
          <p:cNvSpPr/>
          <p:nvPr/>
        </p:nvSpPr>
        <p:spPr>
          <a:xfrm>
            <a:off x="548640" y="3950208"/>
            <a:ext cx="5303520" cy="1024128"/>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041648"/>
            <a:ext cx="5120640" cy="256032"/>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RESULTS</a:t>
            </a:r>
          </a:p>
        </p:txBody>
      </p:sp>
      <p:sp>
        <p:nvSpPr>
          <p:cNvPr id="15" name="TextBox 14"/>
          <p:cNvSpPr txBox="1"/>
          <p:nvPr/>
        </p:nvSpPr>
        <p:spPr>
          <a:xfrm>
            <a:off x="685800" y="4297680"/>
            <a:ext cx="5120640" cy="603504"/>
          </a:xfrm>
          <a:prstGeom prst="rect">
            <a:avLst/>
          </a:prstGeom>
          <a:noFill/>
        </p:spPr>
        <p:txBody>
          <a:bodyPr wrap="square" anchor="t" lIns="0" rIns="0" tIns="0" bIns="0">
            <a:normAutofit/>
          </a:bodyPr>
          <a:lstStyle/>
          <a:p>
            <a:pPr algn="l">
              <a:lnSpc>
                <a:spcPct val="105000"/>
              </a:lnSpc>
              <a:spcBef>
                <a:spcPts val="0"/>
              </a:spcBef>
            </a:pPr>
            <a:r>
              <a:rPr sz="1200" b="1" i="0">
                <a:solidFill>
                  <a:srgbClr val="0A1628"/>
                </a:solidFill>
                <a:latin typeface="Calibri"/>
              </a:rPr>
              <a:t>600% boost in underwriting efficiency · $1.5M turnaround on health insurance RPA (EpiSource) · 70% effort saved in workflow automation (ServiceNow) · 7 product teams shipping faster (Davies Insurance)</a:t>
            </a:r>
          </a:p>
        </p:txBody>
      </p:sp>
      <p:sp>
        <p:nvSpPr>
          <p:cNvPr id="16" name="Rounded Rectangle 15"/>
          <p:cNvSpPr/>
          <p:nvPr/>
        </p:nvSpPr>
        <p:spPr>
          <a:xfrm>
            <a:off x="6035040" y="1481328"/>
            <a:ext cx="5608015" cy="1481328"/>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1572768"/>
            <a:ext cx="5425135" cy="256032"/>
          </a:xfrm>
          <a:prstGeom prst="rect">
            <a:avLst/>
          </a:prstGeom>
          <a:noFill/>
        </p:spPr>
        <p:txBody>
          <a:bodyPr wrap="square" anchor="t" lIns="0" rIns="0" tIns="0" bIns="0">
            <a:noAutofit/>
          </a:bodyPr>
          <a:lstStyle/>
          <a:p>
            <a:pPr algn="l">
              <a:lnSpc>
                <a:spcPct val="105000"/>
              </a:lnSpc>
              <a:spcBef>
                <a:spcPts val="0"/>
              </a:spcBef>
            </a:pPr>
            <a:r>
              <a:rPr sz="1000" b="1" i="0">
                <a:solidFill>
                  <a:srgbClr val="FFB800"/>
                </a:solidFill>
                <a:latin typeface="Calibri"/>
              </a:rPr>
              <a:t>PLATFORM</a:t>
            </a:r>
          </a:p>
        </p:txBody>
      </p:sp>
      <p:sp>
        <p:nvSpPr>
          <p:cNvPr id="18" name="TextBox 17"/>
          <p:cNvSpPr txBox="1"/>
          <p:nvPr/>
        </p:nvSpPr>
        <p:spPr>
          <a:xfrm>
            <a:off x="6172200" y="1828800"/>
            <a:ext cx="5425135" cy="1024128"/>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FleziPT (AI production)
SAP + Microsoft Dynamics 365 integration
AI Testing Loop (compliance)
ServiceNow low-code / no-code
CASAN Framework (strategy to execution)</a:t>
            </a:r>
          </a:p>
        </p:txBody>
      </p:sp>
      <p:sp>
        <p:nvSpPr>
          <p:cNvPr id="19" name="Rounded Rectangle 18"/>
          <p:cNvSpPr/>
          <p:nvPr/>
        </p:nvSpPr>
        <p:spPr>
          <a:xfrm>
            <a:off x="6035040" y="3072384"/>
            <a:ext cx="5608015" cy="192024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3163824"/>
            <a:ext cx="5425135" cy="256032"/>
          </a:xfrm>
          <a:prstGeom prst="rect">
            <a:avLst/>
          </a:prstGeom>
          <a:noFill/>
        </p:spPr>
        <p:txBody>
          <a:bodyPr wrap="square" anchor="t" lIns="0" rIns="0" tIns="0" bIns="0">
            <a:noAutofit/>
          </a:bodyPr>
          <a:lstStyle/>
          <a:p>
            <a:pPr algn="l">
              <a:lnSpc>
                <a:spcPct val="105000"/>
              </a:lnSpc>
              <a:spcBef>
                <a:spcPts val="0"/>
              </a:spcBef>
            </a:pPr>
            <a:r>
              <a:rPr sz="1000" b="1" i="0">
                <a:solidFill>
                  <a:srgbClr val="FFB800"/>
                </a:solidFill>
                <a:latin typeface="Calibri"/>
              </a:rPr>
              <a:t>GCC RELEVANCE</a:t>
            </a:r>
          </a:p>
        </p:txBody>
      </p:sp>
      <p:sp>
        <p:nvSpPr>
          <p:cNvPr id="21" name="TextBox 20"/>
          <p:cNvSpPr txBox="1"/>
          <p:nvPr/>
        </p:nvSpPr>
        <p:spPr>
          <a:xfrm>
            <a:off x="6172200" y="3419856"/>
            <a:ext cx="5425135" cy="1444752"/>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Life insurance GCCs with AI underwriting mandate
Health insurance GCCs with claims automation backlog
BFSI GCCs needing faster product delivery without adding headcount
Regulated GCCs requiring audit-trail AI (V-Model / A-SPICE compliance)
Insurance AMS ISVs building AI renewal automation for their GCC clients</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Srikumar V R · Ikigai Pro Report · FPT Software GCC · Jun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828800" cy="27432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USE CASE</a:t>
            </a:r>
          </a:p>
        </p:txBody>
      </p:sp>
      <p:sp>
        <p:nvSpPr>
          <p:cNvPr id="5" name="TextBox 4"/>
          <p:cNvSpPr txBox="1"/>
          <p:nvPr/>
        </p:nvSpPr>
        <p:spPr>
          <a:xfrm>
            <a:off x="548640" y="411480"/>
            <a:ext cx="8351215" cy="566928"/>
          </a:xfrm>
          <a:prstGeom prst="rect">
            <a:avLst/>
          </a:prstGeom>
          <a:noFill/>
        </p:spPr>
        <p:txBody>
          <a:bodyPr wrap="square" anchor="t" lIns="0" rIns="0" tIns="0" bIns="0">
            <a:normAutofit/>
          </a:bodyPr>
          <a:lstStyle/>
          <a:p>
            <a:pPr algn="l">
              <a:lnSpc>
                <a:spcPct val="105000"/>
              </a:lnSpc>
              <a:spcBef>
                <a:spcPts val="0"/>
              </a:spcBef>
            </a:pPr>
            <a:r>
              <a:rPr sz="2400" b="1" i="0">
                <a:solidFill>
                  <a:srgbClr val="FFFFFF"/>
                </a:solidFill>
                <a:latin typeface="Calibri"/>
              </a:rPr>
              <a:t>Use Case — Manufacturing &amp; Healthcare GCC</a:t>
            </a:r>
          </a:p>
        </p:txBody>
      </p:sp>
      <p:sp>
        <p:nvSpPr>
          <p:cNvPr id="6" name="TextBox 5"/>
          <p:cNvSpPr txBox="1"/>
          <p:nvPr/>
        </p:nvSpPr>
        <p:spPr>
          <a:xfrm>
            <a:off x="548640" y="1024128"/>
            <a:ext cx="8351215" cy="32004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Factory AI · predictive maintenance · hospital operations · patient care automation</a:t>
            </a:r>
          </a:p>
        </p:txBody>
      </p:sp>
      <p:sp>
        <p:nvSpPr>
          <p:cNvPr id="7" name="Rounded Rectangle 6"/>
          <p:cNvSpPr/>
          <p:nvPr/>
        </p:nvSpPr>
        <p:spPr>
          <a:xfrm>
            <a:off x="548640" y="1481328"/>
            <a:ext cx="5303520" cy="1078992"/>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72768"/>
            <a:ext cx="5120640" cy="256032"/>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CHALLENGE</a:t>
            </a:r>
          </a:p>
        </p:txBody>
      </p:sp>
      <p:sp>
        <p:nvSpPr>
          <p:cNvPr id="9" name="TextBox 8"/>
          <p:cNvSpPr txBox="1"/>
          <p:nvPr/>
        </p:nvSpPr>
        <p:spPr>
          <a:xfrm>
            <a:off x="685800" y="1828800"/>
            <a:ext cx="5120640" cy="658368"/>
          </a:xfrm>
          <a:prstGeom prst="rect">
            <a:avLst/>
          </a:prstGeom>
          <a:noFill/>
        </p:spPr>
        <p:txBody>
          <a:bodyPr wrap="square" anchor="t" lIns="0" rIns="0" tIns="0" bIns="0">
            <a:normAutofit/>
          </a:bodyPr>
          <a:lstStyle/>
          <a:p>
            <a:pPr algn="l">
              <a:lnSpc>
                <a:spcPct val="105000"/>
              </a:lnSpc>
              <a:spcBef>
                <a:spcPts val="0"/>
              </a:spcBef>
            </a:pPr>
            <a:r>
              <a:rPr sz="1150" b="0" i="0">
                <a:solidFill>
                  <a:srgbClr val="E0F7F1"/>
                </a:solidFill>
                <a:latin typeface="Calibri"/>
              </a:rPr>
              <a:t>Manufacturing and healthcare GCCs are under pressure to deploy AI that reduces operational cost, improves safety, and delivers measurable ROI to global parents — without disrupting existing plant systems or violating HIPAA/regulatory constraints.</a:t>
            </a:r>
          </a:p>
        </p:txBody>
      </p:sp>
      <p:sp>
        <p:nvSpPr>
          <p:cNvPr id="10" name="Rounded Rectangle 9"/>
          <p:cNvSpPr/>
          <p:nvPr/>
        </p:nvSpPr>
        <p:spPr>
          <a:xfrm>
            <a:off x="548640" y="2670048"/>
            <a:ext cx="5303520" cy="1170432"/>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61488"/>
            <a:ext cx="5120640" cy="256032"/>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FPT SOLUTION</a:t>
            </a:r>
          </a:p>
        </p:txBody>
      </p:sp>
      <p:sp>
        <p:nvSpPr>
          <p:cNvPr id="12" name="TextBox 11"/>
          <p:cNvSpPr txBox="1"/>
          <p:nvPr/>
        </p:nvSpPr>
        <p:spPr>
          <a:xfrm>
            <a:off x="685800" y="3017520"/>
            <a:ext cx="5120640" cy="749808"/>
          </a:xfrm>
          <a:prstGeom prst="rect">
            <a:avLst/>
          </a:prstGeom>
          <a:noFill/>
        </p:spPr>
        <p:txBody>
          <a:bodyPr wrap="square" anchor="t" lIns="0" rIns="0" tIns="0" bIns="0">
            <a:normAutofit/>
          </a:bodyPr>
          <a:lstStyle/>
          <a:p>
            <a:pPr algn="l">
              <a:lnSpc>
                <a:spcPct val="105000"/>
              </a:lnSpc>
              <a:spcBef>
                <a:spcPts val="0"/>
              </a:spcBef>
            </a:pPr>
            <a:r>
              <a:rPr sz="1150" b="0" i="0">
                <a:solidFill>
                  <a:srgbClr val="E0F7F1"/>
                </a:solidFill>
                <a:latin typeface="Calibri"/>
              </a:rPr>
              <a:t>FPT deploys Virtual Factory (anomaly detection, computer vision, real-time plant monitoring) for manufacturing GCCs, and KnowMed.ai (HIPAA-compliant, AI-driven hospital and patient workflow automation) for healthcare GCCs — both production-ready, not pilot-grade.</a:t>
            </a:r>
          </a:p>
        </p:txBody>
      </p:sp>
      <p:sp>
        <p:nvSpPr>
          <p:cNvPr id="13" name="Rounded Rectangle 12"/>
          <p:cNvSpPr/>
          <p:nvPr/>
        </p:nvSpPr>
        <p:spPr>
          <a:xfrm>
            <a:off x="548640" y="3950208"/>
            <a:ext cx="5303520" cy="1024128"/>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041648"/>
            <a:ext cx="5120640" cy="256032"/>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RESULTS</a:t>
            </a:r>
          </a:p>
        </p:txBody>
      </p:sp>
      <p:sp>
        <p:nvSpPr>
          <p:cNvPr id="15" name="TextBox 14"/>
          <p:cNvSpPr txBox="1"/>
          <p:nvPr/>
        </p:nvSpPr>
        <p:spPr>
          <a:xfrm>
            <a:off x="685800" y="4297680"/>
            <a:ext cx="5120640" cy="603504"/>
          </a:xfrm>
          <a:prstGeom prst="rect">
            <a:avLst/>
          </a:prstGeom>
          <a:noFill/>
        </p:spPr>
        <p:txBody>
          <a:bodyPr wrap="square" anchor="t" lIns="0" rIns="0" tIns="0" bIns="0">
            <a:normAutofit/>
          </a:bodyPr>
          <a:lstStyle/>
          <a:p>
            <a:pPr algn="l">
              <a:lnSpc>
                <a:spcPct val="105000"/>
              </a:lnSpc>
              <a:spcBef>
                <a:spcPts val="0"/>
              </a:spcBef>
            </a:pPr>
            <a:r>
              <a:rPr sz="1200" b="1" i="0">
                <a:solidFill>
                  <a:srgbClr val="0A1628"/>
                </a:solidFill>
                <a:latin typeface="Calibri"/>
              </a:rPr>
              <a:t>80% cost reduction in factory safety surveillance · 70% reduction in manual monitoring effort · GE Healthcare: AI accelerating hospital operations and patient care · Schaeffler: digital transformation at pace</a:t>
            </a:r>
          </a:p>
        </p:txBody>
      </p:sp>
      <p:sp>
        <p:nvSpPr>
          <p:cNvPr id="16" name="Rounded Rectangle 15"/>
          <p:cNvSpPr/>
          <p:nvPr/>
        </p:nvSpPr>
        <p:spPr>
          <a:xfrm>
            <a:off x="6035040" y="1481328"/>
            <a:ext cx="5608015" cy="1481328"/>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1572768"/>
            <a:ext cx="5425135" cy="256032"/>
          </a:xfrm>
          <a:prstGeom prst="rect">
            <a:avLst/>
          </a:prstGeom>
          <a:noFill/>
        </p:spPr>
        <p:txBody>
          <a:bodyPr wrap="square" anchor="t" lIns="0" rIns="0" tIns="0" bIns="0">
            <a:noAutofit/>
          </a:bodyPr>
          <a:lstStyle/>
          <a:p>
            <a:pPr algn="l">
              <a:lnSpc>
                <a:spcPct val="105000"/>
              </a:lnSpc>
              <a:spcBef>
                <a:spcPts val="0"/>
              </a:spcBef>
            </a:pPr>
            <a:r>
              <a:rPr sz="1000" b="1" i="0">
                <a:solidFill>
                  <a:srgbClr val="FFB800"/>
                </a:solidFill>
                <a:latin typeface="Calibri"/>
              </a:rPr>
              <a:t>PLATFORM</a:t>
            </a:r>
          </a:p>
        </p:txBody>
      </p:sp>
      <p:sp>
        <p:nvSpPr>
          <p:cNvPr id="18" name="TextBox 17"/>
          <p:cNvSpPr txBox="1"/>
          <p:nvPr/>
        </p:nvSpPr>
        <p:spPr>
          <a:xfrm>
            <a:off x="6172200" y="1828800"/>
            <a:ext cx="5425135" cy="1024128"/>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Virtual Factory (computer vision + anomaly detection + predictive maintenance)
KnowMed.ai (healthcare AI + HIPAA compliance)
Edge AI Orchestrator (low-latency on-device AI)
FleziPT (production AI deployment layer)
AI Testing Loop (80% manual testing automated)</a:t>
            </a:r>
          </a:p>
        </p:txBody>
      </p:sp>
      <p:sp>
        <p:nvSpPr>
          <p:cNvPr id="19" name="Rounded Rectangle 18"/>
          <p:cNvSpPr/>
          <p:nvPr/>
        </p:nvSpPr>
        <p:spPr>
          <a:xfrm>
            <a:off x="6035040" y="3072384"/>
            <a:ext cx="5608015" cy="192024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3163824"/>
            <a:ext cx="5425135" cy="256032"/>
          </a:xfrm>
          <a:prstGeom prst="rect">
            <a:avLst/>
          </a:prstGeom>
          <a:noFill/>
        </p:spPr>
        <p:txBody>
          <a:bodyPr wrap="square" anchor="t" lIns="0" rIns="0" tIns="0" bIns="0">
            <a:noAutofit/>
          </a:bodyPr>
          <a:lstStyle/>
          <a:p>
            <a:pPr algn="l">
              <a:lnSpc>
                <a:spcPct val="105000"/>
              </a:lnSpc>
              <a:spcBef>
                <a:spcPts val="0"/>
              </a:spcBef>
            </a:pPr>
            <a:r>
              <a:rPr sz="1000" b="1" i="0">
                <a:solidFill>
                  <a:srgbClr val="FFB800"/>
                </a:solidFill>
                <a:latin typeface="Calibri"/>
              </a:rPr>
              <a:t>GCC RELEVANCE</a:t>
            </a:r>
          </a:p>
        </p:txBody>
      </p:sp>
      <p:sp>
        <p:nvSpPr>
          <p:cNvPr id="21" name="TextBox 20"/>
          <p:cNvSpPr txBox="1"/>
          <p:nvPr/>
        </p:nvSpPr>
        <p:spPr>
          <a:xfrm>
            <a:off x="6172200" y="3419856"/>
            <a:ext cx="5425135" cy="1444752"/>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Manufacturing GCCs with 'add AI to plant operations' on board roadmap
Healthcare GCCs under pressure to reduce patient intake friction and clinical admin burden
Energy GCCs with asset monitoring and predictive maintenance requirements
Any GCC in a regulated industry needing AI with compliance traceability
Global parents whose India GCC is the designated AI innovation centre for the group</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Srikumar V R · Ikigai Pro Report · FPT Software GCC · Jun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Srikumar's Proof Points — Why GCC Leaders Take the First Meeting</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BD Experience &amp; Credibility Evidence</a:t>
            </a:r>
          </a:p>
        </p:txBody>
      </p:sp>
      <p:sp>
        <p:nvSpPr>
          <p:cNvPr id="7" name="Rounded Rectangle 6"/>
          <p:cNvSpPr/>
          <p:nvPr/>
        </p:nvSpPr>
        <p:spPr>
          <a:xfrm>
            <a:off x="548640" y="1572768"/>
            <a:ext cx="5474055" cy="74980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54864" cy="7498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636776"/>
            <a:ext cx="5291175" cy="237744"/>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FPT Software (2023–Present)</a:t>
            </a:r>
          </a:p>
        </p:txBody>
      </p:sp>
      <p:sp>
        <p:nvSpPr>
          <p:cNvPr id="10" name="TextBox 9"/>
          <p:cNvSpPr txBox="1"/>
          <p:nvPr/>
        </p:nvSpPr>
        <p:spPr>
          <a:xfrm>
            <a:off x="676656" y="1883664"/>
            <a:ext cx="5291175" cy="384048"/>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3+ years building GCC relationships across life sciences, BFSI, aviation, manufacturing, energy and mobility in India. Enabled GCCs to accelerate innovation and scale operations through FPT's AI-first capability stack.</a:t>
            </a:r>
          </a:p>
        </p:txBody>
      </p:sp>
      <p:sp>
        <p:nvSpPr>
          <p:cNvPr id="11" name="Rounded Rectangle 10"/>
          <p:cNvSpPr/>
          <p:nvPr/>
        </p:nvSpPr>
        <p:spPr>
          <a:xfrm>
            <a:off x="548640" y="2414016"/>
            <a:ext cx="5474055" cy="74980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414016"/>
            <a:ext cx="54864" cy="7498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478024"/>
            <a:ext cx="5291175" cy="237744"/>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KC Travel Solutions (2014–2015)</a:t>
            </a:r>
          </a:p>
        </p:txBody>
      </p:sp>
      <p:sp>
        <p:nvSpPr>
          <p:cNvPr id="14" name="TextBox 13"/>
          <p:cNvSpPr txBox="1"/>
          <p:nvPr/>
        </p:nvSpPr>
        <p:spPr>
          <a:xfrm>
            <a:off x="676656" y="2724912"/>
            <a:ext cx="5291175" cy="384048"/>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Built and scaled a SaaS travel platform to 300+ travel agents. Conceptualized Ci2Te2 — an AI/AR/VR-powered travel personalization engine — in 2014, a decade before generative AI became mainstream. Proof of early technology conviction.</a:t>
            </a:r>
          </a:p>
        </p:txBody>
      </p:sp>
      <p:sp>
        <p:nvSpPr>
          <p:cNvPr id="15" name="Rounded Rectangle 14"/>
          <p:cNvSpPr/>
          <p:nvPr/>
        </p:nvSpPr>
        <p:spPr>
          <a:xfrm>
            <a:off x="548640" y="3255264"/>
            <a:ext cx="5474055" cy="74980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55264"/>
            <a:ext cx="54864" cy="7498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3319272"/>
            <a:ext cx="5291175" cy="237744"/>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Intelligent Media Technologies, Malaysia (2006–2008)</a:t>
            </a:r>
          </a:p>
        </p:txBody>
      </p:sp>
      <p:sp>
        <p:nvSpPr>
          <p:cNvPr id="18" name="TextBox 17"/>
          <p:cNvSpPr txBox="1"/>
          <p:nvPr/>
        </p:nvSpPr>
        <p:spPr>
          <a:xfrm>
            <a:off x="676656" y="3566160"/>
            <a:ext cx="5291175" cy="384048"/>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Built the digital signage solution i-Screen from scratch, forged alliance with Screenaxx Media, launched pilots in Malaysia and India with a 6-person team. Secured USD 1M grant from Malaysian Government — first Indian media venture to achieve this.</a:t>
            </a:r>
          </a:p>
        </p:txBody>
      </p:sp>
      <p:sp>
        <p:nvSpPr>
          <p:cNvPr id="19" name="Rounded Rectangle 18"/>
          <p:cNvSpPr/>
          <p:nvPr/>
        </p:nvSpPr>
        <p:spPr>
          <a:xfrm>
            <a:off x="6187287" y="1572768"/>
            <a:ext cx="5474055" cy="74980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7287" y="1572768"/>
            <a:ext cx="54864" cy="7498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5303" y="1636776"/>
            <a:ext cx="5291175" cy="237744"/>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BLAAST Patent (2016–2020)</a:t>
            </a:r>
          </a:p>
        </p:txBody>
      </p:sp>
      <p:sp>
        <p:nvSpPr>
          <p:cNvPr id="22" name="TextBox 21"/>
          <p:cNvSpPr txBox="1"/>
          <p:nvPr/>
        </p:nvSpPr>
        <p:spPr>
          <a:xfrm>
            <a:off x="6315303" y="1883664"/>
            <a:ext cx="5291175" cy="384048"/>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Invented a Thermal Air Sterilizer for airborne COVID-19 in collaboration with Dr Sunil Kumar, IIT Tirupati. Took a scientific concept to a working product and filed patent. Proof that Srikumar doesn't just advise — he builds.</a:t>
            </a:r>
          </a:p>
        </p:txBody>
      </p:sp>
      <p:sp>
        <p:nvSpPr>
          <p:cNvPr id="23" name="Rounded Rectangle 22"/>
          <p:cNvSpPr/>
          <p:nvPr/>
        </p:nvSpPr>
        <p:spPr>
          <a:xfrm>
            <a:off x="6187287" y="2414016"/>
            <a:ext cx="5474055" cy="74980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7287" y="2414016"/>
            <a:ext cx="54864" cy="7498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5303" y="2478024"/>
            <a:ext cx="5291175" cy="237744"/>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Interserve Travel (2008–2014)</a:t>
            </a:r>
          </a:p>
        </p:txBody>
      </p:sp>
      <p:sp>
        <p:nvSpPr>
          <p:cNvPr id="26" name="TextBox 25"/>
          <p:cNvSpPr txBox="1"/>
          <p:nvPr/>
        </p:nvSpPr>
        <p:spPr>
          <a:xfrm>
            <a:off x="6315303" y="2724912"/>
            <a:ext cx="5291175" cy="384048"/>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Achieved stellar airline revenue growth 2010–2012. Rolled out portal and credit policy across 150+ travel agency users. Multi-year enterprise relationship management at P&amp;L level.</a:t>
            </a:r>
          </a:p>
        </p:txBody>
      </p:sp>
      <p:sp>
        <p:nvSpPr>
          <p:cNvPr id="27" name="Rounded Rectangle 26"/>
          <p:cNvSpPr/>
          <p:nvPr/>
        </p:nvSpPr>
        <p:spPr>
          <a:xfrm>
            <a:off x="6187287" y="3255264"/>
            <a:ext cx="5474055" cy="749808"/>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87287" y="3255264"/>
            <a:ext cx="54864" cy="7498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15303" y="3319272"/>
            <a:ext cx="5291175" cy="237744"/>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IIT Madras B.Tech + IIM Calcutta PGDM</a:t>
            </a:r>
          </a:p>
        </p:txBody>
      </p:sp>
      <p:sp>
        <p:nvSpPr>
          <p:cNvPr id="30" name="TextBox 29"/>
          <p:cNvSpPr txBox="1"/>
          <p:nvPr/>
        </p:nvSpPr>
        <p:spPr>
          <a:xfrm>
            <a:off x="6315303" y="3566160"/>
            <a:ext cx="5291175" cy="384048"/>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Engineering analytical rigour (IIT Madras, Chemical Engineering, 1993–1997) combined with commercial strategic thinking (IIM Calcutta, Marketing/Finance/HR, 1997–1999). The pedigree that opens CFO and CTO doors in India's GCC community.</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Serial Founder Energy at the Heart of Every Engagement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What He Loves</a:t>
            </a:r>
          </a:p>
        </p:txBody>
      </p:sp>
      <p:sp>
        <p:nvSpPr>
          <p:cNvPr id="7" name="TextBox 6"/>
          <p:cNvSpPr txBox="1"/>
          <p:nvPr/>
        </p:nvSpPr>
        <p:spPr>
          <a:xfrm>
            <a:off x="548640" y="1572768"/>
            <a:ext cx="10820095" cy="4572000"/>
          </a:xfrm>
          <a:prstGeom prst="rect">
            <a:avLst/>
          </a:prstGeom>
          <a:noFill/>
        </p:spPr>
        <p:txBody>
          <a:bodyPr wrap="square" anchor="t" lIns="0" rIns="0" tIns="0" bIns="0">
            <a:normAutofit/>
          </a:bodyPr>
          <a:lstStyle/>
          <a:p>
            <a:pPr algn="l">
              <a:lnSpc>
                <a:spcPct val="105000"/>
              </a:lnSpc>
              <a:spcBef>
                <a:spcPts val="1000"/>
              </a:spcBef>
            </a:pPr>
            <a:r>
              <a:rPr sz="1400" b="0" i="0">
                <a:solidFill>
                  <a:srgbClr val="1B2B3C"/>
                </a:solidFill>
                <a:latin typeface="Calibri"/>
              </a:rPr>
              <a:t>•  Co-creating transformation outcomes — enabling GCC success, not selling a product; every role has been about enabling others' growth</a:t>
            </a:r>
          </a:p>
          <a:p>
            <a:pPr algn="l">
              <a:lnSpc>
                <a:spcPct val="105000"/>
              </a:lnSpc>
              <a:spcBef>
                <a:spcPts val="1000"/>
              </a:spcBef>
            </a:pPr>
            <a:r>
              <a:rPr sz="1400" b="0" i="0">
                <a:solidFill>
                  <a:srgbClr val="1B2B3C"/>
                </a:solidFill>
                <a:latin typeface="Calibri"/>
              </a:rPr>
              <a:t>•  Cross-industry strategic partnerships — Screenaxx in Malaysia, Celcom mobile content, FPT GCC co-creation; pattern of building alliances that multiply reach</a:t>
            </a:r>
          </a:p>
          <a:p>
            <a:pPr algn="l">
              <a:lnSpc>
                <a:spcPct val="105000"/>
              </a:lnSpc>
              <a:spcBef>
                <a:spcPts val="1000"/>
              </a:spcBef>
            </a:pPr>
            <a:r>
              <a:rPr sz="1400" b="0" i="0">
                <a:solidFill>
                  <a:srgbClr val="1B2B3C"/>
                </a:solidFill>
                <a:latin typeface="Calibri"/>
              </a:rPr>
              <a:t>•  Emerging technology as a real business lever — Ci2Te2 (AI/AR/VR travel personalization in 2014), BLAAST patent, Generative AI certification; early mover throughout career</a:t>
            </a:r>
          </a:p>
          <a:p>
            <a:pPr algn="l">
              <a:lnSpc>
                <a:spcPct val="105000"/>
              </a:lnSpc>
              <a:spcBef>
                <a:spcPts val="1000"/>
              </a:spcBef>
            </a:pPr>
            <a:r>
              <a:rPr sz="1400" b="0" i="0">
                <a:solidFill>
                  <a:srgbClr val="1B2B3C"/>
                </a:solidFill>
                <a:latin typeface="Calibri"/>
              </a:rPr>
              <a:t>•  Building from zero — OPUSTAYZ Hospitality, KC Travel SaaS platform (300+ agents), digital signage pilots in 2 countries, USD 1M Malaysian government grant</a:t>
            </a:r>
          </a:p>
          <a:p>
            <a:pPr algn="l">
              <a:lnSpc>
                <a:spcPct val="105000"/>
              </a:lnSpc>
              <a:spcBef>
                <a:spcPts val="1000"/>
              </a:spcBef>
            </a:pPr>
            <a:r>
              <a:rPr sz="1400" b="0" i="0">
                <a:solidFill>
                  <a:srgbClr val="1B2B3C"/>
                </a:solidFill>
                <a:latin typeface="Calibri"/>
              </a:rPr>
              <a:t>•  Being the connector — Ma Foi Pulse editor, Strategy Ambassador, community participation; consistently the person who brings the right people together</a:t>
            </a:r>
          </a:p>
          <a:p>
            <a:pPr algn="l">
              <a:lnSpc>
                <a:spcPct val="105000"/>
              </a:lnSpc>
              <a:spcBef>
                <a:spcPts val="1000"/>
              </a:spcBef>
            </a:pPr>
            <a:r>
              <a:rPr sz="1400" b="0" i="0">
                <a:solidFill>
                  <a:srgbClr val="1B2B3C"/>
                </a:solidFill>
                <a:latin typeface="Calibri"/>
              </a:rPr>
              <a:t>•  Watching partner companies win because of what he helped enable — the recurring reward that drives every engagement</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Rare Combination: IIT+IIM Rigor + Builder Track Record + CXO Access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What He's Good At</a:t>
            </a:r>
          </a:p>
        </p:txBody>
      </p:sp>
      <p:sp>
        <p:nvSpPr>
          <p:cNvPr id="7" name="TextBox 6"/>
          <p:cNvSpPr txBox="1"/>
          <p:nvPr/>
        </p:nvSpPr>
        <p:spPr>
          <a:xfrm>
            <a:off x="548640" y="1572768"/>
            <a:ext cx="10820095" cy="4572000"/>
          </a:xfrm>
          <a:prstGeom prst="rect">
            <a:avLst/>
          </a:prstGeom>
          <a:noFill/>
        </p:spPr>
        <p:txBody>
          <a:bodyPr wrap="square" anchor="t" lIns="0" rIns="0" tIns="0" bIns="0">
            <a:normAutofit/>
          </a:bodyPr>
          <a:lstStyle/>
          <a:p>
            <a:pPr algn="l">
              <a:lnSpc>
                <a:spcPct val="105000"/>
              </a:lnSpc>
              <a:spcBef>
                <a:spcPts val="1000"/>
              </a:spcBef>
            </a:pPr>
            <a:r>
              <a:rPr sz="1400" b="0" i="0">
                <a:solidFill>
                  <a:srgbClr val="1B2B3C"/>
                </a:solidFill>
                <a:latin typeface="Calibri"/>
              </a:rPr>
              <a:t>•  Opening GCC CXO doors — 3+ years at FPT building relationships across BFSI, life sciences, aviation, manufacturing; IIT+IIM pedigree signals rigor to CFOs approving vendor spend</a:t>
            </a:r>
          </a:p>
          <a:p>
            <a:pPr algn="l">
              <a:lnSpc>
                <a:spcPct val="105000"/>
              </a:lnSpc>
              <a:spcBef>
                <a:spcPts val="1000"/>
              </a:spcBef>
            </a:pPr>
            <a:r>
              <a:rPr sz="1400" b="0" i="0">
                <a:solidFill>
                  <a:srgbClr val="1B2B3C"/>
                </a:solidFill>
                <a:latin typeface="Calibri"/>
              </a:rPr>
              <a:t>•  Translating FPT's technical depth into GCC buyer language — converting FleziPT, EMT, xMainframe into business outcomes GCC heads can justify to global parents</a:t>
            </a:r>
          </a:p>
          <a:p>
            <a:pPr algn="l">
              <a:lnSpc>
                <a:spcPct val="105000"/>
              </a:lnSpc>
              <a:spcBef>
                <a:spcPts val="1000"/>
              </a:spcBef>
            </a:pPr>
            <a:r>
              <a:rPr sz="1400" b="0" i="0">
                <a:solidFill>
                  <a:srgbClr val="1B2B3C"/>
                </a:solidFill>
                <a:latin typeface="Calibri"/>
              </a:rPr>
              <a:t>•  Cross-industry pattern matching — seeing that a manufacturing GCC's AI problem looks like one a healthcare GCC solved six months ago; FPT has solutions for both</a:t>
            </a:r>
          </a:p>
          <a:p>
            <a:pPr algn="l">
              <a:lnSpc>
                <a:spcPct val="105000"/>
              </a:lnSpc>
              <a:spcBef>
                <a:spcPts val="1000"/>
              </a:spcBef>
            </a:pPr>
            <a:r>
              <a:rPr sz="1400" b="0" i="0">
                <a:solidFill>
                  <a:srgbClr val="1B2B3C"/>
                </a:solidFill>
                <a:latin typeface="Calibri"/>
              </a:rPr>
              <a:t>•  Multi-geography relationship building — India + Malaysia + SE Asia CXO networks; useful for GCCs whose global parents have SE Asia operations FPT also serves</a:t>
            </a:r>
          </a:p>
          <a:p>
            <a:pPr algn="l">
              <a:lnSpc>
                <a:spcPct val="105000"/>
              </a:lnSpc>
              <a:spcBef>
                <a:spcPts val="1000"/>
              </a:spcBef>
            </a:pPr>
            <a:r>
              <a:rPr sz="1400" b="0" i="0">
                <a:solidFill>
                  <a:srgbClr val="1B2B3C"/>
                </a:solidFill>
                <a:latin typeface="Calibri"/>
              </a:rPr>
              <a:t>•  IIT Madras + IIM Calcutta pedigree — engineering problem-solving brain married to MBA-level commercial thinking; rare combination for a BD leader at this level</a:t>
            </a:r>
          </a:p>
          <a:p>
            <a:pPr algn="l">
              <a:lnSpc>
                <a:spcPct val="105000"/>
              </a:lnSpc>
              <a:spcBef>
                <a:spcPts val="1000"/>
              </a:spcBef>
            </a:pPr>
            <a:r>
              <a:rPr sz="1400" b="0" i="0">
                <a:solidFill>
                  <a:srgbClr val="1B2B3C"/>
                </a:solidFill>
                <a:latin typeface="Calibri"/>
              </a:rPr>
              <a:t>•  Long-cycle enterprise deal navigation — Interserve, Virinchi, FPT all involved multi-stakeholder, multi-quarter complexity; GCC transformation programs are exactly that shape</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 Position Nobody Else Occupies in the India GCC Market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Niche Statement</a:t>
            </a:r>
          </a:p>
        </p:txBody>
      </p:sp>
      <p:sp>
        <p:nvSpPr>
          <p:cNvPr id="7" name="Rounded Rectangle 6"/>
          <p:cNvSpPr/>
          <p:nvPr/>
        </p:nvSpPr>
        <p:spPr>
          <a:xfrm>
            <a:off x="548640" y="1572768"/>
            <a:ext cx="11094415" cy="141732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11094415"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664208"/>
            <a:ext cx="2743200" cy="292608"/>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LAYER 1 — MARKET</a:t>
            </a:r>
          </a:p>
        </p:txBody>
      </p:sp>
      <p:sp>
        <p:nvSpPr>
          <p:cNvPr id="10" name="TextBox 9"/>
          <p:cNvSpPr txBox="1"/>
          <p:nvPr/>
        </p:nvSpPr>
        <p:spPr>
          <a:xfrm>
            <a:off x="713232" y="1993392"/>
            <a:ext cx="10820095" cy="960120"/>
          </a:xfrm>
          <a:prstGeom prst="rect">
            <a:avLst/>
          </a:prstGeom>
          <a:noFill/>
        </p:spPr>
        <p:txBody>
          <a:bodyPr wrap="square" anchor="t" lIns="0" rIns="0" tIns="0" bIns="0">
            <a:normAutofit/>
          </a:bodyPr>
          <a:lstStyle/>
          <a:p>
            <a:pPr algn="l">
              <a:lnSpc>
                <a:spcPct val="105000"/>
              </a:lnSpc>
              <a:spcBef>
                <a:spcPts val="0"/>
              </a:spcBef>
            </a:pPr>
            <a:r>
              <a:rPr sz="1250" b="0" i="0">
                <a:solidFill>
                  <a:srgbClr val="FFFFFF"/>
                </a:solidFill>
                <a:latin typeface="Calibri"/>
              </a:rPr>
              <a:t>GCCs in India across BFSI, life sciences, healthcare, manufacturing, energy and aviation
$64B+ annual spend · growing from 1,700 to 2,400+ GCCs by 2030 · 12–15% CAGR</a:t>
            </a:r>
          </a:p>
        </p:txBody>
      </p:sp>
      <p:sp>
        <p:nvSpPr>
          <p:cNvPr id="11" name="Rounded Rectangle 10"/>
          <p:cNvSpPr/>
          <p:nvPr/>
        </p:nvSpPr>
        <p:spPr>
          <a:xfrm>
            <a:off x="548640" y="3081528"/>
            <a:ext cx="11094415" cy="141732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081528"/>
            <a:ext cx="11094415" cy="4572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172968"/>
            <a:ext cx="2743200" cy="292608"/>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LAYER 2 — NICHE</a:t>
            </a:r>
          </a:p>
        </p:txBody>
      </p:sp>
      <p:sp>
        <p:nvSpPr>
          <p:cNvPr id="14" name="TextBox 13"/>
          <p:cNvSpPr txBox="1"/>
          <p:nvPr/>
        </p:nvSpPr>
        <p:spPr>
          <a:xfrm>
            <a:off x="713232" y="3502152"/>
            <a:ext cx="10820095" cy="960120"/>
          </a:xfrm>
          <a:prstGeom prst="rect">
            <a:avLst/>
          </a:prstGeom>
          <a:noFill/>
        </p:spPr>
        <p:txBody>
          <a:bodyPr wrap="square" anchor="t" lIns="0" rIns="0" tIns="0" bIns="0">
            <a:normAutofit/>
          </a:bodyPr>
          <a:lstStyle/>
          <a:p>
            <a:pPr algn="l">
              <a:lnSpc>
                <a:spcPct val="105000"/>
              </a:lnSpc>
              <a:spcBef>
                <a:spcPts val="0"/>
              </a:spcBef>
            </a:pPr>
            <a:r>
              <a:rPr sz="1250" b="0" i="0">
                <a:solidFill>
                  <a:srgbClr val="FFFFFF"/>
                </a:solidFill>
                <a:latin typeface="Calibri"/>
              </a:rPr>
              <a:t>GCC VPs and MDs at multinationals ($500M–$5B parent revenue) with approved AI transformation budgets but no trusted technology partner who can deliver in production — not just advisory</a:t>
            </a:r>
          </a:p>
        </p:txBody>
      </p:sp>
      <p:sp>
        <p:nvSpPr>
          <p:cNvPr id="15" name="Rounded Rectangle 14"/>
          <p:cNvSpPr/>
          <p:nvPr/>
        </p:nvSpPr>
        <p:spPr>
          <a:xfrm>
            <a:off x="548640" y="4590288"/>
            <a:ext cx="11094415" cy="1417320"/>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590288"/>
            <a:ext cx="11094415"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4681728"/>
            <a:ext cx="2743200" cy="292608"/>
          </a:xfrm>
          <a:prstGeom prst="rect">
            <a:avLst/>
          </a:prstGeom>
          <a:noFill/>
        </p:spPr>
        <p:txBody>
          <a:bodyPr wrap="square" anchor="t" lIns="0" rIns="0" tIns="0" bIns="0">
            <a:noAutofit/>
          </a:bodyPr>
          <a:lstStyle/>
          <a:p>
            <a:pPr algn="l">
              <a:lnSpc>
                <a:spcPct val="105000"/>
              </a:lnSpc>
              <a:spcBef>
                <a:spcPts val="0"/>
              </a:spcBef>
            </a:pPr>
            <a:r>
              <a:rPr sz="1200" b="1" i="0">
                <a:solidFill>
                  <a:srgbClr val="FFFFFF"/>
                </a:solidFill>
                <a:latin typeface="Calibri"/>
              </a:rPr>
              <a:t>LAYER 3 — PROBLEM</a:t>
            </a:r>
          </a:p>
        </p:txBody>
      </p:sp>
      <p:sp>
        <p:nvSpPr>
          <p:cNvPr id="18" name="TextBox 17"/>
          <p:cNvSpPr txBox="1"/>
          <p:nvPr/>
        </p:nvSpPr>
        <p:spPr>
          <a:xfrm>
            <a:off x="713232" y="5010912"/>
            <a:ext cx="10820095" cy="960120"/>
          </a:xfrm>
          <a:prstGeom prst="rect">
            <a:avLst/>
          </a:prstGeom>
          <a:noFill/>
        </p:spPr>
        <p:txBody>
          <a:bodyPr wrap="square" anchor="t" lIns="0" rIns="0" tIns="0" bIns="0">
            <a:normAutofit/>
          </a:bodyPr>
          <a:lstStyle/>
          <a:p>
            <a:pPr algn="l">
              <a:lnSpc>
                <a:spcPct val="105000"/>
              </a:lnSpc>
              <a:spcBef>
                <a:spcPts val="0"/>
              </a:spcBef>
            </a:pPr>
            <a:r>
              <a:rPr sz="1250" b="0" i="0">
                <a:solidFill>
                  <a:srgbClr val="FFFFFF"/>
                </a:solidFill>
                <a:latin typeface="Calibri"/>
              </a:rPr>
              <a:t>Every SI has pitched them. They need production-grade AI + legacy modernization + vertical platforms + India delivery + an advisor with cross-industry credibility and no single-vendor agenda to protect</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88/100 — Exceptional Validation Across All Six Dimensions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Validation Scorecard</a:t>
            </a:r>
          </a:p>
        </p:txBody>
      </p:sp>
      <p:sp>
        <p:nvSpPr>
          <p:cNvPr id="7" name="Rectangle 6"/>
          <p:cNvSpPr/>
          <p:nvPr/>
        </p:nvSpPr>
        <p:spPr>
          <a:xfrm>
            <a:off x="548640" y="1572768"/>
            <a:ext cx="2286000" cy="49377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18488"/>
            <a:ext cx="2139696" cy="448056"/>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Dimension</a:t>
            </a:r>
          </a:p>
        </p:txBody>
      </p:sp>
      <p:sp>
        <p:nvSpPr>
          <p:cNvPr id="9" name="Rectangle 8"/>
          <p:cNvSpPr/>
          <p:nvPr/>
        </p:nvSpPr>
        <p:spPr>
          <a:xfrm>
            <a:off x="2834640" y="1572768"/>
            <a:ext cx="1188720" cy="49377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1618488"/>
            <a:ext cx="1042416" cy="448056"/>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Score</a:t>
            </a:r>
          </a:p>
        </p:txBody>
      </p:sp>
      <p:sp>
        <p:nvSpPr>
          <p:cNvPr id="11" name="Rectangle 10"/>
          <p:cNvSpPr/>
          <p:nvPr/>
        </p:nvSpPr>
        <p:spPr>
          <a:xfrm>
            <a:off x="4023360" y="1572768"/>
            <a:ext cx="7406640" cy="49377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6512" y="1618488"/>
            <a:ext cx="7260336" cy="448056"/>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Evidence</a:t>
            </a:r>
          </a:p>
        </p:txBody>
      </p:sp>
      <p:sp>
        <p:nvSpPr>
          <p:cNvPr id="13" name="Rectangle 12"/>
          <p:cNvSpPr/>
          <p:nvPr/>
        </p:nvSpPr>
        <p:spPr>
          <a:xfrm>
            <a:off x="548640" y="2066544"/>
            <a:ext cx="228600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112264"/>
            <a:ext cx="213969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Pain Intensity</a:t>
            </a:r>
          </a:p>
        </p:txBody>
      </p:sp>
      <p:sp>
        <p:nvSpPr>
          <p:cNvPr id="15" name="Rectangle 14"/>
          <p:cNvSpPr/>
          <p:nvPr/>
        </p:nvSpPr>
        <p:spPr>
          <a:xfrm>
            <a:off x="2834640" y="2066544"/>
            <a:ext cx="118872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07792" y="2112264"/>
            <a:ext cx="104241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9 / 10</a:t>
            </a:r>
          </a:p>
        </p:txBody>
      </p:sp>
      <p:sp>
        <p:nvSpPr>
          <p:cNvPr id="17" name="Rectangle 16"/>
          <p:cNvSpPr/>
          <p:nvPr/>
        </p:nvSpPr>
        <p:spPr>
          <a:xfrm>
            <a:off x="4023360" y="2066544"/>
            <a:ext cx="740664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6512" y="2112264"/>
            <a:ext cx="726033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GCC AI mandate is board-level in 2026; legacy systems are #1 blocker — FPT's specialty</a:t>
            </a:r>
          </a:p>
        </p:txBody>
      </p:sp>
      <p:sp>
        <p:nvSpPr>
          <p:cNvPr id="19" name="Rectangle 18"/>
          <p:cNvSpPr/>
          <p:nvPr/>
        </p:nvSpPr>
        <p:spPr>
          <a:xfrm>
            <a:off x="548640" y="2560320"/>
            <a:ext cx="228600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2606040"/>
            <a:ext cx="213969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Purchasing Power</a:t>
            </a:r>
          </a:p>
        </p:txBody>
      </p:sp>
      <p:sp>
        <p:nvSpPr>
          <p:cNvPr id="21" name="Rectangle 20"/>
          <p:cNvSpPr/>
          <p:nvPr/>
        </p:nvSpPr>
        <p:spPr>
          <a:xfrm>
            <a:off x="2834640" y="2560320"/>
            <a:ext cx="118872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07792" y="2606040"/>
            <a:ext cx="104241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9 / 10</a:t>
            </a:r>
          </a:p>
        </p:txBody>
      </p:sp>
      <p:sp>
        <p:nvSpPr>
          <p:cNvPr id="23" name="Rectangle 22"/>
          <p:cNvSpPr/>
          <p:nvPr/>
        </p:nvSpPr>
        <p:spPr>
          <a:xfrm>
            <a:off x="4023360" y="2560320"/>
            <a:ext cx="740664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96512" y="2606040"/>
            <a:ext cx="726033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GCCs budget $1M–$10M+/year for tech transformation; FPT $10M+ deals doubled YoY 2025</a:t>
            </a:r>
          </a:p>
        </p:txBody>
      </p:sp>
      <p:sp>
        <p:nvSpPr>
          <p:cNvPr id="25" name="Rectangle 24"/>
          <p:cNvSpPr/>
          <p:nvPr/>
        </p:nvSpPr>
        <p:spPr>
          <a:xfrm>
            <a:off x="548640" y="3054096"/>
            <a:ext cx="228600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099816"/>
            <a:ext cx="213969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Ease to Find</a:t>
            </a:r>
          </a:p>
        </p:txBody>
      </p:sp>
      <p:sp>
        <p:nvSpPr>
          <p:cNvPr id="27" name="Rectangle 26"/>
          <p:cNvSpPr/>
          <p:nvPr/>
        </p:nvSpPr>
        <p:spPr>
          <a:xfrm>
            <a:off x="2834640" y="3054096"/>
            <a:ext cx="118872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07792" y="3099816"/>
            <a:ext cx="104241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8 / 10</a:t>
            </a:r>
          </a:p>
        </p:txBody>
      </p:sp>
      <p:sp>
        <p:nvSpPr>
          <p:cNvPr id="29" name="Rectangle 28"/>
          <p:cNvSpPr/>
          <p:nvPr/>
        </p:nvSpPr>
        <p:spPr>
          <a:xfrm>
            <a:off x="4023360" y="3054096"/>
            <a:ext cx="740664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96512" y="3099816"/>
            <a:ext cx="726033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NASSCOM GCC Council, GCC Summit, LinkedIn India GCC groups — Srikumar already inside this world</a:t>
            </a:r>
          </a:p>
        </p:txBody>
      </p:sp>
      <p:sp>
        <p:nvSpPr>
          <p:cNvPr id="31" name="Rectangle 30"/>
          <p:cNvSpPr/>
          <p:nvPr/>
        </p:nvSpPr>
        <p:spPr>
          <a:xfrm>
            <a:off x="548640" y="3547872"/>
            <a:ext cx="228600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3593592"/>
            <a:ext cx="213969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Market Growth</a:t>
            </a:r>
          </a:p>
        </p:txBody>
      </p:sp>
      <p:sp>
        <p:nvSpPr>
          <p:cNvPr id="33" name="Rectangle 32"/>
          <p:cNvSpPr/>
          <p:nvPr/>
        </p:nvSpPr>
        <p:spPr>
          <a:xfrm>
            <a:off x="2834640" y="3547872"/>
            <a:ext cx="118872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07792" y="3593592"/>
            <a:ext cx="104241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10 / 10</a:t>
            </a:r>
          </a:p>
        </p:txBody>
      </p:sp>
      <p:sp>
        <p:nvSpPr>
          <p:cNvPr id="35" name="Rectangle 34"/>
          <p:cNvSpPr/>
          <p:nvPr/>
        </p:nvSpPr>
        <p:spPr>
          <a:xfrm>
            <a:off x="4023360" y="3547872"/>
            <a:ext cx="740664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96512" y="3593592"/>
            <a:ext cx="726033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1,700 → 2,400+ GCCs by 2030; AI spend inside GCCs doubling annually; Q1 2026 FPT +22% contracts</a:t>
            </a:r>
          </a:p>
        </p:txBody>
      </p:sp>
      <p:sp>
        <p:nvSpPr>
          <p:cNvPr id="37" name="Rectangle 36"/>
          <p:cNvSpPr/>
          <p:nvPr/>
        </p:nvSpPr>
        <p:spPr>
          <a:xfrm>
            <a:off x="548640" y="4041648"/>
            <a:ext cx="228600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4087368"/>
            <a:ext cx="213969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Competition Difficulty</a:t>
            </a:r>
          </a:p>
        </p:txBody>
      </p:sp>
      <p:sp>
        <p:nvSpPr>
          <p:cNvPr id="39" name="Rectangle 38"/>
          <p:cNvSpPr/>
          <p:nvPr/>
        </p:nvSpPr>
        <p:spPr>
          <a:xfrm>
            <a:off x="2834640" y="4041648"/>
            <a:ext cx="118872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07792" y="4087368"/>
            <a:ext cx="104241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8 / 10</a:t>
            </a:r>
          </a:p>
        </p:txBody>
      </p:sp>
      <p:sp>
        <p:nvSpPr>
          <p:cNvPr id="41" name="Rectangle 40"/>
          <p:cNvSpPr/>
          <p:nvPr/>
        </p:nvSpPr>
        <p:spPr>
          <a:xfrm>
            <a:off x="4023360" y="4041648"/>
            <a:ext cx="740664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96512" y="4087368"/>
            <a:ext cx="726033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FPT's AI-native tooling (FleziPT, EMT, CodeVista) not easily replicated; trust equity not acquirable quickly</a:t>
            </a:r>
          </a:p>
        </p:txBody>
      </p:sp>
      <p:sp>
        <p:nvSpPr>
          <p:cNvPr id="43" name="Rectangle 42"/>
          <p:cNvSpPr/>
          <p:nvPr/>
        </p:nvSpPr>
        <p:spPr>
          <a:xfrm>
            <a:off x="548640" y="4535424"/>
            <a:ext cx="228600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 y="4581144"/>
            <a:ext cx="213969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Founder-Market Fit</a:t>
            </a:r>
          </a:p>
        </p:txBody>
      </p:sp>
      <p:sp>
        <p:nvSpPr>
          <p:cNvPr id="45" name="Rectangle 44"/>
          <p:cNvSpPr/>
          <p:nvPr/>
        </p:nvSpPr>
        <p:spPr>
          <a:xfrm>
            <a:off x="2834640" y="4535424"/>
            <a:ext cx="118872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07792" y="4581144"/>
            <a:ext cx="104241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9 / 10</a:t>
            </a:r>
          </a:p>
        </p:txBody>
      </p:sp>
      <p:sp>
        <p:nvSpPr>
          <p:cNvPr id="47" name="Rectangle 46"/>
          <p:cNvSpPr/>
          <p:nvPr/>
        </p:nvSpPr>
        <p:spPr>
          <a:xfrm>
            <a:off x="4023360" y="4535424"/>
            <a:ext cx="7406640" cy="49377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96512" y="4581144"/>
            <a:ext cx="726033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IIT+IIM + 27 years + patent + 3 years at FPT in GCC world + SE Asia multilateral network</a:t>
            </a:r>
          </a:p>
        </p:txBody>
      </p:sp>
      <p:sp>
        <p:nvSpPr>
          <p:cNvPr id="49" name="Rectangle 48"/>
          <p:cNvSpPr/>
          <p:nvPr/>
        </p:nvSpPr>
        <p:spPr>
          <a:xfrm>
            <a:off x="548640" y="5029200"/>
            <a:ext cx="228600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5074920"/>
            <a:ext cx="213969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COMPOSITE</a:t>
            </a:r>
          </a:p>
        </p:txBody>
      </p:sp>
      <p:sp>
        <p:nvSpPr>
          <p:cNvPr id="51" name="Rectangle 50"/>
          <p:cNvSpPr/>
          <p:nvPr/>
        </p:nvSpPr>
        <p:spPr>
          <a:xfrm>
            <a:off x="2834640" y="5029200"/>
            <a:ext cx="118872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07792" y="5074920"/>
            <a:ext cx="104241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88 / 100</a:t>
            </a:r>
          </a:p>
        </p:txBody>
      </p:sp>
      <p:sp>
        <p:nvSpPr>
          <p:cNvPr id="53" name="Rectangle 52"/>
          <p:cNvSpPr/>
          <p:nvPr/>
        </p:nvSpPr>
        <p:spPr>
          <a:xfrm>
            <a:off x="4023360" y="5029200"/>
            <a:ext cx="7406640" cy="49377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096512" y="5074920"/>
            <a:ext cx="7260336" cy="448056"/>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EXCEPTIONAL — FPT's AI-first stack at the right moment, delivered by the right BD leader</a:t>
            </a:r>
          </a:p>
        </p:txBody>
      </p:sp>
      <p:sp>
        <p:nvSpPr>
          <p:cNvPr id="55" name="Rounded Rectangle 54"/>
          <p:cNvSpPr/>
          <p:nvPr/>
        </p:nvSpPr>
        <p:spPr>
          <a:xfrm>
            <a:off x="10180015" y="5806440"/>
            <a:ext cx="1463040" cy="685800"/>
          </a:xfrm>
          <a:prstGeom prst="roundRect">
            <a:avLst>
              <a:gd name="adj" fmla="val 5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271455" y="5852160"/>
            <a:ext cx="1280160" cy="594360"/>
          </a:xfrm>
          <a:prstGeom prst="rect">
            <a:avLst/>
          </a:prstGeom>
          <a:noFill/>
        </p:spPr>
        <p:txBody>
          <a:bodyPr wrap="square" anchor="t" lIns="0" rIns="0" tIns="0" bIns="0">
            <a:normAutofit/>
          </a:bodyPr>
          <a:lstStyle/>
          <a:p>
            <a:pPr algn="ctr">
              <a:lnSpc>
                <a:spcPct val="105000"/>
              </a:lnSpc>
              <a:spcBef>
                <a:spcPts val="0"/>
              </a:spcBef>
            </a:pPr>
            <a:r>
              <a:rPr sz="1400" b="1" i="0">
                <a:solidFill>
                  <a:srgbClr val="0A1628"/>
                </a:solidFill>
                <a:latin typeface="Calibri"/>
              </a:rPr>
              <a:t>88/100
EXCEPTIONAL</a:t>
            </a:r>
          </a:p>
        </p:txBody>
      </p:sp>
      <p:sp>
        <p:nvSpPr>
          <p:cNvPr id="57" name="TextBox 5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58" name="TextBox 5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Position That Is Empty in India's GCC Ecosystem</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Market Intelligence</a:t>
            </a:r>
          </a:p>
        </p:txBody>
      </p:sp>
      <p:sp>
        <p:nvSpPr>
          <p:cNvPr id="7" name="Rounded Rectangle 6"/>
          <p:cNvSpPr/>
          <p:nvPr/>
        </p:nvSpPr>
        <p:spPr>
          <a:xfrm>
            <a:off x="548640" y="1572768"/>
            <a:ext cx="5455767" cy="4389120"/>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5455767" cy="38404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45920"/>
            <a:ext cx="5272887" cy="274320"/>
          </a:xfrm>
          <a:prstGeom prst="rect">
            <a:avLst/>
          </a:prstGeom>
          <a:noFill/>
        </p:spPr>
        <p:txBody>
          <a:bodyPr wrap="square" anchor="t" lIns="0" rIns="0" tIns="0" bIns="0">
            <a:noAutofit/>
          </a:bodyPr>
          <a:lstStyle/>
          <a:p>
            <a:pPr algn="l">
              <a:lnSpc>
                <a:spcPct val="105000"/>
              </a:lnSpc>
              <a:spcBef>
                <a:spcPts val="0"/>
              </a:spcBef>
            </a:pPr>
            <a:r>
              <a:rPr sz="1300" b="1" i="0">
                <a:solidFill>
                  <a:srgbClr val="FFFFFF"/>
                </a:solidFill>
                <a:latin typeface="Calibri"/>
              </a:rPr>
              <a:t>AVOID — Where Not to Compete</a:t>
            </a:r>
          </a:p>
        </p:txBody>
      </p:sp>
      <p:sp>
        <p:nvSpPr>
          <p:cNvPr id="10" name="TextBox 9"/>
          <p:cNvSpPr txBox="1"/>
          <p:nvPr/>
        </p:nvSpPr>
        <p:spPr>
          <a:xfrm>
            <a:off x="685800" y="2057400"/>
            <a:ext cx="5227167" cy="3474720"/>
          </a:xfrm>
          <a:prstGeom prst="rect">
            <a:avLst/>
          </a:prstGeom>
          <a:noFill/>
        </p:spPr>
        <p:txBody>
          <a:bodyPr wrap="square" anchor="t" lIns="0" rIns="0" tIns="0" bIns="0">
            <a:normAutofit/>
          </a:bodyPr>
          <a:lstStyle/>
          <a:p>
            <a:pPr algn="l">
              <a:lnSpc>
                <a:spcPct val="105000"/>
              </a:lnSpc>
              <a:spcBef>
                <a:spcPts val="1000"/>
              </a:spcBef>
            </a:pPr>
            <a:r>
              <a:rPr sz="1250" b="0" i="0">
                <a:solidFill>
                  <a:srgbClr val="1B2B3C"/>
                </a:solidFill>
                <a:latin typeface="Calibri"/>
              </a:rPr>
              <a:t>•  Competing on price with dev shops — wrong positioning for FPT's AI-native stack</a:t>
            </a:r>
          </a:p>
          <a:p>
            <a:pPr algn="l">
              <a:lnSpc>
                <a:spcPct val="105000"/>
              </a:lnSpc>
              <a:spcBef>
                <a:spcPts val="1000"/>
              </a:spcBef>
            </a:pPr>
            <a:r>
              <a:rPr sz="1250" b="0" i="0">
                <a:solidFill>
                  <a:srgbClr val="1B2B3C"/>
                </a:solidFill>
                <a:latin typeface="Calibri"/>
              </a:rPr>
              <a:t>•  Chasing SI-sized $100M+ deals at SI speed — wrong sales cycle for GCC agility</a:t>
            </a:r>
          </a:p>
          <a:p>
            <a:pPr algn="l">
              <a:lnSpc>
                <a:spcPct val="105000"/>
              </a:lnSpc>
              <a:spcBef>
                <a:spcPts val="1000"/>
              </a:spcBef>
            </a:pPr>
            <a:r>
              <a:rPr sz="1250" b="0" i="0">
                <a:solidFill>
                  <a:srgbClr val="1B2B3C"/>
                </a:solidFill>
                <a:latin typeface="Calibri"/>
              </a:rPr>
              <a:t>•  Generic 'digital transformation' language — GCC heads are fatigued by vague pitches</a:t>
            </a:r>
          </a:p>
          <a:p>
            <a:pPr algn="l">
              <a:lnSpc>
                <a:spcPct val="105000"/>
              </a:lnSpc>
              <a:spcBef>
                <a:spcPts val="1000"/>
              </a:spcBef>
            </a:pPr>
            <a:r>
              <a:rPr sz="1250" b="0" i="0">
                <a:solidFill>
                  <a:srgbClr val="1B2B3C"/>
                </a:solidFill>
                <a:latin typeface="Calibri"/>
              </a:rPr>
              <a:t>•  Single-vertical positioning — FPT's cross-industry strength is the core advantage</a:t>
            </a:r>
          </a:p>
        </p:txBody>
      </p:sp>
      <p:sp>
        <p:nvSpPr>
          <p:cNvPr id="11" name="Rounded Rectangle 10"/>
          <p:cNvSpPr/>
          <p:nvPr/>
        </p:nvSpPr>
        <p:spPr>
          <a:xfrm>
            <a:off x="6187287" y="1572768"/>
            <a:ext cx="5455767" cy="438912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7287" y="1572768"/>
            <a:ext cx="5455767"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7015" y="1645920"/>
            <a:ext cx="5272887" cy="27432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GAP TO OWN — The Empty Position</a:t>
            </a:r>
          </a:p>
        </p:txBody>
      </p:sp>
      <p:sp>
        <p:nvSpPr>
          <p:cNvPr id="14" name="TextBox 13"/>
          <p:cNvSpPr txBox="1"/>
          <p:nvPr/>
        </p:nvSpPr>
        <p:spPr>
          <a:xfrm>
            <a:off x="6324447" y="2057400"/>
            <a:ext cx="5227167" cy="365760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Production-grade AI platforms (FleziPT — not consulting frameworks) + industry-specific vertical solutions (KnowMed.ai, Virtual Factory, Edge AI Orchestrator) + legacy modernization tooling that delivers in weeks not months (xMainframe/EMT/CodeVista) + India delivery centre with 1,000+ technology professionals + GCC-peer credibility from a BD leader with a founder's track record and an IIT+IIM pedigree.
This combination does not exist anywhere else in the India GCC market today.</a:t>
            </a:r>
          </a:p>
        </p:txBody>
      </p:sp>
      <p:sp>
        <p:nvSpPr>
          <p:cNvPr id="15" name="TextBox 1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16" name="TextBox 1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502920"/>
          </a:xfrm>
          <a:prstGeom prst="rect">
            <a:avLst/>
          </a:prstGeom>
          <a:noFill/>
        </p:spPr>
        <p:txBody>
          <a:bodyPr wrap="square" anchor="t" lIns="0" rIns="0" tIns="0" bIns="0">
            <a:normAutofit/>
          </a:bodyPr>
          <a:lstStyle/>
          <a:p>
            <a:pPr algn="l">
              <a:lnSpc>
                <a:spcPct val="105000"/>
              </a:lnSpc>
              <a:spcBef>
                <a:spcPts val="0"/>
              </a:spcBef>
            </a:pPr>
            <a:r>
              <a:rPr sz="2600" b="1" i="0">
                <a:solidFill>
                  <a:srgbClr val="FFFFFF"/>
                </a:solidFill>
                <a:latin typeface="Calibri"/>
              </a:rPr>
              <a:t>Why FPT + Srikumar · Why GCCs · Why Now</a:t>
            </a:r>
          </a:p>
        </p:txBody>
      </p:sp>
      <p:sp>
        <p:nvSpPr>
          <p:cNvPr id="5" name="Rectangle 4"/>
          <p:cNvSpPr/>
          <p:nvPr/>
        </p:nvSpPr>
        <p:spPr>
          <a:xfrm>
            <a:off x="548640" y="914400"/>
            <a:ext cx="10972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60704"/>
            <a:ext cx="11094415" cy="32004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Four converging signals that make 2026 the pivotal year.</a:t>
            </a:r>
          </a:p>
        </p:txBody>
      </p:sp>
      <p:sp>
        <p:nvSpPr>
          <p:cNvPr id="7" name="Rounded Rectangle 6"/>
          <p:cNvSpPr/>
          <p:nvPr/>
        </p:nvSpPr>
        <p:spPr>
          <a:xfrm>
            <a:off x="548640" y="1508760"/>
            <a:ext cx="5341467" cy="233172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08760"/>
            <a:ext cx="5341467"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00200"/>
            <a:ext cx="5158587" cy="292608"/>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FPT AI Momentum</a:t>
            </a:r>
          </a:p>
        </p:txBody>
      </p:sp>
      <p:sp>
        <p:nvSpPr>
          <p:cNvPr id="10" name="TextBox 9"/>
          <p:cNvSpPr txBox="1"/>
          <p:nvPr/>
        </p:nvSpPr>
        <p:spPr>
          <a:xfrm>
            <a:off x="685800" y="1947672"/>
            <a:ext cx="5158587" cy="182880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22% growth in newly signed contracts Q1 2026
$10M+ contracts doubled YoY in 2025
$256M largest single AI contract (5-year, Asian energy group)
CES 2026: FleziPT, Virtual Factory, Edge AI Orchestrator showcased</a:t>
            </a:r>
          </a:p>
        </p:txBody>
      </p:sp>
      <p:sp>
        <p:nvSpPr>
          <p:cNvPr id="11" name="Rounded Rectangle 10"/>
          <p:cNvSpPr/>
          <p:nvPr/>
        </p:nvSpPr>
        <p:spPr>
          <a:xfrm>
            <a:off x="6027267" y="1508760"/>
            <a:ext cx="5341467" cy="233172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27267" y="1508760"/>
            <a:ext cx="5341467"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4427" y="1600200"/>
            <a:ext cx="5158587" cy="292608"/>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GCC AI Deadline</a:t>
            </a:r>
          </a:p>
        </p:txBody>
      </p:sp>
      <p:sp>
        <p:nvSpPr>
          <p:cNvPr id="14" name="TextBox 13"/>
          <p:cNvSpPr txBox="1"/>
          <p:nvPr/>
        </p:nvSpPr>
        <p:spPr>
          <a:xfrm>
            <a:off x="6164427" y="1947672"/>
            <a:ext cx="5158587" cy="182880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Global parent boards demanding AI roadmaps by Q4 2026
GCC heads without a production AI partner are exposed
AI feature pressure is existential for GCCs in 2026
70%+ of enterprise software incorporating AI by 2027</a:t>
            </a:r>
          </a:p>
        </p:txBody>
      </p:sp>
      <p:sp>
        <p:nvSpPr>
          <p:cNvPr id="15" name="Rounded Rectangle 14"/>
          <p:cNvSpPr/>
          <p:nvPr/>
        </p:nvSpPr>
        <p:spPr>
          <a:xfrm>
            <a:off x="548640" y="3977640"/>
            <a:ext cx="5341467" cy="233172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77640"/>
            <a:ext cx="5341467"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069080"/>
            <a:ext cx="5158587" cy="292608"/>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Legacy Modernization Window</a:t>
            </a:r>
          </a:p>
        </p:txBody>
      </p:sp>
      <p:sp>
        <p:nvSpPr>
          <p:cNvPr id="18" name="TextBox 17"/>
          <p:cNvSpPr txBox="1"/>
          <p:nvPr/>
        </p:nvSpPr>
        <p:spPr>
          <a:xfrm>
            <a:off x="685800" y="4416552"/>
            <a:ext cx="5158587" cy="182880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Most GCCs run on stacks built 10–15 years ago
FPT's EMT / xMainframe / CodeVista land at exactly the right moment
xMainframe: 30% faster onboarding, 90% accuracy, monthly → weekly cycles
CodeVista: 1.5M lines generated, 6,000 man-months saved</a:t>
            </a:r>
          </a:p>
        </p:txBody>
      </p:sp>
      <p:sp>
        <p:nvSpPr>
          <p:cNvPr id="19" name="Rounded Rectangle 18"/>
          <p:cNvSpPr/>
          <p:nvPr/>
        </p:nvSpPr>
        <p:spPr>
          <a:xfrm>
            <a:off x="6027267" y="3977640"/>
            <a:ext cx="5341467" cy="233172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27267" y="3977640"/>
            <a:ext cx="5341467"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64427" y="4069080"/>
            <a:ext cx="5158587" cy="292608"/>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Srikumar's First-Mover Advantage</a:t>
            </a:r>
          </a:p>
        </p:txBody>
      </p:sp>
      <p:sp>
        <p:nvSpPr>
          <p:cNvPr id="22" name="TextBox 21"/>
          <p:cNvSpPr txBox="1"/>
          <p:nvPr/>
        </p:nvSpPr>
        <p:spPr>
          <a:xfrm>
            <a:off x="6164427" y="4416552"/>
            <a:ext cx="5158587" cy="182880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3 years of FPT GCC relationship depth in India
Warm pipeline of 20–30 GCC contacts who know and trust him
IIT Madras + IIM Calcutta alumni network in Bengaluru — GCC MD/VP access
First-mover advantage before competitors realize FPT India has matured</a:t>
            </a:r>
          </a:p>
        </p:txBody>
      </p:sp>
      <p:sp>
        <p:nvSpPr>
          <p:cNvPr id="23" name="TextBox 2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Srikumar V R · Ikigai Pro Report · FPT Software GCC · Jun 2026</a:t>
            </a:r>
          </a:p>
        </p:txBody>
      </p:sp>
      <p:sp>
        <p:nvSpPr>
          <p:cNvPr id="24" name="TextBox 2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Every Competitor Falls Short on the Dimension That Matters Most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Competitor Landscape</a:t>
            </a:r>
          </a:p>
        </p:txBody>
      </p:sp>
      <p:sp>
        <p:nvSpPr>
          <p:cNvPr id="7" name="Rectangle 6"/>
          <p:cNvSpPr/>
          <p:nvPr/>
        </p:nvSpPr>
        <p:spPr>
          <a:xfrm>
            <a:off x="548640" y="1572768"/>
            <a:ext cx="2286000" cy="56692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18488"/>
            <a:ext cx="2139696" cy="521208"/>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Competitor</a:t>
            </a:r>
          </a:p>
        </p:txBody>
      </p:sp>
      <p:sp>
        <p:nvSpPr>
          <p:cNvPr id="9" name="Rectangle 8"/>
          <p:cNvSpPr/>
          <p:nvPr/>
        </p:nvSpPr>
        <p:spPr>
          <a:xfrm>
            <a:off x="2834640" y="1572768"/>
            <a:ext cx="2103120" cy="56692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1618488"/>
            <a:ext cx="1956816" cy="521208"/>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Positioning</a:t>
            </a:r>
          </a:p>
        </p:txBody>
      </p:sp>
      <p:sp>
        <p:nvSpPr>
          <p:cNvPr id="11" name="Rectangle 10"/>
          <p:cNvSpPr/>
          <p:nvPr/>
        </p:nvSpPr>
        <p:spPr>
          <a:xfrm>
            <a:off x="4937760" y="1572768"/>
            <a:ext cx="6492240" cy="566928"/>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10912" y="1618488"/>
            <a:ext cx="6345936" cy="521208"/>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Falls Short vs FPT + Srikumar</a:t>
            </a:r>
          </a:p>
        </p:txBody>
      </p:sp>
      <p:sp>
        <p:nvSpPr>
          <p:cNvPr id="13" name="Rectangle 12"/>
          <p:cNvSpPr/>
          <p:nvPr/>
        </p:nvSpPr>
        <p:spPr>
          <a:xfrm>
            <a:off x="548640" y="2139696"/>
            <a:ext cx="2286000" cy="56692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185416"/>
            <a:ext cx="213969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Accenture / TCS / Infosys</a:t>
            </a:r>
          </a:p>
        </p:txBody>
      </p:sp>
      <p:sp>
        <p:nvSpPr>
          <p:cNvPr id="15" name="Rectangle 14"/>
          <p:cNvSpPr/>
          <p:nvPr/>
        </p:nvSpPr>
        <p:spPr>
          <a:xfrm>
            <a:off x="2834640" y="2139696"/>
            <a:ext cx="2103120" cy="56692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07792" y="2185416"/>
            <a:ext cx="195681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Large SI</a:t>
            </a:r>
          </a:p>
        </p:txBody>
      </p:sp>
      <p:sp>
        <p:nvSpPr>
          <p:cNvPr id="17" name="Rectangle 16"/>
          <p:cNvSpPr/>
          <p:nvPr/>
        </p:nvSpPr>
        <p:spPr>
          <a:xfrm>
            <a:off x="4937760" y="2139696"/>
            <a:ext cx="6492240" cy="56692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10912" y="2185416"/>
            <a:ext cx="634593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Too slow, too expensive, no AI-native platform — wrap generic models; no FleziPT equivalent</a:t>
            </a:r>
          </a:p>
        </p:txBody>
      </p:sp>
      <p:sp>
        <p:nvSpPr>
          <p:cNvPr id="19" name="Rectangle 18"/>
          <p:cNvSpPr/>
          <p:nvPr/>
        </p:nvSpPr>
        <p:spPr>
          <a:xfrm>
            <a:off x="548640" y="2706624"/>
            <a:ext cx="2286000" cy="56692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2752344"/>
            <a:ext cx="213969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Wipro / HCL</a:t>
            </a:r>
          </a:p>
        </p:txBody>
      </p:sp>
      <p:sp>
        <p:nvSpPr>
          <p:cNvPr id="21" name="Rectangle 20"/>
          <p:cNvSpPr/>
          <p:nvPr/>
        </p:nvSpPr>
        <p:spPr>
          <a:xfrm>
            <a:off x="2834640" y="2706624"/>
            <a:ext cx="2103120" cy="56692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07792" y="2752344"/>
            <a:ext cx="195681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Mid-size SI</a:t>
            </a:r>
          </a:p>
        </p:txBody>
      </p:sp>
      <p:sp>
        <p:nvSpPr>
          <p:cNvPr id="23" name="Rectangle 22"/>
          <p:cNvSpPr/>
          <p:nvPr/>
        </p:nvSpPr>
        <p:spPr>
          <a:xfrm>
            <a:off x="4937760" y="2706624"/>
            <a:ext cx="6492240" cy="56692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10912" y="2752344"/>
            <a:ext cx="634593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No proprietary AI modernization tooling at FPT's depth (no EMT, no xMainframe, no CodeVista)</a:t>
            </a:r>
          </a:p>
        </p:txBody>
      </p:sp>
      <p:sp>
        <p:nvSpPr>
          <p:cNvPr id="25" name="Rectangle 24"/>
          <p:cNvSpPr/>
          <p:nvPr/>
        </p:nvSpPr>
        <p:spPr>
          <a:xfrm>
            <a:off x="548640" y="3273552"/>
            <a:ext cx="2286000" cy="56692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319272"/>
            <a:ext cx="213969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AWS / Azure / GCP</a:t>
            </a:r>
          </a:p>
        </p:txBody>
      </p:sp>
      <p:sp>
        <p:nvSpPr>
          <p:cNvPr id="27" name="Rectangle 26"/>
          <p:cNvSpPr/>
          <p:nvPr/>
        </p:nvSpPr>
        <p:spPr>
          <a:xfrm>
            <a:off x="2834640" y="3273552"/>
            <a:ext cx="2103120" cy="56692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07792" y="3319272"/>
            <a:ext cx="195681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Cloud hyperscaler</a:t>
            </a:r>
          </a:p>
        </p:txBody>
      </p:sp>
      <p:sp>
        <p:nvSpPr>
          <p:cNvPr id="29" name="Rectangle 28"/>
          <p:cNvSpPr/>
          <p:nvPr/>
        </p:nvSpPr>
        <p:spPr>
          <a:xfrm>
            <a:off x="4937760" y="3273552"/>
            <a:ext cx="6492240" cy="56692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10912" y="3319272"/>
            <a:ext cx="634593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No vertical AI solutions; no legacy modernization; GCCs need an integrator, not a platform vendor</a:t>
            </a:r>
          </a:p>
        </p:txBody>
      </p:sp>
      <p:sp>
        <p:nvSpPr>
          <p:cNvPr id="31" name="Rectangle 30"/>
          <p:cNvSpPr/>
          <p:nvPr/>
        </p:nvSpPr>
        <p:spPr>
          <a:xfrm>
            <a:off x="548640" y="3840480"/>
            <a:ext cx="2286000" cy="56692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3886200"/>
            <a:ext cx="213969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Boutique AI consultancies</a:t>
            </a:r>
          </a:p>
        </p:txBody>
      </p:sp>
      <p:sp>
        <p:nvSpPr>
          <p:cNvPr id="33" name="Rectangle 32"/>
          <p:cNvSpPr/>
          <p:nvPr/>
        </p:nvSpPr>
        <p:spPr>
          <a:xfrm>
            <a:off x="2834640" y="3840480"/>
            <a:ext cx="2103120" cy="56692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07792" y="3886200"/>
            <a:ext cx="195681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AI advisory</a:t>
            </a:r>
          </a:p>
        </p:txBody>
      </p:sp>
      <p:sp>
        <p:nvSpPr>
          <p:cNvPr id="35" name="Rectangle 34"/>
          <p:cNvSpPr/>
          <p:nvPr/>
        </p:nvSpPr>
        <p:spPr>
          <a:xfrm>
            <a:off x="4937760" y="3840480"/>
            <a:ext cx="6492240" cy="56692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10912" y="3886200"/>
            <a:ext cx="634593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Can advise but cannot deliver at scale; no 30,000+ certified engineers; no CASAN-to-execution methodology</a:t>
            </a:r>
          </a:p>
        </p:txBody>
      </p:sp>
      <p:sp>
        <p:nvSpPr>
          <p:cNvPr id="37" name="Rectangle 36"/>
          <p:cNvSpPr/>
          <p:nvPr/>
        </p:nvSpPr>
        <p:spPr>
          <a:xfrm>
            <a:off x="548640" y="4407408"/>
            <a:ext cx="2286000" cy="56692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4453128"/>
            <a:ext cx="213969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FPT Software + Srikumar ★</a:t>
            </a:r>
          </a:p>
        </p:txBody>
      </p:sp>
      <p:sp>
        <p:nvSpPr>
          <p:cNvPr id="39" name="Rectangle 38"/>
          <p:cNvSpPr/>
          <p:nvPr/>
        </p:nvSpPr>
        <p:spPr>
          <a:xfrm>
            <a:off x="2834640" y="4407408"/>
            <a:ext cx="2103120" cy="56692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07792" y="4453128"/>
            <a:ext cx="195681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AI-first tech partner + GCC trust</a:t>
            </a:r>
          </a:p>
        </p:txBody>
      </p:sp>
      <p:sp>
        <p:nvSpPr>
          <p:cNvPr id="41" name="Rectangle 40"/>
          <p:cNvSpPr/>
          <p:nvPr/>
        </p:nvSpPr>
        <p:spPr>
          <a:xfrm>
            <a:off x="4937760" y="4407408"/>
            <a:ext cx="6492240" cy="56692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10912" y="4453128"/>
            <a:ext cx="6345936" cy="521208"/>
          </a:xfrm>
          <a:prstGeom prst="rect">
            <a:avLst/>
          </a:prstGeom>
          <a:noFill/>
        </p:spPr>
        <p:txBody>
          <a:bodyPr wrap="square" anchor="ctr" lIns="0" rIns="0" tIns="0" bIns="0">
            <a:normAutofit/>
          </a:bodyPr>
          <a:lstStyle/>
          <a:p>
            <a:pPr algn="l">
              <a:lnSpc>
                <a:spcPct val="105000"/>
              </a:lnSpc>
              <a:spcBef>
                <a:spcPts val="0"/>
              </a:spcBef>
            </a:pPr>
            <a:r>
              <a:rPr sz="1100" b="0" i="0">
                <a:solidFill>
                  <a:srgbClr val="1B2B3C"/>
                </a:solidFill>
                <a:latin typeface="Calibri"/>
              </a:rPr>
              <a:t>FleziPT + EMT/xMainframe/CodeVista + KnowMed.ai + Virtual Factory + 130+ Fortune 500 clients + India delivery + founder-level BD credibility</a:t>
            </a:r>
          </a:p>
        </p:txBody>
      </p:sp>
      <p:sp>
        <p:nvSpPr>
          <p:cNvPr id="43" name="Rectangle 42"/>
          <p:cNvSpPr/>
          <p:nvPr/>
        </p:nvSpPr>
        <p:spPr>
          <a:xfrm>
            <a:off x="548640" y="4407408"/>
            <a:ext cx="11094415" cy="566928"/>
          </a:xfrm>
          <a:prstGeom prst="rect">
            <a:avLst/>
          </a:prstGeom>
          <a:solidFill>
            <a:srgbClr val="00C9A7"/>
          </a:solidFill>
          <a:ln w="12700">
            <a:solidFill>
              <a:srgbClr val="00C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 y="4462272"/>
            <a:ext cx="2176272" cy="457200"/>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Calibri"/>
              </a:rPr>
              <a:t>FPT Software + Srikumar ★</a:t>
            </a:r>
          </a:p>
        </p:txBody>
      </p:sp>
      <p:sp>
        <p:nvSpPr>
          <p:cNvPr id="45" name="TextBox 44"/>
          <p:cNvSpPr txBox="1"/>
          <p:nvPr/>
        </p:nvSpPr>
        <p:spPr>
          <a:xfrm>
            <a:off x="2907792" y="4462272"/>
            <a:ext cx="1993392" cy="457200"/>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Calibri"/>
              </a:rPr>
              <a:t>AI-first tech partner + GCC trust</a:t>
            </a:r>
          </a:p>
        </p:txBody>
      </p:sp>
      <p:sp>
        <p:nvSpPr>
          <p:cNvPr id="46" name="TextBox 45"/>
          <p:cNvSpPr txBox="1"/>
          <p:nvPr/>
        </p:nvSpPr>
        <p:spPr>
          <a:xfrm>
            <a:off x="5010912" y="4462272"/>
            <a:ext cx="6382512" cy="457200"/>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Calibri"/>
              </a:rPr>
              <a:t>FleziPT + EMT/xMainframe/CodeVista + KnowMed.ai + Virtual Factory + 130+ Fortune 500 clients + India delivery + founder-level BD credibility</a:t>
            </a:r>
          </a:p>
        </p:txBody>
      </p:sp>
      <p:sp>
        <p:nvSpPr>
          <p:cNvPr id="47" name="TextBox 4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48" name="TextBox 4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Three Entry Points · One Long-Term Partnership</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FPT GCC Engagement Model</a:t>
            </a:r>
          </a:p>
        </p:txBody>
      </p:sp>
      <p:sp>
        <p:nvSpPr>
          <p:cNvPr id="7" name="Rounded Rectangle 6"/>
          <p:cNvSpPr/>
          <p:nvPr/>
        </p:nvSpPr>
        <p:spPr>
          <a:xfrm>
            <a:off x="548640" y="1572768"/>
            <a:ext cx="11094415" cy="146304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73152" cy="14630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664208"/>
            <a:ext cx="1280160" cy="256032"/>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TIER 1</a:t>
            </a:r>
          </a:p>
        </p:txBody>
      </p:sp>
      <p:sp>
        <p:nvSpPr>
          <p:cNvPr id="10" name="TextBox 9"/>
          <p:cNvSpPr txBox="1"/>
          <p:nvPr/>
        </p:nvSpPr>
        <p:spPr>
          <a:xfrm>
            <a:off x="2011680" y="1627632"/>
            <a:ext cx="3200400" cy="365760"/>
          </a:xfrm>
          <a:prstGeom prst="rect">
            <a:avLst/>
          </a:prstGeom>
          <a:noFill/>
        </p:spPr>
        <p:txBody>
          <a:bodyPr wrap="square" anchor="t" lIns="0" rIns="0" tIns="0" bIns="0">
            <a:normAutofit/>
          </a:bodyPr>
          <a:lstStyle/>
          <a:p>
            <a:pPr algn="l">
              <a:lnSpc>
                <a:spcPct val="105000"/>
              </a:lnSpc>
              <a:spcBef>
                <a:spcPts val="0"/>
              </a:spcBef>
            </a:pPr>
            <a:r>
              <a:rPr sz="1600" b="1" i="0">
                <a:solidFill>
                  <a:srgbClr val="FFFFFF"/>
                </a:solidFill>
                <a:latin typeface="Calibri"/>
              </a:rPr>
              <a:t>AI Readiness Sprint</a:t>
            </a:r>
          </a:p>
        </p:txBody>
      </p:sp>
      <p:sp>
        <p:nvSpPr>
          <p:cNvPr id="11" name="TextBox 10"/>
          <p:cNvSpPr txBox="1"/>
          <p:nvPr/>
        </p:nvSpPr>
        <p:spPr>
          <a:xfrm>
            <a:off x="5303520" y="1664208"/>
            <a:ext cx="2286000" cy="320040"/>
          </a:xfrm>
          <a:prstGeom prst="rect">
            <a:avLst/>
          </a:prstGeom>
          <a:noFill/>
        </p:spPr>
        <p:txBody>
          <a:bodyPr wrap="square" anchor="t" lIns="0" rIns="0" tIns="0" bIns="0">
            <a:noAutofit/>
          </a:bodyPr>
          <a:lstStyle/>
          <a:p>
            <a:pPr algn="l">
              <a:lnSpc>
                <a:spcPct val="105000"/>
              </a:lnSpc>
              <a:spcBef>
                <a:spcPts val="0"/>
              </a:spcBef>
            </a:pPr>
            <a:r>
              <a:rPr sz="1400" b="1" i="0">
                <a:solidFill>
                  <a:srgbClr val="FFB800"/>
                </a:solidFill>
                <a:latin typeface="Calibri"/>
              </a:rPr>
              <a:t>6–8 weeks · $150K–$250K</a:t>
            </a:r>
          </a:p>
        </p:txBody>
      </p:sp>
      <p:sp>
        <p:nvSpPr>
          <p:cNvPr id="12" name="TextBox 11"/>
          <p:cNvSpPr txBox="1"/>
          <p:nvPr/>
        </p:nvSpPr>
        <p:spPr>
          <a:xfrm>
            <a:off x="713232" y="2048256"/>
            <a:ext cx="685800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Includes: CASAN Framework assessment + FleziPT proof-of-concept on 1 priority use case</a:t>
            </a:r>
          </a:p>
        </p:txBody>
      </p:sp>
      <p:sp>
        <p:nvSpPr>
          <p:cNvPr id="13" name="TextBox 12"/>
          <p:cNvSpPr txBox="1"/>
          <p:nvPr/>
        </p:nvSpPr>
        <p:spPr>
          <a:xfrm>
            <a:off x="713232" y="2560320"/>
            <a:ext cx="10820095" cy="384048"/>
          </a:xfrm>
          <a:prstGeom prst="rect">
            <a:avLst/>
          </a:prstGeom>
          <a:noFill/>
        </p:spPr>
        <p:txBody>
          <a:bodyPr wrap="square" anchor="t" lIns="0" rIns="0" tIns="0" bIns="0">
            <a:normAutofit/>
          </a:bodyPr>
          <a:lstStyle/>
          <a:p>
            <a:pPr algn="l">
              <a:lnSpc>
                <a:spcPct val="105000"/>
              </a:lnSpc>
              <a:spcBef>
                <a:spcPts val="0"/>
              </a:spcBef>
            </a:pPr>
            <a:r>
              <a:rPr sz="1100" b="0" i="0">
                <a:solidFill>
                  <a:srgbClr val="5B6B7C"/>
                </a:solidFill>
                <a:latin typeface="Calibri"/>
              </a:rPr>
              <a:t>Ideal for: GCC heads who need a credible AI roadmap for global parent within 90 days</a:t>
            </a:r>
          </a:p>
        </p:txBody>
      </p:sp>
      <p:sp>
        <p:nvSpPr>
          <p:cNvPr id="14" name="Rounded Rectangle 13"/>
          <p:cNvSpPr/>
          <p:nvPr/>
        </p:nvSpPr>
        <p:spPr>
          <a:xfrm>
            <a:off x="548640" y="3163824"/>
            <a:ext cx="11094415" cy="14630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163824"/>
            <a:ext cx="73152" cy="14630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255264"/>
            <a:ext cx="1280160" cy="256032"/>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TIER 2 ★</a:t>
            </a:r>
          </a:p>
        </p:txBody>
      </p:sp>
      <p:sp>
        <p:nvSpPr>
          <p:cNvPr id="17" name="TextBox 16"/>
          <p:cNvSpPr txBox="1"/>
          <p:nvPr/>
        </p:nvSpPr>
        <p:spPr>
          <a:xfrm>
            <a:off x="2011680" y="3218688"/>
            <a:ext cx="3200400" cy="365760"/>
          </a:xfrm>
          <a:prstGeom prst="rect">
            <a:avLst/>
          </a:prstGeom>
          <a:noFill/>
        </p:spPr>
        <p:txBody>
          <a:bodyPr wrap="square" anchor="t" lIns="0" rIns="0" tIns="0" bIns="0">
            <a:normAutofit/>
          </a:bodyPr>
          <a:lstStyle/>
          <a:p>
            <a:pPr algn="l">
              <a:lnSpc>
                <a:spcPct val="105000"/>
              </a:lnSpc>
              <a:spcBef>
                <a:spcPts val="0"/>
              </a:spcBef>
            </a:pPr>
            <a:r>
              <a:rPr sz="1600" b="1" i="0">
                <a:solidFill>
                  <a:srgbClr val="FFFFFF"/>
                </a:solidFill>
                <a:latin typeface="Calibri"/>
              </a:rPr>
              <a:t>Transformation Program</a:t>
            </a:r>
          </a:p>
        </p:txBody>
      </p:sp>
      <p:sp>
        <p:nvSpPr>
          <p:cNvPr id="18" name="TextBox 17"/>
          <p:cNvSpPr txBox="1"/>
          <p:nvPr/>
        </p:nvSpPr>
        <p:spPr>
          <a:xfrm>
            <a:off x="5303520" y="3255264"/>
            <a:ext cx="2286000" cy="320040"/>
          </a:xfrm>
          <a:prstGeom prst="rect">
            <a:avLst/>
          </a:prstGeom>
          <a:noFill/>
        </p:spPr>
        <p:txBody>
          <a:bodyPr wrap="square" anchor="t" lIns="0" rIns="0" tIns="0" bIns="0">
            <a:noAutofit/>
          </a:bodyPr>
          <a:lstStyle/>
          <a:p>
            <a:pPr algn="l">
              <a:lnSpc>
                <a:spcPct val="105000"/>
              </a:lnSpc>
              <a:spcBef>
                <a:spcPts val="0"/>
              </a:spcBef>
            </a:pPr>
            <a:r>
              <a:rPr sz="1400" b="1" i="0">
                <a:solidFill>
                  <a:srgbClr val="FFB800"/>
                </a:solidFill>
                <a:latin typeface="Calibri"/>
              </a:rPr>
              <a:t>$2M–$10M / year</a:t>
            </a:r>
          </a:p>
        </p:txBody>
      </p:sp>
      <p:sp>
        <p:nvSpPr>
          <p:cNvPr id="19" name="TextBox 18"/>
          <p:cNvSpPr txBox="1"/>
          <p:nvPr/>
        </p:nvSpPr>
        <p:spPr>
          <a:xfrm>
            <a:off x="713232" y="3639312"/>
            <a:ext cx="685800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Includes: Full stack: legacy modernization (EMT/xMainframe) + cloud migration + FleziPT deployment + vertical AI platform + managed services</a:t>
            </a:r>
          </a:p>
        </p:txBody>
      </p:sp>
      <p:sp>
        <p:nvSpPr>
          <p:cNvPr id="20" name="TextBox 19"/>
          <p:cNvSpPr txBox="1"/>
          <p:nvPr/>
        </p:nvSpPr>
        <p:spPr>
          <a:xfrm>
            <a:off x="713232" y="4151376"/>
            <a:ext cx="10820095" cy="384048"/>
          </a:xfrm>
          <a:prstGeom prst="rect">
            <a:avLst/>
          </a:prstGeom>
          <a:noFill/>
        </p:spPr>
        <p:txBody>
          <a:bodyPr wrap="square" anchor="t" lIns="0" rIns="0" tIns="0" bIns="0">
            <a:normAutofit/>
          </a:bodyPr>
          <a:lstStyle/>
          <a:p>
            <a:pPr algn="l">
              <a:lnSpc>
                <a:spcPct val="105000"/>
              </a:lnSpc>
              <a:spcBef>
                <a:spcPts val="0"/>
              </a:spcBef>
            </a:pPr>
            <a:r>
              <a:rPr sz="1100" b="0" i="0">
                <a:solidFill>
                  <a:srgbClr val="5B6B7C"/>
                </a:solidFill>
                <a:latin typeface="Calibri"/>
              </a:rPr>
              <a:t>Ideal for: GCCs with active AI mandate, approved transformation budget, $200M+ parent</a:t>
            </a:r>
          </a:p>
        </p:txBody>
      </p:sp>
      <p:sp>
        <p:nvSpPr>
          <p:cNvPr id="21" name="Rounded Rectangle 20"/>
          <p:cNvSpPr/>
          <p:nvPr/>
        </p:nvSpPr>
        <p:spPr>
          <a:xfrm>
            <a:off x="548640" y="4754880"/>
            <a:ext cx="11094415" cy="1463040"/>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754880"/>
            <a:ext cx="73152" cy="146304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4846320"/>
            <a:ext cx="1280160" cy="256032"/>
          </a:xfrm>
          <a:prstGeom prst="rect">
            <a:avLst/>
          </a:prstGeom>
          <a:noFill/>
        </p:spPr>
        <p:txBody>
          <a:bodyPr wrap="square" anchor="t" lIns="0" rIns="0" tIns="0" bIns="0">
            <a:noAutofit/>
          </a:bodyPr>
          <a:lstStyle/>
          <a:p>
            <a:pPr algn="l">
              <a:lnSpc>
                <a:spcPct val="105000"/>
              </a:lnSpc>
              <a:spcBef>
                <a:spcPts val="0"/>
              </a:spcBef>
            </a:pPr>
            <a:r>
              <a:rPr sz="1000" b="1" i="0">
                <a:solidFill>
                  <a:srgbClr val="FFB800"/>
                </a:solidFill>
                <a:latin typeface="Calibri"/>
              </a:rPr>
              <a:t>TIER 3</a:t>
            </a:r>
          </a:p>
        </p:txBody>
      </p:sp>
      <p:sp>
        <p:nvSpPr>
          <p:cNvPr id="24" name="TextBox 23"/>
          <p:cNvSpPr txBox="1"/>
          <p:nvPr/>
        </p:nvSpPr>
        <p:spPr>
          <a:xfrm>
            <a:off x="2011680" y="4809744"/>
            <a:ext cx="3200400" cy="365760"/>
          </a:xfrm>
          <a:prstGeom prst="rect">
            <a:avLst/>
          </a:prstGeom>
          <a:noFill/>
        </p:spPr>
        <p:txBody>
          <a:bodyPr wrap="square" anchor="t" lIns="0" rIns="0" tIns="0" bIns="0">
            <a:normAutofit/>
          </a:bodyPr>
          <a:lstStyle/>
          <a:p>
            <a:pPr algn="l">
              <a:lnSpc>
                <a:spcPct val="105000"/>
              </a:lnSpc>
              <a:spcBef>
                <a:spcPts val="0"/>
              </a:spcBef>
            </a:pPr>
            <a:r>
              <a:rPr sz="1600" b="1" i="0">
                <a:solidFill>
                  <a:srgbClr val="FFFFFF"/>
                </a:solidFill>
                <a:latin typeface="Calibri"/>
              </a:rPr>
              <a:t>Strategic AI Partnership</a:t>
            </a:r>
          </a:p>
        </p:txBody>
      </p:sp>
      <p:sp>
        <p:nvSpPr>
          <p:cNvPr id="25" name="TextBox 24"/>
          <p:cNvSpPr txBox="1"/>
          <p:nvPr/>
        </p:nvSpPr>
        <p:spPr>
          <a:xfrm>
            <a:off x="5303520" y="4846320"/>
            <a:ext cx="2286000" cy="320040"/>
          </a:xfrm>
          <a:prstGeom prst="rect">
            <a:avLst/>
          </a:prstGeom>
          <a:noFill/>
        </p:spPr>
        <p:txBody>
          <a:bodyPr wrap="square" anchor="t" lIns="0" rIns="0" tIns="0" bIns="0">
            <a:noAutofit/>
          </a:bodyPr>
          <a:lstStyle/>
          <a:p>
            <a:pPr algn="l">
              <a:lnSpc>
                <a:spcPct val="105000"/>
              </a:lnSpc>
              <a:spcBef>
                <a:spcPts val="0"/>
              </a:spcBef>
            </a:pPr>
            <a:r>
              <a:rPr sz="1400" b="1" i="0">
                <a:solidFill>
                  <a:srgbClr val="FFB800"/>
                </a:solidFill>
                <a:latin typeface="Calibri"/>
              </a:rPr>
              <a:t>$10M–$30M · multi-year</a:t>
            </a:r>
          </a:p>
        </p:txBody>
      </p:sp>
      <p:sp>
        <p:nvSpPr>
          <p:cNvPr id="26" name="TextBox 25"/>
          <p:cNvSpPr txBox="1"/>
          <p:nvPr/>
        </p:nvSpPr>
        <p:spPr>
          <a:xfrm>
            <a:off x="713232" y="5230368"/>
            <a:ext cx="685800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Includes: Co-development + embedded AI-augmented engineering + quarterly CxO roadmap + white-label AI module packaging</a:t>
            </a:r>
          </a:p>
        </p:txBody>
      </p:sp>
      <p:sp>
        <p:nvSpPr>
          <p:cNvPr id="27" name="TextBox 26"/>
          <p:cNvSpPr txBox="1"/>
          <p:nvPr/>
        </p:nvSpPr>
        <p:spPr>
          <a:xfrm>
            <a:off x="713232" y="5742432"/>
            <a:ext cx="10820095" cy="384048"/>
          </a:xfrm>
          <a:prstGeom prst="rect">
            <a:avLst/>
          </a:prstGeom>
          <a:noFill/>
        </p:spPr>
        <p:txBody>
          <a:bodyPr wrap="square" anchor="t" lIns="0" rIns="0" tIns="0" bIns="0">
            <a:normAutofit/>
          </a:bodyPr>
          <a:lstStyle/>
          <a:p>
            <a:pPr algn="l">
              <a:lnSpc>
                <a:spcPct val="105000"/>
              </a:lnSpc>
              <a:spcBef>
                <a:spcPts val="0"/>
              </a:spcBef>
            </a:pPr>
            <a:r>
              <a:rPr sz="1100" b="0" i="0">
                <a:solidFill>
                  <a:srgbClr val="5B6B7C"/>
                </a:solidFill>
                <a:latin typeface="Calibri"/>
              </a:rPr>
              <a:t>Ideal for: Large GCCs ($1B+ parent) treating FPT as primary long-term technology partner</a:t>
            </a:r>
          </a:p>
        </p:txBody>
      </p:sp>
      <p:sp>
        <p:nvSpPr>
          <p:cNvPr id="28" name="TextBox 2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29" name="TextBox 2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Each GCC Win Srikumar Opens Compounds Into a Multi-Year Revenue Stream</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Revenue Impact per GCC Win</a:t>
            </a:r>
          </a:p>
        </p:txBody>
      </p:sp>
      <p:sp>
        <p:nvSpPr>
          <p:cNvPr id="7" name="Rectangle 6"/>
          <p:cNvSpPr/>
          <p:nvPr/>
        </p:nvSpPr>
        <p:spPr>
          <a:xfrm>
            <a:off x="548640" y="1572768"/>
            <a:ext cx="2560320" cy="822960"/>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18488"/>
            <a:ext cx="2414016" cy="777240"/>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Engagement Type</a:t>
            </a:r>
          </a:p>
        </p:txBody>
      </p:sp>
      <p:sp>
        <p:nvSpPr>
          <p:cNvPr id="9" name="Rectangle 8"/>
          <p:cNvSpPr/>
          <p:nvPr/>
        </p:nvSpPr>
        <p:spPr>
          <a:xfrm>
            <a:off x="3108960" y="1572768"/>
            <a:ext cx="2286000" cy="822960"/>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82112" y="1618488"/>
            <a:ext cx="2139696" cy="777240"/>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Year 1 Revenue to FPT</a:t>
            </a:r>
          </a:p>
        </p:txBody>
      </p:sp>
      <p:sp>
        <p:nvSpPr>
          <p:cNvPr id="11" name="Rectangle 10"/>
          <p:cNvSpPr/>
          <p:nvPr/>
        </p:nvSpPr>
        <p:spPr>
          <a:xfrm>
            <a:off x="5394960" y="1572768"/>
            <a:ext cx="6035040" cy="822960"/>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68112" y="1618488"/>
            <a:ext cx="5888736" cy="777240"/>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Year 2–3 Tail</a:t>
            </a:r>
          </a:p>
        </p:txBody>
      </p:sp>
      <p:sp>
        <p:nvSpPr>
          <p:cNvPr id="13" name="Rectangle 12"/>
          <p:cNvSpPr/>
          <p:nvPr/>
        </p:nvSpPr>
        <p:spPr>
          <a:xfrm>
            <a:off x="548640" y="2395728"/>
            <a:ext cx="2560320" cy="82296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441448"/>
            <a:ext cx="2414016" cy="777240"/>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AI Readiness Sprint</a:t>
            </a:r>
          </a:p>
        </p:txBody>
      </p:sp>
      <p:sp>
        <p:nvSpPr>
          <p:cNvPr id="15" name="Rectangle 14"/>
          <p:cNvSpPr/>
          <p:nvPr/>
        </p:nvSpPr>
        <p:spPr>
          <a:xfrm>
            <a:off x="3108960" y="2395728"/>
            <a:ext cx="2286000" cy="82296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82112" y="2441448"/>
            <a:ext cx="2139696" cy="777240"/>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$150K – $250K</a:t>
            </a:r>
          </a:p>
        </p:txBody>
      </p:sp>
      <p:sp>
        <p:nvSpPr>
          <p:cNvPr id="17" name="Rectangle 16"/>
          <p:cNvSpPr/>
          <p:nvPr/>
        </p:nvSpPr>
        <p:spPr>
          <a:xfrm>
            <a:off x="5394960" y="2395728"/>
            <a:ext cx="6035040" cy="82296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68112" y="2441448"/>
            <a:ext cx="5888736" cy="777240"/>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High conversion to Transformation Program; case study unlocks next 5 GCC intros</a:t>
            </a:r>
          </a:p>
        </p:txBody>
      </p:sp>
      <p:sp>
        <p:nvSpPr>
          <p:cNvPr id="19" name="Rectangle 18"/>
          <p:cNvSpPr/>
          <p:nvPr/>
        </p:nvSpPr>
        <p:spPr>
          <a:xfrm>
            <a:off x="548640" y="3218688"/>
            <a:ext cx="2560320" cy="822960"/>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3264408"/>
            <a:ext cx="2414016" cy="777240"/>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Transformation Program</a:t>
            </a:r>
          </a:p>
        </p:txBody>
      </p:sp>
      <p:sp>
        <p:nvSpPr>
          <p:cNvPr id="21" name="Rectangle 20"/>
          <p:cNvSpPr/>
          <p:nvPr/>
        </p:nvSpPr>
        <p:spPr>
          <a:xfrm>
            <a:off x="3108960" y="3218688"/>
            <a:ext cx="2286000" cy="822960"/>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82112" y="3264408"/>
            <a:ext cx="2139696" cy="777240"/>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$2M – $10M ARR</a:t>
            </a:r>
          </a:p>
        </p:txBody>
      </p:sp>
      <p:sp>
        <p:nvSpPr>
          <p:cNvPr id="23" name="Rectangle 22"/>
          <p:cNvSpPr/>
          <p:nvPr/>
        </p:nvSpPr>
        <p:spPr>
          <a:xfrm>
            <a:off x="5394960" y="3218688"/>
            <a:ext cx="6035040" cy="822960"/>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68112" y="3264408"/>
            <a:ext cx="5888736" cy="777240"/>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Managed services renewal + platform licensing (FleziPT, KnowMed.ai, Virtual Factory)</a:t>
            </a:r>
          </a:p>
        </p:txBody>
      </p:sp>
      <p:sp>
        <p:nvSpPr>
          <p:cNvPr id="25" name="Rectangle 24"/>
          <p:cNvSpPr/>
          <p:nvPr/>
        </p:nvSpPr>
        <p:spPr>
          <a:xfrm>
            <a:off x="548640" y="4041648"/>
            <a:ext cx="2560320" cy="82296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4087368"/>
            <a:ext cx="2414016" cy="777240"/>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Strategic AI Partnership</a:t>
            </a:r>
          </a:p>
        </p:txBody>
      </p:sp>
      <p:sp>
        <p:nvSpPr>
          <p:cNvPr id="27" name="Rectangle 26"/>
          <p:cNvSpPr/>
          <p:nvPr/>
        </p:nvSpPr>
        <p:spPr>
          <a:xfrm>
            <a:off x="3108960" y="4041648"/>
            <a:ext cx="2286000" cy="82296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82112" y="4087368"/>
            <a:ext cx="2139696" cy="777240"/>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$10M – $30M</a:t>
            </a:r>
          </a:p>
        </p:txBody>
      </p:sp>
      <p:sp>
        <p:nvSpPr>
          <p:cNvPr id="29" name="Rectangle 28"/>
          <p:cNvSpPr/>
          <p:nvPr/>
        </p:nvSpPr>
        <p:spPr>
          <a:xfrm>
            <a:off x="5394960" y="4041648"/>
            <a:ext cx="6035040" cy="822960"/>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68112" y="4087368"/>
            <a:ext cx="5888736" cy="777240"/>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Multi-year locked-in; platform dependency; quarterly CxO co-development; referral to global parent peers</a:t>
            </a:r>
          </a:p>
        </p:txBody>
      </p:sp>
      <p:sp>
        <p:nvSpPr>
          <p:cNvPr id="31" name="Rounded Rectangle 30"/>
          <p:cNvSpPr/>
          <p:nvPr/>
        </p:nvSpPr>
        <p:spPr>
          <a:xfrm>
            <a:off x="548640" y="4937760"/>
            <a:ext cx="11094415" cy="6400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029200"/>
            <a:ext cx="3515258" cy="457200"/>
          </a:xfrm>
          <a:prstGeom prst="rect">
            <a:avLst/>
          </a:prstGeom>
          <a:noFill/>
        </p:spPr>
        <p:txBody>
          <a:bodyPr wrap="square" anchor="t" lIns="0" rIns="0" tIns="0" bIns="0">
            <a:normAutofit/>
          </a:bodyPr>
          <a:lstStyle/>
          <a:p>
            <a:pPr algn="ctr">
              <a:lnSpc>
                <a:spcPct val="105000"/>
              </a:lnSpc>
              <a:spcBef>
                <a:spcPts val="0"/>
              </a:spcBef>
            </a:pPr>
            <a:r>
              <a:rPr sz="1050" b="1" i="0">
                <a:solidFill>
                  <a:srgbClr val="00C9A7"/>
                </a:solidFill>
                <a:latin typeface="Calibri"/>
              </a:rPr>
              <a:t>$256M — FPT's largest single AI contract · Asian energy group</a:t>
            </a:r>
          </a:p>
        </p:txBody>
      </p:sp>
      <p:sp>
        <p:nvSpPr>
          <p:cNvPr id="33" name="TextBox 32"/>
          <p:cNvSpPr txBox="1"/>
          <p:nvPr/>
        </p:nvSpPr>
        <p:spPr>
          <a:xfrm>
            <a:off x="4383938" y="5029200"/>
            <a:ext cx="3515258" cy="457200"/>
          </a:xfrm>
          <a:prstGeom prst="rect">
            <a:avLst/>
          </a:prstGeom>
          <a:noFill/>
        </p:spPr>
        <p:txBody>
          <a:bodyPr wrap="square" anchor="t" lIns="0" rIns="0" tIns="0" bIns="0">
            <a:normAutofit/>
          </a:bodyPr>
          <a:lstStyle/>
          <a:p>
            <a:pPr algn="ctr">
              <a:lnSpc>
                <a:spcPct val="105000"/>
              </a:lnSpc>
              <a:spcBef>
                <a:spcPts val="0"/>
              </a:spcBef>
            </a:pPr>
            <a:r>
              <a:rPr sz="1050" b="1" i="0">
                <a:solidFill>
                  <a:srgbClr val="00C9A7"/>
                </a:solidFill>
                <a:latin typeface="Calibri"/>
              </a:rPr>
              <a:t>$10M+ deals doubled YoY · 2025 momentum</a:t>
            </a:r>
          </a:p>
        </p:txBody>
      </p:sp>
      <p:sp>
        <p:nvSpPr>
          <p:cNvPr id="34" name="TextBox 33"/>
          <p:cNvSpPr txBox="1"/>
          <p:nvPr/>
        </p:nvSpPr>
        <p:spPr>
          <a:xfrm>
            <a:off x="8082076" y="5029200"/>
            <a:ext cx="3515258" cy="457200"/>
          </a:xfrm>
          <a:prstGeom prst="rect">
            <a:avLst/>
          </a:prstGeom>
          <a:noFill/>
        </p:spPr>
        <p:txBody>
          <a:bodyPr wrap="square" anchor="t" lIns="0" rIns="0" tIns="0" bIns="0">
            <a:normAutofit/>
          </a:bodyPr>
          <a:lstStyle/>
          <a:p>
            <a:pPr algn="ctr">
              <a:lnSpc>
                <a:spcPct val="105000"/>
              </a:lnSpc>
              <a:spcBef>
                <a:spcPts val="0"/>
              </a:spcBef>
            </a:pPr>
            <a:r>
              <a:rPr sz="1050" b="1" i="0">
                <a:solidFill>
                  <a:srgbClr val="00C9A7"/>
                </a:solidFill>
                <a:latin typeface="Calibri"/>
              </a:rPr>
              <a:t>22% growth Q1 2026 · confirmed buyer conversion</a:t>
            </a:r>
          </a:p>
        </p:txBody>
      </p:sp>
      <p:sp>
        <p:nvSpPr>
          <p:cNvPr id="35" name="TextBox 3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36" name="TextBox 3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First Revenue in 90 Days · $10M ARR by Month 18</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Income Math &amp; Milestones</a:t>
            </a:r>
          </a:p>
        </p:txBody>
      </p:sp>
      <p:sp>
        <p:nvSpPr>
          <p:cNvPr id="7" name="Rectangle 6"/>
          <p:cNvSpPr/>
          <p:nvPr/>
        </p:nvSpPr>
        <p:spPr>
          <a:xfrm>
            <a:off x="548640" y="1572768"/>
            <a:ext cx="1188720" cy="76809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18488"/>
            <a:ext cx="1042416" cy="722376"/>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Phase</a:t>
            </a:r>
          </a:p>
        </p:txBody>
      </p:sp>
      <p:sp>
        <p:nvSpPr>
          <p:cNvPr id="9" name="Rectangle 8"/>
          <p:cNvSpPr/>
          <p:nvPr/>
        </p:nvSpPr>
        <p:spPr>
          <a:xfrm>
            <a:off x="1737360" y="1572768"/>
            <a:ext cx="1554480" cy="76809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10512" y="1618488"/>
            <a:ext cx="1408176" cy="722376"/>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Timeline</a:t>
            </a:r>
          </a:p>
        </p:txBody>
      </p:sp>
      <p:sp>
        <p:nvSpPr>
          <p:cNvPr id="11" name="Rectangle 10"/>
          <p:cNvSpPr/>
          <p:nvPr/>
        </p:nvSpPr>
        <p:spPr>
          <a:xfrm>
            <a:off x="3291840" y="1572768"/>
            <a:ext cx="2194560" cy="76809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4992" y="1618488"/>
            <a:ext cx="2048256" cy="722376"/>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Revenue Target</a:t>
            </a:r>
          </a:p>
        </p:txBody>
      </p:sp>
      <p:sp>
        <p:nvSpPr>
          <p:cNvPr id="13" name="Rectangle 12"/>
          <p:cNvSpPr/>
          <p:nvPr/>
        </p:nvSpPr>
        <p:spPr>
          <a:xfrm>
            <a:off x="5486400" y="1572768"/>
            <a:ext cx="5943600" cy="768096"/>
          </a:xfrm>
          <a:prstGeom prst="rect">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59552" y="1618488"/>
            <a:ext cx="5797296" cy="722376"/>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Milestone</a:t>
            </a:r>
          </a:p>
        </p:txBody>
      </p:sp>
      <p:sp>
        <p:nvSpPr>
          <p:cNvPr id="15" name="Rectangle 14"/>
          <p:cNvSpPr/>
          <p:nvPr/>
        </p:nvSpPr>
        <p:spPr>
          <a:xfrm>
            <a:off x="548640" y="2340864"/>
            <a:ext cx="1188720" cy="76809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386584"/>
            <a:ext cx="104241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Phase 1</a:t>
            </a:r>
          </a:p>
        </p:txBody>
      </p:sp>
      <p:sp>
        <p:nvSpPr>
          <p:cNvPr id="17" name="Rectangle 16"/>
          <p:cNvSpPr/>
          <p:nvPr/>
        </p:nvSpPr>
        <p:spPr>
          <a:xfrm>
            <a:off x="1737360" y="2340864"/>
            <a:ext cx="1554480" cy="76809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10512" y="2386584"/>
            <a:ext cx="140817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Months 1–3</a:t>
            </a:r>
          </a:p>
        </p:txBody>
      </p:sp>
      <p:sp>
        <p:nvSpPr>
          <p:cNvPr id="19" name="Rectangle 18"/>
          <p:cNvSpPr/>
          <p:nvPr/>
        </p:nvSpPr>
        <p:spPr>
          <a:xfrm>
            <a:off x="3291840" y="2340864"/>
            <a:ext cx="2194560" cy="76809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64992" y="2386584"/>
            <a:ext cx="204825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$300K – $750K</a:t>
            </a:r>
          </a:p>
        </p:txBody>
      </p:sp>
      <p:sp>
        <p:nvSpPr>
          <p:cNvPr id="21" name="Rectangle 20"/>
          <p:cNvSpPr/>
          <p:nvPr/>
        </p:nvSpPr>
        <p:spPr>
          <a:xfrm>
            <a:off x="5486400" y="2340864"/>
            <a:ext cx="5943600" cy="76809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59552" y="2386584"/>
            <a:ext cx="579729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2–3 AI Readiness Sprints signed · validate Sprint as GCC entry vehicle · first case study</a:t>
            </a:r>
          </a:p>
        </p:txBody>
      </p:sp>
      <p:sp>
        <p:nvSpPr>
          <p:cNvPr id="23" name="Rectangle 22"/>
          <p:cNvSpPr/>
          <p:nvPr/>
        </p:nvSpPr>
        <p:spPr>
          <a:xfrm>
            <a:off x="548640" y="3108960"/>
            <a:ext cx="1188720" cy="76809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3154680"/>
            <a:ext cx="104241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Phase 2</a:t>
            </a:r>
          </a:p>
        </p:txBody>
      </p:sp>
      <p:sp>
        <p:nvSpPr>
          <p:cNvPr id="25" name="Rectangle 24"/>
          <p:cNvSpPr/>
          <p:nvPr/>
        </p:nvSpPr>
        <p:spPr>
          <a:xfrm>
            <a:off x="1737360" y="3108960"/>
            <a:ext cx="1554480" cy="76809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10512" y="3154680"/>
            <a:ext cx="140817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Months 3–6</a:t>
            </a:r>
          </a:p>
        </p:txBody>
      </p:sp>
      <p:sp>
        <p:nvSpPr>
          <p:cNvPr id="27" name="Rectangle 26"/>
          <p:cNvSpPr/>
          <p:nvPr/>
        </p:nvSpPr>
        <p:spPr>
          <a:xfrm>
            <a:off x="3291840" y="3108960"/>
            <a:ext cx="2194560" cy="76809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64992" y="3154680"/>
            <a:ext cx="204825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$2M – $5M ARR</a:t>
            </a:r>
          </a:p>
        </p:txBody>
      </p:sp>
      <p:sp>
        <p:nvSpPr>
          <p:cNvPr id="29" name="Rectangle 28"/>
          <p:cNvSpPr/>
          <p:nvPr/>
        </p:nvSpPr>
        <p:spPr>
          <a:xfrm>
            <a:off x="5486400" y="3108960"/>
            <a:ext cx="5943600" cy="76809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59552" y="3154680"/>
            <a:ext cx="579729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1 Transformation Program converted from Sprint · FleziPT in production · vertical AI deployed</a:t>
            </a:r>
          </a:p>
        </p:txBody>
      </p:sp>
      <p:sp>
        <p:nvSpPr>
          <p:cNvPr id="31" name="Rectangle 30"/>
          <p:cNvSpPr/>
          <p:nvPr/>
        </p:nvSpPr>
        <p:spPr>
          <a:xfrm>
            <a:off x="548640" y="3877056"/>
            <a:ext cx="1188720" cy="76809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3922776"/>
            <a:ext cx="104241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Phase 3</a:t>
            </a:r>
          </a:p>
        </p:txBody>
      </p:sp>
      <p:sp>
        <p:nvSpPr>
          <p:cNvPr id="33" name="Rectangle 32"/>
          <p:cNvSpPr/>
          <p:nvPr/>
        </p:nvSpPr>
        <p:spPr>
          <a:xfrm>
            <a:off x="1737360" y="3877056"/>
            <a:ext cx="1554480" cy="76809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810512" y="3922776"/>
            <a:ext cx="140817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Months 6–12</a:t>
            </a:r>
          </a:p>
        </p:txBody>
      </p:sp>
      <p:sp>
        <p:nvSpPr>
          <p:cNvPr id="35" name="Rectangle 34"/>
          <p:cNvSpPr/>
          <p:nvPr/>
        </p:nvSpPr>
        <p:spPr>
          <a:xfrm>
            <a:off x="3291840" y="3877056"/>
            <a:ext cx="2194560" cy="76809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64992" y="3922776"/>
            <a:ext cx="204825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$6M – $15M ARR</a:t>
            </a:r>
          </a:p>
        </p:txBody>
      </p:sp>
      <p:sp>
        <p:nvSpPr>
          <p:cNvPr id="37" name="Rectangle 36"/>
          <p:cNvSpPr/>
          <p:nvPr/>
        </p:nvSpPr>
        <p:spPr>
          <a:xfrm>
            <a:off x="5486400" y="3877056"/>
            <a:ext cx="5943600" cy="768096"/>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59552" y="3922776"/>
            <a:ext cx="579729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3 active Transformation Programs · managed services tail · CodeVista/xMainframe at 2+ GCCs</a:t>
            </a:r>
          </a:p>
        </p:txBody>
      </p:sp>
      <p:sp>
        <p:nvSpPr>
          <p:cNvPr id="39" name="Rectangle 38"/>
          <p:cNvSpPr/>
          <p:nvPr/>
        </p:nvSpPr>
        <p:spPr>
          <a:xfrm>
            <a:off x="548640" y="4645152"/>
            <a:ext cx="1188720" cy="76809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 y="4690872"/>
            <a:ext cx="104241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Phase 4</a:t>
            </a:r>
          </a:p>
        </p:txBody>
      </p:sp>
      <p:sp>
        <p:nvSpPr>
          <p:cNvPr id="41" name="Rectangle 40"/>
          <p:cNvSpPr/>
          <p:nvPr/>
        </p:nvSpPr>
        <p:spPr>
          <a:xfrm>
            <a:off x="1737360" y="4645152"/>
            <a:ext cx="1554480" cy="76809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810512" y="4690872"/>
            <a:ext cx="140817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Months 12–18</a:t>
            </a:r>
          </a:p>
        </p:txBody>
      </p:sp>
      <p:sp>
        <p:nvSpPr>
          <p:cNvPr id="43" name="Rectangle 42"/>
          <p:cNvSpPr/>
          <p:nvPr/>
        </p:nvSpPr>
        <p:spPr>
          <a:xfrm>
            <a:off x="3291840" y="4645152"/>
            <a:ext cx="2194560" cy="76809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64992" y="4690872"/>
            <a:ext cx="204825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$10M – $20M</a:t>
            </a:r>
          </a:p>
        </p:txBody>
      </p:sp>
      <p:sp>
        <p:nvSpPr>
          <p:cNvPr id="45" name="Rectangle 44"/>
          <p:cNvSpPr/>
          <p:nvPr/>
        </p:nvSpPr>
        <p:spPr>
          <a:xfrm>
            <a:off x="5486400" y="4645152"/>
            <a:ext cx="5943600" cy="768096"/>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559552" y="4690872"/>
            <a:ext cx="5797296" cy="722376"/>
          </a:xfrm>
          <a:prstGeom prst="rect">
            <a:avLst/>
          </a:prstGeom>
          <a:noFill/>
        </p:spPr>
        <p:txBody>
          <a:bodyPr wrap="square" anchor="ctr" lIns="0" rIns="0" tIns="0" bIns="0">
            <a:normAutofit/>
          </a:bodyPr>
          <a:lstStyle/>
          <a:p>
            <a:pPr algn="l">
              <a:lnSpc>
                <a:spcPct val="105000"/>
              </a:lnSpc>
              <a:spcBef>
                <a:spcPts val="0"/>
              </a:spcBef>
            </a:pPr>
            <a:r>
              <a:rPr sz="1200" b="0" i="0">
                <a:solidFill>
                  <a:srgbClr val="1B2B3C"/>
                </a:solidFill>
                <a:latin typeface="Calibri"/>
              </a:rPr>
              <a:t>1 Strategic AI Partnership · multi-year contract · platform lock-in · CxO co-development</a:t>
            </a:r>
          </a:p>
        </p:txBody>
      </p:sp>
      <p:sp>
        <p:nvSpPr>
          <p:cNvPr id="47" name="TextBox 4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48" name="TextBox 4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First Meeting Booked in 7 Days — From Warm Network, Not Cold Outreach</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7-Day Activation Plan</a:t>
            </a:r>
          </a:p>
        </p:txBody>
      </p:sp>
      <p:sp>
        <p:nvSpPr>
          <p:cNvPr id="7" name="Rounded Rectangle 6"/>
          <p:cNvSpPr/>
          <p:nvPr/>
        </p:nvSpPr>
        <p:spPr>
          <a:xfrm>
            <a:off x="548640" y="1572768"/>
            <a:ext cx="5455767" cy="438912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5455767"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45920"/>
            <a:ext cx="5272887" cy="27432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DAYS 1–3 · Build the Proof Point</a:t>
            </a:r>
          </a:p>
        </p:txBody>
      </p:sp>
      <p:sp>
        <p:nvSpPr>
          <p:cNvPr id="10" name="TextBox 9"/>
          <p:cNvSpPr txBox="1"/>
          <p:nvPr/>
        </p:nvSpPr>
        <p:spPr>
          <a:xfrm>
            <a:off x="685800" y="2057400"/>
            <a:ext cx="5227167" cy="3657600"/>
          </a:xfrm>
          <a:prstGeom prst="rect">
            <a:avLst/>
          </a:prstGeom>
          <a:noFill/>
        </p:spPr>
        <p:txBody>
          <a:bodyPr wrap="square" anchor="t" lIns="0" rIns="0" tIns="0" bIns="0">
            <a:normAutofit/>
          </a:bodyPr>
          <a:lstStyle/>
          <a:p>
            <a:pPr algn="l">
              <a:lnSpc>
                <a:spcPct val="105000"/>
              </a:lnSpc>
              <a:spcBef>
                <a:spcPts val="1000"/>
              </a:spcBef>
            </a:pPr>
            <a:r>
              <a:rPr sz="1200" b="0" i="0">
                <a:solidFill>
                  <a:srgbClr val="E0F7F1"/>
                </a:solidFill>
                <a:latin typeface="Calibri"/>
              </a:rPr>
              <a:t>•  Identify sharpest GCC pain FPT solves now: legacy modernization → xMainframe (30% faster, 90% accuracy)</a:t>
            </a:r>
          </a:p>
          <a:p>
            <a:pPr algn="l">
              <a:lnSpc>
                <a:spcPct val="105000"/>
              </a:lnSpc>
              <a:spcBef>
                <a:spcPts val="1000"/>
              </a:spcBef>
            </a:pPr>
            <a:r>
              <a:rPr sz="1200" b="0" i="0">
                <a:solidFill>
                  <a:srgbClr val="E0F7F1"/>
                </a:solidFill>
                <a:latin typeface="Calibri"/>
              </a:rPr>
              <a:t>•  Build 1-page FPT GCC capability brief using CES 2026 FleziPT showcase as proof material — not a brochure</a:t>
            </a:r>
          </a:p>
          <a:p>
            <a:pPr algn="l">
              <a:lnSpc>
                <a:spcPct val="105000"/>
              </a:lnSpc>
              <a:spcBef>
                <a:spcPts val="1000"/>
              </a:spcBef>
            </a:pPr>
            <a:r>
              <a:rPr sz="1200" b="0" i="0">
                <a:solidFill>
                  <a:srgbClr val="E0F7F1"/>
                </a:solidFill>
                <a:latin typeface="Calibri"/>
              </a:rPr>
              <a:t>•  Record 3-min LinkedIn video: 'How do I make AI real, not just a pilot?' — insight first, no product pitch</a:t>
            </a:r>
          </a:p>
          <a:p>
            <a:pPr algn="l">
              <a:lnSpc>
                <a:spcPct val="105000"/>
              </a:lnSpc>
              <a:spcBef>
                <a:spcPts val="1000"/>
              </a:spcBef>
            </a:pPr>
            <a:r>
              <a:rPr sz="1200" b="0" i="0">
                <a:solidFill>
                  <a:srgbClr val="E0F7F1"/>
                </a:solidFill>
                <a:latin typeface="Calibri"/>
              </a:rPr>
              <a:t>•  The goal: one compelling story that any GCC head would forward to a peer</a:t>
            </a:r>
          </a:p>
        </p:txBody>
      </p:sp>
      <p:sp>
        <p:nvSpPr>
          <p:cNvPr id="11" name="Rounded Rectangle 10"/>
          <p:cNvSpPr/>
          <p:nvPr/>
        </p:nvSpPr>
        <p:spPr>
          <a:xfrm>
            <a:off x="6187287" y="1572768"/>
            <a:ext cx="5455767" cy="4389120"/>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7287" y="1572768"/>
            <a:ext cx="5455767" cy="38404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7015" y="1645920"/>
            <a:ext cx="5272887" cy="274320"/>
          </a:xfrm>
          <a:prstGeom prst="rect">
            <a:avLst/>
          </a:prstGeom>
          <a:noFill/>
        </p:spPr>
        <p:txBody>
          <a:bodyPr wrap="square" anchor="t" lIns="0" rIns="0" tIns="0" bIns="0">
            <a:noAutofit/>
          </a:bodyPr>
          <a:lstStyle/>
          <a:p>
            <a:pPr algn="l">
              <a:lnSpc>
                <a:spcPct val="105000"/>
              </a:lnSpc>
              <a:spcBef>
                <a:spcPts val="0"/>
              </a:spcBef>
            </a:pPr>
            <a:r>
              <a:rPr sz="1300" b="1" i="0">
                <a:solidFill>
                  <a:srgbClr val="FFFFFF"/>
                </a:solidFill>
                <a:latin typeface="Calibri"/>
              </a:rPr>
              <a:t>DAYS 4–7 · Activate the Network</a:t>
            </a:r>
          </a:p>
        </p:txBody>
      </p:sp>
      <p:sp>
        <p:nvSpPr>
          <p:cNvPr id="14" name="TextBox 13"/>
          <p:cNvSpPr txBox="1"/>
          <p:nvPr/>
        </p:nvSpPr>
        <p:spPr>
          <a:xfrm>
            <a:off x="6324447" y="2057400"/>
            <a:ext cx="5227167" cy="3657600"/>
          </a:xfrm>
          <a:prstGeom prst="rect">
            <a:avLst/>
          </a:prstGeom>
          <a:noFill/>
        </p:spPr>
        <p:txBody>
          <a:bodyPr wrap="square" anchor="t" lIns="0" rIns="0" tIns="0" bIns="0">
            <a:normAutofit/>
          </a:bodyPr>
          <a:lstStyle/>
          <a:p>
            <a:pPr algn="l">
              <a:lnSpc>
                <a:spcPct val="105000"/>
              </a:lnSpc>
              <a:spcBef>
                <a:spcPts val="1000"/>
              </a:spcBef>
            </a:pPr>
            <a:r>
              <a:rPr sz="1200" b="0" i="0">
                <a:solidFill>
                  <a:srgbClr val="1B2B3C"/>
                </a:solidFill>
                <a:latin typeface="Calibri"/>
              </a:rPr>
              <a:t>•  List 10 GCC heads from FPT India relationship base — VPs and MDs who know Srikumar from last 3 years</a:t>
            </a:r>
          </a:p>
          <a:p>
            <a:pPr algn="l">
              <a:lnSpc>
                <a:spcPct val="105000"/>
              </a:lnSpc>
              <a:spcBef>
                <a:spcPts val="1000"/>
              </a:spcBef>
            </a:pPr>
            <a:r>
              <a:rPr sz="1200" b="0" i="0">
                <a:solidFill>
                  <a:srgbClr val="1B2B3C"/>
                </a:solidFill>
                <a:latin typeface="Calibri"/>
              </a:rPr>
              <a:t>•  Personal outreach (not a template): 'I've been mapping the AI delivery gap across GCCs in [their vertical] — 20 minutes?'</a:t>
            </a:r>
          </a:p>
          <a:p>
            <a:pPr algn="l">
              <a:lnSpc>
                <a:spcPct val="105000"/>
              </a:lnSpc>
              <a:spcBef>
                <a:spcPts val="1000"/>
              </a:spcBef>
            </a:pPr>
            <a:r>
              <a:rPr sz="1200" b="0" i="0">
                <a:solidFill>
                  <a:srgbClr val="1B2B3C"/>
                </a:solidFill>
                <a:latin typeface="Calibri"/>
              </a:rPr>
              <a:t>•  Book 3 discovery calls — goal: hear exact language about AI bottleneck; those words become next month's content</a:t>
            </a:r>
          </a:p>
          <a:p>
            <a:pPr algn="l">
              <a:lnSpc>
                <a:spcPct val="105000"/>
              </a:lnSpc>
              <a:spcBef>
                <a:spcPts val="1000"/>
              </a:spcBef>
            </a:pPr>
            <a:r>
              <a:rPr sz="1200" b="0" i="0">
                <a:solidFill>
                  <a:srgbClr val="1B2B3C"/>
                </a:solidFill>
                <a:latin typeface="Calibri"/>
              </a:rPr>
              <a:t>•  Identify 1 pilot GCC for AI Readiness Sprint at reference-client rate → case study + testimonial at month 2</a:t>
            </a:r>
          </a:p>
        </p:txBody>
      </p:sp>
      <p:sp>
        <p:nvSpPr>
          <p:cNvPr id="15" name="TextBox 1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16" name="TextBox 1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AI Readiness Sprint → Transformation Program → Strategic Partnership</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12–18 Month Trajectory — The Compounding Arc</a:t>
            </a:r>
          </a:p>
        </p:txBody>
      </p:sp>
      <p:sp>
        <p:nvSpPr>
          <p:cNvPr id="7" name="Rounded Rectangle 6"/>
          <p:cNvSpPr/>
          <p:nvPr/>
        </p:nvSpPr>
        <p:spPr>
          <a:xfrm>
            <a:off x="548640" y="1572768"/>
            <a:ext cx="2670733" cy="3657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09928"/>
            <a:ext cx="2487853" cy="640080"/>
          </a:xfrm>
          <a:prstGeom prst="rect">
            <a:avLst/>
          </a:prstGeom>
          <a:noFill/>
        </p:spPr>
        <p:txBody>
          <a:bodyPr wrap="square" anchor="t" lIns="0" rIns="0" tIns="0" bIns="0">
            <a:normAutofit/>
          </a:bodyPr>
          <a:lstStyle/>
          <a:p>
            <a:pPr algn="ctr">
              <a:lnSpc>
                <a:spcPct val="105000"/>
              </a:lnSpc>
              <a:spcBef>
                <a:spcPts val="0"/>
              </a:spcBef>
            </a:pPr>
            <a:r>
              <a:rPr sz="1100" b="1" i="0">
                <a:solidFill>
                  <a:srgbClr val="E0F7F1"/>
                </a:solidFill>
                <a:latin typeface="Calibri"/>
              </a:rPr>
              <a:t>PHASE 1
Months 1–3</a:t>
            </a:r>
          </a:p>
        </p:txBody>
      </p:sp>
      <p:sp>
        <p:nvSpPr>
          <p:cNvPr id="9" name="TextBox 8"/>
          <p:cNvSpPr txBox="1"/>
          <p:nvPr/>
        </p:nvSpPr>
        <p:spPr>
          <a:xfrm>
            <a:off x="621792" y="2441448"/>
            <a:ext cx="2561005" cy="822960"/>
          </a:xfrm>
          <a:prstGeom prst="rect">
            <a:avLst/>
          </a:prstGeom>
          <a:noFill/>
        </p:spPr>
        <p:txBody>
          <a:bodyPr wrap="square" anchor="t" lIns="0" rIns="0" tIns="0" bIns="0">
            <a:normAutofit/>
          </a:bodyPr>
          <a:lstStyle/>
          <a:p>
            <a:pPr algn="ctr">
              <a:lnSpc>
                <a:spcPct val="105000"/>
              </a:lnSpc>
              <a:spcBef>
                <a:spcPts val="0"/>
              </a:spcBef>
            </a:pPr>
            <a:r>
              <a:rPr sz="2000" b="1" i="0">
                <a:solidFill>
                  <a:srgbClr val="FFB800"/>
                </a:solidFill>
                <a:latin typeface="Calibri"/>
              </a:rPr>
              <a:t>$300K–
$750K</a:t>
            </a:r>
          </a:p>
        </p:txBody>
      </p:sp>
      <p:sp>
        <p:nvSpPr>
          <p:cNvPr id="10" name="Rectangle 9"/>
          <p:cNvSpPr/>
          <p:nvPr/>
        </p:nvSpPr>
        <p:spPr>
          <a:xfrm>
            <a:off x="777240" y="3291840"/>
            <a:ext cx="2213533"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401568"/>
            <a:ext cx="2487853" cy="1737360"/>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2–3 AI Readiness Sprints · first case study · validate GCC entry model</a:t>
            </a:r>
          </a:p>
        </p:txBody>
      </p:sp>
      <p:sp>
        <p:nvSpPr>
          <p:cNvPr id="12" name="TextBox 11"/>
          <p:cNvSpPr txBox="1"/>
          <p:nvPr/>
        </p:nvSpPr>
        <p:spPr>
          <a:xfrm>
            <a:off x="3146221" y="3172968"/>
            <a:ext cx="228600" cy="457200"/>
          </a:xfrm>
          <a:prstGeom prst="rect">
            <a:avLst/>
          </a:prstGeom>
          <a:noFill/>
        </p:spPr>
        <p:txBody>
          <a:bodyPr wrap="square" anchor="t" lIns="0" rIns="0" tIns="0" bIns="0">
            <a:noAutofit/>
          </a:bodyPr>
          <a:lstStyle/>
          <a:p>
            <a:pPr algn="l">
              <a:lnSpc>
                <a:spcPct val="105000"/>
              </a:lnSpc>
              <a:spcBef>
                <a:spcPts val="0"/>
              </a:spcBef>
            </a:pPr>
            <a:r>
              <a:rPr sz="1800" b="1" i="0">
                <a:solidFill>
                  <a:srgbClr val="00C9A7"/>
                </a:solidFill>
                <a:latin typeface="Calibri"/>
              </a:rPr>
              <a:t>→</a:t>
            </a:r>
          </a:p>
        </p:txBody>
      </p:sp>
      <p:sp>
        <p:nvSpPr>
          <p:cNvPr id="13" name="Rounded Rectangle 12"/>
          <p:cNvSpPr/>
          <p:nvPr/>
        </p:nvSpPr>
        <p:spPr>
          <a:xfrm>
            <a:off x="3356533" y="1572768"/>
            <a:ext cx="2670733" cy="36576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66261" y="1709928"/>
            <a:ext cx="2487853" cy="640080"/>
          </a:xfrm>
          <a:prstGeom prst="rect">
            <a:avLst/>
          </a:prstGeom>
          <a:noFill/>
        </p:spPr>
        <p:txBody>
          <a:bodyPr wrap="square" anchor="t" lIns="0" rIns="0" tIns="0" bIns="0">
            <a:normAutofit/>
          </a:bodyPr>
          <a:lstStyle/>
          <a:p>
            <a:pPr algn="ctr">
              <a:lnSpc>
                <a:spcPct val="105000"/>
              </a:lnSpc>
              <a:spcBef>
                <a:spcPts val="0"/>
              </a:spcBef>
            </a:pPr>
            <a:r>
              <a:rPr sz="1100" b="1" i="0">
                <a:solidFill>
                  <a:srgbClr val="E0F7F1"/>
                </a:solidFill>
                <a:latin typeface="Calibri"/>
              </a:rPr>
              <a:t>PHASE 2
Months 3–6</a:t>
            </a:r>
          </a:p>
        </p:txBody>
      </p:sp>
      <p:sp>
        <p:nvSpPr>
          <p:cNvPr id="15" name="TextBox 14"/>
          <p:cNvSpPr txBox="1"/>
          <p:nvPr/>
        </p:nvSpPr>
        <p:spPr>
          <a:xfrm>
            <a:off x="3429685" y="2441448"/>
            <a:ext cx="2561005" cy="822960"/>
          </a:xfrm>
          <a:prstGeom prst="rect">
            <a:avLst/>
          </a:prstGeom>
          <a:noFill/>
        </p:spPr>
        <p:txBody>
          <a:bodyPr wrap="square" anchor="t" lIns="0" rIns="0" tIns="0" bIns="0">
            <a:normAutofit/>
          </a:bodyPr>
          <a:lstStyle/>
          <a:p>
            <a:pPr algn="ctr">
              <a:lnSpc>
                <a:spcPct val="105000"/>
              </a:lnSpc>
              <a:spcBef>
                <a:spcPts val="0"/>
              </a:spcBef>
            </a:pPr>
            <a:r>
              <a:rPr sz="2000" b="1" i="0">
                <a:solidFill>
                  <a:srgbClr val="FFB800"/>
                </a:solidFill>
                <a:latin typeface="Calibri"/>
              </a:rPr>
              <a:t>$2M–
$5M ARR</a:t>
            </a:r>
          </a:p>
        </p:txBody>
      </p:sp>
      <p:sp>
        <p:nvSpPr>
          <p:cNvPr id="16" name="Rectangle 15"/>
          <p:cNvSpPr/>
          <p:nvPr/>
        </p:nvSpPr>
        <p:spPr>
          <a:xfrm>
            <a:off x="3585133" y="3291840"/>
            <a:ext cx="2213533"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66261" y="3401568"/>
            <a:ext cx="2487853" cy="1737360"/>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1 Transformation Program · FleziPT in production · vertical AI platform deployed</a:t>
            </a:r>
          </a:p>
        </p:txBody>
      </p:sp>
      <p:sp>
        <p:nvSpPr>
          <p:cNvPr id="18" name="TextBox 17"/>
          <p:cNvSpPr txBox="1"/>
          <p:nvPr/>
        </p:nvSpPr>
        <p:spPr>
          <a:xfrm>
            <a:off x="5954115" y="3172968"/>
            <a:ext cx="228600" cy="457200"/>
          </a:xfrm>
          <a:prstGeom prst="rect">
            <a:avLst/>
          </a:prstGeom>
          <a:noFill/>
        </p:spPr>
        <p:txBody>
          <a:bodyPr wrap="square" anchor="t" lIns="0" rIns="0" tIns="0" bIns="0">
            <a:noAutofit/>
          </a:bodyPr>
          <a:lstStyle/>
          <a:p>
            <a:pPr algn="l">
              <a:lnSpc>
                <a:spcPct val="105000"/>
              </a:lnSpc>
              <a:spcBef>
                <a:spcPts val="0"/>
              </a:spcBef>
            </a:pPr>
            <a:r>
              <a:rPr sz="1800" b="1" i="0">
                <a:solidFill>
                  <a:srgbClr val="00C9A7"/>
                </a:solidFill>
                <a:latin typeface="Calibri"/>
              </a:rPr>
              <a:t>→</a:t>
            </a:r>
          </a:p>
        </p:txBody>
      </p:sp>
      <p:sp>
        <p:nvSpPr>
          <p:cNvPr id="19" name="Rounded Rectangle 18"/>
          <p:cNvSpPr/>
          <p:nvPr/>
        </p:nvSpPr>
        <p:spPr>
          <a:xfrm>
            <a:off x="6164427" y="1572768"/>
            <a:ext cx="2670733" cy="3657600"/>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4155" y="1709928"/>
            <a:ext cx="2487853" cy="640080"/>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PHASE 3
Months 6–12</a:t>
            </a:r>
          </a:p>
        </p:txBody>
      </p:sp>
      <p:sp>
        <p:nvSpPr>
          <p:cNvPr id="21" name="TextBox 20"/>
          <p:cNvSpPr txBox="1"/>
          <p:nvPr/>
        </p:nvSpPr>
        <p:spPr>
          <a:xfrm>
            <a:off x="6237579" y="2441448"/>
            <a:ext cx="2561005" cy="822960"/>
          </a:xfrm>
          <a:prstGeom prst="rect">
            <a:avLst/>
          </a:prstGeom>
          <a:noFill/>
        </p:spPr>
        <p:txBody>
          <a:bodyPr wrap="square" anchor="t" lIns="0" rIns="0" tIns="0" bIns="0">
            <a:normAutofit/>
          </a:bodyPr>
          <a:lstStyle/>
          <a:p>
            <a:pPr algn="ctr">
              <a:lnSpc>
                <a:spcPct val="105000"/>
              </a:lnSpc>
              <a:spcBef>
                <a:spcPts val="0"/>
              </a:spcBef>
            </a:pPr>
            <a:r>
              <a:rPr sz="2000" b="1" i="0">
                <a:solidFill>
                  <a:srgbClr val="FFB800"/>
                </a:solidFill>
                <a:latin typeface="Calibri"/>
              </a:rPr>
              <a:t>$6M–
$15M ARR</a:t>
            </a:r>
          </a:p>
        </p:txBody>
      </p:sp>
      <p:sp>
        <p:nvSpPr>
          <p:cNvPr id="22" name="Rectangle 21"/>
          <p:cNvSpPr/>
          <p:nvPr/>
        </p:nvSpPr>
        <p:spPr>
          <a:xfrm>
            <a:off x="6393027" y="3291840"/>
            <a:ext cx="2213533"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74155" y="3401568"/>
            <a:ext cx="2487853" cy="1737360"/>
          </a:xfrm>
          <a:prstGeom prst="rect">
            <a:avLst/>
          </a:prstGeom>
          <a:noFill/>
        </p:spPr>
        <p:txBody>
          <a:bodyPr wrap="square" anchor="t" lIns="0" rIns="0" tIns="0" bIns="0">
            <a:normAutofit/>
          </a:bodyPr>
          <a:lstStyle/>
          <a:p>
            <a:pPr algn="l">
              <a:lnSpc>
                <a:spcPct val="105000"/>
              </a:lnSpc>
              <a:spcBef>
                <a:spcPts val="0"/>
              </a:spcBef>
            </a:pPr>
            <a:r>
              <a:rPr sz="1050" b="0" i="0">
                <a:solidFill>
                  <a:srgbClr val="FFFFFF"/>
                </a:solidFill>
                <a:latin typeface="Calibri"/>
              </a:rPr>
              <a:t>3 active programs · managed services tail · xMainframe at 2+ GCCs</a:t>
            </a:r>
          </a:p>
        </p:txBody>
      </p:sp>
      <p:sp>
        <p:nvSpPr>
          <p:cNvPr id="24" name="TextBox 23"/>
          <p:cNvSpPr txBox="1"/>
          <p:nvPr/>
        </p:nvSpPr>
        <p:spPr>
          <a:xfrm>
            <a:off x="8762009" y="3172968"/>
            <a:ext cx="228600" cy="457200"/>
          </a:xfrm>
          <a:prstGeom prst="rect">
            <a:avLst/>
          </a:prstGeom>
          <a:noFill/>
        </p:spPr>
        <p:txBody>
          <a:bodyPr wrap="square" anchor="t" lIns="0" rIns="0" tIns="0" bIns="0">
            <a:noAutofit/>
          </a:bodyPr>
          <a:lstStyle/>
          <a:p>
            <a:pPr algn="l">
              <a:lnSpc>
                <a:spcPct val="105000"/>
              </a:lnSpc>
              <a:spcBef>
                <a:spcPts val="0"/>
              </a:spcBef>
            </a:pPr>
            <a:r>
              <a:rPr sz="1800" b="1" i="0">
                <a:solidFill>
                  <a:srgbClr val="00C9A7"/>
                </a:solidFill>
                <a:latin typeface="Calibri"/>
              </a:rPr>
              <a:t>→</a:t>
            </a:r>
          </a:p>
        </p:txBody>
      </p:sp>
      <p:sp>
        <p:nvSpPr>
          <p:cNvPr id="25" name="Rounded Rectangle 24"/>
          <p:cNvSpPr/>
          <p:nvPr/>
        </p:nvSpPr>
        <p:spPr>
          <a:xfrm>
            <a:off x="8972321" y="1572768"/>
            <a:ext cx="2670733" cy="365760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82049" y="1709928"/>
            <a:ext cx="2487853" cy="640080"/>
          </a:xfrm>
          <a:prstGeom prst="rect">
            <a:avLst/>
          </a:prstGeom>
          <a:noFill/>
        </p:spPr>
        <p:txBody>
          <a:bodyPr wrap="square" anchor="t" lIns="0" rIns="0" tIns="0" bIns="0">
            <a:normAutofit/>
          </a:bodyPr>
          <a:lstStyle/>
          <a:p>
            <a:pPr algn="ctr">
              <a:lnSpc>
                <a:spcPct val="105000"/>
              </a:lnSpc>
              <a:spcBef>
                <a:spcPts val="0"/>
              </a:spcBef>
            </a:pPr>
            <a:r>
              <a:rPr sz="1100" b="1" i="0">
                <a:solidFill>
                  <a:srgbClr val="0A1628"/>
                </a:solidFill>
                <a:latin typeface="Calibri"/>
              </a:rPr>
              <a:t>PHASE 4
Months 12–18</a:t>
            </a:r>
          </a:p>
        </p:txBody>
      </p:sp>
      <p:sp>
        <p:nvSpPr>
          <p:cNvPr id="27" name="TextBox 26"/>
          <p:cNvSpPr txBox="1"/>
          <p:nvPr/>
        </p:nvSpPr>
        <p:spPr>
          <a:xfrm>
            <a:off x="9045473" y="2441448"/>
            <a:ext cx="2561005" cy="822960"/>
          </a:xfrm>
          <a:prstGeom prst="rect">
            <a:avLst/>
          </a:prstGeom>
          <a:noFill/>
        </p:spPr>
        <p:txBody>
          <a:bodyPr wrap="square" anchor="t" lIns="0" rIns="0" tIns="0" bIns="0">
            <a:normAutofit/>
          </a:bodyPr>
          <a:lstStyle/>
          <a:p>
            <a:pPr algn="ctr">
              <a:lnSpc>
                <a:spcPct val="105000"/>
              </a:lnSpc>
              <a:spcBef>
                <a:spcPts val="0"/>
              </a:spcBef>
            </a:pPr>
            <a:r>
              <a:rPr sz="2000" b="1" i="0">
                <a:solidFill>
                  <a:srgbClr val="FFB800"/>
                </a:solidFill>
                <a:latin typeface="Calibri"/>
              </a:rPr>
              <a:t>$10M–
$20M</a:t>
            </a:r>
          </a:p>
        </p:txBody>
      </p:sp>
      <p:sp>
        <p:nvSpPr>
          <p:cNvPr id="28" name="Rectangle 27"/>
          <p:cNvSpPr/>
          <p:nvPr/>
        </p:nvSpPr>
        <p:spPr>
          <a:xfrm>
            <a:off x="9200921" y="3291840"/>
            <a:ext cx="2213533" cy="365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82049" y="3401568"/>
            <a:ext cx="2487853" cy="1737360"/>
          </a:xfrm>
          <a:prstGeom prst="rect">
            <a:avLst/>
          </a:prstGeom>
          <a:noFill/>
        </p:spPr>
        <p:txBody>
          <a:bodyPr wrap="square" anchor="t" lIns="0" rIns="0" tIns="0" bIns="0">
            <a:normAutofit/>
          </a:bodyPr>
          <a:lstStyle/>
          <a:p>
            <a:pPr algn="l">
              <a:lnSpc>
                <a:spcPct val="105000"/>
              </a:lnSpc>
              <a:spcBef>
                <a:spcPts val="0"/>
              </a:spcBef>
            </a:pPr>
            <a:r>
              <a:rPr sz="1050" b="0" i="0">
                <a:solidFill>
                  <a:srgbClr val="0A1628"/>
                </a:solidFill>
                <a:latin typeface="Calibri"/>
              </a:rPr>
              <a:t>1 Strategic AI Partnership · multi-year · platform lock-in · CxO co-development</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Srikumar V R · Ikigai Pro Report · FPT Software GCC · Jun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457200"/>
          </a:xfrm>
          <a:prstGeom prst="rect">
            <a:avLst/>
          </a:prstGeom>
          <a:noFill/>
        </p:spPr>
        <p:txBody>
          <a:bodyPr wrap="square" anchor="t" lIns="0" rIns="0" tIns="0" bIns="0">
            <a:noAutofit/>
          </a:bodyPr>
          <a:lstStyle/>
          <a:p>
            <a:pPr algn="l">
              <a:lnSpc>
                <a:spcPct val="105000"/>
              </a:lnSpc>
              <a:spcBef>
                <a:spcPts val="0"/>
              </a:spcBef>
            </a:pPr>
            <a:r>
              <a:rPr sz="2200" b="1" i="0">
                <a:solidFill>
                  <a:srgbClr val="00C9A7"/>
                </a:solidFill>
                <a:latin typeface="Calibri"/>
              </a:rPr>
              <a:t>The Line That Opens Every GCC Door</a:t>
            </a:r>
          </a:p>
        </p:txBody>
      </p:sp>
      <p:sp>
        <p:nvSpPr>
          <p:cNvPr id="5" name="Rectangle 4"/>
          <p:cNvSpPr/>
          <p:nvPr/>
        </p:nvSpPr>
        <p:spPr>
          <a:xfrm>
            <a:off x="548640" y="960120"/>
            <a:ext cx="91440" cy="384048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05840"/>
            <a:ext cx="10774375" cy="3840480"/>
          </a:xfrm>
          <a:prstGeom prst="rect">
            <a:avLst/>
          </a:prstGeom>
          <a:noFill/>
        </p:spPr>
        <p:txBody>
          <a:bodyPr wrap="square" anchor="t" lIns="0" rIns="0" tIns="0" bIns="0">
            <a:normAutofit/>
          </a:bodyPr>
          <a:lstStyle/>
          <a:p>
            <a:pPr algn="l">
              <a:lnSpc>
                <a:spcPct val="105000"/>
              </a:lnSpc>
              <a:spcBef>
                <a:spcPts val="0"/>
              </a:spcBef>
            </a:pPr>
            <a:r>
              <a:rPr sz="2200" b="0" i="1">
                <a:solidFill>
                  <a:srgbClr val="FFFFFF"/>
                </a:solidFill>
                <a:latin typeface="Calibri"/>
              </a:rPr>
              <a:t>"FPT Software brings production-grade AI, legacy modernization tooling that's saved over 6,000 man-months, and vertical platforms built for healthcare, manufacturing, and BFSI — and I work with GCC heads in India to find the specific capability that closes the gap between their AI mandate and what they can actually deliver today."</a:t>
            </a:r>
          </a:p>
        </p:txBody>
      </p:sp>
      <p:sp>
        <p:nvSpPr>
          <p:cNvPr id="7" name="TextBox 6"/>
          <p:cNvSpPr txBox="1"/>
          <p:nvPr/>
        </p:nvSpPr>
        <p:spPr>
          <a:xfrm>
            <a:off x="822960" y="5029200"/>
            <a:ext cx="10774375" cy="4114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 Srikumar V R, Director Strategic BD, FPT Software</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Srikumar V R · Ikigai Pro Report · FPT Software GCC · Jun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59436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The Stack Is Ready. The Market Is Ready. The Relationships Are Ready.</a:t>
            </a:r>
          </a:p>
        </p:txBody>
      </p:sp>
      <p:sp>
        <p:nvSpPr>
          <p:cNvPr id="5" name="Rectangle 4"/>
          <p:cNvSpPr/>
          <p:nvPr/>
        </p:nvSpPr>
        <p:spPr>
          <a:xfrm>
            <a:off x="548640" y="1024128"/>
            <a:ext cx="18288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261872"/>
            <a:ext cx="3606698" cy="466344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61872"/>
            <a:ext cx="360669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99032"/>
            <a:ext cx="3378098" cy="640080"/>
          </a:xfrm>
          <a:prstGeom prst="rect">
            <a:avLst/>
          </a:prstGeom>
          <a:noFill/>
        </p:spPr>
        <p:txBody>
          <a:bodyPr wrap="square" anchor="t" lIns="0" rIns="0" tIns="0" bIns="0">
            <a:normAutofit/>
          </a:bodyPr>
          <a:lstStyle/>
          <a:p>
            <a:pPr algn="ctr">
              <a:lnSpc>
                <a:spcPct val="105000"/>
              </a:lnSpc>
              <a:spcBef>
                <a:spcPts val="0"/>
              </a:spcBef>
            </a:pPr>
            <a:r>
              <a:rPr sz="1400" b="1" i="0">
                <a:solidFill>
                  <a:srgbClr val="00C9A7"/>
                </a:solidFill>
                <a:latin typeface="Calibri"/>
              </a:rPr>
              <a:t>FPT HAS
THE AI STACK</a:t>
            </a:r>
          </a:p>
        </p:txBody>
      </p:sp>
      <p:sp>
        <p:nvSpPr>
          <p:cNvPr id="9" name="Rectangle 8"/>
          <p:cNvSpPr/>
          <p:nvPr/>
        </p:nvSpPr>
        <p:spPr>
          <a:xfrm>
            <a:off x="1005840" y="2066544"/>
            <a:ext cx="2692298"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221992"/>
            <a:ext cx="3378098" cy="3611880"/>
          </a:xfrm>
          <a:prstGeom prst="rect">
            <a:avLst/>
          </a:prstGeom>
          <a:noFill/>
        </p:spPr>
        <p:txBody>
          <a:bodyPr wrap="square" anchor="t" lIns="0" rIns="0" tIns="0" bIns="0">
            <a:normAutofit/>
          </a:bodyPr>
          <a:lstStyle/>
          <a:p>
            <a:pPr algn="ctr">
              <a:lnSpc>
                <a:spcPct val="105000"/>
              </a:lnSpc>
              <a:spcBef>
                <a:spcPts val="0"/>
              </a:spcBef>
            </a:pPr>
            <a:r>
              <a:rPr sz="1100" b="0" i="0">
                <a:solidFill>
                  <a:srgbClr val="E0F7F1"/>
                </a:solidFill>
                <a:latin typeface="Calibri"/>
              </a:rPr>
              <a:t>FleziPT · EMT + xMainframe
CodeVista · KnowMed.ai
Virtual Factory
Edge AI Orchestrator
CASAN Framework
AI Testing Loop
1,100+ clients · 130+ Fortune 500
$256M largest AI contract</a:t>
            </a:r>
          </a:p>
        </p:txBody>
      </p:sp>
      <p:sp>
        <p:nvSpPr>
          <p:cNvPr id="11" name="Rounded Rectangle 10"/>
          <p:cNvSpPr/>
          <p:nvPr/>
        </p:nvSpPr>
        <p:spPr>
          <a:xfrm>
            <a:off x="4292498" y="1261872"/>
            <a:ext cx="3606698" cy="4663440"/>
          </a:xfrm>
          <a:prstGeom prst="roundRect">
            <a:avLst>
              <a:gd name="adj" fmla="val 4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2498" y="1261872"/>
            <a:ext cx="3606698"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9658" y="1399032"/>
            <a:ext cx="3378098" cy="640080"/>
          </a:xfrm>
          <a:prstGeom prst="rect">
            <a:avLst/>
          </a:prstGeom>
          <a:noFill/>
        </p:spPr>
        <p:txBody>
          <a:bodyPr wrap="square" anchor="t" lIns="0" rIns="0" tIns="0" bIns="0">
            <a:normAutofit/>
          </a:bodyPr>
          <a:lstStyle/>
          <a:p>
            <a:pPr algn="ctr">
              <a:lnSpc>
                <a:spcPct val="105000"/>
              </a:lnSpc>
              <a:spcBef>
                <a:spcPts val="0"/>
              </a:spcBef>
            </a:pPr>
            <a:r>
              <a:rPr sz="1400" b="1" i="0">
                <a:solidFill>
                  <a:srgbClr val="FFFFFF"/>
                </a:solidFill>
                <a:latin typeface="Calibri"/>
              </a:rPr>
              <a:t>GCCs HAVE
THE MANDATE</a:t>
            </a:r>
          </a:p>
        </p:txBody>
      </p:sp>
      <p:sp>
        <p:nvSpPr>
          <p:cNvPr id="14" name="Rectangle 13"/>
          <p:cNvSpPr/>
          <p:nvPr/>
        </p:nvSpPr>
        <p:spPr>
          <a:xfrm>
            <a:off x="4749698" y="2066544"/>
            <a:ext cx="2692298"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9658" y="2221992"/>
            <a:ext cx="3378098" cy="3611880"/>
          </a:xfrm>
          <a:prstGeom prst="rect">
            <a:avLst/>
          </a:prstGeom>
          <a:noFill/>
        </p:spPr>
        <p:txBody>
          <a:bodyPr wrap="square" anchor="t" lIns="0" rIns="0" tIns="0" bIns="0">
            <a:normAutofit/>
          </a:bodyPr>
          <a:lstStyle/>
          <a:p>
            <a:pPr algn="ctr">
              <a:lnSpc>
                <a:spcPct val="105000"/>
              </a:lnSpc>
              <a:spcBef>
                <a:spcPts val="0"/>
              </a:spcBef>
            </a:pPr>
            <a:r>
              <a:rPr sz="1100" b="0" i="0">
                <a:solidFill>
                  <a:srgbClr val="FFFFFF"/>
                </a:solidFill>
                <a:latin typeface="Calibri"/>
              </a:rPr>
              <a:t>1,700+ GCCs in India today
2,400+ by 2030
$64B+ annual market
AI delivery urgency
Q4 2026 board deadlines
AI spend doubling annually
Legacy stacks ready to modernize
BFSI · Healthcare · Manufacturing</a:t>
            </a:r>
          </a:p>
        </p:txBody>
      </p:sp>
      <p:sp>
        <p:nvSpPr>
          <p:cNvPr id="16" name="Rounded Rectangle 15"/>
          <p:cNvSpPr/>
          <p:nvPr/>
        </p:nvSpPr>
        <p:spPr>
          <a:xfrm>
            <a:off x="8036356" y="1261872"/>
            <a:ext cx="3606698" cy="466344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36356" y="1261872"/>
            <a:ext cx="3606698"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3516" y="1399032"/>
            <a:ext cx="3378098" cy="640080"/>
          </a:xfrm>
          <a:prstGeom prst="rect">
            <a:avLst/>
          </a:prstGeom>
          <a:noFill/>
        </p:spPr>
        <p:txBody>
          <a:bodyPr wrap="square" anchor="t" lIns="0" rIns="0" tIns="0" bIns="0">
            <a:normAutofit/>
          </a:bodyPr>
          <a:lstStyle/>
          <a:p>
            <a:pPr algn="ctr">
              <a:lnSpc>
                <a:spcPct val="105000"/>
              </a:lnSpc>
              <a:spcBef>
                <a:spcPts val="0"/>
              </a:spcBef>
            </a:pPr>
            <a:r>
              <a:rPr sz="1400" b="1" i="0">
                <a:solidFill>
                  <a:srgbClr val="FFB800"/>
                </a:solidFill>
                <a:latin typeface="Calibri"/>
              </a:rPr>
              <a:t>SRIKUMAR HAS
THE TRUST</a:t>
            </a:r>
          </a:p>
        </p:txBody>
      </p:sp>
      <p:sp>
        <p:nvSpPr>
          <p:cNvPr id="19" name="Rectangle 18"/>
          <p:cNvSpPr/>
          <p:nvPr/>
        </p:nvSpPr>
        <p:spPr>
          <a:xfrm>
            <a:off x="8493556" y="2066544"/>
            <a:ext cx="2692298" cy="36576"/>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3516" y="2221992"/>
            <a:ext cx="3378098" cy="3611880"/>
          </a:xfrm>
          <a:prstGeom prst="rect">
            <a:avLst/>
          </a:prstGeom>
          <a:noFill/>
        </p:spPr>
        <p:txBody>
          <a:bodyPr wrap="square" anchor="t" lIns="0" rIns="0" tIns="0" bIns="0">
            <a:normAutofit/>
          </a:bodyPr>
          <a:lstStyle/>
          <a:p>
            <a:pPr algn="ctr">
              <a:lnSpc>
                <a:spcPct val="105000"/>
              </a:lnSpc>
              <a:spcBef>
                <a:spcPts val="0"/>
              </a:spcBef>
            </a:pPr>
            <a:r>
              <a:rPr sz="1100" b="0" i="0">
                <a:solidFill>
                  <a:srgbClr val="E0F7F1"/>
                </a:solidFill>
                <a:latin typeface="Calibri"/>
              </a:rPr>
              <a:t>27 years · 5 industries
3 countries
IIT Madras + IIM Calcutta
3 years FPT GCC relationships
BLAAST Patent (IIT Tirupati)
USD 1M govt grant winner
Cross-industry peer credibility
Builder — not just an advisor</a:t>
            </a:r>
          </a:p>
        </p:txBody>
      </p:sp>
      <p:sp>
        <p:nvSpPr>
          <p:cNvPr id="21" name="Rectangle 20"/>
          <p:cNvSpPr/>
          <p:nvPr/>
        </p:nvSpPr>
        <p:spPr>
          <a:xfrm>
            <a:off x="548640" y="6080760"/>
            <a:ext cx="11094415" cy="41148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126480"/>
            <a:ext cx="10820095" cy="320040"/>
          </a:xfrm>
          <a:prstGeom prst="rect">
            <a:avLst/>
          </a:prstGeom>
          <a:noFill/>
        </p:spPr>
        <p:txBody>
          <a:bodyPr wrap="square" anchor="t" lIns="0" rIns="0" tIns="0" bIns="0">
            <a:normAutofit/>
          </a:bodyPr>
          <a:lstStyle/>
          <a:p>
            <a:pPr algn="ctr">
              <a:lnSpc>
                <a:spcPct val="105000"/>
              </a:lnSpc>
              <a:spcBef>
                <a:spcPts val="0"/>
              </a:spcBef>
            </a:pPr>
            <a:r>
              <a:rPr sz="1500" b="1" i="0">
                <a:solidFill>
                  <a:srgbClr val="0A1628"/>
                </a:solidFill>
                <a:latin typeface="Calibri"/>
              </a:rPr>
              <a:t>The only question is which GCC head to call first.</a:t>
            </a:r>
          </a:p>
        </p:txBody>
      </p:sp>
      <p:sp>
        <p:nvSpPr>
          <p:cNvPr id="23" name="TextBox 2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Srikumar V R · Ikigai Pro Report · FPT Software GCC · Jun 2026</a:t>
            </a:r>
          </a:p>
        </p:txBody>
      </p:sp>
      <p:sp>
        <p:nvSpPr>
          <p:cNvPr id="24" name="TextBox 2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