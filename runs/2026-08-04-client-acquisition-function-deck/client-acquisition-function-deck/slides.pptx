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247713502645c9" /><Relationship Type="http://schemas.openxmlformats.org/officeDocument/2006/relationships/extended-properties" Target="/docProps/app.xml" Id="R3643195c8ddb4d7c" /><Relationship Type="http://schemas.openxmlformats.org/officeDocument/2006/relationships/officeDocument" Target="/ppt/presentation.xml" Id="R77502a01ff4148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f564c5e7246f4"/>
  </p:sldMasterIdLst>
  <p:notesMasterIdLst>
    <p:notesMasterId xmlns:r="http://schemas.openxmlformats.org/officeDocument/2006/relationships" r:id="R65a5afa51e6b4160"/>
  </p:notesMasterIdLst>
  <p:sldIdLst>
    <p:sldId xmlns:r="http://schemas.openxmlformats.org/officeDocument/2006/relationships" id="256" r:id="R884db84c9c444dc1"/>
    <p:sldId xmlns:r="http://schemas.openxmlformats.org/officeDocument/2006/relationships" id="257" r:id="R53fca33e5bb040fc"/>
    <p:sldId xmlns:r="http://schemas.openxmlformats.org/officeDocument/2006/relationships" id="258" r:id="Rf363f28c15df404a"/>
    <p:sldId xmlns:r="http://schemas.openxmlformats.org/officeDocument/2006/relationships" id="259" r:id="Ra8c2cb99a83a4cf6"/>
    <p:sldId xmlns:r="http://schemas.openxmlformats.org/officeDocument/2006/relationships" id="260" r:id="Rd5416450d8454e3c"/>
    <p:sldId xmlns:r="http://schemas.openxmlformats.org/officeDocument/2006/relationships" id="261" r:id="R6841a5c44efe4900"/>
    <p:sldId xmlns:r="http://schemas.openxmlformats.org/officeDocument/2006/relationships" id="262" r:id="Rbe1c9282815642a1"/>
    <p:sldId xmlns:r="http://schemas.openxmlformats.org/officeDocument/2006/relationships" id="263" r:id="Rbc067ecf2eec45c4"/>
    <p:sldId xmlns:r="http://schemas.openxmlformats.org/officeDocument/2006/relationships" id="264" r:id="R9632895264834b7e"/>
    <p:sldId xmlns:r="http://schemas.openxmlformats.org/officeDocument/2006/relationships" id="265" r:id="R4a5716e93e1e45cf"/>
    <p:sldId xmlns:r="http://schemas.openxmlformats.org/officeDocument/2006/relationships" id="266" r:id="Rd3dcd39bce5f4da0"/>
    <p:sldId xmlns:r="http://schemas.openxmlformats.org/officeDocument/2006/relationships" id="267" r:id="Re6b3c6f685c1411e"/>
    <p:sldId xmlns:r="http://schemas.openxmlformats.org/officeDocument/2006/relationships" id="268" r:id="R256b2f8e68af4b65"/>
    <p:sldId xmlns:r="http://schemas.openxmlformats.org/officeDocument/2006/relationships" id="269" r:id="Rbe92c602830e44b5"/>
    <p:sldId xmlns:r="http://schemas.openxmlformats.org/officeDocument/2006/relationships" id="270" r:id="Ra8c34c702e864447"/>
    <p:sldId xmlns:r="http://schemas.openxmlformats.org/officeDocument/2006/relationships" id="271" r:id="R33dce92a54974022"/>
    <p:sldId xmlns:r="http://schemas.openxmlformats.org/officeDocument/2006/relationships" id="272" r:id="Rcdb1dd502b634a44"/>
    <p:sldId xmlns:r="http://schemas.openxmlformats.org/officeDocument/2006/relationships" id="273" r:id="R94c71f9ad31e4968"/>
    <p:sldId xmlns:r="http://schemas.openxmlformats.org/officeDocument/2006/relationships" id="274" r:id="R4f25d593689945e3"/>
    <p:sldId xmlns:r="http://schemas.openxmlformats.org/officeDocument/2006/relationships" id="275" r:id="Ra04e424e12ca4ae9"/>
    <p:sldId xmlns:r="http://schemas.openxmlformats.org/officeDocument/2006/relationships" id="276" r:id="Rf506e504a4e24346"/>
    <p:sldId xmlns:r="http://schemas.openxmlformats.org/officeDocument/2006/relationships" id="277" r:id="Rd6d3b96703694220"/>
    <p:sldId xmlns:r="http://schemas.openxmlformats.org/officeDocument/2006/relationships" id="278" r:id="R1d3aa31e12ce43e2"/>
    <p:sldId xmlns:r="http://schemas.openxmlformats.org/officeDocument/2006/relationships" id="279" r:id="R64168e4600924aae"/>
    <p:sldId xmlns:r="http://schemas.openxmlformats.org/officeDocument/2006/relationships" id="280" r:id="Re8248f398e654177"/>
    <p:sldId xmlns:r="http://schemas.openxmlformats.org/officeDocument/2006/relationships" id="281" r:id="R3092486a551e4b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8115a09f44cd3" /><Relationship Type="http://schemas.openxmlformats.org/officeDocument/2006/relationships/slideMaster" Target="/ppt/slideMasters/slideMaster1.xml" Id="Reebf564c5e7246f4" /><Relationship Type="http://schemas.openxmlformats.org/officeDocument/2006/relationships/notesMaster" Target="/ppt/notesMasters/notesMaster1.xml" Id="R65a5afa51e6b4160" /><Relationship Type="http://schemas.openxmlformats.org/officeDocument/2006/relationships/presProps" Target="/ppt/presProps.xml" Id="Rc3885b1277324af6" /><Relationship Type="http://schemas.openxmlformats.org/officeDocument/2006/relationships/tableStyles" Target="/ppt/tableStyles.xml" Id="Re7046ce1b1024108" /><Relationship Type="http://schemas.openxmlformats.org/officeDocument/2006/relationships/slide" Target="/ppt/slides/slide1.xml" Id="R884db84c9c444dc1" /><Relationship Type="http://schemas.openxmlformats.org/officeDocument/2006/relationships/slide" Target="/ppt/slides/slide2.xml" Id="R53fca33e5bb040fc" /><Relationship Type="http://schemas.openxmlformats.org/officeDocument/2006/relationships/slide" Target="/ppt/slides/slide3.xml" Id="Rf363f28c15df404a" /><Relationship Type="http://schemas.openxmlformats.org/officeDocument/2006/relationships/slide" Target="/ppt/slides/slide4.xml" Id="Ra8c2cb99a83a4cf6" /><Relationship Type="http://schemas.openxmlformats.org/officeDocument/2006/relationships/slide" Target="/ppt/slides/slide5.xml" Id="Rd5416450d8454e3c" /><Relationship Type="http://schemas.openxmlformats.org/officeDocument/2006/relationships/slide" Target="/ppt/slides/slide6.xml" Id="R6841a5c44efe4900" /><Relationship Type="http://schemas.openxmlformats.org/officeDocument/2006/relationships/slide" Target="/ppt/slides/slide7.xml" Id="Rbe1c9282815642a1" /><Relationship Type="http://schemas.openxmlformats.org/officeDocument/2006/relationships/slide" Target="/ppt/slides/slide8.xml" Id="Rbc067ecf2eec45c4" /><Relationship Type="http://schemas.openxmlformats.org/officeDocument/2006/relationships/slide" Target="/ppt/slides/slide9.xml" Id="R9632895264834b7e" /><Relationship Type="http://schemas.openxmlformats.org/officeDocument/2006/relationships/slide" Target="/ppt/slides/slide10.xml" Id="R4a5716e93e1e45cf" /><Relationship Type="http://schemas.openxmlformats.org/officeDocument/2006/relationships/slide" Target="/ppt/slides/slide11.xml" Id="Rd3dcd39bce5f4da0" /><Relationship Type="http://schemas.openxmlformats.org/officeDocument/2006/relationships/slide" Target="/ppt/slides/slide12.xml" Id="Re6b3c6f685c1411e" /><Relationship Type="http://schemas.openxmlformats.org/officeDocument/2006/relationships/slide" Target="/ppt/slides/slide13.xml" Id="R256b2f8e68af4b65" /><Relationship Type="http://schemas.openxmlformats.org/officeDocument/2006/relationships/slide" Target="/ppt/slides/slide14.xml" Id="Rbe92c602830e44b5" /><Relationship Type="http://schemas.openxmlformats.org/officeDocument/2006/relationships/slide" Target="/ppt/slides/slide15.xml" Id="Ra8c34c702e864447" /><Relationship Type="http://schemas.openxmlformats.org/officeDocument/2006/relationships/slide" Target="/ppt/slides/slide16.xml" Id="R33dce92a54974022" /><Relationship Type="http://schemas.openxmlformats.org/officeDocument/2006/relationships/slide" Target="/ppt/slides/slide17.xml" Id="Rcdb1dd502b634a44" /><Relationship Type="http://schemas.openxmlformats.org/officeDocument/2006/relationships/slide" Target="/ppt/slides/slide18.xml" Id="R94c71f9ad31e4968" /><Relationship Type="http://schemas.openxmlformats.org/officeDocument/2006/relationships/slide" Target="/ppt/slides/slide19.xml" Id="R4f25d593689945e3" /><Relationship Type="http://schemas.openxmlformats.org/officeDocument/2006/relationships/slide" Target="/ppt/slides/slide20.xml" Id="Ra04e424e12ca4ae9" /><Relationship Type="http://schemas.openxmlformats.org/officeDocument/2006/relationships/slide" Target="/ppt/slides/slide21.xml" Id="Rf506e504a4e24346" /><Relationship Type="http://schemas.openxmlformats.org/officeDocument/2006/relationships/slide" Target="/ppt/slides/slide22.xml" Id="Rd6d3b96703694220" /><Relationship Type="http://schemas.openxmlformats.org/officeDocument/2006/relationships/slide" Target="/ppt/slides/slide23.xml" Id="R1d3aa31e12ce43e2" /><Relationship Type="http://schemas.openxmlformats.org/officeDocument/2006/relationships/slide" Target="/ppt/slides/slide24.xml" Id="R64168e4600924aae" /><Relationship Type="http://schemas.openxmlformats.org/officeDocument/2006/relationships/slide" Target="/ppt/slides/slide25.xml" Id="Re8248f398e654177" /><Relationship Type="http://schemas.openxmlformats.org/officeDocument/2006/relationships/slide" Target="/ppt/slides/slide26.xml" Id="R3092486a551e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792ae89fb5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87d34288d2453a" /><Relationship Type="http://schemas.openxmlformats.org/officeDocument/2006/relationships/notesMaster" Target="/ppt/notesMasters/notesMaster1.xml" Id="R2f5d705f20d442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ab125c55af46be" /><Relationship Type="http://schemas.openxmlformats.org/officeDocument/2006/relationships/notesMaster" Target="/ppt/notesMasters/notesMaster1.xml" Id="Rd7bb8c960b9440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c006b2903f47e0" /><Relationship Type="http://schemas.openxmlformats.org/officeDocument/2006/relationships/notesMaster" Target="/ppt/notesMasters/notesMaster1.xml" Id="R94d99a6b11bb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aaa48291b44cb0" /><Relationship Type="http://schemas.openxmlformats.org/officeDocument/2006/relationships/notesMaster" Target="/ppt/notesMasters/notesMaster1.xml" Id="Rf4cc9d9c843540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e3f1a03174b0c" /><Relationship Type="http://schemas.openxmlformats.org/officeDocument/2006/relationships/notesMaster" Target="/ppt/notesMasters/notesMaster1.xml" Id="R30d5b27e7d674d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6f099683b64fe6" /><Relationship Type="http://schemas.openxmlformats.org/officeDocument/2006/relationships/notesMaster" Target="/ppt/notesMasters/notesMaster1.xml" Id="R6160a91ee6ea4b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d5d5b50aee4284" /><Relationship Type="http://schemas.openxmlformats.org/officeDocument/2006/relationships/notesMaster" Target="/ppt/notesMasters/notesMaster1.xml" Id="R48ec4dedaf0843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0af38fbdfd43e9" /><Relationship Type="http://schemas.openxmlformats.org/officeDocument/2006/relationships/notesMaster" Target="/ppt/notesMasters/notesMaster1.xml" Id="Rde40fae7626d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ba6eaf90b84ae4" /><Relationship Type="http://schemas.openxmlformats.org/officeDocument/2006/relationships/notesMaster" Target="/ppt/notesMasters/notesMaster1.xml" Id="Rb1b04d91c5874e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656a904bbd4d78" /><Relationship Type="http://schemas.openxmlformats.org/officeDocument/2006/relationships/notesMaster" Target="/ppt/notesMasters/notesMaster1.xml" Id="Rba97ff48a7de42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ca939a63d94f03" /><Relationship Type="http://schemas.openxmlformats.org/officeDocument/2006/relationships/notesMaster" Target="/ppt/notesMasters/notesMaster1.xml" Id="R9ae7538d30b64a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5664f6effc4b0a" /><Relationship Type="http://schemas.openxmlformats.org/officeDocument/2006/relationships/notesMaster" Target="/ppt/notesMasters/notesMaster1.xml" Id="R8f56904faa5942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2a1210526b472a" /><Relationship Type="http://schemas.openxmlformats.org/officeDocument/2006/relationships/notesMaster" Target="/ppt/notesMasters/notesMaster1.xml" Id="R2bb222a180b747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4c2c6727b147a0" /><Relationship Type="http://schemas.openxmlformats.org/officeDocument/2006/relationships/notesMaster" Target="/ppt/notesMasters/notesMaster1.xml" Id="Rab508f9ba5e34c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f8ca9607e641be" /><Relationship Type="http://schemas.openxmlformats.org/officeDocument/2006/relationships/notesMaster" Target="/ppt/notesMasters/notesMaster1.xml" Id="Ra8f52c70a6dc49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02d7b5b70e4d68" /><Relationship Type="http://schemas.openxmlformats.org/officeDocument/2006/relationships/notesMaster" Target="/ppt/notesMasters/notesMaster1.xml" Id="R0709e7292bb74b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bdd61a550d4076" /><Relationship Type="http://schemas.openxmlformats.org/officeDocument/2006/relationships/notesMaster" Target="/ppt/notesMasters/notesMaster1.xml" Id="R33bd8ef5bdb342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14ac9c5cd445a3" /><Relationship Type="http://schemas.openxmlformats.org/officeDocument/2006/relationships/notesMaster" Target="/ppt/notesMasters/notesMaster1.xml" Id="R78d5ff98e4694c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ff598a96ab4639" /><Relationship Type="http://schemas.openxmlformats.org/officeDocument/2006/relationships/notesMaster" Target="/ppt/notesMasters/notesMaster1.xml" Id="Ra978f76319114a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fba5a01c0a4e4e" /><Relationship Type="http://schemas.openxmlformats.org/officeDocument/2006/relationships/notesMaster" Target="/ppt/notesMasters/notesMaster1.xml" Id="Rd677612662f843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0571ebf8f64242" /><Relationship Type="http://schemas.openxmlformats.org/officeDocument/2006/relationships/notesMaster" Target="/ppt/notesMasters/notesMaster1.xml" Id="R56ed94ddafc448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2f9a842e574b0d" /><Relationship Type="http://schemas.openxmlformats.org/officeDocument/2006/relationships/notesMaster" Target="/ppt/notesMasters/notesMaster1.xml" Id="R8226a3ca627a4b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ca59f8d1b64d46" /><Relationship Type="http://schemas.openxmlformats.org/officeDocument/2006/relationships/notesMaster" Target="/ppt/notesMasters/notesMaster1.xml" Id="R77976e3ca4344e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7fc99813354bba" /><Relationship Type="http://schemas.openxmlformats.org/officeDocument/2006/relationships/notesMaster" Target="/ppt/notesMasters/notesMaster1.xml" Id="Rb38ceb135b654d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635a77b2984d78" /><Relationship Type="http://schemas.openxmlformats.org/officeDocument/2006/relationships/notesMaster" Target="/ppt/notesMasters/notesMaster1.xml" Id="Re6cd8dd464d240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9947e55dce4e0e" /><Relationship Type="http://schemas.openxmlformats.org/officeDocument/2006/relationships/notesMaster" Target="/ppt/notesMasters/notesMaster1.xml" Id="Rf3275f7460ad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Cover. Ask corrected to canonical ₹55 Cr blended (was ₹25 Cr in source PDF/script) — see slide 2 correction card.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p1-2 (Exec Summary). CORRECTION: ask corrected ₹25 Cr → ₹55 Cr blended per canonical-numbers.md, stated openly.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p2 (Squeeze Zone infographic) + p3 (unstructured traffic illustration).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p4 (Architecture of Autonomy — 3D Systolic Tensor Cube) — image-conditioned regeneration of the isometric cube + flat-GPU comparison, text-free.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p5 (DGrid Alpha Combo-Die Deconstruction) — image-conditioned regeneration of the exploded six-layer chip stack, text-free.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p6 (5-D framework) + docx methodology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p7 (segment matrix table) + sa-media/image8.png radar chart (Aftermarket Retrofit dominant area) as directional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p8 + illustration: constrained-zone UGV with scan cone.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p9 + illustration: truck with sensor-coverage cones.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p10 + illustration: factory gantry with chassis on the assembly track.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p11 + real press photos (Aurora BusinessWire/aurora.tech, Kodiak Gen5 kodiak.ai, Gatik x NVIDIA x Isuzu gatik.ai, DeepWay Xingtu sustainabletruckvan.com) via You.com Level 2 livecrawl — real competitor evidence, not generated.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p12 + real company logos (Aurora, Kodiak, Gatik, DeepWay) via You.com Level 2 livecrawl, sourced from official sites/Crunchbase.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p13 + real company logos (Netrasemi, Mindgrove, Agnit) via You.com Level 2 livecrawl, sourced from official sites/LinkedIn/Crunchbase. External competitor claims as supplied — not covered by the DeepGrid canonical-numbers contract, which governs DeepGrid's own figures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p14 + real company logos (Minus Zero, Swaayatt Robots, RoshAI) via You.com Level 2 livecrawl, sourced from Crunchbase.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p15 + real competitor logo accents (Minus Zero, Swaayatt, RoshAI, Mindgrove, Netrasemi) via You.com Level 2 livecrawl.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p16. "₹1 Cr defense revenue" retained — consistent with prior reviewed DeepGrid IM rebuild (2026-07-16), not a canonical-numbers.md conflict.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p17. CORRECTION: ask corrected ₹25 Cr -&gt; ₹55 Cr blended, consistent with slide 2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p19. CORRECTION: mandate dates corrected April/Oct 2026 draft -&gt; Oct 2027/Jan 2028 operative, consistent with the DeepGrid IM rebuild precedent (2026-07-16) and canonical-numbers.md Flag #1.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p20 + illustration: truck-to-satellite/cloud tracking uplink.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p21. CORRECTIONS: die cost ~$3 -&gt; $3.876 (&lt;$4, banned figure corrected); 84% margin claim replaced with shown math per canonical-numbers.md banned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p16 (Break-Even Fulcrum). MARQUEE CORRECTION: $8M NRE / 3,636-unit break-even is the exact figure already retracted in canonical-numbers.md — replaced with $3.17M NRE / ~174,908 chips / FY2032, disclosed openly per storyboard-method.md precedent.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p23. REPLACED: the source script's Year1-3 $ARR/units/CAC table is not in canonical-numbers.md and does not reconcile to the six-year Rs Cr P&amp;L; substituted the canonical six-year revenue+margin trajectory, labeled management/unaudited per Flag #2.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p15/24 + sa-media/image inspiration (data moat framing). Tier pricing standardized to annual figures (matches docx and script; source PDF showed a mixed monthly/annual table for the same tiers).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p18 (Leveraging Sovereign Capital Subsidies — diamond hub + 3 shields) — image-conditioned regeneration, text-free.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p26 (Thesis close) + sa-media/image15.png diamond-chip motif inspiration. KPI strip uses corrected ₹55 Cr ask, canonical capital-to-date and offered-stake derivation.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ec7d6652648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cfd9a4f554f23" /><Relationship Type="http://schemas.openxmlformats.org/officeDocument/2006/relationships/slideLayout" Target="/ppt/slideLayouts/slideLayout1.xml" Id="Re6d35cff463d45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35cff463d45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95e17ce1b4c17" /><Relationship Type="http://schemas.openxmlformats.org/officeDocument/2006/relationships/image" Target="/ppt/media/image.png" Id="R3c0e52fe13db4dd1" /><Relationship Type="http://schemas.openxmlformats.org/officeDocument/2006/relationships/notesSlide" Target="/ppt/notesSlides/notesSlide1.xml" Id="R1e9d498ef4914e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b0ec40eb042aa" /><Relationship Type="http://schemas.openxmlformats.org/officeDocument/2006/relationships/notesSlide" Target="/ppt/notesSlides/notesSlide2.xml" Id="R4aac2c576146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c33d5eb3e4a8e" /><Relationship Type="http://schemas.openxmlformats.org/officeDocument/2006/relationships/image" Target="/ppt/media/image2.png" Id="R5cf9c112c0f34866" /><Relationship Type="http://schemas.openxmlformats.org/officeDocument/2006/relationships/notesSlide" Target="/ppt/notesSlides/notesSlide3.xml" Id="R28fef8406e814c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f5944da1f42d9" /><Relationship Type="http://schemas.openxmlformats.org/officeDocument/2006/relationships/image" Target="/ppt/media/image3.png" Id="Rdc53af9cc32848fb" /><Relationship Type="http://schemas.openxmlformats.org/officeDocument/2006/relationships/notesSlide" Target="/ppt/notesSlides/notesSlide4.xml" Id="Rdb100e328e19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0ed6879b24d6d" /><Relationship Type="http://schemas.openxmlformats.org/officeDocument/2006/relationships/image" Target="/ppt/media/image4.png" Id="R6e5c3ebd6a584df5" /><Relationship Type="http://schemas.openxmlformats.org/officeDocument/2006/relationships/notesSlide" Target="/ppt/notesSlides/notesSlide5.xml" Id="R314ed5dba38a4c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38ecc3dae42a2" /><Relationship Type="http://schemas.openxmlformats.org/officeDocument/2006/relationships/notesSlide" Target="/ppt/notesSlides/notesSlide6.xml" Id="R3a32232c22324c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8ab0c32984792" /><Relationship Type="http://schemas.openxmlformats.org/officeDocument/2006/relationships/notesSlide" Target="/ppt/notesSlides/notesSlide7.xml" Id="Rf2369d9f3c1a4e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959a9b9484a09" /><Relationship Type="http://schemas.openxmlformats.org/officeDocument/2006/relationships/image" Target="/ppt/media/image.jpeg" Id="R408a749639694c21" /><Relationship Type="http://schemas.openxmlformats.org/officeDocument/2006/relationships/notesSlide" Target="/ppt/notesSlides/notesSlide8.xml" Id="R1ff8d0d5d4e443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2024f43f34453" /><Relationship Type="http://schemas.openxmlformats.org/officeDocument/2006/relationships/image" Target="/ppt/media/image5.png" Id="Re38715e6078649e4" /><Relationship Type="http://schemas.openxmlformats.org/officeDocument/2006/relationships/notesSlide" Target="/ppt/notesSlides/notesSlide9.xml" Id="R8420f80890d64d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76dadaf494351" /><Relationship Type="http://schemas.openxmlformats.org/officeDocument/2006/relationships/image" Target="/ppt/media/image2.jpeg" Id="Rc3290aec515e40dc" /><Relationship Type="http://schemas.openxmlformats.org/officeDocument/2006/relationships/notesSlide" Target="/ppt/notesSlides/notesSlide10.xml" Id="R154fe46a88d549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78442a90b43fe" /><Relationship Type="http://schemas.openxmlformats.org/officeDocument/2006/relationships/image" Target="/ppt/media/image6.png" Id="R373f7f86e5d643cb" /><Relationship Type="http://schemas.openxmlformats.org/officeDocument/2006/relationships/image" Target="/ppt/media/image7.png" Id="Ra93c1deeeb7d4e18" /><Relationship Type="http://schemas.openxmlformats.org/officeDocument/2006/relationships/image" Target="/ppt/media/image8.png" Id="R83677a28374a4729" /><Relationship Type="http://schemas.openxmlformats.org/officeDocument/2006/relationships/image" Target="/ppt/media/image9.png" Id="R3f9d94ed172f4242" /><Relationship Type="http://schemas.openxmlformats.org/officeDocument/2006/relationships/notesSlide" Target="/ppt/notesSlides/notesSlide11.xml" Id="Race4332216aa45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8729efa040ce" /><Relationship Type="http://schemas.openxmlformats.org/officeDocument/2006/relationships/image" Target="/ppt/media/image10.png" Id="Rdd76fcdc2d224ba1" /><Relationship Type="http://schemas.openxmlformats.org/officeDocument/2006/relationships/image" Target="/ppt/media/image11.png" Id="R43d983e331f34ab3" /><Relationship Type="http://schemas.openxmlformats.org/officeDocument/2006/relationships/image" Target="/ppt/media/image12.png" Id="Rbd5568d2078a4e0d" /><Relationship Type="http://schemas.openxmlformats.org/officeDocument/2006/relationships/image" Target="/ppt/media/image13.png" Id="R92a6fcebcc174663" /><Relationship Type="http://schemas.openxmlformats.org/officeDocument/2006/relationships/notesSlide" Target="/ppt/notesSlides/notesSlide12.xml" Id="R7d8f70d11e3d44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2975e6c045b2" /><Relationship Type="http://schemas.openxmlformats.org/officeDocument/2006/relationships/image" Target="/ppt/media/image14.png" Id="Rcc396e8c2ac84f72" /><Relationship Type="http://schemas.openxmlformats.org/officeDocument/2006/relationships/image" Target="/ppt/media/image15.png" Id="Rd2c8406d29584e29" /><Relationship Type="http://schemas.openxmlformats.org/officeDocument/2006/relationships/image" Target="/ppt/media/image16.png" Id="R71f7756a4c0e4fa1" /><Relationship Type="http://schemas.openxmlformats.org/officeDocument/2006/relationships/notesSlide" Target="/ppt/notesSlides/notesSlide13.xml" Id="R8c16e1b72f684c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2465e64454b87" /><Relationship Type="http://schemas.openxmlformats.org/officeDocument/2006/relationships/image" Target="/ppt/media/image17.png" Id="R4c9e308bfcd441f1" /><Relationship Type="http://schemas.openxmlformats.org/officeDocument/2006/relationships/image" Target="/ppt/media/image18.png" Id="Rc427f148bf9b4b8f" /><Relationship Type="http://schemas.openxmlformats.org/officeDocument/2006/relationships/image" Target="/ppt/media/image19.png" Id="R637ce03279454f13" /><Relationship Type="http://schemas.openxmlformats.org/officeDocument/2006/relationships/notesSlide" Target="/ppt/notesSlides/notesSlide14.xml" Id="Rfda4286ccb5c4a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42e21e81b48ee" /><Relationship Type="http://schemas.openxmlformats.org/officeDocument/2006/relationships/image" Target="/ppt/media/image20.png" Id="R60037ef6d5c345f5" /><Relationship Type="http://schemas.openxmlformats.org/officeDocument/2006/relationships/image" Target="/ppt/media/image21.png" Id="R1c04b4a5461142eb" /><Relationship Type="http://schemas.openxmlformats.org/officeDocument/2006/relationships/image" Target="/ppt/media/image22.png" Id="Rc41ed22cdcc24db1" /><Relationship Type="http://schemas.openxmlformats.org/officeDocument/2006/relationships/image" Target="/ppt/media/image23.png" Id="R60a4440afe3c4cc0" /><Relationship Type="http://schemas.openxmlformats.org/officeDocument/2006/relationships/image" Target="/ppt/media/image24.png" Id="R372df2238100408d" /><Relationship Type="http://schemas.openxmlformats.org/officeDocument/2006/relationships/notesSlide" Target="/ppt/notesSlides/notesSlide15.xml" Id="Rd25b9d6a6bc148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86de36de14d0a" /><Relationship Type="http://schemas.openxmlformats.org/officeDocument/2006/relationships/image" Target="/ppt/media/image3.jpeg" Id="R235a5459fca7484d" /><Relationship Type="http://schemas.openxmlformats.org/officeDocument/2006/relationships/notesSlide" Target="/ppt/notesSlides/notesSlide16.xml" Id="R07828f1990064b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d1c820a554017" /><Relationship Type="http://schemas.openxmlformats.org/officeDocument/2006/relationships/image" Target="/ppt/media/image4.jpeg" Id="R95173daa7b474973" /><Relationship Type="http://schemas.openxmlformats.org/officeDocument/2006/relationships/notesSlide" Target="/ppt/notesSlides/notesSlide17.xml" Id="R4228a75a409a4e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b9749b781400e" /><Relationship Type="http://schemas.openxmlformats.org/officeDocument/2006/relationships/image" Target="/ppt/media/image5.jpeg" Id="Rd3bd5a3f488d41b3" /><Relationship Type="http://schemas.openxmlformats.org/officeDocument/2006/relationships/notesSlide" Target="/ppt/notesSlides/notesSlide18.xml" Id="Rfbd713e756d040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b2bdb4eb246ab" /><Relationship Type="http://schemas.openxmlformats.org/officeDocument/2006/relationships/notesSlide" Target="/ppt/notesSlides/notesSlide19.xml" Id="Rd6d55ce1f43241b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eac7bc9d8492b" /><Relationship Type="http://schemas.openxmlformats.org/officeDocument/2006/relationships/image" Target="/ppt/media/image25.png" Id="Rd9240229af544e60" /><Relationship Type="http://schemas.openxmlformats.org/officeDocument/2006/relationships/notesSlide" Target="/ppt/notesSlides/notesSlide20.xml" Id="Rebe3dfd6757f42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4c7b85ce9405a" /><Relationship Type="http://schemas.openxmlformats.org/officeDocument/2006/relationships/image" Target="/ppt/media/image6.jpeg" Id="R7a533fec7e114bb1" /><Relationship Type="http://schemas.openxmlformats.org/officeDocument/2006/relationships/notesSlide" Target="/ppt/notesSlides/notesSlide21.xml" Id="Re2f84eb9b88545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3b874fba04eb2" /><Relationship Type="http://schemas.openxmlformats.org/officeDocument/2006/relationships/notesSlide" Target="/ppt/notesSlides/notesSlide22.xml" Id="Rfff55886193b4e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0078c24eb443a" /><Relationship Type="http://schemas.openxmlformats.org/officeDocument/2006/relationships/notesSlide" Target="/ppt/notesSlides/notesSlide23.xml" Id="Rbb08c211805b4e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8ce8353b94c98" /><Relationship Type="http://schemas.openxmlformats.org/officeDocument/2006/relationships/notesSlide" Target="/ppt/notesSlides/notesSlide24.xml" Id="R1fcadf62a59d483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f46c0b0c6451b" /><Relationship Type="http://schemas.openxmlformats.org/officeDocument/2006/relationships/image" Target="/ppt/media/image7.jpeg" Id="R05f8682bbeb64b89" /><Relationship Type="http://schemas.openxmlformats.org/officeDocument/2006/relationships/notesSlide" Target="/ppt/notesSlides/notesSlide25.xml" Id="R64852015f7ee488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c9b9dd6604fd2" /><Relationship Type="http://schemas.openxmlformats.org/officeDocument/2006/relationships/image" Target="/ppt/media/image26.png" Id="Rbcf4d1a446784044" /><Relationship Type="http://schemas.openxmlformats.org/officeDocument/2006/relationships/notesSlide" Target="/ppt/notesSlides/notesSlide26.xml" Id="R3309239297ff4c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9D9F7E-71E2-40FD-B4FD-CCC2DEFC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9F64F-7C7F-40A9-97AF-54CDCD0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D7143-CB7E-433F-B209-1DC58A0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e52fe13db4dd1"/>
          <a:srcRect xmlns:a="http://schemas.openxmlformats.org/drawingml/2006/main" l="3580" t="0" r="3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28600"/>
            <a:ext cx="55245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EBB2E-E4B5-46EF-A929-28DCD63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66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PRE-SERIES A INVESTOR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B4367-8D3A-4C7F-B568-6B84B69B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4295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Commercializing Vertically Integrated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Edge-AI Silicon for Non-Discretionary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Autonomy Mandates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46BD2-BA35-4485-B237-BA41B56C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23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Bypassing Western merchant silicon to deliver compliant commercial</a:t>
            </a:r>
          </a:p>
          <a:p xmlns:a="http://schemas.openxmlformats.org/drawingml/2006/main">
            <a:pPr algn="l">
              <a:defRPr sz="1125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vehicle safety at a 3x to 7x cost reduction.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782DD-4D61-46C3-8667-518C645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INCUBATION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80F43-D982-487F-86D3-1A818B6E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T-Hub Phase 2, Hyderabad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A0BDB-A65A-40FB-843A-7F455D2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STRATEGIC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92C2A-0415-4D3A-AAEB-029CA59E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Demystifying the Ideal Customer Profile (ICP) and executing a phased</a:t>
            </a:r>
          </a:p>
          <a:p xmlns:a="http://schemas.openxmlformats.org/drawingml/2006/main">
            <a:pPr algn="l">
              <a:defRPr sz="900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Go-To-Market strategy with no existing customer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CBFFF-6269-4C2E-ABFF-5B123D0D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BF3E4-A252-44DC-8758-46F95A89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AE264-B95B-4B8B-884B-5D0974B6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76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₹55 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42407-FB90-4FD8-A407-E3C9CEF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PRE-SERIES A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08956-B01C-4E30-956C-6B8DDFB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2247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Blended · ≈ $4.79M at ₹94/USD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22A6C-2EA6-4717-86B7-BB5BF285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5E7C4-F360-42A2-A5CD-044C64FB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2476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A9396"/>
                </a:solidFill>
                <a:latin typeface="Georgia"/>
                <a:ea typeface="Georgia"/>
                <a:cs typeface="Georgia"/>
              </a:defRPr>
            </a:pPr>
            <a:r>
              <a:t>3–7×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84707-DD86-41D5-8455-C450EF13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1500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COST REDUCTION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EEEF1-9938-440C-A6DB-ECA9247C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24550"/>
            <a:ext cx="2247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vs. imported ADAS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60CAB-1116-44B0-A560-397D7E8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339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D82F5-2B29-4A18-94DC-B608505B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43500"/>
            <a:ext cx="2476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DB4D4"/>
                </a:solidFill>
                <a:latin typeface="Georgia"/>
                <a:ea typeface="Georgia"/>
                <a:cs typeface="Georgia"/>
              </a:defRPr>
            </a:pPr>
            <a:r>
              <a:t>39.3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D376E-73AA-4A5C-A695-98770C3E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1500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TOPS INT8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98248-B618-4D47-A4AF-D81690D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924550"/>
            <a:ext cx="2247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64×512 MAC lattice, 600MHz ×2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84267-8283-4D2E-9842-B8F606D0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33950"/>
            <a:ext cx="3086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03546-A03B-4295-B45E-3769FCFE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43500"/>
            <a:ext cx="3086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₹1,387.95 Cr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8B62E-5D3C-489E-8913-D62087A9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150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FY32 REVENUE (MODEL)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FE8061-F136-4892-86DE-8B397EF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9245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Management projection, unaudited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861ADF-FB54-458A-AA65-1CA64FD0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C7030-5547-41ED-83EC-C33449D8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91392-9F9C-4F5D-83F6-398C508B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4464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BA997-4CD3-4997-8097-146DFF0E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3CB23-94CE-470B-8116-01996FD6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D407C-1C93-4B03-BD08-F3EB8CFC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Bridging the Valley of Death — FPGA Prototype to Custom ASIC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47309-E6BC-40EC-AAC8-1FDB9062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5D1F0-6CF4-48A4-AD9D-3799AF3C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CDF6F-842A-4FC9-87A9-D8C187D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42ACE-86A6-401E-9CA1-7966B97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D1D5C-E54F-4694-B937-0E05D521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AB1D5-2852-4431-94A1-C334DBFE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19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DFA9E-02A7-4C3E-9F18-883D0FEE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A0827-EF7A-47AD-B766-E8DA638F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technical reality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31A4E-3632-4D61-B3FC-62E65D1A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238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has validated its custom 39.3 TOPS INT8 edge-AI processor architecture on FPGAs — algorithmic efficacy proven, not simulated.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45508-3BE7-4A07-96EA-EAE5A232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619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4021C-1251-426C-AB2A-7B8EDE62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C080C-38A1-4A2D-B235-0DC01DB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production bottleneck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EB2BD-4B19-4E6D-AEAD-4EBDE5E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238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FPGA boards are physically too large, run hot, and cost ~₹35,000 (~$420) per unit — uneconomic at any commercial volume.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67FAB-3B3D-4484-AABB-348A0E1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540A0-6017-4103-A4CC-2B715572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AE9AC-9B71-4F4D-B0D7-CB372884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silicon destination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86214-A233-43AC-8F6D-0096B25E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Custom 28nm ASICs cut die cost to $3.876 at scale (&lt;$4) and total board-level BOM to ~$30.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F9EC8-181C-40A4-873E-E0953A62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F59BA-59A5-429E-B5EF-8D44DEF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3BE1E-2E94-4FEF-BF24-B3D052B4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GTM mandate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8820E-8AE1-4385-8145-7B5AC711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has no existing commercial automotive customers and cannot wait for 4-year OEM validation cycles. The commercial roadmap is sequenced through dual-use defense wedges (Months 0–6) and aftermarket retrofit mandates (Months 6–18) before OEM line-fit (Months 18–36) — see slides 16–18.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CBF0F-E2EF-44EB-ABB9-8268F430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9E1E9-0F3B-426C-BD7E-D6331633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06A29-3E53-4313-B9F4-2021C6EF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⚠  A correction we are making to our own materials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D63DF-A716-42A1-9D1B-1BCCD265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108966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Earlier versions of this briefing cited a ₹25 Crore (~$3M) Pre-Series A ask. The reconciled Use-of-Funds model raises ₹45 Cr equity (CCPS) + ₹10 Cr CGTMSE-backed debt = ₹55 Cr blended (≈ $4.79M at ₹94/USD). We present the reconciled ask because it is the figure the funded plan — tape-out NRE, EDA licenses, MPW shuttle — actually builds to. See slide 22 for the matching NRE correction.</a:t>
            </a:r>
          </a:p>
        </p:txBody>
      </p:sp>
    </p:spTree>
    <p:extLst>
      <p:ext uri="{BB962C8B-B14F-4D97-AF65-F5344CB8AC3E}">
        <p14:creationId xmlns:p14="http://schemas.microsoft.com/office/powerpoint/2010/main" val="1994692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3BB0D-535E-43F6-A70F-6F5742BF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2AE62-9E8A-4E1C-8B7A-D396DB06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THE CORE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BAB9C-39BE-4691-805B-6607E476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Hardware Squeeze Zone Traps Every Pure-Play AI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54314-93A7-45AF-886C-7978CED2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DB81D-BCE2-451A-98AC-2FEC63A6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076A6-9AF0-4A28-90D5-4C341086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97682-BBCA-483A-A857-57611956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F7FE0-EFDA-4475-A1A9-5FD948E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EADAE-6C2D-45CF-8E38-ECD81736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238500" cy="12382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0B2B1-E2AC-4E01-A21C-30CCD8BE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44B56-A9C2-4C5C-A5F2-DEDE308A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300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Pure-Play AI Software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0A391-FBDC-4215-99CA-191E01B3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3009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Advanced AV/ADAS perception algorithms, no owned silicon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AC1C2-D1C9-474D-BB8D-2493A881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336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87912-ADF7-486D-8ABC-D3D9B2E8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12382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E4ACC-70EB-4C54-98D8-3D1CD1D5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69FAD-8DE5-4CE5-8AB0-94C39F3F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62150"/>
            <a:ext cx="300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Squeeze Zone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B40D6-6613-44B8-BE2E-2BE43D28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Dependency on third-party merchant silicon (NVIDIA/Ambarella) drives compute BOM past $6,000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ABF91-B39E-4EFA-86CB-ADF92C0C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CFB57-790E-466D-930E-B74B0C0C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3238500" cy="1238250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9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229A3-13CF-4D2F-B7A8-AA550DA2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8CADD-3F1F-49DB-B337-E155307F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300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22832-17A8-4B39-BDF0-CAA0B323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3009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 hardware costs restrict sales to high-end logistics networks in developed economies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B77E3-767D-4640-A9A2-9D3EA70A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60AF1-ABB4-4C10-B6DD-A8978BB4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D5306-22B6-4BB4-8FED-F77CB0B0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power bottleneck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38D55-0D17-4563-B2B4-17B96274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Flat GPU and traditional matrix processors suffer memory-bandwidth bottlenecks, leaving extremely low real-world utilization on edge ADAS workloads.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4A503-E4EE-43ED-AC03-0B6D9186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DA82C7-47FD-4493-BC82-999E090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5868A6-4CEC-4BB6-B94A-66B33C17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local data failure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E0AE0-CF3E-4F54-9A8E-A382728F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Global computing platforms run vision algorithms trained on structured Western highways — highly unreliable in unstructured, high-entropy Indian and GCC traffic, at right.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62CDA-8E48-406B-8BB2-842722BA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55054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9c112c0f34866"/>
          <a:srcRect xmlns:a="http://schemas.openxmlformats.org/drawingml/2006/main" l="0" t="13657" r="0" b="136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400425"/>
            <a:ext cx="5486400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08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0204E-36E8-4F4C-AB8A-61565EE0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B2E5E-D095-4982-B571-307B3F45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DD735-A46B-49B0-AF01-1924A409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Custom DGrid Alpha Combo-Die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A311F-BEB1-4EB2-B6CF-88260E85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7C8A7-2F64-48E6-BA9C-FF10325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AD295-579C-4BA3-B51C-4DC1E36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6283C-3F1B-4254-8A7A-6209CFB2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1BEDB-D69F-491B-A20B-77124F6F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A6630-65B8-4906-A5D7-21232CDA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A8694-E661-428E-A2BE-8F9FE02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A659-F087-414A-9E23-199EB437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3D Systolic Tensor Cube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D6A97-8A6A-43C5-948D-A41C3E1F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64×512 MAC lattice, dual-issue (×2) at 600MHz — verified to deliver 39.3 TOPS INT8.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A61AD-CE5F-429C-8646-013C85E4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1CC45-DA74-42F7-838A-ABD4C8F3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FCB8B-8091-4C0F-B0D5-BD30DA1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Batch dispatch firmware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4DF95-4EDC-4665-A433-33ED30BB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Decouples host supervision from execution units — up to 200× higher real-world compute efficiency.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CE722-650E-43B8-8C82-CBC5BD11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EB0E4-AA09-4423-8278-170EA6D4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4566F-E772-423D-87E9-2B7214D1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Combo-die integration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06255-1896-425A-9B83-82B14EDA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Eliminates multi-chip complexity — AI, sensor interfaces, and telematics on one die.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6F837-17CC-4AD8-A84F-4B07AC43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6B6AE-D12C-434E-A1FB-B43E0458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1A3CC-A599-4D47-B462-DE4B5EA6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433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Unmatched cost advantage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3B59E-B467-4DC4-8908-84691EA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481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Board BOM lands ~$30 at scale — absorbed into hardware, monetized via software (slide 24).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0181F-D5DD-4214-BAAF-5AF8200E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505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3af9cc32848fb"/>
          <a:srcRect xmlns:a="http://schemas.openxmlformats.org/drawingml/2006/main" l="15847" t="0" r="158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85925"/>
            <a:ext cx="5486400" cy="35242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834B1-C7C0-4157-AEF8-FBF1F003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Architecture verifies: 64 × 512 × 600MHz × 2 = 39.3 TOPS INT8 (canonical chip-spec reconciliation) — vs. the source script's uncorroborated "8×8×8, 32,768 MACs," which does not arithmetically produce 39.3 TOPS.</a:t>
            </a:r>
          </a:p>
        </p:txBody>
      </p:sp>
    </p:spTree>
    <p:extLst>
      <p:ext uri="{BB962C8B-B14F-4D97-AF65-F5344CB8AC3E}">
        <p14:creationId xmlns:p14="http://schemas.microsoft.com/office/powerpoint/2010/main" val="3174089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54E35A-061D-4F58-952E-C35CFBBA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9206B-592A-4DBE-8B73-5CBCA02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THE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CF713-5238-412B-BD61-69A04F4A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DeepGrid's Six-Chiplet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075DA-4FEA-4DF4-B7AF-F3CBE35F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Consolidating every mandatory ADAS feature onto single-die silicon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4E6D7-7C33-4040-9ABC-5BC8908F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C305D-4FFB-43A2-8E0F-91E1C322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8C5A2-FAF9-4C0E-9C95-70B0B0E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B7CB1-E497-4CCD-A541-D039D03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5EE90-D889-4650-A5B0-5A1C1A6F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377D7-6EA3-4E69-A501-DF662729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531D7-F7E7-4652-8268-A0BE7BCC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A100 — ADAS / AI Processor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92A98-62C5-4F9C-83CE-4C80CF4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39.3 TOPS INT8 running perception models (YOLOv11, VLA) at 40 fps.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BAEC4-5D36-43B1-A235-6CE40257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F6B6A-093F-476B-991D-F89ADEDE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301CD-3A5F-4119-B19C-C6F60F1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R100 — Radar DSP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A37AA-D3DC-4453-BBB2-5E317DC3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12-bit native ADC for 77GHz radar — eliminates external radar chips.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BAA18-034B-4E71-AB62-3236AC4F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D13B2-9F12-444B-8AC5-635C6E33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83AB8-374B-4466-81E7-BC7BB48C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T100 — Thermal / LiDAR DSP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20D35-A92C-41CC-93F8-17554609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Dense multi-sensor thermal and LiDAR point-cloud processing for low light.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FFD97-1431-4999-BB79-D4CD9D01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04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3BCB4-E3C3-4A69-BEAF-F43C36D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0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633D1-BBAD-4124-A47B-4880803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52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D100 — Secure Enclave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B588A-587F-4A35-B92C-622267B3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576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Dual-core lockstep RISC-V — hardware-level keys, blocks unauthorized overrides.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E98D3-E537-40ED-92E8-0D131796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A0898-EE67-471A-B5FC-58B67C8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4C1FE-05D7-432C-B16A-3C456FC8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S100 — SDV Telematics Gateway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1FD0D-D175-467D-A6D6-1A76269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Software-Defined Vehicle gateway, integrated AIS-140 real-time tracking.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234012-6E8C-4B8F-98EC-10708560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244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CEB90-9E62-4B7F-85D2-3E15AD0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24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004925-12D9-4709-98C6-DCFE7E17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768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H100 — Health / Bio-ADC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4D6C4-2DDE-41AE-97EC-50F64FF8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8160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Drowsiness detection from steering torque and cabin-camera biometrics.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D4DC37-409D-4CC5-AB44-325FB20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5054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c3ebd6a584df5"/>
          <a:srcRect xmlns:a="http://schemas.openxmlformats.org/drawingml/2006/main" l="0" t="19495" r="0" b="19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85925"/>
            <a:ext cx="5486400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114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635C7-30AE-4EF3-895A-C809A98C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D9E0B-4AF8-40E9-9403-2C4C1E66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ICP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B889C-62D4-4791-91C2-24853297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5-Dimensional Diagnostic for Early-Stage Silicon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40E85-29A7-405C-A369-F3F80FE6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common failure mode: targeting broad segments without scoring buying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C1C92-96EC-40C4-A595-D9C10521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02A1-FF40-491A-B505-535291C3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9A036-9F23-41EF-8C0B-28319A9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51607-B64F-4CC3-B112-45F96BAF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2FD48-6543-414A-8301-51E9EE5B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D5EF0-90D3-4FB8-A3E2-DD006A66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C7FAD-73C3-4F92-BE9A-C22AED06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1 · Regulatory Compulsion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D1A09-1E2C-46D0-899D-45F970D8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Is the purchase discretionary, or driven by immediate non-discretionary safety mandates?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F9B62-BFAC-47AC-805F-5238FE13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5D738-C49F-400C-B01F-D4486E6F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9DB1B-D108-4853-98C3-CB55DA2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2 · Integration &amp; Certification 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059FD-529C-484F-8419-F4F3CAA1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Engineering hours and homologation cost to design our chip into the customer platform.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1D934-92C4-4964-9CC2-E49411E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C3BD7-F956-4281-A7F3-D62E5E7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F389C-A02D-49A6-BB43-73425545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3 · Price Elasticity &amp; BOM 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7CFF0-36D6-437D-B255-D99E3DD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Customer's maximum budget tolerance for upfront hardware additions.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86908-5A05-436E-A6C8-0772C365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AE6FB-360A-46C9-A3CA-EA9F4272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663DF-CBE8-4D00-9083-9217C6AB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4 · Sales Cycle &amp; Time-to-Revenue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B5911-9E93-4B42-9FD6-0A03182E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Timeline from initial technical engagement to commercial volume purchase orders.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BC07E-4242-4481-BC8C-ABDE144A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20F17-C4EB-4EDA-A03D-77C2E3AF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14891-3AF5-449C-A8BE-97547637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5 · ODD Entropy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CEA2A-74B5-4605-AB9A-1C2E417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Does the target system run in structured spaces, or chaotic, unstructured local roadways?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F80B8-44B0-4849-9BC9-7D40D5F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3619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447DE-73E6-4EE0-9C70-B9CAB38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9380D-E561-46CB-BC64-F926DC0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Why this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9EB49-941D-4A95-BDBB-CB7481A4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48100"/>
            <a:ext cx="3238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Segments scoring high across all five dimensions minimize cash-burn during the Pre-Series A runway. See the scored matrix, next.</a:t>
            </a:r>
          </a:p>
        </p:txBody>
      </p:sp>
    </p:spTree>
    <p:extLst>
      <p:ext uri="{BB962C8B-B14F-4D97-AF65-F5344CB8AC3E}">
        <p14:creationId xmlns:p14="http://schemas.microsoft.com/office/powerpoint/2010/main" val="3869605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EEC171-729E-4366-BFE1-B2A186A1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60493-A49F-4A88-810E-DFCF87B0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ICP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F5C8D-EDCC-4759-814A-B0323BA0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Scoring the Three Segments to Minimize Cash-Burn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9B523-B177-4FDB-BEF3-70C8754E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D670B-ADD4-42D4-9E21-0CB48361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5DD98-71D5-4A6A-B1D7-8A65840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4CC84-94EB-4D62-B16E-A6744989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D425C-BAF4-499B-AFBF-125A3A84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35065-C7E5-4DE2-B9B9-9B53459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58CF8-3DDB-414F-81FB-59D7BDC1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E8F3C-0DDB-4A0A-8E6B-D4263CC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2886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 · TACTICAL DEFENSE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F1D35-7CEF-45BB-849A-FAB26556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762125"/>
            <a:ext cx="2886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 · AFTERMARKET FLEET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02F6A-391C-40A1-ABFB-5D13686D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62125"/>
            <a:ext cx="2895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 · OEM LINE-FIT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85913-C823-4A10-B623-66FAF0B7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2A90F-53F4-4ECD-B465-C78B91F3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07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Primary platforms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DE24F-36F5-4130-8F6C-B3FA0C76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574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UGVs, Port AGVs, Campus AMRs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3764F-D425-4C58-A75D-7D858D28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574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N2/N3 medium &amp; heavy trucks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8B948-B70A-4C85-AFDE-0A452397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New M2/M3 buses, N2/N3 trucks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2C23C-25AD-4062-B06D-4320A320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3EE04-E78C-4E12-A1BB-971C505F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0C4D2-7BF2-4D70-B46D-D608098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07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Regulatory compulsion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47E2E-607A-4308-9921-B535267F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Moderate — defense upgrades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63404-CE54-4114-A691-DCC95823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765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Extreme — transport safety deadlines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92A3F-407B-457E-A77A-8FC38B2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High — type approvals &amp; certificates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BF771-B1AF-4FC8-8515-CE0C7A9B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028E8-AF14-48FB-92D8-A2810837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07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Integration friction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E0138-5B1F-48CC-9FC3-E5869D91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956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Low–moderate — bypasses public-road standards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C72AE-8741-4470-BC20-D7548563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Moderate — mounting &amp; power mapping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ECCD2-EB05-48C1-9204-4D0D624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Extreme — multi-year E/E redesign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00129-0D3A-46CE-8819-C968E4F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323E7-C91C-4008-9D6C-301BA0B5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207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Price elasticity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08ACCB-900B-4835-826D-15FB2200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Low — sovereignty over cost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AD71D-A579-4E72-A6BE-1F3FD5F1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147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 — needs rapid payback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892EF3-45E9-4624-BAE4-15A82BA2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Moderate–high — BOM pressure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B33906-4783-4AE2-AC00-30B2436A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F3E16-A1AA-4EEB-A8C9-FDC17557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207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Sales cycle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C7F29F-F23C-4992-A7D0-A0B800B7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Short (6–12 mo) — military pilots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97F32A-226F-423B-A448-A0355860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338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Moderate (12–18 mo) — direct-to-fleet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F5C49C-D4D9-4603-BBE3-DA49C919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Long (24–48 mo) — engineering pipeline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C768DB-4CB5-4F97-AC0E-7A81E9E0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C15B6-7D3F-44A4-AB0B-053BD9B2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207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ODD entropy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570D4B-9345-4E12-AB63-ACCFE4E6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529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 — tactical / seaport terrain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50EBDA-C4AD-4BC6-940D-E421AC22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52900"/>
            <a:ext cx="28860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Extreme — unstructured mixed traffic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2998D5-B8CF-484C-A045-3183DFF5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5290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Moderate–high — highways + urban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64C77-1418-4108-A77F-8371BE85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4F31DA-B91E-4CA6-8A28-FCDEBFF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37AD25-22BA-4F36-95A8-DDAACFD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24984C-7F78-4979-AC77-043DEBB2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Option B (aftermarket fleet retrofit) sequences first: extreme regulatory compulsion plus a 12–18 month sales cycle converts fastest into mandate-driven volume, which is why it anchors Phase 2 of the GTM roadmap (slide 17).</a:t>
            </a:r>
          </a:p>
        </p:txBody>
      </p:sp>
    </p:spTree>
    <p:extLst>
      <p:ext uri="{BB962C8B-B14F-4D97-AF65-F5344CB8AC3E}">
        <p14:creationId xmlns:p14="http://schemas.microsoft.com/office/powerpoint/2010/main" val="6156981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69034-28A5-479F-9335-C59A843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8B4D4-BD9E-4312-A8B3-E25CCC3A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ICP OPTION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61BED-3F29-4119-910D-A2EA5AF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Tactical Defense &amp; Constrained Robotics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00C55-D7D8-4428-B386-63C7D70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low-friction, immediate FPGA validation wedge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0FC3F-BEFA-4D1D-A3EA-1AC61DE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5A41B-D067-4397-A4E6-E3E18C3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FA1AF-66EE-4B3B-8B71-807E80C2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93B7B-F7BC-4927-B13A-4F174EE6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E2FD9-3153-4B73-B632-F06FC22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16B60-C33B-4207-A1DD-8899CF30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2986F-6AA3-4AC9-8E05-35C7D3D1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Target &amp; pain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AEA23-E769-4CFA-8444-D26AC5E0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Sovereign UGVs, border surveillance platforms, seaport AGVs. Traditional chips expose these strategic systems to foreign supply-chain threats and remote tracking.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8ACBC-5FE1-48E8-9D87-8AA58F8A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E9428-2C90-41BF-97B6-6EEE3C3C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13E71-A8E1-49DF-AD94-3AD63664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Buying behavior &amp; technical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21980-0BAB-4290-A3E1-38F37BE1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Extremely insensitive to unit chip cost — prioritizes hardware-level cybersecurity and absolute data sovereignty. The D100 lockstep secure RISC-V enclave executes cryptographic tasks in rugged, GPS-denied environments.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F479D-9920-486F-838C-9B2A6F6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505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a749639694c21"/>
          <a:srcRect xmlns:a="http://schemas.openxmlformats.org/drawingml/2006/main" l="0" t="17882" r="0" b="17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85925"/>
            <a:ext cx="5486400" cy="3524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E9AF7-10E4-461D-8706-8090E560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331F8-F156-49D2-8669-3E9AF9EA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0B493-CCF3-4C3F-AB93-0A937AD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FPGA advantage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4C030-4525-49AE-B80C-893FAD01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Deploys directly on currently validated FPGA boards — bypasses the wait for custom ASICs, securing immediate revenue to cushion engineering burn (₹1 Cr in defense contract revenue already received — slide 16).</a:t>
            </a:r>
          </a:p>
        </p:txBody>
      </p:sp>
    </p:spTree>
    <p:extLst>
      <p:ext uri="{BB962C8B-B14F-4D97-AF65-F5344CB8AC3E}">
        <p14:creationId xmlns:p14="http://schemas.microsoft.com/office/powerpoint/2010/main" val="20943845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B3B61-A329-4940-96AA-7259C10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CB91-4C9F-4435-AC93-FF29BC65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ICP OPTION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968BB-256A-43F4-9CE8-BCB7D13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Non-Discretionary Aftermarket Fleet Retrofit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CA106-42BC-4C4D-BFB3-9E6ED24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high-volume, mandate-driven volume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E399D-218D-4AE3-AA56-B315E1BC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6242F-B61C-4E03-9526-C87FA333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7AC6F-9027-457B-85CC-8A89725D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B5267-0D24-4709-B58E-F11D9E1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3E2E1-741B-443A-8C30-B8D6E521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76134-1DA7-4275-9D1C-FCBE701D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F8E12-9762-4AB5-BE44-1AF8422A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Target &amp; pain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8856A-FBBF-401E-A493-FDB4F3E9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Medium and heavy goods trucks (N2/N3) owned by private transport and logistics operators. Mandates require immediate ADAS integration, but razor-thin margins block new-vehicle purchases.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CA74D-A05A-41B3-87C5-E3431929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71E4C-6CD1-45B1-A191-1BDCEF6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228B7-E758-4F55-950A-E03A807A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Buying behavior &amp; technical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4DC29-07A3-4231-98E0-38CAB3DB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Highly cost-sensitive — weighs upgrade cost against non-compliance penalties and rising insurance premiums. DeepGrid's combo-die handles perception, blind-spot monitoring, and drowsiness telemetry on one 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7C572-5F29-4D65-A832-2124C40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505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715e6078649e4"/>
          <a:srcRect xmlns:a="http://schemas.openxmlformats.org/drawingml/2006/main" l="7543" t="0" r="75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85925"/>
            <a:ext cx="5486400" cy="3524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67DB9-868E-41FB-B195-03D6417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EFF1A-E9FD-4DEC-982E-97CEA723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29515-C1DF-4865-A11F-FA14179E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Commercial 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D9BD7-C938-41F3-92F8-B870053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 low-cost, homologated retrofit kit priced at ₹2–2.5 Lakh — 3–7× below premium imported systems. Full unit-economics build-up on slide 21.</a:t>
            </a:r>
          </a:p>
        </p:txBody>
      </p:sp>
    </p:spTree>
    <p:extLst>
      <p:ext uri="{BB962C8B-B14F-4D97-AF65-F5344CB8AC3E}">
        <p14:creationId xmlns:p14="http://schemas.microsoft.com/office/powerpoint/2010/main" val="8249445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EFD75-E569-498E-9CDD-2A838901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F1C8E-DE8C-47CD-86BF-355A21CB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ICP OPTION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BD6F1-9133-4360-984C-8CD00FDB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OEM Factory Line-Fit Embedding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24CD7-DE6A-48ED-B412-AA96055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long-term platform-locking GTM — the future scale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9C4B9-DD88-467C-A331-24DB1B06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A1AA8-7291-49EE-81F1-EC8F567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9601E-B8E6-4E5C-97CC-9D73E2A7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4A3F7-F29D-4FB2-922A-4FAF5D1C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1C398-F744-4DBD-82BD-6EFCE67C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B027D-D186-489C-8E96-69E3D894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735EC-D5C0-4358-A7AD-BA661FC8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Target &amp; pain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C7CEB-665D-4DF3-AA7A-7124F53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Domestic Indian and emerging GCC heavy truck and passenger bus OEMs. Consolidating safety devices across multiple ECUs inflates platform BOM and creates integration bottlenecks.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BA15A-507C-4E2B-84EC-4779DE64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6CAC8-9F92-40DC-B9E4-A165ABE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E7EA4-2091-43CD-8F5E-707C088B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Buying behavior &amp; technical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858EB-21A3-490B-8A74-E03971A7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Highly conservative and slow-moving — will not deal directly with pre-revenue, unproven startups. Consolidating six chiplets on one die cuts physical ECU footprint and simplifies electronics.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0BA45-E985-4B1E-9C5B-4F360123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505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90aec515e40dc"/>
          <a:srcRect xmlns:a="http://schemas.openxmlformats.org/drawingml/2006/main" l="0" t="17882" r="0" b="17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85925"/>
            <a:ext cx="5486400" cy="3524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35394-61DE-43A0-9DA9-3CA90AEF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A074A-5D38-4643-B48C-C3290DB8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7E7A2-662A-4052-AFF0-F31B8A88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DeepGrid's approach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067FB-676B-4433-9499-DAB58C8A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acts as a "Tier-2" chip designer, partnering with established Tier-1 automotive suppliers (Uno Minda, Spark Minda, Bosch India) who own direct OEM relations and warranties.</a:t>
            </a:r>
          </a:p>
        </p:txBody>
      </p:sp>
    </p:spTree>
    <p:extLst>
      <p:ext uri="{BB962C8B-B14F-4D97-AF65-F5344CB8AC3E}">
        <p14:creationId xmlns:p14="http://schemas.microsoft.com/office/powerpoint/2010/main" val="14774438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F4E10-CD09-4C01-9F6A-67752BA1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542AC-9AB0-4587-A835-79E4E8A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COMPETITIVE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ABC42-A241-4352-9B02-A0DA7D20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Strategic Playbooks of Freight Autonomy Giants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BC151-484D-46AB-B211-F366672A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Real fleets, four different bets on where autonomy pays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D1CF2-4EAB-480E-A35A-50C9018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6FE07-BB74-485A-BAFD-DC2389EC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5526D-DBA6-40AB-B970-1B52C9BA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1571B-EC09-4A6D-97AD-A1B6637A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8E513-88F5-4273-91AB-6DD933A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f7f86e5d643cb"/>
          <a:srcRect xmlns:a="http://schemas.openxmlformats.org/drawingml/2006/main" l="0" t="12907" r="0" b="12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" y="1685925"/>
            <a:ext cx="2533650" cy="1409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EE5F6-8726-4625-8790-B124C282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764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c1deeeb7d4e18"/>
          <a:srcRect xmlns:a="http://schemas.openxmlformats.org/drawingml/2006/main" l="2821" t="0" r="28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9925" y="1685925"/>
            <a:ext cx="2533650" cy="1409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EB833-9222-4483-A48D-043ECD4E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77a28374a4729"/>
          <a:srcRect xmlns:a="http://schemas.openxmlformats.org/drawingml/2006/main" l="0" t="543" r="0" b="5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685925"/>
            <a:ext cx="2533650" cy="1409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5BC82-A91E-4A4B-B333-F062AD26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d94ed172f4242"/>
          <a:srcRect xmlns:a="http://schemas.openxmlformats.org/drawingml/2006/main" l="0" t="3310" r="0" b="3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6325" y="1685925"/>
            <a:ext cx="2533650" cy="14097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FFF09-E989-4D63-B61C-A8BB956B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255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Aurora — the heavy-OEM playbook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6AF27-8E6F-4F52-A009-880F261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552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Long-haul Class-8 on dual NVIDIA DRIVE Thor ($6,000+ BOM). Continental Tier-1 partnership; targeting 2025 pilot scale.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32570-CA7D-40B6-BFFF-DA36B9E6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81350"/>
            <a:ext cx="255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Kodiak Robotics — the dual-use playbook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BECA6-C40F-4901-AC06-7C8FDF9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86150"/>
            <a:ext cx="2552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Highway freight + DoD defense contracts on Ambarella CV3-AD685. Active US commercial freight trials.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6F903-8C07-45AD-88D7-AB089DA5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81350"/>
            <a:ext cx="255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Gatik — the constrained-route playbook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41AE9-D206-4E44-9F45-F883146C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86150"/>
            <a:ext cx="2552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Fixed middle-mile routes on NVIDIA DRIVE AGX Orin + Isuzu box trucks. Driverless ops live for Walmart, Kroger.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7034B-17A9-43DD-A86D-90B516C6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552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DeepWay — the vertical-integration playbook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43C07-46B2-4DDA-90D8-D823521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86150"/>
            <a:ext cx="2552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China domestic fleets on high-compute NPU + Baidu Apollo co-design. "Xingtu" L4 electric trucks in commercial ops.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700E4-80B1-4EC7-BA88-24035E7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0D682-56C2-4649-9D74-02D899B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2DCECB-3088-4AF3-B83B-535FDD1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lesson for DeepGrid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5BC91-1F15-4E82-A5FA-C57B444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Every credible playbook picks one lane — constrained ODD (Gatik), dual-use defense revenue (Kodiak — DeepGrid's Phase 1), heavy-OEM capital intensity (Aurora — DeepGrid's Phase 3), or full vertical integration (DeepWay). No incumbent runs all three phases at DeepGrid's ~$30 BOM.</a:t>
            </a:r>
          </a:p>
        </p:txBody>
      </p:sp>
    </p:spTree>
    <p:extLst>
      <p:ext uri="{BB962C8B-B14F-4D97-AF65-F5344CB8AC3E}">
        <p14:creationId xmlns:p14="http://schemas.microsoft.com/office/powerpoint/2010/main" val="4027954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F75ECB-A937-4C5E-8AE5-2D582367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4EDF4-905A-4005-AB72-9B6FAFEC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COMPETITIVE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860E1-A3EA-4A53-BBB5-AE6F9DB4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Global Semiconductor &amp; Dependency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E7E5B-A211-4D1D-B647-7041815F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E5570-099A-469E-A492-4E9CDA50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E0FA4-7503-4F06-B2F1-4FA3FCA7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85269-0887-48CF-B545-560A936B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18061-D543-4DFA-A728-0F420918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83B3C-224B-4EAA-8D9E-4E36A2E9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95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6fcdc2d224ba1"/>
          <a:stretch xmlns:a="http://schemas.openxmlformats.org/drawingml/2006/main"/>
        </p:blipFill>
        <p:spPr>
          <a:xfrm xmlns:a="http://schemas.openxmlformats.org/drawingml/2006/main">
            <a:off x="3064159" y="1704975"/>
            <a:ext cx="367733" cy="400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A4D1B-A563-4386-9A0C-7FD36310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95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983e331f34ab3"/>
          <a:stretch xmlns:a="http://schemas.openxmlformats.org/drawingml/2006/main"/>
        </p:blipFill>
        <p:spPr>
          <a:xfrm xmlns:a="http://schemas.openxmlformats.org/drawingml/2006/main">
            <a:off x="4924425" y="17049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0F230-ED0D-4AA1-9D57-187BDC3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568d2078a4e0d"/>
          <a:stretch xmlns:a="http://schemas.openxmlformats.org/drawingml/2006/main"/>
        </p:blipFill>
        <p:spPr>
          <a:xfrm xmlns:a="http://schemas.openxmlformats.org/drawingml/2006/main">
            <a:off x="6800850" y="17049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BF109-4D81-4B94-8B54-A5ABFD39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954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6fcebcc174663"/>
          <a:stretch xmlns:a="http://schemas.openxmlformats.org/drawingml/2006/main"/>
        </p:blipFill>
        <p:spPr>
          <a:xfrm xmlns:a="http://schemas.openxmlformats.org/drawingml/2006/main">
            <a:off x="8677275" y="17049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047A0-ACD5-4A24-8DC2-1378A347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C4903-0D5E-46E1-AA13-352E6E7D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17240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METRIC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922D0-3895-48EB-903E-5ABF993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76475"/>
            <a:ext cx="1743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AURORA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0A27F-130A-442A-9253-19B20F7E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1743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KODIAK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B3ED1-CC29-4CF3-9981-277039D4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76475"/>
            <a:ext cx="1743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GATIK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0F931-A35B-45EA-A643-85EE97D5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17430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DEEPWAY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B0351-00AC-45ED-B55C-8F04B41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76475"/>
            <a:ext cx="17811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DEEPGRID SEMI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0F194-FBDD-40D0-9F71-4FF8741D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46173-21CA-4B7D-AC74-A3FE1855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724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Primary markets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9F207-AEF0-4667-B925-545725E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527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US Highway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402D1-D4AB-444A-AD03-78FB215D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US &amp; Defense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E9D9C1-CBDD-457B-BD11-A97B4B29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527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US &amp; Canada B2B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7D3B69-A440-4E89-A540-3015595F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China Freight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7A662-AA7D-47AD-8996-17942395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52700"/>
            <a:ext cx="1781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India / GCC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6A89D6-5199-4776-8D66-CF6DD816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C1936-9BBE-468E-935F-AA982C4F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724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Silicon partner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FDB16B-400F-410E-A55C-BA244243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527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NVIDIA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0A5C3-9BD9-40E7-A744-289AEE6E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Ambarella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1F6C27-C2EA-42D2-960C-E403388B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527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NVIDIA / Intel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85395D-7836-4601-A18F-E5132EE2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Baidu ecosystem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50E8B3-7507-439B-9761-9DDD4098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52750"/>
            <a:ext cx="1781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TSMC (28nm, in-house)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4C69A7-C067-4728-ACD8-3C596A9B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177530-67D4-489A-8DB9-2924CC1F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724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Compute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0D6EA5-DE5F-48CB-85F6-A8A71DE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528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Merchant silicon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4D7EE9-13E2-486D-ABCA-B1F0D033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Specialized merchant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F976BF-C85A-45B7-8E46-375CA9D7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528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Off-the-shelf (COTS)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C9EFB3-FE28-4D53-8936-C99D9D5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528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Proprietary co-design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6A75D3-7D8D-4C46-910B-5583432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52800"/>
            <a:ext cx="1781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Custom in-house ASIC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C145C9-E752-4D64-BE17-FEA75FCC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25B39D-FE2D-4CC4-8ED4-E467652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1724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Core processor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B015D-6449-4AC0-95BE-4772C71B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528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DRIVE Thor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C602C7-ACA1-43F6-AF92-04F2D09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CV3-AD685 (5nm)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0E2EA5-9676-4672-8B2A-E9E3C3C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528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Heterogeneous PC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3B109E-AABF-4150-97D4-736A41AE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High-compute NPU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86FF5B-39FC-4C11-B80A-13768FC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752850"/>
            <a:ext cx="1781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DGrid Alpha combo-die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99543-76A5-4451-84EA-A564E04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595159-2A73-4AA9-9567-3D4FE9A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724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Compute capacity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801321-C933-4B51-B5AE-4B7612F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529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~2,000 TOPS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411F40-1FAF-4D70-BF8F-A69BE25B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5nm vector logic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031AAC-2C86-4CA7-85CF-9745E7E8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1529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Varies with GPUs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F6C179-3F7A-4C3A-B514-7CD6D3D4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529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&gt;500 TOPS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B07AC4-756B-4A19-9471-A3CEA12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152900"/>
            <a:ext cx="1781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39.3 TOPS INT8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48C813-5907-4C5C-903A-71D4A9B8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6A9CB7-34C1-46D9-85C0-D20EA743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724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Chip dependency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B0BDC7-DB1B-44C3-A1E6-40C2B25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529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Extreme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8083D3-F84D-4CCA-BC36-7CB1AB1A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FCB998-9908-458C-8A85-3D23A5AF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529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C0B302-DA85-4DD6-B40C-D653B095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5295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Moderate–high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A67ECC-B56C-4096-AD06-6BDD63D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52950"/>
            <a:ext cx="1781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Zero third-party dependency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789F9D-098E-4F2D-B45E-8335BE67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3CD12F-7332-4F90-A69F-73A6DDDA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7240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Compute BOM cost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F12DFC-B287-4414-8AAF-46C3704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530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$6,000+ / board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842EBA-7A50-4070-815E-26438B23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 premium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A8AD1E-A70B-4449-86DB-9335F7D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530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Moderate–high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48BE1A-56BE-4EAD-90C7-312D586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17430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 platform cost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7DA065-1CA5-4913-8FBF-5727F40B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953000"/>
            <a:ext cx="1781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~$30 / board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1E969A-604A-42A5-A7AA-5C6B688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F13306-F61B-459B-86AF-F77E21B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0BA0E1-D6DE-47B6-9F14-FB3317F7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read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927B4A-64D9-4092-89C7-CFBA28AA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Every other player is dependent on third-party merchant silicon — DeepGrid is the only one with zero chip dependency, at roughly 1/200th the compute BOM of the US highway incumbents.</a:t>
            </a:r>
          </a:p>
        </p:txBody>
      </p:sp>
    </p:spTree>
    <p:extLst>
      <p:ext uri="{BB962C8B-B14F-4D97-AF65-F5344CB8AC3E}">
        <p14:creationId xmlns:p14="http://schemas.microsoft.com/office/powerpoint/2010/main" val="12456350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23B76B-340A-44CB-BE5D-6369C13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AAF26-A776-4A48-843B-EAE53D11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COMPETITIVE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A2BF3-3D80-4CC3-B1F5-A09C297F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Mapping the Domestic Semiconductor Wave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6D740-DE82-41F1-983D-58119069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As supplied in DeepGrid research materials — not independently re-verified in this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73868-9507-4A6C-9E18-07C8C524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B741F-1FB8-42EF-8C1E-7C0A1B95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B9334-7EAE-4E2A-804A-E722AF1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4387E-D510-4854-884B-8750294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4AD8C-E94A-4B7F-BD27-351DDA13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8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96e8c2ac84f72"/>
          <a:stretch xmlns:a="http://schemas.openxmlformats.org/drawingml/2006/main"/>
        </p:blipFill>
        <p:spPr>
          <a:xfrm xmlns:a="http://schemas.openxmlformats.org/drawingml/2006/main">
            <a:off x="1743075" y="1819275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B33AE-A6F9-41F6-8790-0FACF0AD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8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8406d29584e29"/>
          <a:stretch xmlns:a="http://schemas.openxmlformats.org/drawingml/2006/main"/>
        </p:blipFill>
        <p:spPr>
          <a:xfrm xmlns:a="http://schemas.openxmlformats.org/drawingml/2006/main">
            <a:off x="5553075" y="1819275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82062-EEA5-4AB1-9EAE-DAA682E7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8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7756a4c0e4fa1"/>
          <a:stretch xmlns:a="http://schemas.openxmlformats.org/drawingml/2006/main"/>
        </p:blipFill>
        <p:spPr>
          <a:xfrm xmlns:a="http://schemas.openxmlformats.org/drawingml/2006/main">
            <a:off x="8906329" y="1819275"/>
            <a:ext cx="1923143" cy="1009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30E8F-825F-4B18-B835-4783EB3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FC7DE-93AD-48AC-8AA2-578CF41C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6F5D5-D32A-4273-AA08-885FACB2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Netrasemi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A4DC9-E237-4A5C-8422-481EDA8A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320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A2000 AI SoC on TSMC 12nm. Paid evaluation trials with 3 OEMs (surveillance + automotive). Raised ₹125 Cr (incl. ₹107 Cr Series A from Zoho, Jul 2025). Targeting mid-2027 commercial launch.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384C0-5115-447E-B86E-85467514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EC108-36A5-4AB9-8506-6C28DA9E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B3E8D-9664-4191-9E0C-C0C788E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Mindgrove Technologies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11E9D-2BA0-43FC-8E31-C63ECFE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320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700MHz secure, low-power RISC-V MCU on TSMC 28nm. MoU with Bosch (Jun 2025); deal with Pinetics. Raised $10.3M total (incl. $8M Series A led by Peak XV, Dec 2024).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73A97-57A0-4717-BA3F-0AC7FC2E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222E5-DFD0-4177-B469-07CDB09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8707C-07C8-483D-8DFE-E96FC329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Agnit Semiconductors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01D58-2CC4-4E27-8270-607AA20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320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Vertically integrated GaN devices on sapphire/SiC. Live defense radar pilots; targeting 100,000 GaN units in 24 months. $7.47M total funding (incl. $2.6M seed extension, Shastra VC, Mar 2026).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1356C-1151-40D8-9582-F8D0C46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F6339-C42D-4366-B181-94E74034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1AA3E-408C-4E08-8207-BB8A3E72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read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3BAF5E-666D-4DD8-8A27-FB65D89E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India's semiconductor wave is real but young — the most advanced (Netrasemi) targets mid-2027 launch. DeepGrid's FPGA-validated architecture and live defense revenue put it ahead on commercial proof, not just design.</a:t>
            </a:r>
          </a:p>
        </p:txBody>
      </p:sp>
    </p:spTree>
    <p:extLst>
      <p:ext uri="{BB962C8B-B14F-4D97-AF65-F5344CB8AC3E}">
        <p14:creationId xmlns:p14="http://schemas.microsoft.com/office/powerpoint/2010/main" val="19752026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C583A8-BF74-468F-A864-02569F45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79587-B520-4F3A-91D0-D5645BED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COMPETITIVE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F5420-3E78-4BF9-A8CF-AD4B7C0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Mapping Software-First Autonomy Competitors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536B5-D110-4564-B3F9-4E441AD9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As supplied in DeepGrid research materials — not independently re-verified in this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417C3-A800-4B0A-8376-D79EA8A0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562A2-8EFD-4C2D-A085-1E572D43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13EB5-1F52-43B8-960C-AA64101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45CCF-7A5B-407D-AE34-0E84F40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73216-7E94-4281-8670-992058C3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8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e308bfcd441f1"/>
          <a:stretch xmlns:a="http://schemas.openxmlformats.org/drawingml/2006/main"/>
        </p:blipFill>
        <p:spPr>
          <a:xfrm xmlns:a="http://schemas.openxmlformats.org/drawingml/2006/main">
            <a:off x="1743075" y="1819275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F1B4B-6300-4851-B380-7A8C80B3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8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7f148bf9b4b8f"/>
          <a:stretch xmlns:a="http://schemas.openxmlformats.org/drawingml/2006/main"/>
        </p:blipFill>
        <p:spPr>
          <a:xfrm xmlns:a="http://schemas.openxmlformats.org/drawingml/2006/main">
            <a:off x="5553075" y="1819275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1A7B2-1599-4659-A963-5350B032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8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ce03279454f13"/>
          <a:stretch xmlns:a="http://schemas.openxmlformats.org/drawingml/2006/main"/>
        </p:blipFill>
        <p:spPr>
          <a:xfrm xmlns:a="http://schemas.openxmlformats.org/drawingml/2006/main">
            <a:off x="9363075" y="1819275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D9D8E-5A16-4465-AE27-C5F6C89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36D14-A427-45B4-B513-98A6B6AB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A181E-3889-4C9D-8797-1035B91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Minus Zero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877C5-C439-445F-87DE-298B08AD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320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Vision-first stack (Nature Inspired AI, True Vision Autonomy) — eliminates LiDAR and heavy compute. L4 zPod prototype; Ashok Leyland partnership for port/campus autonomy. $1.7M seed raised.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90120-0CF6-4685-898E-0C8A5D0B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64C18-112B-477A-B938-4EEB1C8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BFB35-D086-4406-BCA8-296A7CD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Swaayatt Robots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9F413-5DAC-4C38-8555-B66C64E8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320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L5 navigation via unsupervised/RL algorithms mapping unstructured roads without HD maps. Demonstrated map-free, LiDAR-free driving at speed. $4M post-seed (Jun 2024, $151M valuation).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A3841-7EAF-41AB-8B65-E3B42696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0DA6E-7014-4134-B9D2-1D24AAFC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77143-5BB5-49AD-A71C-6718346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RoshAI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85B3D1-703D-45C7-BCA1-DF1DF58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320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Hardware-agnostic software for control, navigation, localization, fleet tracking. Active in heavy industrial port/mining deployments. $1M seed (Aug 2024) + subsequent seed rounds (Apr 2026).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EF3DD-E4BF-4CB4-83E8-C6AEECF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E8437-76EB-468F-B14B-D5B34C6E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C7400-F539-4146-891A-E1D830F8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Why none of these compete on DeepGrid's axis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8E0A5-9520-4824-9FCE-E408C81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All three are hardware-agnostic by design — they run on third-party merchant silicon (typically NVIDIA-class) and inherit its BOM. DeepGrid competes on owned silicon economics, not perception-algorithm quality.</a:t>
            </a:r>
          </a:p>
        </p:txBody>
      </p:sp>
    </p:spTree>
    <p:extLst>
      <p:ext uri="{BB962C8B-B14F-4D97-AF65-F5344CB8AC3E}">
        <p14:creationId xmlns:p14="http://schemas.microsoft.com/office/powerpoint/2010/main" val="163481670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79F43-C1E0-4714-87AF-978856A7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5DE1C-4889-4AFF-A34B-0140AFED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COMPETITIVE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1DD55-5155-4E4F-90AE-7BC36A39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How Vertical Integration Beats Software-Only and Microcontroller Rivals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00958-9FA6-47E1-8C3F-7FD4778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8709-0F1C-4255-BE61-7070266A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76649-67B6-4758-8502-F0D983A1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C6B68-DAD7-414F-A396-5A28E2D2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51393-DB69-4D39-9FC0-92814FE4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8DA87-1469-4D07-AEEB-AE1A5569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5DCCB-09CD-458A-86AA-8B3D2628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408A6-F090-434C-9419-10C6472B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Software-first competitors are squeezed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AC48-2DC4-4489-9BDA-28DC5DF2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Minus Zero, Swaayatt, RoshAI write excellent algorithms but run on expensive merchant silicon (NVIDIA-class) — hardware cost stays high for the end customer.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1B67E-4F56-476A-93D0-AAC71DD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37ef6d5c345f5"/>
          <a:stretch xmlns:a="http://schemas.openxmlformats.org/drawingml/2006/main"/>
        </p:blipFill>
        <p:spPr>
          <a:xfrm xmlns:a="http://schemas.openxmlformats.org/drawingml/2006/main">
            <a:off x="4772025" y="1743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B4C5E-EFEE-46E9-8BE8-B0164481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4b4a5461142eb"/>
          <a:stretch xmlns:a="http://schemas.openxmlformats.org/drawingml/2006/main"/>
        </p:blipFill>
        <p:spPr>
          <a:xfrm xmlns:a="http://schemas.openxmlformats.org/drawingml/2006/main">
            <a:off x="5153025" y="1743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04F0A-2F5B-49C2-ADA1-21311DA4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33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ed22cdcc24db1"/>
          <a:stretch xmlns:a="http://schemas.openxmlformats.org/drawingml/2006/main"/>
        </p:blipFill>
        <p:spPr>
          <a:xfrm xmlns:a="http://schemas.openxmlformats.org/drawingml/2006/main">
            <a:off x="5534025" y="1743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D6203-647F-414F-81A6-B2CB00F3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FA160-E890-400B-8714-1A9F378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C0D52-B4E3-4FF8-B8DD-B6012B8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28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Microcontroller players lack compute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92893-F411-4516-8982-27442182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Mindgrove designs low-power MCUs for IoT but has no path to the 39.3 TOPS deep-learning acceleration real-time camera-radar fusion needs.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C10C6-A3C2-4AA0-8014-7BE84A07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733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4440afe3c4cc0"/>
          <a:stretch xmlns:a="http://schemas.openxmlformats.org/drawingml/2006/main"/>
        </p:blipFill>
        <p:spPr>
          <a:xfrm xmlns:a="http://schemas.openxmlformats.org/drawingml/2006/main">
            <a:off x="11020425" y="17430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72C2B-4190-4B62-83B0-9B3C705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7691C-48AC-4677-B7DB-27D0F553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AA567-2996-4FCA-9C48-D9A3D10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Surveillance/server players lack integration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F66FC-AC58-438D-9E35-CA39A2F4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Netrasemi targets surveillance and edge servers — no 77GHz radar (R100) or driver-biometrics (H100) path for vehicle safety.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25399A-8297-4195-95DB-42FDF063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df2238100408d"/>
          <a:stretch xmlns:a="http://schemas.openxmlformats.org/drawingml/2006/main"/>
        </p:blipFill>
        <p:spPr>
          <a:xfrm xmlns:a="http://schemas.openxmlformats.org/drawingml/2006/main">
            <a:off x="5534025" y="34575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1615C-920A-47DB-8A39-A882D9C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4A53F-B813-4209-ACD6-B824D12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0082E-8FAD-40A4-B5C0-A8CDB438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433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DeepGrid's edge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0C6893-5FD1-41A1-A4DD-79421C7C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only Indian startup designing a vertically integrated, single-die ADAS combo-die purpose-built for upcoming commercial-vehicle mandates at a disruptive price point.</a:t>
            </a:r>
          </a:p>
        </p:txBody>
      </p:sp>
    </p:spTree>
    <p:extLst>
      <p:ext uri="{BB962C8B-B14F-4D97-AF65-F5344CB8AC3E}">
        <p14:creationId xmlns:p14="http://schemas.microsoft.com/office/powerpoint/2010/main" val="13299173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68BE2F-DD08-4A33-8831-E42C8CF6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F1116-3685-4C1F-8C36-8DE94B15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GTM ROADMAP · 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21686-C923-4767-BE22-2A53AC6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Tactical &amp; Off-Highway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AEBDA-9E13-4D83-BDD1-65182B09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0–6 — FPGA deployments and immediate cash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16DEB-E582-4CC2-839A-A219D2A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B3E41-395A-41D2-8282-E315DFA6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A43E5-C317-4395-93D2-894B31C3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D56D5-45B5-4191-8CAD-DD4ED243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a5459fca7484d"/>
          <a:srcRect xmlns:a="http://schemas.openxmlformats.org/drawingml/2006/main" l="0" t="13333" r="0" b="1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6050" y="190500"/>
            <a:ext cx="1428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0245C-1873-4BB7-AA4E-53879A7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70234-4117-40A0-A62C-0529E4A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76997-EF98-48CD-9B32-0B5EF840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PHASE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9D373-3E6C-468A-BBE5-4BD06146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913A9-C913-47B4-B123-CFA0008A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Tactical Wedge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1053F-45CD-4B7E-B2FD-6D73E8AE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0–6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2614E-F855-44D8-B6E6-E29D24D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24A02-3F98-4CAE-9E41-F767819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PHASE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3E1A9-3516-4AE2-A446-DA97B79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44633-850A-4648-A523-FBFB0F74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Aftermarket Retrofit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0FB08-BC4E-4F38-96FD-05B59CED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6–18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04F6B-2E08-4610-BAE9-767A0FE1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CE26A9-8D79-4D01-823A-C3E4E205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PHASE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AEC3C-A23D-4DA8-9360-772C624D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3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AD93A-EEBF-4D3C-A180-F7B2F9CF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OEM &amp; Tier-1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8FE4A-1F2F-410B-8EBA-82C155A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18–36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0AB67-5FE1-4A3D-A73E-344626B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471A2-A83F-4349-B0F4-46EE5323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DBE743-59C8-4695-B483-90ED5578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Direct FPGA field deployments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B3A0E-156B-4C07-9E9E-2B0707CD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Deploy fully functional FPGA boards into enclosed port facilities and industrial campuses — bypasses slow public-road regulation to refine radar-vision fusion in real time.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74D6C-BD44-4241-8801-A535934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42C2DC-1AE4-4CC2-BE15-B425B050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30F282-AE57-4777-A496-F93234DE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Tactical defense positioning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AA4CF-7BCA-47C8-8F34-4B9321A6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Bid on sovereign military research contracts, highlighting the D100 RISC-V lockstep secure enclave that isolates critical software execution.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301AF-57A2-476A-8EE2-863C821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8C8175-6711-4FF7-95BB-425F78A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D83B42-6749-402F-8A37-DCF4C44E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Non-dilutive cash 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78560-DCD3-4C1E-A193-6F46581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dual-use tactical defense strategy has already generated ₹1 Cr in contract revenue — extending runway through the Pre-Series A phase.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DC06B7-D9D6-4193-88FC-8446194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B5B2D1-D57C-4E11-8A08-EB0CAA8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FF89A7-D559-45C7-8717-1091853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De-risking the pitch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CFF1B4-D223-403A-AB82-B5F44ABA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97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Real-world performance data from port and tactical deployments is the proof-of-concept evidence that closes the Pre-Series A round.</a:t>
            </a:r>
          </a:p>
        </p:txBody>
      </p:sp>
    </p:spTree>
    <p:extLst>
      <p:ext uri="{BB962C8B-B14F-4D97-AF65-F5344CB8AC3E}">
        <p14:creationId xmlns:p14="http://schemas.microsoft.com/office/powerpoint/2010/main" val="213330592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870B6D-29BD-470C-BEF3-51FCEBC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34C2E-E5CD-4DBE-BAC3-370E7E93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GTM ROADMAP ·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ADF3E-AC5A-47D4-973C-328E0DBF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Regulatory Aftermarket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7B4CD-AF0A-4909-AC0C-C7D0ADA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6–18 — launching the custom 28nm ASIC in the aftermarket sector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14AE8-8D21-4385-B7DB-C0A8DA67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B53F3-A067-4993-B234-F5BDDE4B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DC288-81B3-48D2-AA00-A729ED3D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DC948-AEC8-4D31-A5B6-CA8436BA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73daa7b474973"/>
          <a:srcRect xmlns:a="http://schemas.openxmlformats.org/drawingml/2006/main" l="0" t="13333" r="0" b="1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6050" y="190500"/>
            <a:ext cx="1428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F0294-3E00-4E74-BC3D-DA404CED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D9AE0-D377-4B3C-ACA9-6A35E8C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19F76-E76A-4A6B-B022-029E4306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PHASE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3362F-BE0B-4F2B-B457-6C571F01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34C3B-C8E8-484D-9A91-F6ABC4D6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Tactical Wedge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1D82C-16FA-4CB5-A274-3313EEA8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0–6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89438-4194-4E39-B8B6-D6497F51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9B89F-00C6-4191-81B0-14FF6D41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PHASE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ECE9A-C9A0-43A0-AB0E-22C1A7E3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21E27-E577-461E-8C22-0D9450F2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Aftermarket Retrofit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1F323-18DC-41DD-8E37-D289542B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6–18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EA8EB-37BC-4341-9FA3-7C574251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51DF4-8C3B-4844-8FFD-288CCE05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PHASE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B1837-515B-4237-950D-9D764F1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3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CBA91-E524-4C4A-8306-C08FD9E3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OEM &amp; Tier-1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550FB-54D5-4232-B482-02004D0A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18–36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24E73-450B-45CC-9DA4-A1F633CF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F41C3-6F1D-402C-B6E2-4EE64640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346A9-C6DB-447E-A0DA-39CEC85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Close the Pre-Series 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C06AA-E756-4895-A869-F95C13F7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Secure ₹55 Cr blended (₹45 Cr equity CCPS + ₹10 Cr CGTMSE) to fund the transition to custom silicon.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A8EE3-7BF5-4B6F-85CA-F649F438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619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AEF97-76AD-4BCB-9A25-6316B292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FD6BB0-972F-4BD5-966D-2C2E1A61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Leverage government subsidies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51B37A-6C55-4CD3-BF95-EB2FCAC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3238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Apply to MeitY's Design Linked Incentive scheme to offset chip design cost and secure sales-linked incentives (slide 25).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0E2911-3C52-407D-BBC1-090CD13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361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985D5C-BA8A-41B7-824C-4C7D4398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4251B-6D32-45B6-9795-6506892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MPW tape-out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7ACDA7-248A-47A7-A24C-18A8D94C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Execute a cost-efficient tape-out via TSMC's 28nm HPC+ MPW program, bypassing a dedicated mask set.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058FA7-1E9B-4AC9-A22D-43FE1442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881166-17CF-4BC3-97D8-9AF5EE30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531F46-F29E-4B82-B545-6CE4604A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High-volume aftermarket launch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6911E-5B49-4A42-AE54-4ABBB20D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Package the ASIC into a complete retrofit kit; sell direct-to-fleet to commercial trucks facing upcoming safety mandates.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DB09E6-766D-4FEC-B7D8-C1442040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F4CF3B-B585-480A-910F-D84861CE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5CDC1B-D369-466E-A79E-96AC94DB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disruptive price wedge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583EE1-8BDC-4678-AC40-C62264A5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97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Price the kit at ₹2–2.5 Lakh — undercutting imported systems (company-stated ₹5–18L import bands) by 3–7×.</a:t>
            </a:r>
          </a:p>
        </p:txBody>
      </p:sp>
    </p:spTree>
    <p:extLst>
      <p:ext uri="{BB962C8B-B14F-4D97-AF65-F5344CB8AC3E}">
        <p14:creationId xmlns:p14="http://schemas.microsoft.com/office/powerpoint/2010/main" val="28461212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FD39AD-C7FB-4EE1-BB43-7AB1D5E7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7A0CE-EB78-40CB-8C7D-D5B5B81E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GTM ROADMAP · PHASE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F0EEC-ABE3-4DF6-8CC0-3C691EA0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OEM &amp; Tier-1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7096D-6927-49F4-862C-4DCC5B8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18–36 — scalable Tier-1 partnerships and factory line-fit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A110C-C6C9-490C-8FD3-F2801C09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D6378-1873-41B9-8985-63BFF125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729E7-E798-4F38-BC9D-0EF9E88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0EC4C-EB63-4FA8-A2F2-023FE85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d5a3f488d41b3"/>
          <a:srcRect xmlns:a="http://schemas.openxmlformats.org/drawingml/2006/main" l="0" t="13333" r="0" b="1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6050" y="190500"/>
            <a:ext cx="1428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B97F8-43EB-4846-B842-C478C968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B99CF-51EC-49A7-813A-34164503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380D4-F91A-4A00-8321-47C94375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PHASE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4602C-4486-4F2E-BAB8-4815E4D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B0A91-3A00-4F03-BCC8-F8F6D2EA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Tactical Wedge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10819-A2A4-4784-9039-35A396E1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0–6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F0254-539C-4E4F-A75A-DF11B688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276CA-B367-411A-9B11-0E788D81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PHASE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5954E-D1F3-4CDD-8A3D-37BEBC06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E7EC3-3E1D-49CC-B390-E9F23521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Aftermarket Retrofit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E07A1-B593-4EA8-9B12-A65EABF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6–18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88430-E09E-41AE-8BA0-6BC5441B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676400"/>
            <a:ext cx="360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43EB3-930F-45F4-9AB4-639131E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733550"/>
            <a:ext cx="360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PHASE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74E12-0945-4170-8089-0232FB52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325" y="2057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19050">
            <a:solidFill>
              <a:srgbClr val="00B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67D5F-BE5B-4F82-BF2D-292F564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50" y="2305050"/>
            <a:ext cx="372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OEM &amp; Tier-1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17F30-FEBB-4042-AD77-46ADFFB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50" y="2514600"/>
            <a:ext cx="372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Months 18–36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3BB22-2F61-4655-A8DC-54B50180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598B5-72EC-4845-B8CC-20E0BDDB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B61B7-8008-42B6-AA76-6C43A819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Tier-1 strategic alliances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0D8158-EA9B-4496-BE5A-CF32E359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Partner with domestic Tier-1 suppliers (Uno Minda, Spark Minda, Bosch India) — DeepGrid licenses the ASIC and software; the Tier-1 manages manufacturing and warranty liability.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2982D-B81A-427D-9347-D406BAF3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58A7A4-9F19-42D6-842A-F136E3A0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8256A-780C-46E5-B894-2D4FD027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Sovereign OEM line-fit wins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658712-F2F9-48A0-ADD1-9C7E5A49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Direct-to-fleet retrofit data becomes the pitch for a cost-saving, factory-installed standard component on new vehicle models.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CF29EA-D8AA-4190-8ECD-1C188C4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F57881-5D7E-4312-80E1-01CE84A1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7F384C-B815-48AA-8A03-8F3A34C2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High-margin SaaS activation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7FD128-BAE2-4D8C-8221-2451A605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Shift from hardware-only sales to recurring subscriptions for fleet tracking, collision alerts, and driver monitoring (slide 24).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1C1DF-9DE9-4954-8DD4-A0F75C0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D80441-4CAC-4DB1-908E-F37F133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1CCD17-120E-4FB1-AD34-4A93CB3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sovereign data moat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A67918-A715-4F29-8F52-21EF7425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970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Every kilometer driven by fleet retrofits generates localized training data — reinforcing accuracy and raising switching costs for operators.</a:t>
            </a:r>
          </a:p>
        </p:txBody>
      </p:sp>
    </p:spTree>
    <p:extLst>
      <p:ext uri="{BB962C8B-B14F-4D97-AF65-F5344CB8AC3E}">
        <p14:creationId xmlns:p14="http://schemas.microsoft.com/office/powerpoint/2010/main" val="11291085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5196F4-45CA-42A6-B9B6-CC39C7A9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673A7-CBF4-494C-A295-D3E03683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REGULATORY MANDATE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86839-22C2-478D-A8DC-7320E796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The Non-Discretionary Compliance Engine in India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C6109-A718-4DFB-9863-B1444CA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Mapping mandatory MoRTH and AIS deadlines to DeepGrid chiplets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FD98E-B670-407F-886B-40FE2894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5EE36-6E6A-4273-8609-470B8B23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ACE2A-3F49-4E70-98E2-14DC4D64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44E00-A893-4F2E-9616-A7DE879D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42080-8A32-48C7-9C20-1B76CA0E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11B7E-0362-413B-83D3-80D64AD8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20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MANDATE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34DDF-6280-4765-AF01-F5A39F65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62125"/>
            <a:ext cx="424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CORE ADAS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405E3-C110-40DE-BC9F-073EB25F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542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CHIPLET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95684-E366-4B7C-A6FD-93BA7EF2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49011-16A0-48B4-8DA3-6A4C31DD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AIS-184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DCA1C-D6DD-4311-811F-BEDDC828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424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Driver Attention Warning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AFCA5-5937-419B-B9AC-A8491CF6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H100 Bio-ADC fatigue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A1CC3-3359-4459-8359-BBBBC52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127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15FE0-A253-4CDC-87B5-45B19045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AIS-186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4BFF7-4564-48AA-9406-F98DD499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19350"/>
            <a:ext cx="424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Blind Spot Detection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DAA49-34FD-484D-A185-80C08DF8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R100 Radar DSP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C0B26-C074-406D-9871-1041F9D4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1127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2DFB8-9033-4A0F-826A-EE51E89E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AIS-187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4927B-637A-485C-A597-FDB1B45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81300"/>
            <a:ext cx="424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Moving-Off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822BA-82E5-4278-BB7C-65C04A6D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R100 Radar + T100 Vision DSP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F940C-C9EA-4FEE-86FD-E4C06A56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127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5724E-000F-4824-A086-B5C6EAD2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AIS-188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2E8F6-D80D-4600-B029-36C224A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0"/>
            <a:ext cx="424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Lane Departure Warning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15C53C-2735-4807-B367-CA7AC2B8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A100 Edge AI vision 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A0B17-81E7-4968-A72D-EADB6CE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27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0E705-FD84-47B4-8A70-9E0F3CEF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AIS-162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502B26-C853-41EE-B7AE-375FF675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05200"/>
            <a:ext cx="424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Advanced Emergency Brake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9D1B4-3326-4C71-88DF-13882260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A100 &amp; R100 real-time logic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0A8EBC-3AF6-4809-AF98-0F41628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127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52F0C-5528-4446-AF47-91C4D57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AIS-189/190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D9E75-6221-4CD8-ACBD-E561D5E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67150"/>
            <a:ext cx="424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Secure software &amp; hardware update mgmt.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AD178F-DD92-4FCD-B90F-F6826D5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D100 RISC-V lockstep secure enclave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FCD28F-D03B-42FF-9077-923BF56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12776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B7C179-2CB5-496F-9573-D4A9594A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F51DCA-E2B0-4CE1-99FB-683C6D78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⚠  A correction we are making to our own materials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FF6BAA-1627-4742-962F-91471457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8966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Earlier DeepGrid materials cited GSR 184(E) as live from 1 April 2026 (new vehicles) / 1 October 2026 (existing fleet) — that date comes from a March-2025 draft notification. The operative dates, per the ministerial reply, are 1 October 2027 (AEBS + ESC) and 1 January 2028 (all four functions). We present the operative dates because the tape-out clock still fits inside them, and because an investor will check MoRTH's gazette directly.</a:t>
            </a:r>
          </a:p>
        </p:txBody>
      </p:sp>
    </p:spTree>
    <p:extLst>
      <p:ext uri="{BB962C8B-B14F-4D97-AF65-F5344CB8AC3E}">
        <p14:creationId xmlns:p14="http://schemas.microsoft.com/office/powerpoint/2010/main" val="89029089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6BD3B-08BC-40A5-AD07-F5C0BE8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3F777-A9AC-43CA-A5C3-37F5089E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REGULATORY MANDATE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5BB89-7894-4A5B-B819-361F8165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GCC Regional Compliance Engine — Saudi TGA &amp; WASL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93823-128B-4C19-9FAB-FE278408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Natively meeting SASO and WASL fleet-tracking 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CE8B8-E640-4262-8093-B8845605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1865C-86BA-451E-A340-9A6784C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0929B-B477-4978-A49F-0998AB9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93688-FB49-4E6A-B491-DB3E2709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C37AE-EE85-4F4F-84D4-9C85F77A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42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88ECE-CAD0-48E1-9F14-A502E946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F7903-6608-47E8-B6D7-62787C4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Saudi WASL mandate &amp; penalties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0E2C0-8647-4BB4-922D-4DC8A3E1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5048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Saudi Arabia's Transport General Authority requires all commercial heavy-goods trucks, buses, and delivery vehicles to sync live location and weight metrics to the WASL platform. Unlinked vehicles face operational suspension and heavy municipal fines.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3D7A9-335C-4251-BD66-20F4E35D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42925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D215-85D0-4EAA-A1FB-2FA476F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955A5-1041-4E6D-B3B8-8676F9A9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Integrated tracking &amp; the S100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4A7D7-56DB-47F2-AE6B-F5DF23D5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0482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Heavy trucks must run a GPS tracker paired with on-board weight sensors (&gt;90% accuracy). Integrated WASL protocols and raw sensor interfaces on-chip let fleets run this sync directly on DeepGrid hardware — no secondary tracker unit.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4CFBF-762C-4A63-8350-1EF67028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505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40229af544e60"/>
          <a:srcRect xmlns:a="http://schemas.openxmlformats.org/drawingml/2006/main" l="36463" t="0" r="364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819275"/>
            <a:ext cx="5486400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1245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8FEE8F-6378-4C64-ACF4-F4AF6C3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6FAA3-D988-4E9A-8D9D-881ED6A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FINANCIAL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7182E-16BD-4A2C-87FF-A994259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Hardware Unit 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A8976-5631-4BFC-80CF-6549C6F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High production yields and low manufacturing cost on TSMC 28nm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20239-4E58-4046-8239-07A30C4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5DFB1-56CE-40E7-BD0A-2B59060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B0168-C4CB-455E-9991-59AB9A28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40DEA-CBA8-411F-87EB-87AE155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33fec7e114bb1"/>
          <a:srcRect xmlns:a="http://schemas.openxmlformats.org/drawingml/2006/main" l="0" t="13333" r="0" b="1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6050" y="190500"/>
            <a:ext cx="1428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F1CCB-D738-4C77-B199-FBE36ECD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98812-A0FE-4DB5-8E6A-D6326A11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$3.876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7A758-63F5-48C0-90EB-4F1D2402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DIE COST AT 1M CHIPS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374F8-5790-4645-BB4E-EAA92773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243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&lt;$4 · Muse/GSME quote, 28nm HPC+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0FFEA-AB3D-43E8-B6A1-6E17BD8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7640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DA709-86CC-4B24-9277-2731892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A9396"/>
                </a:solidFill>
                <a:latin typeface="Georgia"/>
                <a:ea typeface="Georgia"/>
                <a:cs typeface="Georgia"/>
              </a:defRPr>
            </a:pPr>
            <a:r>
              <a:t>~$30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C195D-9436-423D-B742-10FF38BD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COMPLETE BOARD BOM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6EC47-7062-4E11-A7A0-1329A181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243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ASIC + sensors + enclosure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7677D-EADF-49D9-8D13-AE3469DD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7640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A3DCE-3066-4635-9A11-450B5FA1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DB4D4"/>
                </a:solidFill>
                <a:latin typeface="Georgia"/>
                <a:ea typeface="Georgia"/>
                <a:cs typeface="Georgia"/>
              </a:defRPr>
            </a:pPr>
            <a:r>
              <a:t>12.9×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71FDB-89D9-444A-80E9-FD69CAB5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COST ADVANTAGE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46792-7658-4CEC-BC4C-7B616E5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43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vs. Mobileye $50 ASP (sourced)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01482-3652-4F8A-A5FA-2FCDCDC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76400"/>
            <a:ext cx="2781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44DAF-68BE-409C-AF99-D83E447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2781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2855B"/>
                </a:solidFill>
                <a:latin typeface="Georgia"/>
                <a:ea typeface="Georgia"/>
                <a:cs typeface="Georgia"/>
              </a:defRPr>
            </a:pPr>
            <a:r>
              <a:t>96.7%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9FF43-6C96-4A2F-80C4-ECC1EE3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2552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PREDICTED YIELD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762F1-B442-4FE7-B109-1A9427B6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2552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IM figure — see workbook flag below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1BA23-83DE-4400-9E90-FE0A70D9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RETROFIT KIT VARIABLE COST BUILD-UP ($200 TOTAL)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24F17-9FE4-4676-A247-01DA90E7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69164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3873A-1F8A-4C22-9765-9EDF6B16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50114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ASIC Board  ~$30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E96E77-6586-4E11-BA77-09F3ACA4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619500"/>
            <a:ext cx="563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DDA5B8-B8B1-49F6-ADA9-FACA1F46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090" y="373380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Radar Sensor  ~$100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E43AD9-ACFC-48FB-9FAE-7C399FDE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19500"/>
            <a:ext cx="2819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96306-39B8-42FE-A40A-47B0865D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3733800"/>
            <a:ext cx="2628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Visual Cameras  ~$50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8D2EAD-6B31-432B-A2C0-8BC26F6D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19500"/>
            <a:ext cx="11277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9D1784-858D-4A7C-866F-D30A26CF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290" y="3733800"/>
            <a:ext cx="93726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Enclosure  ~$20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9C1BC3-7F93-44FC-B158-54945A8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4004BD-8BCF-45C2-B211-A90B80EE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1277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At a ₹2–2.5L (~$2,400–$3,000) retail ASP, this $200 variable cost implies a computed unit gross margin of roughly 92–93% at scale. We show it as a range because it is not yet reconciled to the company-level P&amp;L model (slide 23).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4F555-CE7B-4B55-8006-D1AC04BE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8B575-C771-495D-85C8-FB5C5D6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EC67B8-AA09-40F3-A3DF-2C2FA223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⚠  A correction we are making to our own materials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DDFEAD-F05E-4BD9-A82C-F3DB4949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Earlier materials stated die cost as "~$3 at scale." The canonical reconciliation (Muse/GSME quote) puts it at $3.876 — under $4, not under $3. We also do not repeat the source deck's "84% gross margin" figure; it is not derivable from the $200 kit-cost build-up above at the stated ASP, so we show the math instead of asserting a number.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5411B2-4885-4F30-95AB-4E240B3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DeepGrid Business Plan v2 workbook + reviewed Pre-Series A Analysis (canonical reconciliation, 2026-07-19). Yield discrepancy flag: workbook models 94.5% (Murphy 0.1/cm²) vs. 96.7% in the IM — immaterial to die cost, both figures should not be printed together.</a:t>
            </a:r>
          </a:p>
        </p:txBody>
      </p:sp>
    </p:spTree>
    <p:extLst>
      <p:ext uri="{BB962C8B-B14F-4D97-AF65-F5344CB8AC3E}">
        <p14:creationId xmlns:p14="http://schemas.microsoft.com/office/powerpoint/2010/main" val="20508364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2C407A-42BB-4B6C-9698-D8DC5824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36F75-A60D-4EE4-AEA9-05004549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FINANCIAL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0DAFD-94A3-41BF-853C-53FE67CA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Cost Curves &amp; Tape-Out Break-Even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1E1EC-3BE7-4DF4-BCD5-B890E36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Surgical application of NRE capital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1A749-8160-43A9-9151-244EC984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BA6C3-00F9-4F50-8ECF-A9D6804B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4971F-0A2F-4EC3-AE2E-3BD079E8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4350-7147-4E6B-BBC0-7DA5DB2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AEA34-A391-4868-B25F-06D70342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19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1EE84-4F11-4A7C-A227-2A349C28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$3.17M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C9259-673F-48EC-8BD3-3DBC3764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390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TAPE-OUT NRE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5CB2D-4BF5-4361-881E-FFBE505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39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MPW phasing: A100+R100 MPW, full-die MPW, backend→GDSII, mask, IP, PHY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A398D-2EA1-4B10-B395-0329749E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619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946E1-EE88-435B-93DE-89BE670D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A9396"/>
                </a:solidFill>
                <a:latin typeface="Georgia"/>
                <a:ea typeface="Georgia"/>
                <a:cs typeface="Georgia"/>
              </a:defRPr>
            </a:pPr>
            <a:r>
              <a:t>~174,908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0E354-8E28-4801-8505-0512F84D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3390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BREAK-EVEN VOLUME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8CAC5-7FE9-4D64-903A-71276CEE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3390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Chips, at $18.12 blended margin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76BF0-B90D-4385-BB07-AA76F01A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162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8FE9F-E109-476D-9B9A-957634B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3162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45309"/>
                </a:solidFill>
                <a:latin typeface="Georgia"/>
                <a:ea typeface="Georgia"/>
                <a:cs typeface="Georgia"/>
              </a:defRPr>
            </a:pPr>
            <a:r>
              <a:t>FY2032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E267C-2610-44A5-ABD3-83100D8B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2933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BREAK-EVEN CROSSES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AE487-111D-46B0-8B6D-8C2ACE20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Per reviewed analysis recomputation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23BCE-7D24-425F-AC92-B07E2FEB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F16EE-6755-48E9-8887-899C151D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7ADCB-BA24-440E-B640-8C0F5624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⚠  A correction we are making to our own materials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B706A-F47C-43CB-98E3-7CD32D16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89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Earlier materials showed an $8M NRE break-even of "just 3,636 retrofitted trucks" — using Break-Even = $8,000,000 ÷ ($2,400 ASP − $200 unit cost). That $8M NRE figure and the resulting 3,636-unit break-even were already investigated and superseded once, in our internal financial reconciliation (2026-07-19): the actual tape-out NRE build is $3.17M (at-risk pre-validation exposure: $370K, 11.7%), and the correctly recomputed break-even — at $18.12 blended per-unit margin, not the retail-vs-kit-cost spread alone — is ~174,908 chips, crossing profitability in FY2032. We are not repeating the earlier, smaller number.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48D45-67E0-4A2F-8277-AA51D45A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476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NRE PHASING (CANONICAL)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31310-E391-481F-A1F8-1A3E028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$69K A100 MPW + $69K R100 MPW + $232K full-die MPW  →  $1.0M backend→GDSII (post-MPW)  +  $1.0M mask  +  $300K PrimeSoC IP  +  $500K Terminus PHY  =  $3.17M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8CA16-9D20-4CAA-BA51-3E92B364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Tapeout Expenses sheet, DeepGrid Business Plan v2 workbook (added 2026-07-19). This volume is a fraction of a percent of active commercial vehicles in India — the mandate-driven TAM is not the constraint; capital-efficient NRE phasing is.</a:t>
            </a:r>
          </a:p>
        </p:txBody>
      </p:sp>
    </p:spTree>
    <p:extLst>
      <p:ext uri="{BB962C8B-B14F-4D97-AF65-F5344CB8AC3E}">
        <p14:creationId xmlns:p14="http://schemas.microsoft.com/office/powerpoint/2010/main" val="8351288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4C1ECE-1231-4D2A-B203-E4D3133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C1396-82EC-46CB-80CC-0E910AEF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FINANCIAL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4F592-E512-4C81-82A6-FCD5B65E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6-Year Revenue &amp; Margin Trajectory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BAA38-EA48-4FDD-A5E5-51143C87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Management projection, unaudited — model output, not observed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39E99-8771-46E9-AE0A-D9594655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D8519-F92A-493B-BE4F-34FA2F14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5F1EC-3D8D-412D-B4DB-B6F992A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18720-86D0-4968-8C12-8CF4C18D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DE3B8-7D49-4238-90A6-9E5BC323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98F23-45D4-4F40-A05E-F822C50C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" y="4800600"/>
            <a:ext cx="1047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2D5E5-3E09-4C61-B504-F83C7696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" y="44767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₹6 Cr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F76C9-221C-4807-A5EB-0FD4C6DD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" y="4953000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FY27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34C62-C6B4-4D00-8F0D-AA68E788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72990"/>
            <a:ext cx="1047750" cy="84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4D4"/>
          </a:solidFill>
          <a:ln xmlns:a="http://schemas.openxmlformats.org/drawingml/2006/main" w="9525">
            <a:solidFill>
              <a:srgbClr val="8DB4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30F07-F8BA-45FD-9D32-E04E836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4914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₹41.2 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51B22-D324-40B9-9164-F70476A2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953000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FY28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36DD-3EE4-4011-ADCF-43AC4E2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075" y="4559781"/>
            <a:ext cx="1047750" cy="297969"/>
          </a:xfrm>
          <a:prstGeom xmlns:a="http://schemas.openxmlformats.org/drawingml/2006/main" prst="roundRect">
            <a:avLst>
              <a:gd name="adj" fmla="val 25573"/>
            </a:avLst>
          </a:prstGeom>
          <a:solidFill xmlns:a="http://schemas.openxmlformats.org/drawingml/2006/main">
            <a:srgbClr val="0A9396"/>
          </a:solidFill>
          <a:ln xmlns:a="http://schemas.openxmlformats.org/drawingml/2006/main" w="9525">
            <a:solidFill>
              <a:srgbClr val="0A93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2EAD3-C55D-4E10-8F81-B8CF92B8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575" y="4235931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₹144.7 Cr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29F2A-6FDE-4AC8-B726-C4112EBF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475" y="4953000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FY29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E6764-DC0A-4BE0-92C1-60E7228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575" y="4134394"/>
            <a:ext cx="1047750" cy="723356"/>
          </a:xfrm>
          <a:prstGeom xmlns:a="http://schemas.openxmlformats.org/drawingml/2006/main" prst="roundRect">
            <a:avLst>
              <a:gd name="adj" fmla="val 10534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912CD-E0CA-433E-B4C7-2A71E31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075" y="3810544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₹351.4 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C29F5-020B-4924-B490-6E3D453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975" y="4953000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FY30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08505-0291-445E-8A65-6D31671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51661"/>
            <a:ext cx="1047750" cy="1506089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8FA1C2-A616-496E-BC7C-7BFA06A9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27811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₹731.5 Cr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4B8EE-7A7E-4B12-A1E0-474E5D3C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53000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FY31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8C3C4-6165-43D4-8268-FC845868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575" y="2000250"/>
            <a:ext cx="1047750" cy="2857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B4D8"/>
          </a:solidFill>
          <a:ln xmlns:a="http://schemas.openxmlformats.org/drawingml/2006/main" w="9525">
            <a:solidFill>
              <a:srgbClr val="00B4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970AE-96FA-406B-81D7-0EF9FC8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075" y="16764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₹1,388.0 Cr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5CA60-E364-46B9-93CD-D359873F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953000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FY32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A54BB-358A-49E0-9E8F-98EB45C3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295400" cy="1428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D5D08-E421-4C2C-AD05-A148917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09800"/>
            <a:ext cx="1295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2855B"/>
                </a:solidFill>
                <a:latin typeface="Georgia"/>
                <a:ea typeface="Georgia"/>
                <a:cs typeface="Georgia"/>
              </a:defRPr>
            </a:pPr>
            <a:r>
              <a:t>88%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7FFD0-6BAF-4AEA-9060-71065F4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8130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FY32 GM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151A9-96D7-4AB5-ADC7-7A9757CF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9085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from 53%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920DD0-8ABD-4C15-9CD6-90A72BFF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295400" cy="1428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75E143-F6F5-456F-B8E7-9BE0C166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1295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A9396"/>
                </a:solidFill>
                <a:latin typeface="Georgia"/>
                <a:ea typeface="Georgia"/>
                <a:cs typeface="Georgia"/>
              </a:defRPr>
            </a:pPr>
            <a:r>
              <a:t>39%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BF6A2-FCA9-480B-91FE-581F5B6E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324350"/>
            <a:ext cx="106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FY32 EBITDA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E56FAE-8282-4D04-80DF-645F868E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339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₹536.6 Cr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889C0D-80BA-41C3-B9DA-E1221E6A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952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Net income turns positive FY2029; FY32 net income ₹381.37 Cr.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23F1F0-5BF3-4E18-84DD-137C689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9525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Source: DeepGrid Business Plan v2 P&amp;L (canonical, 7 independent confirmations). Replaces the source script's unreconciled Year-1/2/3 USD ARR table, which does not tie to this P&amp;L model. All projections are management, unaudited.</a:t>
            </a:r>
          </a:p>
        </p:txBody>
      </p:sp>
    </p:spTree>
    <p:extLst>
      <p:ext uri="{BB962C8B-B14F-4D97-AF65-F5344CB8AC3E}">
        <p14:creationId xmlns:p14="http://schemas.microsoft.com/office/powerpoint/2010/main" val="6929758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69A86-1359-4219-BFB6-AB58E0C3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6F86-D9F6-4619-967F-87399E9F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MONETIZATION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FE4F8-AEC8-49DE-AFAD-7814A285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Recurring Software Monetization — SaaS &amp; the Sovereign Data Moat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7F869-982F-4A82-8456-3105733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Turning low-cost hardware into long-term subscription revenue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AA7B4-CF79-475C-82D0-DF9F6F1A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6818F-501E-4168-AC52-12E63CD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C5715-5F42-42D6-B3F0-1ABBFB8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E701C-1840-4FBB-AB20-BA6648C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26C17-8ADE-47C6-8537-8235C48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619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25FE8-0A6C-41BF-A3A0-2AFF0120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FEB27-E43C-4B6D-B9E8-5821846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Base Compliance 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5AF7A-C459-4AB7-8029-EA2B3D94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238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₹10,000 / year per vehicle. Basic safety metrics, automated drowsiness warning logs, automated compliance sync with Indian MoRTH and Saudi WASL portals.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C2832-29B8-441D-8136-5391F8DB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619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F61E9-0A3E-456C-9935-7AE869B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8E1BF-62EF-4C79-B4C1-EB261EF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Advanced Autonomy 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389E1-C786-4101-BB1A-2F3F532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₹15,000 / year per vehicle. Advanced driver-fatigue tracking via the H100 bio-ADC and edge-based Vision-Language-Action video analytics.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F1148-A075-4964-B8A6-43F3D8A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6195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A08C4-C452-427E-84B7-D11CDE00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61CE5-AC9A-42B1-B81A-1592F866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3276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Premium Autonomy Tier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C88A2-B64B-4822-9020-51D666F2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238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₹25,000 / year per vehicle. Active Level 2+ collision avoidance, lane-keeping assist, adaptive speed compliance via secure OTA updates.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5D2E8-FC86-4885-A6A8-B0FBB319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127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64092-013C-4EE4-B577-0A79258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61DDD-4BDD-4970-A972-A54D731B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data moat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FEBE7-5EC2-4C7C-93B7-EF0E5951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89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Every kilometer driven acts as a Trojan Horse — generating localized training data that creates switching costs no general-purpose competitor can replicate without the same fleet footprint.</a:t>
            </a:r>
          </a:p>
        </p:txBody>
      </p:sp>
    </p:spTree>
    <p:extLst>
      <p:ext uri="{BB962C8B-B14F-4D97-AF65-F5344CB8AC3E}">
        <p14:creationId xmlns:p14="http://schemas.microsoft.com/office/powerpoint/2010/main" val="108788523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49DA2A-40B7-4EB7-9A28-85772EF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71529-F617-4906-9ADF-C0E1262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CAPITAL EFFICIENCY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A47C0-1106-4A38-915A-6D972C2B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93B"/>
                </a:solidFill>
                <a:latin typeface="Georgia"/>
                <a:ea typeface="Georgia"/>
                <a:cs typeface="Georgia"/>
              </a:defRPr>
            </a:pPr>
            <a:r>
              <a:t>Leveraging Sovereign Subsidies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E2A34-7D59-4A84-8082-9C215863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0810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Maximizing India Semiconductor Mission outlays to reduce capital burn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A8D8A-AA3A-41A5-AB40-1D2E4AF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59F43-2127-4869-8E12-3B8E2C7B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F540C-714B-49EA-8B17-FE6CE71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F1127-5440-43E9-9CC1-B83FF73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D7001-2EF6-4125-8185-2F4A68AA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F7A6F-3AB8-4BCE-85DF-E99ECC7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EB5F2-51F4-48DE-9C83-87D23F98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58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Product Design Linked Incentive (P-DLI)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EB36B-D0DB-4ACA-88C1-21CC9C55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Up to 50% reimbursement of eligible chip design expenditure, capped at ₹15 Cr per application.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A4DC6-985A-4833-8102-8E58491B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89CFE-0DF7-495B-BD25-FAE3EB77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1A368-4C71-4F4C-A282-24BD7968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Deployment Linked Incentive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01346-A923-4A54-8E44-9D8C575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Financial incentives of 4–6% of net sales turnover over five years, capped at ₹30 Cr.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84179-7A1C-424B-ADB8-FF3B46A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1DB28-E860-437A-BAF7-A7B76537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76D27-A809-4D19-A932-1C52A5DE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Shared EDA grid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4B56B-7B41-44C7-83EB-EA7804B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Access to the ChipIN Centre's centralized EDA platform — saves hundreds of thousands in licensing.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9749B-6153-4FB4-96D9-2D74E43D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26289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09F54-EBEC-4F80-9A36-0B276F2D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47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DAD16-7CB8-4190-8F1F-391CC8D0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909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VC multiplier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60B77-4452-4D07-A846-978DBEAA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95700"/>
            <a:ext cx="22479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The ₹55 Cr blended round + these incentives fund a well-capitalized path to first-silicon.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9805D-4719-46A8-8F37-47A1434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505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8682bbeb64b89"/>
          <a:srcRect xmlns:a="http://schemas.openxmlformats.org/drawingml/2006/main" l="0" t="17882" r="0" b="17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819275"/>
            <a:ext cx="5486400" cy="35242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2524F-918D-4517-836B-016EC9F7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E6FD2F-9F54-4854-8FC8-A47C2031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B491D-21EF-40C9-8C67-E4B64BC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93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⚠  A correction we are making to our own materials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59E13-FD68-4D5C-836B-E29048BE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96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Consistent with slide 2 and slide 17: the raise this subsidy stack is sized against is the reconciled ₹55 Cr blended figure, not the ₹25 Cr cited in earlier materials.</a:t>
            </a:r>
          </a:p>
        </p:txBody>
      </p:sp>
    </p:spTree>
    <p:extLst>
      <p:ext uri="{BB962C8B-B14F-4D97-AF65-F5344CB8AC3E}">
        <p14:creationId xmlns:p14="http://schemas.microsoft.com/office/powerpoint/2010/main" val="56149236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2F7CAC-B6D4-4653-B55C-3C05D25A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06A6C-FCD8-4F39-A73C-07547DAB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CD283-C1FB-491D-9182-D57082E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749E4-26EB-4B3F-A329-7AD8C3F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B4D8"/>
                </a:solidFill>
                <a:latin typeface="Arial"/>
                <a:ea typeface="Arial"/>
                <a:cs typeface="Arial"/>
              </a:defRPr>
            </a:pPr>
            <a:r>
              <a:t>THE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D0591-04AC-41B9-AABD-5632EA46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57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The Defensible Pre-Series A Investment Thesis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4d1a446784044"/>
          <a:srcRect xmlns:a="http://schemas.openxmlformats.org/drawingml/2006/main" l="0" t="23810" r="0" b="23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4550" y="171450"/>
            <a:ext cx="2000250" cy="104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0A88B-ACE0-46EF-89A4-AFFF646E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B81C4-5990-4A41-A3D4-D03B5017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28217-BF91-422A-ABAF-96200BA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Pillar 1 — eliminating the hardware squeeze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B7C2A-316F-4572-BC41-DA1D3226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Owning the chip, sensor interfaces, and software secures high hardware margins plus high-margin recurring SaaS revenue.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27EB1-B0D3-476D-A1A9-EAC09AB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3825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FBF6B-FFA8-4468-9E7D-AFD1228C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38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3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C9F1F-A38C-4C38-92CE-FD9DA311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906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Pillar 2 — de-risked technical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5D939-F9C1-458B-A010-DB214B94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Not a concept-stage bet: the tensor-cube architecture is validated on FPGAs, generating ₹1 Cr in tactical defense contract revenue already.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68204-2930-4514-8C7F-2B46A7A5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4BDA9-3379-4DC1-8FED-8113C5D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CE5FC-9888-4D9D-A010-C35142A8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Pillar 3 — non-discretionary mandate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88BE6-319C-4CE1-A703-B337B768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MoRTH GSR 184(E) (operative Oct 2027 / Jan 2028) and GCC WASL mandates provide a guaranteed, price-sensitive TAM.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D053C-91D8-456E-9DE5-3704CAA5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542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959FA-199C-4296-9C61-A7BCF3E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EFDA4-5292-4CF8-92F8-4ED40B66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Pillar 4 — capital-efficient engineering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4C667-E3E9-4DF0-9C56-743313A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TSMC's mature 28nm node plus India's DLI subsidies mean the ₹55 Cr blended ask funds the journey to first-silicon and market launch.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18BBF-29D4-4239-89AE-42EC3106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6D44B-7DB7-4254-9358-9575849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2650E-30FB-49AF-85F9-6DFE744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B4D8"/>
                </a:solidFill>
                <a:latin typeface="Georgia"/>
                <a:ea typeface="Georgia"/>
                <a:cs typeface="Georgia"/>
              </a:defRPr>
            </a:pPr>
            <a:r>
              <a:t>₹55 Cr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DEB49-99F2-4B8C-B6AD-700A4824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THE 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3D18D-3ED5-4EB2-BECD-F198A26C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243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Blended equity + CGTMSE debt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75236-7B87-4715-91AF-50E80261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94074-164C-467D-ABCD-4884FA94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A9396"/>
                </a:solidFill>
                <a:latin typeface="Georgia"/>
                <a:ea typeface="Georgia"/>
                <a:cs typeface="Georgia"/>
              </a:defRPr>
            </a:pPr>
            <a:r>
              <a:t>₹2.48 Cr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89748-3D09-4253-8C1A-EBE7595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530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CAPITAL TO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B41B9-6860-4A8C-B496-C4C98217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62600"/>
            <a:ext cx="243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≈ $264k · angel + ARAI + HDFC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DAA80-0E95-484B-A6DD-73B5C0D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7200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F0E3B-BF9F-4B5C-B23F-D472720E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8DB4D4"/>
                </a:solidFill>
                <a:latin typeface="Georgia"/>
                <a:ea typeface="Georgia"/>
                <a:cs typeface="Georgia"/>
              </a:defRPr>
            </a:pPr>
            <a:r>
              <a:t>18.07%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CAA0B-0E32-40AC-AE35-1F8A4431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OFFERED STAKE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94A4B2-5B41-410C-8557-DAD2838D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62600"/>
            <a:ext cx="243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⇒ implied ~₹249 Cr post (derivation)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83CCC-17B8-4CA4-9ED0-9F97C81D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72000"/>
            <a:ext cx="2781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6E0C72-4934-4FF7-BE3C-C0494C6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81550"/>
            <a:ext cx="2781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2855B"/>
                </a:solidFill>
                <a:latin typeface="Georgia"/>
                <a:ea typeface="Georgia"/>
                <a:cs typeface="Georgia"/>
              </a:defRPr>
            </a:pPr>
            <a:r>
              <a:t>FY2029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463970-14F7-4371-A6DC-DDA86C93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53050"/>
            <a:ext cx="2552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t>PROFITABLE FROM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F54D69-B43A-47AD-A74D-79046542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62600"/>
            <a:ext cx="2552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t>Net income positive, model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672F69-DF9B-4670-89CC-3710EDDD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047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i="1">
                <a:solidFill>
                  <a:srgbClr val="A9BACD"/>
                </a:solidFill>
                <a:latin typeface="Arial"/>
                <a:ea typeface="Arial"/>
                <a:cs typeface="Arial"/>
              </a:defRPr>
            </a:pPr>
            <a:r>
              <a:t>Join us in delivering sovereign edge-autonomy to the next billion vehicles.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A2D71-E141-4EE3-8C05-90CF2B0A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3C451B-77EA-4852-B240-8DD3B76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723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DEEPGRID SEMI  ·  PRE-SERIES A INVESTOR BRIEFING  ·  JULY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7FC2EE-A314-46B3-A68B-3C8067B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62725"/>
            <a:ext cx="542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FA2B7"/>
                </a:solidFill>
                <a:latin typeface="Arial"/>
                <a:ea typeface="Arial"/>
                <a:cs typeface="Arial"/>
              </a:defRPr>
            </a:pPr>
            <a: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88019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2026-07-24T00:05:38.8800000Z</dcterms:created>
  <dcterms:modified xsi:type="dcterms:W3CDTF">2026-07-24T00:05:38.8810000Z</dcterms:modified>
</coreProperties>
</file>