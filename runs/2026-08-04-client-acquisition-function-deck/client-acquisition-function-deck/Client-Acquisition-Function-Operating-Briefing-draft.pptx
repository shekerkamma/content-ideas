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643195c8ddb4d7c" Type="http://schemas.openxmlformats.org/officeDocument/2006/relationships/extended-properties" Target="docProps/app.xml"/><Relationship Id="R60247713502645c9" Type="http://schemas.openxmlformats.org/package/2006/relationships/metadata/core-properties" Target="docProps/core.xml"/><Relationship Id="R77502a01ff4148d2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bf564c5e7246f4"/>
  </p:sldMasterIdLst>
  <p:notesMasterIdLst>
    <p:notesMasterId xmlns:r="http://schemas.openxmlformats.org/officeDocument/2006/relationships" r:id="R65a5afa51e6b4160"/>
  </p:notesMasterIdLst>
  <p:sldIdLst>
    <p:sldId xmlns:ns0="http://schemas.openxmlformats.org/officeDocument/2006/relationships" id="256" ns0:id="rId6"/>
    <p:sldId xmlns:ns0="http://schemas.openxmlformats.org/officeDocument/2006/relationships" id="257" ns0:id="rId7"/>
    <p:sldId xmlns:ns0="http://schemas.openxmlformats.org/officeDocument/2006/relationships" id="258" ns0:id="rId8"/>
    <p:sldId xmlns:ns0="http://schemas.openxmlformats.org/officeDocument/2006/relationships" id="259" ns0:id="rId9"/>
    <p:sldId xmlns:ns0="http://schemas.openxmlformats.org/officeDocument/2006/relationships" id="260" ns0:id="rId10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3" ns0:id="rId13"/>
    <p:sldId xmlns:ns0="http://schemas.openxmlformats.org/officeDocument/2006/relationships" id="264" ns0:id="rId14"/>
    <p:sldId xmlns:ns0="http://schemas.openxmlformats.org/officeDocument/2006/relationships" id="265" ns0:id="rId15"/>
    <p:sldId xmlns:ns0="http://schemas.openxmlformats.org/officeDocument/2006/relationships" id="266" ns0:id="rId16"/>
    <p:sldId xmlns:ns0="http://schemas.openxmlformats.org/officeDocument/2006/relationships" id="267" ns0:id="rId17"/>
    <p:sldId xmlns:ns0="http://schemas.openxmlformats.org/officeDocument/2006/relationships" id="268" ns0:id="rId18"/>
    <p:sldId xmlns:ns0="http://schemas.openxmlformats.org/officeDocument/2006/relationships" id="269" ns0:id="rId19"/>
    <p:sldId xmlns:ns0="http://schemas.openxmlformats.org/officeDocument/2006/relationships" id="270" ns0:id="rId20"/>
    <p:sldId xmlns:ns0="http://schemas.openxmlformats.org/officeDocument/2006/relationships" id="271" ns0:id="rId21"/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  <p:sldId xmlns:ns0="http://schemas.openxmlformats.org/officeDocument/2006/relationships" id="297" ns0:id="rId47"/>
    <p:sldId xmlns:ns0="http://schemas.openxmlformats.org/officeDocument/2006/relationships" id="298" ns0:id="rId48"/>
    <p:sldId xmlns:ns0="http://schemas.openxmlformats.org/officeDocument/2006/relationships" id="299" ns0:id="rId49"/>
    <p:sldId xmlns:ns0="http://schemas.openxmlformats.org/officeDocument/2006/relationships" id="300" ns0:id="rId50"/>
    <p:sldId xmlns:ns0="http://schemas.openxmlformats.org/officeDocument/2006/relationships" id="301" ns0:id="rId51"/>
    <p:sldId xmlns:ns0="http://schemas.openxmlformats.org/officeDocument/2006/relationships" id="302" ns0:id="rId52"/>
    <p:sldId xmlns:ns0="http://schemas.openxmlformats.org/officeDocument/2006/relationships" id="303" ns0:id="rId53"/>
    <p:sldId xmlns:ns0="http://schemas.openxmlformats.org/officeDocument/2006/relationships" id="304" ns0:id="rId54"/>
    <p:sldId xmlns:ns0="http://schemas.openxmlformats.org/officeDocument/2006/relationships" id="305" ns0:id="rId55"/>
    <p:sldId xmlns:ns0="http://schemas.openxmlformats.org/officeDocument/2006/relationships" id="306" ns0:id="rId56"/>
    <p:sldId xmlns:ns0="http://schemas.openxmlformats.org/officeDocument/2006/relationships" id="307" ns0:id="rId57"/>
    <p:sldId xmlns:ns0="http://schemas.openxmlformats.org/officeDocument/2006/relationships" id="308" ns0:id="rId58"/>
    <p:sldId xmlns:ns0="http://schemas.openxmlformats.org/officeDocument/2006/relationships" id="309" ns0:id="rId59"/>
    <p:sldId xmlns:ns0="http://schemas.openxmlformats.org/officeDocument/2006/relationships" id="310" ns0:id="rId60"/>
    <p:sldId xmlns:ns0="http://schemas.openxmlformats.org/officeDocument/2006/relationships" id="311" ns0:id="rId61"/>
    <p:sldId xmlns:ns0="http://schemas.openxmlformats.org/officeDocument/2006/relationships" id="312" ns0:id="rId62"/>
    <p:sldId xmlns:ns0="http://schemas.openxmlformats.org/officeDocument/2006/relationships" id="313" ns0:id="rId63"/>
    <p:sldId xmlns:ns0="http://schemas.openxmlformats.org/officeDocument/2006/relationships" id="314" ns0:id="rId64"/>
    <p:sldId xmlns:ns0="http://schemas.openxmlformats.org/officeDocument/2006/relationships" id="315" ns0:id="rId65"/>
    <p:sldId xmlns:ns0="http://schemas.openxmlformats.org/officeDocument/2006/relationships" id="316" ns0:id="rId66"/>
    <p:sldId xmlns:ns0="http://schemas.openxmlformats.org/officeDocument/2006/relationships" id="317" ns0:id="rId67"/>
    <p:sldId xmlns:ns0="http://schemas.openxmlformats.org/officeDocument/2006/relationships" id="318" ns0:id="rId68"/>
    <p:sldId xmlns:ns0="http://schemas.openxmlformats.org/officeDocument/2006/relationships" id="319" ns0:id="rId69"/>
    <p:sldId xmlns:ns0="http://schemas.openxmlformats.org/officeDocument/2006/relationships" id="320" ns0:id="rId70"/>
    <p:sldId xmlns:ns0="http://schemas.openxmlformats.org/officeDocument/2006/relationships" id="321" ns0:id="rId71"/>
    <p:sldId xmlns:ns0="http://schemas.openxmlformats.org/officeDocument/2006/relationships" id="322" ns0:id="rId72"/>
    <p:sldId xmlns:ns0="http://schemas.openxmlformats.org/officeDocument/2006/relationships" id="323" ns0:id="rId73"/>
    <p:sldId xmlns:ns0="http://schemas.openxmlformats.org/officeDocument/2006/relationships" id="324" ns0:id="rId74"/>
    <p:sldId xmlns:ns0="http://schemas.openxmlformats.org/officeDocument/2006/relationships" id="325" ns0:id="rId75"/>
    <p:sldId xmlns:ns0="http://schemas.openxmlformats.org/officeDocument/2006/relationships" id="326" ns0:id="rId76"/>
    <p:sldId xmlns:ns0="http://schemas.openxmlformats.org/officeDocument/2006/relationships" id="327" ns0:id="rId77"/>
    <p:sldId xmlns:ns0="http://schemas.openxmlformats.org/officeDocument/2006/relationships" id="328" ns0:id="rId78"/>
    <p:sldId xmlns:ns0="http://schemas.openxmlformats.org/officeDocument/2006/relationships" id="329" ns0:id="rId79"/>
    <p:sldId xmlns:ns0="http://schemas.openxmlformats.org/officeDocument/2006/relationships" id="330" ns0:id="rId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65a5afa51e6b4160" Type="http://schemas.openxmlformats.org/officeDocument/2006/relationships/notesMaster" Target="notesMasters/notesMaster1.xml"/><Relationship Id="Raaa8115a09f44cd3" Type="http://schemas.openxmlformats.org/officeDocument/2006/relationships/theme" Target="theme/theme1.xml"/><Relationship Id="Rc3885b1277324af6" Type="http://schemas.openxmlformats.org/officeDocument/2006/relationships/presProps" Target="presProps.xml"/><Relationship Id="Re7046ce1b1024108" Type="http://schemas.openxmlformats.org/officeDocument/2006/relationships/tableStyles" Target="tableStyles.xml"/><Relationship Id="Reebf564c5e7246f4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/Relationships>
</file>

<file path=ppt/notesMasters/_rels/notesMaster1.xml.rels><?xml version='1.0' encoding='UTF-8' standalone='yes'?>
<Relationships xmlns="http://schemas.openxmlformats.org/package/2006/relationships"><Relationship Id="R84792ae89fb5468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368ec7d66526484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5fcfd9a4f554f23" Type="http://schemas.openxmlformats.org/officeDocument/2006/relationships/theme" Target="theme/theme2.xml"/><Relationship Id="Re6d35cff463d452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d35cff463d45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B4D8"/>
                </a:solidFill>
                <a:latin typeface="Aptos"/>
              </a:rPr>
              <a:t>CLIENT ACQUISITION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33272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900" b="1" i="0">
                <a:solidFill>
                  <a:srgbClr val="FFFFFF"/>
                </a:solidFill>
                <a:latin typeface="Aptos Display"/>
              </a:rPr>
              <a:t>Build a Revenue System That Learns Before It Automates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978408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0" i="0">
                <a:solidFill>
                  <a:srgbClr val="8DB4D4"/>
                </a:solidFill>
                <a:latin typeface="Aptos"/>
              </a:rPr>
              <a:t>From inconsistent prompts to a governed, always-on operating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4632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109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13248"/>
            <a:ext cx="3108960" cy="64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58-slide operator briefing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484632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484632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50109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39" y="5413248"/>
            <a:ext cx="3108960" cy="64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Native, editable PowerPoint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846320"/>
            <a:ext cx="34290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484632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501091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5413248"/>
            <a:ext cx="3108960" cy="640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Human-controlled external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 / 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next acquisition advantage is operational reliability—not more outreach volume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Approve a 90-day staged build that earns automation one gate at a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15360" cy="4087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408736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31953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3195320" cy="33741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Start with one recurring calendar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320" y="1691640"/>
            <a:ext cx="3515360" cy="4087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320" y="1691640"/>
            <a:ext cx="64008" cy="408736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200" y="1856232"/>
            <a:ext cx="31953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00" y="2258568"/>
            <a:ext cx="3195320" cy="33741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Compound context and review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691640"/>
            <a:ext cx="3515360" cy="4087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8000" y="1691640"/>
            <a:ext cx="64008" cy="408736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880" y="1856232"/>
            <a:ext cx="319532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880" y="2258568"/>
            <a:ext cx="3195320" cy="33741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Scale only after watched runs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 / 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Five moves turn scattered prompts into a dependable acquisition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whole deck in one decision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Diagnose the current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Stabilize a single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Build the shared business brain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Separate specialist 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Govern, measure, and compound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 / 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01 · WHY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Most acquisition automation scales inconsistency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Volume multiplies weak targeting, unsupported personalization, and hidden judgment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4 / 75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Prompt libraries create activity without creating operating leverage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 prompt is useful—but it is not a process, control system, or learning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Context resets: each run rediscovers the offer and buyer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Quality drifts: ‘good’ is not defined or measured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0906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Handoffs vanish: decisions remain trapped in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90906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Automation risk: sending arrives before reliability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 / 75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bottleneck is not copy generation; it is coordinated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Every acquisition stage depends on decisions that must become explicit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Targeting | Is this account worth attention?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Relevance | What changed now?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Message | Which pain and proof fit?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Progression | What is the safest next move?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Learning | Which outcomes change the rules?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 / 75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Bad automation creates negative operating leverage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Cheap generation can make expensive mistakes arrive faster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False positives consume seller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Generic outreach damages scarce reputation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0906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Unsupported claims create commercial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909060"/>
            <a:ext cx="64008" cy="19613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Unlogged exceptions prevent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7 / 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reliable function compounds five assets across every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Prompts are only the first asset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Artifacts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Learning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8 / 75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‘Always on’ is Level 9; most teams begin with unverified Level-1 fragments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Name the current level from evidence—not aspiration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0 | Manual / undocumented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1 | Saved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2 |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3 | Business brain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4–5 | Skill + deliverable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6–8 | Connection + 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46811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468112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55955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9–10 | Always-on function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9 / 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02 · THE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Ten levels prevent premature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Each level removes one calendar task and earns the right to build the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10 / 75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Stabilize one narrow task before building a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at least 8 of 10 representative cases need no substantive edit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96138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Fixed inputs and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96138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Explicit acceptance rubric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09060"/>
            <a:ext cx="64008" cy="196138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Fresh-session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909060"/>
            <a:ext cx="5410200" cy="19613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909060"/>
            <a:ext cx="64008" cy="196138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40736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4475988"/>
            <a:ext cx="5090160" cy="12481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Failure cases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11 / 75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Make intermediate reasoning inspectable and restartable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ordered stages, named artifacts, and a human checkpoint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Research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Fit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Message angle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Review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12 / 75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Consistency comes from shared context—not longer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six current files produce consistent work in a fresh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Offer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Ideal customer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Objections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6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604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04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13 / 75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Package the repeatable method as an invocable capability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explicit and implicit invocation both satisfy the output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Trigger conditions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Inputs and workflow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Output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Guardrails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14 / 75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Convert analysis into a finished artifact—not another chat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structured output in under 10 minutes with format and content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Account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Personalized 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Call preparation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Proposal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Weekly pipeline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15 / 75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Observe systems before writing to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one read-only week, then one bounded draft-only write with rollback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CRM 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Calendar read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Research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Draft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Action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16 / 75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Give one bounded role ownership of one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junior-team-member quality with explicit stop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One 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Fixed inputs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Reviewable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No sending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Clear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17 / 75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Separate discovery, persuasion, progression, and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fixed file handoffs and an enforceable Auditor veto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Scout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Writer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Closer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Auditor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Human approver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18 / 75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Scheduling is earned through watched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five watched runs and two stable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Idempotency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Retry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Alerts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Volume bounds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Zero unapproved sends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19 / 75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function coordinates states, owners, economics, and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Gate: governed state machine plus a 20% traffic pilot for two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Single intake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Stage ownership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Approval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Exception handling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Weekly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20 / 75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03 · THE BUSINESS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Six files make every acquisition decision context-aware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This is the durable commercial memory behind prompts, agents, and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21 / 75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offer file defines the commercial promise and its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Prevent attractive copy from outrunning delivery reality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Buyer outcome and urgency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Mechanism and differentiation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Scope and exclusions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Pricing constraints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Proof required before claims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22 / 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ICP file identifies situations—not just firmographics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Buying triggers and disqualifiers sharpen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Company and role 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Trigger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Cost of inaction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Existing substitutes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Hard disqualifiers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23 / 75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Voice is a decision system, not a list of adjectives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Examples and banned patterns make tone testable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Vocabulary to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Phrases to avoid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Sentence rhythm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Good and bad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Channel-specific adjustments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24 / 75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Every commercial claim needs an evidence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Confidence rises when proof includes 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Source and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Applicability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Known limitations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25 / 75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Objections are diagnostic signals—not rebuttal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Separate the stated concern from the underlying decision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Observed objection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Likely diagnosis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Response options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Supporting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Escalation 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26 / 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process file defines the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States and exit criteria replace heroic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Lifecycle states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Owners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Entry and exit criteria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Tools and artifacts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Approvals and metrics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27 / 75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Commercial memory must change when reality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Every accepted edit becomes a candidate rule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Outcome 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Reviewer explains 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Pattern classified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Context rule proposed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Owner approves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28 / 75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04 · LIFECYCLE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The system advances opportunities through explicit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A state exists only when its entry evidence and exit decision are recorded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29 / 75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One intake coordinates research, drafting, approval, and progression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External action remains a human-controlled transition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Scored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Drafted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Approved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2044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68503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11480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Sent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2136" y="42336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95016" y="352044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3032" y="368503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3032" y="411480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Engaged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58512" y="42336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41392" y="352044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9408" y="368503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9408" y="411480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Qualified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42336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52044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15784" y="368503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15784" y="411480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Advanced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1264" y="423367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34144" y="3520440"/>
            <a:ext cx="2109216" cy="15087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62160" y="368503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2160" y="4114800"/>
            <a:ext cx="1853184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Closed / Nurture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30 / 75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stable subject identity prevents duplicated and misdirected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intake record is the anchor for every downstream artifact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Stable company and person 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Source URLs and retrieval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Channel permissions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Existing relationship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Assigned 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31 / 75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Score the situation, not the logo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 good account without a buying trigger is not a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Strategic fit | 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Trigger strength | 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Pain intensity |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Reachability | 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Proof relevance |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Disqualifiers | hard 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32 / 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Events create timing; themes create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Use observable change to justify 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Leadership change | new mandate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Funding / expansion | new capacity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Hiring pattern | capability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Regulation | non-discretionary need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Technology change | replacement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33 / 75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Research must answer a commercial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Collection without a decision question becomes trivia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Why this account?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Why this buyer?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Why now?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Which proof transfers?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What would disconfirm fit?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34 / 75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Personalization earns attention by compressing relevance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first message should prove understanding, not explain the whole offer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Observed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Business implication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Relevant point of 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Credible proof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Low-friction 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35 / 75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sequence should increase information—not repeat the same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Each touch has a different 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1 | Establish relevance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2 | Add a useful implication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3 | Offer proof or diagnostic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4 | Reframe the cost of delay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5 | Close the loop respectfully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36 / 75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Qualification protects delivery capacity and seller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Advance only when value, access, and timing are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Problem acknowledged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Economic consequence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Decision process visible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Access to required stakeholders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Mutual next step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37 / 75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proposal is the output of accumulated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Do not use a document to discover basic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Qualified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7740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062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863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863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Solution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9720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260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061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061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Commercial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1700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458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259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259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Risk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3680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656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457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457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Human pricing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5660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08540" y="1783080"/>
            <a:ext cx="1734820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6556" y="1947672"/>
            <a:ext cx="1478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6556" y="2377440"/>
            <a:ext cx="1478788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Client-ready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38 / 75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05 · THE FOUR-ROLE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Specialization raises quality and makes control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Each role owns one decision surface and communicates through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39 / 75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Scout finds and verifies candidates—but never contacts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Discovery quality is measured by accepted opportunities, not list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Search defined arenas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Verify identity and recency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Capture trigger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Score fit and confidence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Reject weak candidates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40 / 75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Writer turns verified evidence into channel-ready drafts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Writer cannot invent proof, change the offer, or send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Select message angle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Map evidence to pain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Draft channel variant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Label inference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Request missing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41 / 75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Closer prepares progression options without making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Commercial judgment stays bounded by approved terms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Summarize 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Diagnose next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Prepare meeting brief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Draft follow-up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Escalate pricing exceptions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42 / 75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Auditor protects evidence, policy, reputation, and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veto is a feature—not an inconvenience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Verify claims and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Check duplicate contact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Enforce voice and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Confirm approval status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Reject and explain defects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43 / 75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Agents cooperate through explicit artifacts—not hidden chat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Every handoff is replayable and attributable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Scored 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Evidence-backed draft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Audit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Human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Outcome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44 / 75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Separation of duties prevents silent risk accumulation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No role can discover, persuade, approve, and send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Scout cannot draft outreach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Writer cannot alter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Closer cannot change commercial terms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Auditor cannot approve its own 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Automation cannot impersonate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45 / 75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06 · CHANNEL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One operating system can serve several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Channel mechanics vary; evidence, approval, and learning remain shared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46 / 75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LinkedIn works when relevance is visible before the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Protect relationship capital with restrained volume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Connection context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One observed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No fabricated familiarity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Draft-only 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Human-controlled 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47 / 75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Email earns attention through specificity and low cognitive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Optimize for qualified replies, not opens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Clear sender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Evidence-led subject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One idea per message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Plain next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Suppression and opt-out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48 / 75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Partner acquisition needs mutual economics—not generic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unit of analysis is the joint value proposition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Shared customer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Complementary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Economic exchange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Proof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Named joint motion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49 / 75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Referrals become systematic when the ask is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Make it easy to identify and introduce the right person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Trigger after delivered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Describe the exact situation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Provide forwarding language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Protect the relationship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Close the feedback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50 / 75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Content should create diagnostic conversations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The acquisition system turns repeated buyer questions into useful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Mine objections and 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Publish decision frameworks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Link proof to buyer jobs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Capture intent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Route engagement to human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51 / 75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07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The fastest safe system knows exactly when to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Control design is part of conversion quality—not a compliance 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52 / 75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External consequence determines the approval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Research and drafting can run; commitments cannot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Internal research | automatic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Draft creation | automatic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CRM draft write | bounded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External send | human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Pricing / contract | authorized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Exception | named escalation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53 / 75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Low confidence should create a question—not a confident message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Stopping early protects brand and training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Ambiguous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Missing or stale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Conflicting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Policy or consent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Abnormal volume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6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604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04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Unsupported personalization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54 / 75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Retries must not create duplicate commercial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Every stage needs idempotency and rollback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Stable artifact 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Attempt counter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Duplicate suppression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Quarantine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Owner alert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6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604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04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Resume from failed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55 / 75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system is only ‘always on’ when its behavior is observable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Logs must explain what happened and why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Input and source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Decision and confidence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Artifact checksum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Reviewer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External action 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6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604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04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Outcome and 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56 / 75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08 ·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Measure decision quality before message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The learning system improves when leading and lagging indicators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57 / 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Revenue is lagging; operating quality predicts whether it can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Track the complete path from attention to economics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Coverage | qualified accounts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Quality | accepted drafts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Engagement | positive replies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Progression | qualified meetings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Economics | pipeline and revenue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Risk | rejects and exceptions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58 / 75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Reviewer behavior is the fastest signal of system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Edits reveal missing context and weak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No-substantive-edit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Evidence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False-positive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Auditor rejection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Repeat-defect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59 / 75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Use conversion rates to locate the decision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 low reply rate and a low qualification rate imply different fixes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Verified → 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Approved → sent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Sent → positive reply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Reply → qualified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Qualified → proposal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16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316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604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04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Proposal →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60 / 75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Automation should release scarce judgment—not create review debt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Measure human effort per accepted outcome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Research minutes per accepted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Review minutes per approved draft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Touches per qualified 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Exception handling time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Seller hours per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61 / 75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Change one variable at a time and retain the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Learning requires comparability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Declare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Choose one segment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Freeze offer and 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Define success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Record disconfirming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62 / 75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Every week should leave the system smarter than it began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Accepted learning updates rules; anecdotes do not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Review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Cluster edits and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Select one rule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Run controlled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Approve context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63 / 75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09 · 90-DAY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Move from prompt fragments to a governed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The roadmap prioritizes reliability, context, and watched operation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64 / 75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Prove one task and establish the commercial memory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Target: Levels 1–3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Inventory the manual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Build 10-case test 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Pass one prompt at 8/10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Create six context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Run fresh-session consistency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65 / 75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Package the method and produce finished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Target: Levels 4–5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Define trigger and output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Build the acquisition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Generate account brief + message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Review every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Measure time and edit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66 / 75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Connect safely and pilot bounded specialist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Target: Levels 6–8 only if gates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Observe CRM read-only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2136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5016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3032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3032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Enable one draft-only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8512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1392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9408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9408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Pilot Scout and 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7768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4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Add Auditor veto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1264" y="2496312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2A83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34144" y="1783080"/>
            <a:ext cx="2109216" cy="2148840"/>
          </a:xfrm>
          <a:prstGeom prst="roundRect">
            <a:avLst>
              <a:gd name="adj" fmla="val 6000"/>
            </a:avLst>
          </a:prstGeom>
          <a:solidFill>
            <a:srgbClr val="2336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2160" y="1947672"/>
            <a:ext cx="185318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1" i="0">
                <a:solidFill>
                  <a:srgbClr val="00B4D8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2160" y="2377440"/>
            <a:ext cx="1853184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Aptos"/>
              </a:rPr>
              <a:t>Keep all sending human-controlled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67 / 75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small accountable team beats an unowned automation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Name owners before selecting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Executive sponsor |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Revenue owner | commercial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Operator | workflow and QA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Technical owner | connections and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Legal / security | policy gates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68 / 75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main risks are commercial and operational—not model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Design mitigations into the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Brand damage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approval + volume bounds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False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evidence objects + audit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Duplicate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stable IDs + suppression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Context drift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owners + review 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Review overload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narrow scope + sampling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69 / 75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Buy commodity execution; own commercial judgment and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Differentiation lives in context, decisions, and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Buy | enrichment, CRM, scheduling, delivery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Configure | workflow, routing, permissions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Own | ICP, offer, proof, scoring, approval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Measure | edits, outcomes, 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70 / 75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 level advances only when proof is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Green status requires quality, control, and repeatability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82880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1E293B"/>
                </a:solidFill>
                <a:latin typeface="Aptos"/>
              </a:rPr>
              <a:t>Artifact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59152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Acceptance test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80944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980944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Failure cases retained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02736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02736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Human owner named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24528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24528"/>
            <a:ext cx="109728" cy="4754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15968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Rollback verified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94720" cy="4754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09728" cy="475488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937760"/>
            <a:ext cx="1063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E293B"/>
                </a:solidFill>
                <a:latin typeface="Aptos"/>
              </a:rPr>
              <a:t>Learning captured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71 / 75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B4D8"/>
                </a:solidFill>
                <a:latin typeface="Aptos"/>
              </a:rPr>
              <a:t>10 ·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600" b="1" i="0">
                <a:solidFill>
                  <a:srgbClr val="FFFFFF"/>
                </a:solidFill>
                <a:latin typeface="Aptos Display"/>
              </a:rPr>
              <a:t>Do not fund ‘autonomy’; fund the next proven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8DB4D4"/>
                </a:solidFill>
                <a:latin typeface="Aptos"/>
              </a:rPr>
              <a:t>The roadmap can begin immediately without granting unsafe authority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92040"/>
            <a:ext cx="2743200" cy="73152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72 / 75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Approve a staged pilot with one task, one owner, and one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Success is a reliable acquisition capability—not an impressive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Choose the first calendar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Name the commercial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Provide 10 historical cases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Freeze external sending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Review progress every week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73 / 75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1094720" cy="8412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Aptos Display"/>
              </a:rPr>
              <a:t>The first two hours should produce decisions and artifacts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3258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25296"/>
            <a:ext cx="1109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Aptos"/>
              </a:rPr>
              <a:t>Avoid starting with a tool tour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Map the manual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160" y="169164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160" y="169164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6040" y="185623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6040" y="225856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Select one narrow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Define a good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160" y="320040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160" y="320040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336499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76732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Identify approval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60"/>
            <a:ext cx="5410200" cy="1252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" cy="1252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73752"/>
            <a:ext cx="509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76088"/>
            <a:ext cx="5090160" cy="5394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Assemble the first 10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Aptos"/>
              </a:rPr>
              <a:t>74 / 75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B4D8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78992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Aptos"/>
              </a:rPr>
              <a:t>Build the function in the order trust is 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8DB4D4"/>
                </a:solidFill>
                <a:latin typeface="Aptos"/>
              </a:rPr>
              <a:t>Research and draft automatically. Approve consequence deliberately. Compound every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4023360"/>
            <a:ext cx="64008" cy="109728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879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NEXT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90288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Select the first calendar task and schedule the Level-1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4023360"/>
            <a:ext cx="5257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79" y="4023360"/>
            <a:ext cx="64008" cy="109728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418795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Aptos"/>
              </a:rPr>
              <a:t>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4590288"/>
            <a:ext cx="493776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5B6B7C"/>
                </a:solidFill>
                <a:latin typeface="Aptos"/>
              </a:rPr>
              <a:t>Proposed operating model · Not yet an always-on function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Aptos"/>
              </a:rPr>
              <a:t>CLIENT ACQUISITION FUNCTION · OPERATING BRIEFING ·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3280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Aptos"/>
              </a:rPr>
              <a:t>75 / 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2026-07-24T00:05:38.8800000Z</dcterms:created>
  <dcterms:modified xsi:type="dcterms:W3CDTF">2026-07-24T00:05:38.8810000Z</dcterms:modified>
</coreProperties>
</file>