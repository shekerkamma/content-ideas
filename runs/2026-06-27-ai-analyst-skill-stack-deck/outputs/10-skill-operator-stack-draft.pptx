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487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65792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AI-NATIVE MVP OPERATING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804672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The 10-Skill Operator Stack for 30-Day Agentic MVPs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88920"/>
            <a:ext cx="196596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50" b="0" i="0">
                <a:solidFill>
                  <a:srgbClr val="E0F7F1"/>
                </a:solidFill>
                <a:latin typeface="Calibri"/>
              </a:rPr>
              <a:t>A repeatable system for validating, scoping, architecting, shipping, and iterating agentic opportunities.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51960"/>
            <a:ext cx="2057400" cy="384048"/>
          </a:xfrm>
          <a:prstGeom prst="roundRect">
            <a:avLst>
              <a:gd name="adj" fmla="val 8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4352544"/>
            <a:ext cx="191109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FFFFFF"/>
                </a:solidFill>
                <a:latin typeface="Calibri"/>
              </a:rPr>
              <a:t>10 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4251960"/>
            <a:ext cx="2057400" cy="384048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4352544"/>
            <a:ext cx="191109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FFFFFF"/>
                </a:solidFill>
                <a:latin typeface="Calibri"/>
              </a:rPr>
              <a:t>52 reviewed opportunities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79" y="4251960"/>
            <a:ext cx="2057400" cy="384048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5231" y="4352544"/>
            <a:ext cx="191109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FFFFFF"/>
                </a:solidFill>
                <a:latin typeface="Calibri"/>
              </a:rPr>
              <a:t>operator-gated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40112" y="608990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F7F1"/>
                </a:solidFill>
                <a:latin typeface="Calibri"/>
              </a:rPr>
              <a:t>Draft corrected storyline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This is not a blueprint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use cases are proof. The operating stack is the product.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4892040" cy="32461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84831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E05A6B"/>
                </a:solidFill>
                <a:latin typeface="Calibri"/>
              </a:rPr>
              <a:t>Wrong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4251960" cy="18745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450" b="0" i="0">
                <a:solidFill>
                  <a:srgbClr val="1B2B3C"/>
                </a:solidFill>
                <a:latin typeface="Calibri"/>
              </a:rPr>
              <a:t>•  We have implementation blueprints.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450" b="0" i="0">
                <a:solidFill>
                  <a:srgbClr val="1B2B3C"/>
                </a:solidFill>
                <a:latin typeface="Calibri"/>
              </a:rPr>
              <a:t>•  The deck becomes a catalog.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450" b="0" i="0">
                <a:solidFill>
                  <a:srgbClr val="1B2B3C"/>
                </a:solidFill>
                <a:latin typeface="Calibri"/>
              </a:rPr>
              <a:t>•  The method disappears behind use-case detail.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828800"/>
            <a:ext cx="4892040" cy="3246120"/>
          </a:xfrm>
          <a:prstGeom prst="roundRect">
            <a:avLst>
              <a:gd name="adj" fmla="val 5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084831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8F75"/>
                </a:solidFill>
                <a:latin typeface="Calibri"/>
              </a:rPr>
              <a:t>Correct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606040"/>
            <a:ext cx="4251960" cy="18745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450" b="0" i="0">
                <a:solidFill>
                  <a:srgbClr val="1B2B3C"/>
                </a:solidFill>
                <a:latin typeface="Calibri"/>
              </a:rPr>
              <a:t>•  We have a 10-skill operator system.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450" b="0" i="0">
                <a:solidFill>
                  <a:srgbClr val="1B2B3C"/>
                </a:solidFill>
                <a:latin typeface="Calibri"/>
              </a:rPr>
              <a:t>•  It replaces the dev-shop path from diagnostic to iteration.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450" b="0" i="0">
                <a:solidFill>
                  <a:srgbClr val="1B2B3C"/>
                </a:solidFill>
                <a:latin typeface="Calibri"/>
              </a:rPr>
              <a:t>•  52 reviewed opportunities prove repeatability.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10-Skill Operator Stack | Draft | 2026-06-27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old way burns budget before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Source-backed replacement targets from the original skill stack.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737360"/>
            <a:ext cx="6766560" cy="49377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847088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1" i="0">
                <a:solidFill>
                  <a:srgbClr val="1B2B3C"/>
                </a:solidFill>
                <a:latin typeface="Calibri"/>
              </a:rPr>
              <a:t>Diagnostic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847088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80" b="1" i="0">
                <a:solidFill>
                  <a:srgbClr val="0A1628"/>
                </a:solidFill>
                <a:latin typeface="Calibri"/>
              </a:rPr>
              <a:t>$10K-$15K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377439"/>
            <a:ext cx="67665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487168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1" i="0">
                <a:solidFill>
                  <a:srgbClr val="1B2B3C"/>
                </a:solidFill>
                <a:latin typeface="Calibri"/>
              </a:rPr>
              <a:t>Scope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487168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80" b="1" i="0">
                <a:solidFill>
                  <a:srgbClr val="0A1628"/>
                </a:solidFill>
                <a:latin typeface="Calibri"/>
              </a:rPr>
              <a:t>$15K-$25K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017520"/>
            <a:ext cx="6766560" cy="49377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127248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1" i="0">
                <a:solidFill>
                  <a:srgbClr val="1B2B3C"/>
                </a:solidFill>
                <a:latin typeface="Calibri"/>
              </a:rP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127248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80" b="1" i="0">
                <a:solidFill>
                  <a:srgbClr val="0A1628"/>
                </a:solidFill>
                <a:latin typeface="Calibri"/>
              </a:rPr>
              <a:t>$20K-$40K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657599"/>
            <a:ext cx="67665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3767327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1" i="0">
                <a:solidFill>
                  <a:srgbClr val="1B2B3C"/>
                </a:solidFill>
                <a:latin typeface="Calibri"/>
              </a:rPr>
              <a:t>Build vs buy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767327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80" b="1" i="0">
                <a:solidFill>
                  <a:srgbClr val="0A1628"/>
                </a:solidFill>
                <a:latin typeface="Calibri"/>
              </a:rPr>
              <a:t>~$30K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297679"/>
            <a:ext cx="6766560" cy="49377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4407407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1" i="0">
                <a:solidFill>
                  <a:srgbClr val="1B2B3C"/>
                </a:solidFill>
                <a:latin typeface="Calibri"/>
              </a:rPr>
              <a:t>Market 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407407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80" b="1" i="0">
                <a:solidFill>
                  <a:srgbClr val="0A1628"/>
                </a:solidFill>
                <a:latin typeface="Calibri"/>
              </a:rPr>
              <a:t>$15K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937760"/>
            <a:ext cx="67665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5047488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1" i="0">
                <a:solidFill>
                  <a:srgbClr val="1B2B3C"/>
                </a:solidFill>
                <a:latin typeface="Calibri"/>
              </a:rPr>
              <a:t>Shipping definition / 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5047488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80" b="1" i="0">
                <a:solidFill>
                  <a:srgbClr val="0A1628"/>
                </a:solidFill>
                <a:latin typeface="Calibri"/>
              </a:rPr>
              <a:t>$20K-$35K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874519"/>
            <a:ext cx="2971800" cy="3063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2240280"/>
            <a:ext cx="233172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FFFFFF"/>
                </a:solidFill>
                <a:latin typeface="Calibri"/>
              </a:rPr>
              <a:t>The offer is compression, not cheapness.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520440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The stack replaces slow discovery with gated decisions before a build is sold.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10-Skill Operator Stack | Draft | 2026-06-27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new way is a gated operating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Ten skills replace the bloated front half of the traditional dev-shop motion.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1033271" cy="566928"/>
          </a:xfrm>
          <a:prstGeom prst="roundRect">
            <a:avLst>
              <a:gd name="adj" fmla="val 7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075688"/>
            <a:ext cx="941831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2048255"/>
            <a:ext cx="146304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1874519"/>
            <a:ext cx="1033271" cy="566928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64792" y="2075688"/>
            <a:ext cx="941831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048255"/>
            <a:ext cx="146304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1215" y="1874519"/>
            <a:ext cx="1033271" cy="566928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6935" y="2075688"/>
            <a:ext cx="941831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Architect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2775" y="2048255"/>
            <a:ext cx="146304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59" y="1874519"/>
            <a:ext cx="1033271" cy="566928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79" y="2075688"/>
            <a:ext cx="941831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Build/Buy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19" y="2048255"/>
            <a:ext cx="146304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3" y="1874519"/>
            <a:ext cx="1033271" cy="566928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3" y="2075688"/>
            <a:ext cx="941831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3" y="2048255"/>
            <a:ext cx="146304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7647" y="1874519"/>
            <a:ext cx="1033271" cy="566928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7" y="2075688"/>
            <a:ext cx="941831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Teardown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7" y="2048255"/>
            <a:ext cx="146304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9791" y="1874519"/>
            <a:ext cx="1033271" cy="566928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25511" y="2075688"/>
            <a:ext cx="941831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QA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1351" y="2048255"/>
            <a:ext cx="146304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31935" y="1874519"/>
            <a:ext cx="1033271" cy="566928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77655" y="2075688"/>
            <a:ext cx="941831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3495" y="2048255"/>
            <a:ext cx="146304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79" y="1874519"/>
            <a:ext cx="1033271" cy="566928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799" y="2075688"/>
            <a:ext cx="941831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39" y="2048255"/>
            <a:ext cx="146304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36223" y="1874519"/>
            <a:ext cx="1033271" cy="566928"/>
          </a:xfrm>
          <a:prstGeom prst="roundRect">
            <a:avLst>
              <a:gd name="adj" fmla="val 7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81943" y="2075688"/>
            <a:ext cx="941831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Iterate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246120"/>
            <a:ext cx="310896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3456432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Every skill produces an artifact.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26280" y="3246120"/>
            <a:ext cx="3108960" cy="13258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3456432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Every skill has a human gate.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3246120"/>
            <a:ext cx="3108960" cy="1325880"/>
          </a:xfrm>
          <a:prstGeom prst="roundRect">
            <a:avLst>
              <a:gd name="adj" fmla="val 5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3456432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8F75"/>
                </a:solidFill>
                <a:latin typeface="Calibri"/>
              </a:rPr>
              <a:t>The gates prevent false confidence.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10-Skill Operator Stack | Draft | 2026-06-27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Skill #1: Problem-Solution Fit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Stop the founder from spending 30 days building the wrong 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057400" cy="361188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01952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1481328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OPERATOR
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627632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E0F7F1"/>
                </a:solidFill>
                <a:latin typeface="Calibri"/>
              </a:rPr>
              <a:t>AI drafts. The operator catches the failure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737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737360"/>
            <a:ext cx="73152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856231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Job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74519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Stop the founder from spending 30 days building the wrong thing.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880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2880360"/>
            <a:ext cx="73152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2999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Artifact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017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0-30 scored verdict across problem realness, solution fit, buying signal, and reachability.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4023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54680" y="4023360"/>
            <a:ext cx="73152" cy="86868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4142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08F75"/>
                </a:solidFill>
                <a:latin typeface="Calibri"/>
              </a:rPr>
              <a:t>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160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Representative users, real dollar signal, and hidden regulatory or distribution constraints.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10-Skill Operator Stack | Draft |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Skill #2: 30-Day Scope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Turn a validated problem into a contract-grade MVP scope.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057400" cy="361188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01952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1481328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OPERATOR
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627632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E0F7F1"/>
                </a:solidFill>
                <a:latin typeface="Calibri"/>
              </a:rPr>
              <a:t>AI drafts. The operator catches the failure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737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737360"/>
            <a:ext cx="73152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856231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Job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74519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Turn a validated problem into a contract-grade MVP scope.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880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2880360"/>
            <a:ext cx="73152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2999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Artifact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017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1.5-2 page spec with in-scope cuts, out-of-scope list, weekly milestones, risks, and acceptance test.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4023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54680" y="4023360"/>
            <a:ext cx="73152" cy="86868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4142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08F75"/>
                </a:solidFill>
                <a:latin typeface="Calibri"/>
              </a:rPr>
              <a:t>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160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Founder feature creep, integration optimism, and actual weekly velocity.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10-Skill Operator Stack | Draft |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Skill #3: Tech Stack + Architecture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Create the technical ground truth the builder can execute.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057400" cy="361188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01952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1481328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OPERATOR
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627632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E0F7F1"/>
                </a:solidFill>
                <a:latin typeface="Calibri"/>
              </a:rPr>
              <a:t>AI drafts. The operator catches the failure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737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737360"/>
            <a:ext cx="73152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856231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Job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74519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Create the technical ground truth the builder can execute.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880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2880360"/>
            <a:ext cx="73152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2999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Artifact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017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Stack, schema, RLS, auth flow, API surface, integrations, env vars, and design decisions.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4023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54680" y="4023360"/>
            <a:ext cx="73152" cy="86868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4142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08F75"/>
                </a:solidFill>
                <a:latin typeface="Calibri"/>
              </a:rPr>
              <a:t>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160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Generic stack advice, RLS leakage, and v1 schema choices that block v2.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10-Skill Operator Stack | Draft |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Skill #4: Build vs Buy Decision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Decide what to build, buy, or hybridize.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057400" cy="361188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01952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B800"/>
                </a:solidFill>
                <a:latin typeface="Calibr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1481328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OPERATOR
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627632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E0F7F1"/>
                </a:solidFill>
                <a:latin typeface="Calibri"/>
              </a:rPr>
              <a:t>AI drafts. The operator catches the failure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737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737360"/>
            <a:ext cx="73152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856231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Job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74519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Decide what to build, buy, or hybridize.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880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2880360"/>
            <a:ext cx="73152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2999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Artifact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017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Feature matrix with build cost, 3-year SaaS cost, lock-in risk, verdict, and payback.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4023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54680" y="4023360"/>
            <a:ext cx="73152" cy="86868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4142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08F75"/>
                </a:solidFill>
                <a:latin typeface="Calibri"/>
              </a:rPr>
              <a:t>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160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SaaS pricing creep, niche workflow misfit, and lock-in that appears later.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10-Skill Operator Stack | Draft |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Skill #5: MVP ROI Business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Gate whether the MVP economics justify proceeding.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057400" cy="361188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01952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B800"/>
                </a:solidFill>
                <a:latin typeface="Calibr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1481328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OPERATOR
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627632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E0F7F1"/>
                </a:solidFill>
                <a:latin typeface="Calibri"/>
              </a:rPr>
              <a:t>AI drafts. The operator catches the failure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737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737360"/>
            <a:ext cx="73152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856231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Job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74519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Gate whether the MVP economics justify proceeding.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880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2880360"/>
            <a:ext cx="73152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2999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Artifact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017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Available source rule: if base-case breakeven is past month 36, the solo MVP is not viable.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4023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54680" y="4023360"/>
            <a:ext cx="73152" cy="86868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4142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08F75"/>
                </a:solidFill>
                <a:latin typeface="Calibri"/>
              </a:rPr>
              <a:t>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160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Do not let excitement about the build outrun the payback logic. Source is partial.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10-Skill Operator Stack | Draft |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Skill #6: Competitor Product Teardown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Name incumbents and expose where a focused MVP can win.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057400" cy="361188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01952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B800"/>
                </a:solidFill>
                <a:latin typeface="Calibr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1481328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OPERATOR
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627632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E0F7F1"/>
                </a:solidFill>
                <a:latin typeface="Calibri"/>
              </a:rPr>
              <a:t>AI drafts. The operator catches the failure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737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737360"/>
            <a:ext cx="73152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856231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Job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74519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Name incumbents and expose where a focused MVP can win.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880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2880360"/>
            <a:ext cx="73152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2999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Artifact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017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5-10 competitor profiles covering positioning, pricing, onboarding, strengths, weaknesses, and gaps.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4023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54680" y="4023360"/>
            <a:ext cx="73152" cy="86868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4142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08F75"/>
                </a:solidFill>
                <a:latin typeface="Calibri"/>
              </a:rPr>
              <a:t>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160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Non-obvious competitors, positioning patterns, and unverifiable pricing.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10-Skill Operator Stack | Draft |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Skill #7: Acceptance Criteria + Test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Define what shipped means before anyone declares victory.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057400" cy="361188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01952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B800"/>
                </a:solidFill>
                <a:latin typeface="Calibr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1481328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OPERATOR
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627632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E0F7F1"/>
                </a:solidFill>
                <a:latin typeface="Calibri"/>
              </a:rPr>
              <a:t>AI drafts. The operator catches the failure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737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737360"/>
            <a:ext cx="73152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856231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Job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74519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Define what shipped means before anyone declares victory.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880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2880360"/>
            <a:ext cx="73152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2999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Artifact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017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User stories, testable criteria, edge cases, not-in-scope list, and manual test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4023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54680" y="4023360"/>
            <a:ext cx="73152" cy="86868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4142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08F75"/>
                </a:solidFill>
                <a:latin typeface="Calibri"/>
              </a:rPr>
              <a:t>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160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Cross-feature failures, duplicate clicks, auth boundaries, and launch-night paths.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10-Skill Operator Stack | Draft |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Skill #8: Data Architecture Lite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Make data and analytics part of v1, not month-12 cleanup.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057400" cy="361188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01952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B800"/>
                </a:solidFill>
                <a:latin typeface="Calibr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1481328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OPERATOR
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627632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E0F7F1"/>
                </a:solidFill>
                <a:latin typeface="Calibri"/>
              </a:rPr>
              <a:t>AI drafts. The operator catches the failure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737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737360"/>
            <a:ext cx="73152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856231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Job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74519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Make data and analytics part of v1, not month-12 cleanup.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880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2880360"/>
            <a:ext cx="73152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2999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Artifact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017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Sources, storage, source of truth, sync, analytics events, and data quality guardrails.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4023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54680" y="4023360"/>
            <a:ext cx="73152" cy="86868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4142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08F75"/>
                </a:solidFill>
                <a:latin typeface="Calibri"/>
              </a:rPr>
              <a:t>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160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Hidden data stores, manual overrides, refunds, and source-of-truth drift.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10-Skill Operator Stack | Draft |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Skill #9: Deployment Sequencing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Turn launch into a reversible sequence, not a button press.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057400" cy="361188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01952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B800"/>
                </a:solidFill>
                <a:latin typeface="Calibr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1481328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OPERATOR
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627632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E0F7F1"/>
                </a:solidFill>
                <a:latin typeface="Calibri"/>
              </a:rPr>
              <a:t>AI drafts. The operator catches the failure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737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737360"/>
            <a:ext cx="73152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856231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Job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74519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Turn launch into a reversible sequence, not a button press.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880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2880360"/>
            <a:ext cx="73152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2999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Artifact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017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Pre-deploy checklist, staging setup, production sequence, smoke test, and rollback plan.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4023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54680" y="4023360"/>
            <a:ext cx="73152" cy="86868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4142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08F75"/>
                </a:solidFill>
                <a:latin typeface="Calibri"/>
              </a:rPr>
              <a:t>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160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Env vars, live webhook secrets, redirect URLs, real payment, session persistence, and data isolation.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10-Skill Operator Stack | Draft |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Skill #10: Post-Launch Iteration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Keep the founder from reacting chaotically after launch.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057400" cy="361188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01952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B800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1481328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OPERATOR
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627632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E0F7F1"/>
                </a:solidFill>
                <a:latin typeface="Calibri"/>
              </a:rPr>
              <a:t>AI drafts. The operator catches the failure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737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737360"/>
            <a:ext cx="73152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856231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Job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74519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Keep the founder from reacting chaotically after launch.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880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2880360"/>
            <a:ext cx="73152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2999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Artifact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017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Three metrics, feedback triage, four-week plan, and pivot signals.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402336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54680" y="4023360"/>
            <a:ext cx="73152" cy="86868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4142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08F75"/>
                </a:solidFill>
                <a:latin typeface="Calibri"/>
              </a:rPr>
              <a:t>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1605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No new features in week 1; active-user learning drives the one retention bet.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10-Skill Operator Stack | Draft |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THE OPERATOR GATE IS THE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FFFFFF"/>
                </a:solidFill>
                <a:latin typeface="Calibri"/>
              </a:rPr>
              <a:t>Raw AI can generate documents. The operator system asks the sharper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3246120" cy="82296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23160"/>
            <a:ext cx="2880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Is the buyer real?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240280"/>
            <a:ext cx="3246120" cy="82296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2423160"/>
            <a:ext cx="2880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Is the scope honest?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240280"/>
            <a:ext cx="3246120" cy="82296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2423160"/>
            <a:ext cx="2880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Is the architecture safe?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3246120" cy="82296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83280"/>
            <a:ext cx="2880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Is SaaS lock-in priced?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3200400"/>
            <a:ext cx="3246120" cy="82296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3383280"/>
            <a:ext cx="2880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Is competitor data verified?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200400"/>
            <a:ext cx="3246120" cy="82296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3383280"/>
            <a:ext cx="2880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Is done testable?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60520"/>
            <a:ext cx="3246120" cy="82296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343400"/>
            <a:ext cx="2880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Is data truth protected?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4160520"/>
            <a:ext cx="3246120" cy="82296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90872" y="4343400"/>
            <a:ext cx="2880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Is launch reversible?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4160520"/>
            <a:ext cx="3246120" cy="82296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4343400"/>
            <a:ext cx="2880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Is post-launch learning disciplined?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10-Skill Operator Stack | Draft |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52-opportunity portfolio proves breadth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portfolio is evidence that the same stack repeats across categories.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017520" cy="31089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24688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800" b="1" i="0">
                <a:solidFill>
                  <a:srgbClr val="FFB800"/>
                </a:solidFill>
                <a:latin typeface="Calibri"/>
              </a:rPr>
              <a:t>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15468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implementation-reviewed opportunities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24231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E0F7F1"/>
                </a:solidFill>
                <a:latin typeface="Calibri"/>
              </a:rPr>
              <a:t>The catalog is proof. The operating system is the offer.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74519"/>
            <a:ext cx="1371600" cy="512064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2020824"/>
            <a:ext cx="122529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8" y="1874519"/>
            <a:ext cx="1371600" cy="512064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020824"/>
            <a:ext cx="122529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HR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63256" y="1874519"/>
            <a:ext cx="1371600" cy="512064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2020824"/>
            <a:ext cx="122529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Compliance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27463" y="1874519"/>
            <a:ext cx="1371600" cy="512064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0615" y="2020824"/>
            <a:ext cx="122529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Security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2660903"/>
            <a:ext cx="1371600" cy="512064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2807208"/>
            <a:ext cx="122529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Legal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9048" y="2660903"/>
            <a:ext cx="1371600" cy="512064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807208"/>
            <a:ext cx="122529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Finance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63256" y="2660903"/>
            <a:ext cx="1371600" cy="512064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36408" y="2807208"/>
            <a:ext cx="122529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Healthcare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27463" y="2660903"/>
            <a:ext cx="1371600" cy="512064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0615" y="2807208"/>
            <a:ext cx="122529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Retail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447287"/>
            <a:ext cx="1371600" cy="512064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3593591"/>
            <a:ext cx="122529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Logistics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9048" y="3447287"/>
            <a:ext cx="1371600" cy="512064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3593591"/>
            <a:ext cx="122529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Marketing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63256" y="3447287"/>
            <a:ext cx="1371600" cy="512064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36408" y="3593591"/>
            <a:ext cx="122529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Product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27463" y="3447287"/>
            <a:ext cx="1371600" cy="512064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0615" y="3593591"/>
            <a:ext cx="122529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1B2B3C"/>
                </a:solidFill>
                <a:latin typeface="Calibri"/>
              </a:rPr>
              <a:t>Operations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34840" y="4617720"/>
            <a:ext cx="6492240" cy="548640"/>
          </a:xfrm>
          <a:prstGeom prst="roundRect">
            <a:avLst>
              <a:gd name="adj" fmla="val 5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4718304"/>
            <a:ext cx="608076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8F75"/>
                </a:solidFill>
                <a:latin typeface="Calibri"/>
              </a:rPr>
              <a:t>Use cases sit after the 10-skill explanation, not before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10-Skill Operator Stack | Draft | 2026-06-27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Claim what is proven; caveat what is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This protects the deck from overclaiming market mapping completeness.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4983480" cy="3154680"/>
          </a:xfrm>
          <a:prstGeom prst="roundRect">
            <a:avLst>
              <a:gd name="adj" fmla="val 5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8F75"/>
                </a:solidFill>
                <a:latin typeface="Calibri"/>
              </a:rPr>
              <a:t>Strong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434340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1B2B3C"/>
                </a:solidFill>
                <a:latin typeface="Calibri"/>
              </a:rPr>
              <a:t>We have a complete 10-skill operator stack and 52 implementation-reviewed opportunities that demonstrate repeatability.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4983480" cy="3154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2A83B"/>
                </a:solidFill>
                <a:latin typeface="Calibri"/>
              </a:rPr>
              <a:t>Careful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4343400" cy="1298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1B2B3C"/>
                </a:solidFill>
                <a:latin typeface="Calibri"/>
              </a:rPr>
              <a:t>Competitor teardown is a required Skill #6 gate. External publication needs source-backed incumbent and pricing evidence per use case.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10-Skill Operator Stack | Draft | 2026-06-27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THE MARKET-FACING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Do not sell vague AI transformation. Do not start by selling a build.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514600"/>
            <a:ext cx="1828800" cy="603504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697480"/>
            <a:ext cx="16093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514600"/>
            <a:ext cx="1828800" cy="603504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5808" y="2697480"/>
            <a:ext cx="16093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93792" y="2514600"/>
            <a:ext cx="1828800" cy="603504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697480"/>
            <a:ext cx="16093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Architect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1504" y="2514600"/>
            <a:ext cx="1828800" cy="603504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71231" y="2697480"/>
            <a:ext cx="16093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Decide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29216" y="2514600"/>
            <a:ext cx="1828800" cy="603504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38944" y="2697480"/>
            <a:ext cx="16093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Gate ROI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02152"/>
            <a:ext cx="1828800" cy="603504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685032"/>
            <a:ext cx="16093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Teardown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828800" cy="603504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85032"/>
            <a:ext cx="16093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QA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3502152"/>
            <a:ext cx="1828800" cy="603504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3685032"/>
            <a:ext cx="16093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Wire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61504" y="3502152"/>
            <a:ext cx="1828800" cy="603504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1" y="3685032"/>
            <a:ext cx="16093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29216" y="3502152"/>
            <a:ext cx="1828800" cy="603504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38944" y="3685032"/>
            <a:ext cx="16093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Iterate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4920"/>
            <a:ext cx="7863840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Bring the operating system to the table on day one.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10-Skill Operator Stack | Draft | 2026-06-27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CLOSING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91440" cy="7498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The 52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554480"/>
            <a:ext cx="48463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0" i="0">
                <a:solidFill>
                  <a:srgbClr val="E0F7F1"/>
                </a:solidFill>
                <a:latin typeface="Calibri"/>
              </a:rPr>
              <a:t>prove market surface.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91440" cy="7498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The 10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788920"/>
            <a:ext cx="48463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0" i="0">
                <a:solidFill>
                  <a:srgbClr val="E0F7F1"/>
                </a:solidFill>
                <a:latin typeface="Calibri"/>
              </a:rPr>
              <a:t>prove execution discipline.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91440" cy="7498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23359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The human 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023359"/>
            <a:ext cx="48463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0" i="0">
                <a:solidFill>
                  <a:srgbClr val="E0F7F1"/>
                </a:solidFill>
                <a:latin typeface="Calibri"/>
              </a:rPr>
              <a:t>prove this is more than prompt automation.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Draft status: corrected storyline, visual QA required before final delivery.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