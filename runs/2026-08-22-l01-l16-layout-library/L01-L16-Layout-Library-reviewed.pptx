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463040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5953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0" i="0">
                <a:solidFill>
                  <a:srgbClr val="FFFFFF"/>
                </a:solidFill>
                <a:latin typeface="Georgia"/>
              </a:rPr>
              <a:t>Cover states the promise,
not the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Engagement · audience ·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L01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L02 · EXECUTIVE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One thesis, four numbers that carry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20"/>
            <a:ext cx="5562295" cy="3246120"/>
          </a:xfrm>
          <a:prstGeom prst="roundRect">
            <a:avLst>
              <a:gd name="adj" fmla="val 4676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093976"/>
            <a:ext cx="508680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514600"/>
            <a:ext cx="5086807" cy="2386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55/45 split: dark headline panel left, KPI grid right. The panel carries the argument; the grid carries the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199" y="1874520"/>
            <a:ext cx="2704795" cy="1536192"/>
          </a:xfrm>
          <a:prstGeom prst="roundRect">
            <a:avLst>
              <a:gd name="adj" fmla="val 988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1" y="2112264"/>
            <a:ext cx="2375611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1" y="2990088"/>
            <a:ext cx="23756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699" y="1874520"/>
            <a:ext cx="2704795" cy="1536192"/>
          </a:xfrm>
          <a:prstGeom prst="roundRect">
            <a:avLst>
              <a:gd name="adj" fmla="val 988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4291" y="2112264"/>
            <a:ext cx="2375611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2.4x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4291" y="2990088"/>
            <a:ext cx="23756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3584448"/>
            <a:ext cx="2704795" cy="1536192"/>
          </a:xfrm>
          <a:prstGeom prst="roundRect">
            <a:avLst>
              <a:gd name="adj" fmla="val 988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1" y="3822192"/>
            <a:ext cx="2375611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18mo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1" y="4700016"/>
            <a:ext cx="23756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PAYBACK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699" y="3584448"/>
            <a:ext cx="2704795" cy="1536192"/>
          </a:xfrm>
          <a:prstGeom prst="roundRect">
            <a:avLst>
              <a:gd name="adj" fmla="val 988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4291" y="3822192"/>
            <a:ext cx="2375611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4291" y="4700016"/>
            <a:ext cx="23756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MARKETS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L03 ·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Three evidence cards under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The thesis in one sentence, then the evidence that survives contact with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50008"/>
            <a:ext cx="3657295" cy="1920240"/>
          </a:xfrm>
          <a:prstGeom prst="roundRect">
            <a:avLst>
              <a:gd name="adj" fmla="val 790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496312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Where we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862072"/>
            <a:ext cx="33281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Named criterion, with the number that proves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199" y="2350008"/>
            <a:ext cx="3657295" cy="1920240"/>
          </a:xfrm>
          <a:prstGeom prst="roundRect">
            <a:avLst>
              <a:gd name="adj" fmla="val 790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1" y="2496312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What it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1" y="2862072"/>
            <a:ext cx="33281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Build, run, and the crossing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199" y="2350008"/>
            <a:ext cx="3657295" cy="1920240"/>
          </a:xfrm>
          <a:prstGeom prst="roundRect">
            <a:avLst>
              <a:gd name="adj" fmla="val 790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1791" y="2496312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What must be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791" y="2862072"/>
            <a:ext cx="33281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The assumption the case rests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L04 · PROCESS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Four nodes, one outcome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2704795" cy="914400"/>
          </a:xfrm>
          <a:prstGeom prst="roundRect">
            <a:avLst>
              <a:gd name="adj" fmla="val 16600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946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699" y="2331720"/>
            <a:ext cx="2704795" cy="914400"/>
          </a:xfrm>
          <a:prstGeom prst="roundRect">
            <a:avLst>
              <a:gd name="adj" fmla="val 16600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4699" y="256946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Enrich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2331720"/>
            <a:ext cx="2704795" cy="914400"/>
          </a:xfrm>
          <a:prstGeom prst="roundRect">
            <a:avLst>
              <a:gd name="adj" fmla="val 16600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9" y="256946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699" y="2331720"/>
            <a:ext cx="2704795" cy="914400"/>
          </a:xfrm>
          <a:prstGeom prst="roundRect">
            <a:avLst>
              <a:gd name="adj" fmla="val 16600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9699" y="256946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277295" cy="1371600"/>
          </a:xfrm>
          <a:prstGeom prst="roundRect">
            <a:avLst>
              <a:gd name="adj" fmla="val 11066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080180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297680"/>
            <a:ext cx="10801807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One endpoint, annotated below the chain — never a fifth node.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L05 · REASONS OR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Four equal pillars, numbered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27047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865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01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52344"/>
            <a:ext cx="237561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Weeks, not quarters.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699" y="2240280"/>
            <a:ext cx="27047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9291" y="23865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02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9291" y="2752344"/>
            <a:ext cx="237561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Run cost named, not implied.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199" y="2240280"/>
            <a:ext cx="27047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1" y="23865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03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1" y="2752344"/>
            <a:ext cx="237561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Owner per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699" y="2240280"/>
            <a:ext cx="27047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4291" y="23865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04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4291" y="2752344"/>
            <a:ext cx="237561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Markets it opens.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L06 · OPPORTUNITY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Metric tiles on top, assumptions below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$4.2M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ADDRESSABLE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1791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1791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ATTACH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1791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9wk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791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TIME TO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562295" cy="1554480"/>
          </a:xfrm>
          <a:prstGeom prst="roundRect">
            <a:avLst>
              <a:gd name="adj" fmla="val 976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986784"/>
            <a:ext cx="523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Assumption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352544"/>
            <a:ext cx="5233111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Stated on the slide, not in the appendix.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3840480"/>
            <a:ext cx="5562295" cy="1554480"/>
          </a:xfrm>
          <a:prstGeom prst="roundRect">
            <a:avLst>
              <a:gd name="adj" fmla="val 976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1" y="3986784"/>
            <a:ext cx="523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1" y="4352544"/>
            <a:ext cx="5233111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Which driver moves the answer most.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L07 ·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Hero diagram left, capability layers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6514795" cy="3108960"/>
          </a:xfrm>
          <a:prstGeom prst="roundRect">
            <a:avLst>
              <a:gd name="adj" fmla="val 4882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611245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System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24699" y="2148840"/>
            <a:ext cx="4609795" cy="914400"/>
          </a:xfrm>
          <a:prstGeom prst="roundRect">
            <a:avLst>
              <a:gd name="adj" fmla="val 166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9291" y="2295144"/>
            <a:ext cx="4280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9291" y="2660904"/>
            <a:ext cx="4280611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24699" y="3227832"/>
            <a:ext cx="4609795" cy="914400"/>
          </a:xfrm>
          <a:prstGeom prst="roundRect">
            <a:avLst>
              <a:gd name="adj" fmla="val 166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9291" y="3374136"/>
            <a:ext cx="4280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9291" y="3739896"/>
            <a:ext cx="4280611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4699" y="4306823"/>
            <a:ext cx="4609795" cy="914400"/>
          </a:xfrm>
          <a:prstGeom prst="roundRect">
            <a:avLst>
              <a:gd name="adj" fmla="val 166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9291" y="4453127"/>
            <a:ext cx="4280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9291" y="4818887"/>
            <a:ext cx="4280611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B4D8"/>
                </a:solidFill>
                <a:latin typeface="Aptos"/>
              </a:rPr>
              <a:t>L08 · 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FFFFFF"/>
                </a:solidFill>
                <a:latin typeface="Georgia"/>
              </a:rPr>
              <a:t>Centered diagram on midnight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9699" y="2194560"/>
            <a:ext cx="9372295" cy="3017520"/>
          </a:xfrm>
          <a:prstGeom prst="roundRect">
            <a:avLst>
              <a:gd name="adj" fmla="val 503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699" y="3474720"/>
            <a:ext cx="9372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Centered system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9699" y="3886200"/>
            <a:ext cx="937229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00B4D8"/>
                </a:solidFill>
                <a:latin typeface="Aptos"/>
              </a:rPr>
              <a:t>Cyan dimensions and annotations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L09 · PRODUCT OR SERVICE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Six columns, one recommended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1752295" cy="2194560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86584"/>
            <a:ext cx="142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52344"/>
            <a:ext cx="1423111" cy="1517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2199" y="2240280"/>
            <a:ext cx="1752295" cy="2194560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6791" y="2386584"/>
            <a:ext cx="142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791" y="2752344"/>
            <a:ext cx="1423111" cy="1517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2240280"/>
            <a:ext cx="1752295" cy="2194560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1791" y="2386584"/>
            <a:ext cx="142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1791" y="2752344"/>
            <a:ext cx="1423111" cy="1517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2240280"/>
            <a:ext cx="1752295" cy="2194560"/>
          </a:xfrm>
          <a:prstGeom prst="roundRect">
            <a:avLst>
              <a:gd name="adj" fmla="val 6916"/>
            </a:avLst>
          </a:prstGeom>
          <a:solidFill>
            <a:srgbClr val="007E9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1" y="2386584"/>
            <a:ext cx="142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1" y="2752344"/>
            <a:ext cx="1423111" cy="1517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FFFFFF"/>
                </a:solidFill>
                <a:latin typeface="Aptos"/>
              </a:rPr>
              <a:t>Recommended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199" y="2240280"/>
            <a:ext cx="1752295" cy="2194560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1791" y="2386584"/>
            <a:ext cx="142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1791" y="2752344"/>
            <a:ext cx="1423111" cy="1517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2199" y="2240280"/>
            <a:ext cx="1752295" cy="2194560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6791" y="2386584"/>
            <a:ext cx="142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6791" y="2752344"/>
            <a:ext cx="1423111" cy="1517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L10 · COMPETITIVE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One clear win, one honest limitation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36572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86584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We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52344"/>
            <a:ext cx="332811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Named criterion and the margin.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240280"/>
            <a:ext cx="36572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1791" y="2386584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We 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1791" y="2752344"/>
            <a:ext cx="332811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Where the field has converged.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240280"/>
            <a:ext cx="36572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1791" y="2386584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We 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791" y="2752344"/>
            <a:ext cx="332811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Stated plainly, with the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L11 · ROADMAP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Phases across, evidence and risk below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704795" cy="777240"/>
          </a:xfrm>
          <a:prstGeom prst="roundRect">
            <a:avLst>
              <a:gd name="adj" fmla="val 19529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3230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699" y="2194560"/>
            <a:ext cx="2704795" cy="777240"/>
          </a:xfrm>
          <a:prstGeom prst="roundRect">
            <a:avLst>
              <a:gd name="adj" fmla="val 19529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4699" y="243230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2194560"/>
            <a:ext cx="2704795" cy="777240"/>
          </a:xfrm>
          <a:prstGeom prst="roundRect">
            <a:avLst>
              <a:gd name="adj" fmla="val 19529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9" y="243230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Sustain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699" y="2194560"/>
            <a:ext cx="2704795" cy="777240"/>
          </a:xfrm>
          <a:prstGeom prst="roundRect">
            <a:avLst>
              <a:gd name="adj" fmla="val 19529"/>
            </a:avLst>
          </a:prstGeom>
          <a:solidFill>
            <a:srgbClr val="098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9699" y="2432304"/>
            <a:ext cx="27047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5562295" cy="1554480"/>
          </a:xfrm>
          <a:prstGeom prst="roundRect">
            <a:avLst>
              <a:gd name="adj" fmla="val 976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483864"/>
            <a:ext cx="523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849624"/>
            <a:ext cx="5233111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A gate per phase, not a status colour.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9" y="3337560"/>
            <a:ext cx="5562295" cy="1554480"/>
          </a:xfrm>
          <a:prstGeom prst="roundRect">
            <a:avLst>
              <a:gd name="adj" fmla="val 976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1" y="3483864"/>
            <a:ext cx="5233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1" y="3849624"/>
            <a:ext cx="5233111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Owner named beside every risk.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L12 · FINANCIAL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Table plus three aligned callouts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+14pt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GROSS MARGIN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1791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$1.1M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1791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RUN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1791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0.7x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791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CAC PAYBACK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77295" cy="1463040"/>
          </a:xfrm>
          <a:prstGeom prst="roundRect">
            <a:avLst>
              <a:gd name="adj" fmla="val 10375"/>
            </a:avLst>
          </a:prstGeom>
          <a:solidFill>
            <a:srgbClr val="F4F8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160520"/>
            <a:ext cx="10838383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Units, timeframe, and whether values are actual, target or forecast — stated on the table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L13 · COST OR CONCEPT 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Three large numbers, one implication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$180k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1791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$26k/yr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1791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148840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1791" y="2350008"/>
            <a:ext cx="3328111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$310k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791" y="3072384"/>
            <a:ext cx="3328111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AVOIDED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77295" cy="1463040"/>
          </a:xfrm>
          <a:prstGeom prst="roundRect">
            <a:avLst>
              <a:gd name="adj" fmla="val 10375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059936"/>
            <a:ext cx="1080180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Bottom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480560"/>
            <a:ext cx="10801807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The implication, not the arithmetic — what the reader should now decide.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L14 · ASK OR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Midnight ask left, resourcing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4609795" cy="3017520"/>
          </a:xfrm>
          <a:prstGeom prst="roundRect">
            <a:avLst>
              <a:gd name="adj" fmla="val 503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459736"/>
            <a:ext cx="413430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Approve phase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880360"/>
            <a:ext cx="4134307" cy="2157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One decision. One owner. One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9699" y="2240280"/>
            <a:ext cx="6514795" cy="3017520"/>
          </a:xfrm>
          <a:prstGeom prst="roundRect">
            <a:avLst>
              <a:gd name="adj" fmla="val 5030"/>
            </a:avLst>
          </a:prstGeom>
          <a:solidFill>
            <a:srgbClr val="F4F8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9155" y="2441448"/>
            <a:ext cx="607588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Use of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9155" y="2880360"/>
            <a:ext cx="6075883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Owner per workstream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Milestone per month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The gate that stops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L15 · TEAM OR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Leaders above, capability grid below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295144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Sponsor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60904"/>
            <a:ext cx="3328111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Role evidence over biography.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148840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1791" y="2295144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Delivery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1791" y="2660904"/>
            <a:ext cx="3328111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Role evidence over biography.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148840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1791" y="2295144"/>
            <a:ext cx="33281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791" y="2660904"/>
            <a:ext cx="3328111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Role evidence over biography.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2704795" cy="1097280"/>
          </a:xfrm>
          <a:prstGeom prst="roundRect">
            <a:avLst>
              <a:gd name="adj" fmla="val 138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9867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352544"/>
            <a:ext cx="2375611" cy="42062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4699" y="3840480"/>
            <a:ext cx="2704795" cy="1097280"/>
          </a:xfrm>
          <a:prstGeom prst="roundRect">
            <a:avLst>
              <a:gd name="adj" fmla="val 138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9291" y="39867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9291" y="4352544"/>
            <a:ext cx="2375611" cy="42062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9" y="3840480"/>
            <a:ext cx="2704795" cy="1097280"/>
          </a:xfrm>
          <a:prstGeom prst="roundRect">
            <a:avLst>
              <a:gd name="adj" fmla="val 138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1" y="39867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1" y="4352544"/>
            <a:ext cx="2375611" cy="42062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699" y="3840480"/>
            <a:ext cx="2704795" cy="1097280"/>
          </a:xfrm>
          <a:prstGeom prst="roundRect">
            <a:avLst>
              <a:gd name="adj" fmla="val 138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4291" y="3986784"/>
            <a:ext cx="23756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4291" y="4352544"/>
            <a:ext cx="2375611" cy="42062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B4D8"/>
                </a:solidFill>
                <a:latin typeface="Aptos"/>
              </a:rPr>
              <a:t>L16 · CLOSING PROOF MONTAGE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FFFFFF"/>
                </a:solidFill>
                <a:latin typeface="Georgia"/>
              </a:rPr>
              <a:t>One line, then the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2704795" cy="2103120"/>
          </a:xfrm>
          <a:prstGeom prst="roundRect">
            <a:avLst>
              <a:gd name="adj" fmla="val 7217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23390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Proof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699" y="2331720"/>
            <a:ext cx="2704795" cy="2103120"/>
          </a:xfrm>
          <a:prstGeom prst="roundRect">
            <a:avLst>
              <a:gd name="adj" fmla="val 7217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79" y="4023360"/>
            <a:ext cx="23390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Proof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2331720"/>
            <a:ext cx="2704795" cy="2103120"/>
          </a:xfrm>
          <a:prstGeom prst="roundRect">
            <a:avLst>
              <a:gd name="adj" fmla="val 7217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4023360"/>
            <a:ext cx="23390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Proof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699" y="2331720"/>
            <a:ext cx="2704795" cy="2103120"/>
          </a:xfrm>
          <a:prstGeom prst="roundRect">
            <a:avLst>
              <a:gd name="adj" fmla="val 7217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2579" y="4023360"/>
            <a:ext cx="23390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Proof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Client-Ready PPTX Design System · layout reference · derived from canvas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