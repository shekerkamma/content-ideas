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808B"/>
                </a:solidFill>
              </a:rPr>
              <a:t>AI Engineering Client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33D"/>
                </a:solidFill>
              </a:rPr>
              <a:t>Manufacturing Predictive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6035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92F"/>
                </a:solidFill>
              </a:rPr>
              <a:t>A client-facing use case package built from the AI Engineering Use Cases Framework and validated against current manufacturing, SAP, and OpenHands signals.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3474720" cy="1828800"/>
          </a:xfrm>
          <a:prstGeom prst="roundRect">
            <a:avLst/>
          </a:prstGeom>
          <a:solidFill>
            <a:srgbClr val="F3F6F8"/>
          </a:solidFill>
          <a:ln>
            <a:solidFill>
              <a:srgbClr val="F3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What this package includes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Executive opportunity framing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Verified architecture and solution stack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90-day pilot roadmap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Account-specific angle for Hyundai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926080"/>
            <a:ext cx="3474720" cy="1828800"/>
          </a:xfrm>
          <a:prstGeom prst="roundRect">
            <a:avLst/>
          </a:prstGeom>
          <a:solidFill>
            <a:srgbClr val="F3F6F8"/>
          </a:solidFill>
          <a:ln>
            <a:solidFill>
              <a:srgbClr val="F3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Evidence base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Source PDF use case UC06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Hyundai + MakinaRocks deployment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Deloitte manufacturing benchmarks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SAP manufacturing product signals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Verified OpenHands repo +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C7A"/>
                </a:solidFill>
              </a:rPr>
              <a:t>June 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233D"/>
                </a:solidFill>
              </a:rPr>
              <a:t>Executive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94960" cy="4389120"/>
          </a:xfrm>
          <a:prstGeom prst="roundRect">
            <a:avLst/>
          </a:prstGeom>
          <a:solidFill>
            <a:srgbClr val="F3F6F8"/>
          </a:solidFill>
          <a:ln>
            <a:solidFill>
              <a:srgbClr val="F3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Why now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Predictive maintenance has moved from pilot rhetoric to scaled deployment in automotive manufacturing.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Hyundai and MakinaRocks report predictive robotics maintenance expanding toward roughly 1,400 robots globally by end of 2026.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Manufacturers still face major maintenance maturity gaps despite rising smart-manufacturing investment.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280160"/>
            <a:ext cx="4572000" cy="4389120"/>
          </a:xfrm>
          <a:prstGeom prst="roundRect">
            <a:avLst/>
          </a:prstGeom>
          <a:solidFill>
            <a:srgbClr val="1C808B"/>
          </a:solidFill>
          <a:ln>
            <a:solidFill>
              <a:srgbClr val="1C8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Bottom line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This is a GO use case: 25/35 on the vertical scorecard.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Best entry wedge is one asset family with direct SAP PM integration.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OpenHands should be used internally as the orchestration layer for reusable agent workflows, not pitched as the end-user product.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233D"/>
                </a:solidFill>
              </a:rPr>
              <a:t>Business Case and Market Signals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4297680"/>
          </a:xfrm>
          <a:prstGeom prst="roundRect">
            <a:avLst/>
          </a:prstGeom>
          <a:solidFill>
            <a:srgbClr val="F3F6F8"/>
          </a:solidFill>
          <a:ln>
            <a:solidFill>
              <a:srgbClr val="F3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Cost of inaction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NIST cites downtime at 8.3% of planned production time in discrete manufacturing.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NIST cites $245B in downtime cost across discrete manufacturing.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Deloitte cites a $50B annual unplanned-downtime problem for industrial manufacturers.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371600"/>
            <a:ext cx="3474720" cy="4297680"/>
          </a:xfrm>
          <a:prstGeom prst="roundRect">
            <a:avLst/>
          </a:prstGeom>
          <a:solidFill>
            <a:srgbClr val="F3F6F8"/>
          </a:solidFill>
          <a:ln>
            <a:solidFill>
              <a:srgbClr val="F3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Observed upside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Deloitte reports 10% to 20% production-output improvement from smart-manufacturing initiatives.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Predictive maintenance benchmarks point to 53% less unplanned downtime versus preventive maintenance and 79% fewer defects.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Maintenance remains one of the least mature but most investment-ready functions.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371600"/>
            <a:ext cx="3200400" cy="4297680"/>
          </a:xfrm>
          <a:prstGeom prst="roundRect">
            <a:avLst/>
          </a:prstGeom>
          <a:solidFill>
            <a:srgbClr val="12233D"/>
          </a:solidFill>
          <a:ln>
            <a:solidFill>
              <a:srgbClr val="12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Commercial signal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65% to 70% of manufacturers outsource technology, data, cybersecurity, AI, and automation roles.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This supports a services-led entry model instead of requiring full in-house buildout first.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233D"/>
                </a:solidFill>
              </a:rPr>
              <a:t>Use Case Realization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03520" cy="1920240"/>
          </a:xfrm>
          <a:prstGeom prst="roundRect">
            <a:avLst/>
          </a:prstGeom>
          <a:solidFill>
            <a:srgbClr val="F3F6F8"/>
          </a:solidFill>
          <a:ln>
            <a:solidFill>
              <a:srgbClr val="F3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Challenge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Unexpected failures drive downtime and scrap.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Maintenance teams operate across siloed IoT, MES, and SAP PM systems.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Plants struggle to scale predictive models into reliable operating workflows.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5303520" cy="1920240"/>
          </a:xfrm>
          <a:prstGeom prst="roundRect">
            <a:avLst/>
          </a:prstGeom>
          <a:solidFill>
            <a:srgbClr val="F3F6F8"/>
          </a:solidFill>
          <a:ln>
            <a:solidFill>
              <a:srgbClr val="F3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Solution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Monitor equipment telemetry continuously for early warning.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Route anomalies into SAP PM work-order action.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Package the workflow with reusable agents and integrations for cross-plant rollout.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280160"/>
            <a:ext cx="4937760" cy="4114800"/>
          </a:xfrm>
          <a:prstGeom prst="roundRect">
            <a:avLst/>
          </a:prstGeom>
          <a:solidFill>
            <a:srgbClr val="1C808B"/>
          </a:solidFill>
          <a:ln>
            <a:solidFill>
              <a:srgbClr val="1C8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Proof points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5-day failure lead time in Hyundai/MakinaRocks deployment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90%+ reported prediction accuracy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40% faster implementation claimed in the source framework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SAP-native workflow is more credible than a standalone AI sidecar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233D"/>
                </a:solidFill>
              </a:rPr>
              <a:t>Verified Solution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4389120"/>
          </a:xfrm>
          <a:prstGeom prst="roundRect">
            <a:avLst/>
          </a:prstGeom>
          <a:solidFill>
            <a:srgbClr val="F3F6F8"/>
          </a:solidFill>
          <a:ln>
            <a:solidFill>
              <a:srgbClr val="F3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Experience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Maintenance planner dashboard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Technician workflow in SAP PM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Alert and work-order review surface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371600"/>
            <a:ext cx="2560320" cy="4389120"/>
          </a:xfrm>
          <a:prstGeom prst="roundRect">
            <a:avLst/>
          </a:prstGeom>
          <a:solidFill>
            <a:srgbClr val="F3F6F8"/>
          </a:solidFill>
          <a:ln>
            <a:solidFill>
              <a:srgbClr val="F3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Orchestration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OpenHands SDK agents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OpenHands skills / repo agents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CLI and headless execution for scheduled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2560320" cy="4389120"/>
          </a:xfrm>
          <a:prstGeom prst="roundRect">
            <a:avLst/>
          </a:prstGeom>
          <a:solidFill>
            <a:srgbClr val="F3F6F8"/>
          </a:solidFill>
          <a:ln>
            <a:solidFill>
              <a:srgbClr val="F3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Context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Sensor streams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Work-order history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Asset master data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Historian / MES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1371600"/>
            <a:ext cx="2194560" cy="4389120"/>
          </a:xfrm>
          <a:prstGeom prst="roundRect">
            <a:avLst/>
          </a:prstGeom>
          <a:solidFill>
            <a:srgbClr val="12233D"/>
          </a:solidFill>
          <a:ln>
            <a:solidFill>
              <a:srgbClr val="12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Actuation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SAP PM work orders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Maintenance scheduling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Technician feedback loop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MCP-backed tool access where needed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233D"/>
                </a:solidFill>
              </a:rPr>
              <a:t>90-Day Pilot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972800" cy="4480560"/>
          </a:xfrm>
          <a:prstGeom prst="roundRect">
            <a:avLst/>
          </a:prstGeom>
          <a:solidFill>
            <a:srgbClr val="F3F6F8"/>
          </a:solidFill>
          <a:ln>
            <a:solidFill>
              <a:srgbClr val="F3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Phased plan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Days 1-15: choose one asset family, review failure modes, map telemetry and SAP PM workflow, complete OT/security review.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Days 16-45: ingest telemetry, establish baseline analytics, configure OpenHands orchestration and integration adapters.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Days 46-75: launch pilot alerts, technician workflow, and false-positive tuning loop.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Days 76-90: measure downtime, response quality, and operational fit; package expansion template for the next plant or asset family.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233D"/>
                </a:solidFill>
              </a:rPr>
              <a:t>Risks and Controls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389120"/>
          </a:xfrm>
          <a:prstGeom prst="roundRect">
            <a:avLst/>
          </a:prstGeom>
          <a:solidFill>
            <a:srgbClr val="F3F6F8"/>
          </a:solidFill>
          <a:ln>
            <a:solidFill>
              <a:srgbClr val="F3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Primary risks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False positives erode trust.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Weak maintenance history limits model value.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OT security objections slow access to plant data.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IT/OT/maintenance ownership is unclear.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4937760" cy="4389120"/>
          </a:xfrm>
          <a:prstGeom prst="roundRect">
            <a:avLst/>
          </a:prstGeom>
          <a:solidFill>
            <a:srgbClr val="1C808B"/>
          </a:solidFill>
          <a:ln>
            <a:solidFill>
              <a:srgbClr val="1C8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Controls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Start with assisted triage and conservative thresholds.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Choose a well-instrumented asset family first.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Use edge-first or read-only patterns where needed.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Require an executive sponsor and a named maintenance lead.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233D"/>
                </a:solidFill>
              </a:rPr>
              <a:t>Account Angle: Hyundai Motor Company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389120"/>
          </a:xfrm>
          <a:prstGeom prst="roundRect">
            <a:avLst/>
          </a:prstGeom>
          <a:solidFill>
            <a:srgbClr val="F3F6F8"/>
          </a:solidFill>
          <a:ln>
            <a:solidFill>
              <a:srgbClr val="F3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Why Hyundai fits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Hyundai is already a public proof point for predictive maintenance at production scale.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The next value is not proving the concept; it is standardizing rollout across more asset families and plants.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A reusable OpenHands-based orchestration layer can reduce delivery friction without changing Hyundai’s system of 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029200" cy="4389120"/>
          </a:xfrm>
          <a:prstGeom prst="roundRect">
            <a:avLst/>
          </a:prstGeom>
          <a:solidFill>
            <a:srgbClr val="12233D"/>
          </a:solidFill>
          <a:ln>
            <a:solidFill>
              <a:srgbClr val="12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Recommended next step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Run a discovery sprint on one asset family beyond robotics.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Map telemetry to SAP PM work-order action.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Quantify the rollout gap between current deployment and broader manufacturing standardization.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Leave behind reusable agent definitions, skills, and integration patterns.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