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258160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A PRODUCTION AGENT IS JUST A FOLDER OF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6521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01 / 13 ·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1142971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VERDICT · 2026 · VERCEL SHIP LONDON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511262"/>
            <a:ext cx="9524761" cy="101855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4010"/>
              </a:lnSpc>
            </a:pPr>
            <a:r>
              <a:rPr sz="4090" b="1">
                <a:solidFill>
                  <a:srgbClr val="FFFFFF"/>
                </a:solidFill>
                <a:latin typeface="Inter"/>
              </a:rPr>
              <a:t>A production agent is now</a:t>
            </a:r>
          </a:p>
          <a:p>
            <a:pPr algn="l">
              <a:lnSpc>
                <a:spcPts val="4010"/>
              </a:lnSpc>
            </a:pPr>
            <a:r>
              <a:rPr sz="4090" b="1">
                <a:solidFill>
                  <a:srgbClr val="FFFFFF"/>
                </a:solidFill>
                <a:latin typeface="Inter"/>
              </a:rPr>
              <a:t>just </a:t>
            </a:r>
            <a:r>
              <a:rPr sz="4090" b="1">
                <a:solidFill>
                  <a:srgbClr val="35D0B1"/>
                </a:solidFill>
                <a:latin typeface="Inter"/>
              </a:rPr>
              <a:t>a folder of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3301917"/>
            <a:ext cx="8635784" cy="5155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030"/>
              </a:lnSpc>
            </a:pPr>
            <a:r>
              <a:rPr sz="1400" b="0">
                <a:solidFill>
                  <a:srgbClr val="9DB0C3"/>
                </a:solidFill>
                <a:latin typeface="Inter"/>
              </a:rPr>
              <a:t> Vercel’s </a:t>
            </a:r>
            <a:r>
              <a:rPr sz="1400" b="1">
                <a:solidFill>
                  <a:srgbClr val="E6EDF3"/>
                </a:solidFill>
                <a:latin typeface="Inter"/>
              </a:rPr>
              <a:t>Eve</a:t>
            </a:r>
            <a:r>
              <a:rPr sz="1400" b="0">
                <a:solidFill>
                  <a:srgbClr val="9DB0C3"/>
                </a:solidFill>
                <a:latin typeface="Inter"/>
              </a:rPr>
              <a:t> is </a:t>
            </a:r>
            <a:r>
              <a:rPr sz="1400" b="1">
                <a:solidFill>
                  <a:srgbClr val="E6EDF3"/>
                </a:solidFill>
                <a:latin typeface="Inter"/>
              </a:rPr>
              <a:t>“Next.js for agents”</a:t>
            </a:r>
            <a:r>
              <a:rPr sz="1400" b="0">
                <a:solidFill>
                  <a:srgbClr val="9DB0C3"/>
                </a:solidFill>
                <a:latin typeface="Inter"/>
              </a:rPr>
              <a:t> — Markdown for instructions and skills, TypeScript for tools, </a:t>
            </a:r>
            <a:r>
              <a:rPr sz="1400" b="0">
                <a:solidFill>
                  <a:srgbClr val="35D0B1"/>
                </a:solidFill>
                <a:latin typeface="Inter"/>
              </a:rPr>
              <a:t>durable by default</a:t>
            </a:r>
            <a:r>
              <a:rPr sz="1400" b="0">
                <a:solidFill>
                  <a:srgbClr val="9DB0C3"/>
                </a:solidFill>
                <a:latin typeface="Inter"/>
              </a:rPr>
              <a:t>. </a:t>
            </a:r>
            <a:r>
              <a:rPr sz="1400" b="0">
                <a:solidFill>
                  <a:srgbClr val="E6EDF3"/>
                </a:solidFill>
                <a:latin typeface="Inter"/>
              </a:rPr>
              <a:t>eve build</a:t>
            </a:r>
            <a:r>
              <a:rPr sz="1400" b="0">
                <a:solidFill>
                  <a:srgbClr val="9DB0C3"/>
                </a:solidFill>
                <a:latin typeface="Inter"/>
              </a:rPr>
              <a:t> compiles a directory into a deployed service.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5016374"/>
            <a:ext cx="190495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5200519"/>
            <a:ext cx="1904952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35D0B1"/>
                </a:solidFill>
                <a:latin typeface="JetBrains Mono"/>
              </a:rPr>
              <a:t>Apache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5543411"/>
            <a:ext cx="190495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Inter"/>
              </a:rPr>
              <a:t>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6022" y="5016374"/>
            <a:ext cx="190495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6022" y="5200519"/>
            <a:ext cx="1904952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F5A524"/>
                </a:solidFill>
                <a:latin typeface="JetBrains Mono"/>
              </a:rPr>
              <a:t>Public beta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6022" y="5543411"/>
            <a:ext cx="190495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Inter"/>
              </a:rPr>
              <a:t>APIs still moving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9569" y="5016374"/>
            <a:ext cx="190495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LAUNCHED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9569" y="5200519"/>
            <a:ext cx="1904952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E6EDF3"/>
                </a:solidFill>
                <a:latin typeface="JetBrains Mono"/>
              </a:rPr>
              <a:t>Jun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569" y="5543411"/>
            <a:ext cx="190495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Inter"/>
              </a:rPr>
              <a:t>Vercel Ship London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3116" y="5016374"/>
            <a:ext cx="2158946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REPO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3116" y="5225919"/>
            <a:ext cx="2158946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40"/>
              </a:lnSpc>
            </a:pPr>
            <a:r>
              <a:rPr sz="1200" b="0">
                <a:solidFill>
                  <a:srgbClr val="E6EDF3"/>
                </a:solidFill>
                <a:latin typeface="JetBrains Mono"/>
              </a:rPr>
              <a:t>github.com/vercel/eve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3116" y="5460863"/>
            <a:ext cx="2158946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Inter"/>
              </a:rPr>
              <a:t>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0656" y="5016374"/>
            <a:ext cx="1650958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STARS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0656" y="5200519"/>
            <a:ext cx="1650958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35D0B1"/>
                </a:solidFill>
                <a:latin typeface="JetBrains Mono"/>
              </a:rPr>
              <a:t>~3.8k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0656" y="5543411"/>
            <a:ext cx="1650958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Inter"/>
              </a:rPr>
              <a:t>Since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389" y="6657808"/>
            <a:ext cx="1243576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OPS BRIEF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1564" y="6657808"/>
            <a:ext cx="51890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5051" y="6657808"/>
            <a:ext cx="2331681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FOR TECHNICAL LEADERS EVALUATING AGENT STACKS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111479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THE SHIFT, UP 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THE SHIFT, UP 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365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878"/>
              </a:lnSpc>
            </a:pPr>
            <a:r>
              <a:rPr sz="2820" b="1">
                <a:solidFill>
                  <a:srgbClr val="FFFFFF"/>
                </a:solidFill>
                <a:latin typeface="Inter"/>
              </a:rPr>
              <a:t>Three ideas collapse the </a:t>
            </a:r>
            <a:r>
              <a:rPr sz="2820" b="1">
                <a:solidFill>
                  <a:srgbClr val="F5A524"/>
                </a:solidFill>
                <a:latin typeface="Inter"/>
              </a:rPr>
              <a:t>build‑vs‑reliability</a:t>
            </a:r>
            <a:r>
              <a:rPr sz="2820" b="1">
                <a:solidFill>
                  <a:srgbClr val="FFFFFF"/>
                </a:solidFill>
                <a:latin typeface="Inter"/>
              </a:rPr>
              <a:t> trade-off.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1968450"/>
            <a:ext cx="8889777" cy="2095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50"/>
              </a:lnSpc>
            </a:pPr>
            <a:r>
              <a:rPr sz="1100" b="0">
                <a:solidFill>
                  <a:srgbClr val="64778C"/>
                </a:solidFill>
                <a:latin typeface="Inter"/>
              </a:rPr>
              <a:t>Filesystem‑first ease meets production‑grade rigor — without picking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2895527"/>
            <a:ext cx="1269968" cy="26415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080"/>
              </a:lnSpc>
            </a:pPr>
            <a:r>
              <a:rPr sz="2080" b="1">
                <a:solidFill>
                  <a:srgbClr val="35D0B1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74" y="3555911"/>
            <a:ext cx="2920926" cy="2514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98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The agent </a:t>
            </a:r>
            <a:r>
              <a:rPr sz="1800" b="1">
                <a:solidFill>
                  <a:srgbClr val="35D0B1"/>
                </a:solidFill>
                <a:latin typeface="Inter"/>
              </a:rPr>
              <a:t>IS</a:t>
            </a:r>
            <a:r>
              <a:rPr sz="1800" b="1">
                <a:solidFill>
                  <a:srgbClr val="FFFFFF"/>
                </a:solidFill>
                <a:latin typeface="Inter"/>
              </a:rPr>
              <a:t> a directory.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974" y="4444888"/>
            <a:ext cx="2920926" cy="5607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72"/>
              </a:lnSpc>
            </a:pPr>
            <a:r>
              <a:rPr sz="950" b="0">
                <a:solidFill>
                  <a:srgbClr val="9DB0C3"/>
                </a:solidFill>
                <a:latin typeface="Inter"/>
              </a:rPr>
              <a:t> Instructions, skills, tools, subagents and channels are just files at conventional paths. </a:t>
            </a:r>
            <a:r>
              <a:rPr sz="950" b="0">
                <a:solidFill>
                  <a:srgbClr val="E6EDF3"/>
                </a:solidFill>
                <a:latin typeface="Inter"/>
              </a:rPr>
              <a:t>agent/</a:t>
            </a:r>
            <a:r>
              <a:rPr sz="950" b="0">
                <a:solidFill>
                  <a:srgbClr val="9DB0C3"/>
                </a:solidFill>
                <a:latin typeface="Inter"/>
              </a:rPr>
              <a:t> IS the source of truth.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74" y="5524361"/>
            <a:ext cx="1472667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FILE-SYSTEM · CONVENTION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5384" y="2895527"/>
            <a:ext cx="1269968" cy="26415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080"/>
              </a:lnSpc>
            </a:pPr>
            <a:r>
              <a:rPr sz="2080" b="1">
                <a:solidFill>
                  <a:srgbClr val="35D0B1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384" y="3555911"/>
            <a:ext cx="2920926" cy="5028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98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One </a:t>
            </a:r>
            <a:r>
              <a:rPr sz="1800" b="1">
                <a:solidFill>
                  <a:srgbClr val="35D0B1"/>
                </a:solidFill>
                <a:latin typeface="Inter"/>
              </a:rPr>
              <a:t>eve build</a:t>
            </a:r>
            <a:r>
              <a:rPr sz="1800" b="1">
                <a:solidFill>
                  <a:srgbClr val="FFFFFF"/>
                </a:solidFill>
                <a:latin typeface="Inter"/>
              </a:rPr>
              <a:t> wires it 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384" y="4444888"/>
            <a:ext cx="2920926" cy="5607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72"/>
              </a:lnSpc>
            </a:pPr>
            <a:r>
              <a:rPr sz="950" b="0">
                <a:solidFill>
                  <a:srgbClr val="9DB0C3"/>
                </a:solidFill>
                <a:latin typeface="Inter"/>
              </a:rPr>
              <a:t> Discovers files, validates types, compiles a single manifest of tools, skills and channels. No imports. No registration. No glue.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384" y="5524361"/>
            <a:ext cx="1145848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COMPILE ·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793" y="2895527"/>
            <a:ext cx="1269968" cy="26415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080"/>
              </a:lnSpc>
            </a:pPr>
            <a:r>
              <a:rPr sz="2080" b="1">
                <a:solidFill>
                  <a:srgbClr val="35D0B1"/>
                </a:solidFill>
                <a:latin typeface="JetBrai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4793" y="3555911"/>
            <a:ext cx="2920926" cy="5028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98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Production ships </a:t>
            </a:r>
            <a:r>
              <a:rPr sz="1800" b="1">
                <a:solidFill>
                  <a:srgbClr val="35D0B1"/>
                </a:solidFill>
                <a:latin typeface="Inter"/>
              </a:rPr>
              <a:t>in the box.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4793" y="4444888"/>
            <a:ext cx="2920926" cy="5607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72"/>
              </a:lnSpc>
            </a:pPr>
            <a:r>
              <a:rPr sz="950" b="0">
                <a:solidFill>
                  <a:srgbClr val="9DB0C3"/>
                </a:solidFill>
                <a:latin typeface="Inter"/>
              </a:rPr>
              <a:t> Durability. Sandbox. Human approvals. Evals as a deploy gate. One </a:t>
            </a:r>
            <a:r>
              <a:rPr sz="950" b="0">
                <a:solidFill>
                  <a:srgbClr val="E6EDF3"/>
                </a:solidFill>
                <a:latin typeface="Inter"/>
              </a:rPr>
              <a:t>vercel deploy</a:t>
            </a:r>
            <a:r>
              <a:rPr sz="950" b="0">
                <a:solidFill>
                  <a:srgbClr val="9DB0C3"/>
                </a:solidFill>
                <a:latin typeface="Inter"/>
              </a:rPr>
              <a:t> — same directory, live over HTTP + Slack.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4793" y="5524361"/>
            <a:ext cx="1581705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DURABLE · GATED · DEPLOYED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389" y="6657808"/>
            <a:ext cx="1969046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PATTERN &gt; PRODUCT · DIRECTORY-AS-AGENT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997520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THE OLD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F5A524"/>
                </a:solidFill>
                <a:latin typeface="JetBrains Mono"/>
              </a:rPr>
              <a:t>BEFORE 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88084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You picked </a:t>
            </a:r>
            <a:r>
              <a:rPr sz="3400" b="1">
                <a:solidFill>
                  <a:srgbClr val="F5A524"/>
                </a:solidFill>
                <a:latin typeface="Inter"/>
              </a:rPr>
              <a:t>easy</a:t>
            </a:r>
            <a:r>
              <a:rPr sz="3400" b="1">
                <a:solidFill>
                  <a:srgbClr val="FFFFFF"/>
                </a:solidFill>
                <a:latin typeface="Inter"/>
              </a:rPr>
              <a:t> or you picked </a:t>
            </a:r>
            <a:r>
              <a:rPr sz="3400" b="1">
                <a:solidFill>
                  <a:srgbClr val="F5A524"/>
                </a:solidFill>
                <a:latin typeface="Inter"/>
              </a:rPr>
              <a:t>production</a:t>
            </a:r>
            <a:r>
              <a:rPr sz="3400" b="1">
                <a:solidFill>
                  <a:srgbClr val="FFFFFF"/>
                </a:solidFill>
                <a:latin typeface="Inter"/>
              </a:rPr>
              <a:t>.</a:t>
            </a:r>
          </a:p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You didn’t get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74" y="2793930"/>
            <a:ext cx="1385158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647"/>
              </a:lnSpc>
            </a:pPr>
            <a:r>
              <a:rPr sz="540" b="0">
                <a:solidFill>
                  <a:srgbClr val="F5A524"/>
                </a:solidFill>
                <a:latin typeface="JetBrains Mono"/>
              </a:rPr>
              <a:t>OPTION A · FILESYSTEM-FIRST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3111422"/>
            <a:ext cx="4825879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200"/>
              </a:lnSpc>
            </a:pPr>
            <a:r>
              <a:rPr sz="2000" b="1">
                <a:solidFill>
                  <a:srgbClr val="FFFFFF"/>
                </a:solidFill>
                <a:latin typeface="Inter"/>
              </a:rPr>
              <a:t>Easy. </a:t>
            </a:r>
            <a:r>
              <a:rPr sz="2000" b="1">
                <a:solidFill>
                  <a:srgbClr val="64778C"/>
                </a:solidFill>
                <a:latin typeface="Inter"/>
              </a:rPr>
              <a:t>Personal‑scale.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74" y="3746406"/>
            <a:ext cx="482587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9DB0C3"/>
                </a:solidFill>
                <a:latin typeface="Inter"/>
              </a:rPr>
              <a:t>A folder of files. Add a Markdown file, get a capability. Great on a laptop.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974" y="4444888"/>
            <a:ext cx="4825879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WHAT’S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74" y="4660783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✕ Durability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112" y="4660783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✕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974" y="4902077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✕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5112" y="4902077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✕ Evals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974" y="5143371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✕ Deploy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112" y="5143371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✕ Multi‑channel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38" y="2793930"/>
            <a:ext cx="1565930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647"/>
              </a:lnSpc>
            </a:pPr>
            <a:r>
              <a:rPr sz="540" b="0">
                <a:solidFill>
                  <a:srgbClr val="F5A524"/>
                </a:solidFill>
                <a:latin typeface="JetBrains Mono"/>
              </a:rPr>
              <a:t>OPTION B · PRODUCTION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3111422"/>
            <a:ext cx="4825879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200"/>
              </a:lnSpc>
            </a:pPr>
            <a:r>
              <a:rPr sz="2000" b="1">
                <a:solidFill>
                  <a:srgbClr val="FFFFFF"/>
                </a:solidFill>
                <a:latin typeface="Inter"/>
              </a:rPr>
              <a:t>Reliable. </a:t>
            </a:r>
            <a:r>
              <a:rPr sz="2000" b="1">
                <a:solidFill>
                  <a:srgbClr val="64778C"/>
                </a:solidFill>
                <a:latin typeface="Inter"/>
              </a:rPr>
              <a:t>Heavy to wire.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3746406"/>
            <a:ext cx="482587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9DB0C3"/>
                </a:solidFill>
                <a:latin typeface="Inter"/>
              </a:rPr>
              <a:t>Real durability and controls — if you accept the vendor’s runtime, SDKs and lock‑in.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4444888"/>
            <a:ext cx="4825879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WHAT YOU PAY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4660783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• Registration boilerplate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5975" y="4660783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• Runtime lock‑in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4902077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• SDK sprawl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5975" y="4902077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• Ops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838" y="5143371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• Weeks of glue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5975" y="5143371"/>
            <a:ext cx="233674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• Migration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980" y="6286342"/>
            <a:ext cx="10667733" cy="117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28"/>
              </a:lnSpc>
            </a:pPr>
            <a:r>
              <a:rPr sz="720" b="0">
                <a:solidFill>
                  <a:srgbClr val="E6EDF3"/>
                </a:solidFill>
                <a:latin typeface="Inter"/>
              </a:rPr>
              <a:t> </a:t>
            </a:r>
            <a:r>
              <a:rPr sz="720" b="1">
                <a:solidFill>
                  <a:srgbClr val="35D0B1"/>
                </a:solidFill>
                <a:latin typeface="Inter"/>
              </a:rPr>
              <a:t>Eve’s move:</a:t>
            </a:r>
            <a:r>
              <a:rPr sz="720" b="0">
                <a:solidFill>
                  <a:srgbClr val="E6EDF3"/>
                </a:solidFill>
                <a:latin typeface="Inter"/>
              </a:rPr>
              <a:t> keep the ease of the folder — put the production layer </a:t>
            </a:r>
            <a:r>
              <a:rPr sz="720" b="0">
                <a:solidFill>
                  <a:srgbClr val="E6EDF3"/>
                </a:solidFill>
                <a:latin typeface="Inter"/>
              </a:rPr>
              <a:t>in the box</a:t>
            </a:r>
            <a:r>
              <a:rPr sz="720" b="0">
                <a:solidFill>
                  <a:srgbClr val="E6EDF3"/>
                </a:solidFill>
                <a:latin typeface="Inter"/>
              </a:rPr>
              <a:t>. The trade-off is gone.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389" y="6657808"/>
            <a:ext cx="1969046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DIAGNOSIS · WHY BUILDERS HAD TO CHOOSE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140817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THE AGENT IS A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MODEL · CONVENTION OVER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404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Each capability is </a:t>
            </a:r>
            <a:r>
              <a:rPr sz="3400" b="1">
                <a:solidFill>
                  <a:srgbClr val="35D0B1"/>
                </a:solidFill>
                <a:latin typeface="Inter"/>
              </a:rPr>
              <a:t>a file at a known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235144"/>
            <a:ext cx="3809904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AGENT/ —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603434"/>
            <a:ext cx="3809904" cy="3281280"/>
          </a:xfrm>
          <a:prstGeom prst="rect">
            <a:avLst/>
          </a:prstGeom>
          <a:noFill/>
        </p:spPr>
        <p:txBody>
          <a:bodyPr wrap="none" anchor="t" lIns="0" rIns="0" tIns="0" bIns="0">
            <a:normAutofit/>
          </a:bodyPr>
          <a:lstStyle/>
          <a:p>
            <a:pPr algn="l">
              <a:lnSpc>
                <a:spcPts val="1614"/>
              </a:lnSpc>
            </a:pPr>
            <a:r>
              <a:rPr sz="950" b="0">
                <a:solidFill>
                  <a:srgbClr val="35D0B1"/>
                </a:solidFill>
                <a:latin typeface="JetBrains Mono"/>
              </a:rPr>
              <a:t>agent/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├──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instructions.md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            </a:t>
            </a:r>
            <a:r>
              <a:rPr sz="950" b="0">
                <a:solidFill>
                  <a:srgbClr val="64778C"/>
                </a:solidFill>
                <a:latin typeface="JetBrains Mono"/>
              </a:rPr>
              <a:t># always-on prompt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├── </a:t>
            </a:r>
            <a:r>
              <a:rPr sz="950" b="0">
                <a:solidFill>
                  <a:srgbClr val="35D0B1"/>
                </a:solidFill>
                <a:latin typeface="JetBrains Mono"/>
              </a:rPr>
              <a:t>tools/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│   ├──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run_sql.ts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             </a:t>
            </a:r>
            <a:r>
              <a:rPr sz="950" b="0">
                <a:solidFill>
                  <a:srgbClr val="64778C"/>
                </a:solidFill>
                <a:latin typeface="JetBrains Mono"/>
              </a:rPr>
              <a:t># =&gt; tool "run_sql"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│   ├──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list_orders.ts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│   └──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post_to_slack.ts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├── </a:t>
            </a:r>
            <a:r>
              <a:rPr sz="950" b="0">
                <a:solidFill>
                  <a:srgbClr val="35D0B1"/>
                </a:solidFill>
                <a:latin typeface="JetBrains Mono"/>
              </a:rPr>
              <a:t>skills/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│   ├──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refund-policy.md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       </a:t>
            </a:r>
            <a:r>
              <a:rPr sz="950" b="0">
                <a:solidFill>
                  <a:srgbClr val="64778C"/>
                </a:solidFill>
                <a:latin typeface="JetBrains Mono"/>
              </a:rPr>
              <a:t># on-demand playbook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│   └──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sql-style-guide.md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├── </a:t>
            </a:r>
            <a:r>
              <a:rPr sz="950" b="0">
                <a:solidFill>
                  <a:srgbClr val="35D0B1"/>
                </a:solidFill>
                <a:latin typeface="JetBrains Mono"/>
              </a:rPr>
              <a:t>subagents/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│   └──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reviewer.ts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            </a:t>
            </a:r>
            <a:r>
              <a:rPr sz="950" b="0">
                <a:solidFill>
                  <a:srgbClr val="64778C"/>
                </a:solidFill>
                <a:latin typeface="JetBrains Mono"/>
              </a:rPr>
              <a:t># own context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└── </a:t>
            </a:r>
            <a:r>
              <a:rPr sz="950" b="0">
                <a:solidFill>
                  <a:srgbClr val="35D0B1"/>
                </a:solidFill>
                <a:latin typeface="JetBrains Mono"/>
              </a:rPr>
              <a:t>channels/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    ├──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http.ts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    ├──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slack.ts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    ├──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discord.ts</a:t>
            </a:r>
          </a:p>
          <a:p>
            <a:pPr algn="l">
              <a:lnSpc>
                <a:spcPts val="1614"/>
              </a:lnSpc>
            </a:pPr>
            <a:r>
              <a:rPr sz="950" b="0">
                <a:solidFill>
                  <a:srgbClr val="E6EDF3"/>
                </a:solidFill>
                <a:latin typeface="JetBrains Mono"/>
              </a:rPr>
              <a:t>    └── </a:t>
            </a:r>
            <a:r>
              <a:rPr sz="950" b="0">
                <a:solidFill>
                  <a:srgbClr val="E6EDF3"/>
                </a:solidFill>
                <a:latin typeface="JetBrains Mono"/>
              </a:rPr>
              <a:t>github.ts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0368" y="2235144"/>
            <a:ext cx="5968850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00"/>
              </a:lnSpc>
            </a:pPr>
            <a:r>
              <a:rPr sz="750" b="0">
                <a:solidFill>
                  <a:srgbClr val="35D0B1"/>
                </a:solidFill>
                <a:latin typeface="JetBrains Mono"/>
              </a:rPr>
              <a:t>instructions.md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0368" y="2412939"/>
            <a:ext cx="5968850" cy="1675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Always‑on system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368" y="2618615"/>
            <a:ext cx="5968850" cy="1511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The agent’s identity, rules and defaults — one Markdown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0368" y="3073323"/>
            <a:ext cx="5968850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00"/>
              </a:lnSpc>
            </a:pPr>
            <a:r>
              <a:rPr sz="750" b="0">
                <a:solidFill>
                  <a:srgbClr val="35D0B1"/>
                </a:solidFill>
                <a:latin typeface="JetBrains Mono"/>
              </a:rPr>
              <a:t>tools/*.ts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368" y="3251118"/>
            <a:ext cx="5968850" cy="1675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One typed TypeScript function per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368" y="3456794"/>
            <a:ext cx="5968850" cy="1511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Filename becomes the tool name. </a:t>
            </a:r>
            <a:r>
              <a:rPr sz="850" b="0">
                <a:solidFill>
                  <a:srgbClr val="E6EDF3"/>
                </a:solidFill>
                <a:latin typeface="Inter"/>
              </a:rPr>
              <a:t>run_sql.ts</a:t>
            </a:r>
            <a:r>
              <a:rPr sz="850" b="0">
                <a:solidFill>
                  <a:srgbClr val="9DB0C3"/>
                </a:solidFill>
                <a:latin typeface="Inter"/>
              </a:rPr>
              <a:t> ⇒ tool </a:t>
            </a:r>
            <a:r>
              <a:rPr sz="850" b="0">
                <a:solidFill>
                  <a:srgbClr val="E6EDF3"/>
                </a:solidFill>
                <a:latin typeface="Inter"/>
              </a:rPr>
              <a:t>run_sql</a:t>
            </a:r>
            <a:r>
              <a:rPr sz="850" b="0">
                <a:solidFill>
                  <a:srgbClr val="9DB0C3"/>
                </a:solidFill>
                <a:latin typeface="Inter"/>
              </a:rPr>
              <a:t>. Nothing to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368" y="3911502"/>
            <a:ext cx="5968850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00"/>
              </a:lnSpc>
            </a:pPr>
            <a:r>
              <a:rPr sz="750" b="0">
                <a:solidFill>
                  <a:srgbClr val="35D0B1"/>
                </a:solidFill>
                <a:latin typeface="JetBrains Mono"/>
              </a:rPr>
              <a:t>skills/*.md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0368" y="4089297"/>
            <a:ext cx="5968850" cy="1675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Markdown playbooks, loaded on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368" y="4294973"/>
            <a:ext cx="5968850" cy="1511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Domain knowledge kept out of the base prompt — pulled in when it’s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0368" y="4749681"/>
            <a:ext cx="5968850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00"/>
              </a:lnSpc>
            </a:pPr>
            <a:r>
              <a:rPr sz="750" b="0">
                <a:solidFill>
                  <a:srgbClr val="35D0B1"/>
                </a:solidFill>
                <a:latin typeface="JetBrains Mono"/>
              </a:rPr>
              <a:t>subagents/*.ts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0368" y="4927476"/>
            <a:ext cx="5968850" cy="1675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Child agents with their own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0368" y="5133152"/>
            <a:ext cx="5968850" cy="1511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Delegate scoped work — a reviewer, a planner — without polluting the parent’s window.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0368" y="5587860"/>
            <a:ext cx="5968850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00"/>
              </a:lnSpc>
            </a:pPr>
            <a:r>
              <a:rPr sz="750" b="0">
                <a:solidFill>
                  <a:srgbClr val="35D0B1"/>
                </a:solidFill>
                <a:latin typeface="JetBrains Mono"/>
              </a:rPr>
              <a:t>channels/*.ts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0368" y="5752956"/>
            <a:ext cx="5968850" cy="1675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Entry points: HTTP · Slack · Discord ·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389" y="6657808"/>
            <a:ext cx="1813574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PATH = CAPABILITY · FILENAME =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10561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ONE BUILD WIRES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COMPILE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88084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35D0B1"/>
                </a:solidFill>
                <a:latin typeface="Inter"/>
              </a:rPr>
              <a:t>eve build</a:t>
            </a:r>
            <a:r>
              <a:rPr sz="3400" b="1">
                <a:solidFill>
                  <a:srgbClr val="FFFFFF"/>
                </a:solidFill>
                <a:latin typeface="Inter"/>
              </a:rPr>
              <a:t> discovers, validates, compiles — one manifest.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578035"/>
            <a:ext cx="2666933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774880"/>
            <a:ext cx="2666933" cy="2234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The </a:t>
            </a:r>
            <a:r>
              <a:rPr sz="1600" b="1">
                <a:solidFill>
                  <a:srgbClr val="35D0B1"/>
                </a:solidFill>
                <a:latin typeface="Inter"/>
              </a:rPr>
              <a:t>agent/</a:t>
            </a:r>
            <a:r>
              <a:rPr sz="1600" b="1">
                <a:solidFill>
                  <a:srgbClr val="FFFFFF"/>
                </a:solidFill>
                <a:latin typeface="Inter"/>
              </a:rPr>
              <a:t>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301917"/>
            <a:ext cx="2666933" cy="1051494"/>
          </a:xfrm>
          <a:prstGeom prst="rect">
            <a:avLst/>
          </a:prstGeom>
          <a:noFill/>
        </p:spPr>
        <p:txBody>
          <a:bodyPr wrap="none" anchor="t" lIns="0" rIns="0" tIns="0" bIns="0">
            <a:normAutofit/>
          </a:bodyPr>
          <a:lstStyle/>
          <a:p>
            <a:pPr algn="l">
              <a:lnSpc>
                <a:spcPts val="1183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agent/</a:t>
            </a:r>
          </a:p>
          <a:p>
            <a:pPr algn="l">
              <a:lnSpc>
                <a:spcPts val="1183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├─ instructions.md</a:t>
            </a:r>
          </a:p>
          <a:p>
            <a:pPr algn="l">
              <a:lnSpc>
                <a:spcPts val="1183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├─ tools/         </a:t>
            </a:r>
            <a:r>
              <a:rPr sz="700" b="0">
                <a:solidFill>
                  <a:srgbClr val="64778C"/>
                </a:solidFill>
                <a:latin typeface="JetBrains Mono"/>
              </a:rPr>
              <a:t>(N files)</a:t>
            </a:r>
          </a:p>
          <a:p>
            <a:pPr algn="l">
              <a:lnSpc>
                <a:spcPts val="1183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├─ skills/        </a:t>
            </a:r>
            <a:r>
              <a:rPr sz="700" b="0">
                <a:solidFill>
                  <a:srgbClr val="64778C"/>
                </a:solidFill>
                <a:latin typeface="JetBrains Mono"/>
              </a:rPr>
              <a:t>(N files)</a:t>
            </a:r>
          </a:p>
          <a:p>
            <a:pPr algn="l">
              <a:lnSpc>
                <a:spcPts val="1183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├─ subagents/     </a:t>
            </a:r>
            <a:r>
              <a:rPr sz="700" b="0">
                <a:solidFill>
                  <a:srgbClr val="64778C"/>
                </a:solidFill>
                <a:latin typeface="JetBrains Mono"/>
              </a:rPr>
              <a:t>(N files)</a:t>
            </a:r>
          </a:p>
          <a:p>
            <a:pPr algn="l">
              <a:lnSpc>
                <a:spcPts val="1183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└─ channels/      </a:t>
            </a:r>
            <a:r>
              <a:rPr sz="700" b="0">
                <a:solidFill>
                  <a:srgbClr val="64778C"/>
                </a:solidFill>
                <a:latin typeface="JetBrains Mono"/>
              </a:rPr>
              <a:t>(N files)</a:t>
            </a:r>
          </a:p>
          <a:p>
            <a:pPr algn="l">
              <a:lnSpc>
                <a:spcPts val="1183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4571885"/>
            <a:ext cx="873400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9DB0C3"/>
                </a:solidFill>
                <a:latin typeface="JetBrains Mono"/>
              </a:rPr>
              <a:t>FILES ON DISK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4393" y="2578035"/>
            <a:ext cx="3682907" cy="825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616"/>
              </a:lnSpc>
            </a:pPr>
            <a:r>
              <a:rPr sz="509" b="0">
                <a:solidFill>
                  <a:srgbClr val="35D0B1"/>
                </a:solidFill>
                <a:latin typeface="JetBrains Mono"/>
              </a:rPr>
              <a:t>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4393" y="2736781"/>
            <a:ext cx="3682907" cy="2207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38"/>
              </a:lnSpc>
            </a:pPr>
            <a:r>
              <a:rPr sz="1739" b="1">
                <a:solidFill>
                  <a:srgbClr val="35D0B1"/>
                </a:solidFill>
                <a:latin typeface="JetBrains Mono"/>
              </a:rPr>
              <a:t>$ eve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4393" y="3301917"/>
            <a:ext cx="152396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687" y="3301917"/>
            <a:ext cx="2186428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1">
                <a:solidFill>
                  <a:srgbClr val="E6EDF3"/>
                </a:solidFill>
                <a:latin typeface="Inter"/>
              </a:rPr>
              <a:t>Discover</a:t>
            </a:r>
            <a:r>
              <a:rPr sz="1000" b="0">
                <a:solidFill>
                  <a:srgbClr val="E6EDF3"/>
                </a:solidFill>
                <a:latin typeface="Inter"/>
              </a:rPr>
              <a:t> — walk conventional paths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4393" y="3568610"/>
            <a:ext cx="152396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87" y="3568610"/>
            <a:ext cx="2408177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1">
                <a:solidFill>
                  <a:srgbClr val="E6EDF3"/>
                </a:solidFill>
                <a:latin typeface="Inter"/>
              </a:rPr>
              <a:t>Validate</a:t>
            </a:r>
            <a:r>
              <a:rPr sz="1000" b="0">
                <a:solidFill>
                  <a:srgbClr val="E6EDF3"/>
                </a:solidFill>
                <a:latin typeface="Inter"/>
              </a:rPr>
              <a:t> — TypeScript types + schemas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4393" y="3835304"/>
            <a:ext cx="152396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687" y="3835304"/>
            <a:ext cx="2140987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1">
                <a:solidFill>
                  <a:srgbClr val="E6EDF3"/>
                </a:solidFill>
                <a:latin typeface="Inter"/>
              </a:rPr>
              <a:t>Compile</a:t>
            </a:r>
            <a:r>
              <a:rPr sz="1000" b="0">
                <a:solidFill>
                  <a:srgbClr val="E6EDF3"/>
                </a:solidFill>
                <a:latin typeface="Inter"/>
              </a:rPr>
              <a:t> — emit one wired manifest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4393" y="4101997"/>
            <a:ext cx="152396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87" y="4101997"/>
            <a:ext cx="1955354" cy="2158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00"/>
              </a:lnSpc>
            </a:pPr>
            <a:r>
              <a:rPr sz="1000" b="1">
                <a:solidFill>
                  <a:srgbClr val="E6EDF3"/>
                </a:solidFill>
                <a:latin typeface="Inter"/>
              </a:rPr>
              <a:t>Bind</a:t>
            </a:r>
            <a:r>
              <a:rPr sz="1000" b="0">
                <a:solidFill>
                  <a:srgbClr val="E6EDF3"/>
                </a:solidFill>
                <a:latin typeface="Inter"/>
              </a:rPr>
              <a:t> — channels → tools →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285" y="2578035"/>
            <a:ext cx="2666933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285" y="2774880"/>
            <a:ext cx="2666933" cy="2234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One </a:t>
            </a:r>
            <a:r>
              <a:rPr sz="1600" b="1">
                <a:solidFill>
                  <a:srgbClr val="35D0B1"/>
                </a:solidFill>
                <a:latin typeface="Inter"/>
              </a:rPr>
              <a:t>manifest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285" y="3301917"/>
            <a:ext cx="2666933" cy="1057744"/>
          </a:xfrm>
          <a:prstGeom prst="rect">
            <a:avLst/>
          </a:prstGeom>
          <a:noFill/>
        </p:spPr>
        <p:txBody>
          <a:bodyPr wrap="non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740" b="0">
                <a:solidFill>
                  <a:srgbClr val="9DB0C3"/>
                </a:solidFill>
                <a:latin typeface="JetBrains Mono"/>
              </a:rPr>
              <a:t>{</a:t>
            </a:r>
          </a:p>
          <a:p>
            <a:pPr algn="l">
              <a:lnSpc>
                <a:spcPts val="1190"/>
              </a:lnSpc>
            </a:pPr>
            <a:r>
              <a:rPr sz="740" b="0">
                <a:solidFill>
                  <a:srgbClr val="9DB0C3"/>
                </a:solidFill>
                <a:latin typeface="JetBrains Mono"/>
              </a:rPr>
              <a:t>  </a:t>
            </a:r>
            <a:r>
              <a:rPr sz="740" b="0">
                <a:solidFill>
                  <a:srgbClr val="35D0B1"/>
                </a:solidFill>
                <a:latin typeface="JetBrains Mono"/>
              </a:rPr>
              <a:t>"tools"</a:t>
            </a:r>
            <a:r>
              <a:rPr sz="740" b="0">
                <a:solidFill>
                  <a:srgbClr val="9DB0C3"/>
                </a:solidFill>
                <a:latin typeface="JetBrains Mono"/>
              </a:rPr>
              <a:t>:    [ … ],</a:t>
            </a:r>
          </a:p>
          <a:p>
            <a:pPr algn="l">
              <a:lnSpc>
                <a:spcPts val="1190"/>
              </a:lnSpc>
            </a:pPr>
            <a:r>
              <a:rPr sz="740" b="0">
                <a:solidFill>
                  <a:srgbClr val="9DB0C3"/>
                </a:solidFill>
                <a:latin typeface="JetBrains Mono"/>
              </a:rPr>
              <a:t>  </a:t>
            </a:r>
            <a:r>
              <a:rPr sz="740" b="0">
                <a:solidFill>
                  <a:srgbClr val="35D0B1"/>
                </a:solidFill>
                <a:latin typeface="JetBrains Mono"/>
              </a:rPr>
              <a:t>"skills"</a:t>
            </a:r>
            <a:r>
              <a:rPr sz="740" b="0">
                <a:solidFill>
                  <a:srgbClr val="9DB0C3"/>
                </a:solidFill>
                <a:latin typeface="JetBrains Mono"/>
              </a:rPr>
              <a:t>:   [ … ],</a:t>
            </a:r>
          </a:p>
          <a:p>
            <a:pPr algn="l">
              <a:lnSpc>
                <a:spcPts val="1190"/>
              </a:lnSpc>
            </a:pPr>
            <a:r>
              <a:rPr sz="740" b="0">
                <a:solidFill>
                  <a:srgbClr val="9DB0C3"/>
                </a:solidFill>
                <a:latin typeface="JetBrains Mono"/>
              </a:rPr>
              <a:t>  </a:t>
            </a:r>
            <a:r>
              <a:rPr sz="740" b="0">
                <a:solidFill>
                  <a:srgbClr val="35D0B1"/>
                </a:solidFill>
                <a:latin typeface="JetBrains Mono"/>
              </a:rPr>
              <a:t>"channels"</a:t>
            </a:r>
            <a:r>
              <a:rPr sz="740" b="0">
                <a:solidFill>
                  <a:srgbClr val="9DB0C3"/>
                </a:solidFill>
                <a:latin typeface="JetBrains Mono"/>
              </a:rPr>
              <a:t>: [ … ],</a:t>
            </a:r>
          </a:p>
          <a:p>
            <a:pPr algn="l">
              <a:lnSpc>
                <a:spcPts val="1190"/>
              </a:lnSpc>
            </a:pPr>
            <a:r>
              <a:rPr sz="740" b="0">
                <a:solidFill>
                  <a:srgbClr val="9DB0C3"/>
                </a:solidFill>
                <a:latin typeface="JetBrains Mono"/>
              </a:rPr>
              <a:t>  </a:t>
            </a:r>
            <a:r>
              <a:rPr sz="740" b="0">
                <a:solidFill>
                  <a:srgbClr val="35D0B1"/>
                </a:solidFill>
                <a:latin typeface="JetBrains Mono"/>
              </a:rPr>
              <a:t>"subagents"</a:t>
            </a:r>
            <a:r>
              <a:rPr sz="740" b="0">
                <a:solidFill>
                  <a:srgbClr val="9DB0C3"/>
                </a:solidFill>
                <a:latin typeface="JetBrains Mono"/>
              </a:rPr>
              <a:t>:[ … ]</a:t>
            </a:r>
          </a:p>
          <a:p>
            <a:pPr algn="l">
              <a:lnSpc>
                <a:spcPts val="1190"/>
              </a:lnSpc>
            </a:pPr>
            <a:r>
              <a:rPr sz="740" b="0">
                <a:solidFill>
                  <a:srgbClr val="9DB0C3"/>
                </a:solidFill>
                <a:latin typeface="JetBrains Mono"/>
              </a:rPr>
              <a:t>}</a:t>
            </a:r>
          </a:p>
          <a:p>
            <a:pPr algn="l">
              <a:lnSpc>
                <a:spcPts val="1190"/>
              </a:lnSpc>
            </a:pPr>
            <a:r>
              <a:rPr sz="740" b="0">
                <a:solidFill>
                  <a:srgbClr val="9DB0C3"/>
                </a:solidFill>
                <a:latin typeface="JetBrains Mono"/>
              </a:rPr>
              <a:t>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285" y="4571885"/>
            <a:ext cx="873400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WIRED &amp; TYPED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76" y="5346566"/>
            <a:ext cx="1028674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CONVENTION OVER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476" y="5556111"/>
            <a:ext cx="2457388" cy="1460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35D0B1"/>
                </a:solidFill>
                <a:latin typeface="Inter"/>
              </a:rPr>
              <a:t>File location</a:t>
            </a:r>
            <a:r>
              <a:rPr sz="950" b="0">
                <a:solidFill>
                  <a:srgbClr val="E6EDF3"/>
                </a:solidFill>
                <a:latin typeface="Inter"/>
              </a:rPr>
              <a:t> = capability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2260" y="5556111"/>
            <a:ext cx="2457388" cy="1460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35D0B1"/>
                </a:solidFill>
                <a:latin typeface="Inter"/>
              </a:rPr>
              <a:t>Filename</a:t>
            </a:r>
            <a:r>
              <a:rPr sz="950" b="0">
                <a:solidFill>
                  <a:srgbClr val="E6EDF3"/>
                </a:solidFill>
                <a:latin typeface="Inter"/>
              </a:rPr>
              <a:t> = tool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045" y="5556111"/>
            <a:ext cx="2457388" cy="1460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35D0B1"/>
                </a:solidFill>
                <a:latin typeface="Inter"/>
              </a:rPr>
              <a:t>No imports</a:t>
            </a:r>
            <a:r>
              <a:rPr sz="950" b="0">
                <a:solidFill>
                  <a:srgbClr val="E6EDF3"/>
                </a:solidFill>
                <a:latin typeface="Inter"/>
              </a:rPr>
              <a:t> to keep in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1830" y="5556111"/>
            <a:ext cx="2457388" cy="1460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35D0B1"/>
                </a:solidFill>
                <a:latin typeface="Inter"/>
              </a:rPr>
              <a:t>No glue</a:t>
            </a:r>
            <a:r>
              <a:rPr sz="950" b="0">
                <a:solidFill>
                  <a:srgbClr val="E6EDF3"/>
                </a:solidFill>
                <a:latin typeface="Inter"/>
              </a:rPr>
              <a:t> to maintain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389" y="6657808"/>
            <a:ext cx="1709992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ZERO REGISTRATION · ZERO CEREMONY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123216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PRODUCTION IN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RUNTIME ·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404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The reliability layer </a:t>
            </a:r>
            <a:r>
              <a:rPr sz="3400" b="1">
                <a:solidFill>
                  <a:srgbClr val="35D0B1"/>
                </a:solidFill>
                <a:latin typeface="Inter"/>
              </a:rPr>
              <a:t>ships with the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74" y="2260543"/>
            <a:ext cx="4825879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10"/>
              </a:lnSpc>
            </a:pPr>
            <a:r>
              <a:rPr sz="590" b="0">
                <a:solidFill>
                  <a:srgbClr val="35D0B1"/>
                </a:solidFill>
                <a:latin typeface="JetBrains Mono"/>
              </a:rPr>
              <a:t>01 · DURABLE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2514537"/>
            <a:ext cx="4825879" cy="4716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857"/>
              </a:lnSpc>
            </a:pPr>
            <a:r>
              <a:rPr sz="1610" b="1">
                <a:solidFill>
                  <a:srgbClr val="FFFFFF"/>
                </a:solidFill>
                <a:latin typeface="Inter"/>
              </a:rPr>
              <a:t>Checkpointed workflow — survives crashes and redeploys.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74" y="3301917"/>
            <a:ext cx="4825879" cy="3619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25"/>
              </a:lnSpc>
            </a:pPr>
            <a:r>
              <a:rPr sz="950" b="0">
                <a:solidFill>
                  <a:srgbClr val="9DB0C3"/>
                </a:solidFill>
                <a:latin typeface="Inter"/>
              </a:rPr>
              <a:t>Restarts resume </a:t>
            </a:r>
            <a:r>
              <a:rPr sz="950" b="1">
                <a:solidFill>
                  <a:srgbClr val="35D0B1"/>
                </a:solidFill>
                <a:latin typeface="Inter"/>
              </a:rPr>
              <a:t>exactly where they stopped</a:t>
            </a:r>
            <a:r>
              <a:rPr sz="950" b="0">
                <a:solidFill>
                  <a:srgbClr val="9DB0C3"/>
                </a:solidFill>
                <a:latin typeface="Inter"/>
              </a:rPr>
              <a:t>. Long-running agents stop being fragile.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838" y="2260543"/>
            <a:ext cx="4825879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10"/>
              </a:lnSpc>
            </a:pPr>
            <a:r>
              <a:rPr sz="590" b="0">
                <a:solidFill>
                  <a:srgbClr val="35D0B1"/>
                </a:solidFill>
                <a:latin typeface="JetBrains Mono"/>
              </a:rPr>
              <a:t>02 · VERCEL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514537"/>
            <a:ext cx="4825879" cy="4716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857"/>
              </a:lnSpc>
            </a:pPr>
            <a:r>
              <a:rPr sz="1610" b="1">
                <a:solidFill>
                  <a:srgbClr val="FFFFFF"/>
                </a:solidFill>
                <a:latin typeface="Inter"/>
              </a:rPr>
              <a:t>Agent‑written code runs isolated — off your machine.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3301917"/>
            <a:ext cx="4825879" cy="1809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25"/>
              </a:lnSpc>
            </a:pPr>
            <a:r>
              <a:rPr sz="950" b="0">
                <a:solidFill>
                  <a:srgbClr val="9DB0C3"/>
                </a:solidFill>
                <a:latin typeface="Inter"/>
              </a:rPr>
              <a:t>Untrusted code stays in a controlled runtime, not your laptop or a shared shell.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974" y="4165495"/>
            <a:ext cx="3047923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10"/>
              </a:lnSpc>
            </a:pPr>
            <a:r>
              <a:rPr sz="590" b="0">
                <a:solidFill>
                  <a:srgbClr val="FF5D5D"/>
                </a:solidFill>
                <a:latin typeface="JetBrains Mono"/>
              </a:rPr>
              <a:t>03 ·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974" y="4419489"/>
            <a:ext cx="3047923" cy="21906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25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Human-in-the-loop, native.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974" y="5079873"/>
            <a:ext cx="3047923" cy="3428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Risky tool calls pause and wait for a human </a:t>
            </a:r>
            <a:r>
              <a:rPr sz="900" b="0">
                <a:solidFill>
                  <a:srgbClr val="E6EDF3"/>
                </a:solidFill>
                <a:latin typeface="Inter"/>
              </a:rPr>
              <a:t>Allow</a:t>
            </a:r>
            <a:r>
              <a:rPr sz="900" b="0">
                <a:solidFill>
                  <a:srgbClr val="9DB0C3"/>
                </a:solidFill>
                <a:latin typeface="Inter"/>
              </a:rPr>
              <a:t>. Built in, not bolted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5384" y="4165495"/>
            <a:ext cx="3047923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10"/>
              </a:lnSpc>
            </a:pPr>
            <a:r>
              <a:rPr sz="590" b="0">
                <a:solidFill>
                  <a:srgbClr val="FF5D5D"/>
                </a:solidFill>
                <a:latin typeface="JetBrains Mono"/>
              </a:rPr>
              <a:t>04 · EVALS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5384" y="4419489"/>
            <a:ext cx="3047923" cy="2036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4"/>
              </a:lnSpc>
            </a:pPr>
            <a:r>
              <a:rPr sz="1390" b="1">
                <a:solidFill>
                  <a:srgbClr val="FFFFFF"/>
                </a:solidFill>
                <a:latin typeface="Inter"/>
              </a:rPr>
              <a:t>Deploy gate, not an afterthought.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5384" y="5079873"/>
            <a:ext cx="3047923" cy="3428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Evals sit on the deploy path. Regressions stop the release before users see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4793" y="4165495"/>
            <a:ext cx="3047923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10"/>
              </a:lnSpc>
            </a:pPr>
            <a:r>
              <a:rPr sz="590" b="0">
                <a:solidFill>
                  <a:srgbClr val="35D0B1"/>
                </a:solidFill>
                <a:latin typeface="JetBrains Mono"/>
              </a:rPr>
              <a:t>05 · ONE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4793" y="4419489"/>
            <a:ext cx="3047923" cy="4381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25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vercel deploy</a:t>
            </a:r>
            <a:r>
              <a:rPr sz="1500" b="1">
                <a:solidFill>
                  <a:srgbClr val="FFFFFF"/>
                </a:solidFill>
                <a:latin typeface="Inter"/>
              </a:rPr>
              <a:t> — live over HTTP &amp; Slack.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4793" y="5270368"/>
            <a:ext cx="3047923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Same directory, prod.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0" y="5968850"/>
            <a:ext cx="10667733" cy="18156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ts val="1430"/>
              </a:lnSpc>
            </a:pPr>
            <a:r>
              <a:rPr sz="1100" b="0">
                <a:solidFill>
                  <a:srgbClr val="E6EDF3"/>
                </a:solidFill>
                <a:latin typeface="Inter"/>
              </a:rPr>
              <a:t> </a:t>
            </a:r>
            <a:r>
              <a:rPr sz="1100" b="1">
                <a:solidFill>
                  <a:srgbClr val="35D0B1"/>
                </a:solidFill>
                <a:latin typeface="Inter"/>
              </a:rPr>
              <a:t>Net:</a:t>
            </a:r>
            <a:r>
              <a:rPr sz="1100" b="0">
                <a:solidFill>
                  <a:srgbClr val="E6EDF3"/>
                </a:solidFill>
                <a:latin typeface="Inter"/>
              </a:rPr>
              <a:t> the operational surface an internal team actually needs — delivered as defaults, not homework.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389" y="6657808"/>
            <a:ext cx="2590834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DURABLE · SANDBOXED · GATED · EVALUATED · DEPLOYED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1290803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YOU DON’T HAND-CODE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AUTHOR WORKFLOW · CODING AGENT AS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404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Scaffold, build, test, deploy — </a:t>
            </a:r>
            <a:r>
              <a:rPr sz="3400" b="1">
                <a:solidFill>
                  <a:srgbClr val="35D0B1"/>
                </a:solidFill>
                <a:latin typeface="Inter"/>
              </a:rPr>
              <a:t>by prompting.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74" y="2235144"/>
            <a:ext cx="10286742" cy="888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663"/>
              </a:lnSpc>
            </a:pPr>
            <a:r>
              <a:rPr sz="550" b="0">
                <a:solidFill>
                  <a:srgbClr val="64778C"/>
                </a:solidFill>
                <a:latin typeface="JetBrains Mono"/>
              </a:rPr>
              <a:t>ONE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2476438"/>
            <a:ext cx="10286742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35D0B1"/>
                </a:solidFill>
                <a:latin typeface="JetBrains Mono"/>
              </a:rPr>
              <a:t>$ npx plugins add vercel/vercel-plugin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365415"/>
            <a:ext cx="2539936" cy="952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694"/>
              </a:lnSpc>
            </a:pPr>
            <a:r>
              <a:rPr sz="580" b="0">
                <a:solidFill>
                  <a:srgbClr val="64778C"/>
                </a:solidFill>
                <a:latin typeface="JetBrains Mono"/>
              </a:rP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549561"/>
            <a:ext cx="2539936" cy="4973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915"/>
              </a:lnSpc>
            </a:pPr>
            <a:r>
              <a:rPr sz="3920" b="1">
                <a:solidFill>
                  <a:srgbClr val="35D0B1"/>
                </a:solidFill>
                <a:latin typeface="JetBrains Mono"/>
              </a:rPr>
              <a:t>47+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4148430"/>
            <a:ext cx="2539936" cy="1491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75"/>
              </a:lnSpc>
            </a:pPr>
            <a:r>
              <a:rPr sz="980" b="1">
                <a:solidFill>
                  <a:srgbClr val="FFFFFF"/>
                </a:solidFill>
                <a:latin typeface="Inter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4335651"/>
            <a:ext cx="2539936" cy="2688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059"/>
              </a:lnSpc>
            </a:pPr>
            <a:r>
              <a:rPr sz="760" b="0">
                <a:solidFill>
                  <a:srgbClr val="9DB0C3"/>
                </a:solidFill>
                <a:latin typeface="Inter"/>
              </a:rPr>
              <a:t>Over a relational knowledge graph of Eve’s APIs and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409" y="3365415"/>
            <a:ext cx="2539936" cy="952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694"/>
              </a:lnSpc>
            </a:pPr>
            <a:r>
              <a:rPr sz="580" b="0">
                <a:solidFill>
                  <a:srgbClr val="64778C"/>
                </a:solidFill>
                <a:latin typeface="JetBrains Mono"/>
              </a:rPr>
              <a:t>DELEGATION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409" y="3549561"/>
            <a:ext cx="2539936" cy="4973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915"/>
              </a:lnSpc>
            </a:pPr>
            <a:r>
              <a:rPr sz="3920" b="1">
                <a:solidFill>
                  <a:srgbClr val="35D0B1"/>
                </a:solidFill>
                <a:latin typeface="JetBrai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09" y="4148430"/>
            <a:ext cx="2539936" cy="1491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75"/>
              </a:lnSpc>
            </a:pPr>
            <a:r>
              <a:rPr sz="980" b="1">
                <a:solidFill>
                  <a:srgbClr val="FFFFFF"/>
                </a:solidFill>
                <a:latin typeface="Inter"/>
              </a:rPr>
              <a:t>Specialist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409" y="4335651"/>
            <a:ext cx="2539936" cy="2688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059"/>
              </a:lnSpc>
            </a:pPr>
            <a:r>
              <a:rPr sz="760" b="0">
                <a:solidFill>
                  <a:srgbClr val="9DB0C3"/>
                </a:solidFill>
                <a:latin typeface="Inter"/>
              </a:rPr>
              <a:t>Scoped sub‑agents your coding assistant can hand work 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342" y="3365415"/>
            <a:ext cx="2539936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ERGONOMICS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342" y="3562260"/>
            <a:ext cx="2539936" cy="5587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4400"/>
              </a:lnSpc>
            </a:pPr>
            <a:r>
              <a:rPr sz="4400" b="1">
                <a:solidFill>
                  <a:srgbClr val="35D0B1"/>
                </a:solidFill>
                <a:latin typeface="JetBrai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342" y="4222644"/>
            <a:ext cx="2539936" cy="1675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Slash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342" y="4428319"/>
            <a:ext cx="2539936" cy="1511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Shortcuts for the common scaffold‑test‑ship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6" y="3365415"/>
            <a:ext cx="228594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CORRECTNESS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276" y="3562260"/>
            <a:ext cx="2285942" cy="3301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600"/>
              </a:lnSpc>
            </a:pPr>
            <a:r>
              <a:rPr sz="2600" b="1">
                <a:solidFill>
                  <a:srgbClr val="35D0B1"/>
                </a:solidFill>
                <a:latin typeface="JetBrains Mono"/>
              </a:rP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276" y="3994050"/>
            <a:ext cx="2285942" cy="1675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Code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276" y="4199725"/>
            <a:ext cx="2285942" cy="3022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Wrong shapes fail as you type — before you 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974" y="5346566"/>
            <a:ext cx="10159746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VERDICT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974" y="5543411"/>
            <a:ext cx="1015974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 One plugin turns your coding agent into an </a:t>
            </a:r>
            <a:r>
              <a:rPr sz="1600" b="1">
                <a:solidFill>
                  <a:srgbClr val="35D0B1"/>
                </a:solidFill>
                <a:latin typeface="Inter"/>
              </a:rPr>
              <a:t>Eve builder.</a:t>
            </a:r>
            <a:r>
              <a:rPr sz="1600" b="1">
                <a:solidFill>
                  <a:srgbClr val="FFFFFF"/>
                </a:solidFill>
                <a:latin typeface="Inter"/>
              </a:rPr>
              <a:t> The framework isn’t what you learn — it’s what your assistant already knows.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389" y="6657808"/>
            <a:ext cx="202103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PROMPT &gt; TYPE · META‑TOOLING IN THE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1349539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PROOF · THE EVE-ANALYST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PROOF POINT · BUILT BY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0946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225"/>
              </a:lnSpc>
            </a:pPr>
            <a:r>
              <a:rPr sz="3160" b="1">
                <a:solidFill>
                  <a:srgbClr val="FFFFFF"/>
                </a:solidFill>
                <a:latin typeface="Inter"/>
              </a:rPr>
              <a:t>A production‑shaped data agent — </a:t>
            </a:r>
            <a:r>
              <a:rPr sz="3160" b="1">
                <a:solidFill>
                  <a:srgbClr val="35D0B1"/>
                </a:solidFill>
                <a:latin typeface="Inter"/>
              </a:rPr>
              <a:t>built by prompting.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74" y="2285942"/>
            <a:ext cx="4825879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ANSWER · RUN_SQL(…)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2482787"/>
            <a:ext cx="4825879" cy="3770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85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Total all-time revenue</a:t>
            </a:r>
          </a:p>
          <a:p>
            <a:pPr algn="l">
              <a:lnSpc>
                <a:spcPts val="1485"/>
              </a:lnSpc>
            </a:pPr>
            <a:r>
              <a:rPr sz="1100" b="0">
                <a:solidFill>
                  <a:srgbClr val="64778C"/>
                </a:solidFill>
                <a:latin typeface="Inter"/>
              </a:rPr>
              <a:t>Net of refunds · Test accounts excluded · Paid/fulfilled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74" y="3174920"/>
            <a:ext cx="4825879" cy="450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549"/>
              </a:lnSpc>
            </a:pPr>
            <a:r>
              <a:rPr sz="3379" b="1">
                <a:solidFill>
                  <a:srgbClr val="35D0B1"/>
                </a:solidFill>
                <a:latin typeface="JetBrains Mono"/>
              </a:rPr>
              <a:t>$17,057.90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974" y="4190895"/>
            <a:ext cx="4825879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Auditable: the agent showed the exact SQL it ran to get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285942"/>
            <a:ext cx="4698882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WAREHOUSE — ROW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2603434"/>
            <a:ext cx="3436653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3491" y="2603434"/>
            <a:ext cx="1262229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838" y="2898702"/>
            <a:ext cx="3436653" cy="4063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0">
                <a:solidFill>
                  <a:srgbClr val="E6EDF3"/>
                </a:solidFill>
                <a:latin typeface="JetBrains Mono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3491" y="2898702"/>
            <a:ext cx="1262229" cy="4063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ts val="1440"/>
              </a:lnSpc>
            </a:pPr>
            <a:r>
              <a:rPr sz="1200" b="1">
                <a:solidFill>
                  <a:srgbClr val="35D0B1"/>
                </a:solidFill>
                <a:latin typeface="JetBrains Mono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3305092"/>
            <a:ext cx="3436653" cy="4063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0">
                <a:solidFill>
                  <a:srgbClr val="E6EDF3"/>
                </a:solidFill>
                <a:latin typeface="JetBrains Mono"/>
              </a:rPr>
              <a:t>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3491" y="3305092"/>
            <a:ext cx="1262229" cy="4063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ts val="1440"/>
              </a:lnSpc>
            </a:pPr>
            <a:r>
              <a:rPr sz="1200" b="1">
                <a:solidFill>
                  <a:srgbClr val="35D0B1"/>
                </a:solidFill>
                <a:latin typeface="JetBrains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3711482"/>
            <a:ext cx="3436653" cy="4063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0">
                <a:solidFill>
                  <a:srgbClr val="E6EDF3"/>
                </a:solidFill>
                <a:latin typeface="JetBrains Mono"/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3491" y="3711482"/>
            <a:ext cx="1262229" cy="4063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ts val="1440"/>
              </a:lnSpc>
            </a:pPr>
            <a:r>
              <a:rPr sz="1200" b="1">
                <a:solidFill>
                  <a:srgbClr val="35D0B1"/>
                </a:solidFill>
                <a:latin typeface="JetBrains Mono"/>
              </a:rPr>
              <a:t>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4117872"/>
            <a:ext cx="3436653" cy="4032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20"/>
              </a:lnSpc>
            </a:pPr>
            <a:r>
              <a:rPr sz="1100" b="0">
                <a:solidFill>
                  <a:srgbClr val="E6EDF3"/>
                </a:solidFill>
                <a:latin typeface="JetBrains Mono"/>
              </a:rPr>
              <a:t>order_items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3491" y="4117872"/>
            <a:ext cx="1262229" cy="4032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ts val="1440"/>
              </a:lnSpc>
            </a:pPr>
            <a:r>
              <a:rPr sz="1200" b="1">
                <a:solidFill>
                  <a:srgbClr val="35D0B1"/>
                </a:solidFill>
                <a:latin typeface="JetBrains Mono"/>
              </a:rPr>
              <a:t>194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76" y="5156071"/>
            <a:ext cx="3047923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5352916"/>
            <a:ext cx="3047923" cy="20438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1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Claude Sonnet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" y="5608100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6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Chosen per agent — not the framework.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885" y="5156071"/>
            <a:ext cx="3047923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885" y="5352916"/>
            <a:ext cx="3047923" cy="189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95"/>
              </a:lnSpc>
            </a:pPr>
            <a:r>
              <a:rPr sz="1300" b="1">
                <a:solidFill>
                  <a:srgbClr val="35D0B1"/>
                </a:solidFill>
                <a:latin typeface="Inter"/>
              </a:rPr>
              <a:t>run_sql</a:t>
            </a:r>
            <a:r>
              <a:rPr sz="1300" b="1">
                <a:solidFill>
                  <a:srgbClr val="FFFFFF"/>
                </a:solidFill>
                <a:latin typeface="Inter"/>
              </a:rPr>
              <a:t> is read-only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885" y="5593515"/>
            <a:ext cx="304792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6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Single </a:t>
            </a:r>
            <a:r>
              <a:rPr sz="800" b="0">
                <a:solidFill>
                  <a:srgbClr val="9DB0C3"/>
                </a:solidFill>
                <a:latin typeface="Inter"/>
              </a:rPr>
              <a:t>SELECT</a:t>
            </a:r>
            <a:r>
              <a:rPr sz="800" b="0">
                <a:solidFill>
                  <a:srgbClr val="9DB0C3"/>
                </a:solidFill>
                <a:latin typeface="Inter"/>
              </a:rPr>
              <a:t> only. No writes. Ever.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295" y="5156071"/>
            <a:ext cx="3047923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SYSTEM 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295" y="5352916"/>
            <a:ext cx="3047923" cy="3301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00"/>
              </a:lnSpc>
            </a:pPr>
            <a:r>
              <a:rPr sz="1000" b="1">
                <a:solidFill>
                  <a:srgbClr val="E6EDF3"/>
                </a:solidFill>
                <a:latin typeface="Inter"/>
              </a:rPr>
              <a:t>“Always show the SQL you ran so the answer is auditable.”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389" y="6657808"/>
            <a:ext cx="186536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PROOF · SMALL DATA, PRODUCTION SHAPE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997520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FF5D5D"/>
                </a:solidFill>
                <a:latin typeface="JetBrains Mono"/>
              </a:rPr>
              <a:t>GATE · TRUST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404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Full power — </a:t>
            </a:r>
            <a:r>
              <a:rPr sz="3400" b="1">
                <a:solidFill>
                  <a:srgbClr val="FF5D5D"/>
                </a:solidFill>
                <a:latin typeface="Inter"/>
              </a:rPr>
              <a:t>gated exactly where it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977" y="2171645"/>
            <a:ext cx="5714857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#ANALYTICS · EVE‑ANALYST · SLACK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2539936"/>
            <a:ext cx="546086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00"/>
              </a:lnSpc>
            </a:pPr>
            <a:r>
              <a:rPr sz="750" b="0">
                <a:solidFill>
                  <a:srgbClr val="64778C"/>
                </a:solidFill>
                <a:latin typeface="JetBrains Mono"/>
              </a:rPr>
              <a:t>@dana · 10:42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74" y="2717732"/>
            <a:ext cx="5460863" cy="1955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40"/>
              </a:lnSpc>
            </a:pPr>
            <a:r>
              <a:rPr sz="1100" b="0">
                <a:solidFill>
                  <a:srgbClr val="E6EDF3"/>
                </a:solidFill>
                <a:latin typeface="Inter"/>
              </a:rPr>
              <a:t>run SELECT * FROM order_items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469" y="3301917"/>
            <a:ext cx="5206869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00"/>
              </a:lnSpc>
            </a:pPr>
            <a:r>
              <a:rPr sz="750" b="1">
                <a:solidFill>
                  <a:srgbClr val="FF5D5D"/>
                </a:solidFill>
                <a:latin typeface="JetBrains Mono"/>
              </a:rPr>
              <a:t>⚠ APPROVAL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469" y="3492412"/>
            <a:ext cx="520686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400"/>
              </a:lnSpc>
            </a:pPr>
            <a:r>
              <a:rPr sz="1000" b="1">
                <a:solidFill>
                  <a:srgbClr val="E6EDF3"/>
                </a:solidFill>
                <a:latin typeface="Inter"/>
              </a:rPr>
              <a:t>Full-table scan detected on </a:t>
            </a:r>
            <a:r>
              <a:rPr sz="1000" b="1">
                <a:solidFill>
                  <a:srgbClr val="FF5D5D"/>
                </a:solidFill>
                <a:latin typeface="Inter"/>
              </a:rPr>
              <a:t>order_items</a:t>
            </a:r>
            <a:r>
              <a:rPr sz="1000" b="1">
                <a:solidFill>
                  <a:srgbClr val="E6EDF3"/>
                </a:solidFill>
                <a:latin typeface="Inter"/>
              </a:rPr>
              <a:t> (194 rows)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6469" y="3721006"/>
            <a:ext cx="520686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800" b="0">
                <a:solidFill>
                  <a:srgbClr val="9DB0C3"/>
                </a:solidFill>
                <a:latin typeface="JetBrains Mono"/>
              </a:rPr>
              <a:t>query: SELECT * FROM order_items;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6469" y="3911502"/>
            <a:ext cx="520686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Waiting for a human </a:t>
            </a:r>
            <a:r>
              <a:rPr sz="800" b="1">
                <a:solidFill>
                  <a:srgbClr val="E6EDF3"/>
                </a:solidFill>
                <a:latin typeface="Inter"/>
              </a:rPr>
              <a:t>Allow</a:t>
            </a:r>
            <a:r>
              <a:rPr sz="800" b="0">
                <a:solidFill>
                  <a:srgbClr val="9DB0C3"/>
                </a:solidFill>
                <a:latin typeface="Inter"/>
              </a:rPr>
              <a:t> before running. Nothing has executed.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469" y="4355991"/>
            <a:ext cx="1015974" cy="3301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60"/>
              </a:lnSpc>
            </a:pPr>
            <a:r>
              <a:rPr sz="800" b="1">
                <a:solidFill>
                  <a:srgbClr val="062A24"/>
                </a:solidFill>
                <a:latin typeface="JetBrains Mono"/>
              </a:rPr>
              <a:t>ALLOW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041" y="4355991"/>
            <a:ext cx="1015974" cy="3301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960"/>
              </a:lnSpc>
            </a:pPr>
            <a:r>
              <a:rPr sz="800" b="1">
                <a:solidFill>
                  <a:srgbClr val="9DB0C3"/>
                </a:solidFill>
                <a:latin typeface="JetBrains Mono"/>
              </a:rPr>
              <a:t>DENY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5974" y="5016374"/>
            <a:ext cx="5460863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status: </a:t>
            </a:r>
            <a:r>
              <a:rPr sz="700" b="0">
                <a:solidFill>
                  <a:srgbClr val="F5A524"/>
                </a:solidFill>
                <a:latin typeface="JetBrains Mono"/>
              </a:rPr>
              <a:t>PENDING</a:t>
            </a:r>
            <a:r>
              <a:rPr sz="700" b="0">
                <a:solidFill>
                  <a:srgbClr val="64778C"/>
                </a:solidFill>
                <a:latin typeface="JetBrains Mono"/>
              </a:rPr>
              <a:t> · workflow paused · durable checkpoint held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1822" y="2285942"/>
            <a:ext cx="4190895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THE TRUST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1822" y="2495487"/>
            <a:ext cx="4190895" cy="4964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955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The setup that lets an internal team </a:t>
            </a:r>
            <a:r>
              <a:rPr sz="1700" b="1">
                <a:solidFill>
                  <a:srgbClr val="35D0B1"/>
                </a:solidFill>
                <a:latin typeface="Inter"/>
              </a:rPr>
              <a:t>trust an agent in production.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1822" y="3428914"/>
            <a:ext cx="76495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1">
                <a:solidFill>
                  <a:srgbClr val="35D0B1"/>
                </a:solidFill>
                <a:latin typeface="JetBrains Mono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7215" y="3428914"/>
            <a:ext cx="2123327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Risky tool calls pause automatically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1822" y="3714657"/>
            <a:ext cx="76495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1">
                <a:solidFill>
                  <a:srgbClr val="35D0B1"/>
                </a:solidFill>
                <a:latin typeface="JetBrains Mono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7215" y="3714657"/>
            <a:ext cx="2972221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Approval happens in the channel — not a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1822" y="4000399"/>
            <a:ext cx="76495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1">
                <a:solidFill>
                  <a:srgbClr val="35D0B1"/>
                </a:solidFill>
                <a:latin typeface="JetBrains Mono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7215" y="4000399"/>
            <a:ext cx="2580714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Workflow resumes exactly where it paused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1822" y="4286142"/>
            <a:ext cx="76495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1">
                <a:solidFill>
                  <a:srgbClr val="35D0B1"/>
                </a:solidFill>
                <a:latin typeface="JetBrains Mono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7215" y="4286142"/>
            <a:ext cx="2716640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5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The reviewer — and the decision — is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1822" y="5143371"/>
            <a:ext cx="4063898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FF5D5D"/>
                </a:solidFill>
                <a:latin typeface="JetBrains Mono"/>
              </a:rPr>
              <a:t>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1822" y="5327516"/>
            <a:ext cx="4063898" cy="39111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4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Locking the agent down so it cannot act is safe — and useless.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1822" y="5782125"/>
            <a:ext cx="4063898" cy="3428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Approvals let you keep the power on, and put a human on the trigger where it matters.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389" y="6657808"/>
            <a:ext cx="1710091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APPROVAL AS FIRST‑CLASS PRIMITIVE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821510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WHERE EVE 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5714857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LANDSCAPE · FILESYSTEM-FIRST BET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404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A </a:t>
            </a:r>
            <a:r>
              <a:rPr sz="3400" b="1">
                <a:solidFill>
                  <a:srgbClr val="35D0B1"/>
                </a:solidFill>
                <a:latin typeface="Inter"/>
              </a:rPr>
              <a:t>filesystem‑first bet</a:t>
            </a:r>
            <a:r>
              <a:rPr sz="3400" b="1">
                <a:solidFill>
                  <a:srgbClr val="FFFFFF"/>
                </a:solidFill>
                <a:latin typeface="Inter"/>
              </a:rPr>
              <a:t> in a fast‑filling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235144"/>
            <a:ext cx="2550056" cy="3397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532" y="2235144"/>
            <a:ext cx="1576943" cy="3397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9476" y="2235144"/>
            <a:ext cx="1701459" cy="3397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935" y="2235144"/>
            <a:ext cx="1825877" cy="3397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DURABILITY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6812" y="2235144"/>
            <a:ext cx="2632406" cy="3397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2574860"/>
            <a:ext cx="2550056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60"/>
              </a:lnSpc>
            </a:pPr>
            <a:r>
              <a:rPr sz="1300" b="1">
                <a:solidFill>
                  <a:srgbClr val="35D0B1"/>
                </a:solidFill>
                <a:latin typeface="Inter"/>
              </a:rPr>
              <a:t>Eve </a:t>
            </a:r>
            <a:r>
              <a:rPr sz="1300" b="0">
                <a:solidFill>
                  <a:srgbClr val="64778C"/>
                </a:solidFill>
                <a:latin typeface="Inter"/>
              </a:rPr>
              <a:t>/ Vercel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532" y="2574860"/>
            <a:ext cx="1576943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JetBrains Mono"/>
              </a:rP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476" y="2574860"/>
            <a:ext cx="1701459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F5A524"/>
                </a:solidFill>
                <a:latin typeface="JetBrains Mono"/>
              </a:rPr>
              <a:t>Vercel-only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935" y="2574860"/>
            <a:ext cx="1825877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6812" y="2574860"/>
            <a:ext cx="2632406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E6EDF3"/>
                </a:solidFill>
                <a:latin typeface="Inter"/>
              </a:rPr>
              <a:t>Deep Vercel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3057448"/>
            <a:ext cx="2550056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60"/>
              </a:lnSpc>
            </a:pPr>
            <a:r>
              <a:rPr sz="1300" b="1">
                <a:solidFill>
                  <a:srgbClr val="E6EDF3"/>
                </a:solidFill>
                <a:latin typeface="Inter"/>
              </a:rPr>
              <a:t>Mastra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532" y="3057448"/>
            <a:ext cx="1576943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JetBrains Mono"/>
              </a:rPr>
              <a:t>TypeScript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9476" y="3057448"/>
            <a:ext cx="1701459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Any 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0935" y="3057448"/>
            <a:ext cx="1825877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JetBrains Mono"/>
              </a:rPr>
              <a:t>Add-on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6812" y="3057448"/>
            <a:ext cx="2632406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Inter"/>
              </a:rPr>
              <a:t>Platform‑agnostic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76" y="3540036"/>
            <a:ext cx="2550056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60"/>
              </a:lnSpc>
            </a:pPr>
            <a:r>
              <a:rPr sz="1300" b="1">
                <a:solidFill>
                  <a:srgbClr val="E6EDF3"/>
                </a:solidFill>
                <a:latin typeface="Inter"/>
              </a:rPr>
              <a:t>LangGraph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532" y="3540036"/>
            <a:ext cx="1576943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JetBrains Mono"/>
              </a:rP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9476" y="3540036"/>
            <a:ext cx="1701459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Any host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0935" y="3540036"/>
            <a:ext cx="1825877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JetBrains Mono"/>
              </a:rPr>
              <a:t>Configurable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6812" y="3540036"/>
            <a:ext cx="2632406" cy="4825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Inter"/>
              </a:rPr>
              <a:t>Most established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476" y="4022624"/>
            <a:ext cx="2550056" cy="4794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60"/>
              </a:lnSpc>
            </a:pPr>
            <a:r>
              <a:rPr sz="1300" b="1">
                <a:solidFill>
                  <a:srgbClr val="E6EDF3"/>
                </a:solidFill>
                <a:latin typeface="Inter"/>
              </a:rPr>
              <a:t>Inngest AgentKit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532" y="4022624"/>
            <a:ext cx="1576943" cy="4794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JetBrains Mono"/>
              </a:rPr>
              <a:t>TypeScript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9476" y="4022624"/>
            <a:ext cx="1701459" cy="4794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Any host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0935" y="4022624"/>
            <a:ext cx="1825877" cy="4794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35D0B1"/>
                </a:solidFill>
                <a:latin typeface="JetBrains Mono"/>
              </a:rPr>
              <a:t>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6812" y="4022624"/>
            <a:ext cx="2632406" cy="4794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9DB0C3"/>
                </a:solidFill>
                <a:latin typeface="Inter"/>
              </a:rPr>
              <a:t>Durable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974" y="5537061"/>
            <a:ext cx="4825879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F5A524"/>
                </a:solidFill>
                <a:latin typeface="JetBrains Mono"/>
              </a:rPr>
              <a:t>THE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974" y="5721206"/>
            <a:ext cx="4825879" cy="1955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4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Eve trades </a:t>
            </a:r>
            <a:r>
              <a:rPr sz="1100" b="1">
                <a:solidFill>
                  <a:srgbClr val="F5A524"/>
                </a:solidFill>
                <a:latin typeface="Inter"/>
              </a:rPr>
              <a:t>portability</a:t>
            </a:r>
            <a:r>
              <a:rPr sz="1100" b="1">
                <a:solidFill>
                  <a:srgbClr val="E6EDF3"/>
                </a:solidFill>
                <a:latin typeface="Inter"/>
              </a:rPr>
              <a:t> for </a:t>
            </a:r>
            <a:r>
              <a:rPr sz="1100" b="1">
                <a:solidFill>
                  <a:srgbClr val="35D0B1"/>
                </a:solidFill>
                <a:latin typeface="Inter"/>
              </a:rPr>
              <a:t>integration.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974" y="5967560"/>
            <a:ext cx="4825879" cy="1511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Vercel-only today. Rivals run anywhere.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838" y="5537061"/>
            <a:ext cx="4825879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THE BET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6838" y="5721206"/>
            <a:ext cx="4825879" cy="1955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54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The </a:t>
            </a:r>
            <a:r>
              <a:rPr sz="1100" b="1">
                <a:solidFill>
                  <a:srgbClr val="35D0B1"/>
                </a:solidFill>
                <a:latin typeface="Inter"/>
              </a:rPr>
              <a:t>directory‑as‑agent</a:t>
            </a:r>
            <a:r>
              <a:rPr sz="1100" b="1">
                <a:solidFill>
                  <a:srgbClr val="E6EDF3"/>
                </a:solidFill>
                <a:latin typeface="Inter"/>
              </a:rPr>
              <a:t> pattern is the bet — not necessarily Eve itself.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6838" y="5967560"/>
            <a:ext cx="4825879" cy="1511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90"/>
              </a:lnSpc>
            </a:pPr>
            <a:r>
              <a:rPr sz="850" b="0">
                <a:solidFill>
                  <a:srgbClr val="9DB0C3"/>
                </a:solidFill>
                <a:latin typeface="Inter"/>
              </a:rPr>
              <a:t>Adopt the pattern; keep the vendor decision reversible.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389" y="6657808"/>
            <a:ext cx="1036313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PATTERN OVER PRODUCT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111479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READ THE FINE 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1015974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TIMING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404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Move now — or wait? </a:t>
            </a:r>
            <a:r>
              <a:rPr sz="3400" b="1">
                <a:solidFill>
                  <a:srgbClr val="F5A524"/>
                </a:solidFill>
                <a:latin typeface="Inter"/>
              </a:rPr>
              <a:t>Both cases are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74" y="2285942"/>
            <a:ext cx="4825879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35D0B1"/>
                </a:solidFill>
                <a:latin typeface="JetBrains Mono"/>
              </a:rPr>
              <a:t>MOVE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2482787"/>
            <a:ext cx="4825879" cy="307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42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The pattern will win.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74" y="3378115"/>
            <a:ext cx="7649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35D0B1"/>
                </a:solidFill>
                <a:latin typeface="JetBrains Mon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767" y="3365415"/>
            <a:ext cx="2616432" cy="446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Where production agents are heading.</a:t>
            </a:r>
          </a:p>
          <a:p>
            <a:pPr algn="l">
              <a:lnSpc>
                <a:spcPts val="176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Directory-as-agent is the direction of travel.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74" y="4002781"/>
            <a:ext cx="7649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35D0B1"/>
                </a:solidFill>
                <a:latin typeface="JetBrains Mon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6767" y="3990081"/>
            <a:ext cx="3265802" cy="446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Reliability layer is genuinely in the box.</a:t>
            </a:r>
          </a:p>
          <a:p>
            <a:pPr algn="l">
              <a:lnSpc>
                <a:spcPts val="176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Durability, sandbox, approvals, evals — defaults, not homework.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974" y="4627446"/>
            <a:ext cx="7649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35D0B1"/>
                </a:solidFill>
                <a:latin typeface="JetBrains Mon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767" y="4614747"/>
            <a:ext cx="2545194" cy="446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One plugin makes it fast to try.</a:t>
            </a:r>
          </a:p>
          <a:p>
            <a:pPr algn="l">
              <a:lnSpc>
                <a:spcPts val="176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Prompt your coding agent into a working Eve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838" y="2285942"/>
            <a:ext cx="4825879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F5A524"/>
                </a:solidFill>
                <a:latin typeface="JetBrains Mono"/>
              </a:rPr>
              <a:t>WAIT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2482787"/>
            <a:ext cx="4825879" cy="307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42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Beta receipts to read.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38" y="3378115"/>
            <a:ext cx="76198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F5A524"/>
                </a:solidFill>
                <a:latin typeface="JetBrains Mono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3" y="3365415"/>
            <a:ext cx="2552040" cy="446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Vercel-only at launch.</a:t>
            </a:r>
          </a:p>
          <a:p>
            <a:pPr algn="l">
              <a:lnSpc>
                <a:spcPts val="176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No other runtime today — portability isn’t on offer.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4002781"/>
            <a:ext cx="76198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F5A524"/>
                </a:solidFill>
                <a:latin typeface="JetBrains Mono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333" y="3990081"/>
            <a:ext cx="2021630" cy="446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Public beta with moving APIs.</a:t>
            </a:r>
          </a:p>
          <a:p>
            <a:pPr algn="l">
              <a:lnSpc>
                <a:spcPts val="176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Expect churn between releases.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4627446"/>
            <a:ext cx="76198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F5A524"/>
                </a:solidFill>
                <a:latin typeface="JetBrains Mono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333" y="4614747"/>
            <a:ext cx="2867151" cy="446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“Scale” is design intent, not a benchmark.</a:t>
            </a:r>
          </a:p>
          <a:p>
            <a:pPr algn="l">
              <a:lnSpc>
                <a:spcPts val="176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No published load or SLO numbers yet.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5252112"/>
            <a:ext cx="76198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F5A524"/>
                </a:solidFill>
                <a:latin typeface="JetBrains Mono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333" y="5239412"/>
            <a:ext cx="2596985" cy="446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760"/>
              </a:lnSpc>
            </a:pPr>
            <a:r>
              <a:rPr sz="1100" b="1">
                <a:solidFill>
                  <a:srgbClr val="E6EDF3"/>
                </a:solidFill>
                <a:latin typeface="Inter"/>
              </a:rPr>
              <a:t>Launch coverage was vendor-framed.</a:t>
            </a:r>
          </a:p>
          <a:p>
            <a:pPr algn="l">
              <a:lnSpc>
                <a:spcPts val="176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Independent field reports are still thin.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389" y="6657808"/>
            <a:ext cx="1709992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NO HEDGING — JUST THE TWO LEDGERS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4693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THE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1015974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35D0B1"/>
                </a:solidFill>
                <a:latin typeface="JetBrains Mono"/>
              </a:rPr>
              <a:t>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3038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393"/>
              </a:lnSpc>
            </a:pPr>
            <a:r>
              <a:rPr sz="2350" b="1">
                <a:solidFill>
                  <a:srgbClr val="FFFFFF"/>
                </a:solidFill>
                <a:latin typeface="Inter"/>
              </a:rPr>
              <a:t>Pilot the pattern on </a:t>
            </a:r>
            <a:r>
              <a:rPr sz="2350" b="1">
                <a:solidFill>
                  <a:srgbClr val="35D0B1"/>
                </a:solidFill>
                <a:latin typeface="Inter"/>
              </a:rPr>
              <a:t>one bounded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1828754"/>
            <a:ext cx="10159746" cy="2095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50"/>
              </a:lnSpc>
            </a:pPr>
            <a:r>
              <a:rPr sz="1100" b="0">
                <a:solidFill>
                  <a:srgbClr val="9DB0C3"/>
                </a:solidFill>
                <a:latin typeface="Inter"/>
              </a:rPr>
              <a:t>Clear owner. Slack surface. Rules encoded as skills. Risky calls gated by approvals and evals.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74" y="2641533"/>
            <a:ext cx="634984" cy="3555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800"/>
              </a:lnSpc>
            </a:pPr>
            <a:r>
              <a:rPr sz="2800" b="1">
                <a:solidFill>
                  <a:srgbClr val="35D0B1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7955" y="2666933"/>
            <a:ext cx="4063898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PICK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7955" y="2851078"/>
            <a:ext cx="4063898" cy="20438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1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One bounded internal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7955" y="3131662"/>
            <a:ext cx="4063898" cy="3428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Clear owner. Real users. Slack as the surface. Not a customer-facing agent —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2641533"/>
            <a:ext cx="634984" cy="3555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800"/>
              </a:lnSpc>
            </a:pPr>
            <a:r>
              <a:rPr sz="2800" b="1">
                <a:solidFill>
                  <a:srgbClr val="35D0B1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19" y="2666933"/>
            <a:ext cx="4063898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19" y="2851078"/>
            <a:ext cx="4063898" cy="20438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1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Instructions + typed tools + one skill.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19" y="3131662"/>
            <a:ext cx="4063898" cy="3428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E6EDF3"/>
                </a:solidFill>
                <a:latin typeface="Inter"/>
              </a:rPr>
              <a:t>instructions.md</a:t>
            </a:r>
            <a:r>
              <a:rPr sz="900" b="0">
                <a:solidFill>
                  <a:srgbClr val="9DB0C3"/>
                </a:solidFill>
                <a:latin typeface="Inter"/>
              </a:rPr>
              <a:t> + a few </a:t>
            </a:r>
            <a:r>
              <a:rPr sz="900" b="0">
                <a:solidFill>
                  <a:srgbClr val="E6EDF3"/>
                </a:solidFill>
                <a:latin typeface="Inter"/>
              </a:rPr>
              <a:t>tools/*.ts</a:t>
            </a:r>
            <a:r>
              <a:rPr sz="900" b="0">
                <a:solidFill>
                  <a:srgbClr val="9DB0C3"/>
                </a:solidFill>
                <a:latin typeface="Inter"/>
              </a:rPr>
              <a:t> + one </a:t>
            </a:r>
            <a:r>
              <a:rPr sz="900" b="0">
                <a:solidFill>
                  <a:srgbClr val="E6EDF3"/>
                </a:solidFill>
                <a:latin typeface="Inter"/>
              </a:rPr>
              <a:t>skills/*.md</a:t>
            </a:r>
            <a:r>
              <a:rPr sz="900" b="0">
                <a:solidFill>
                  <a:srgbClr val="9DB0C3"/>
                </a:solidFill>
                <a:latin typeface="Inter"/>
              </a:rPr>
              <a:t>. Let the plugin scaffold.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5974" y="4546486"/>
            <a:ext cx="634984" cy="3555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800"/>
              </a:lnSpc>
            </a:pPr>
            <a:r>
              <a:rPr sz="2800" b="1">
                <a:solidFill>
                  <a:srgbClr val="35D0B1"/>
                </a:solidFill>
                <a:latin typeface="JetBrai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7955" y="4571885"/>
            <a:ext cx="4063898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7955" y="4756031"/>
            <a:ext cx="4063898" cy="20438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1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Rules that must stay consistent → Markdown.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7955" y="5036614"/>
            <a:ext cx="4063898" cy="3428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Refund policy, SQL style, escalation path. One </a:t>
            </a:r>
            <a:r>
              <a:rPr sz="900" b="0">
                <a:solidFill>
                  <a:srgbClr val="E6EDF3"/>
                </a:solidFill>
                <a:latin typeface="Inter"/>
              </a:rPr>
              <a:t>.md</a:t>
            </a:r>
            <a:r>
              <a:rPr sz="900" b="0">
                <a:solidFill>
                  <a:srgbClr val="9DB0C3"/>
                </a:solidFill>
                <a:latin typeface="Inter"/>
              </a:rPr>
              <a:t> per rule — readable, review-able, diffable.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4546486"/>
            <a:ext cx="634984" cy="3555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2800"/>
              </a:lnSpc>
            </a:pPr>
            <a:r>
              <a:rPr sz="2800" b="1">
                <a:solidFill>
                  <a:srgbClr val="FF5D5D"/>
                </a:solidFill>
                <a:latin typeface="JetBrains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819" y="4571885"/>
            <a:ext cx="4063898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FF5D5D"/>
                </a:solidFill>
                <a:latin typeface="JetBrains Mono"/>
              </a:rPr>
              <a:t>GATE &amp; WIDEN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819" y="4756031"/>
            <a:ext cx="4063898" cy="4087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61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Approvals + eval suite </a:t>
            </a:r>
            <a:r>
              <a:rPr sz="1400" b="1">
                <a:solidFill>
                  <a:srgbClr val="FFFFFF"/>
                </a:solidFill>
                <a:latin typeface="Inter"/>
              </a:rPr>
              <a:t>before</a:t>
            </a:r>
            <a:r>
              <a:rPr sz="1400" b="1">
                <a:solidFill>
                  <a:srgbClr val="FFFFFF"/>
                </a:solidFill>
                <a:latin typeface="Inter"/>
              </a:rPr>
              <a:t> widening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19" y="5241000"/>
            <a:ext cx="4063898" cy="3428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9DB0C3"/>
                </a:solidFill>
                <a:latin typeface="Inter"/>
              </a:rPr>
              <a:t>Risky actions require a human click. An eval suite blocks regressions on deploy. Then open the door.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980" y="6254593"/>
            <a:ext cx="10667733" cy="1289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ts val="1015"/>
              </a:lnSpc>
            </a:pPr>
            <a:r>
              <a:rPr sz="780" b="0">
                <a:solidFill>
                  <a:srgbClr val="E6EDF3"/>
                </a:solidFill>
                <a:latin typeface="Inter"/>
              </a:rPr>
              <a:t> </a:t>
            </a:r>
            <a:r>
              <a:rPr sz="780" b="1">
                <a:solidFill>
                  <a:srgbClr val="35D0B1"/>
                </a:solidFill>
                <a:latin typeface="Inter"/>
              </a:rPr>
              <a:t>Ship a pilot in weeks, not a platform in quarters.</a:t>
            </a:r>
            <a:r>
              <a:rPr sz="780" b="0">
                <a:solidFill>
                  <a:srgbClr val="E6EDF3"/>
                </a:solidFill>
                <a:latin typeface="Inter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389" y="6657808"/>
            <a:ext cx="1761783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ONE OWNER · ONE SURFACE · ONE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17472"/>
            <a:ext cx="938784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 // OPS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765" y="117472"/>
            <a:ext cx="5873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897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9DB0C3"/>
                </a:solidFill>
                <a:latin typeface="JetBrains Mono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4550" y="117472"/>
            <a:ext cx="410755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761980"/>
            <a:ext cx="1015974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079473"/>
            <a:ext cx="10667733" cy="4404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3468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235144"/>
            <a:ext cx="1142971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48"/>
              </a:lnSpc>
            </a:pPr>
            <a:r>
              <a:rPr sz="1040" b="1">
                <a:solidFill>
                  <a:srgbClr val="35D0B1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463" y="2285942"/>
            <a:ext cx="4317892" cy="1746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Vercel — “Introducing eve”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463" y="2511362"/>
            <a:ext cx="4317892" cy="142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2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Launch blog and changelog — the framework announcement.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0463" y="2704337"/>
            <a:ext cx="43178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vercel.com/blog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3187620"/>
            <a:ext cx="1142971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48"/>
              </a:lnSpc>
            </a:pPr>
            <a:r>
              <a:rPr sz="1040" b="1">
                <a:solidFill>
                  <a:srgbClr val="35D0B1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463" y="3238419"/>
            <a:ext cx="4317892" cy="1746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Vercel Docs — eve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0463" y="3463838"/>
            <a:ext cx="4317892" cy="142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2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API surface, conventions, deployment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0463" y="3656814"/>
            <a:ext cx="43178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vercel.com/docs/eve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4140096"/>
            <a:ext cx="1142971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48"/>
              </a:lnSpc>
            </a:pPr>
            <a:r>
              <a:rPr sz="1040" b="1">
                <a:solidFill>
                  <a:srgbClr val="35D0B1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0463" y="4190895"/>
            <a:ext cx="4317892" cy="1746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The New Stack — “Vercel launches eve”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0463" y="4416314"/>
            <a:ext cx="4317892" cy="142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2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Independent write-up: agents as directories.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0463" y="4609290"/>
            <a:ext cx="43178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thenewstack.io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092572"/>
            <a:ext cx="1142971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48"/>
              </a:lnSpc>
            </a:pPr>
            <a:r>
              <a:rPr sz="1040" b="1">
                <a:solidFill>
                  <a:srgbClr val="35D0B1"/>
                </a:solidFill>
                <a:latin typeface="JetBrai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0463" y="5143371"/>
            <a:ext cx="4317892" cy="1746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Morningstar / BusinessWire — Vercel 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0463" y="5368790"/>
            <a:ext cx="4317892" cy="142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2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Ship London 2026 announcement coverage.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0463" y="5561766"/>
            <a:ext cx="43178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morningstar.com · businesswire.com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3339" y="2235144"/>
            <a:ext cx="1142971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48"/>
              </a:lnSpc>
            </a:pPr>
            <a:r>
              <a:rPr sz="1040" b="1">
                <a:solidFill>
                  <a:srgbClr val="35D0B1"/>
                </a:solidFill>
                <a:latin typeface="JetBrain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1326" y="2285942"/>
            <a:ext cx="4317892" cy="1746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GitHub — vercel/eve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1326" y="2511362"/>
            <a:ext cx="4317892" cy="142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2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Repo, releases, README — the primary source of truth.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1326" y="2704337"/>
            <a:ext cx="43178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github.com/vercel/eve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3339" y="3187620"/>
            <a:ext cx="1142971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48"/>
              </a:lnSpc>
            </a:pPr>
            <a:r>
              <a:rPr sz="1040" b="1">
                <a:solidFill>
                  <a:srgbClr val="35D0B1"/>
                </a:solidFill>
                <a:latin typeface="JetBrains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1326" y="3238419"/>
            <a:ext cx="4317892" cy="1746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eve.dev — landing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1326" y="3463838"/>
            <a:ext cx="4317892" cy="142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2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Positioning, quickstart, screenshots.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1326" y="3656814"/>
            <a:ext cx="43178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eve.dev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3339" y="4140096"/>
            <a:ext cx="1142971" cy="1714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248"/>
              </a:lnSpc>
            </a:pPr>
            <a:r>
              <a:rPr sz="1040" b="1">
                <a:solidFill>
                  <a:srgbClr val="35D0B1"/>
                </a:solidFill>
                <a:latin typeface="JetBrains Mono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1326" y="4190895"/>
            <a:ext cx="4317892" cy="1746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eve-analyst — product walkthrough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1326" y="4416314"/>
            <a:ext cx="4317892" cy="142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2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Reference agent shown in the launch; source of the $17,057.90 figure.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1326" y="4609290"/>
            <a:ext cx="4317892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840"/>
              </a:lnSpc>
            </a:pPr>
            <a:r>
              <a:rPr sz="700" b="0">
                <a:solidFill>
                  <a:srgbClr val="64778C"/>
                </a:solidFill>
                <a:latin typeface="JetBrains Mono"/>
              </a:rPr>
              <a:t>vercel/eve — examples/eve-analyst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3339" y="5092572"/>
            <a:ext cx="4889377" cy="1079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80"/>
              </a:lnSpc>
            </a:pPr>
            <a:r>
              <a:rPr sz="650" b="0">
                <a:solidFill>
                  <a:srgbClr val="64778C"/>
                </a:solidFill>
                <a:latin typeface="JetBrains Mono"/>
              </a:rPr>
              <a:t>NOTE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3339" y="5264018"/>
            <a:ext cx="4889377" cy="294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9DB0C3"/>
                </a:solidFill>
                <a:latin typeface="Inter"/>
              </a:rPr>
              <a:t>Figures reflect the brief provided for this deck; verify against live docs and the eve.dev landing before external use.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389" y="6657808"/>
            <a:ext cx="336799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END OF BRIEF · EVE — A PRODUCTION AGENT IS JUST A FOLDER OF FILES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70779" y="6657808"/>
            <a:ext cx="414525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ts val="720"/>
              </a:lnSpc>
            </a:pPr>
            <a:r>
              <a:rPr sz="600" b="0">
                <a:solidFill>
                  <a:srgbClr val="64778C"/>
                </a:solidFill>
                <a:latin typeface="JetBrains Mono"/>
              </a:rPr>
              <a:t>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