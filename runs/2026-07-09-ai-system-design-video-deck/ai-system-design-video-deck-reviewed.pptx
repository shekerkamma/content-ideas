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438912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EXECUTIVE BRIEFING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07008"/>
            <a:ext cx="7955279" cy="1737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400" b="1" i="0">
                <a:solidFill>
                  <a:srgbClr val="FFFFFF"/>
                </a:solidFill>
                <a:latin typeface="Calibri"/>
              </a:rPr>
              <a:t>AI makes prototypes easy; production still needs system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99232"/>
            <a:ext cx="6858000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80" b="0" i="0">
                <a:solidFill>
                  <a:srgbClr val="D9DFE5"/>
                </a:solidFill>
                <a:latin typeface="Calibri"/>
              </a:rPr>
              <a:t>Executive briefing from Ras Mic's system-design walkthrough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794760"/>
            <a:ext cx="146304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3739896"/>
            <a:ext cx="7223760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0" i="0">
                <a:solidFill>
                  <a:srgbClr val="FFFFFF"/>
                </a:solidFill>
                <a:latin typeface="Calibri"/>
              </a:rPr>
              <a:t>The talk argues that AI-generated apps fail when they skip architecture decisions.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361688"/>
            <a:ext cx="146304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4306824"/>
            <a:ext cx="7223760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0" i="0">
                <a:solidFill>
                  <a:srgbClr val="FFFFFF"/>
                </a:solidFill>
                <a:latin typeface="Calibri"/>
              </a:rPr>
              <a:t>The proposed operating lens is explicit trade-offs across scale, reliability, speed, and cost.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928616"/>
            <a:ext cx="146304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4873752"/>
            <a:ext cx="7223760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0" i="0">
                <a:solidFill>
                  <a:srgbClr val="FFFFFF"/>
                </a:solidFill>
                <a:latin typeface="Calibri"/>
              </a:rPr>
              <a:t>The Pluto case study shows a practical stack for an AI-agent product built on managed abstractions.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345936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A1628"/>
                </a:solidFill>
                <a:latin typeface="Calibri"/>
              </a:rPr>
              <a:t>Ras Mic video analysis | July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AI System Design Briefing |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1 / 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0A1628"/>
                </a:solidFill>
                <a:latin typeface="Calibri"/>
              </a:rPr>
              <a:t>Use four design questions before choosing the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33856"/>
            <a:ext cx="123444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71016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80" b="0" i="0">
                <a:solidFill>
                  <a:srgbClr val="5B6B7C"/>
                </a:solidFill>
                <a:latin typeface="Calibri"/>
              </a:rPr>
              <a:t>The speaker frames engineering as trade-off management, not tool collection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057400"/>
            <a:ext cx="2606040" cy="2606040"/>
          </a:xfrm>
          <a:prstGeom prst="roundRect">
            <a:avLst>
              <a:gd name="adj" fmla="val 6000"/>
            </a:avLst>
          </a:prstGeom>
          <a:solidFill>
            <a:srgbClr val="E0F7F1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2258568"/>
            <a:ext cx="2276856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900" b="1" i="0">
                <a:solidFill>
                  <a:srgbClr val="0A1628"/>
                </a:solidFill>
                <a:latin typeface="Calibri"/>
              </a:rPr>
              <a:t>Scale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825496"/>
            <a:ext cx="2276856" cy="1691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20" b="0" i="0">
                <a:solidFill>
                  <a:srgbClr val="1B2B3C"/>
                </a:solidFill>
                <a:latin typeface="Calibri"/>
              </a:rPr>
              <a:t>Can the system absorb more users or data by adding capacity?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47872" y="2057400"/>
            <a:ext cx="2606040" cy="2606040"/>
          </a:xfrm>
          <a:prstGeom prst="roundRect">
            <a:avLst>
              <a:gd name="adj" fmla="val 6000"/>
            </a:avLst>
          </a:prstGeom>
          <a:solidFill>
            <a:srgbClr val="FFF3D2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12463" y="2258568"/>
            <a:ext cx="2276856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900" b="1" i="0">
                <a:solidFill>
                  <a:srgbClr val="0A1628"/>
                </a:solidFill>
                <a:latin typeface="Calibri"/>
              </a:rPr>
              <a:t>Reliability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12463" y="2825496"/>
            <a:ext cx="2276856" cy="1691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20" b="0" i="0">
                <a:solidFill>
                  <a:srgbClr val="1B2B3C"/>
                </a:solidFill>
                <a:latin typeface="Calibri"/>
              </a:rPr>
              <a:t>How likely is each provider or service to fail under real usage?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9944" y="2057400"/>
            <a:ext cx="2606040" cy="260604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74536" y="2258568"/>
            <a:ext cx="2276856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900" b="1" i="0">
                <a:solidFill>
                  <a:srgbClr val="0A1628"/>
                </a:solidFill>
                <a:latin typeface="Calibri"/>
              </a:rPr>
              <a:t>Performance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74536" y="2825496"/>
            <a:ext cx="2276856" cy="1691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20" b="0" i="0">
                <a:solidFill>
                  <a:srgbClr val="1B2B3C"/>
                </a:solidFill>
                <a:latin typeface="Calibri"/>
              </a:rPr>
              <a:t>Will the architecture keep the product fast enough?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72016" y="2057400"/>
            <a:ext cx="2606040" cy="2606040"/>
          </a:xfrm>
          <a:prstGeom prst="roundRect">
            <a:avLst>
              <a:gd name="adj" fmla="val 6000"/>
            </a:avLst>
          </a:prstGeom>
          <a:solidFill>
            <a:srgbClr val="FFE6EA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36608" y="2258568"/>
            <a:ext cx="2276856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900" b="1" i="0">
                <a:solidFill>
                  <a:srgbClr val="0A1628"/>
                </a:solidFill>
                <a:latin typeface="Calibri"/>
              </a:rPr>
              <a:t>Cost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36608" y="2825496"/>
            <a:ext cx="2276856" cy="1691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20" b="0" i="0">
                <a:solidFill>
                  <a:srgbClr val="1B2B3C"/>
                </a:solidFill>
                <a:latin typeface="Calibri"/>
              </a:rPr>
              <a:t>Which choices protect runway, and which deliberately buy speed?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AI System Design Briefing |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0A1628"/>
                </a:solidFill>
                <a:latin typeface="Calibri"/>
              </a:rPr>
              <a:t>Modern app platforms compress heavy infrastructure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33856"/>
            <a:ext cx="123444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71016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80" b="0" i="0">
                <a:solidFill>
                  <a:srgbClr val="5B6B7C"/>
                </a:solidFill>
                <a:latin typeface="Calibri"/>
              </a:rPr>
              <a:t>The video positions cloud and managed platforms as abstraction layers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901952"/>
            <a:ext cx="1600200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A1628"/>
                </a:solidFill>
                <a:latin typeface="Calibri"/>
              </a:rPr>
              <a:t>Product platforms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23160" y="1828800"/>
            <a:ext cx="6217920" cy="749808"/>
          </a:xfrm>
          <a:prstGeom prst="roundRect">
            <a:avLst>
              <a:gd name="adj" fmla="val 6000"/>
            </a:avLst>
          </a:prstGeom>
          <a:solidFill>
            <a:srgbClr val="E0F7F1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651760" y="1975104"/>
            <a:ext cx="1133856" cy="4389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24912" y="2066544"/>
            <a:ext cx="987552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1B2B3C"/>
                </a:solidFill>
                <a:latin typeface="Calibri"/>
              </a:rPr>
              <a:t>Convex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69080" y="1975104"/>
            <a:ext cx="1133856" cy="4389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42232" y="2066544"/>
            <a:ext cx="987552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1B2B3C"/>
                </a:solidFill>
                <a:latin typeface="Calibri"/>
              </a:rPr>
              <a:t>Vercel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0" y="1975104"/>
            <a:ext cx="1133856" cy="4389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59552" y="2066544"/>
            <a:ext cx="987552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1B2B3C"/>
                </a:solidFill>
                <a:latin typeface="Calibri"/>
              </a:rPr>
              <a:t>Supabase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03720" y="1975104"/>
            <a:ext cx="1133856" cy="4389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76872" y="2066544"/>
            <a:ext cx="987552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1B2B3C"/>
                </a:solidFill>
                <a:latin typeface="Calibri"/>
              </a:rPr>
              <a:t>Neon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15400" y="1947672"/>
            <a:ext cx="242316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20" b="0" i="0">
                <a:solidFill>
                  <a:srgbClr val="5B6B7C"/>
                </a:solidFill>
                <a:latin typeface="Calibri"/>
              </a:rPr>
              <a:t>Fast setup; agent-friendly DX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227832"/>
            <a:ext cx="1600200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A1628"/>
                </a:solidFill>
                <a:latin typeface="Calibri"/>
              </a:rPr>
              <a:t>Cloud platforms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423160" y="3154680"/>
            <a:ext cx="6217920" cy="749808"/>
          </a:xfrm>
          <a:prstGeom prst="roundRect">
            <a:avLst>
              <a:gd name="adj" fmla="val 6000"/>
            </a:avLst>
          </a:prstGeom>
          <a:solidFill>
            <a:srgbClr val="FFF2CC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651760" y="3300984"/>
            <a:ext cx="1133856" cy="4389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24912" y="3392424"/>
            <a:ext cx="987552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1B2B3C"/>
                </a:solidFill>
                <a:latin typeface="Calibri"/>
              </a:rPr>
              <a:t>AWS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69080" y="3300984"/>
            <a:ext cx="1133856" cy="4389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42232" y="3392424"/>
            <a:ext cx="987552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1B2B3C"/>
                </a:solidFill>
                <a:latin typeface="Calibri"/>
              </a:rPr>
              <a:t>GCP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0" y="3300984"/>
            <a:ext cx="1133856" cy="4389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59552" y="3392424"/>
            <a:ext cx="987552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1B2B3C"/>
                </a:solidFill>
                <a:latin typeface="Calibri"/>
              </a:rPr>
              <a:t>Azure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03720" y="3300984"/>
            <a:ext cx="1133856" cy="4389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76872" y="3392424"/>
            <a:ext cx="987552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1B2B3C"/>
                </a:solidFill>
                <a:latin typeface="Calibri"/>
              </a:rPr>
              <a:t>Cloudflare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15400" y="3273552"/>
            <a:ext cx="242316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20" b="0" i="0">
                <a:solidFill>
                  <a:srgbClr val="5B6B7C"/>
                </a:solidFill>
                <a:latin typeface="Calibri"/>
              </a:rPr>
              <a:t>Managed infra; powerful but broader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4553712"/>
            <a:ext cx="1600200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A1628"/>
                </a:solidFill>
                <a:latin typeface="Calibri"/>
              </a:rPr>
              <a:t>Physical servers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423160" y="4480560"/>
            <a:ext cx="6217920" cy="749808"/>
          </a:xfrm>
          <a:prstGeom prst="roundRect">
            <a:avLst>
              <a:gd name="adj" fmla="val 6000"/>
            </a:avLst>
          </a:prstGeom>
          <a:solidFill>
            <a:srgbClr val="F3E6E1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2651760" y="4626864"/>
            <a:ext cx="1133856" cy="4389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24912" y="4718304"/>
            <a:ext cx="987552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1B2B3C"/>
                </a:solidFill>
                <a:latin typeface="Calibri"/>
              </a:rPr>
              <a:t>Metal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15400" y="4599432"/>
            <a:ext cx="242316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20" b="0" i="0">
                <a:solidFill>
                  <a:srgbClr val="5B6B7C"/>
                </a:solidFill>
                <a:latin typeface="Calibri"/>
              </a:rPr>
              <a:t>High control; expensive and hard to scale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1700784"/>
            <a:ext cx="12801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C9A7"/>
                </a:solidFill>
                <a:latin typeface="Calibri"/>
              </a:rPr>
              <a:t>Higher abstraction</a:t>
            </a:r>
          </a:p>
        </p:txBody>
      </p:sp>
      <p:cxnSp>
        <p:nvCxnSpPr>
          <p:cNvPr id="35" name="Connector 34"/>
          <p:cNvCxnSpPr/>
          <p:nvPr/>
        </p:nvCxnSpPr>
        <p:spPr>
          <a:xfrm flipV="1">
            <a:off x="987552" y="1737360"/>
            <a:ext cx="0" cy="3520440"/>
          </a:xfrm>
          <a:prstGeom prst="line">
            <a:avLst/>
          </a:prstGeom>
          <a:ln w="19050">
            <a:solidFill>
              <a:srgbClr val="00C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AI System Design Briefing | 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0A1628"/>
                </a:solidFill>
                <a:latin typeface="Calibri"/>
              </a:rPr>
              <a:t>Pluto is presented as an enterprise-oriented AI-agent app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33856"/>
            <a:ext cx="123444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71016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80" b="0" i="0">
                <a:solidFill>
                  <a:srgbClr val="5B6B7C"/>
                </a:solidFill>
                <a:latin typeface="Calibri"/>
              </a:rPr>
              <a:t>The product context drives the architecture choices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28800"/>
            <a:ext cx="2834640" cy="3474720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48840"/>
            <a:ext cx="228600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FFFFFF"/>
                </a:solidFill>
                <a:latin typeface="Calibri"/>
              </a:rPr>
              <a:t>What changes for AI-built apps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46120"/>
            <a:ext cx="2240280" cy="914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D9DFE5"/>
                </a:solidFill>
                <a:latin typeface="Calibri"/>
              </a:rPr>
              <a:t>The system has to constrain, observe, and guide the code AI produces.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86200" y="182880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86200" y="1892807"/>
            <a:ext cx="347472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43984" y="1810512"/>
            <a:ext cx="6720840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20" b="0" i="0">
                <a:solidFill>
                  <a:srgbClr val="1B2B3C"/>
                </a:solidFill>
                <a:latin typeface="Calibri"/>
              </a:rPr>
              <a:t>Multiple client surfaces: web, desktop, mobile, and admin experiences.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86200" y="283464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86200" y="2898648"/>
            <a:ext cx="347472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43984" y="2816352"/>
            <a:ext cx="6720840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20" b="0" i="0">
                <a:solidFill>
                  <a:srgbClr val="1B2B3C"/>
                </a:solidFill>
                <a:latin typeface="Calibri"/>
              </a:rPr>
              <a:t>Agent execution requires durable backend state, inference, sandboxed workspaces, and browser access.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86200" y="384048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86200" y="3904488"/>
            <a:ext cx="347472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43984" y="3822192"/>
            <a:ext cx="6720840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20" b="0" i="0">
                <a:solidFill>
                  <a:srgbClr val="1B2B3C"/>
                </a:solidFill>
                <a:latin typeface="Calibri"/>
              </a:rPr>
              <a:t>The target buyer is business teams, which raises auth, compliance, monitoring, and reliability requirements.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AI System Design Briefing |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0A1628"/>
                </a:solidFill>
                <a:latin typeface="Calibri"/>
              </a:rPr>
              <a:t>The core architecture separates experience, control plane, and specialized services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33856"/>
            <a:ext cx="123444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71016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80" b="0" i="0">
                <a:solidFill>
                  <a:srgbClr val="5B6B7C"/>
                </a:solidFill>
                <a:latin typeface="Calibri"/>
              </a:rPr>
              <a:t>The deck recreates the speaker's final architecture map as editable PowerPoint shapes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1325880" cy="548640"/>
          </a:xfrm>
          <a:prstGeom prst="roundRect">
            <a:avLst>
              <a:gd name="adj" fmla="val 8000"/>
            </a:avLst>
          </a:prstGeom>
          <a:solidFill>
            <a:srgbClr val="E0F7F1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920240"/>
            <a:ext cx="1179576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1B2B3C"/>
                </a:solidFill>
                <a:latin typeface="Calibri"/>
              </a:rPr>
              <a:t>Web app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651760"/>
            <a:ext cx="1325880" cy="548640"/>
          </a:xfrm>
          <a:prstGeom prst="roundRect">
            <a:avLst>
              <a:gd name="adj" fmla="val 8000"/>
            </a:avLst>
          </a:prstGeom>
          <a:solidFill>
            <a:srgbClr val="E0F7F1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2743200"/>
            <a:ext cx="1179576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1B2B3C"/>
                </a:solidFill>
                <a:latin typeface="Calibri"/>
              </a:rPr>
              <a:t>Desktop app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474720"/>
            <a:ext cx="1325880" cy="548640"/>
          </a:xfrm>
          <a:prstGeom prst="roundRect">
            <a:avLst>
              <a:gd name="adj" fmla="val 8000"/>
            </a:avLst>
          </a:prstGeom>
          <a:solidFill>
            <a:srgbClr val="E0F7F1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3566160"/>
            <a:ext cx="1179576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1B2B3C"/>
                </a:solidFill>
                <a:latin typeface="Calibri"/>
              </a:rPr>
              <a:t>Mobile app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297680"/>
            <a:ext cx="1325880" cy="548640"/>
          </a:xfrm>
          <a:prstGeom prst="roundRect">
            <a:avLst>
              <a:gd name="adj" fmla="val 8000"/>
            </a:avLst>
          </a:prstGeom>
          <a:solidFill>
            <a:srgbClr val="E0F7F1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" y="4389120"/>
            <a:ext cx="1179576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1B2B3C"/>
                </a:solidFill>
                <a:latin typeface="Calibri"/>
              </a:rPr>
              <a:t>Admin site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34640" y="2331720"/>
            <a:ext cx="1600200" cy="1005840"/>
          </a:xfrm>
          <a:prstGeom prst="roundRect">
            <a:avLst>
              <a:gd name="adj" fmla="val 8000"/>
            </a:avLst>
          </a:prstGeom>
          <a:solidFill>
            <a:srgbClr val="E8F7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07792" y="2423160"/>
            <a:ext cx="1453896" cy="914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1B2B3C"/>
                </a:solidFill>
                <a:latin typeface="Calibri"/>
              </a:rPr>
              <a:t>Convex
control plane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66360" y="1965960"/>
            <a:ext cx="1600200" cy="731520"/>
          </a:xfrm>
          <a:prstGeom prst="roundRect">
            <a:avLst>
              <a:gd name="adj" fmla="val 8000"/>
            </a:avLst>
          </a:prstGeom>
          <a:solidFill>
            <a:srgbClr val="F3E8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39512" y="2057400"/>
            <a:ext cx="1453896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1B2B3C"/>
                </a:solidFill>
                <a:latin typeface="Calibri"/>
              </a:rPr>
              <a:t>Agent runtime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66360" y="2926080"/>
            <a:ext cx="1600200" cy="731520"/>
          </a:xfrm>
          <a:prstGeom prst="roundRect">
            <a:avLst>
              <a:gd name="adj" fmla="val 8000"/>
            </a:avLst>
          </a:prstGeom>
          <a:solidFill>
            <a:srgbClr val="F3E8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39512" y="3017520"/>
            <a:ext cx="1453896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1B2B3C"/>
                </a:solidFill>
                <a:latin typeface="Calibri"/>
              </a:rPr>
              <a:t>Workflow jobs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66360" y="3886200"/>
            <a:ext cx="1600200" cy="731520"/>
          </a:xfrm>
          <a:prstGeom prst="roundRect">
            <a:avLst>
              <a:gd name="adj" fmla="val 8000"/>
            </a:avLst>
          </a:prstGeom>
          <a:solidFill>
            <a:srgbClr val="F3E8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39512" y="3977639"/>
            <a:ext cx="1453896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1B2B3C"/>
                </a:solidFill>
                <a:latin typeface="Calibri"/>
              </a:rPr>
              <a:t>Components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79" y="1737360"/>
            <a:ext cx="1600200" cy="658368"/>
          </a:xfrm>
          <a:prstGeom prst="roundRect">
            <a:avLst>
              <a:gd name="adj" fmla="val 8000"/>
            </a:avLst>
          </a:prstGeom>
          <a:solidFill>
            <a:srgbClr val="FFF2CC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71231" y="1828800"/>
            <a:ext cx="1453896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1B2B3C"/>
                </a:solidFill>
                <a:latin typeface="Calibri"/>
              </a:rPr>
              <a:t>Inference
service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79" y="2697480"/>
            <a:ext cx="1600200" cy="658368"/>
          </a:xfrm>
          <a:prstGeom prst="roundRect">
            <a:avLst>
              <a:gd name="adj" fmla="val 8000"/>
            </a:avLst>
          </a:prstGeom>
          <a:solidFill>
            <a:srgbClr val="FFF2CC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71231" y="2788920"/>
            <a:ext cx="1453896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1B2B3C"/>
                </a:solidFill>
                <a:latin typeface="Calibri"/>
              </a:rPr>
              <a:t>Payments +
ledger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98079" y="3657600"/>
            <a:ext cx="1600200" cy="658368"/>
          </a:xfrm>
          <a:prstGeom prst="roundRect">
            <a:avLst>
              <a:gd name="adj" fmla="val 8000"/>
            </a:avLst>
          </a:prstGeom>
          <a:solidFill>
            <a:srgbClr val="FFF2CC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71231" y="3749039"/>
            <a:ext cx="1453896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1B2B3C"/>
                </a:solidFill>
                <a:latin typeface="Calibri"/>
              </a:rPr>
              <a:t>Messaging
service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738360" y="1737360"/>
            <a:ext cx="1600200" cy="566928"/>
          </a:xfrm>
          <a:prstGeom prst="roundRect">
            <a:avLst>
              <a:gd name="adj" fmla="val 8000"/>
            </a:avLst>
          </a:prstGeom>
          <a:solidFill>
            <a:srgbClr val="FFE6EA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11512" y="1828800"/>
            <a:ext cx="1453896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1B2B3C"/>
                </a:solidFill>
                <a:latin typeface="Calibri"/>
              </a:rPr>
              <a:t>Model routing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738360" y="2514600"/>
            <a:ext cx="1600200" cy="566928"/>
          </a:xfrm>
          <a:prstGeom prst="roundRect">
            <a:avLst>
              <a:gd name="adj" fmla="val 8000"/>
            </a:avLst>
          </a:prstGeom>
          <a:solidFill>
            <a:srgbClr val="FFE6EA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11512" y="2606040"/>
            <a:ext cx="1453896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1B2B3C"/>
                </a:solidFill>
                <a:latin typeface="Calibri"/>
              </a:rPr>
              <a:t>Sandbox + browser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738360" y="3291840"/>
            <a:ext cx="1600200" cy="566928"/>
          </a:xfrm>
          <a:prstGeom prst="roundRect">
            <a:avLst>
              <a:gd name="adj" fmla="val 8000"/>
            </a:avLst>
          </a:prstGeom>
          <a:solidFill>
            <a:srgbClr val="FFE6EA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811512" y="3383280"/>
            <a:ext cx="1453896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1B2B3C"/>
                </a:solidFill>
                <a:latin typeface="Calibri"/>
              </a:rPr>
              <a:t>Enterprise auth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738360" y="4069080"/>
            <a:ext cx="1600200" cy="566928"/>
          </a:xfrm>
          <a:prstGeom prst="roundRect">
            <a:avLst>
              <a:gd name="adj" fmla="val 8000"/>
            </a:avLst>
          </a:prstGeom>
          <a:solidFill>
            <a:srgbClr val="FFE6EA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11512" y="4160520"/>
            <a:ext cx="1453896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1B2B3C"/>
                </a:solidFill>
                <a:latin typeface="Calibri"/>
              </a:rPr>
              <a:t>Observability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2011680" y="2103120"/>
            <a:ext cx="822960" cy="731520"/>
          </a:xfrm>
          <a:prstGeom prst="line">
            <a:avLst/>
          </a:prstGeom>
          <a:ln w="19050">
            <a:solidFill>
              <a:srgbClr val="5B6B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2011680" y="2834640"/>
            <a:ext cx="822960" cy="91440"/>
          </a:xfrm>
          <a:prstGeom prst="line">
            <a:avLst/>
          </a:prstGeom>
          <a:ln w="19050">
            <a:solidFill>
              <a:srgbClr val="5B6B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2011680" y="2834640"/>
            <a:ext cx="822960" cy="914399"/>
          </a:xfrm>
          <a:prstGeom prst="line">
            <a:avLst/>
          </a:prstGeom>
          <a:ln w="19050">
            <a:solidFill>
              <a:srgbClr val="5B6B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2011680" y="2834640"/>
            <a:ext cx="822960" cy="1737360"/>
          </a:xfrm>
          <a:prstGeom prst="line">
            <a:avLst/>
          </a:prstGeom>
          <a:ln w="19050">
            <a:solidFill>
              <a:srgbClr val="5B6B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4434840" y="2331720"/>
            <a:ext cx="731520" cy="502920"/>
          </a:xfrm>
          <a:prstGeom prst="line">
            <a:avLst/>
          </a:prstGeom>
          <a:ln w="19050">
            <a:solidFill>
              <a:srgbClr val="5B6B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434840" y="2834640"/>
            <a:ext cx="731520" cy="457200"/>
          </a:xfrm>
          <a:prstGeom prst="line">
            <a:avLst/>
          </a:prstGeom>
          <a:ln w="19050">
            <a:solidFill>
              <a:srgbClr val="5B6B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434840" y="2834640"/>
            <a:ext cx="731520" cy="1417320"/>
          </a:xfrm>
          <a:prstGeom prst="line">
            <a:avLst/>
          </a:prstGeom>
          <a:ln w="19050">
            <a:solidFill>
              <a:srgbClr val="5B6B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6766560" y="2103120"/>
            <a:ext cx="731519" cy="0"/>
          </a:xfrm>
          <a:prstGeom prst="line">
            <a:avLst/>
          </a:prstGeom>
          <a:ln w="19050">
            <a:solidFill>
              <a:srgbClr val="5B6B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6766560" y="3017520"/>
            <a:ext cx="731519" cy="0"/>
          </a:xfrm>
          <a:prstGeom prst="line">
            <a:avLst/>
          </a:prstGeom>
          <a:ln w="19050">
            <a:solidFill>
              <a:srgbClr val="5B6B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6766560" y="3977639"/>
            <a:ext cx="731519" cy="0"/>
          </a:xfrm>
          <a:prstGeom prst="line">
            <a:avLst/>
          </a:prstGeom>
          <a:ln w="19050">
            <a:solidFill>
              <a:srgbClr val="5B6B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9098280" y="2020824"/>
            <a:ext cx="640080" cy="1005840"/>
          </a:xfrm>
          <a:prstGeom prst="line">
            <a:avLst/>
          </a:prstGeom>
          <a:ln w="19050">
            <a:solidFill>
              <a:srgbClr val="5B6B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9098280" y="2798064"/>
            <a:ext cx="640080" cy="228600"/>
          </a:xfrm>
          <a:prstGeom prst="line">
            <a:avLst/>
          </a:prstGeom>
          <a:ln w="19050">
            <a:solidFill>
              <a:srgbClr val="5B6B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9098280" y="3026664"/>
            <a:ext cx="640080" cy="548640"/>
          </a:xfrm>
          <a:prstGeom prst="line">
            <a:avLst/>
          </a:prstGeom>
          <a:ln w="19050">
            <a:solidFill>
              <a:srgbClr val="5B6B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9098280" y="3026664"/>
            <a:ext cx="640080" cy="1325880"/>
          </a:xfrm>
          <a:prstGeom prst="line">
            <a:avLst/>
          </a:prstGeom>
          <a:ln w="19050">
            <a:solidFill>
              <a:srgbClr val="5B6B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685800" y="5449824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60" b="1" i="0">
                <a:solidFill>
                  <a:srgbClr val="00C9A7"/>
                </a:solidFill>
                <a:latin typeface="Calibri"/>
              </a:rPr>
              <a:t>Design principle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103120" y="5376672"/>
            <a:ext cx="7863840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60" b="0" i="0">
                <a:solidFill>
                  <a:srgbClr val="1B2B3C"/>
                </a:solidFill>
                <a:latin typeface="Calibri"/>
              </a:rPr>
              <a:t>Keep the main product understandable; isolate domains with different risk, cost, and failure behavior.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AI System Design Briefing | 2026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0A1628"/>
                </a:solidFill>
                <a:latin typeface="Calibri"/>
              </a:rPr>
              <a:t>The recommended repo model keeps agents and developers aligned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33856"/>
            <a:ext cx="123444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71016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80" b="0" i="0">
                <a:solidFill>
                  <a:srgbClr val="5B6B7C"/>
                </a:solidFill>
                <a:latin typeface="Calibri"/>
              </a:rPr>
              <a:t>One codebase gives AI agents enough context to work across surfaces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28800"/>
            <a:ext cx="2834640" cy="3474720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48840"/>
            <a:ext cx="228600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FFFFFF"/>
                </a:solidFill>
                <a:latin typeface="Calibri"/>
              </a:rPr>
              <a:t>What changes for AI-built apps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46120"/>
            <a:ext cx="2240280" cy="914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D9DFE5"/>
                </a:solidFill>
                <a:latin typeface="Calibri"/>
              </a:rPr>
              <a:t>The system has to constrain, observe, and guide the code AI produces.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86200" y="182880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86200" y="1892807"/>
            <a:ext cx="347472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43984" y="1810512"/>
            <a:ext cx="6720840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20" b="0" i="0">
                <a:solidFill>
                  <a:srgbClr val="1B2B3C"/>
                </a:solidFill>
                <a:latin typeface="Calibri"/>
              </a:rPr>
              <a:t>Start with a monorepo so web, mobile, desktop, backend, and services share context.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86200" y="283464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86200" y="2898648"/>
            <a:ext cx="347472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43984" y="2816352"/>
            <a:ext cx="6720840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20" b="0" i="0">
                <a:solidFill>
                  <a:srgbClr val="1B2B3C"/>
                </a:solidFill>
                <a:latin typeface="Calibri"/>
              </a:rPr>
              <a:t>Use familiar, documented tools because AI coding agents are more reliable with common ecosystems.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86200" y="384048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86200" y="3904488"/>
            <a:ext cx="347472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43984" y="3822192"/>
            <a:ext cx="6720840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20" b="0" i="0">
                <a:solidFill>
                  <a:srgbClr val="1B2B3C"/>
                </a:solidFill>
                <a:latin typeface="Calibri"/>
              </a:rPr>
              <a:t>Segment services only where the domain has a clean boundary and independent failure modes.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AI System Design Briefing |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0A1628"/>
                </a:solidFill>
                <a:latin typeface="Calibri"/>
              </a:rPr>
              <a:t>Convex is treated as the control plane for product state and workflows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33856"/>
            <a:ext cx="123444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71016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80" b="0" i="0">
                <a:solidFill>
                  <a:srgbClr val="5B6B7C"/>
                </a:solidFill>
                <a:latin typeface="Calibri"/>
              </a:rPr>
              <a:t>The backend choice is tied to data, actions, jobs, and agent-readable code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28800"/>
            <a:ext cx="2834640" cy="3474720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48840"/>
            <a:ext cx="228600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FFFFFF"/>
                </a:solidFill>
                <a:latin typeface="Calibri"/>
              </a:rPr>
              <a:t>What changes for AI-built apps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46120"/>
            <a:ext cx="2240280" cy="914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D9DFE5"/>
                </a:solidFill>
                <a:latin typeface="Calibri"/>
              </a:rPr>
              <a:t>The system has to constrain, observe, and guide the code AI produces.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86200" y="182880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86200" y="1892807"/>
            <a:ext cx="347472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43984" y="1810512"/>
            <a:ext cx="6720840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20" b="0" i="0">
                <a:solidFill>
                  <a:srgbClr val="1B2B3C"/>
                </a:solidFill>
                <a:latin typeface="Calibri"/>
              </a:rPr>
              <a:t>The speaker prefers Convex because backend behavior is expressed as code.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86200" y="283464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86200" y="2898648"/>
            <a:ext cx="347472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43984" y="2816352"/>
            <a:ext cx="6720840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20" b="0" i="0">
                <a:solidFill>
                  <a:srgbClr val="1B2B3C"/>
                </a:solidFill>
                <a:latin typeface="Calibri"/>
              </a:rPr>
              <a:t>Workflows, scheduled jobs, queues, and external integrations are positioned as first-class backend needs.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86200" y="384048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86200" y="3904488"/>
            <a:ext cx="347472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43984" y="3822192"/>
            <a:ext cx="6720840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20" b="0" i="0">
                <a:solidFill>
                  <a:srgbClr val="1B2B3C"/>
                </a:solidFill>
                <a:latin typeface="Calibri"/>
              </a:rPr>
              <a:t>The product's main state should remain simple enough for agents to understand and modify.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AI System Design Briefing |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0A1628"/>
                </a:solidFill>
                <a:latin typeface="Calibri"/>
              </a:rPr>
              <a:t>Specialized services carry riskier domains outside the main app path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33856"/>
            <a:ext cx="123444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71016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80" b="0" i="0">
                <a:solidFill>
                  <a:srgbClr val="5B6B7C"/>
                </a:solidFill>
                <a:latin typeface="Calibri"/>
              </a:rPr>
              <a:t>Inference, payments, and messaging are separated because they have distinct responsibilities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834640"/>
            <a:ext cx="1920240" cy="1005840"/>
          </a:xfrm>
          <a:prstGeom prst="roundRect">
            <a:avLst>
              <a:gd name="adj" fmla="val 8000"/>
            </a:avLst>
          </a:prstGeom>
          <a:solidFill>
            <a:srgbClr val="E0F7F1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926080"/>
            <a:ext cx="1773936" cy="914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1B2B3C"/>
                </a:solidFill>
                <a:latin typeface="Calibri"/>
              </a:rPr>
              <a:t>Main app
experience + state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2148840"/>
            <a:ext cx="1874519" cy="685800"/>
          </a:xfrm>
          <a:prstGeom prst="roundRect">
            <a:avLst>
              <a:gd name="adj" fmla="val 8000"/>
            </a:avLst>
          </a:prstGeom>
          <a:solidFill>
            <a:srgbClr val="FFF2CC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30752" y="2240280"/>
            <a:ext cx="1728216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1B2B3C"/>
                </a:solidFill>
                <a:latin typeface="Calibri"/>
              </a:rPr>
              <a:t>Inference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0" y="3063240"/>
            <a:ext cx="1874519" cy="1417320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03904" y="3346704"/>
            <a:ext cx="1581912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40" b="0" i="0">
                <a:solidFill>
                  <a:srgbClr val="1B2B3C"/>
                </a:solidFill>
                <a:latin typeface="Calibri"/>
              </a:rPr>
              <a:t>model calls, usage, failures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743200" y="2487168"/>
            <a:ext cx="914400" cy="850392"/>
          </a:xfrm>
          <a:prstGeom prst="line">
            <a:avLst/>
          </a:prstGeom>
          <a:ln w="19050">
            <a:solidFill>
              <a:srgbClr val="5B6B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080760" y="2148840"/>
            <a:ext cx="1874519" cy="685800"/>
          </a:xfrm>
          <a:prstGeom prst="roundRect">
            <a:avLst>
              <a:gd name="adj" fmla="val 8000"/>
            </a:avLst>
          </a:prstGeom>
          <a:solidFill>
            <a:srgbClr val="FFF2CC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3912" y="2240280"/>
            <a:ext cx="1728216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1B2B3C"/>
                </a:solidFill>
                <a:latin typeface="Calibri"/>
              </a:rPr>
              <a:t>Payments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80760" y="3063240"/>
            <a:ext cx="1874519" cy="1417320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27064" y="3346704"/>
            <a:ext cx="1581912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40" b="0" i="0">
                <a:solidFill>
                  <a:srgbClr val="1B2B3C"/>
                </a:solidFill>
                <a:latin typeface="Calibri"/>
              </a:rPr>
              <a:t>credits, top-ups, wallet ledger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2743200" y="2487168"/>
            <a:ext cx="3337560" cy="850392"/>
          </a:xfrm>
          <a:prstGeom prst="line">
            <a:avLst/>
          </a:prstGeom>
          <a:ln w="19050">
            <a:solidFill>
              <a:srgbClr val="5B6B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503920" y="2148840"/>
            <a:ext cx="1874519" cy="685800"/>
          </a:xfrm>
          <a:prstGeom prst="roundRect">
            <a:avLst>
              <a:gd name="adj" fmla="val 8000"/>
            </a:avLst>
          </a:prstGeom>
          <a:solidFill>
            <a:srgbClr val="FFF2CC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77072" y="2240280"/>
            <a:ext cx="1728216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1B2B3C"/>
                </a:solidFill>
                <a:latin typeface="Calibri"/>
              </a:rPr>
              <a:t>Messaging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03920" y="3063240"/>
            <a:ext cx="1874519" cy="1417320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50224" y="3346704"/>
            <a:ext cx="1581912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40" b="0" i="0">
                <a:solidFill>
                  <a:srgbClr val="1B2B3C"/>
                </a:solidFill>
                <a:latin typeface="Calibri"/>
              </a:rPr>
              <a:t>alternate channel into the agent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2743200" y="2487168"/>
            <a:ext cx="5760720" cy="850392"/>
          </a:xfrm>
          <a:prstGeom prst="line">
            <a:avLst/>
          </a:prstGeom>
          <a:ln w="19050">
            <a:solidFill>
              <a:srgbClr val="5B6B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41248" y="5166360"/>
            <a:ext cx="118872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C9A7"/>
                </a:solidFill>
                <a:latin typeface="Calibri"/>
              </a:rPr>
              <a:t>Boundary test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5047488"/>
            <a:ext cx="8732520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70" b="0" i="0">
                <a:solidFill>
                  <a:srgbClr val="1B2B3C"/>
                </a:solidFill>
                <a:latin typeface="Calibri"/>
              </a:rPr>
              <a:t>Split a service when it touches one surface area, owns a distinct failure mode, and can be maintained independently.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AI System Design Briefing |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0A1628"/>
                </a:solidFill>
                <a:latin typeface="Calibri"/>
              </a:rPr>
              <a:t>Payments architecture should match the pricing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33856"/>
            <a:ext cx="123444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71016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80" b="0" i="0">
                <a:solidFill>
                  <a:srgbClr val="5B6B7C"/>
                </a:solidFill>
                <a:latin typeface="Calibri"/>
              </a:rPr>
              <a:t>The talk distinguishes subscription billing from credit-based usage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28800"/>
            <a:ext cx="2834640" cy="3474720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48840"/>
            <a:ext cx="228600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FFFFFF"/>
                </a:solidFill>
                <a:latin typeface="Calibri"/>
              </a:rPr>
              <a:t>What changes for AI-built apps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46120"/>
            <a:ext cx="2240280" cy="914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D9DFE5"/>
                </a:solidFill>
                <a:latin typeface="Calibri"/>
              </a:rPr>
              <a:t>The system has to constrain, observe, and guide the code AI produces.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86200" y="182880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86200" y="1892807"/>
            <a:ext cx="347472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43984" y="1810512"/>
            <a:ext cx="6720840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20" b="0" i="0">
                <a:solidFill>
                  <a:srgbClr val="1B2B3C"/>
                </a:solidFill>
                <a:latin typeface="Calibri"/>
              </a:rPr>
              <a:t>Stripe is framed as sufficient for straightforward subscription billing.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86200" y="283464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86200" y="2898648"/>
            <a:ext cx="347472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43984" y="2816352"/>
            <a:ext cx="6720840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20" b="0" i="0">
                <a:solidFill>
                  <a:srgbClr val="1B2B3C"/>
                </a:solidFill>
                <a:latin typeface="Calibri"/>
              </a:rPr>
              <a:t>Autumn is chosen for Pluto because credits, top-ups, and consumption accounting are central to the product.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86200" y="384048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86200" y="3904488"/>
            <a:ext cx="347472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43984" y="3822192"/>
            <a:ext cx="6720840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20" b="0" i="0">
                <a:solidFill>
                  <a:srgbClr val="1B2B3C"/>
                </a:solidFill>
                <a:latin typeface="Calibri"/>
              </a:rPr>
              <a:t>The inference ledger becomes a control point for tracking wallet balance and model-provider consumption.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AI System Design Briefing |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0A1628"/>
                </a:solidFill>
                <a:latin typeface="Calibri"/>
              </a:rPr>
              <a:t>Observability is a production requirement, not a cleanup task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33856"/>
            <a:ext cx="123444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71016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80" b="0" i="0">
                <a:solidFill>
                  <a:srgbClr val="5B6B7C"/>
                </a:solidFill>
                <a:latin typeface="Calibri"/>
              </a:rPr>
              <a:t>Once AI-generated code reaches users, failures need traceability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28800"/>
            <a:ext cx="2834640" cy="3474720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48840"/>
            <a:ext cx="228600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FFFFFF"/>
                </a:solidFill>
                <a:latin typeface="Calibri"/>
              </a:rPr>
              <a:t>What changes for AI-built apps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46120"/>
            <a:ext cx="2240280" cy="914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D9DFE5"/>
                </a:solidFill>
                <a:latin typeface="Calibri"/>
              </a:rPr>
              <a:t>The system has to constrain, observe, and guide the code AI produces.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86200" y="182880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86200" y="1892807"/>
            <a:ext cx="347472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43984" y="1810512"/>
            <a:ext cx="6720840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20" b="0" i="0">
                <a:solidFill>
                  <a:srgbClr val="1B2B3C"/>
                </a:solidFill>
                <a:latin typeface="Calibri"/>
              </a:rPr>
              <a:t>The speaker recommends Sentry and PostHog for error logging, analytics, and failure visibility.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86200" y="283464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86200" y="2898648"/>
            <a:ext cx="347472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43984" y="2816352"/>
            <a:ext cx="6720840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20" b="0" i="0">
                <a:solidFill>
                  <a:srgbClr val="1B2B3C"/>
                </a:solidFill>
                <a:latin typeface="Calibri"/>
              </a:rPr>
              <a:t>The practical requirement is to know what failed, when it failed, and which path produced the issue.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86200" y="384048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86200" y="3904488"/>
            <a:ext cx="347472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43984" y="3822192"/>
            <a:ext cx="6720840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20" b="0" i="0">
                <a:solidFill>
                  <a:srgbClr val="1B2B3C"/>
                </a:solidFill>
                <a:latin typeface="Calibri"/>
              </a:rPr>
              <a:t>Monitoring becomes more important as the system spans client, backend, services, and sandbox providers.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AI System Design Briefing |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0A1628"/>
                </a:solidFill>
                <a:latin typeface="Calibri"/>
              </a:rPr>
              <a:t>The explicit trade-off is spending more to protect product experience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33856"/>
            <a:ext cx="123444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71016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80" b="0" i="0">
                <a:solidFill>
                  <a:srgbClr val="5B6B7C"/>
                </a:solidFill>
                <a:latin typeface="Calibri"/>
              </a:rPr>
              <a:t>The case study prioritizes reliability and speed over early cost optimization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28800"/>
            <a:ext cx="2834640" cy="3474720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48840"/>
            <a:ext cx="228600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FFFFFF"/>
                </a:solidFill>
                <a:latin typeface="Calibri"/>
              </a:rPr>
              <a:t>What changes for AI-built apps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46120"/>
            <a:ext cx="2240280" cy="914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D9DFE5"/>
                </a:solidFill>
                <a:latin typeface="Calibri"/>
              </a:rPr>
              <a:t>The system has to constrain, observe, and guide the code AI produces.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86200" y="182880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86200" y="1892807"/>
            <a:ext cx="347472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43984" y="1810512"/>
            <a:ext cx="6720840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20" b="0" i="0">
                <a:solidFill>
                  <a:srgbClr val="1B2B3C"/>
                </a:solidFill>
                <a:latin typeface="Calibri"/>
              </a:rPr>
              <a:t>Separate services and larger sandbox resources increase cost.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86200" y="283464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86200" y="2898648"/>
            <a:ext cx="347472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43984" y="2816352"/>
            <a:ext cx="6720840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20" b="0" i="0">
                <a:solidFill>
                  <a:srgbClr val="1B2B3C"/>
                </a:solidFill>
                <a:latin typeface="Calibri"/>
              </a:rPr>
              <a:t>The rationale is to keep agents fast and the product resilient while the business model is still learning.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86200" y="384048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86200" y="3904488"/>
            <a:ext cx="347472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43984" y="3822192"/>
            <a:ext cx="6720840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20" b="0" i="0">
                <a:solidFill>
                  <a:srgbClr val="1B2B3C"/>
                </a:solidFill>
                <a:latin typeface="Calibri"/>
              </a:rPr>
              <a:t>Cost optimization is acknowledged as future work, not ignored as a non-issue.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AI System Design Briefing |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0A1628"/>
                </a:solidFill>
                <a:latin typeface="Calibri"/>
              </a:rPr>
              <a:t>A repeatable AI-build playbook falls out of the walkthrough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33856"/>
            <a:ext cx="123444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71016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80" b="0" i="0">
                <a:solidFill>
                  <a:srgbClr val="5B6B7C"/>
                </a:solidFill>
                <a:latin typeface="Calibri"/>
              </a:rPr>
              <a:t>Translate the case study into operating principles for future builds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737360"/>
            <a:ext cx="502920" cy="50292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5029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2768" y="1764792"/>
            <a:ext cx="8961120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0" i="0">
                <a:solidFill>
                  <a:srgbClr val="1B2B3C"/>
                </a:solidFill>
                <a:latin typeface="Calibri"/>
              </a:rPr>
              <a:t>Define product surfaces and state boundaries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514600"/>
            <a:ext cx="502920" cy="50292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606040"/>
            <a:ext cx="5029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2542032"/>
            <a:ext cx="8961120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0" i="0">
                <a:solidFill>
                  <a:srgbClr val="1B2B3C"/>
                </a:solidFill>
                <a:latin typeface="Calibri"/>
              </a:rPr>
              <a:t>Choose managed abstractions where they reduce undifferentiated work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291839"/>
            <a:ext cx="502920" cy="50292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383279"/>
            <a:ext cx="5029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72768" y="3319271"/>
            <a:ext cx="8961120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0" i="0">
                <a:solidFill>
                  <a:srgbClr val="1B2B3C"/>
                </a:solidFill>
                <a:latin typeface="Calibri"/>
              </a:rPr>
              <a:t>Keep everything in a monorepo until a service boundary is justified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069079"/>
            <a:ext cx="502920" cy="50292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160519"/>
            <a:ext cx="5029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72768" y="4096511"/>
            <a:ext cx="8961120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0" i="0">
                <a:solidFill>
                  <a:srgbClr val="1B2B3C"/>
                </a:solidFill>
                <a:latin typeface="Calibri"/>
              </a:rPr>
              <a:t>Instrument errors, analytics, and usage ledgers before launch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846320"/>
            <a:ext cx="502920" cy="50292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937759"/>
            <a:ext cx="5029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72768" y="4873752"/>
            <a:ext cx="8961120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0" i="0">
                <a:solidFill>
                  <a:srgbClr val="1B2B3C"/>
                </a:solidFill>
                <a:latin typeface="Calibri"/>
              </a:rPr>
              <a:t>Let AI optimize within a designed system, not invent the system live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5815584"/>
            <a:ext cx="10012680" cy="347472"/>
          </a:xfrm>
          <a:prstGeom prst="rect">
            <a:avLst/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7552" y="5870448"/>
            <a:ext cx="960120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A1628"/>
                </a:solidFill>
                <a:latin typeface="Calibri"/>
              </a:rPr>
              <a:t>Operating takeaway: AI should accelerate implementation after the design boundaries are explicit.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AI System Design Briefing |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0A1628"/>
                </a:solidFill>
                <a:latin typeface="Calibri"/>
              </a:rPr>
              <a:t>Decision: ship AI apps on deliberate architecture, not vibes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33856"/>
            <a:ext cx="123444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71016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80" b="0" i="0">
                <a:solidFill>
                  <a:srgbClr val="5B6B7C"/>
                </a:solidFill>
                <a:latin typeface="Calibri"/>
              </a:rPr>
              <a:t>Client-ready checklist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057400"/>
            <a:ext cx="2606040" cy="2606040"/>
          </a:xfrm>
          <a:prstGeom prst="roundRect">
            <a:avLst>
              <a:gd name="adj" fmla="val 6000"/>
            </a:avLst>
          </a:prstGeom>
          <a:solidFill>
            <a:srgbClr val="E0F7F1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2258568"/>
            <a:ext cx="2276856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900" b="1" i="0">
                <a:solidFill>
                  <a:srgbClr val="0A1628"/>
                </a:solidFill>
                <a:latin typeface="Calibri"/>
              </a:rPr>
              <a:t>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825496"/>
            <a:ext cx="2276856" cy="1691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20" b="0" i="0">
                <a:solidFill>
                  <a:srgbClr val="1B2B3C"/>
                </a:solidFill>
                <a:latin typeface="Calibri"/>
              </a:rPr>
              <a:t>Does each tool reduce complexity the team would otherwise own?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47872" y="2057400"/>
            <a:ext cx="2606040" cy="2606040"/>
          </a:xfrm>
          <a:prstGeom prst="roundRect">
            <a:avLst>
              <a:gd name="adj" fmla="val 6000"/>
            </a:avLst>
          </a:prstGeom>
          <a:solidFill>
            <a:srgbClr val="FFF3D2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12463" y="2258568"/>
            <a:ext cx="2276856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900" b="1" i="0">
                <a:solidFill>
                  <a:srgbClr val="0A1628"/>
                </a:solidFill>
                <a:latin typeface="Calibri"/>
              </a:rPr>
              <a:t>Boundaries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12463" y="2825496"/>
            <a:ext cx="2276856" cy="1691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20" b="0" i="0">
                <a:solidFill>
                  <a:srgbClr val="1B2B3C"/>
                </a:solidFill>
                <a:latin typeface="Calibri"/>
              </a:rPr>
              <a:t>Can the system explain why each service exists?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9944" y="2057400"/>
            <a:ext cx="2606040" cy="260604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74536" y="2258568"/>
            <a:ext cx="2276856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900" b="1" i="0">
                <a:solidFill>
                  <a:srgbClr val="0A1628"/>
                </a:solidFill>
                <a:latin typeface="Calibri"/>
              </a:rPr>
              <a:t>Operations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74536" y="2825496"/>
            <a:ext cx="2276856" cy="1691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20" b="0" i="0">
                <a:solidFill>
                  <a:srgbClr val="1B2B3C"/>
                </a:solidFill>
                <a:latin typeface="Calibri"/>
              </a:rPr>
              <a:t>Can failures be observed, traced, and repaired quickly?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72016" y="2057400"/>
            <a:ext cx="2606040" cy="2606040"/>
          </a:xfrm>
          <a:prstGeom prst="roundRect">
            <a:avLst>
              <a:gd name="adj" fmla="val 6000"/>
            </a:avLst>
          </a:prstGeom>
          <a:solidFill>
            <a:srgbClr val="FFE6EA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36608" y="2258568"/>
            <a:ext cx="2276856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900" b="1" i="0">
                <a:solidFill>
                  <a:srgbClr val="0A1628"/>
                </a:solidFill>
                <a:latin typeface="Calibri"/>
              </a:rPr>
              <a:t>Economics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36608" y="2825496"/>
            <a:ext cx="2276856" cy="1691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20" b="0" i="0">
                <a:solidFill>
                  <a:srgbClr val="1B2B3C"/>
                </a:solidFill>
                <a:latin typeface="Calibri"/>
              </a:rPr>
              <a:t>Do costs match the current growth and learning stage?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AI System Design Briefing |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