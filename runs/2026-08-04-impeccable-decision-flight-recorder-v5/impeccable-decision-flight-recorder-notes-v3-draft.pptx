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decision: authorize a governed pilot, not broad adoption. The walkthrough demonstrates choice architecture, not measured business impact.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Separate observed mechanisms from the proposed decision. The three mechanisms justify testing, while every outcome claim remains unproven.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cost problem is directional debt. Fast generation has limited value when teams correct macro direction only after implementation begins.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interface state as proof of visible macro choice. Require a named owner and recorded rationale before variants are built.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feature count is incidental. Divergence produces value only when commitment gates stop rerolls and move the work forward.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narrow workflow can be the better choice. Generality raises differentiation and operator variance at the same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Route by change altitude. Live is for bounded detail; terminal work changes structure; references reopen direction.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 Mode is valuable after direction is accepted. Do not use faster local iteration to rationalize weak visual grammar.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reference is a controlled reset mechanism, not decoration. Record provenance and the grammar being borrowed.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Allocate reversible work to the system and irreversible judgment to accountable people: truth, direction, trade-offs, and release. Release requires an independent fresh-context human check; system detection is support, not adjudication.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design record can reduce reinvention, but it must be versioned and explicitly resettable so stale taste does not become policy.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translate workflow sophistication into outcome certainty. Productivity, usability, quality, and commercial effects remain pilot hypotheses.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inputs and operator profiles constant and blind downstream reviewers. Count major direction resets before acceptance as the primary endpoint.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three actions: name the owner, select the bounded task, and lock the scorecard before any showcase output is reviewed.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8F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100" b="1" i="0">
                <a:solidFill>
                  <a:srgbClr val="46E6FF"/>
                </a:solidFill>
                <a:latin typeface="Calibri"/>
              </a:rPr>
              <a:t>DECISION /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97280"/>
            <a:ext cx="7772400" cy="1828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</a:pPr>
            <a:r>
              <a:rPr sz="4800" b="1" i="0">
                <a:solidFill>
                  <a:srgbClr val="F4F7FF"/>
                </a:solidFill>
                <a:latin typeface="Calibri"/>
              </a:rPr>
              <a:t>PILOT THE
DECISION SYSTEM.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108960"/>
            <a:ext cx="768096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2500" b="1" i="0">
                <a:solidFill>
                  <a:srgbClr val="D8FF3E"/>
                </a:solidFill>
                <a:latin typeface="Calibri"/>
              </a:rPr>
              <a:t>NOT AUTONOMOUS TASTE.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041648"/>
            <a:ext cx="7040880" cy="1143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sz="1800" b="0" i="0">
                <a:solidFill>
                  <a:srgbClr val="A8B0C7"/>
                </a:solidFill>
                <a:latin typeface="Calibri"/>
              </a:rPr>
              <a:t>The walkthrough shows a stronger way to choose direction, compare alternatives, and recover from a wrong visual grammar. It does not prove faster delivery, higher usability, or business lift.</a:t>
            </a:r>
          </a:p>
        </p:txBody>
      </p:sp>
      <p:sp>
        <p:nvSpPr>
          <p:cNvPr id="8" name="Rectangle 7"/>
          <p:cNvSpPr/>
          <p:nvPr/>
        </p:nvSpPr>
        <p:spPr>
          <a:xfrm>
            <a:off x="8366760" y="713232"/>
            <a:ext cx="3127248" cy="5212080"/>
          </a:xfrm>
          <a:prstGeom prst="rect">
            <a:avLst/>
          </a:prstGeom>
          <a:solidFill>
            <a:srgbClr val="1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68512" y="105156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00" b="1" i="0">
                <a:solidFill>
                  <a:srgbClr val="FF5A5F"/>
                </a:solidFill>
                <a:latin typeface="Calibri"/>
              </a:rPr>
              <a:t>AUTHORIZATION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1080" y="1536192"/>
            <a:ext cx="2286000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4300" b="1" i="0">
                <a:solidFill>
                  <a:srgbClr val="F4F7FF"/>
                </a:solidFill>
                <a:latin typeface="Calibri"/>
              </a:rPr>
              <a:t>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68512" y="2359152"/>
            <a:ext cx="237744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2200" b="1" i="0">
                <a:solidFill>
                  <a:srgbClr val="D8FF3E"/>
                </a:solidFill>
                <a:latin typeface="Calibri"/>
              </a:rPr>
              <a:t>MATCHED-TASK
PILOT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68512" y="3794760"/>
            <a:ext cx="1554480" cy="50800"/>
          </a:xfrm>
          <a:prstGeom prst="rect">
            <a:avLst/>
          </a:prstGeom>
          <a:solidFill>
            <a:srgbClr val="46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296144" y="3794760"/>
            <a:ext cx="502920" cy="50800"/>
          </a:xfrm>
          <a:prstGeom prst="rect">
            <a:avLst/>
          </a:prstGeom>
          <a:solidFill>
            <a:srgbClr val="9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872216" y="3794760"/>
            <a:ext cx="320040" cy="50800"/>
          </a:xfrm>
          <a:prstGeom prst="rect">
            <a:avLst/>
          </a:prstGeom>
          <a:solidFill>
            <a:srgbClr val="FF5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68512" y="4224528"/>
            <a:ext cx="2331720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400" b="1" i="0">
                <a:solidFill>
                  <a:srgbClr val="F4F7FF"/>
                </a:solidFill>
                <a:latin typeface="Calibri"/>
              </a:rPr>
              <a:t>Hold the brief, proof, references, model budget, and acceptance criteria constant.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355080"/>
            <a:ext cx="530352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800" b="1" i="0">
                <a:solidFill>
                  <a:srgbClr val="A8B0C7"/>
                </a:solidFill>
                <a:latin typeface="Calibri"/>
              </a:rPr>
              <a:t>Observed demonstration + bounded analyst recommendation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2194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00" b="1" i="0">
                <a:solidFill>
                  <a:srgbClr val="46E6FF"/>
                </a:solidFill>
                <a:latin typeface="Calibri"/>
              </a:rPr>
              <a:t>EXECUTIVE READOUT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2800" b="1" i="0">
                <a:solidFill>
                  <a:srgbClr val="F4F7FF"/>
                </a:solidFill>
                <a:latin typeface="Calibri"/>
              </a:rPr>
              <a:t>Three demonstrated mechanisms justify one controlled test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11173968" cy="12700"/>
          </a:xfrm>
          <a:prstGeom prst="rect">
            <a:avLst/>
          </a:prstGeom>
          <a:solidFill>
            <a:srgbClr val="313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301752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800" b="1" i="0">
                <a:solidFill>
                  <a:srgbClr val="A8B0C7"/>
                </a:solidFill>
                <a:latin typeface="Calibri"/>
              </a:rPr>
              <a:t>ANALYST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6768" y="6428232"/>
            <a:ext cx="91440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sz="900" b="1" i="0">
                <a:solidFill>
                  <a:srgbClr val="A8B0C7"/>
                </a:solidFill>
                <a:latin typeface="Calibri"/>
              </a:rPr>
              <a:t>02  / 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72768"/>
            <a:ext cx="50292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800" b="1" i="0">
                <a:solidFill>
                  <a:srgbClr val="46E6FF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1572768"/>
            <a:ext cx="246888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200" b="1" i="0">
                <a:solidFill>
                  <a:srgbClr val="F4F7FF"/>
                </a:solidFill>
                <a:latin typeface="Calibri"/>
              </a:rPr>
              <a:t>WORLD SELECTION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536192"/>
            <a:ext cx="5166360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600" b="1" i="0">
                <a:solidFill>
                  <a:srgbClr val="F4F7FF"/>
                </a:solidFill>
                <a:latin typeface="Calibri"/>
              </a:rPr>
              <a:t>Macro direction becomes visible before implementation variants.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738360" y="1554480"/>
            <a:ext cx="1234440" cy="310896"/>
          </a:xfrm>
          <a:prstGeom prst="roundRect">
            <a:avLst>
              <a:gd name="adj" fmla="val 12000"/>
            </a:avLst>
          </a:prstGeom>
          <a:solidFill>
            <a:srgbClr val="46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38360" y="1627632"/>
            <a:ext cx="123444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900" b="1" i="0">
                <a:solidFill>
                  <a:srgbClr val="111629"/>
                </a:solidFill>
                <a:latin typeface="Calibri"/>
              </a:rPr>
              <a:t>OBSERVED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61872" y="2194560"/>
            <a:ext cx="9710928" cy="12700"/>
          </a:xfrm>
          <a:prstGeom prst="rect">
            <a:avLst/>
          </a:prstGeom>
          <a:solidFill>
            <a:srgbClr val="313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807208"/>
            <a:ext cx="50292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800" b="1" i="0">
                <a:solidFill>
                  <a:srgbClr val="9B7CFF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2807208"/>
            <a:ext cx="246888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200" b="1" i="0">
                <a:solidFill>
                  <a:srgbClr val="F4F7FF"/>
                </a:solidFill>
                <a:latin typeface="Calibri"/>
              </a:rPr>
              <a:t>BOUNDED COMPARISON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770632"/>
            <a:ext cx="5166360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600" b="1" i="0">
                <a:solidFill>
                  <a:srgbClr val="F4F7FF"/>
                </a:solidFill>
                <a:latin typeface="Calibri"/>
              </a:rPr>
              <a:t>Local alternatives can be generated, tuned, and accepted side by side.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38360" y="2788920"/>
            <a:ext cx="1234440" cy="310896"/>
          </a:xfrm>
          <a:prstGeom prst="roundRect">
            <a:avLst>
              <a:gd name="adj" fmla="val 12000"/>
            </a:avLst>
          </a:prstGeom>
          <a:solidFill>
            <a:srgbClr val="9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38360" y="2862072"/>
            <a:ext cx="123444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900" b="1" i="0">
                <a:solidFill>
                  <a:srgbClr val="111629"/>
                </a:solidFill>
                <a:latin typeface="Calibri"/>
              </a:rPr>
              <a:t>OBSERVED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61872" y="3429000"/>
            <a:ext cx="9710928" cy="12700"/>
          </a:xfrm>
          <a:prstGeom prst="rect">
            <a:avLst/>
          </a:prstGeom>
          <a:solidFill>
            <a:srgbClr val="313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041648"/>
            <a:ext cx="50292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800" b="1" i="0">
                <a:solidFill>
                  <a:srgbClr val="FF5A5F"/>
                </a:solidFill>
                <a:latin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61872" y="4041648"/>
            <a:ext cx="246888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200" b="1" i="0">
                <a:solidFill>
                  <a:srgbClr val="F4F7FF"/>
                </a:solidFill>
                <a:latin typeface="Calibri"/>
              </a:rPr>
              <a:t>REFERENCE RESET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4005072"/>
            <a:ext cx="5166360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600" b="1" i="0">
                <a:solidFill>
                  <a:srgbClr val="F4F7FF"/>
                </a:solidFill>
                <a:latin typeface="Calibri"/>
              </a:rPr>
              <a:t>A wrong visual grammar can trigger a deliberate macro departure.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38360" y="4023360"/>
            <a:ext cx="1234440" cy="310896"/>
          </a:xfrm>
          <a:prstGeom prst="roundRect">
            <a:avLst>
              <a:gd name="adj" fmla="val 12000"/>
            </a:avLst>
          </a:prstGeom>
          <a:solidFill>
            <a:srgbClr val="FF5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38360" y="4096512"/>
            <a:ext cx="123444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900" b="1" i="0">
                <a:solidFill>
                  <a:srgbClr val="111629"/>
                </a:solidFill>
                <a:latin typeface="Calibri"/>
              </a:rPr>
              <a:t>OBSERVED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61872" y="4663440"/>
            <a:ext cx="9710928" cy="12700"/>
          </a:xfrm>
          <a:prstGeom prst="rect">
            <a:avLst/>
          </a:prstGeom>
          <a:solidFill>
            <a:srgbClr val="313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4360" y="5321808"/>
            <a:ext cx="10972800" cy="713232"/>
          </a:xfrm>
          <a:prstGeom prst="rect">
            <a:avLst/>
          </a:prstGeom>
          <a:solidFill>
            <a:srgbClr val="D8F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" y="5522976"/>
            <a:ext cx="11430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100" b="1" i="0">
                <a:solidFill>
                  <a:srgbClr val="111629"/>
                </a:solidFill>
                <a:latin typeface="Calibri"/>
              </a:rPr>
              <a:t>DECISION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57400" y="5468112"/>
            <a:ext cx="896112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800" b="1" i="0">
                <a:solidFill>
                  <a:srgbClr val="111629"/>
                </a:solidFill>
                <a:latin typeface="Calibri"/>
              </a:rPr>
              <a:t>Test whether the workflow reduces major direction resets without quality or control regressions.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2194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00" b="1" i="0">
                <a:solidFill>
                  <a:srgbClr val="46E6FF"/>
                </a:solidFill>
                <a:latin typeface="Calibri"/>
              </a:rP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2800" b="1" i="0">
                <a:solidFill>
                  <a:srgbClr val="F4F7FF"/>
                </a:solidFill>
                <a:latin typeface="Calibri"/>
              </a:rPr>
              <a:t>A generic first draft moves the expensive decision downstream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11173968" cy="12700"/>
          </a:xfrm>
          <a:prstGeom prst="rect">
            <a:avLst/>
          </a:prstGeom>
          <a:solidFill>
            <a:srgbClr val="313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301752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800" b="1" i="0">
                <a:solidFill>
                  <a:srgbClr val="A8B0C7"/>
                </a:solidFill>
                <a:latin typeface="Calibri"/>
              </a:rPr>
              <a:t>ANALYST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6768" y="6428232"/>
            <a:ext cx="91440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sz="900" b="1" i="0">
                <a:solidFill>
                  <a:srgbClr val="A8B0C7"/>
                </a:solidFill>
                <a:latin typeface="Calibri"/>
              </a:rPr>
              <a:t>03  / 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4023360"/>
            <a:ext cx="2286000" cy="1051560"/>
          </a:xfrm>
          <a:prstGeom prst="rect">
            <a:avLst/>
          </a:prstGeom>
          <a:solidFill>
            <a:srgbClr val="46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3520440"/>
            <a:ext cx="196596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200" b="1" i="0">
                <a:solidFill>
                  <a:srgbClr val="111629"/>
                </a:solidFill>
                <a:latin typeface="Calibri"/>
              </a:rPr>
              <a:t>PROMPT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3822192"/>
            <a:ext cx="196596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500" b="1" i="0">
                <a:solidFill>
                  <a:srgbClr val="111629"/>
                </a:solidFill>
                <a:latin typeface="Calibri"/>
              </a:rPr>
              <a:t>Fast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4480560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2000" b="1" i="0">
                <a:solidFill>
                  <a:srgbClr val="FF5A5F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55848" y="3456432"/>
            <a:ext cx="2286000" cy="1618488"/>
          </a:xfrm>
          <a:prstGeom prst="rect">
            <a:avLst/>
          </a:prstGeom>
          <a:solidFill>
            <a:srgbClr val="9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2953512"/>
            <a:ext cx="196596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200" b="1" i="0">
                <a:solidFill>
                  <a:srgbClr val="F4F7FF"/>
                </a:solidFill>
                <a:latin typeface="Calibri"/>
              </a:rPr>
              <a:t>GENERIC PAGE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3255264"/>
            <a:ext cx="196596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500" b="1" i="0">
                <a:solidFill>
                  <a:srgbClr val="F4F7FF"/>
                </a:solidFill>
                <a:latin typeface="Calibri"/>
              </a:rPr>
              <a:t>Plausible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87568" y="4480560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2000" b="1" i="0">
                <a:solidFill>
                  <a:srgbClr val="FF5A5F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17336" y="2889505"/>
            <a:ext cx="2286000" cy="2185415"/>
          </a:xfrm>
          <a:prstGeom prst="rect">
            <a:avLst/>
          </a:prstGeom>
          <a:solidFill>
            <a:srgbClr val="FF5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81928" y="2386585"/>
            <a:ext cx="196596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200" b="1" i="0">
                <a:solidFill>
                  <a:srgbClr val="F4F7FF"/>
                </a:solidFill>
                <a:latin typeface="Calibri"/>
              </a:rPr>
              <a:t>DIRECTION DEBATE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1928" y="2688337"/>
            <a:ext cx="196596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500" b="1" i="0">
                <a:solidFill>
                  <a:srgbClr val="F4F7FF"/>
                </a:solidFill>
                <a:latin typeface="Calibri"/>
              </a:rPr>
              <a:t>Late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49056" y="4480560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2000" b="1" i="0">
                <a:solidFill>
                  <a:srgbClr val="FF5A5F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78824" y="2322576"/>
            <a:ext cx="2286000" cy="2752344"/>
          </a:xfrm>
          <a:prstGeom prst="rect">
            <a:avLst/>
          </a:prstGeom>
          <a:solidFill>
            <a:srgbClr val="111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43416" y="1819656"/>
            <a:ext cx="196596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200" b="1" i="0">
                <a:solidFill>
                  <a:srgbClr val="F4F7FF"/>
                </a:solidFill>
                <a:latin typeface="Calibri"/>
              </a:rPr>
              <a:t>REBUILD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43416" y="2121408"/>
            <a:ext cx="196596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500" b="1" i="0">
                <a:solidFill>
                  <a:srgbClr val="F4F7FF"/>
                </a:solidFill>
                <a:latin typeface="Calibri"/>
              </a:rPr>
              <a:t>Expensive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486400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2000" b="1" i="0">
                <a:solidFill>
                  <a:srgbClr val="111629"/>
                </a:solidFill>
                <a:latin typeface="Calibri"/>
              </a:rPr>
              <a:t>The workflow matters only if it makes macro direction explicit before teams accumulate implementation debt.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2194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00" b="1" i="0">
                <a:solidFill>
                  <a:srgbClr val="46E6FF"/>
                </a:solidFill>
                <a:latin typeface="Calibri"/>
              </a:rPr>
              <a:t>PROOF / WORLD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2800" b="1" i="0">
                <a:solidFill>
                  <a:srgbClr val="F4F7FF"/>
                </a:solidFill>
                <a:latin typeface="Calibri"/>
              </a:rPr>
              <a:t>Worlds turns ‘make it better’ into a visible macro decision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11173968" cy="12700"/>
          </a:xfrm>
          <a:prstGeom prst="rect">
            <a:avLst/>
          </a:prstGeom>
          <a:solidFill>
            <a:srgbClr val="313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301752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800" b="1" i="0">
                <a:solidFill>
                  <a:srgbClr val="A8B0C7"/>
                </a:solidFill>
                <a:latin typeface="Calibri"/>
              </a:rPr>
              <a:t>OBSERVED DEMONSTRATION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6768" y="6428232"/>
            <a:ext cx="91440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sz="900" b="1" i="0">
                <a:solidFill>
                  <a:srgbClr val="A8B0C7"/>
                </a:solidFill>
                <a:latin typeface="Calibri"/>
              </a:rPr>
              <a:t>04  /  14</a:t>
            </a:r>
          </a:p>
        </p:txBody>
      </p:sp>
      <p:pic>
        <p:nvPicPr>
          <p:cNvPr id="8" name="Picture 7" descr="world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72768"/>
            <a:ext cx="7315200" cy="41148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119872" y="1572768"/>
            <a:ext cx="3547872" cy="4553712"/>
          </a:xfrm>
          <a:prstGeom prst="rect">
            <a:avLst/>
          </a:prstGeom>
          <a:solidFill>
            <a:srgbClr val="1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394192" y="1901952"/>
            <a:ext cx="1234440" cy="310896"/>
          </a:xfrm>
          <a:prstGeom prst="roundRect">
            <a:avLst>
              <a:gd name="adj" fmla="val 12000"/>
            </a:avLst>
          </a:prstGeom>
          <a:solidFill>
            <a:srgbClr val="46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94192" y="1975104"/>
            <a:ext cx="123444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900" b="1" i="0">
                <a:solidFill>
                  <a:srgbClr val="111629"/>
                </a:solidFill>
                <a:latin typeface="Calibri"/>
              </a:rPr>
              <a:t>WHAT CHANGED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4192" y="2487168"/>
            <a:ext cx="2743200" cy="1234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2100" b="1" i="0">
                <a:solidFill>
                  <a:srgbClr val="F4F7FF"/>
                </a:solidFill>
                <a:latin typeface="Calibri"/>
              </a:rPr>
              <a:t>The visual grammar becomes a named choice before local variants are built.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4192" y="4133087"/>
            <a:ext cx="201168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00" b="1" i="0">
                <a:solidFill>
                  <a:srgbClr val="FF5A5F"/>
                </a:solidFill>
                <a:latin typeface="Calibri"/>
              </a:rPr>
              <a:t>Management implication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4192" y="4535424"/>
            <a:ext cx="2743200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500" b="1" i="0">
                <a:solidFill>
                  <a:srgbClr val="A8B0C7"/>
                </a:solidFill>
                <a:latin typeface="Calibri"/>
              </a:rPr>
              <a:t>Assign a direction owner and record why the selected world fits the audience and task.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2194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00" b="1" i="0">
                <a:solidFill>
                  <a:srgbClr val="46E6FF"/>
                </a:solidFill>
                <a:latin typeface="Calibri"/>
              </a:rPr>
              <a:t>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2800" b="1" i="0">
                <a:solidFill>
                  <a:srgbClr val="F4F7FF"/>
                </a:solidFill>
                <a:latin typeface="Calibri"/>
              </a:rPr>
              <a:t>Value comes from commitment—not from an endless menu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11173968" cy="12700"/>
          </a:xfrm>
          <a:prstGeom prst="rect">
            <a:avLst/>
          </a:prstGeom>
          <a:solidFill>
            <a:srgbClr val="313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301752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800" b="1" i="0">
                <a:solidFill>
                  <a:srgbClr val="A8B0C7"/>
                </a:solidFill>
                <a:latin typeface="Calibri"/>
              </a:rPr>
              <a:t>ANALYST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6768" y="6428232"/>
            <a:ext cx="91440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sz="900" b="1" i="0">
                <a:solidFill>
                  <a:srgbClr val="A8B0C7"/>
                </a:solidFill>
                <a:latin typeface="Calibri"/>
              </a:rPr>
              <a:t>05  / 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74519"/>
            <a:ext cx="2267712" cy="2359152"/>
          </a:xfrm>
          <a:prstGeom prst="rect">
            <a:avLst/>
          </a:prstGeom>
          <a:solidFill>
            <a:srgbClr val="1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2267712" cy="118872"/>
          </a:xfrm>
          <a:prstGeom prst="rect">
            <a:avLst/>
          </a:prstGeom>
          <a:solidFill>
            <a:srgbClr val="46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313432"/>
            <a:ext cx="1874519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700" b="1" i="0">
                <a:solidFill>
                  <a:srgbClr val="46E6FF"/>
                </a:solidFill>
                <a:latin typeface="Calibri"/>
              </a:rPr>
              <a:t>DIVERGE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52928"/>
            <a:ext cx="1828800" cy="868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600" b="1" i="0">
                <a:solidFill>
                  <a:srgbClr val="F4F7FF"/>
                </a:solidFill>
                <a:latin typeface="Calibri"/>
              </a:rPr>
              <a:t>Expose genuinely different worlds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9504" y="2743200"/>
            <a:ext cx="384048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2400" b="1" i="0">
                <a:solidFill>
                  <a:srgbClr val="A8B0C7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46704" y="1874519"/>
            <a:ext cx="2267712" cy="2359152"/>
          </a:xfrm>
          <a:prstGeom prst="rect">
            <a:avLst/>
          </a:prstGeom>
          <a:solidFill>
            <a:srgbClr val="1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46704" y="1874519"/>
            <a:ext cx="2267712" cy="118872"/>
          </a:xfrm>
          <a:prstGeom prst="rect">
            <a:avLst/>
          </a:prstGeom>
          <a:solidFill>
            <a:srgbClr val="D8F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9584" y="2313432"/>
            <a:ext cx="1874519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700" b="1" i="0">
                <a:solidFill>
                  <a:srgbClr val="D8FF3E"/>
                </a:solidFill>
                <a:latin typeface="Calibri"/>
              </a:rPr>
              <a:t>COMMIT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9584" y="2852928"/>
            <a:ext cx="1828800" cy="868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600" b="1" i="0">
                <a:solidFill>
                  <a:srgbClr val="F4F7FF"/>
                </a:solidFill>
                <a:latin typeface="Calibri"/>
              </a:rPr>
              <a:t>Name the owner and exit rule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87568" y="2743200"/>
            <a:ext cx="384048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2400" b="1" i="0">
                <a:solidFill>
                  <a:srgbClr val="A8B0C7"/>
                </a:solidFill>
                <a:latin typeface="Calibr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4768" y="1874519"/>
            <a:ext cx="2267712" cy="2359152"/>
          </a:xfrm>
          <a:prstGeom prst="rect">
            <a:avLst/>
          </a:prstGeom>
          <a:solidFill>
            <a:srgbClr val="1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44768" y="1874519"/>
            <a:ext cx="2267712" cy="118872"/>
          </a:xfrm>
          <a:prstGeom prst="rect">
            <a:avLst/>
          </a:prstGeom>
          <a:solidFill>
            <a:srgbClr val="9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27648" y="2313432"/>
            <a:ext cx="1874519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700" b="1" i="0">
                <a:solidFill>
                  <a:srgbClr val="9B7CFF"/>
                </a:solidFill>
                <a:latin typeface="Calibri"/>
              </a:rPr>
              <a:t>CONVERGE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2852928"/>
            <a:ext cx="1828800" cy="868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600" b="1" i="0">
                <a:solidFill>
                  <a:srgbClr val="F4F7FF"/>
                </a:solidFill>
                <a:latin typeface="Calibri"/>
              </a:rPr>
              <a:t>Compare bounded local variants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85632" y="2743200"/>
            <a:ext cx="384048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2400" b="1" i="0">
                <a:solidFill>
                  <a:srgbClr val="A8B0C7"/>
                </a:solidFill>
                <a:latin typeface="Calibri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42832" y="1874519"/>
            <a:ext cx="2267712" cy="2359152"/>
          </a:xfrm>
          <a:prstGeom prst="rect">
            <a:avLst/>
          </a:prstGeom>
          <a:solidFill>
            <a:srgbClr val="1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42832" y="1874519"/>
            <a:ext cx="2267712" cy="118872"/>
          </a:xfrm>
          <a:prstGeom prst="rect">
            <a:avLst/>
          </a:prstGeom>
          <a:solidFill>
            <a:srgbClr val="FF5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25712" y="2313432"/>
            <a:ext cx="1874519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700" b="1" i="0">
                <a:solidFill>
                  <a:srgbClr val="FF5A5F"/>
                </a:solidFill>
                <a:latin typeface="Calibri"/>
              </a:rPr>
              <a:t>RELEASE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25712" y="2852928"/>
            <a:ext cx="1828800" cy="868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600" b="1" i="0">
                <a:solidFill>
                  <a:srgbClr val="F4F7FF"/>
                </a:solidFill>
                <a:latin typeface="Calibri"/>
              </a:rPr>
              <a:t>Challenge, approve, record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4937760"/>
            <a:ext cx="2011680" cy="50800"/>
          </a:xfrm>
          <a:prstGeom prst="rect">
            <a:avLst/>
          </a:prstGeom>
          <a:solidFill>
            <a:srgbClr val="46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679192" y="4937760"/>
            <a:ext cx="2926080" cy="50800"/>
          </a:xfrm>
          <a:prstGeom prst="rect">
            <a:avLst/>
          </a:prstGeom>
          <a:solidFill>
            <a:srgbClr val="D8F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78424" y="4937760"/>
            <a:ext cx="1828800" cy="50800"/>
          </a:xfrm>
          <a:prstGeom prst="rect">
            <a:avLst/>
          </a:prstGeom>
          <a:solidFill>
            <a:srgbClr val="9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580376" y="4937760"/>
            <a:ext cx="3200400" cy="50800"/>
          </a:xfrm>
          <a:prstGeom prst="rect">
            <a:avLst/>
          </a:prstGeom>
          <a:solidFill>
            <a:srgbClr val="FF5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5321808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2000" b="1" i="0">
                <a:solidFill>
                  <a:srgbClr val="F4F7FF"/>
                </a:solidFill>
                <a:latin typeface="Calibri"/>
              </a:rPr>
              <a:t>Divergence earns its keep only when the process can stop, decide, and move forward.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2194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00" b="1" i="0">
                <a:solidFill>
                  <a:srgbClr val="46E6FF"/>
                </a:solidFill>
                <a:latin typeface="Calibri"/>
              </a:rPr>
              <a:t>TRADE-OFF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2800" b="1" i="0">
                <a:solidFill>
                  <a:srgbClr val="F4F7FF"/>
                </a:solidFill>
                <a:latin typeface="Calibri"/>
              </a:rPr>
              <a:t>A higher creative ceiling shifts more risk to the operator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11173968" cy="12700"/>
          </a:xfrm>
          <a:prstGeom prst="rect">
            <a:avLst/>
          </a:prstGeom>
          <a:solidFill>
            <a:srgbClr val="313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301752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800" b="1" i="0">
                <a:solidFill>
                  <a:srgbClr val="A8B0C7"/>
                </a:solidFill>
                <a:latin typeface="Calibri"/>
              </a:rPr>
              <a:t>ANALYST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6768" y="6428232"/>
            <a:ext cx="91440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sz="900" b="1" i="0">
                <a:solidFill>
                  <a:srgbClr val="A8B0C7"/>
                </a:solidFill>
                <a:latin typeface="Calibri"/>
              </a:rPr>
              <a:t>06  / 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627632"/>
            <a:ext cx="5138928" cy="4343400"/>
          </a:xfrm>
          <a:prstGeom prst="rect">
            <a:avLst/>
          </a:prstGeom>
          <a:solidFill>
            <a:srgbClr val="E8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61888" y="1627632"/>
            <a:ext cx="5705856" cy="43434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65960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100" b="1" i="0">
                <a:solidFill>
                  <a:srgbClr val="9B7CFF"/>
                </a:solidFill>
                <a:latin typeface="Calibri"/>
              </a:rPr>
              <a:t>NARROW STYLE SKILL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87168"/>
            <a:ext cx="429768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2800" b="1" i="0">
                <a:solidFill>
                  <a:srgbClr val="111629"/>
                </a:solidFill>
                <a:latin typeface="Calibri"/>
              </a:rPr>
              <a:t>HIGHER FLOOR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291840"/>
            <a:ext cx="4114800" cy="1280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</a:pPr>
            <a:r>
              <a:rPr sz="1900" b="1" i="0">
                <a:solidFill>
                  <a:srgbClr val="111629"/>
                </a:solidFill>
                <a:latin typeface="Calibri"/>
              </a:rPr>
              <a:t>Predictable novelty
Narrower aesthetic range
Lower judgment burden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7648" y="196596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100" b="1" i="0">
                <a:solidFill>
                  <a:srgbClr val="D8FF3E"/>
                </a:solidFill>
                <a:latin typeface="Calibri"/>
              </a:rPr>
              <a:t>IMPECCABLE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2487168"/>
            <a:ext cx="448056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2800" b="1" i="0">
                <a:solidFill>
                  <a:srgbClr val="F4F7FF"/>
                </a:solidFill>
                <a:latin typeface="Calibri"/>
              </a:rPr>
              <a:t>HIGHER CEILING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3291840"/>
            <a:ext cx="4297680" cy="1280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</a:pPr>
            <a:r>
              <a:rPr sz="1900" b="1" i="0">
                <a:solidFill>
                  <a:srgbClr val="F4F7FF"/>
                </a:solidFill>
                <a:latin typeface="Calibri"/>
              </a:rPr>
              <a:t>Broader differentiation
Greater operator variance
Higher governance need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577840"/>
            <a:ext cx="1078992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700" b="1" i="0">
                <a:solidFill>
                  <a:srgbClr val="FF5A5F"/>
                </a:solidFill>
                <a:latin typeface="Calibri"/>
              </a:rPr>
              <a:t>Use the conventional workflow when evidence is weak, the surface is standardized, or review capacity is limited.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2194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00" b="1" i="0">
                <a:solidFill>
                  <a:srgbClr val="46E6FF"/>
                </a:solidFill>
                <a:latin typeface="Calibri"/>
              </a:rPr>
              <a:t>ROUTING RULE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2800" b="1" i="0">
                <a:solidFill>
                  <a:srgbClr val="F4F7FF"/>
                </a:solidFill>
                <a:latin typeface="Calibri"/>
              </a:rPr>
              <a:t>Change radius—not tool preference—should route the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11173968" cy="12700"/>
          </a:xfrm>
          <a:prstGeom prst="rect">
            <a:avLst/>
          </a:prstGeom>
          <a:solidFill>
            <a:srgbClr val="313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301752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800" b="1" i="0">
                <a:solidFill>
                  <a:srgbClr val="A8B0C7"/>
                </a:solidFill>
                <a:latin typeface="Calibri"/>
              </a:rPr>
              <a:t>ANALYST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6768" y="6428232"/>
            <a:ext cx="91440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sz="900" b="1" i="0">
                <a:solidFill>
                  <a:srgbClr val="A8B0C7"/>
                </a:solidFill>
                <a:latin typeface="Calibri"/>
              </a:rPr>
              <a:t>07  / 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554480"/>
            <a:ext cx="393192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100" b="1" i="0">
                <a:solidFill>
                  <a:srgbClr val="A8B0C7"/>
                </a:solidFill>
                <a:latin typeface="Calibri"/>
              </a:rPr>
              <a:t>DIRECTION CONFIDENCE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1828800"/>
            <a:ext cx="201168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000" b="1" i="0">
                <a:solidFill>
                  <a:srgbClr val="FF5A5F"/>
                </a:solidFill>
                <a:latin typeface="Calibri"/>
              </a:rPr>
              <a:t>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1828800"/>
            <a:ext cx="201168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000" b="1" i="0">
                <a:solidFill>
                  <a:srgbClr val="D8FF3E"/>
                </a:solidFill>
                <a:latin typeface="Calibri"/>
              </a:rPr>
              <a:t>HIGH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560320"/>
            <a:ext cx="109728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100" b="1" i="0">
                <a:solidFill>
                  <a:srgbClr val="A8B0C7"/>
                </a:solidFill>
                <a:latin typeface="Calibri"/>
              </a:rPr>
              <a:t>LARGE
CHANGE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526280"/>
            <a:ext cx="109728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100" b="1" i="0">
                <a:solidFill>
                  <a:srgbClr val="A8B0C7"/>
                </a:solidFill>
                <a:latin typeface="Calibri"/>
              </a:rPr>
              <a:t>SMALL
CHANGE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20240" y="2194560"/>
            <a:ext cx="3749039" cy="1417320"/>
          </a:xfrm>
          <a:prstGeom prst="rect">
            <a:avLst/>
          </a:prstGeom>
          <a:solidFill>
            <a:srgbClr val="1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20240" y="2194560"/>
            <a:ext cx="128016" cy="1417320"/>
          </a:xfrm>
          <a:prstGeom prst="rect">
            <a:avLst/>
          </a:prstGeom>
          <a:solidFill>
            <a:srgbClr val="FF5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12848" y="2450592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600" b="1" i="0">
                <a:solidFill>
                  <a:srgbClr val="FF5A5F"/>
                </a:solidFill>
                <a:latin typeface="Calibri"/>
              </a:rPr>
              <a:t>REFERENCE RESET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12848" y="2944368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400" b="1" i="0">
                <a:solidFill>
                  <a:srgbClr val="F4F7FF"/>
                </a:solidFill>
                <a:latin typeface="Calibri"/>
              </a:rPr>
              <a:t>Reopen visual grammar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2194560"/>
            <a:ext cx="3749039" cy="1417320"/>
          </a:xfrm>
          <a:prstGeom prst="rect">
            <a:avLst/>
          </a:prstGeom>
          <a:solidFill>
            <a:srgbClr val="1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2194560"/>
            <a:ext cx="128016" cy="1417320"/>
          </a:xfrm>
          <a:prstGeom prst="rect">
            <a:avLst/>
          </a:prstGeom>
          <a:solidFill>
            <a:srgbClr val="46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93408" y="2450592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600" b="1" i="0">
                <a:solidFill>
                  <a:srgbClr val="46E6FF"/>
                </a:solidFill>
                <a:latin typeface="Calibri"/>
              </a:rPr>
              <a:t>TERMINAL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93408" y="2944368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400" b="1" i="0">
                <a:solidFill>
                  <a:srgbClr val="F4F7FF"/>
                </a:solidFill>
                <a:latin typeface="Calibri"/>
              </a:rPr>
              <a:t>Change structure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20240" y="4160520"/>
            <a:ext cx="3749039" cy="1417320"/>
          </a:xfrm>
          <a:prstGeom prst="rect">
            <a:avLst/>
          </a:prstGeom>
          <a:solidFill>
            <a:srgbClr val="1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920240" y="4160520"/>
            <a:ext cx="128016" cy="1417320"/>
          </a:xfrm>
          <a:prstGeom prst="rect">
            <a:avLst/>
          </a:prstGeom>
          <a:solidFill>
            <a:srgbClr val="9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12848" y="4416552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600" b="1" i="0">
                <a:solidFill>
                  <a:srgbClr val="9B7CFF"/>
                </a:solidFill>
                <a:latin typeface="Calibri"/>
              </a:rPr>
              <a:t>STOP POLISHING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12848" y="4910328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400" b="1" i="0">
                <a:solidFill>
                  <a:srgbClr val="F4F7FF"/>
                </a:solidFill>
                <a:latin typeface="Calibri"/>
              </a:rPr>
              <a:t>Clarify direction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4160520"/>
            <a:ext cx="3749039" cy="1417320"/>
          </a:xfrm>
          <a:prstGeom prst="rect">
            <a:avLst/>
          </a:prstGeom>
          <a:solidFill>
            <a:srgbClr val="1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4160520"/>
            <a:ext cx="128016" cy="1417320"/>
          </a:xfrm>
          <a:prstGeom prst="rect">
            <a:avLst/>
          </a:prstGeom>
          <a:solidFill>
            <a:srgbClr val="D8F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93408" y="4416552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600" b="1" i="0">
                <a:solidFill>
                  <a:srgbClr val="D8FF3E"/>
                </a:solidFill>
                <a:latin typeface="Calibri"/>
              </a:rPr>
              <a:t>LIVE MODE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93408" y="4910328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400" b="1" i="0">
                <a:solidFill>
                  <a:srgbClr val="F4F7FF"/>
                </a:solidFill>
                <a:latin typeface="Calibri"/>
              </a:rPr>
              <a:t>Compare local variants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2194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00" b="1" i="0">
                <a:solidFill>
                  <a:srgbClr val="46E6FF"/>
                </a:solidFill>
                <a:latin typeface="Calibri"/>
              </a:rPr>
              <a:t>PROOF / LOCAL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2800" b="1" i="0">
                <a:solidFill>
                  <a:srgbClr val="F4F7FF"/>
                </a:solidFill>
                <a:latin typeface="Calibri"/>
              </a:rPr>
              <a:t>Live Mode compresses a bounded compare–tune–accept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11173968" cy="12700"/>
          </a:xfrm>
          <a:prstGeom prst="rect">
            <a:avLst/>
          </a:prstGeom>
          <a:solidFill>
            <a:srgbClr val="313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301752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800" b="1" i="0">
                <a:solidFill>
                  <a:srgbClr val="A8B0C7"/>
                </a:solidFill>
                <a:latin typeface="Calibri"/>
              </a:rPr>
              <a:t>OBSERVED DEMONSTRATION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6768" y="6428232"/>
            <a:ext cx="91440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sz="900" b="1" i="0">
                <a:solidFill>
                  <a:srgbClr val="A8B0C7"/>
                </a:solidFill>
                <a:latin typeface="Calibri"/>
              </a:rPr>
              <a:t>08  / 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572768"/>
            <a:ext cx="3291840" cy="4553712"/>
          </a:xfrm>
          <a:prstGeom prst="rect">
            <a:avLst/>
          </a:prstGeom>
          <a:solidFill>
            <a:srgbClr val="1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4672" y="1901952"/>
            <a:ext cx="1234440" cy="310896"/>
          </a:xfrm>
          <a:prstGeom prst="roundRect">
            <a:avLst>
              <a:gd name="adj" fmla="val 12000"/>
            </a:avLst>
          </a:prstGeom>
          <a:solidFill>
            <a:srgbClr val="9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75104"/>
            <a:ext cx="123444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900" b="1" i="0">
                <a:solidFill>
                  <a:srgbClr val="111629"/>
                </a:solidFill>
                <a:latin typeface="Calibri"/>
              </a:rPr>
              <a:t>BOUNDARY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487168"/>
            <a:ext cx="2606040" cy="10515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2200" b="1" i="0">
                <a:solidFill>
                  <a:srgbClr val="F4F7FF"/>
                </a:solidFill>
                <a:latin typeface="Calibri"/>
              </a:rPr>
              <a:t>Use Live only after the macro direction is accepted.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840480"/>
            <a:ext cx="2651760" cy="1234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</a:pPr>
            <a:r>
              <a:rPr sz="1500" b="1" i="0">
                <a:solidFill>
                  <a:srgbClr val="A8B0C7"/>
                </a:solidFill>
                <a:latin typeface="Calibri"/>
              </a:rPr>
              <a:t>Detail wrong → Live
Structure wrong → terminal
Direction wrong → reference reset</a:t>
            </a:r>
          </a:p>
        </p:txBody>
      </p:sp>
      <p:pic>
        <p:nvPicPr>
          <p:cNvPr id="13" name="Picture 12" descr="live-comparis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6512" y="1572768"/>
            <a:ext cx="7543800" cy="424338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2194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00" b="1" i="0">
                <a:solidFill>
                  <a:srgbClr val="46E6FF"/>
                </a:solidFill>
                <a:latin typeface="Calibri"/>
              </a:rPr>
              <a:t>PROOF / DIRECTION RESET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2800" b="1" i="0">
                <a:solidFill>
                  <a:srgbClr val="F4F7FF"/>
                </a:solidFill>
                <a:latin typeface="Calibri"/>
              </a:rPr>
              <a:t>A wrong visual grammar requires a reference reset—not more polish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11173968" cy="12700"/>
          </a:xfrm>
          <a:prstGeom prst="rect">
            <a:avLst/>
          </a:prstGeom>
          <a:solidFill>
            <a:srgbClr val="313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301752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800" b="1" i="0">
                <a:solidFill>
                  <a:srgbClr val="A8B0C7"/>
                </a:solidFill>
                <a:latin typeface="Calibri"/>
              </a:rPr>
              <a:t>OBSERVED DEMONSTRATION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6768" y="6428232"/>
            <a:ext cx="91440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sz="900" b="1" i="0">
                <a:solidFill>
                  <a:srgbClr val="A8B0C7"/>
                </a:solidFill>
                <a:latin typeface="Calibri"/>
              </a:rPr>
              <a:t>09  /  14</a:t>
            </a:r>
          </a:p>
        </p:txBody>
      </p:sp>
      <p:pic>
        <p:nvPicPr>
          <p:cNvPr id="8" name="Picture 7" descr="referenc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72768"/>
            <a:ext cx="7589520" cy="426910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394192" y="1572768"/>
            <a:ext cx="3273552" cy="4553712"/>
          </a:xfrm>
          <a:prstGeom prst="rect">
            <a:avLst/>
          </a:prstGeom>
          <a:solidFill>
            <a:srgbClr val="1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0" y="1901952"/>
            <a:ext cx="1234440" cy="310896"/>
          </a:xfrm>
          <a:prstGeom prst="roundRect">
            <a:avLst>
              <a:gd name="adj" fmla="val 12000"/>
            </a:avLst>
          </a:prstGeom>
          <a:solidFill>
            <a:srgbClr val="FF5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0" y="1975104"/>
            <a:ext cx="123444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900" b="1" i="0">
                <a:solidFill>
                  <a:srgbClr val="111629"/>
                </a:solidFill>
                <a:latin typeface="Calibri"/>
              </a:rPr>
              <a:t>ESCALATION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2487168"/>
            <a:ext cx="2560320" cy="1234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2100" b="1" i="0">
                <a:solidFill>
                  <a:srgbClr val="F4F7FF"/>
                </a:solidFill>
                <a:latin typeface="Calibri"/>
              </a:rPr>
              <a:t>References reopen the macro decision when incremental refinement stalls.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4160520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00" b="1" i="0">
                <a:solidFill>
                  <a:srgbClr val="46E6FF"/>
                </a:solidFill>
                <a:latin typeface="Calibri"/>
              </a:rPr>
              <a:t>Control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4526280"/>
            <a:ext cx="2560320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500" b="1" i="0">
                <a:solidFill>
                  <a:srgbClr val="A8B0C7"/>
                </a:solidFill>
                <a:latin typeface="Calibri"/>
              </a:rPr>
              <a:t>Record provenance and the specific design grammar being borrowed.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2194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00" b="1" i="0">
                <a:solidFill>
                  <a:srgbClr val="46E6FF"/>
                </a:solidFill>
                <a:latin typeface="Calibri"/>
              </a:rPr>
              <a:t>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2800" b="1" i="0">
                <a:solidFill>
                  <a:srgbClr val="F4F7FF"/>
                </a:solidFill>
                <a:latin typeface="Calibri"/>
              </a:rPr>
              <a:t>Humans own four irreversible decisions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11173968" cy="12700"/>
          </a:xfrm>
          <a:prstGeom prst="rect">
            <a:avLst/>
          </a:prstGeom>
          <a:solidFill>
            <a:srgbClr val="313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301752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800" b="1" i="0">
                <a:solidFill>
                  <a:srgbClr val="A8B0C7"/>
                </a:solidFill>
                <a:latin typeface="Calibri"/>
              </a:rPr>
              <a:t>ANALYST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6768" y="6428232"/>
            <a:ext cx="91440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sz="900" b="1" i="0">
                <a:solidFill>
                  <a:srgbClr val="A8B0C7"/>
                </a:solidFill>
                <a:latin typeface="Calibri"/>
              </a:rPr>
              <a:t>10  / 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27632"/>
            <a:ext cx="2487168" cy="749808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856231"/>
            <a:ext cx="214884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200" b="1" i="0">
                <a:solidFill>
                  <a:srgbClr val="F4F7FF"/>
                </a:solidFill>
                <a:latin typeface="Calibri"/>
              </a:rPr>
              <a:t>FRAME TRUTH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97480"/>
            <a:ext cx="219456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00" b="1" i="0">
                <a:solidFill>
                  <a:srgbClr val="FF5A5F"/>
                </a:solidFill>
                <a:latin typeface="Calibri"/>
              </a:rPr>
              <a:t>HUMAN OWNS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090672"/>
            <a:ext cx="2176272" cy="731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700" b="1" i="0">
                <a:solidFill>
                  <a:srgbClr val="111629"/>
                </a:solidFill>
                <a:latin typeface="Calibri"/>
              </a:rPr>
              <a:t>Audience, evidence, constraints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005072"/>
            <a:ext cx="2487168" cy="25400"/>
          </a:xfrm>
          <a:prstGeom prst="rect">
            <a:avLst/>
          </a:prstGeom>
          <a:solidFill>
            <a:srgbClr val="313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315968"/>
            <a:ext cx="219456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00" b="1" i="0">
                <a:solidFill>
                  <a:srgbClr val="248A73"/>
                </a:solidFill>
                <a:latin typeface="Calibri"/>
              </a:rPr>
              <a:t>SYSTEM SUPPORTS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709160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600" b="1" i="0">
                <a:solidFill>
                  <a:srgbClr val="175B4D"/>
                </a:solidFill>
                <a:latin typeface="Calibri"/>
              </a:rPr>
              <a:t>Structure the brief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39" y="1627632"/>
            <a:ext cx="2487168" cy="749808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56431" y="1856231"/>
            <a:ext cx="214884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200" b="1" i="0">
                <a:solidFill>
                  <a:srgbClr val="F4F7FF"/>
                </a:solidFill>
                <a:latin typeface="Calibri"/>
              </a:rPr>
              <a:t>COMMIT DIRECTION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8999" y="2697480"/>
            <a:ext cx="219456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00" b="1" i="0">
                <a:solidFill>
                  <a:srgbClr val="FF5A5F"/>
                </a:solidFill>
                <a:latin typeface="Calibri"/>
              </a:rPr>
              <a:t>HUMAN OWNS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8999" y="3090672"/>
            <a:ext cx="2176272" cy="731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700" b="1" i="0">
                <a:solidFill>
                  <a:srgbClr val="111629"/>
                </a:solidFill>
                <a:latin typeface="Calibri"/>
              </a:rPr>
              <a:t>Visual grammar and rationale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91839" y="4005072"/>
            <a:ext cx="2487168" cy="25400"/>
          </a:xfrm>
          <a:prstGeom prst="rect">
            <a:avLst/>
          </a:prstGeom>
          <a:solidFill>
            <a:srgbClr val="313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28999" y="4315968"/>
            <a:ext cx="219456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00" b="1" i="0">
                <a:solidFill>
                  <a:srgbClr val="248A73"/>
                </a:solidFill>
                <a:latin typeface="Calibri"/>
              </a:rPr>
              <a:t>SYSTEM SUPPORTS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8999" y="4709160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600" b="1" i="0">
                <a:solidFill>
                  <a:srgbClr val="175B4D"/>
                </a:solidFill>
                <a:latin typeface="Calibri"/>
              </a:rPr>
              <a:t>Expand options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80759" y="1627632"/>
            <a:ext cx="2487168" cy="749808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45351" y="1856231"/>
            <a:ext cx="214884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200" b="1" i="0">
                <a:solidFill>
                  <a:srgbClr val="F4F7FF"/>
                </a:solidFill>
                <a:latin typeface="Calibri"/>
              </a:rPr>
              <a:t>RESOLVE TRADE-OFFS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19" y="2697480"/>
            <a:ext cx="219456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00" b="1" i="0">
                <a:solidFill>
                  <a:srgbClr val="FF5A5F"/>
                </a:solidFill>
                <a:latin typeface="Calibri"/>
              </a:rPr>
              <a:t>HUMAN OWNS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19" y="3090672"/>
            <a:ext cx="2176272" cy="731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700" b="1" i="0">
                <a:solidFill>
                  <a:srgbClr val="111629"/>
                </a:solidFill>
                <a:latin typeface="Calibri"/>
              </a:rPr>
              <a:t>Competing priorities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80759" y="4005072"/>
            <a:ext cx="2487168" cy="25400"/>
          </a:xfrm>
          <a:prstGeom prst="rect">
            <a:avLst/>
          </a:prstGeom>
          <a:solidFill>
            <a:srgbClr val="313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19" y="4315968"/>
            <a:ext cx="219456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00" b="1" i="0">
                <a:solidFill>
                  <a:srgbClr val="248A73"/>
                </a:solidFill>
                <a:latin typeface="Calibri"/>
              </a:rPr>
              <a:t>SYSTEM SUPPORTS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19" y="4709160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600" b="1" i="0">
                <a:solidFill>
                  <a:srgbClr val="175B4D"/>
                </a:solidFill>
                <a:latin typeface="Calibri"/>
              </a:rPr>
              <a:t>Generate + compare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69680" y="1627632"/>
            <a:ext cx="2487168" cy="749808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34272" y="1856231"/>
            <a:ext cx="214884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200" b="1" i="0">
                <a:solidFill>
                  <a:srgbClr val="F4F7FF"/>
                </a:solidFill>
                <a:latin typeface="Calibri"/>
              </a:rPr>
              <a:t>APPROVE RELEASE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6840" y="2697480"/>
            <a:ext cx="219456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00" b="1" i="0">
                <a:solidFill>
                  <a:srgbClr val="FF5A5F"/>
                </a:solidFill>
                <a:latin typeface="Calibri"/>
              </a:rPr>
              <a:t>HUMAN OWNS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06840" y="3090672"/>
            <a:ext cx="2176272" cy="731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700" b="1" i="0">
                <a:solidFill>
                  <a:srgbClr val="111629"/>
                </a:solidFill>
                <a:latin typeface="Calibri"/>
              </a:rPr>
              <a:t>Independent fresh-context check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69680" y="4005072"/>
            <a:ext cx="2487168" cy="25400"/>
          </a:xfrm>
          <a:prstGeom prst="rect">
            <a:avLst/>
          </a:prstGeom>
          <a:solidFill>
            <a:srgbClr val="313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06840" y="4315968"/>
            <a:ext cx="219456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00" b="1" i="0">
                <a:solidFill>
                  <a:srgbClr val="248A73"/>
                </a:solidFill>
                <a:latin typeface="Calibri"/>
              </a:rPr>
              <a:t>SYSTEM SUPPORTS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06840" y="4709160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600" b="1" i="0">
                <a:solidFill>
                  <a:srgbClr val="175B4D"/>
                </a:solidFill>
                <a:latin typeface="Calibri"/>
              </a:rPr>
              <a:t>Detect + record exceptions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5760720"/>
            <a:ext cx="11155680" cy="411480"/>
          </a:xfrm>
          <a:prstGeom prst="rect">
            <a:avLst/>
          </a:prstGeom>
          <a:solidFill>
            <a:srgbClr val="D8F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5861304"/>
            <a:ext cx="1078992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200" b="1" i="0">
                <a:solidFill>
                  <a:srgbClr val="111629"/>
                </a:solidFill>
                <a:latin typeface="Calibri"/>
              </a:rPr>
              <a:t>AUTOMATE REVERSIBLE WORK. REQUIRE A FRESH-CONTEXT HUMAN CHECK BEFORE RELEASE.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2194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00" b="1" i="0">
                <a:solidFill>
                  <a:srgbClr val="46E6FF"/>
                </a:solidFill>
                <a:latin typeface="Calibri"/>
              </a:rPr>
              <a:t>ORGANIZATIONAL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2800" b="1" i="0">
                <a:solidFill>
                  <a:srgbClr val="F4F7FF"/>
                </a:solidFill>
                <a:latin typeface="Calibri"/>
              </a:rPr>
              <a:t>Accepted decisions matter only when they constrain the next cycle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11173968" cy="12700"/>
          </a:xfrm>
          <a:prstGeom prst="rect">
            <a:avLst/>
          </a:prstGeom>
          <a:solidFill>
            <a:srgbClr val="313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301752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800" b="1" i="0">
                <a:solidFill>
                  <a:srgbClr val="A8B0C7"/>
                </a:solidFill>
                <a:latin typeface="Calibri"/>
              </a:rPr>
              <a:t>ANALYST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6768" y="6428232"/>
            <a:ext cx="91440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sz="900" b="1" i="0">
                <a:solidFill>
                  <a:srgbClr val="A8B0C7"/>
                </a:solidFill>
                <a:latin typeface="Calibri"/>
              </a:rPr>
              <a:t>11  / 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084831"/>
            <a:ext cx="2148840" cy="1325880"/>
          </a:xfrm>
          <a:prstGeom prst="rect">
            <a:avLst/>
          </a:prstGeom>
          <a:solidFill>
            <a:srgbClr val="1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2084831"/>
            <a:ext cx="2148840" cy="109728"/>
          </a:xfrm>
          <a:prstGeom prst="rect">
            <a:avLst/>
          </a:prstGeom>
          <a:solidFill>
            <a:srgbClr val="46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2487168"/>
            <a:ext cx="214884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700" b="1" i="0">
                <a:solidFill>
                  <a:srgbClr val="46E6FF"/>
                </a:solidFill>
                <a:latin typeface="Calibri"/>
              </a:rPr>
              <a:t>CHOSEN
DECISIONS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52928" y="2487168"/>
            <a:ext cx="32004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2200" b="1" i="0">
                <a:solidFill>
                  <a:srgbClr val="A8B0C7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55848" y="2084831"/>
            <a:ext cx="2148840" cy="1325880"/>
          </a:xfrm>
          <a:prstGeom prst="rect">
            <a:avLst/>
          </a:prstGeom>
          <a:solidFill>
            <a:srgbClr val="1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55848" y="2084831"/>
            <a:ext cx="2148840" cy="109728"/>
          </a:xfrm>
          <a:prstGeom prst="rect">
            <a:avLst/>
          </a:prstGeom>
          <a:solidFill>
            <a:srgbClr val="D8F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55848" y="2487168"/>
            <a:ext cx="214884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700" b="1" i="0">
                <a:solidFill>
                  <a:srgbClr val="D8FF3E"/>
                </a:solidFill>
                <a:latin typeface="Calibri"/>
              </a:rPr>
              <a:t>DESIGN
RECORD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41848" y="2487168"/>
            <a:ext cx="32004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2200" b="1" i="0">
                <a:solidFill>
                  <a:srgbClr val="A8B0C7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44768" y="2084831"/>
            <a:ext cx="2148840" cy="1325880"/>
          </a:xfrm>
          <a:prstGeom prst="rect">
            <a:avLst/>
          </a:prstGeom>
          <a:solidFill>
            <a:srgbClr val="1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44768" y="2084831"/>
            <a:ext cx="2148840" cy="109728"/>
          </a:xfrm>
          <a:prstGeom prst="rect">
            <a:avLst/>
          </a:prstGeom>
          <a:solidFill>
            <a:srgbClr val="9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44768" y="2487168"/>
            <a:ext cx="214884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700" b="1" i="0">
                <a:solidFill>
                  <a:srgbClr val="9B7CFF"/>
                </a:solidFill>
                <a:latin typeface="Calibri"/>
              </a:rPr>
              <a:t>FUTURE
CONSTRAINTS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0768" y="2487168"/>
            <a:ext cx="32004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2200" b="1" i="0">
                <a:solidFill>
                  <a:srgbClr val="A8B0C7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33687" y="2084831"/>
            <a:ext cx="2148840" cy="1325880"/>
          </a:xfrm>
          <a:prstGeom prst="rect">
            <a:avLst/>
          </a:prstGeom>
          <a:solidFill>
            <a:srgbClr val="1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33687" y="2084831"/>
            <a:ext cx="2148840" cy="109728"/>
          </a:xfrm>
          <a:prstGeom prst="rect">
            <a:avLst/>
          </a:prstGeom>
          <a:solidFill>
            <a:srgbClr val="FF5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33687" y="2487168"/>
            <a:ext cx="214884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700" b="1" i="0">
                <a:solidFill>
                  <a:srgbClr val="FF5A5F"/>
                </a:solidFill>
                <a:latin typeface="Calibri"/>
              </a:rPr>
              <a:t>DETECT +
OVERRIDE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4160520"/>
            <a:ext cx="1097280" cy="50800"/>
          </a:xfrm>
          <a:prstGeom prst="rect">
            <a:avLst/>
          </a:prstGeom>
          <a:solidFill>
            <a:srgbClr val="46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764792" y="4160520"/>
            <a:ext cx="1645920" cy="50800"/>
          </a:xfrm>
          <a:prstGeom prst="rect">
            <a:avLst/>
          </a:prstGeom>
          <a:solidFill>
            <a:srgbClr val="46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483864" y="4160520"/>
            <a:ext cx="548640" cy="50800"/>
          </a:xfrm>
          <a:prstGeom prst="rect">
            <a:avLst/>
          </a:prstGeom>
          <a:solidFill>
            <a:srgbClr val="D8F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05656" y="4160520"/>
            <a:ext cx="2468880" cy="50800"/>
          </a:xfrm>
          <a:prstGeom prst="rect">
            <a:avLst/>
          </a:prstGeom>
          <a:solidFill>
            <a:srgbClr val="9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647688" y="4160520"/>
            <a:ext cx="457200" cy="50800"/>
          </a:xfrm>
          <a:prstGeom prst="rect">
            <a:avLst/>
          </a:prstGeom>
          <a:solidFill>
            <a:srgbClr val="FF5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78040" y="4160520"/>
            <a:ext cx="2743200" cy="50800"/>
          </a:xfrm>
          <a:prstGeom prst="rect">
            <a:avLst/>
          </a:prstGeom>
          <a:solidFill>
            <a:srgbClr val="9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4617720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00" b="1" i="0">
                <a:solidFill>
                  <a:srgbClr val="D8FF3E"/>
                </a:solidFill>
                <a:latin typeface="Calibri"/>
              </a:rPr>
              <a:t>Benefit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91640" y="4572000"/>
            <a:ext cx="384048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700" b="1" i="0">
                <a:solidFill>
                  <a:srgbClr val="F4F7FF"/>
                </a:solidFill>
                <a:latin typeface="Calibri"/>
              </a:rPr>
              <a:t>Less reinvention and lower variance across future work.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4617720"/>
            <a:ext cx="50292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00" b="1" i="0">
                <a:solidFill>
                  <a:srgbClr val="FF5A5F"/>
                </a:solidFill>
                <a:latin typeface="Calibri"/>
              </a:rPr>
              <a:t>Risk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4572000"/>
            <a:ext cx="457200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700" b="1" i="0">
                <a:solidFill>
                  <a:srgbClr val="F4F7FF"/>
                </a:solidFill>
                <a:latin typeface="Calibri"/>
              </a:rPr>
              <a:t>Stale taste becomes an invisible default. Version the record and permit explicit resets.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2194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00" b="1" i="0">
                <a:solidFill>
                  <a:srgbClr val="46E6FF"/>
                </a:solidFill>
                <a:latin typeface="Calibri"/>
              </a:rPr>
              <a:t>EVIDENCE BOUNDARY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2800" b="1" i="0">
                <a:solidFill>
                  <a:srgbClr val="F4F7FF"/>
                </a:solidFill>
                <a:latin typeface="Calibri"/>
              </a:rPr>
              <a:t>The demo shows structured convergence—not measured optimization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11173968" cy="12700"/>
          </a:xfrm>
          <a:prstGeom prst="rect">
            <a:avLst/>
          </a:prstGeom>
          <a:solidFill>
            <a:srgbClr val="313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301752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800" b="1" i="0">
                <a:solidFill>
                  <a:srgbClr val="A8B0C7"/>
                </a:solidFill>
                <a:latin typeface="Calibri"/>
              </a:rPr>
              <a:t>ANALYST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6768" y="6428232"/>
            <a:ext cx="91440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sz="900" b="1" i="0">
                <a:solidFill>
                  <a:srgbClr val="A8B0C7"/>
                </a:solidFill>
                <a:latin typeface="Calibri"/>
              </a:rPr>
              <a:t>12  / 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965960"/>
            <a:ext cx="1572768" cy="2103120"/>
          </a:xfrm>
          <a:prstGeom prst="rect">
            <a:avLst/>
          </a:prstGeom>
          <a:solidFill>
            <a:srgbClr val="A8B0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176272"/>
            <a:ext cx="32004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700" b="1" i="0">
                <a:solidFill>
                  <a:srgbClr val="F4F7FF"/>
                </a:solidFill>
                <a:latin typeface="Calibri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971800"/>
            <a:ext cx="157276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100" b="1" i="0">
                <a:solidFill>
                  <a:srgbClr val="F4F7FF"/>
                </a:solidFill>
                <a:latin typeface="Calibri"/>
              </a:rPr>
              <a:t>AD HOC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77439" y="1965960"/>
            <a:ext cx="1572768" cy="2103120"/>
          </a:xfrm>
          <a:prstGeom prst="rect">
            <a:avLst/>
          </a:prstGeom>
          <a:solidFill>
            <a:srgbClr val="46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14599" y="2176272"/>
            <a:ext cx="32004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700" b="1" i="0">
                <a:solidFill>
                  <a:srgbClr val="F4F7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39" y="2971800"/>
            <a:ext cx="157276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100" b="1" i="0">
                <a:solidFill>
                  <a:srgbClr val="F4F7FF"/>
                </a:solidFill>
                <a:latin typeface="Calibri"/>
              </a:rPr>
              <a:t>GUIDED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59" y="1965960"/>
            <a:ext cx="1572768" cy="2103120"/>
          </a:xfrm>
          <a:prstGeom prst="rect">
            <a:avLst/>
          </a:prstGeom>
          <a:solidFill>
            <a:srgbClr val="D8F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19" y="2176272"/>
            <a:ext cx="32004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700" b="1" i="0">
                <a:solidFill>
                  <a:srgbClr val="111629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59" y="2971800"/>
            <a:ext cx="157276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100" b="1" i="0">
                <a:solidFill>
                  <a:srgbClr val="111629"/>
                </a:solidFill>
                <a:latin typeface="Calibri"/>
              </a:rPr>
              <a:t>STRUCTURED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79" y="1965960"/>
            <a:ext cx="1572768" cy="2103120"/>
          </a:xfrm>
          <a:prstGeom prst="rect">
            <a:avLst/>
          </a:prstGeom>
          <a:solidFill>
            <a:srgbClr val="9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39" y="2176272"/>
            <a:ext cx="32004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700" b="1" i="0">
                <a:solidFill>
                  <a:srgbClr val="F4F7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79" y="2971800"/>
            <a:ext cx="157276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100" b="1" i="0">
                <a:solidFill>
                  <a:srgbClr val="F4F7FF"/>
                </a:solidFill>
                <a:latin typeface="Calibri"/>
              </a:rPr>
              <a:t>CONTROLLED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1000" y="1965960"/>
            <a:ext cx="1572768" cy="2103120"/>
          </a:xfrm>
          <a:prstGeom prst="rect">
            <a:avLst/>
          </a:prstGeom>
          <a:solidFill>
            <a:srgbClr val="FF5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0" y="2176272"/>
            <a:ext cx="32004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700" b="1" i="0">
                <a:solidFill>
                  <a:srgbClr val="F4F7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0" y="2971800"/>
            <a:ext cx="157276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100" b="1" i="0">
                <a:solidFill>
                  <a:srgbClr val="F4F7FF"/>
                </a:solidFill>
                <a:latin typeface="Calibri"/>
              </a:rPr>
              <a:t>MEASURED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875520" y="1965960"/>
            <a:ext cx="1572768" cy="2103120"/>
          </a:xfrm>
          <a:prstGeom prst="rect">
            <a:avLst/>
          </a:prstGeom>
          <a:solidFill>
            <a:srgbClr val="111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12680" y="2176272"/>
            <a:ext cx="32004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700" b="1" i="0">
                <a:solidFill>
                  <a:srgbClr val="F4F7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0" y="2971800"/>
            <a:ext cx="157276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100" b="1" i="0">
                <a:solidFill>
                  <a:srgbClr val="F4F7FF"/>
                </a:solidFill>
                <a:latin typeface="Calibri"/>
              </a:rPr>
              <a:t>OUTCOME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389120"/>
            <a:ext cx="7296912" cy="384048"/>
          </a:xfrm>
          <a:prstGeom prst="rect">
            <a:avLst/>
          </a:prstGeom>
          <a:solidFill>
            <a:srgbClr val="D8F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489704"/>
            <a:ext cx="685800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200" b="1" i="0">
                <a:solidFill>
                  <a:srgbClr val="111629"/>
                </a:solidFill>
                <a:latin typeface="Calibri"/>
              </a:rPr>
              <a:t>DEMONSTRATED: direction structure + elements of control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99831" y="4389120"/>
            <a:ext cx="3858768" cy="384048"/>
          </a:xfrm>
          <a:prstGeom prst="rect">
            <a:avLst/>
          </a:prstGeom>
          <a:solidFill>
            <a:srgbClr val="FF5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09560" y="4489704"/>
            <a:ext cx="356616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100" b="1" i="0">
                <a:solidFill>
                  <a:srgbClr val="F4F7FF"/>
                </a:solidFill>
                <a:latin typeface="Calibri"/>
              </a:rPr>
              <a:t>UNPROVEN: productivity + outcomes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5285232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2000" b="1" i="0">
                <a:solidFill>
                  <a:srgbClr val="111629"/>
                </a:solidFill>
                <a:latin typeface="Calibri"/>
              </a:rPr>
              <a:t>Treat speed, usability, quality, and business impact as pilot hypotheses—not demonstrated benefits.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2194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00" b="1" i="0">
                <a:solidFill>
                  <a:srgbClr val="46E6FF"/>
                </a:solidFill>
                <a:latin typeface="Calibri"/>
              </a:rPr>
              <a:t>PILOT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2800" b="1" i="0">
                <a:solidFill>
                  <a:srgbClr val="F4F7FF"/>
                </a:solidFill>
                <a:latin typeface="Calibri"/>
              </a:rPr>
              <a:t>A matched-task test isolates workflow value from operator enthusiasm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11173968" cy="12700"/>
          </a:xfrm>
          <a:prstGeom prst="rect">
            <a:avLst/>
          </a:prstGeom>
          <a:solidFill>
            <a:srgbClr val="313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301752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800" b="1" i="0">
                <a:solidFill>
                  <a:srgbClr val="A8B0C7"/>
                </a:solidFill>
                <a:latin typeface="Calibri"/>
              </a:rPr>
              <a:t>ANALYST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6768" y="6428232"/>
            <a:ext cx="91440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sz="900" b="1" i="0">
                <a:solidFill>
                  <a:srgbClr val="A8B0C7"/>
                </a:solidFill>
                <a:latin typeface="Calibri"/>
              </a:rPr>
              <a:t>13  / 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6002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100" b="1" i="0">
                <a:solidFill>
                  <a:srgbClr val="46E6FF"/>
                </a:solidFill>
                <a:latin typeface="Calibri"/>
              </a:rPr>
              <a:t>FIXED INPUTS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121408"/>
            <a:ext cx="109728" cy="347472"/>
          </a:xfrm>
          <a:prstGeom prst="rect">
            <a:avLst/>
          </a:prstGeom>
          <a:solidFill>
            <a:srgbClr val="46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093976"/>
            <a:ext cx="246888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500" b="1" i="0">
                <a:solidFill>
                  <a:srgbClr val="F4F7FF"/>
                </a:solidFill>
                <a:latin typeface="Calibri"/>
              </a:rPr>
              <a:t>Same real brief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816352"/>
            <a:ext cx="109728" cy="347472"/>
          </a:xfrm>
          <a:prstGeom prst="rect">
            <a:avLst/>
          </a:prstGeom>
          <a:solidFill>
            <a:srgbClr val="46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788920"/>
            <a:ext cx="246888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500" b="1" i="0">
                <a:solidFill>
                  <a:srgbClr val="F4F7FF"/>
                </a:solidFill>
                <a:latin typeface="Calibri"/>
              </a:rPr>
              <a:t>Same copy + proof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511296"/>
            <a:ext cx="109728" cy="347472"/>
          </a:xfrm>
          <a:prstGeom prst="rect">
            <a:avLst/>
          </a:prstGeom>
          <a:solidFill>
            <a:srgbClr val="46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3483864"/>
            <a:ext cx="246888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500" b="1" i="0">
                <a:solidFill>
                  <a:srgbClr val="F4F7FF"/>
                </a:solidFill>
                <a:latin typeface="Calibri"/>
              </a:rPr>
              <a:t>Same references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4206240"/>
            <a:ext cx="109728" cy="347472"/>
          </a:xfrm>
          <a:prstGeom prst="rect">
            <a:avLst/>
          </a:prstGeom>
          <a:solidFill>
            <a:srgbClr val="46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178808"/>
            <a:ext cx="246888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500" b="1" i="0">
                <a:solidFill>
                  <a:srgbClr val="F4F7FF"/>
                </a:solidFill>
                <a:latin typeface="Calibri"/>
              </a:rPr>
              <a:t>Same model + time budget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03320" y="1572768"/>
            <a:ext cx="3429000" cy="4251960"/>
          </a:xfrm>
          <a:prstGeom prst="rect">
            <a:avLst/>
          </a:prstGeom>
          <a:solidFill>
            <a:srgbClr val="1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05072" y="1938528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100" b="1" i="0">
                <a:solidFill>
                  <a:srgbClr val="A8B0C7"/>
                </a:solidFill>
                <a:latin typeface="Calibri"/>
              </a:rPr>
              <a:t>CURRENT PROCESS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05072" y="2542032"/>
            <a:ext cx="274320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2400" b="1" i="0">
                <a:solidFill>
                  <a:srgbClr val="F4F7FF"/>
                </a:solidFill>
                <a:latin typeface="Calibri"/>
              </a:rPr>
              <a:t>Conventional prompting
and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05072" y="3840480"/>
            <a:ext cx="2743200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</a:pPr>
            <a:r>
              <a:rPr sz="1500" b="1" i="0">
                <a:solidFill>
                  <a:srgbClr val="A8B0C7"/>
                </a:solidFill>
                <a:latin typeface="Calibri"/>
              </a:rPr>
              <a:t>Matched task
Matched operator profile
Blind downstream review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88352" y="1572768"/>
            <a:ext cx="4279392" cy="4251960"/>
          </a:xfrm>
          <a:prstGeom prst="rect">
            <a:avLst/>
          </a:prstGeom>
          <a:solidFill>
            <a:srgbClr val="23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99248" y="1938528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100" b="1" i="0">
                <a:solidFill>
                  <a:srgbClr val="D8FF3E"/>
                </a:solidFill>
                <a:latin typeface="Calibri"/>
              </a:rPr>
              <a:t>IMPECCABLE WORKFLOW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99248" y="2542032"/>
            <a:ext cx="342900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2400" b="1" i="0">
                <a:solidFill>
                  <a:srgbClr val="F4F7FF"/>
                </a:solidFill>
                <a:latin typeface="Calibri"/>
              </a:rPr>
              <a:t>Worlds → commit
→ Live refinement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99248" y="3977639"/>
            <a:ext cx="210312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00" b="1" i="0">
                <a:solidFill>
                  <a:srgbClr val="FF5A5F"/>
                </a:solidFill>
                <a:latin typeface="Calibri"/>
              </a:rPr>
              <a:t>PRIMARY ENDPOINT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99248" y="4370832"/>
            <a:ext cx="3383280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800" b="1" i="0">
                <a:solidFill>
                  <a:srgbClr val="F4F7FF"/>
                </a:solidFill>
                <a:latin typeface="Calibri"/>
              </a:rPr>
              <a:t>Major direction resets before acceptance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100" b="1" i="0">
                <a:solidFill>
                  <a:srgbClr val="46E6FF"/>
                </a:solidFill>
                <a:latin typeface="Calibri"/>
              </a:rPr>
              <a:t>DECISION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7040880" cy="1417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98000"/>
              </a:lnSpc>
              <a:spcBef>
                <a:spcPts val="0"/>
              </a:spcBef>
            </a:pPr>
            <a:r>
              <a:rPr sz="4400" b="1" i="0">
                <a:solidFill>
                  <a:srgbClr val="F4F7FF"/>
                </a:solidFill>
                <a:latin typeface="Calibri"/>
              </a:rPr>
              <a:t>EARN THE RIGHT
TO SCALE.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743200"/>
            <a:ext cx="713232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2400" b="1" i="0">
                <a:solidFill>
                  <a:srgbClr val="D8FF3E"/>
                </a:solidFill>
                <a:latin typeface="Calibri"/>
              </a:rPr>
              <a:t>Authorize pilot design—not enterprise rollout.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3886200"/>
            <a:ext cx="3246120" cy="1572768"/>
          </a:xfrm>
          <a:prstGeom prst="rect">
            <a:avLst/>
          </a:prstGeom>
          <a:solidFill>
            <a:srgbClr val="1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409651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600" b="1" i="0">
                <a:solidFill>
                  <a:srgbClr val="46E6FF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35608" y="4096512"/>
            <a:ext cx="219456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200" b="1" i="0">
                <a:solidFill>
                  <a:srgbClr val="46E6FF"/>
                </a:solidFill>
                <a:latin typeface="Calibri"/>
              </a:rPr>
              <a:t>NAME THE OWNER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681728"/>
            <a:ext cx="274320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500" b="1" i="0">
                <a:solidFill>
                  <a:srgbClr val="F4F7FF"/>
                </a:solidFill>
                <a:latin typeface="Calibri"/>
              </a:rPr>
              <a:t>One accountable lead for direction and release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3886200"/>
            <a:ext cx="3246120" cy="1572768"/>
          </a:xfrm>
          <a:prstGeom prst="rect">
            <a:avLst/>
          </a:prstGeom>
          <a:solidFill>
            <a:srgbClr val="1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409651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600" b="1" i="0">
                <a:solidFill>
                  <a:srgbClr val="9B7CFF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38928" y="4096512"/>
            <a:ext cx="219456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200" b="1" i="0">
                <a:solidFill>
                  <a:srgbClr val="9B7CFF"/>
                </a:solidFill>
                <a:latin typeface="Calibri"/>
              </a:rPr>
              <a:t>SELECT THE TASK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4681728"/>
            <a:ext cx="274320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500" b="1" i="0">
                <a:solidFill>
                  <a:srgbClr val="F4F7FF"/>
                </a:solidFill>
                <a:latin typeface="Calibri"/>
              </a:rPr>
              <a:t>One bounded landing-page workflow with real proof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2440" y="3886200"/>
            <a:ext cx="3246120" cy="1572768"/>
          </a:xfrm>
          <a:prstGeom prst="rect">
            <a:avLst/>
          </a:prstGeom>
          <a:solidFill>
            <a:srgbClr val="1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409651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600" b="1" i="0">
                <a:solidFill>
                  <a:srgbClr val="FF5A5F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42248" y="4096512"/>
            <a:ext cx="219456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200" b="1" i="0">
                <a:solidFill>
                  <a:srgbClr val="FF5A5F"/>
                </a:solidFill>
                <a:latin typeface="Calibri"/>
              </a:rPr>
              <a:t>LOCK THE SCORECARD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4681728"/>
            <a:ext cx="274320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500" b="1" i="0">
                <a:solidFill>
                  <a:srgbClr val="F4F7FF"/>
                </a:solidFill>
                <a:latin typeface="Calibri"/>
              </a:rPr>
              <a:t>Baseline, thresholds, blind reviewers, stop rules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5989320"/>
            <a:ext cx="1828800" cy="50800"/>
          </a:xfrm>
          <a:prstGeom prst="rect">
            <a:avLst/>
          </a:prstGeom>
          <a:solidFill>
            <a:srgbClr val="46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87752" y="5989320"/>
            <a:ext cx="1828800" cy="50800"/>
          </a:xfrm>
          <a:prstGeom prst="rect">
            <a:avLst/>
          </a:prstGeom>
          <a:solidFill>
            <a:srgbClr val="D8F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9704" y="5989320"/>
            <a:ext cx="1828800" cy="50800"/>
          </a:xfrm>
          <a:prstGeom prst="rect">
            <a:avLst/>
          </a:prstGeom>
          <a:solidFill>
            <a:srgbClr val="9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91656" y="5989320"/>
            <a:ext cx="1828800" cy="50800"/>
          </a:xfrm>
          <a:prstGeom prst="rect">
            <a:avLst/>
          </a:prstGeom>
          <a:solidFill>
            <a:srgbClr val="FF5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93608" y="5989320"/>
            <a:ext cx="1828800" cy="50800"/>
          </a:xfrm>
          <a:prstGeom prst="rect">
            <a:avLst/>
          </a:prstGeom>
          <a:solidFill>
            <a:srgbClr val="D8F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195560" y="5989320"/>
            <a:ext cx="1371600" cy="50800"/>
          </a:xfrm>
          <a:prstGeom prst="rect">
            <a:avLst/>
          </a:prstGeom>
          <a:solidFill>
            <a:srgbClr val="46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6190488"/>
            <a:ext cx="987552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300" b="1" i="0">
                <a:solidFill>
                  <a:srgbClr val="A8B0C7"/>
                </a:solidFill>
                <a:latin typeface="Calibri"/>
              </a:rPr>
              <a:t>Expand only if resets fall without accessibility, provenance, factual, performance, or cost regressions.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