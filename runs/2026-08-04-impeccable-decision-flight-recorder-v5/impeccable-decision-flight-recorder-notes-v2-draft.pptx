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decision: authorize a governed pilot, not broad adoption. The walkthrough demonstrates choice architecture, not measured business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observed mechanisms from the proposed decision. The three mechanisms justify testing, while every outcome claim remains unproven.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problem is directional debt. Fast generation has limited value when teams correct macro direction only after implementation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interface state as proof of visible macro choice. Require a named owner and recorded rationale before variants are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feature count is incidental. Divergence produces value only when commitment gates stop rerolls and move the work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narrow workflow can be the better choice. Generality raises differentiation and operator variance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by change altitude. Live is for bounded detail; terminal work changes structure; references reopen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Mode is valuable after direction is accepted. Do not use faster local iteration to rationalize weak visual grammar.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reference is a controlled reset mechanism, not decoration. Record provenance and the grammar being borrowed.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 reversible work to the system and irreversible judgment to accountable people: truth, direction, trade-offs, and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record can reduce reinvention, but it must be versioned and explicitly resettable so stale taste does not become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translate workflow sophistication into outcome certainty. Productivity, usability, quality, and commercial effects remain pilot hypotheses.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inputs and operator profiles constant and blind downstream reviewers. Count major direction resets before acceptance as the primary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three actions: name the owner, select the bounded task, and lock the scorecard before any showcase output is reviewed.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DECISION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7772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4800" b="1" i="0">
                <a:solidFill>
                  <a:srgbClr val="F4F7FF"/>
                </a:solidFill>
                <a:latin typeface="Calibri"/>
              </a:rPr>
              <a:t>PILOT THE
DECISION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08960"/>
            <a:ext cx="76809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500" b="1" i="0">
                <a:solidFill>
                  <a:srgbClr val="D8FF3E"/>
                </a:solidFill>
                <a:latin typeface="Calibri"/>
              </a:rPr>
              <a:t>NOT AUTONOMOUS TASTE.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41648"/>
            <a:ext cx="704088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800" b="0" i="0">
                <a:solidFill>
                  <a:srgbClr val="A8B0C7"/>
                </a:solidFill>
                <a:latin typeface="Calibri"/>
              </a:rPr>
              <a:t>The walkthrough shows a stronger way to choose direction, compare alternatives, and recover from a wrong visual grammar. It does not prove faster delivery, higher usability, or business lift.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713232"/>
            <a:ext cx="3127248" cy="52120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8512" y="10515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536192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4300" b="1" i="0">
                <a:solidFill>
                  <a:srgbClr val="F4F7FF"/>
                </a:solidFill>
                <a:latin typeface="Calibri"/>
              </a:rPr>
              <a:t>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35915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D8FF3E"/>
                </a:solidFill>
                <a:latin typeface="Calibri"/>
              </a:rPr>
              <a:t>MATCHED-TASK
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8512" y="3794760"/>
            <a:ext cx="15544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96144" y="3794760"/>
            <a:ext cx="50292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72216" y="3794760"/>
            <a:ext cx="32004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422452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Hold the brief, proof, references, model budget, and acceptance criteria constant.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 + bounded analyst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EXECUTIVE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Three demonstrated mechanisms justify one controlled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02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46E6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57276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WORLD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3619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Macro direction becomes visible before implementation variants.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55448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62763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1872" y="219456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0720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9B7C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80720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BOUNDED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7063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Local alternatives can be generated, tuned, and accepted side by 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78892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86207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342900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4164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FF5A5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4164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REFERENCE RESET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0507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A wrong visual grammar can trigger a deliberate macro departure.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402336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409651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466344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321808"/>
            <a:ext cx="10972800" cy="713232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522976"/>
            <a:ext cx="11430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111629"/>
                </a:solidFill>
                <a:latin typeface="Calibri"/>
              </a:rP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468112"/>
            <a:ext cx="89611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111629"/>
                </a:solidFill>
                <a:latin typeface="Calibri"/>
              </a:rPr>
              <a:t>Test whether the workflow reduces major direction resets without quality or control regressions.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generic first draft moves the expensive decision downstream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03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023360"/>
            <a:ext cx="2286000" cy="105156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2219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111629"/>
                </a:solidFill>
                <a:latin typeface="Calibri"/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3456432"/>
            <a:ext cx="2286000" cy="1618488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95351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GENERIC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5526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Plausible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2889505"/>
            <a:ext cx="2286000" cy="2185415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386585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DIRECTION DEBATE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688337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8824" y="2322576"/>
            <a:ext cx="2286000" cy="2752344"/>
          </a:xfrm>
          <a:prstGeom prst="rect">
            <a:avLst/>
          </a:prstGeom>
          <a:solidFill>
            <a:srgbClr val="11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1819656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121408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Expensive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111629"/>
                </a:solidFill>
                <a:latin typeface="Calibri"/>
              </a:rPr>
              <a:t>The workflow matters only if it makes macro direction explicit before teams accumulate implementation debt.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WORLD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Worlds turns ‘make it better’ into a visible macro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04  /  14</a:t>
            </a:r>
          </a:p>
        </p:txBody>
      </p:sp>
      <p:pic>
        <p:nvPicPr>
          <p:cNvPr id="8" name="Picture 7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31520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19872" y="1572768"/>
            <a:ext cx="3547872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94192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WHAT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487168"/>
            <a:ext cx="274320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100" b="1" i="0">
                <a:solidFill>
                  <a:srgbClr val="F4F7FF"/>
                </a:solidFill>
                <a:latin typeface="Calibri"/>
              </a:rPr>
              <a:t>The visual grammar becomes a named choice before local variants are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4133087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Management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4535424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Assign a direction owner and record why the selected world fits the audience and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Value comes from commitment—not from an endless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05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2267712" cy="1188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46E6FF"/>
                </a:solidFill>
                <a:latin typeface="Calibri"/>
              </a:rPr>
              <a:t>DIVERGE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Expose genuinely different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6704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1874519"/>
            <a:ext cx="2267712" cy="118872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D8FF3E"/>
                </a:solidFill>
                <a:latin typeface="Calibri"/>
              </a:rP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Name the owner and exit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874519"/>
            <a:ext cx="2267712" cy="118872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9B7CFF"/>
                </a:solidFill>
                <a:latin typeface="Calibri"/>
              </a:rPr>
              <a:t>CONVERGE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Compare bounded local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2832" y="1874519"/>
            <a:ext cx="2267712" cy="118872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Challenge, approve, 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937760"/>
            <a:ext cx="20116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79192" y="4937760"/>
            <a:ext cx="292608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8424" y="4937760"/>
            <a:ext cx="18288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0376" y="4937760"/>
            <a:ext cx="32004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4F7FF"/>
                </a:solidFill>
                <a:latin typeface="Calibri"/>
              </a:rPr>
              <a:t>Divergence earns its keep only when the process can stop, decide, and move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higher creative ceiling shifts more risk to the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06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5138928" cy="4343400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61888" y="1627632"/>
            <a:ext cx="5705856" cy="43434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9B7CFF"/>
                </a:solidFill>
                <a:latin typeface="Calibri"/>
              </a:rPr>
              <a:t>NARROW STYLE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111629"/>
                </a:solidFill>
                <a:latin typeface="Calibri"/>
              </a:rPr>
              <a:t>HIGHER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900" b="1" i="0">
                <a:solidFill>
                  <a:srgbClr val="111629"/>
                </a:solidFill>
                <a:latin typeface="Calibri"/>
              </a:rPr>
              <a:t>Predictable novelty
Narrower aesthetic range
Lower judgment burden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D8FF3E"/>
                </a:solidFill>
                <a:latin typeface="Calibri"/>
              </a:rPr>
              <a:t>IMPECCABLE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48716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HIGHER CEILING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29184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900" b="1" i="0">
                <a:solidFill>
                  <a:srgbClr val="F4F7FF"/>
                </a:solidFill>
                <a:latin typeface="Calibri"/>
              </a:rPr>
              <a:t>Broader differentiation
Greater operator variance
Higher governance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10789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Use the conventional workflow when evidence is weak, the surface is standardized, or review capacity is limited.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ROUTING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Change radius—not tool preference—should route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07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DIRECTION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288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288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D8FF3E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1097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LARGE
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1097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SMALL
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9456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2194560"/>
            <a:ext cx="128016" cy="141732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245059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F5A5F"/>
                </a:solidFill>
                <a:latin typeface="Calibri"/>
              </a:rPr>
              <a:t>REFERENCE 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9443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Reopen visual grammar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9456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194560"/>
            <a:ext cx="128016" cy="141732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45059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46E6FF"/>
                </a:solidFill>
                <a:latin typeface="Calibri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9443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Change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416052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4160520"/>
            <a:ext cx="128016" cy="141732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44165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9B7CFF"/>
                </a:solidFill>
                <a:latin typeface="Calibri"/>
              </a:rPr>
              <a:t>STOP POLISHING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491032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Clarify direction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16052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128016" cy="141732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44165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D8FF3E"/>
                </a:solidFill>
                <a:latin typeface="Calibri"/>
              </a:rPr>
              <a:t>LIVE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491032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LOCAL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Live Mode compresses a bounded compare–tune–accept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08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291840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6060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F4F7FF"/>
                </a:solidFill>
                <a:latin typeface="Calibri"/>
              </a:rPr>
              <a:t>Use Live only after the macro direction is accepted.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40480"/>
            <a:ext cx="26517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Detail wrong → Live
Structure wrong → terminal
Direction wrong → reference reset</a:t>
            </a:r>
          </a:p>
        </p:txBody>
      </p:sp>
      <p:pic>
        <p:nvPicPr>
          <p:cNvPr id="13" name="Picture 12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572768"/>
            <a:ext cx="7543800" cy="42433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DIRECTION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wrong visual grammar requires a reference reset—not more polish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09  /  14</a:t>
            </a:r>
          </a:p>
        </p:txBody>
      </p:sp>
      <p:pic>
        <p:nvPicPr>
          <p:cNvPr id="8" name="Picture 7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589520" cy="42691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94192" y="1572768"/>
            <a:ext cx="3273552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ESCALATION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87168"/>
            <a:ext cx="2560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100" b="1" i="0">
                <a:solidFill>
                  <a:srgbClr val="F4F7FF"/>
                </a:solidFill>
                <a:latin typeface="Calibri"/>
              </a:rPr>
              <a:t>References reopen the macro decision when incremental refinement stalls.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262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Record provenance and the specific design grammar being borrowed.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Humans own four irreversible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10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FRAME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Audience, evidence,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Structure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39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1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COMMIT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999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8999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Visual grammar and rationale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8999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8999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Expand options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59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1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RESOLVE TRADE-OFFS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19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Competing priorities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19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19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Generate + compare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APPROVE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Accountability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Detect +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861304"/>
            <a:ext cx="107899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AUTOMATE REVERSIBLE WORK. KEEP CONSEQUENTIAL JUDGMENT ACCOUNTABLE.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Accepted decisions matter only when they constrain the next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11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084831"/>
            <a:ext cx="2148840" cy="109728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46E6FF"/>
                </a:solidFill>
                <a:latin typeface="Calibri"/>
              </a:rPr>
              <a:t>CHOSEN
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2084831"/>
            <a:ext cx="2148840" cy="109728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D8FF3E"/>
                </a:solidFill>
                <a:latin typeface="Calibri"/>
              </a:rPr>
              <a:t>DESIGN
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2084831"/>
            <a:ext cx="2148840" cy="109728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9B7CFF"/>
                </a:solidFill>
                <a:latin typeface="Calibri"/>
              </a:rPr>
              <a:t>FUTURE
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7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7" y="2084831"/>
            <a:ext cx="2148840" cy="109728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7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DETECT +
OVERRIDE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160520"/>
            <a:ext cx="10972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64792" y="4160520"/>
            <a:ext cx="164592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83864" y="4160520"/>
            <a:ext cx="54864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05656" y="4160520"/>
            <a:ext cx="246888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47688" y="4160520"/>
            <a:ext cx="4572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4160520"/>
            <a:ext cx="27432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1772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D8FF3E"/>
                </a:solidFill>
                <a:latin typeface="Calibri"/>
              </a:rPr>
              <a:t>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572000"/>
            <a:ext cx="38404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Less reinvention and lower variance across future 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61772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572000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Stale taste becomes an invisible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EVIDENCE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The demo shows structured convergence—not measured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12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572768" cy="2103120"/>
          </a:xfrm>
          <a:prstGeom prst="rect">
            <a:avLst/>
          </a:prstGeom>
          <a:solidFill>
            <a:srgbClr val="A8B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AD HOC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1965960"/>
            <a:ext cx="1572768" cy="210312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59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GUIDED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965960"/>
            <a:ext cx="1572768" cy="210312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111629"/>
                </a:solidFill>
                <a:latin typeface="Calibri"/>
              </a:rPr>
              <a:t>STRUCTURED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1965960"/>
            <a:ext cx="1572768" cy="210312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3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CONTROLLED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965960"/>
            <a:ext cx="1572768" cy="210312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MEASURED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1965960"/>
            <a:ext cx="1572768" cy="2103120"/>
          </a:xfrm>
          <a:prstGeom prst="rect">
            <a:avLst/>
          </a:prstGeom>
          <a:solidFill>
            <a:srgbClr val="11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OUTCOME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89120"/>
            <a:ext cx="7296912" cy="384048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89704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DEMONSTRATED: direction structure + elements of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9831" y="4389120"/>
            <a:ext cx="3858768" cy="384048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48970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UNPROVEN: productivity +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8523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111629"/>
                </a:solidFill>
                <a:latin typeface="Calibri"/>
              </a:rPr>
              <a:t>Treat speed, usability, quality, and business impact as pilot hypotheses—not demonstrated benefits.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PILOT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matched-task test isolates workflow value from operator enthusiasm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13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FIXED INPUTS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21408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93976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real brief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16352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copy + proof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11296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483864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06240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178808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model + time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572768"/>
            <a:ext cx="3429000" cy="425196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1938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CURRENT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54203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F4F7FF"/>
                </a:solidFill>
                <a:latin typeface="Calibri"/>
              </a:rPr>
              <a:t>Conventional prompting
and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84048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Matched task
Matched operator profile
Blind downstream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1572768"/>
            <a:ext cx="4279392" cy="4251960"/>
          </a:xfrm>
          <a:prstGeom prst="rect">
            <a:avLst/>
          </a:prstGeom>
          <a:solidFill>
            <a:srgbClr val="23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193852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D8FF3E"/>
                </a:solidFill>
                <a:latin typeface="Calibri"/>
              </a:rPr>
              <a:t>IMPECCABLE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542032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F4F7FF"/>
                </a:solidFill>
                <a:latin typeface="Calibri"/>
              </a:rPr>
              <a:t>Worlds → commit
→ Live refinement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977639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PRIMARY 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4370832"/>
            <a:ext cx="338328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F4F7FF"/>
                </a:solidFill>
                <a:latin typeface="Calibri"/>
              </a:rPr>
              <a:t>Major direction resets before acceptance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DECISION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70408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</a:pPr>
            <a:r>
              <a:rPr sz="4400" b="1" i="0">
                <a:solidFill>
                  <a:srgbClr val="F4F7FF"/>
                </a:solidFill>
                <a:latin typeface="Calibri"/>
              </a:rPr>
              <a:t>EARN THE RIGHT
TO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D8FF3E"/>
                </a:solidFill>
                <a:latin typeface="Calibri"/>
              </a:rPr>
              <a:t>Authorize pilot design—not enterprise rollout.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46E6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46E6FF"/>
                </a:solidFill>
                <a:latin typeface="Calibri"/>
              </a:rPr>
              <a:t>NAME THE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One accountable lead for direction and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9B7C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9B7CFF"/>
                </a:solidFill>
                <a:latin typeface="Calibri"/>
              </a:rPr>
              <a:t>SELECT THE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One bounded landing-page workflow with real proof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F5A5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F5A5F"/>
                </a:solidFill>
                <a:latin typeface="Calibri"/>
              </a:rPr>
              <a:t>LOCK THE SCORECARD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Baseline, thresholds, blind reviewers, stop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989320"/>
            <a:ext cx="182880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87752" y="5989320"/>
            <a:ext cx="182880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9704" y="5989320"/>
            <a:ext cx="18288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1656" y="5989320"/>
            <a:ext cx="18288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93608" y="5989320"/>
            <a:ext cx="182880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95560" y="5989320"/>
            <a:ext cx="137160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190488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300" b="1" i="0">
                <a:solidFill>
                  <a:srgbClr val="A8B0C7"/>
                </a:solidFill>
                <a:latin typeface="Calibri"/>
              </a:rPr>
              <a:t>Expand only if resets fall without accessibility, provenance, factual, performance, or cost regressions.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