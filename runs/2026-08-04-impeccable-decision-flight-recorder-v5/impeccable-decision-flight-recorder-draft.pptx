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</a:pPr>
            <a:r>
              <a:rPr sz="4800" b="1" i="0">
                <a:solidFill>
                  <a:srgbClr val="F4F7FF"/>
                </a:solidFill>
                <a:latin typeface="Calibri"/>
              </a:rPr>
              <a:t>PILOT THE
DECISION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76809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500" b="1" i="0">
                <a:solidFill>
                  <a:srgbClr val="D8FF3E"/>
                </a:solidFill>
                <a:latin typeface="Calibri"/>
              </a:rPr>
              <a:t>NOT AUTONOMOUS TASTE.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41648"/>
            <a:ext cx="704088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800" b="0" i="0">
                <a:solidFill>
                  <a:srgbClr val="A8B0C7"/>
                </a:solidFill>
                <a:latin typeface="Calibri"/>
              </a:rPr>
              <a:t>The walkthrough shows a stronger way to choose direction, compare alternatives, and recover from a wrong visual grammar. It does not prove faster delivery, higher usability, or business lift.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66760" y="713232"/>
            <a:ext cx="3127248" cy="52120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68512" y="10515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AUTHORIZATION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536192"/>
            <a:ext cx="228600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4300" b="1" i="0">
                <a:solidFill>
                  <a:srgbClr val="F4F7FF"/>
                </a:solidFill>
                <a:latin typeface="Calibri"/>
              </a:rPr>
              <a:t>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35915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D8FF3E"/>
                </a:solidFill>
                <a:latin typeface="Calibri"/>
              </a:rPr>
              <a:t>MATCHED-TASK
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68512" y="3794760"/>
            <a:ext cx="15544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96144" y="3794760"/>
            <a:ext cx="50292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72216" y="3794760"/>
            <a:ext cx="32004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4224528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Hold the brief, proof, references, model budget, and acceptance criteria constant.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 + bounded analyst recommendation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Three demonstrated mechanisms justify one controlled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02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7276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WORLD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3619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Macro direction becomes visible before implementation variants.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55448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62763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1872" y="219456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0720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80720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BOUNDED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7063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Local alternatives can be generated, tuned, and accepted side by side.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278892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86207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42900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502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41648"/>
            <a:ext cx="246888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REFERENCE 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05072"/>
            <a:ext cx="516636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A wrong visual grammar can trigger a deliberate macro departure.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4023360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4096512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OBSERVED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4663440"/>
            <a:ext cx="971092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5321808"/>
            <a:ext cx="10972800" cy="71323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522976"/>
            <a:ext cx="114300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468112"/>
            <a:ext cx="89611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111629"/>
                </a:solidFill>
                <a:latin typeface="Calibri"/>
              </a:rPr>
              <a:t>Test whether the workflow reduces major direction resets without quality or control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generic first draft moves the expensive decision downstream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03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4023360"/>
            <a:ext cx="2286000" cy="105156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82219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111629"/>
                </a:solidFill>
                <a:latin typeface="Calibri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456432"/>
            <a:ext cx="2286000" cy="161848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953512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GENERIC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55264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Plausible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2889505"/>
            <a:ext cx="2286000" cy="2185415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386585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DIRECTION DEBATE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688337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44805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F5A5F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824" y="2322576"/>
            <a:ext cx="2286000" cy="2752344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819656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121408"/>
            <a:ext cx="19659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Expensive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The workflow matters only if it makes macro direction explicit before teams accumulate implementation debt.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WORLD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Worlds turns ‘make it better’ into a visible macro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04  /  14</a:t>
            </a:r>
          </a:p>
        </p:txBody>
      </p:sp>
      <p:pic>
        <p:nvPicPr>
          <p:cNvPr id="8" name="Picture 7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315200" cy="4114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119872" y="1572768"/>
            <a:ext cx="354787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9419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WHAT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487168"/>
            <a:ext cx="274320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The visual grammar becomes a named choice before local variants are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133087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Management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535424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Assign a direction owner and record why the selected world fits the audience and task.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Value comes from commitment—not from an endless menu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05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2267712" cy="1188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DIVERGE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Expose genuinely different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46704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1874519"/>
            <a:ext cx="2267712" cy="118872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Name the owner and exit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874519"/>
            <a:ext cx="2267712" cy="118872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CONVERGE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Compare bounded local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7432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2832" y="1874519"/>
            <a:ext cx="2267712" cy="235915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832" y="1874519"/>
            <a:ext cx="2267712" cy="118872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2313432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2852928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4F7FF"/>
                </a:solidFill>
                <a:latin typeface="Calibri"/>
              </a:rPr>
              <a:t>Challenge, approve, record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937760"/>
            <a:ext cx="20116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79192" y="4937760"/>
            <a:ext cx="292608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424" y="493776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0376" y="4937760"/>
            <a:ext cx="32004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F4F7FF"/>
                </a:solidFill>
                <a:latin typeface="Calibri"/>
              </a:rPr>
              <a:t>Divergence earns its keep only when the process can stop, decide, and move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higher creative ceiling shifts more risk to the operator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06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27632"/>
            <a:ext cx="5138928" cy="4343400"/>
          </a:xfrm>
          <a:prstGeom prst="rect">
            <a:avLst/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61888" y="1627632"/>
            <a:ext cx="5705856" cy="43434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9B7CFF"/>
                </a:solidFill>
                <a:latin typeface="Calibri"/>
              </a:rPr>
              <a:t>NARROW STYLE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111629"/>
                </a:solidFill>
                <a:latin typeface="Calibri"/>
              </a:rPr>
              <a:t>HIGHER FLOOR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11480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111629"/>
                </a:solidFill>
                <a:latin typeface="Calibri"/>
              </a:rPr>
              <a:t>Predictable novelty
Narrower aesthetic range
Lower judgment burden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487168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HIGHER CEILING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3291840"/>
            <a:ext cx="4297680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900" b="1" i="0">
                <a:solidFill>
                  <a:srgbClr val="F4F7FF"/>
                </a:solidFill>
                <a:latin typeface="Calibri"/>
              </a:rPr>
              <a:t>Broader differentiation
Greater operator variance
Higher governance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77840"/>
            <a:ext cx="107899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Use the conventional workflow when evidence is weak, the surface is standardized, or review capacity is limited.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ROUTING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Change radius—not tool preference—should route the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07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3931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DIRECTION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LARGE
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097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SMALL
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2194560"/>
            <a:ext cx="128016" cy="14173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REFERENCE 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Reopen visual grammar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128016" cy="14173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45059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94436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Change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4160520"/>
            <a:ext cx="128016" cy="14173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STOP POLISHING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Clarify direction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160520"/>
            <a:ext cx="3749039" cy="141732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128016" cy="14173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4416552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D8FF3E"/>
                </a:solidFill>
                <a:latin typeface="Calibri"/>
              </a:rPr>
              <a:t>LIVE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910328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400" b="1" i="0">
                <a:solidFill>
                  <a:srgbClr val="F4F7FF"/>
                </a:solidFill>
                <a:latin typeface="Calibri"/>
              </a:rPr>
              <a:t>Compare local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LOCAL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Live Mode compresses a bounded compare–tune–accept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08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291840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60604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F4F7FF"/>
                </a:solidFill>
                <a:latin typeface="Calibri"/>
              </a:rPr>
              <a:t>Use Live only after the macro direction is accepted.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40480"/>
            <a:ext cx="265176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Detail wrong → Live
Structure wrong → terminal
Direction wrong → reference reset</a:t>
            </a:r>
          </a:p>
        </p:txBody>
      </p:sp>
      <p:pic>
        <p:nvPicPr>
          <p:cNvPr id="13" name="Picture 12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572768"/>
            <a:ext cx="7543800" cy="42433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PROOF / DIRECTION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wrong visual grammar requires a reference reset—not more polish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OBSERVED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09  /  14</a:t>
            </a:r>
          </a:p>
        </p:txBody>
      </p:sp>
      <p:pic>
        <p:nvPicPr>
          <p:cNvPr id="8" name="Picture 7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7589520" cy="42691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94192" y="1572768"/>
            <a:ext cx="3273552" cy="4553712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901952"/>
            <a:ext cx="1234440" cy="310896"/>
          </a:xfrm>
          <a:prstGeom prst="roundRect">
            <a:avLst>
              <a:gd name="adj" fmla="val 12000"/>
            </a:avLst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75104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111629"/>
                </a:solidFill>
                <a:latin typeface="Calibri"/>
              </a:rPr>
              <a:t>ESCALATION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87168"/>
            <a:ext cx="2560320" cy="1234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100" b="1" i="0">
                <a:solidFill>
                  <a:srgbClr val="F4F7FF"/>
                </a:solidFill>
                <a:latin typeface="Calibri"/>
              </a:rPr>
              <a:t>References reopen the macro decision when incremental refinement stalls.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52628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Record provenance and the specific design grammar being borrowed.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Humans own four irreversible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10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FRAME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Audience, evidence,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Structure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3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COMMIT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899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Visual grammar and rationale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3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899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899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Expand options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1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RESOLVE TRADE-OFFS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19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Competing priorities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19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19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Generate + compare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69680" y="1627632"/>
            <a:ext cx="2487168" cy="74980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1856231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4F7FF"/>
                </a:solidFill>
                <a:latin typeface="Calibri"/>
              </a:rPr>
              <a:t>APPROVE 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69748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HUMAN OWNS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090672"/>
            <a:ext cx="2176272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Independent fresh-context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005072"/>
            <a:ext cx="2487168" cy="254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431596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248A73"/>
                </a:solidFill>
                <a:latin typeface="Calibri"/>
              </a:rPr>
              <a:t>SYSTEM SUPPORTS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70916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175B4D"/>
                </a:solidFill>
                <a:latin typeface="Calibri"/>
              </a:rPr>
              <a:t>Detect + record exceptions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861304"/>
            <a:ext cx="107899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AUTOMATE REVERSIBLE WORK. REQUIRE A FRESH-CONTEXT HUMAN CHECK BEFORE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ORGANIZATIONAL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Accepted decisions matter only when they constrain the next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11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084831"/>
            <a:ext cx="2148840" cy="109728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46E6FF"/>
                </a:solidFill>
                <a:latin typeface="Calibri"/>
              </a:rPr>
              <a:t>CHOSEN
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2084831"/>
            <a:ext cx="2148840" cy="10972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D8FF3E"/>
                </a:solidFill>
                <a:latin typeface="Calibri"/>
              </a:rPr>
              <a:t>DESIGN
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2084831"/>
            <a:ext cx="2148840" cy="109728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9B7CFF"/>
                </a:solidFill>
                <a:latin typeface="Calibri"/>
              </a:rPr>
              <a:t>FUTURE
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871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2200" b="1" i="0">
                <a:solidFill>
                  <a:srgbClr val="A8B0C7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7" y="2084831"/>
            <a:ext cx="2148840" cy="132588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7" y="2084831"/>
            <a:ext cx="2148840" cy="10972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3687" y="2487168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F5A5F"/>
                </a:solidFill>
                <a:latin typeface="Calibri"/>
              </a:rPr>
              <a:t>DETECT +
OVERRIDE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160520"/>
            <a:ext cx="109728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64792" y="4160520"/>
            <a:ext cx="164592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3864" y="4160520"/>
            <a:ext cx="54864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05656" y="4160520"/>
            <a:ext cx="246888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7688" y="4160520"/>
            <a:ext cx="4572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4160520"/>
            <a:ext cx="27432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1772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D8FF3E"/>
                </a:solidFill>
                <a:latin typeface="Calibri"/>
              </a:rPr>
              <a:t>Benefit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572000"/>
            <a:ext cx="38404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Less reinvention and lower variance across future work.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617720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572000"/>
            <a:ext cx="4572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Stale taste becomes an invisible default. Version the record and permit explicit resets.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EVIDENCE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The demo shows structured convergence—not measured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12  /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572768" cy="2103120"/>
          </a:xfrm>
          <a:prstGeom prst="rect">
            <a:avLst/>
          </a:prstGeom>
          <a:solidFill>
            <a:srgbClr val="A8B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AD HOC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1965960"/>
            <a:ext cx="1572768" cy="210312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59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GUIDED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965960"/>
            <a:ext cx="1572768" cy="210312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111629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111629"/>
                </a:solidFill>
                <a:latin typeface="Calibri"/>
              </a:rPr>
              <a:t>STRUCTURED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1965960"/>
            <a:ext cx="1572768" cy="210312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39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CONTROLLED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965960"/>
            <a:ext cx="1572768" cy="210312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MEASURED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1965960"/>
            <a:ext cx="1572768" cy="2103120"/>
          </a:xfrm>
          <a:prstGeom prst="rect">
            <a:avLst/>
          </a:prstGeom>
          <a:solidFill>
            <a:srgbClr val="11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2176272"/>
            <a:ext cx="3200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700" b="1" i="0">
                <a:solidFill>
                  <a:srgbClr val="F4F7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971800"/>
            <a:ext cx="157276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OUTCOME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89120"/>
            <a:ext cx="7296912" cy="384048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89704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111629"/>
                </a:solidFill>
                <a:latin typeface="Calibri"/>
              </a:rPr>
              <a:t>DEMONSTRATED: direction structure + elements of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9831" y="4389120"/>
            <a:ext cx="3858768" cy="384048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489704"/>
            <a:ext cx="35661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F4F7FF"/>
                </a:solidFill>
                <a:latin typeface="Calibri"/>
              </a:rPr>
              <a:t>UNPROVEN: productivity +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285232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000" b="1" i="0">
                <a:solidFill>
                  <a:srgbClr val="111629"/>
                </a:solidFill>
                <a:latin typeface="Calibri"/>
              </a:rPr>
              <a:t>Treat speed, usability, quality, and business impact as pilot hypotheses—not demonstrated benefits.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46E6FF"/>
                </a:solidFill>
                <a:latin typeface="Calibri"/>
              </a:rPr>
              <a:t>PILOT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800" b="1" i="0">
                <a:solidFill>
                  <a:srgbClr val="F4F7FF"/>
                </a:solidFill>
                <a:latin typeface="Calibri"/>
              </a:rPr>
              <a:t>A matched-task test isolates workflow value from operator enthusiasm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73968" cy="12700"/>
          </a:xfrm>
          <a:prstGeom prst="rect">
            <a:avLst/>
          </a:prstGeom>
          <a:solidFill>
            <a:srgbClr val="31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800" b="1" i="0">
                <a:solidFill>
                  <a:srgbClr val="A8B0C7"/>
                </a:solidFill>
                <a:latin typeface="Calibri"/>
              </a:rPr>
              <a:t>ANALYST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6768" y="6428232"/>
            <a:ext cx="9144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sz="900" b="1" i="0">
                <a:solidFill>
                  <a:srgbClr val="A8B0C7"/>
                </a:solidFill>
                <a:latin typeface="Calibri"/>
              </a:rPr>
              <a:t>13  / 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FIXED 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93976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real brief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16352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copy + proof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11296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83864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references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06240"/>
            <a:ext cx="109728" cy="347472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78808"/>
            <a:ext cx="24688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Same model + time budget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1572768"/>
            <a:ext cx="3429000" cy="4251960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19385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A8B0C7"/>
                </a:solidFill>
                <a:latin typeface="Calibri"/>
              </a:rPr>
              <a:t>CURRENT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542032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Conventional prompting
and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84048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</a:pPr>
            <a:r>
              <a:rPr sz="1500" b="1" i="0">
                <a:solidFill>
                  <a:srgbClr val="A8B0C7"/>
                </a:solidFill>
                <a:latin typeface="Calibri"/>
              </a:rPr>
              <a:t>Matched task
Matched operator profile
Blind downstream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1572768"/>
            <a:ext cx="4279392" cy="4251960"/>
          </a:xfrm>
          <a:prstGeom prst="rect">
            <a:avLst/>
          </a:prstGeom>
          <a:solidFill>
            <a:srgbClr val="23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193852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D8FF3E"/>
                </a:solidFill>
                <a:latin typeface="Calibri"/>
              </a:rPr>
              <a:t>IMPECCABLE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542032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F4F7FF"/>
                </a:solidFill>
                <a:latin typeface="Calibri"/>
              </a:rPr>
              <a:t>Worlds → commit
→ Live refinement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977639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000" b="1" i="0">
                <a:solidFill>
                  <a:srgbClr val="FF5A5F"/>
                </a:solidFill>
                <a:latin typeface="Calibri"/>
              </a:rPr>
              <a:t>PRIMARY ENDPOINT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4370832"/>
            <a:ext cx="338328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800" b="1" i="0">
                <a:solidFill>
                  <a:srgbClr val="F4F7FF"/>
                </a:solidFill>
                <a:latin typeface="Calibri"/>
              </a:rPr>
              <a:t>Major direction resets before acceptance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100" b="1" i="0">
                <a:solidFill>
                  <a:srgbClr val="46E6FF"/>
                </a:solidFill>
                <a:latin typeface="Calibri"/>
              </a:rPr>
              <a:t>DECISION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04088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98000"/>
              </a:lnSpc>
              <a:spcBef>
                <a:spcPts val="0"/>
              </a:spcBef>
            </a:pPr>
            <a:r>
              <a:rPr sz="4400" b="1" i="0">
                <a:solidFill>
                  <a:srgbClr val="F4F7FF"/>
                </a:solidFill>
                <a:latin typeface="Calibri"/>
              </a:rPr>
              <a:t>EARN THE RIGHT
TO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713232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2400" b="1" i="0">
                <a:solidFill>
                  <a:srgbClr val="D8FF3E"/>
                </a:solidFill>
                <a:latin typeface="Calibri"/>
              </a:rPr>
              <a:t>Authorize pilot design—not enterprise rollout.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46E6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46E6FF"/>
                </a:solidFill>
                <a:latin typeface="Calibri"/>
              </a:rPr>
              <a:t>NAME THE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accountable lead for direction and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9B7C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9B7CFF"/>
                </a:solidFill>
                <a:latin typeface="Calibri"/>
              </a:rPr>
              <a:t>SELECT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One bounded landing-page workflow with real 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886200"/>
            <a:ext cx="3246120" cy="1572768"/>
          </a:xfrm>
          <a:prstGeom prst="rect">
            <a:avLst/>
          </a:prstGeom>
          <a:solidFill>
            <a:srgbClr val="151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096512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600" b="1" i="0">
                <a:solidFill>
                  <a:srgbClr val="FF5A5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4096512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200" b="1" i="0">
                <a:solidFill>
                  <a:srgbClr val="FF5A5F"/>
                </a:solidFill>
                <a:latin typeface="Calibri"/>
              </a:rPr>
              <a:t>LOCK THE SCORECARD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681728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500" b="1" i="0">
                <a:solidFill>
                  <a:srgbClr val="F4F7FF"/>
                </a:solidFill>
                <a:latin typeface="Calibri"/>
              </a:rPr>
              <a:t>Baseline, thresholds, blind reviewers, stop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989320"/>
            <a:ext cx="18288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7752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9704" y="5989320"/>
            <a:ext cx="1828800" cy="50800"/>
          </a:xfrm>
          <a:prstGeom prst="rect">
            <a:avLst/>
          </a:prstGeom>
          <a:solidFill>
            <a:srgbClr val="9B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1656" y="5989320"/>
            <a:ext cx="1828800" cy="50800"/>
          </a:xfrm>
          <a:prstGeom prst="rect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5989320"/>
            <a:ext cx="1828800" cy="50800"/>
          </a:xfrm>
          <a:prstGeom prst="rect">
            <a:avLst/>
          </a:prstGeom>
          <a:solidFill>
            <a:srgbClr val="D8F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95560" y="5989320"/>
            <a:ext cx="1371600" cy="50800"/>
          </a:xfrm>
          <a:prstGeom prst="rect">
            <a:avLst/>
          </a:prstGeom>
          <a:solidFill>
            <a:srgbClr val="46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190488"/>
            <a:ext cx="987552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sz="1300" b="1" i="0">
                <a:solidFill>
                  <a:srgbClr val="A8B0C7"/>
                </a:solidFill>
                <a:latin typeface="Calibri"/>
              </a:rPr>
              <a:t>Expand only if resets fall without accessibility, provenance, factual, performance, or cost regressions.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