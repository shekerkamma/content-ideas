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94A3B8"/>
                </a:solidFill>
                <a:latin typeface="Consolas"/>
              </a:rPr>
              <a:t>AI Automation · Nate Herk × Cole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4415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4600" b="1" i="0">
                <a:solidFill>
                  <a:srgbClr val="FFFFFF"/>
                </a:solidFill>
                <a:latin typeface="Calibri"/>
              </a:rPr>
              <a:t>From Using Claude Code
to Directing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34640"/>
            <a:ext cx="219456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8229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50" b="0" i="0">
                <a:solidFill>
                  <a:srgbClr val="CBD5E1"/>
                </a:solidFill>
                <a:latin typeface="Calibri"/>
              </a:rPr>
              <a:t>The 4 skills that turn Claude Code into a reliable, repeatable engine
for any business — not just software.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60520"/>
            <a:ext cx="329184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1">
                <a:solidFill>
                  <a:srgbClr val="CBD5E1"/>
                </a:solidFill>
                <a:latin typeface="Calibri"/>
              </a:rPr>
              <a:t>"You're getting ~20% out of Claude Code,
and it's not about coding skill."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4160520"/>
            <a:ext cx="3291840" cy="8229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2519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CBD5E1"/>
                </a:solidFill>
                <a:latin typeface="Calibri"/>
              </a:rPr>
              <a:t>92% first-pass accuracy
vs 65% without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475569"/>
                </a:solidFill>
                <a:latin typeface="Calibri"/>
              </a:rPr>
              <a:t>Source: youtube.com/watch?v=RzLV8sfFdMM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1828800" cy="2011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713232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4 Skills That Unlock
Claude Code's Full Potential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19072"/>
            <a:ext cx="164592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83664"/>
            <a:ext cx="4114800" cy="4315968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371246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EF4444"/>
                </a:solidFill>
                <a:latin typeface="Consola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04288"/>
            <a:ext cx="3712464" cy="969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250" b="0" i="0">
                <a:solidFill>
                  <a:srgbClr val="CBD5E1"/>
                </a:solidFill>
                <a:latin typeface="Calibri"/>
              </a:rPr>
              <a:t>Most teams treat Claude Code like a slot machine — prompt and pray. The result: random outputs, no system, no memory. You're unlocking ~20% of what's possible.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3346704"/>
            <a:ext cx="3712464" cy="19050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493008"/>
            <a:ext cx="371246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22D3EE"/>
                </a:solidFill>
                <a:latin typeface="Consolas"/>
              </a:rPr>
              <a:t>THE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785615"/>
            <a:ext cx="3712464" cy="969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250" b="0" i="0">
                <a:solidFill>
                  <a:srgbClr val="CBD5E1"/>
                </a:solidFill>
                <a:latin typeface="Calibri"/>
              </a:rPr>
              <a:t>Four skills transform Claude Code from a tool you prompt into a system you direct. Same loop, repeatable results, compounding improvement every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4828032"/>
            <a:ext cx="3712464" cy="19050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4974336"/>
            <a:ext cx="1188720" cy="603504"/>
          </a:xfrm>
          <a:prstGeom prst="roundRect">
            <a:avLst>
              <a:gd name="adj" fmla="val 2000"/>
            </a:avLst>
          </a:prstGeom>
          <a:solidFill>
            <a:srgbClr val="0E2030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029200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EF4444"/>
                </a:solidFill>
                <a:latin typeface="Calibri"/>
              </a:rPr>
              <a:t>65%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4009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onsolas"/>
              </a:rPr>
              <a:t>without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5102352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78608" y="4974336"/>
            <a:ext cx="1188720" cy="603504"/>
          </a:xfrm>
          <a:prstGeom prst="roundRect">
            <a:avLst>
              <a:gd name="adj" fmla="val 2000"/>
            </a:avLst>
          </a:prstGeom>
          <a:solidFill>
            <a:srgbClr val="0E2030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8608" y="5029200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10B981"/>
                </a:solidFill>
                <a:latin typeface="Calibri"/>
              </a:rPr>
              <a:t>92%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5340096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onsolas"/>
              </a:rPr>
              <a:t>with 4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5102352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000" b="0" i="1">
                <a:solidFill>
                  <a:srgbClr val="94A3B8"/>
                </a:solidFill>
                <a:latin typeface="Calibri"/>
              </a:rPr>
              <a:t>first-pass accuracy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56048" y="1883664"/>
            <a:ext cx="6687007" cy="987552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56048" y="1883664"/>
            <a:ext cx="54864" cy="987552"/>
          </a:xfrm>
          <a:prstGeom prst="roundRect">
            <a:avLst>
              <a:gd name="adj" fmla="val 1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02352" y="21214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21214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1975104"/>
            <a:ext cx="591891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59E0B"/>
                </a:solidFill>
                <a:latin typeface="Calibri"/>
              </a:rPr>
              <a:t>PLAN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304288"/>
            <a:ext cx="591891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Write PLAN.md before every task.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2560320"/>
            <a:ext cx="5918911" cy="12700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2615184"/>
            <a:ext cx="591891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94A3B8"/>
                </a:solidFill>
                <a:latin typeface="Consolas"/>
              </a:rPr>
              <a:t>Goal · Tasks · Validation in one doc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6048" y="2944368"/>
            <a:ext cx="6687007" cy="987552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56048" y="2944368"/>
            <a:ext cx="54864" cy="987552"/>
          </a:xfrm>
          <a:prstGeom prst="roundRect">
            <a:avLst>
              <a:gd name="adj" fmla="val 1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02352" y="3182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02352" y="3182112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035808"/>
            <a:ext cx="591891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MANAGE 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364992"/>
            <a:ext cx="591891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Feed the right info — not all of 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3621024"/>
            <a:ext cx="5918911" cy="12700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3675888"/>
            <a:ext cx="591891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94A3B8"/>
                </a:solidFill>
                <a:latin typeface="Consolas"/>
              </a:rPr>
              <a:t>6 techniques to stay out of the dumb zone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56048" y="4005072"/>
            <a:ext cx="6687007" cy="987552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956048" y="4005072"/>
            <a:ext cx="54864" cy="987552"/>
          </a:xfrm>
          <a:prstGeom prst="roundRect">
            <a:avLst>
              <a:gd name="adj" fmla="val 1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02352" y="42428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02352" y="424281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4096512"/>
            <a:ext cx="591891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2D3EE"/>
                </a:solidFill>
                <a:latin typeface="Calibri"/>
              </a:rPr>
              <a:t>VERIFY THE 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425696"/>
            <a:ext cx="591891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Auto-validate before human review.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4681728"/>
            <a:ext cx="5918911" cy="12700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4736592"/>
            <a:ext cx="591891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94A3B8"/>
                </a:solidFill>
                <a:latin typeface="Consolas"/>
              </a:rPr>
              <a:t>65% → 92% accuracy with one verify step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56048" y="5065776"/>
            <a:ext cx="6687007" cy="987552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956048" y="5065776"/>
            <a:ext cx="54864" cy="987552"/>
          </a:xfrm>
          <a:prstGeom prst="roundRect">
            <a:avLst>
              <a:gd name="adj" fmla="val 1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102352" y="53035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02352" y="53035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5157216"/>
            <a:ext cx="591891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3B82F6"/>
                </a:solidFill>
                <a:latin typeface="Calibri"/>
              </a:rPr>
              <a:t>BUILD THE SYSTEM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5486400"/>
            <a:ext cx="591891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Turn every bug into a permanent rule.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5742432"/>
            <a:ext cx="5918911" cy="12700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0" y="5797296"/>
            <a:ext cx="591891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94A3B8"/>
                </a:solidFill>
                <a:latin typeface="Consolas"/>
              </a:rPr>
              <a:t>Floor keeps rising; system compounds weekly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560320" cy="2011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"/>
            <a:ext cx="2468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THE 4-SKILL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7315200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F172A"/>
                </a:solidFill>
                <a:latin typeface="Calibri"/>
              </a:rPr>
              <a:t>The Loop That Replaces Random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875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94A3B8"/>
                </a:solidFill>
                <a:latin typeface="Calibri"/>
              </a:rPr>
              <a:t>Each skill is a stage in a repeatable cycle. Run all four and the system compounds.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89888"/>
            <a:ext cx="5212080" cy="24323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89888"/>
            <a:ext cx="52120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5179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17904"/>
            <a:ext cx="402336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517904"/>
            <a:ext cx="4352544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F172A"/>
                </a:solidFill>
                <a:latin typeface="Calibri"/>
              </a:rPr>
              <a:t>PLAN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488289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1">
                <a:solidFill>
                  <a:srgbClr val="F59E0B"/>
                </a:solidFill>
                <a:latin typeface="Calibri"/>
              </a:rPr>
              <a:t>The north star before every 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231136"/>
            <a:ext cx="4882896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40864"/>
            <a:ext cx="4882896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Write PLAN.md with goal, codebase analysis, integration points, rules, task list, and validation strategy.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108960"/>
            <a:ext cx="4882896" cy="45720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182112"/>
            <a:ext cx="47365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onsolas"/>
              </a:rPr>
              <a:t>Key action:  /prime → research → /plan → edit → fresh context → execute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602736"/>
            <a:ext cx="4882896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621024"/>
            <a:ext cx="480974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Cheapest place to be wrong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98464" y="1389888"/>
            <a:ext cx="5212080" cy="24323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98464" y="1389888"/>
            <a:ext cx="5212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63056" y="15179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1517904"/>
            <a:ext cx="402336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517904"/>
            <a:ext cx="4352544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F172A"/>
                </a:solidFill>
                <a:latin typeface="Calibri"/>
              </a:rPr>
              <a:t>MANAGE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1975104"/>
            <a:ext cx="488289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1">
                <a:solidFill>
                  <a:srgbClr val="10B981"/>
                </a:solidFill>
                <a:latin typeface="Calibri"/>
              </a:rPr>
              <a:t>Right info, not all info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2231136"/>
            <a:ext cx="4882896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2340864"/>
            <a:ext cx="4882896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Effective quality degrades after 100–250K tokens depending on model. Load only what the agent needs, when it needs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3108960"/>
            <a:ext cx="4882896" cy="45720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3182112"/>
            <a:ext cx="47365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onsolas"/>
              </a:rPr>
              <a:t>Key action:  separate sessions · specialized /prime · subagents · on-demand docs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3602736"/>
            <a:ext cx="4882896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3621024"/>
            <a:ext cx="480974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Dumb zone: 100–250K tokens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986784"/>
            <a:ext cx="5212080" cy="24323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986784"/>
            <a:ext cx="521208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3232" y="41148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114800"/>
            <a:ext cx="402336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5296" y="4114800"/>
            <a:ext cx="4352544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F172A"/>
                </a:solidFill>
                <a:latin typeface="Calibri"/>
              </a:rPr>
              <a:t>VERIFY THE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572000"/>
            <a:ext cx="488289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1">
                <a:solidFill>
                  <a:srgbClr val="22D3EE"/>
                </a:solidFill>
                <a:latin typeface="Calibri"/>
              </a:rPr>
              <a:t>Gate every output before shipping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4828032"/>
            <a:ext cx="4882896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937760"/>
            <a:ext cx="4882896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Never trust the first pass. Auto-validate with checks + lint + tests, then human review, then real-world confirm.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5705856"/>
            <a:ext cx="4882896" cy="45720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5779008"/>
            <a:ext cx="47365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onsolas"/>
              </a:rPr>
              <a:t>Key action:  /validate → [fail = fix + re-run] → review → ships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32" y="6199632"/>
            <a:ext cx="4882896" cy="1645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6217920"/>
            <a:ext cx="480974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65% → 92% first-pass accuracy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98464" y="3986784"/>
            <a:ext cx="5212080" cy="24323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98464" y="3986784"/>
            <a:ext cx="5212080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63056" y="41148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3056" y="4114800"/>
            <a:ext cx="402336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114800"/>
            <a:ext cx="4352544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F172A"/>
                </a:solidFill>
                <a:latin typeface="Calibri"/>
              </a:rPr>
              <a:t>BUILD THE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63056" y="4572000"/>
            <a:ext cx="488289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1">
                <a:solidFill>
                  <a:srgbClr val="3B82F6"/>
                </a:solidFill>
                <a:latin typeface="Calibri"/>
              </a:rPr>
              <a:t>Every bug is a permanent upgrade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63056" y="4828032"/>
            <a:ext cx="4882896" cy="152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63056" y="4937760"/>
            <a:ext cx="4882896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When anything goes wrong, don't just fix it. Write a rule, update a reference doc, create a /command. The floor rises.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63056" y="5705856"/>
            <a:ext cx="4882896" cy="45720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5779008"/>
            <a:ext cx="4736592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onsolas"/>
              </a:rPr>
              <a:t>Key action:  bug → rule → reference doc → /command → skill (staircase)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63056" y="6199632"/>
            <a:ext cx="4882896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99632" y="6217920"/>
            <a:ext cx="4809744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Floor rises weekly; compounds over months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51576" y="3703320"/>
            <a:ext cx="256032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BD5E1"/>
                </a:solidFill>
                <a:latin typeface="Calibri"/>
              </a:rPr>
              <a:t>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48072" y="4142232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22D3EE"/>
                </a:solidFill>
                <a:latin typeface="Consolas"/>
              </a:rPr>
              <a:t>↺  same result · on purpose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THE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 4-Skill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Same 4 skills whether Claude Code runs your software, content engine, or business 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50159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650159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27632"/>
            <a:ext cx="235755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97316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938528"/>
            <a:ext cx="235755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F172A"/>
                </a:solidFill>
                <a:latin typeface="Calibri"/>
              </a:rPr>
              <a:t>THE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578608"/>
            <a:ext cx="2357551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Stop pulling the lever. Direct a repeatable loop instead of random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3391" y="1463040"/>
            <a:ext cx="2650159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3391" y="1463040"/>
            <a:ext cx="2650159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9695" y="1627632"/>
            <a:ext cx="235755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59E0B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695" y="1938528"/>
            <a:ext cx="235755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F172A"/>
                </a:solidFill>
                <a:latin typeface="Calibri"/>
              </a:rPr>
              <a:t>PLAN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695" y="2578608"/>
            <a:ext cx="2357551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Make it plan first. PLAN.md is the north star. Cheapest place to be wrong.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1463040"/>
            <a:ext cx="2650159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8143" y="1463040"/>
            <a:ext cx="2650159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1627632"/>
            <a:ext cx="235755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0B981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1938528"/>
            <a:ext cx="235755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F172A"/>
                </a:solidFill>
                <a:latin typeface="Calibri"/>
              </a:rPr>
              <a:t>MANAGE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2578608"/>
            <a:ext cx="2357551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Right info, not all info. Attention is scarce. Control the window carefully.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2895" y="1463040"/>
            <a:ext cx="2650159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2895" y="1463040"/>
            <a:ext cx="2650159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9199" y="1627632"/>
            <a:ext cx="235755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22D3EE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9199" y="1938528"/>
            <a:ext cx="235755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F172A"/>
                </a:solidFill>
                <a:latin typeface="Calibri"/>
              </a:rPr>
              <a:t>VERIFY THE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9199" y="2578608"/>
            <a:ext cx="2357551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Don't trust the first pass. Gate every output — code, content, or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6016752"/>
            <a:ext cx="11094415" cy="6400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71616"/>
            <a:ext cx="10545775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+  BUILD THE SYSTEM  —  Evolve the system, don't just fix the bug. Every bug = a permanent upgrade.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01 · THE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Stop Pulling the Lever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Direct a repeatable loop — same result, on 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44752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F4444"/>
                </a:solidFill>
                <a:latin typeface="Calibri"/>
              </a:rPr>
              <a:t>🎰  Vibe Coding / Slot Machine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1122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0299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Calibri"/>
              </a:rPr>
              <a:t>Pull the prompt lever  and hope for a good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5877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0545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Calibri"/>
              </a:rPr>
              <a:t>Re-roll  when it fails; random outcomes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06324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98094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Calibri"/>
              </a:rPr>
              <a:t>No system,  no memory — fragile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5387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4564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Calibri"/>
              </a:rPr>
              <a:t>~20% of potential  unlocked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38328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444752"/>
            <a:ext cx="533369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444752"/>
            <a:ext cx="5333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572768"/>
            <a:ext cx="496793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2D3EE"/>
                </a:solidFill>
                <a:latin typeface="Calibri"/>
              </a:rPr>
              <a:t>🎼  Director / Conductor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56832" y="19933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1993392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1993392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Calibri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993392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PLAN.md · north star · cheapest to be wrong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48272" y="2331720"/>
            <a:ext cx="25400" cy="6126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56832" y="29626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962656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2962656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Calibri"/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962656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right info · lean window · /prime · subagents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48272" y="3300984"/>
            <a:ext cx="25400" cy="6126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56832" y="3931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3931920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3931920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Calibri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931920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auto-checks → lint → tests → review → ships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48272" y="4270248"/>
            <a:ext cx="25400" cy="6126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56832" y="49011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6832" y="4901184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4901184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Calibri"/>
              </a:rPr>
              <a:t>Evolve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901184"/>
            <a:ext cx="33220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system upgrade · rule → doc → cmd → skill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035040"/>
            <a:ext cx="11094415" cy="59436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0891B2"/>
                </a:solidFill>
                <a:latin typeface="Calibri"/>
              </a:rPr>
              <a:t>"You're not learning to code, you're learning to direct."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02 · PLAN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Make It Plan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PLAN.md is the north star — cheapest place to be wrong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44752"/>
            <a:ext cx="530352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530352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572768"/>
            <a:ext cx="914400" cy="274320"/>
          </a:xfrm>
          <a:prstGeom prst="roundRect">
            <a:avLst>
              <a:gd name="adj" fmla="val 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81912"/>
            <a:ext cx="87782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onsolas"/>
              </a:rPr>
              <a:t>PLAN.md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Calibri"/>
              </a:rPr>
              <a:t>= the north star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07568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9933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Calibri"/>
              </a:rPr>
              <a:t>goal + success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5877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0545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Calibri"/>
              </a:rPr>
              <a:t>codebase + docs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0998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175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Calibri"/>
              </a:rPr>
              <a:t>integration 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61188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2958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Calibri"/>
              </a:rPr>
              <a:t>task-specific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1239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416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Calibri"/>
              </a:rPr>
              <a:t>granular task 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6360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537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0F172A"/>
                </a:solidFill>
                <a:latin typeface="Calibri"/>
              </a:rPr>
              <a:t>validation strategy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084064"/>
            <a:ext cx="4974336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166360"/>
            <a:ext cx="49743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F59E0B"/>
                </a:solidFill>
                <a:latin typeface="Calibri"/>
              </a:rPr>
              <a:t>"The plan is the cheapest place to be wrong."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1444752"/>
            <a:ext cx="5516575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1444752"/>
            <a:ext cx="551657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572768"/>
            <a:ext cx="51508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F172A"/>
                </a:solidFill>
                <a:latin typeface="Calibri"/>
              </a:rPr>
              <a:t>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208483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73368" y="2304288"/>
            <a:ext cx="25400" cy="4937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2048256"/>
            <a:ext cx="48764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onsolas"/>
              </a:rPr>
              <a:t>/prime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2286000"/>
            <a:ext cx="48764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docs · structure · git 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277977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73368" y="2999232"/>
            <a:ext cx="25400" cy="4937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2743200"/>
            <a:ext cx="48764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onsolas"/>
              </a:rPr>
              <a:t>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980944"/>
            <a:ext cx="48764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subagents = 3 options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347472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73368" y="3694176"/>
            <a:ext cx="25400" cy="4937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3438144"/>
            <a:ext cx="48764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onsolas"/>
              </a:rPr>
              <a:t>/plan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3675888"/>
            <a:ext cx="48764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writes the document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91072" y="416966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73368" y="4389120"/>
            <a:ext cx="25400" cy="4937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4133088"/>
            <a:ext cx="48764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onsolas"/>
              </a:rPr>
              <a:t>edit live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4370832"/>
            <a:ext cx="48764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add e2e · fix scope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91072" y="48646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73368" y="5084064"/>
            <a:ext cx="25400" cy="4937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1968" y="4828032"/>
            <a:ext cx="48764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onsolas"/>
              </a:rPr>
              <a:t>fresh context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1968" y="5065776"/>
            <a:ext cx="48764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new session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91072" y="55595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1968" y="5522976"/>
            <a:ext cx="487649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onsolas"/>
              </a:rPr>
              <a:t>execute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01968" y="5760720"/>
            <a:ext cx="487649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task by task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6035040"/>
            <a:ext cx="11094415" cy="59436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0891B2"/>
                </a:solidFill>
                <a:latin typeface="Calibri"/>
              </a:rPr>
              <a:t>"Sandwich the delegation of coding between planning and validation."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03 · MANAGE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Right Info, Not All Info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Attention is scarce — the dumb zone is real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44752"/>
            <a:ext cx="51206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F4444"/>
                </a:solidFill>
                <a:latin typeface="Calibri"/>
              </a:rPr>
              <a:t>The Context Window Dumb Zone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48256"/>
            <a:ext cx="4791456" cy="45720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1305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Opus 4.8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21305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F4444"/>
                </a:solidFill>
                <a:latin typeface="Consolas"/>
              </a:rPr>
              <a:t>~250,000 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596896"/>
            <a:ext cx="4791456" cy="45720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6791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Opus 4.7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267919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97316"/>
                </a:solidFill>
                <a:latin typeface="Consolas"/>
              </a:rPr>
              <a:t>~200,000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145536"/>
            <a:ext cx="4791456" cy="45720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22783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Sonnet 4.6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3824" y="32278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59E0B"/>
                </a:solidFill>
                <a:latin typeface="Consolas"/>
              </a:rPr>
              <a:t>~100–125K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58768"/>
            <a:ext cx="479145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94A3B8"/>
                </a:solidFill>
                <a:latin typeface="Calibri"/>
              </a:rPr>
              <a:t>1M context ≠ 1M usable tokens. Attention degrades in the middle.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5120640" cy="1700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931920"/>
            <a:ext cx="479145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Context window visualized: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279392"/>
            <a:ext cx="219456" cy="25603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" y="4279392"/>
            <a:ext cx="219456" cy="2560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25296" y="4279392"/>
            <a:ext cx="219456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81328" y="4279392"/>
            <a:ext cx="219456" cy="25603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37360" y="4279392"/>
            <a:ext cx="219456" cy="25603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59028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F4444"/>
                </a:solidFill>
                <a:latin typeface="Consolas"/>
              </a:rPr>
              <a:t>cluttered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424281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33471" y="4279392"/>
            <a:ext cx="219456" cy="2560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89503" y="4279392"/>
            <a:ext cx="219456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3471" y="459028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0B981"/>
                </a:solidFill>
                <a:latin typeface="Consolas"/>
              </a:rPr>
              <a:t>lean + sharp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1444752"/>
            <a:ext cx="5699455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1444752"/>
            <a:ext cx="5699455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1572768"/>
            <a:ext cx="533369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F172A"/>
                </a:solidFill>
                <a:latin typeface="Calibri"/>
              </a:rPr>
              <a:t>6 Ways to Control the Window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08192" y="20939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029968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Separate sessions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2267712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plan &amp; build in different chats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08192" y="27706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2706624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/prime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2944368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docs, structure, git log on session start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08192" y="344728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3383280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Specialized primes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3621024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-frontend / -backend / -db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08192" y="41239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8" y="4059936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On-demand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4297680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load reference docs only when needed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08192" y="48006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4736592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Git log = 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4974336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clean commits summarize context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08192" y="547725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5413248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Subagents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5650992"/>
            <a:ext cx="51508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delegate research; main stays clean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6035040"/>
            <a:ext cx="11094415" cy="59436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0891B2"/>
                </a:solidFill>
                <a:latin typeface="Calibri"/>
              </a:rPr>
              <a:t>"Needle-in-a-haystack: information buried mid-context gets lost."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04 · VERIFY THE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Don't Trust the First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Gate every output — code, content, or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44752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53035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572768"/>
            <a:ext cx="914400" cy="292608"/>
          </a:xfrm>
          <a:prstGeom prst="roundRect">
            <a:avLst>
              <a:gd name="adj" fmla="val 2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591056"/>
            <a:ext cx="87782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334155"/>
                </a:solidFill>
                <a:latin typeface="Calibri"/>
              </a:rPr>
              <a:t>Agent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1874519"/>
            <a:ext cx="25400" cy="2377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30552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10B981"/>
                </a:solidFill>
                <a:latin typeface="Consolas"/>
              </a:rPr>
              <a:t>AUTOMATED  /validate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359152"/>
            <a:ext cx="4974336" cy="530352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2359152"/>
            <a:ext cx="384048" cy="530352"/>
          </a:xfrm>
          <a:prstGeom prst="roundRect">
            <a:avLst>
              <a:gd name="adj" fmla="val 1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46888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14016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Auto-Checks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65176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alibri"/>
              </a:rPr>
              <a:t>lint, type check, format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907792"/>
            <a:ext cx="25400" cy="14630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054096"/>
            <a:ext cx="4974336" cy="530352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054096"/>
            <a:ext cx="384048" cy="530352"/>
          </a:xfrm>
          <a:prstGeom prst="roundRect">
            <a:avLst>
              <a:gd name="adj" fmla="val 1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163824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108960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Rules / Lint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346704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alibri"/>
              </a:rPr>
              <a:t>project-specific checks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602736"/>
            <a:ext cx="25400" cy="14630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" y="3749040"/>
            <a:ext cx="4974336" cy="530352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3749040"/>
            <a:ext cx="384048" cy="530352"/>
          </a:xfrm>
          <a:prstGeom prst="roundRect">
            <a:avLst>
              <a:gd name="adj" fmla="val 1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858768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803904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041648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alibri"/>
              </a:rPr>
              <a:t>unit + 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359152"/>
            <a:ext cx="1389888" cy="2084831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2487168"/>
            <a:ext cx="118872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sz="1150" b="1" i="0">
                <a:solidFill>
                  <a:srgbClr val="EF4444"/>
                </a:solidFill>
                <a:latin typeface="Calibri"/>
              </a:rPr>
              <a:t>fail →
fix +
re-run 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43984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8B5CF6"/>
                </a:solidFill>
                <a:latin typeface="Consolas"/>
              </a:rPr>
              <a:t>HUMAN +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2968" y="4270248"/>
            <a:ext cx="25400" cy="20116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3232" y="4663440"/>
            <a:ext cx="4974336" cy="45720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3232" y="4663440"/>
            <a:ext cx="384048" cy="457200"/>
          </a:xfrm>
          <a:prstGeom prst="roundRect">
            <a:avLst>
              <a:gd name="adj" fmla="val 1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73659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4700016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901184"/>
            <a:ext cx="4389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alibri"/>
              </a:rPr>
              <a:t>human + agent code 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5138928"/>
            <a:ext cx="25400" cy="14630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13232" y="5266944"/>
            <a:ext cx="4974336" cy="45720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13232" y="5266944"/>
            <a:ext cx="384048" cy="457200"/>
          </a:xfrm>
          <a:prstGeom prst="roundRect">
            <a:avLst>
              <a:gd name="adj" fmla="val 1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340096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303520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Real-World Check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5504688"/>
            <a:ext cx="43891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94A3B8"/>
                </a:solidFill>
                <a:latin typeface="Calibri"/>
              </a:rPr>
              <a:t>deploy to staging / verify live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5907024"/>
            <a:ext cx="4974336" cy="274320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907024"/>
            <a:ext cx="4974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0B981"/>
                </a:solidFill>
                <a:latin typeface="Calibri"/>
              </a:rPr>
              <a:t>✓  SHIPS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1481328"/>
            <a:ext cx="5516575" cy="133502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1572768"/>
            <a:ext cx="5242255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EF4444"/>
                </a:solidFill>
                <a:latin typeface="Calibri"/>
              </a:rPr>
              <a:t>65%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2139696"/>
            <a:ext cx="533369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94A3B8"/>
                </a:solidFill>
                <a:latin typeface="Calibri"/>
              </a:rPr>
              <a:t>without verify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2395728"/>
            <a:ext cx="53336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Calibri"/>
              </a:rPr>
              <a:t>First-pass accuracy
without verification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2944368"/>
            <a:ext cx="551657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Calibri"/>
              </a:rPr>
              <a:t>↓ improves with /validate 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80" y="3310128"/>
            <a:ext cx="5516575" cy="133502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3401568"/>
            <a:ext cx="5242255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10B981"/>
                </a:solidFill>
                <a:latin typeface="Calibri"/>
              </a:rPr>
              <a:t>92%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3968496"/>
            <a:ext cx="533369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94A3B8"/>
                </a:solidFill>
                <a:latin typeface="Calibri"/>
              </a:rPr>
              <a:t>with verification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224528"/>
            <a:ext cx="53336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F172A"/>
                </a:solidFill>
                <a:latin typeface="Calibri"/>
              </a:rPr>
              <a:t>First-pass accuracy
with verification pipeline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26480" y="4736592"/>
            <a:ext cx="5516575" cy="1243584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4828032"/>
            <a:ext cx="524225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1">
                <a:solidFill>
                  <a:srgbClr val="0891B2"/>
                </a:solidFill>
                <a:latin typeface="Calibri"/>
              </a:rPr>
              <a:t>"We only care about what we see when control comes back to us."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05 · BUILD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Evolve the System, Don't Just Fix the Bug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Every bug is a permanent upgrade opportunity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44752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5303520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97316"/>
                </a:solidFill>
                <a:latin typeface="Calibri"/>
              </a:rPr>
              <a:t>When a Bug Appears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99339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1993392"/>
            <a:ext cx="460857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EF4444"/>
                </a:solidFill>
                <a:latin typeface="Calibri"/>
              </a:rPr>
              <a:t>Bug detected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450592"/>
            <a:ext cx="4974336" cy="566928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523744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97316"/>
                </a:solidFill>
                <a:latin typeface="Consolas"/>
              </a:rPr>
              <a:t>+ 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2523744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334155"/>
                </a:solidFill>
                <a:latin typeface="Calibri"/>
              </a:rPr>
              <a:t>"use @/ aliases"  →  prevents import path errors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" y="3035808"/>
            <a:ext cx="254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163824"/>
            <a:ext cx="4974336" cy="566928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236976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59E0B"/>
                </a:solidFill>
                <a:latin typeface="Consolas"/>
              </a:rPr>
              <a:t>+  reference doc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3236976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334155"/>
                </a:solidFill>
                <a:latin typeface="Calibri"/>
              </a:rPr>
              <a:t>auth-flow.md  →  agent reads it next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3749040"/>
            <a:ext cx="254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877056"/>
            <a:ext cx="4974336" cy="566928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95020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0B981"/>
                </a:solidFill>
                <a:latin typeface="Consolas"/>
              </a:rPr>
              <a:t>+  update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6272" y="3950208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334155"/>
                </a:solidFill>
                <a:latin typeface="Calibri"/>
              </a:rPr>
              <a:t>"always add tests"  →  encoded in PLAN.md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4462272"/>
            <a:ext cx="254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4590288"/>
            <a:ext cx="4974336" cy="566928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663440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3B82F6"/>
                </a:solidFill>
                <a:latin typeface="Consolas"/>
              </a:rPr>
              <a:t>+  new /command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76272" y="4663440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334155"/>
                </a:solidFill>
                <a:latin typeface="Calibri"/>
              </a:rPr>
              <a:t>reuse the fix pattern  →  forever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449824"/>
            <a:ext cx="4974336" cy="384048"/>
          </a:xfrm>
          <a:prstGeom prst="roundRect">
            <a:avLst>
              <a:gd name="adj" fmla="val 2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449824"/>
            <a:ext cx="497433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Every bug = a permanent upgrade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1444752"/>
            <a:ext cx="551657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1444752"/>
            <a:ext cx="5516575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572768"/>
            <a:ext cx="515081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F172A"/>
                </a:solidFill>
                <a:latin typeface="Calibri"/>
              </a:rPr>
              <a:t>The Rising Floor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93127" y="4691888"/>
            <a:ext cx="749808" cy="355600"/>
          </a:xfrm>
          <a:prstGeom prst="roundRect">
            <a:avLst>
              <a:gd name="adj" fmla="val 1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3127" y="4765040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onsolas"/>
              </a:rPr>
              <a:t>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3127" y="5102352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week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70951" y="4348988"/>
            <a:ext cx="749808" cy="698500"/>
          </a:xfrm>
          <a:prstGeom prst="roundRect">
            <a:avLst>
              <a:gd name="adj" fmla="val 1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0951" y="4422140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onsolas"/>
              </a:rPr>
              <a:t>doc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0951" y="5102352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week 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48775" y="4006088"/>
            <a:ext cx="749808" cy="1041400"/>
          </a:xfrm>
          <a:prstGeom prst="roundRect">
            <a:avLst>
              <a:gd name="adj" fmla="val 1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48775" y="4079240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onsolas"/>
              </a:rPr>
              <a:t>cmd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8775" y="5102352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week 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26599" y="3675888"/>
            <a:ext cx="749808" cy="1371600"/>
          </a:xfrm>
          <a:prstGeom prst="roundRect">
            <a:avLst>
              <a:gd name="adj" fmla="val 1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6599" y="3749040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onsolas"/>
              </a:rPr>
              <a:t>skill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6599" y="5102352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month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2743200"/>
            <a:ext cx="515081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200" b="0" i="1">
                <a:solidFill>
                  <a:srgbClr val="94A3B8"/>
                </a:solidFill>
                <a:latin typeface="Calibri"/>
              </a:rPr>
              <a:t>floor keeps rising
+ smarter every week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035040"/>
            <a:ext cx="11094415" cy="59436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0891B2"/>
                </a:solidFill>
                <a:latin typeface="Calibri"/>
              </a:rPr>
              <a:t>"Same workflow, taller building. Only the ceiling changes."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Agent = Model + Harness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78992"/>
            <a:ext cx="146304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94A3B8"/>
                </a:solidFill>
                <a:latin typeface="Calibri"/>
              </a:rPr>
              <a:t>Same skills, bigger building — only the ceiling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645920"/>
            <a:ext cx="5029200" cy="4023360"/>
          </a:xfrm>
          <a:prstGeom prst="roundRect">
            <a:avLst>
              <a:gd name="adj" fmla="val 4000"/>
            </a:avLst>
          </a:prstGeom>
          <a:solidFill>
            <a:srgbClr val="0E203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77393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22D3EE"/>
                </a:solidFill>
                <a:latin typeface="Consolas"/>
              </a:rPr>
              <a:t>THE AI LAYER  (You BUILD)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048256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1">
                <a:solidFill>
                  <a:srgbClr val="67E8F9"/>
                </a:solidFill>
                <a:latin typeface="Calibri"/>
              </a:rPr>
              <a:t>CLAUDE.md · Skills · Hooks · MCP · LSP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450592"/>
            <a:ext cx="3749039" cy="2798064"/>
          </a:xfrm>
          <a:prstGeom prst="roundRect">
            <a:avLst>
              <a:gd name="adj" fmla="val 4000"/>
            </a:avLst>
          </a:prstGeom>
          <a:solidFill>
            <a:srgbClr val="0A1A28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57860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3C5FD"/>
                </a:solidFill>
                <a:latin typeface="Consolas"/>
              </a:rPr>
              <a:t>THE HARNESS  (You PICK)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83464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1">
                <a:solidFill>
                  <a:srgbClr val="93C5FD"/>
                </a:solidFill>
                <a:latin typeface="Calibri"/>
              </a:rPr>
              <a:t>Claude Code · Codex · Cursor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310128"/>
            <a:ext cx="2286000" cy="1444752"/>
          </a:xfrm>
          <a:prstGeom prst="roundRect">
            <a:avLst>
              <a:gd name="adj" fmla="val 4000"/>
            </a:avLst>
          </a:prstGeom>
          <a:solidFill>
            <a:srgbClr val="10082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529584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C4B5FD"/>
                </a:solidFill>
                <a:latin typeface="Calibri"/>
              </a:rPr>
              <a:t>The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89534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A78BFA"/>
                </a:solidFill>
                <a:latin typeface="Calibri"/>
              </a:rPr>
              <a:t>(You PICK)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536192"/>
            <a:ext cx="4693615" cy="1426464"/>
          </a:xfrm>
          <a:prstGeom prst="roundRect">
            <a:avLst>
              <a:gd name="adj" fmla="val 2000"/>
            </a:avLst>
          </a:prstGeom>
          <a:solidFill>
            <a:srgbClr val="0E2030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1609344"/>
            <a:ext cx="440100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2D3EE"/>
                </a:solidFill>
                <a:latin typeface="Consolas"/>
              </a:rPr>
              <a:t>You BUILD → The AI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1883664"/>
            <a:ext cx="44010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CLAUDE.md  ·  custom rules
Skills  ·  Hooks  ·  MCP servers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127248"/>
            <a:ext cx="4693615" cy="1426464"/>
          </a:xfrm>
          <a:prstGeom prst="roundRect">
            <a:avLst>
              <a:gd name="adj" fmla="val 2000"/>
            </a:avLst>
          </a:prstGeom>
          <a:solidFill>
            <a:srgbClr val="0E203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3200400"/>
            <a:ext cx="440100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93C5FD"/>
                </a:solidFill>
                <a:latin typeface="Consolas"/>
              </a:rPr>
              <a:t>You PICK → The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3474720"/>
            <a:ext cx="44010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Claude Code  ·  Codex  ·  Cursor
Wraps the model with tools +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4718304"/>
            <a:ext cx="4693615" cy="914400"/>
          </a:xfrm>
          <a:prstGeom prst="roundRect">
            <a:avLst>
              <a:gd name="adj" fmla="val 2000"/>
            </a:avLst>
          </a:prstGeom>
          <a:solidFill>
            <a:srgbClr val="0E203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5744" y="4791456"/>
            <a:ext cx="440100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C4B5FD"/>
                </a:solidFill>
                <a:latin typeface="Consolas"/>
              </a:rPr>
              <a:t>The Model → Claude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5065776"/>
            <a:ext cx="440100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You pick the right model for the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ADVANCED · HARNESS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 RALF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Multi-session orchestration for large tasks — deterministic, not chaotic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454298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345429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91056"/>
            <a:ext cx="312511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94A3B8"/>
                </a:solidFill>
                <a:latin typeface="Consolas"/>
              </a:rPr>
              <a:t>SESSION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47088"/>
            <a:ext cx="312511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59E0B"/>
                </a:solidFill>
                <a:latin typeface="Calibri"/>
              </a:rPr>
              <a:t>PLANNER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267712"/>
            <a:ext cx="914400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77440"/>
            <a:ext cx="3125114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334155"/>
                </a:solidFill>
                <a:latin typeface="Calibri"/>
              </a:rPr>
              <a:t>Reads the full spec. Defines phase list. Creates detailed handoff document.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736592"/>
            <a:ext cx="3125114" cy="27432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736592"/>
            <a:ext cx="312511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59E0B"/>
                </a:solidFill>
                <a:latin typeface="Consolas"/>
              </a:rPr>
              <a:t>→ handoff.md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4378" y="3072384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8698" y="1463040"/>
            <a:ext cx="3454298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8698" y="1463040"/>
            <a:ext cx="3454298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3290" y="1591056"/>
            <a:ext cx="312511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94A3B8"/>
                </a:solidFill>
                <a:latin typeface="Consolas"/>
              </a:rPr>
              <a:t>SESSION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290" y="1847088"/>
            <a:ext cx="312511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22D3EE"/>
                </a:solidFill>
                <a:latin typeface="Calibri"/>
              </a:rPr>
              <a:t>IMPLEMENTER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3290" y="2267712"/>
            <a:ext cx="914400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3290" y="2377440"/>
            <a:ext cx="3125114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334155"/>
                </a:solidFill>
                <a:latin typeface="Calibri"/>
              </a:rPr>
              <a:t>Reads handoff. Executes phase. Stays in clean context. One phase at a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3290" y="4736592"/>
            <a:ext cx="3125114" cy="27432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3290" y="4736592"/>
            <a:ext cx="312511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2D3EE"/>
                </a:solidFill>
                <a:latin typeface="Consolas"/>
              </a:rPr>
              <a:t>→ exec-report.md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14436" y="3072384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CBD5E1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8756" y="1463040"/>
            <a:ext cx="3454298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8756" y="1463040"/>
            <a:ext cx="345429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3348" y="1591056"/>
            <a:ext cx="312511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94A3B8"/>
                </a:solidFill>
                <a:latin typeface="Consolas"/>
              </a:rPr>
              <a:t>SESSION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3348" y="1847088"/>
            <a:ext cx="312511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10B981"/>
                </a:solidFill>
                <a:latin typeface="Calibri"/>
              </a:rPr>
              <a:t>VALIDATOR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53348" y="2267712"/>
            <a:ext cx="914400" cy="2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3348" y="2377440"/>
            <a:ext cx="3125114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334155"/>
                </a:solidFill>
                <a:latin typeface="Calibri"/>
              </a:rPr>
              <a:t>Reads execution report. Runs code review. Validates outputs against spec.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53348" y="4736592"/>
            <a:ext cx="3125114" cy="27432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3348" y="4736592"/>
            <a:ext cx="312511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0B981"/>
                </a:solidFill>
                <a:latin typeface="Consolas"/>
              </a:rPr>
              <a:t>→ ships 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212080"/>
            <a:ext cx="11094415" cy="640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285232"/>
            <a:ext cx="8168335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Why RALF?  One session hits the dumb zone (~250K tokens). RALF breaks work into fresh-context sessions with clean handoff docs.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31375" y="5212080"/>
            <a:ext cx="2011680" cy="64008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22815" y="5285232"/>
            <a:ext cx="18288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000" b="0" i="0">
                <a:solidFill>
                  <a:srgbClr val="0891B2"/>
                </a:solidFill>
                <a:latin typeface="Calibri"/>
              </a:rPr>
              <a:t>Archon Project
Open-source RALF harness
by Cole (GitHub)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035040"/>
            <a:ext cx="11094415" cy="59436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0891B2"/>
                </a:solidFill>
                <a:latin typeface="Calibri"/>
              </a:rPr>
              <a:t>"Build Claude Code into a system instead of having Claude Code try to orchestrate everything."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The Security Mindset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Prompts are not a permission layer — infrastructure 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10047" cy="429768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5410047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91056"/>
            <a:ext cx="504428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F4444"/>
                </a:solidFill>
                <a:latin typeface="Calibri"/>
              </a:rPr>
              <a:t>⚠  False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7627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084831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7F1D1D"/>
                </a:solidFill>
                <a:latin typeface="Calibri"/>
              </a:rPr>
              <a:t>"Never wipe the database" → it still will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8833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596895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7F1D1D"/>
                </a:solidFill>
                <a:latin typeface="Calibri"/>
              </a:rPr>
              <a:t>"Don't delete the folder" → it writes a script that does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39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108959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7F1D1D"/>
                </a:solidFill>
                <a:latin typeface="Calibri"/>
              </a:rPr>
              <a:t>Prompt instructions are not enforced at 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124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621023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7F1D1D"/>
                </a:solidFill>
                <a:latin typeface="Calibri"/>
              </a:rPr>
              <a:t>Proactive agents will touch anything readable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2452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133087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7F1D1D"/>
                </a:solidFill>
                <a:latin typeface="Calibri"/>
              </a:rPr>
              <a:t>Real incident: agent sent discount email to full 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1463040"/>
            <a:ext cx="5410047" cy="429768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1463040"/>
            <a:ext cx="5410047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5887" y="1591056"/>
            <a:ext cx="504428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0B981"/>
                </a:solidFill>
                <a:latin typeface="Calibri"/>
              </a:rPr>
              <a:t>✓  Real Protection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5887" y="217627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5343" y="2084831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14532D"/>
                </a:solidFill>
                <a:latin typeface="Calibri"/>
              </a:rPr>
              <a:t>Scoped API keys (read-only, limited write scope)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5887" y="268833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5343" y="2596895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14532D"/>
                </a:solidFill>
                <a:latin typeface="Calibri"/>
              </a:rPr>
              <a:t>Infrastructure-level permissions, not just prompts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5887" y="320039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5343" y="3108959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14532D"/>
                </a:solidFill>
                <a:latin typeface="Calibri"/>
              </a:rPr>
              <a:t>Assume: anything readable or touchable, it WILL touch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5887" y="371246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5343" y="3621023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14532D"/>
                </a:solidFill>
                <a:latin typeface="Calibri"/>
              </a:rPr>
              <a:t>Include security scanning in verification pipeline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5887" y="4224527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35343" y="4133087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14532D"/>
                </a:solidFill>
                <a:latin typeface="Calibri"/>
              </a:rPr>
              <a:t>Supabase keys leaked → databases wiped → act now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035040"/>
            <a:ext cx="11094415" cy="59436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0891B2"/>
                </a:solidFill>
                <a:latin typeface="Calibri"/>
              </a:rPr>
              <a:t>"Anything the agent can read or touch, you have to assume that it will — even if you never ask it to."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10 Principles Worth 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1">
                <a:solidFill>
                  <a:srgbClr val="94A3B8"/>
                </a:solidFill>
                <a:latin typeface="Calibri"/>
              </a:rPr>
              <a:t>Distilled from 68 minutes with Cole + Nate Herk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52144"/>
            <a:ext cx="14630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53312"/>
            <a:ext cx="5410047" cy="1024128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53312"/>
            <a:ext cx="54864" cy="1024128"/>
          </a:xfrm>
          <a:prstGeom prst="roundRect">
            <a:avLst>
              <a:gd name="adj" fmla="val 1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5135727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1">
                <a:solidFill>
                  <a:srgbClr val="CBD5E1"/>
                </a:solidFill>
                <a:latin typeface="Calibri"/>
              </a:rPr>
              <a:t>"The plan is the cheapest place to be wrong."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353312"/>
            <a:ext cx="5410047" cy="1024128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3007" y="1353312"/>
            <a:ext cx="54864" cy="1024128"/>
          </a:xfrm>
          <a:prstGeom prst="roundRect">
            <a:avLst>
              <a:gd name="adj" fmla="val 1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7599" y="1481328"/>
            <a:ext cx="5135727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1">
                <a:solidFill>
                  <a:srgbClr val="CBD5E1"/>
                </a:solidFill>
                <a:latin typeface="Calibri"/>
              </a:rPr>
              <a:t>"You're getting ~20% out of Claude Code — not about coding skill."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05456"/>
            <a:ext cx="5410047" cy="1024128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54864" cy="1024128"/>
          </a:xfrm>
          <a:prstGeom prst="roundRect">
            <a:avLst>
              <a:gd name="adj" fmla="val 1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633472"/>
            <a:ext cx="5135727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1">
                <a:solidFill>
                  <a:srgbClr val="CBD5E1"/>
                </a:solidFill>
                <a:latin typeface="Calibri"/>
              </a:rPr>
              <a:t>"Attention is scarce. Don't throw everything at the window."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505456"/>
            <a:ext cx="5410047" cy="1024128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33007" y="2505456"/>
            <a:ext cx="54864" cy="1024128"/>
          </a:xfrm>
          <a:prstGeom prst="roundRect">
            <a:avLst>
              <a:gd name="adj" fmla="val 1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9" y="2633472"/>
            <a:ext cx="5135727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1">
                <a:solidFill>
                  <a:srgbClr val="CBD5E1"/>
                </a:solidFill>
                <a:latin typeface="Calibri"/>
              </a:rPr>
              <a:t>"Every bug = a permanent upgrade."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5410047" cy="1024128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54864" cy="1024128"/>
          </a:xfrm>
          <a:prstGeom prst="roundRect">
            <a:avLst>
              <a:gd name="adj" fmla="val 1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785616"/>
            <a:ext cx="5135727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1">
                <a:solidFill>
                  <a:srgbClr val="CBD5E1"/>
                </a:solidFill>
                <a:latin typeface="Calibri"/>
              </a:rPr>
              <a:t>"Same workflow, taller building. Only the ceiling changes."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657600"/>
            <a:ext cx="5410047" cy="1024128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3007" y="3657600"/>
            <a:ext cx="54864" cy="1024128"/>
          </a:xfrm>
          <a:prstGeom prst="roundRect">
            <a:avLst>
              <a:gd name="adj" fmla="val 1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7599" y="3785616"/>
            <a:ext cx="5135727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1">
                <a:solidFill>
                  <a:srgbClr val="CBD5E1"/>
                </a:solidFill>
                <a:latin typeface="Calibri"/>
              </a:rPr>
              <a:t>"We only care about what we see when control comes back to us."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09744"/>
            <a:ext cx="5410047" cy="1024128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809744"/>
            <a:ext cx="54864" cy="1024128"/>
          </a:xfrm>
          <a:prstGeom prst="roundRect">
            <a:avLst>
              <a:gd name="adj" fmla="val 1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937760"/>
            <a:ext cx="5135727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1">
                <a:solidFill>
                  <a:srgbClr val="CBD5E1"/>
                </a:solidFill>
                <a:latin typeface="Calibri"/>
              </a:rPr>
              <a:t>"You're not learning to code, you're learning to direct."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4809744"/>
            <a:ext cx="5410047" cy="1024128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4809744"/>
            <a:ext cx="54864" cy="1024128"/>
          </a:xfrm>
          <a:prstGeom prst="roundRect">
            <a:avLst>
              <a:gd name="adj" fmla="val 1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7599" y="4937760"/>
            <a:ext cx="5135727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1">
                <a:solidFill>
                  <a:srgbClr val="CBD5E1"/>
                </a:solidFill>
                <a:latin typeface="Calibri"/>
              </a:rPr>
              <a:t>"Anything the agent can touch, you must assume it will."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Start Directing.
Stop Vibe Coding.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83664"/>
            <a:ext cx="82296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0" i="0">
                <a:solidFill>
                  <a:srgbClr val="CBD5E1"/>
                </a:solidFill>
                <a:latin typeface="Calibri"/>
              </a:rPr>
              <a:t>Apply the 4 skills. Run the loop. Let every bug become a permanent upgrade.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05456"/>
            <a:ext cx="3515258" cy="3474720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505456"/>
            <a:ext cx="3515258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6700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700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35808"/>
            <a:ext cx="3186074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Write a PLAN.md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11296"/>
            <a:ext cx="3186074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94A3B8"/>
                </a:solidFill>
                <a:latin typeface="Calibri"/>
              </a:rPr>
              <a:t>Before your next Claude Code task. Include goal, success criteria, integration points, and validation strategy.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2505456"/>
            <a:ext cx="3515258" cy="3474720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8218" y="2505456"/>
            <a:ext cx="3515258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02810" y="26700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2810" y="26700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2810" y="3035808"/>
            <a:ext cx="3186074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Add One Verify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2810" y="3511296"/>
            <a:ext cx="3186074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94A3B8"/>
                </a:solidFill>
                <a:latin typeface="Calibri"/>
              </a:rPr>
              <a:t>Pick your most common task. Add an auto-check so Claude validates its own output before returning to you.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2505456"/>
            <a:ext cx="3515258" cy="3474720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7796" y="2505456"/>
            <a:ext cx="351525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92388" y="26700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2388" y="26700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2388" y="3035808"/>
            <a:ext cx="3186074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Fix Bugs Permanently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2388" y="3511296"/>
            <a:ext cx="3186074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94A3B8"/>
                </a:solidFill>
                <a:latin typeface="Calibri"/>
              </a:rPr>
              <a:t>Next time a bug appears — write a rule, a reference doc, or a /command. The floor keeps rising.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035040"/>
            <a:ext cx="11094415" cy="594360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475569"/>
                </a:solidFill>
                <a:latin typeface="Calibri"/>
              </a:rPr>
              <a:t>Source: Nate Herk × Cole · youtube.com/watch?v=RzLV8sfFdMM  ·  Archon Project: github.com/coleam00/archon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BUSINESS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Not Just For Software Teams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The same 4 skills work for any business operation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50159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650159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" y="160934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920240"/>
            <a:ext cx="2357551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alibri"/>
              </a:rPr>
              <a:t>B2B Quote 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432304"/>
            <a:ext cx="235755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542032"/>
            <a:ext cx="235755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94A3B8"/>
                </a:solidFill>
                <a:latin typeface="Consolas"/>
              </a:rPr>
              <a:t>Pipeline Steps: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798064"/>
            <a:ext cx="2357551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 i="0">
                <a:solidFill>
                  <a:srgbClr val="334155"/>
                </a:solidFill>
                <a:latin typeface="Calibri"/>
              </a:rPr>
              <a:t>Research inventory agent
→ Price comparison agent
→ PDF draft agent
→ Formatting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407408"/>
            <a:ext cx="2357551" cy="475488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62272"/>
            <a:ext cx="228439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1">
                <a:solidFill>
                  <a:srgbClr val="0891B2"/>
                </a:solidFill>
                <a:latin typeface="Calibri"/>
              </a:rPr>
              <a:t>4 agents, clean handoffs, zero copy-paste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3391" y="1463040"/>
            <a:ext cx="2650159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3391" y="1463040"/>
            <a:ext cx="2650159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09695" y="160934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9695" y="1920240"/>
            <a:ext cx="2357551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alibri"/>
              </a:rPr>
              <a:t>Knowledge Work / Second Brain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09695" y="2432304"/>
            <a:ext cx="235755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09695" y="2542032"/>
            <a:ext cx="235755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94A3B8"/>
                </a:solidFill>
                <a:latin typeface="Consolas"/>
              </a:rPr>
              <a:t>Pipeline Steps: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9695" y="2798064"/>
            <a:ext cx="2357551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 i="0">
                <a:solidFill>
                  <a:srgbClr val="334155"/>
                </a:solidFill>
                <a:latin typeface="Calibri"/>
              </a:rPr>
              <a:t>Research → summarize → organize
→ retrieve → synthesize
→ deliver briefings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09695" y="4407408"/>
            <a:ext cx="2357551" cy="475488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6271" y="4462272"/>
            <a:ext cx="228439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1">
                <a:solidFill>
                  <a:srgbClr val="0891B2"/>
                </a:solidFill>
                <a:latin typeface="Calibri"/>
              </a:rPr>
              <a:t>Claude Code as your operating system for thinking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8143" y="1463040"/>
            <a:ext cx="2650159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8143" y="1463040"/>
            <a:ext cx="2650159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24447" y="160934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4447" y="1920240"/>
            <a:ext cx="2357551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alibri"/>
              </a:rPr>
              <a:t>Business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447" y="2432304"/>
            <a:ext cx="235755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4447" y="2542032"/>
            <a:ext cx="235755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94A3B8"/>
                </a:solidFill>
                <a:latin typeface="Consolas"/>
              </a:rPr>
              <a:t>Pipeline Steps: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447" y="2798064"/>
            <a:ext cx="2357551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 i="0">
                <a:solidFill>
                  <a:srgbClr val="334155"/>
                </a:solidFill>
                <a:latin typeface="Calibri"/>
              </a:rPr>
              <a:t>Invoicing · client comms
Proposal drafting
Contract review · scheduling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4447" y="4407408"/>
            <a:ext cx="2357551" cy="475488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1023" y="4462272"/>
            <a:ext cx="228439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1">
                <a:solidFill>
                  <a:srgbClr val="0891B2"/>
                </a:solidFill>
                <a:latin typeface="Calibri"/>
              </a:rPr>
              <a:t>Non-technical teams can direct agents with PLAN.md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2895" y="1463040"/>
            <a:ext cx="2650159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92895" y="1463040"/>
            <a:ext cx="2650159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39199" y="1609344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39199" y="1920240"/>
            <a:ext cx="2357551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alibri"/>
              </a:rPr>
              <a:t>Content Pipeline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39199" y="2432304"/>
            <a:ext cx="235755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39199" y="2542032"/>
            <a:ext cx="235755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94A3B8"/>
                </a:solidFill>
                <a:latin typeface="Consolas"/>
              </a:rPr>
              <a:t>Pipeline Steps: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9199" y="2798064"/>
            <a:ext cx="2357551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100" b="0" i="0">
                <a:solidFill>
                  <a:srgbClr val="334155"/>
                </a:solidFill>
                <a:latin typeface="Calibri"/>
              </a:rPr>
              <a:t>Competitor research
→ ideation feed
→ brief writing
→ draft → publish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39199" y="4407408"/>
            <a:ext cx="2357551" cy="475488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5775" y="4462272"/>
            <a:ext cx="2284399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1">
                <a:solidFill>
                  <a:srgbClr val="0891B2"/>
                </a:solidFill>
                <a:latin typeface="Calibri"/>
              </a:rPr>
              <a:t>Same loop; content is just another output type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6035040"/>
            <a:ext cx="11094415" cy="5943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2D3EE"/>
                </a:solidFill>
                <a:latin typeface="Calibri"/>
              </a:rPr>
              <a:t>Rule of thumb:  if the output repeats every week and has a pattern, it can be a directed loop.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PLAN.md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Anatomy of a Great PLAN.md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The document that transforms a prompt into a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51206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91056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F172A"/>
                </a:solidFill>
                <a:latin typeface="Calibri"/>
              </a:rPr>
              <a:t>6 Required Sections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1168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011680"/>
            <a:ext cx="44622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Goal + Success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231136"/>
            <a:ext cx="446227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What done looks like. Measurable. Not 'build a feature' — 'user can log in with Google and reach dashboard in &lt;2s'.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67004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2670048"/>
            <a:ext cx="44622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Codebase + Docs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2889504"/>
            <a:ext cx="446227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Agent reads the repo first. Key files, folder structure, patterns already in 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32841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328416"/>
            <a:ext cx="44622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Integration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547872"/>
            <a:ext cx="446227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What external systems, APIs, or services touch this work? Auth providers, databases, third-party APIs.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98678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986784"/>
            <a:ext cx="44622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Task-Specific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206240"/>
            <a:ext cx="446227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Anti-patterns to avoid. 'Use @/ aliases.' 'Never import from /lib/utils.ts.' 'Always write tests.'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6451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645152"/>
            <a:ext cx="44622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Granular Task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864608"/>
            <a:ext cx="446227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Numbered. One action per item. The agent ticks these off. Include verification steps inline.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30352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5303520"/>
            <a:ext cx="446227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Validation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5522976"/>
            <a:ext cx="4462272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How we know it worked. Test commands. Manual checks. Screenshot targets. CI pipeline checks.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1463040"/>
            <a:ext cx="5699455" cy="22494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1463040"/>
            <a:ext cx="569945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591056"/>
            <a:ext cx="53336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alibri"/>
              </a:rPr>
              <a:t>Pro Tips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08192" y="208483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1993392"/>
            <a:ext cx="5132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334155"/>
                </a:solidFill>
                <a:latin typeface="Calibri"/>
              </a:rPr>
              <a:t>Write it in a separate planning session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08192" y="25054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2414016"/>
            <a:ext cx="5132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334155"/>
                </a:solidFill>
                <a:latin typeface="Calibri"/>
              </a:rPr>
              <a:t>Have the agent generate 3 options first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08192" y="29260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834640"/>
            <a:ext cx="5132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334155"/>
                </a:solidFill>
                <a:latin typeface="Calibri"/>
              </a:rPr>
              <a:t>Edit live — add e2e, fix scope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08192" y="334670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3255264"/>
            <a:ext cx="513252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334155"/>
                </a:solidFill>
                <a:latin typeface="Calibri"/>
              </a:rPr>
              <a:t>Use fresh context to execute from 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3840480"/>
            <a:ext cx="5699455" cy="21762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3840480"/>
            <a:ext cx="5699455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3968496"/>
            <a:ext cx="533369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F172A"/>
                </a:solidFill>
                <a:latin typeface="Calibri"/>
              </a:rPr>
              <a:t>When to Write 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08192" y="443484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352544"/>
            <a:ext cx="5150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Any task &gt; 1 hour of expected work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08192" y="481888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736592"/>
            <a:ext cx="5150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Anything touching 3+ files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08192" y="520293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5120640"/>
            <a:ext cx="5150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Any external API or data source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08192" y="55869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5504688"/>
            <a:ext cx="51508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334155"/>
                </a:solidFill>
                <a:latin typeface="Calibri"/>
              </a:rPr>
              <a:t>New features (not bug patches)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6035040"/>
            <a:ext cx="11094415" cy="594360"/>
          </a:xfrm>
          <a:prstGeom prst="roundRect">
            <a:avLst>
              <a:gd name="adj" fmla="val 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6108192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0891B2"/>
                </a:solidFill>
                <a:latin typeface="Calibri"/>
              </a:rPr>
              <a:t>"With coding agents, you spend more time planning than you actually do building."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"/>
            <a:ext cx="2194560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onsolas"/>
              </a:rPr>
              <a:t>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Calibri"/>
              </a:rPr>
              <a:t>Your First Week Action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94A3B8"/>
                </a:solidFill>
                <a:latin typeface="Calibri"/>
              </a:rPr>
              <a:t>Seven days from vibe coding to directing a reliable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567863" cy="206654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567863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231183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3B82F6"/>
                </a:solidFill>
                <a:latin typeface="Consolas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810512"/>
            <a:ext cx="231183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Write your first PLAN.md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377440"/>
            <a:ext cx="2311831" cy="10424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Pick a task you've already done with Claude. Write a PLAN.md with 6 sections. Compare the output to your previous approach.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823" y="1463040"/>
            <a:ext cx="2567863" cy="206654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823" y="1463040"/>
            <a:ext cx="2567863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8839" y="1572768"/>
            <a:ext cx="231183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59E0B"/>
                </a:solidFill>
                <a:latin typeface="Consolas"/>
              </a:rPr>
              <a:t>Day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8839" y="1810512"/>
            <a:ext cx="231183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Add /prime to your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8839" y="2377440"/>
            <a:ext cx="2311831" cy="10424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Before any new session, /prime with project docs + git log. Notice how much less re-explanation you need.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1463040"/>
            <a:ext cx="2567863" cy="206654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1463040"/>
            <a:ext cx="2567863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1023" y="1572768"/>
            <a:ext cx="231183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10B981"/>
                </a:solidFill>
                <a:latin typeface="Consolas"/>
              </a:rPr>
              <a:t>Day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1023" y="1810512"/>
            <a:ext cx="231183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Add one verification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023" y="2377440"/>
            <a:ext cx="2311831" cy="10424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After Claude delivers output, add a /validate command — linter, test runner, or a simple 'confirm X is true' check.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1463040"/>
            <a:ext cx="2567863" cy="206654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5191" y="1463040"/>
            <a:ext cx="2567863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3207" y="1572768"/>
            <a:ext cx="231183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22D3EE"/>
                </a:solidFill>
                <a:latin typeface="Consolas"/>
              </a:rPr>
              <a:t>Day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3207" y="1810512"/>
            <a:ext cx="231183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Create your first /command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3207" y="2377440"/>
            <a:ext cx="2311831" cy="10424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When you find yourself repeating a prompt 3 times, turn it into a slash command. Reuse forever.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9731" y="3694176"/>
            <a:ext cx="2567863" cy="206654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69731" y="3694176"/>
            <a:ext cx="2567863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97747" y="3803904"/>
            <a:ext cx="231183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8B5CF6"/>
                </a:solidFill>
                <a:latin typeface="Consolas"/>
              </a:rPr>
              <a:t>Day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97747" y="4041648"/>
            <a:ext cx="231183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Write one rule from a bug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97747" y="4608576"/>
            <a:ext cx="2311831" cy="10424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When a bug appears today, don't just fix it — write a rule in CLAUDE.md that prevents it permanently.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11915" y="3694176"/>
            <a:ext cx="2567863" cy="206654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11915" y="3694176"/>
            <a:ext cx="2567863" cy="731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9931" y="3803904"/>
            <a:ext cx="231183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97316"/>
                </a:solidFill>
                <a:latin typeface="Consolas"/>
              </a:rPr>
              <a:t>Day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9931" y="4041648"/>
            <a:ext cx="231183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Try a subagent for 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9931" y="4608576"/>
            <a:ext cx="2311831" cy="10424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Delegate a research task to a subagent. Let the main context stay clean for the actual implementation work.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54099" y="3694176"/>
            <a:ext cx="2567863" cy="206654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54099" y="3694176"/>
            <a:ext cx="2567863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82115" y="3803904"/>
            <a:ext cx="2311831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F4444"/>
                </a:solidFill>
                <a:latin typeface="Consolas"/>
              </a:rPr>
              <a:t>Day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82115" y="4041648"/>
            <a:ext cx="2311831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F172A"/>
                </a:solidFill>
                <a:latin typeface="Calibri"/>
              </a:rPr>
              <a:t>Run a full 4-step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2115" y="4608576"/>
            <a:ext cx="2311831" cy="10424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Pick a medium task. Plan → Context → Execute → Verify. Note the accuracy difference vs. your baseline.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907024"/>
            <a:ext cx="11094415" cy="713232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980176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22D3EE"/>
                </a:solidFill>
                <a:latin typeface="Calibri"/>
              </a:rPr>
              <a:t>After week 1:  you'll have a PLAN.md template · /prime workflow · /validate command · 1 custom rule · first /command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Complete System —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59536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94415" cy="1060704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54864" cy="1060704"/>
          </a:xfrm>
          <a:prstGeom prst="roundRect">
            <a:avLst>
              <a:gd name="adj" fmla="val 1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59E0B"/>
                </a:solidFill>
                <a:latin typeface="Consolas"/>
              </a:rPr>
              <a:t>01  PLAN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Calibri"/>
              </a:rPr>
              <a:t>PLAN.md before every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07008"/>
            <a:ext cx="19050" cy="658368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115568"/>
            <a:ext cx="594360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Goal · Codebase · Integration · Rules · Tasks ·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00032" y="1207008"/>
            <a:ext cx="19050" cy="658368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8048" y="1207008"/>
            <a:ext cx="228600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59E0B"/>
                </a:solidFill>
                <a:latin typeface="Calibri"/>
              </a:rPr>
              <a:t>Cheapest place to be wrong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03120"/>
            <a:ext cx="11094415" cy="1060704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103120"/>
            <a:ext cx="54864" cy="1060704"/>
          </a:xfrm>
          <a:prstGeom prst="roundRect">
            <a:avLst>
              <a:gd name="adj" fmla="val 1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9456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0B981"/>
                </a:solidFill>
                <a:latin typeface="Consolas"/>
              </a:rPr>
              <a:t>02  MANAGE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4203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Calibri"/>
              </a:rPr>
              <a:t>Right info, not all info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2304288"/>
            <a:ext cx="19050" cy="658368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6704" y="2212848"/>
            <a:ext cx="594360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Separate sessions · /prime · subagents · on-demand 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00032" y="2304288"/>
            <a:ext cx="19050" cy="658368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8048" y="2304288"/>
            <a:ext cx="228600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0B981"/>
                </a:solidFill>
                <a:latin typeface="Calibri"/>
              </a:rPr>
              <a:t>65K-250K dumb zone threshold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00400"/>
            <a:ext cx="11094415" cy="1060704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200400"/>
            <a:ext cx="54864" cy="1060704"/>
          </a:xfrm>
          <a:prstGeom prst="roundRect">
            <a:avLst>
              <a:gd name="adj" fmla="val 1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9184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22D3EE"/>
                </a:solidFill>
                <a:latin typeface="Consolas"/>
              </a:rPr>
              <a:t>03  VERIFY THE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3931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Calibri"/>
              </a:rPr>
              <a:t>Gate every 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401568"/>
            <a:ext cx="19050" cy="658368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46704" y="3310128"/>
            <a:ext cx="594360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Auto-checks → Lint → Tests → [fail=fix+re-run] →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00032" y="3401568"/>
            <a:ext cx="19050" cy="658368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8048" y="3401568"/>
            <a:ext cx="228600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22D3EE"/>
                </a:solidFill>
                <a:latin typeface="Calibri"/>
              </a:rPr>
              <a:t>65% → 92% accuracy improvement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97680"/>
            <a:ext cx="11094415" cy="1060704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4297680"/>
            <a:ext cx="54864" cy="1060704"/>
          </a:xfrm>
          <a:prstGeom prst="roundRect">
            <a:avLst>
              <a:gd name="adj" fmla="val 1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38912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3B82F6"/>
                </a:solidFill>
                <a:latin typeface="Consolas"/>
              </a:rPr>
              <a:t>04  BUILD THE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3659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Calibri"/>
              </a:rPr>
              <a:t>Every bug = permanent upgrade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18688" y="4498848"/>
            <a:ext cx="19050" cy="658368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6704" y="4407408"/>
            <a:ext cx="594360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Bug → Rule → Doc → /Command → Skill  (staircase)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00032" y="4498848"/>
            <a:ext cx="19050" cy="658368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8048" y="4498848"/>
            <a:ext cx="228600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3B82F6"/>
                </a:solidFill>
                <a:latin typeface="Calibri"/>
              </a:rPr>
              <a:t>Floor keeps rising weekly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394960"/>
            <a:ext cx="11094415" cy="1060704"/>
          </a:xfrm>
          <a:prstGeom prst="roundRect">
            <a:avLst>
              <a:gd name="adj" fmla="val 2000"/>
            </a:avLst>
          </a:prstGeom>
          <a:solidFill>
            <a:srgbClr val="0E1E34"/>
          </a:solidFill>
          <a:ln w="12700">
            <a:solidFill>
              <a:srgbClr val="1E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5394960"/>
            <a:ext cx="54864" cy="1060704"/>
          </a:xfrm>
          <a:prstGeom prst="roundRect">
            <a:avLst>
              <a:gd name="adj" fmla="val 1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8640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8B5CF6"/>
                </a:solidFill>
                <a:latin typeface="Consolas"/>
              </a:rPr>
              <a:t>RALF  MULTI-SESSION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33872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94A3B8"/>
                </a:solidFill>
                <a:latin typeface="Calibri"/>
              </a:rPr>
              <a:t>For large tasks: fresh context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18688" y="5596128"/>
            <a:ext cx="19050" cy="658368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6704" y="5504688"/>
            <a:ext cx="594360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100" b="0" i="0">
                <a:solidFill>
                  <a:srgbClr val="CBD5E1"/>
                </a:solidFill>
                <a:latin typeface="Calibri"/>
              </a:rPr>
              <a:t>Planner → Implementer → Validator chain via handoff docs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00032" y="5596128"/>
            <a:ext cx="19050" cy="658368"/>
          </a:xfrm>
          <a:prstGeom prst="rect">
            <a:avLst/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28048" y="5596128"/>
            <a:ext cx="228600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8B5CF6"/>
                </a:solidFill>
                <a:latin typeface="Calibri"/>
              </a:rPr>
              <a:t>Archon: open-source harness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6455664"/>
            <a:ext cx="11094415" cy="237744"/>
          </a:xfrm>
          <a:prstGeom prst="roundRect">
            <a:avLst>
              <a:gd name="adj" fmla="val 1000"/>
            </a:avLst>
          </a:prstGeom>
          <a:solidFill>
            <a:srgbClr val="0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73952"/>
            <a:ext cx="1091153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475569"/>
                </a:solidFill>
                <a:latin typeface="Calibri"/>
              </a:rPr>
              <a:t>Source: Nate Herk × Cole · "How to Build Effective Claude Code Agents in 2026" · youtube.com/watch?v=RzLV8sfFdMM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Code Agents 2026  ·  Nate Herk × Cole  · 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