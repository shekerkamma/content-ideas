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98280" y="0"/>
            <a:ext cx="3090672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98280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53949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30" b="1" i="0">
                <a:solidFill>
                  <a:srgbClr val="00C9A7"/>
                </a:solidFill>
                <a:latin typeface="Calibri"/>
              </a:rPr>
              <a:t>EXECUTIVE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7589520" cy="7863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500" b="1" i="0">
                <a:solidFill>
                  <a:srgbClr val="FFFFFF"/>
                </a:solidFill>
                <a:latin typeface="Calibri"/>
              </a:rPr>
              <a:t>AI Agents Are The New SaaS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57984"/>
            <a:ext cx="1325880" cy="502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713232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DCE6EF"/>
                </a:solidFill>
                <a:latin typeface="Calibri"/>
              </a:rPr>
              <a:t>A practical playbook for turning AI agents into workflow businesses.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14032" y="3127248"/>
            <a:ext cx="4041648" cy="2011680"/>
          </a:xfrm>
          <a:prstGeom prst="roundRect">
            <a:avLst>
              <a:gd name="adj" fmla="val 6000"/>
            </a:avLst>
          </a:prstGeom>
          <a:solidFill>
            <a:srgbClr val="0B111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i-agents-new-saas-v3-thesis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0336" y="3255264"/>
            <a:ext cx="3049754" cy="1737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4663440"/>
            <a:ext cx="63093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FFB800"/>
                </a:solidFill>
                <a:latin typeface="Calibri"/>
              </a:rPr>
              <a:t>From product idea to sellable workflow wedge.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08F75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50" b="1" i="0">
                <a:solidFill>
                  <a:srgbClr val="0A1628"/>
                </a:solidFill>
                <a:latin typeface="Calibri"/>
              </a:rPr>
              <a:t>Agent SaaS succeeds when it sells a finished job, not another 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89888"/>
            <a:ext cx="11094415" cy="749808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27632"/>
            <a:ext cx="106070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B800"/>
                </a:solidFill>
                <a:latin typeface="Calibri"/>
              </a:rPr>
              <a:t>BOTTOM 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1952" y="1572768"/>
            <a:ext cx="953993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70" b="1" i="0">
                <a:solidFill>
                  <a:srgbClr val="FFFFFF"/>
                </a:solidFill>
                <a:latin typeface="Calibri"/>
              </a:rPr>
              <a:t>The strongest opportunity is a narrow, high-frequency workflow with budget, a clear finish line, and a trust wrapper.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15184"/>
            <a:ext cx="3401568" cy="15544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615184"/>
            <a:ext cx="54864" cy="15544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852928"/>
            <a:ext cx="294436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1" i="0">
                <a:solidFill>
                  <a:srgbClr val="0A1628"/>
                </a:solidFill>
                <a:latin typeface="Calibri"/>
              </a:rPr>
              <a:t>Where to play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273552"/>
            <a:ext cx="2889504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Choose a service workflow already funded by headcount, agencies, or outsourcing.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2615184"/>
            <a:ext cx="3401568" cy="15544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2615184"/>
            <a:ext cx="54864" cy="15544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2852928"/>
            <a:ext cx="294436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1" i="0">
                <a:solidFill>
                  <a:srgbClr val="0A1628"/>
                </a:solidFill>
                <a:latin typeface="Calibri"/>
              </a:rPr>
              <a:t>How to 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273552"/>
            <a:ext cx="2889504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Observe real operators, extract the workflow spec, and ship the smallest useful agent.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2615184"/>
            <a:ext cx="3401568" cy="15544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0144" y="2615184"/>
            <a:ext cx="54864" cy="15544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2" y="2852928"/>
            <a:ext cx="294436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1" i="0">
                <a:solidFill>
                  <a:srgbClr val="0A1628"/>
                </a:solidFill>
                <a:latin typeface="Calibri"/>
              </a:rPr>
              <a:t>How to win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3273552"/>
            <a:ext cx="2889504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Sell pilots like labor, then productize the repeated operating loop with controls and evals.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828032"/>
            <a:ext cx="11094415" cy="585216"/>
          </a:xfrm>
          <a:prstGeom prst="roundRect">
            <a:avLst>
              <a:gd name="adj" fmla="val 5000"/>
            </a:avLst>
          </a:prstGeom>
          <a:solidFill>
            <a:srgbClr val="FFF4CF"/>
          </a:solidFill>
          <a:ln w="12700">
            <a:solidFill>
              <a:srgbClr val="F2D9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5029200"/>
            <a:ext cx="841248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0A1628"/>
                </a:solidFill>
                <a:latin typeface="Calibri"/>
              </a:rPr>
              <a:t>DECISION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00784" y="4992624"/>
            <a:ext cx="9741103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10" b="1" i="0">
                <a:solidFill>
                  <a:srgbClr val="0A1628"/>
                </a:solidFill>
                <a:latin typeface="Calibri"/>
              </a:rPr>
              <a:t>Prioritize one niche and score 20 candidate workflows before committing build effort.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08F75"/>
                </a:solidFill>
                <a:latin typeface="Calibri"/>
              </a:rPr>
              <a:t>MARKET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50" b="1" i="0">
                <a:solidFill>
                  <a:srgbClr val="0A1628"/>
                </a:solidFill>
                <a:latin typeface="Calibri"/>
              </a:rPr>
              <a:t>Agent SaaS expands the market from software seats to work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16736"/>
            <a:ext cx="2286000" cy="4297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54480"/>
            <a:ext cx="1883664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Business implication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01952"/>
            <a:ext cx="1938528" cy="1188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The core opportunity shifts from helping teams use software to taking ownership of finished work outcomes.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364992"/>
            <a:ext cx="1920240" cy="14447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The market anchor is labor, not just software seats.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The offer must map to work already being paid for.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The first product should be narrow enough to explain.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1316736"/>
            <a:ext cx="8302752" cy="4297680"/>
          </a:xfrm>
          <a:prstGeom prst="roundRect">
            <a:avLst>
              <a:gd name="adj" fmla="val 6000"/>
            </a:avLst>
          </a:prstGeom>
          <a:solidFill>
            <a:srgbClr val="0B111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i-agents-new-saas-v3-market-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7482" y="1444752"/>
            <a:ext cx="7214892" cy="400507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8368" y="5669280"/>
            <a:ext cx="10881360" cy="51206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833872"/>
            <a:ext cx="87782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5797296"/>
            <a:ext cx="94640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FFFFFF"/>
                </a:solidFill>
                <a:latin typeface="Calibri"/>
              </a:rPr>
              <a:t>Start with the paid work, then package the software around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08F75"/>
                </a:solidFill>
                <a:latin typeface="Calibri"/>
              </a:rPr>
              <a:t>CORE 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50" b="1" i="0">
                <a:solidFill>
                  <a:srgbClr val="0A1628"/>
                </a:solidFill>
                <a:latin typeface="Calibri"/>
              </a:rPr>
              <a:t>The product is the job the customer can hand 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16736"/>
            <a:ext cx="2286000" cy="4297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54480"/>
            <a:ext cx="1883664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Business implication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01952"/>
            <a:ext cx="1938528" cy="1188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A credible agent business owns a narrow workflow end to end: trigger, context, tools, decisions, and escalation.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364992"/>
            <a:ext cx="1920240" cy="14447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Paid workflow -&gt; observed spec -&gt; agent business.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Narrow scope makes the offer explainable.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Trust is designed into the handoff.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1316736"/>
            <a:ext cx="8302752" cy="4297680"/>
          </a:xfrm>
          <a:prstGeom prst="roundRect">
            <a:avLst>
              <a:gd name="adj" fmla="val 6000"/>
            </a:avLst>
          </a:prstGeom>
          <a:solidFill>
            <a:srgbClr val="0B111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i-agents-new-saas-v3-thesis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685" y="1444752"/>
            <a:ext cx="7030486" cy="400507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8368" y="5669280"/>
            <a:ext cx="10881360" cy="51206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833872"/>
            <a:ext cx="87782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5797296"/>
            <a:ext cx="94640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FFFFFF"/>
                </a:solidFill>
                <a:latin typeface="Calibri"/>
              </a:rPr>
              <a:t>If the job cannot be named, the agent cannot be sold.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08F75"/>
                </a:solidFill>
                <a:latin typeface="Calibri"/>
              </a:rPr>
              <a:t>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50" b="1" i="0">
                <a:solidFill>
                  <a:srgbClr val="0A1628"/>
                </a:solidFill>
                <a:latin typeface="Calibri"/>
              </a:rPr>
              <a:t>The labor comparison sets the value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16736"/>
            <a:ext cx="2286000" cy="4297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54480"/>
            <a:ext cx="1883664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Business implication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01952"/>
            <a:ext cx="1938528" cy="1188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The speaker’s mental model is one annoying job done better than a junior employee, faster than an agency, and cheaper than headcount.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364992"/>
            <a:ext cx="1920240" cy="14447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Labor spend sets the buyer comparison.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Repeated jobs make the promise easier to prove.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Bounded work keeps pricing and quality visible.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1316736"/>
            <a:ext cx="8302752" cy="4297680"/>
          </a:xfrm>
          <a:prstGeom prst="roundRect">
            <a:avLst>
              <a:gd name="adj" fmla="val 6000"/>
            </a:avLst>
          </a:prstGeom>
          <a:solidFill>
            <a:srgbClr val="0B111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i-agents-new-saas-v3-unit-econo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685" y="1444752"/>
            <a:ext cx="7030486" cy="400507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8368" y="5669280"/>
            <a:ext cx="10881360" cy="51206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833872"/>
            <a:ext cx="87782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5797296"/>
            <a:ext cx="94640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FFFFFF"/>
                </a:solidFill>
                <a:latin typeface="Calibri"/>
              </a:rPr>
              <a:t>Price against the work being replaced, not abstract productivity.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08F75"/>
                </a:solidFill>
                <a:latin typeface="Calibri"/>
              </a:rPr>
              <a:t>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50" b="1" i="0">
                <a:solidFill>
                  <a:srgbClr val="0A1628"/>
                </a:solidFill>
                <a:latin typeface="Calibri"/>
              </a:rPr>
              <a:t>The best wedges are boring service workflows with visible labor spend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16736"/>
            <a:ext cx="2286000" cy="4297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54480"/>
            <a:ext cx="1883664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Business implication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01952"/>
            <a:ext cx="1938528" cy="1188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Slang AI and Same Day make the pattern concrete: narrow service workflows with urgent demand and visible labor spend.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364992"/>
            <a:ext cx="1920240" cy="14447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Restaurants need booking and missed-call recovery.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Home services need dispatch and rescheduling.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The buyer compares against headcount or agencies.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1316736"/>
            <a:ext cx="8302752" cy="4297680"/>
          </a:xfrm>
          <a:prstGeom prst="roundRect">
            <a:avLst>
              <a:gd name="adj" fmla="val 6000"/>
            </a:avLst>
          </a:prstGeom>
          <a:solidFill>
            <a:srgbClr val="0B111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i-agents-new-saas-v3-wedge-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685" y="1444752"/>
            <a:ext cx="7030486" cy="400507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8368" y="5669280"/>
            <a:ext cx="10881360" cy="51206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833872"/>
            <a:ext cx="87782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5797296"/>
            <a:ext cx="94640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FFFFFF"/>
                </a:solidFill>
                <a:latin typeface="Calibri"/>
              </a:rPr>
              <a:t>Boring operations are better first markets than broad AI productivity.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08F75"/>
                </a:solidFill>
                <a:latin typeface="Calibri"/>
              </a:rPr>
              <a:t>WORKFLOW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50" b="1" i="0">
                <a:solidFill>
                  <a:srgbClr val="0A1628"/>
                </a:solidFill>
                <a:latin typeface="Calibri"/>
              </a:rPr>
              <a:t>Pick a workflow with a paycheck attached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16736"/>
            <a:ext cx="2286000" cy="4297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54480"/>
            <a:ext cx="1883664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Business implication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01952"/>
            <a:ext cx="1938528" cy="1188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The selection rule is direct: start where buyers already fund an employee, agency, receptionist, coordinator, or dispatcher.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364992"/>
            <a:ext cx="1920240" cy="14447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Score 20 jobs in one niche.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Use frequency, pain, finish line, tools, and budget owner.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Prefer learnable edge cases over pure human judgment.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1316736"/>
            <a:ext cx="8302752" cy="4297680"/>
          </a:xfrm>
          <a:prstGeom prst="roundRect">
            <a:avLst>
              <a:gd name="adj" fmla="val 6000"/>
            </a:avLst>
          </a:prstGeom>
          <a:solidFill>
            <a:srgbClr val="0B111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i-agents-new-saas-v3-workflow-score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685" y="1444752"/>
            <a:ext cx="7030486" cy="400507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8368" y="5669280"/>
            <a:ext cx="10881360" cy="51206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833872"/>
            <a:ext cx="87782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5797296"/>
            <a:ext cx="94640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FFFFFF"/>
                </a:solidFill>
                <a:latin typeface="Calibri"/>
              </a:rPr>
              <a:t>No budget owner, no wedge.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08F75"/>
                </a:solidFill>
                <a:latin typeface="Calibri"/>
              </a:rPr>
              <a:t>OBSERVATION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50" b="1" i="0">
                <a:solidFill>
                  <a:srgbClr val="0A1628"/>
                </a:solidFill>
                <a:latin typeface="Calibri"/>
              </a:rPr>
              <a:t>Shadow the human before writing prompts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16736"/>
            <a:ext cx="2286000" cy="4297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54480"/>
            <a:ext cx="1883664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Business implication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01952"/>
            <a:ext cx="1938528" cy="1188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The product spec is hidden in what operators check, where mistakes happen, and when cases become weird.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364992"/>
            <a:ext cx="1920240" cy="14447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Observe 10-20 real cases.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Record tacit checks and exception paths.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Convert observation into acceptance criteria.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1316736"/>
            <a:ext cx="8302752" cy="4297680"/>
          </a:xfrm>
          <a:prstGeom prst="roundRect">
            <a:avLst>
              <a:gd name="adj" fmla="val 6000"/>
            </a:avLst>
          </a:prstGeom>
          <a:solidFill>
            <a:srgbClr val="0B111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i-agents-new-saas-v3-shadow-hu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685" y="1444752"/>
            <a:ext cx="7030486" cy="400507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8368" y="5669280"/>
            <a:ext cx="10881360" cy="51206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833872"/>
            <a:ext cx="87782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5797296"/>
            <a:ext cx="94640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FFFFFF"/>
                </a:solidFill>
                <a:latin typeface="Calibri"/>
              </a:rPr>
              <a:t>The detail is the product.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08F75"/>
                </a:solidFill>
                <a:latin typeface="Calibri"/>
              </a:rPr>
              <a:t>FIRST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50" b="1" i="0">
                <a:solidFill>
                  <a:srgbClr val="0A1628"/>
                </a:solidFill>
                <a:latin typeface="Calibri"/>
              </a:rPr>
              <a:t>Build the minimum useful agent before chasing autonomy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16736"/>
            <a:ext cx="2286000" cy="4297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54480"/>
            <a:ext cx="1883664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Business implication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01952"/>
            <a:ext cx="1938528" cy="1188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The first product should be smaller than the fully autonomous employee promise.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364992"/>
            <a:ext cx="1920240" cy="14447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Draft and approve.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Triage.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Coordinator.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Bounded action.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1316736"/>
            <a:ext cx="8302752" cy="4297680"/>
          </a:xfrm>
          <a:prstGeom prst="roundRect">
            <a:avLst>
              <a:gd name="adj" fmla="val 6000"/>
            </a:avLst>
          </a:prstGeom>
          <a:solidFill>
            <a:srgbClr val="0B111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i-agents-new-saas-v3-smallest-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685" y="1444752"/>
            <a:ext cx="7030486" cy="400507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8368" y="5669280"/>
            <a:ext cx="10881360" cy="51206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833872"/>
            <a:ext cx="87782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5797296"/>
            <a:ext cx="94640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FFFFFF"/>
                </a:solidFill>
                <a:latin typeface="Calibri"/>
              </a:rPr>
              <a:t>Earn autonomy one bounded loop at a time.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08F75"/>
                </a:solidFill>
                <a:latin typeface="Calibri"/>
              </a:rPr>
              <a:t>WORKFLOW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50" b="1" i="0">
                <a:solidFill>
                  <a:srgbClr val="0A1628"/>
                </a:solidFill>
                <a:latin typeface="Calibri"/>
              </a:rPr>
              <a:t>Most agent products start as predictable workflows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16736"/>
            <a:ext cx="2286000" cy="4297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54480"/>
            <a:ext cx="1883664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Business implication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01952"/>
            <a:ext cx="1938528" cy="1188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Many agent products should start as predictable workflows before adding judgment-heavy autonomy.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364992"/>
            <a:ext cx="1920240" cy="14447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Predictable path first.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Add judgment only where it creates value.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Keep escalation explicit.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1316736"/>
            <a:ext cx="8302752" cy="4297680"/>
          </a:xfrm>
          <a:prstGeom prst="roundRect">
            <a:avLst>
              <a:gd name="adj" fmla="val 6000"/>
            </a:avLst>
          </a:prstGeom>
          <a:solidFill>
            <a:srgbClr val="0B111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i-agents-new-saas-v3-agentic-workflo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685" y="1444752"/>
            <a:ext cx="7030486" cy="400507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8368" y="5669280"/>
            <a:ext cx="10881360" cy="51206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833872"/>
            <a:ext cx="87782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5797296"/>
            <a:ext cx="94640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FFFFFF"/>
                </a:solidFill>
                <a:latin typeface="Calibri"/>
              </a:rPr>
              <a:t>Design the workflow before expanding the agent.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08F75"/>
                </a:solidFill>
                <a:latin typeface="Calibri"/>
              </a:rPr>
              <a:t>TRUST WRAPPER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50" b="1" i="0">
                <a:solidFill>
                  <a:srgbClr val="0A1628"/>
                </a:solidFill>
                <a:latin typeface="Calibri"/>
              </a:rPr>
              <a:t>The wrapper is what turns automation into SaaS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16736"/>
            <a:ext cx="2286000" cy="4297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54480"/>
            <a:ext cx="1883664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Business implication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01952"/>
            <a:ext cx="1938528" cy="1188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Logs, approvals, controls, handoffs, analytics, and evals are the product layer customers pay to trust.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364992"/>
            <a:ext cx="1920240" cy="14447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The agent does the job.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The control room proves what happened.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Evals make quality improvable.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1316736"/>
            <a:ext cx="8302752" cy="4297680"/>
          </a:xfrm>
          <a:prstGeom prst="roundRect">
            <a:avLst>
              <a:gd name="adj" fmla="val 6000"/>
            </a:avLst>
          </a:prstGeom>
          <a:solidFill>
            <a:srgbClr val="0B111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i-agents-new-saas-v3-wrapper-sa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685" y="1444752"/>
            <a:ext cx="7030486" cy="400507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8368" y="5669280"/>
            <a:ext cx="10881360" cy="51206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833872"/>
            <a:ext cx="87782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5797296"/>
            <a:ext cx="94640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FFFFFF"/>
                </a:solidFill>
                <a:latin typeface="Calibri"/>
              </a:rPr>
              <a:t>A demo shows automation; the wrapper earns production trust.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08F75"/>
                </a:solidFill>
                <a:latin typeface="Calibri"/>
              </a:rPr>
              <a:t>COMMERCIALIZATION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50" b="1" i="0">
                <a:solidFill>
                  <a:srgbClr val="0A1628"/>
                </a:solidFill>
                <a:latin typeface="Calibri"/>
              </a:rPr>
              <a:t>Sell the pilot like labor, then productize the repeated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16736"/>
            <a:ext cx="2286000" cy="4297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54480"/>
            <a:ext cx="1883664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Business implication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01952"/>
            <a:ext cx="1938528" cy="1188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Early sales work when the buyer sees a familiar capacity purchase with a better operating model.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364992"/>
            <a:ext cx="1920240" cy="14447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Three same-niche customers.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Setup plus monthly first.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Usage or outcome pricing after proof.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1316736"/>
            <a:ext cx="8302752" cy="4297680"/>
          </a:xfrm>
          <a:prstGeom prst="roundRect">
            <a:avLst>
              <a:gd name="adj" fmla="val 6000"/>
            </a:avLst>
          </a:prstGeom>
          <a:solidFill>
            <a:srgbClr val="0B111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i-agents-new-saas-v3-pilot-product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685" y="1444752"/>
            <a:ext cx="7030486" cy="400507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8368" y="5669280"/>
            <a:ext cx="10881360" cy="51206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833872"/>
            <a:ext cx="87782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5797296"/>
            <a:ext cx="94640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FFFFFF"/>
                </a:solidFill>
                <a:latin typeface="Calibri"/>
              </a:rPr>
              <a:t>Productization starts after repetition appears.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08F75"/>
                </a:solidFill>
                <a:latin typeface="Calibri"/>
              </a:rPr>
              <a:t>PRODUCTIZATION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50" b="1" i="0">
                <a:solidFill>
                  <a:srgbClr val="0A1628"/>
                </a:solidFill>
                <a:latin typeface="Calibri"/>
              </a:rPr>
              <a:t>Own the workflow by productizing what repeats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16736"/>
            <a:ext cx="2286000" cy="4297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54480"/>
            <a:ext cx="1883664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Business implication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01952"/>
            <a:ext cx="1938528" cy="1188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Workflow ownership comes from doing the work first, learning the repeated pattern, and turning the controls into product.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364992"/>
            <a:ext cx="1920240" cy="14447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Manual-plus-AI pilots expose the repeated pattern.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Repeated scripts and checks become software.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Ownership comes from the operating loop, not a generic agent.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1316736"/>
            <a:ext cx="8302752" cy="4297680"/>
          </a:xfrm>
          <a:prstGeom prst="roundRect">
            <a:avLst>
              <a:gd name="adj" fmla="val 6000"/>
            </a:avLst>
          </a:prstGeom>
          <a:solidFill>
            <a:srgbClr val="0B111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i-agents-new-saas-v3-own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685" y="1444752"/>
            <a:ext cx="7030486" cy="400507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8368" y="5669280"/>
            <a:ext cx="10881360" cy="51206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833872"/>
            <a:ext cx="87782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5797296"/>
            <a:ext cx="94640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FFFFFF"/>
                </a:solidFill>
                <a:latin typeface="Calibri"/>
              </a:rPr>
              <a:t>Own the workflow by building software around what repeats.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08F75"/>
                </a:solidFill>
                <a:latin typeface="Calibri"/>
              </a:rPr>
              <a:t>30-DAY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50" b="1" i="0">
                <a:solidFill>
                  <a:srgbClr val="0A1628"/>
                </a:solidFill>
                <a:latin typeface="Calibri"/>
              </a:rPr>
              <a:t>Use workflow teardowns to turn the build into distribution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16736"/>
            <a:ext cx="2286000" cy="4297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54480"/>
            <a:ext cx="1883664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Business implication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01952"/>
            <a:ext cx="1938528" cy="1188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Show the painful old way, show the agent way, publish proof, and put spend behind the winners.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364992"/>
            <a:ext cx="1920240" cy="14447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Days 1-3: score jobs.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Week 1-2: shadow and build.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Week 3-4: pilot and publish.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1316736"/>
            <a:ext cx="8302752" cy="4297680"/>
          </a:xfrm>
          <a:prstGeom prst="roundRect">
            <a:avLst>
              <a:gd name="adj" fmla="val 6000"/>
            </a:avLst>
          </a:prstGeom>
          <a:solidFill>
            <a:srgbClr val="0B111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i-agents-new-saas-v4-zero-to-100-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685" y="1444752"/>
            <a:ext cx="7030486" cy="400507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8368" y="5669280"/>
            <a:ext cx="10881360" cy="51206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833872"/>
            <a:ext cx="87782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5797296"/>
            <a:ext cx="94640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FFFFFF"/>
                </a:solidFill>
                <a:latin typeface="Calibri"/>
              </a:rPr>
              <a:t>Distribution comes from making the painful workflow visible.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412480" cy="6766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200" b="1" i="0">
                <a:solidFill>
                  <a:srgbClr val="FFFFFF"/>
                </a:solidFill>
                <a:latin typeface="Calibri"/>
              </a:rPr>
              <a:t>The next move is to choose the workflow, not broaden the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57400"/>
            <a:ext cx="1298448" cy="502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834640"/>
            <a:ext cx="3858768" cy="786384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 w="12700">
            <a:solidFill>
              <a:srgbClr val="2440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3017520"/>
            <a:ext cx="347472" cy="310896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108960"/>
            <a:ext cx="347472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3584" y="2999232"/>
            <a:ext cx="28346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Pick one niche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3584" y="3273552"/>
            <a:ext cx="2889504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E0F7F1"/>
                </a:solidFill>
                <a:latin typeface="Calibri"/>
              </a:rPr>
              <a:t>Constrain the market before evaluating workflows.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2834640"/>
            <a:ext cx="3858768" cy="786384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 w="12700">
            <a:solidFill>
              <a:srgbClr val="2440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56632" y="3017520"/>
            <a:ext cx="347472" cy="310896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56632" y="3108960"/>
            <a:ext cx="347472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6984" y="2999232"/>
            <a:ext cx="28346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Score 20 jobs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86984" y="3273552"/>
            <a:ext cx="2889504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E0F7F1"/>
                </a:solidFill>
                <a:latin typeface="Calibri"/>
              </a:rPr>
              <a:t>Prioritize frequency, pain, finish-line clarity, tools, and budget.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13632"/>
            <a:ext cx="3858768" cy="786384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 w="12700">
            <a:solidFill>
              <a:srgbClr val="2440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4096512"/>
            <a:ext cx="347472" cy="310896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4187952"/>
            <a:ext cx="347472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3584" y="4078224"/>
            <a:ext cx="28346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Shadow operators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3584" y="4352544"/>
            <a:ext cx="2889504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E0F7F1"/>
                </a:solidFill>
                <a:latin typeface="Calibri"/>
              </a:rPr>
              <a:t>Turn real work into the agent spec and trust model.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3913632"/>
            <a:ext cx="3858768" cy="786384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 w="12700">
            <a:solidFill>
              <a:srgbClr val="2440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56632" y="4096512"/>
            <a:ext cx="347472" cy="310896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56632" y="4187952"/>
            <a:ext cx="347472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0A1628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86984" y="4078224"/>
            <a:ext cx="28346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Pilot the loop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86984" y="4352544"/>
            <a:ext cx="2889504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E0F7F1"/>
                </a:solidFill>
                <a:latin typeface="Calibri"/>
              </a:rPr>
              <a:t>Sell the outcome first; productize after repetition appears.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797296"/>
            <a:ext cx="896112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1" i="0">
                <a:solidFill>
                  <a:srgbClr val="FFB800"/>
                </a:solidFill>
                <a:latin typeface="Calibri"/>
              </a:rPr>
              <a:t>Winning agent businesses are built around work customers already understand, fund, and want off their plate.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