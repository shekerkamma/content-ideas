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Cover: client-ready v5 rebuild. No timestamps shown 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Analyst synthesis: the core business decision is workflow selection before product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Story-architect spine. Timestamps intentionally excluded from visible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Recreates the conceptual thesis from Excalidraw source ai-agents-new-saas-v3-thesis-workflow.excalidraw as native PPTX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Uses transcript examples and visual inventory v2 wedge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Native PPTX reconstruction of the workflow scorecard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transcript section on screen recording and narrated shadowing.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Minimum useful agent shapes from transcript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Native PPTX reconstruction of wrapper and eval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Commercialization model from transcript section on pilot and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Moat synthesis from own-the-workflow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Native PPTX reconstruction of the zero-to-100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4692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VIDEO-TO-DECK CLIENT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7452360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3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57984"/>
            <a:ext cx="1353312" cy="502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6858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DCE6EF"/>
                </a:solidFill>
                <a:latin typeface="Calibri"/>
              </a:rPr>
              <a:t>A founder playbook for packaging workflow outcomes as software-backed labor.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27248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95828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FFFF"/>
                </a:solidFill>
                <a:latin typeface="Calibri"/>
              </a:rPr>
              <a:t>Storyboard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3127248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3195828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FFFF"/>
                </a:solidFill>
                <a:latin typeface="Calibri"/>
              </a:rPr>
              <a:t>Native PPTX visuals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94176" y="3127248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3195828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FFFF"/>
                </a:solidFill>
                <a:latin typeface="Calibri"/>
              </a:rPr>
              <a:t>Hyperframe-audited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3127248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384" y="3195828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FFFF"/>
                </a:solidFill>
                <a:latin typeface="Calibri"/>
              </a:rPr>
              <a:t>Excalidraw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1792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AAB6C4"/>
                </a:solidFill>
                <a:latin typeface="Calibri"/>
              </a:rPr>
              <a:t>Source: Greg Isenberg YouTube video; transcript and 56 scene-change frames retained as audit material.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6217920"/>
            <a:ext cx="685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AAB6C4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Agent SaaS wins when the product is a paid workflow, not a generic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The video’s argument is a practical build sequence: pick a job, observe it, automate a bounded loop, then wrap it with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64208"/>
            <a:ext cx="11094415" cy="80467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01952"/>
            <a:ext cx="658368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1" i="0">
                <a:solidFill>
                  <a:srgbClr val="FFB800"/>
                </a:solidFill>
                <a:latin typeface="Calibri"/>
              </a:rPr>
              <a:t>BLUF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47088"/>
            <a:ext cx="9923983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FFFFFF"/>
                </a:solidFill>
                <a:latin typeface="Calibri"/>
              </a:rPr>
              <a:t>Do not sell another AI tool. Sell a narrow, high-frequency job that already has budget and can be handed off with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3456432" cy="157276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54864" cy="1572768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93522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97637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926080"/>
            <a:ext cx="267004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319272"/>
            <a:ext cx="3054096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Agents are being framed like software, but buyers care about completed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788920"/>
            <a:ext cx="3456432" cy="157276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79" y="2788920"/>
            <a:ext cx="54864" cy="1572768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62271" y="293522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1" y="297637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1" y="2926080"/>
            <a:ext cx="267004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7" y="3319272"/>
            <a:ext cx="3054096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The fundable wedge is a workflow with frequency, pain, a clear finish line, and a budget owner.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788920"/>
            <a:ext cx="3456432" cy="157276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19" y="2788920"/>
            <a:ext cx="54864" cy="1572768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1311" y="293522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1" y="297637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1" y="2926080"/>
            <a:ext cx="267004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7" y="3319272"/>
            <a:ext cx="3054096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Shadow the human first, ship a minimum useful agent, and turn trust controls into the SaaS wrapper.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7316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FFF4CF"/>
          </a:solidFill>
          <a:ln w="12700">
            <a:solidFill>
              <a:srgbClr val="F2D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010912"/>
            <a:ext cx="76809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THE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9344" y="4956048"/>
            <a:ext cx="981425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Choose one niche and score 20 workflow jobs before building anything.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talk is a build-and-sell sequence, not a collection of diagrams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This slide is the narrative spine used to organize the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938528" cy="23957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11680"/>
            <a:ext cx="402336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59152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34640"/>
            <a:ext cx="1609344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Agent SaaS shifts value from seats to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834640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828800"/>
            <a:ext cx="1938528" cy="23957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2011680"/>
            <a:ext cx="402336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359152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834640"/>
            <a:ext cx="1609344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Most founders start with generic agents instead of paid jobs.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834640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1938528" cy="239572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6" y="2011680"/>
            <a:ext cx="402336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359152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2834640"/>
            <a:ext cx="1609344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E0F7F1"/>
                </a:solidFill>
                <a:latin typeface="Calibri"/>
              </a:rPr>
              <a:t>Pick one workflow with budget and a clear finish 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6" y="2834640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1776" y="1828800"/>
            <a:ext cx="1938528" cy="23957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2011680"/>
            <a:ext cx="402336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2359152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2834640"/>
            <a:ext cx="1609344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Shadow humans, ship a bounded agent, wrap with controls.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834640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9488" y="1828800"/>
            <a:ext cx="1938528" cy="239572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011680"/>
            <a:ext cx="402336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359152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834640"/>
            <a:ext cx="1609344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Sell labor-like pilots, then productize the repeated loop.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The deck follows the build logic: select job -&gt; observe work -&gt; ship bounded agent -&gt; wrap trust -&gt; productize.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THE PRODUCT IS 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product surface shifts from software access to workflow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The buyer pays for completed work: logs, decisions, escalations, and outcomes.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2578608" cy="144475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221284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Paid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96312"/>
            <a:ext cx="2212848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Eligible, funded, frequent, painful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2578608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1965960"/>
            <a:ext cx="2578608" cy="1444752"/>
          </a:xfrm>
          <a:prstGeom prst="roundRect">
            <a:avLst>
              <a:gd name="adj" fmla="val 5000"/>
            </a:avLst>
          </a:prstGeom>
          <a:solidFill>
            <a:srgbClr val="163F4A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2130552"/>
            <a:ext cx="221284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Observed 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2496312"/>
            <a:ext cx="2212848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Trigger, context, tools, rules, 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2578608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1776" y="1965960"/>
            <a:ext cx="2578608" cy="1444752"/>
          </a:xfrm>
          <a:prstGeom prst="roundRect">
            <a:avLst>
              <a:gd name="adj" fmla="val 5000"/>
            </a:avLst>
          </a:prstGeom>
          <a:solidFill>
            <a:srgbClr val="144E40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2130552"/>
            <a:ext cx="221284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Agent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2496312"/>
            <a:ext cx="2212848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Does work, logs work, asks when stuck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68496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Frame the SKU around a job, not around model capability.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Define the handoff boundary before defining the agent architecture.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Trust controls are part of the product, not implementation detail.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730752"/>
            <a:ext cx="2816352" cy="122529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20" y="3730752"/>
            <a:ext cx="54864" cy="1225296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867912"/>
            <a:ext cx="245059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Deck 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4261104"/>
            <a:ext cx="2414016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Use action titles and workflow visuals; avoid screenshot dumps and generic AI iconography.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If the buyer cannot name the job being handed off, the agent is too vague to sell.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REAL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credible wedges are boring service workflows with visible labor spend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The examples make the model concrete: handle one annoying job faster and cheaper than incremental headcount.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55648"/>
            <a:ext cx="3493008" cy="113385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55648"/>
            <a:ext cx="54864" cy="1133856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901952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4310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892808"/>
            <a:ext cx="270662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Restaurant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86000"/>
            <a:ext cx="309067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Answer calls, manage reservations, route VIPs, alert staff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755648"/>
            <a:ext cx="3493008" cy="113385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755648"/>
            <a:ext cx="54864" cy="1133856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9432" y="1901952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94310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1892808"/>
            <a:ext cx="270662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Home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286000"/>
            <a:ext cx="309067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Answer inbound demand, book jobs, reschedule, coordinate dispatch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10128"/>
            <a:ext cx="3493008" cy="113385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310128"/>
            <a:ext cx="54864" cy="1133856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456432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49758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447288"/>
            <a:ext cx="270662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Property 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840480"/>
            <a:ext cx="309067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Triage maintenance, coordinate vendors, update residents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310128"/>
            <a:ext cx="3493008" cy="113385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3310128"/>
            <a:ext cx="54864" cy="1133856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99432" y="3456432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49758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447288"/>
            <a:ext cx="270662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Contact center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3840480"/>
            <a:ext cx="309067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Classify intent, draft responses, escalate exceptions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1755648"/>
            <a:ext cx="2359152" cy="268833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33104" y="20482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FFB800"/>
                </a:solidFill>
                <a:latin typeface="Calibri"/>
              </a:rPr>
              <a:t>Pattern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2542032"/>
            <a:ext cx="1737360" cy="1408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30" b="0" i="0">
                <a:solidFill>
                  <a:srgbClr val="E0F7F1"/>
                </a:solidFill>
                <a:latin typeface="Calibri"/>
              </a:rPr>
              <a:t>•  High frequency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30" b="0" i="0">
                <a:solidFill>
                  <a:srgbClr val="E0F7F1"/>
                </a:solidFill>
                <a:latin typeface="Calibri"/>
              </a:rPr>
              <a:t>•  Clear finish line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30" b="0" i="0">
                <a:solidFill>
                  <a:srgbClr val="E0F7F1"/>
                </a:solidFill>
                <a:latin typeface="Calibri"/>
              </a:rPr>
              <a:t>•  Known tools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30" b="0" i="0">
                <a:solidFill>
                  <a:srgbClr val="E0F7F1"/>
                </a:solidFill>
                <a:latin typeface="Calibri"/>
              </a:rPr>
              <a:t>•  Learnable edge cases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30" b="0" i="0">
                <a:solidFill>
                  <a:srgbClr val="E0F7F1"/>
                </a:solidFill>
                <a:latin typeface="Calibri"/>
              </a:rPr>
              <a:t>•  Budget owner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The wedge is repeated work that maps to existing payroll, agency, VA, or BPO spend.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PICK A WORKFLOW WITH A PAYCHECK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Budget ownership is the forcing function for what to build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Score jobs before writing code; pain without a budget owner is a weak wedge.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1828800" cy="34747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160934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Factor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755648"/>
            <a:ext cx="3749039" cy="347472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865376"/>
            <a:ext cx="3529583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What good looks like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755648"/>
            <a:ext cx="4297680" cy="347472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865376"/>
            <a:ext cx="407822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182880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40280"/>
            <a:ext cx="160934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Frequency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103120"/>
            <a:ext cx="3749039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2240280"/>
            <a:ext cx="3529583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Daily or hourly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2103120"/>
            <a:ext cx="429768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2240280"/>
            <a:ext cx="407822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Creates enough repetitions to learn and prove ROI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15184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752344"/>
            <a:ext cx="160934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Pain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615184"/>
            <a:ext cx="3749039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7168" y="2752344"/>
            <a:ext cx="3529583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Missed calls, slow replies, manual rework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79" y="2615184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2752344"/>
            <a:ext cx="407822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Buyer feels the operational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27248"/>
            <a:ext cx="182880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264408"/>
            <a:ext cx="160934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Finish 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127248"/>
            <a:ext cx="3749039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87168" y="3264408"/>
            <a:ext cx="3529583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Booked, routed, resolved, approved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3127248"/>
            <a:ext cx="429768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7" y="3264408"/>
            <a:ext cx="407822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Makes success measurable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39312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776472"/>
            <a:ext cx="160934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Tools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639312"/>
            <a:ext cx="3749039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87168" y="3776472"/>
            <a:ext cx="3529583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Email, calendar, CRM, ticketing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79" y="3639312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7" y="3776472"/>
            <a:ext cx="407822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Shows where the agent must operate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151376"/>
            <a:ext cx="182880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288536"/>
            <a:ext cx="160934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Budget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4151376"/>
            <a:ext cx="3749039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87168" y="4288536"/>
            <a:ext cx="3529583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Role, agency, VA, BPO owner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79" y="4151376"/>
            <a:ext cx="429768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7" y="4288536"/>
            <a:ext cx="407822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0" b="0" i="0">
                <a:solidFill>
                  <a:srgbClr val="1B2B3C"/>
                </a:solidFill>
                <a:latin typeface="Calibri"/>
              </a:rPr>
              <a:t>Confirms there is spend to redirect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First rep: one niche, 20 complained-about jobs, scored before anything is built.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SHADOW THE HUMAN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real product spec is hidden in exceptions, checks, and escalation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Observe 10-20 cases before writing prompts; the details become the agent contract.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2468880" cy="960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865376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06524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85623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49424"/>
            <a:ext cx="2066544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What starts the job?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19072"/>
            <a:ext cx="2468880" cy="960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02152" y="1865376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906524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185623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49424"/>
            <a:ext cx="2066544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What must be known?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719072"/>
            <a:ext cx="2468880" cy="960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2" y="1865376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906524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185623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49424"/>
            <a:ext cx="2066544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Where does work happen?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399" y="1719072"/>
            <a:ext cx="2468880" cy="960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79991" y="1865376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1" y="1906524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191" y="185623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249424"/>
            <a:ext cx="2066544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What can it do?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044952"/>
            <a:ext cx="2468880" cy="960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3191256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232404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318211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Approvals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575304"/>
            <a:ext cx="2066544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Where is human review required?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3044952"/>
            <a:ext cx="2468880" cy="960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02152" y="3191256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2152" y="3232404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9352" y="318211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575304"/>
            <a:ext cx="2066544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When does it ask for help?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044952"/>
            <a:ext cx="2468880" cy="960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1072" y="3191256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3232404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318211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Success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575304"/>
            <a:ext cx="2066544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How is done defined?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590288"/>
            <a:ext cx="11094415" cy="621792"/>
          </a:xfrm>
          <a:prstGeom prst="roundRect">
            <a:avLst>
              <a:gd name="adj" fmla="val 5000"/>
            </a:avLst>
          </a:prstGeom>
          <a:solidFill>
            <a:srgbClr val="E8F8F4"/>
          </a:solidFill>
          <a:ln w="12700">
            <a:solidFill>
              <a:srgbClr val="BFE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4791456"/>
            <a:ext cx="1069207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08F75"/>
                </a:solidFill>
                <a:latin typeface="Calibri"/>
              </a:rPr>
              <a:t>Operator shadowing turns tacit judgment into explicit acceptance criteria.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Do not automate what has not been watched; the hidden work is where trust is created.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BUILD THE MINIMUM USEFUL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Autonomy should be earned one bounded loop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Start with one of four useful shapes before adding broad judgment.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4169663" cy="106070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" cy="1060704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92938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7053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920240"/>
            <a:ext cx="3383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FFFFFF"/>
                </a:solidFill>
                <a:latin typeface="Calibri"/>
              </a:rPr>
              <a:t>Draft &amp; approve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13432"/>
            <a:ext cx="376732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Prepares output; human approves before send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783080"/>
            <a:ext cx="4169663" cy="106070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6360" y="1783080"/>
            <a:ext cx="54864" cy="1060704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30952" y="192938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197053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1920240"/>
            <a:ext cx="3383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313432"/>
            <a:ext cx="376732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Classifies, prioritizes, and routes 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00400"/>
            <a:ext cx="4169663" cy="106070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200400"/>
            <a:ext cx="54864" cy="1060704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34670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38785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337560"/>
            <a:ext cx="3383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Coordinator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730752"/>
            <a:ext cx="376732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Moves work across calendar, CRM, inbox, and ticketing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0" y="3200400"/>
            <a:ext cx="4169663" cy="106070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66360" y="3200400"/>
            <a:ext cx="54864" cy="1060704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30952" y="334670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0952" y="338785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88152" y="3337560"/>
            <a:ext cx="3383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Bounded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7528" y="3730752"/>
            <a:ext cx="376732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Executes a narrow, reversible task under 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2011680"/>
            <a:ext cx="1097280" cy="245059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9216" y="2377440"/>
            <a:ext cx="74980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50" b="1" i="0">
                <a:solidFill>
                  <a:srgbClr val="FFFFFF"/>
                </a:solidFill>
                <a:latin typeface="Calibri"/>
              </a:rPr>
              <a:t>Earn autonomy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273552"/>
            <a:ext cx="84124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E0F7F1"/>
                </a:solidFill>
                <a:latin typeface="Calibri"/>
              </a:rPr>
              <a:t>assistive
→ bounded
→ trusted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The first version must be useful enough to sell and constrained enough to evaluate.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THE WRAPPER MAKES IT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agent does the job; the control room creates the trust customers pay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Logs, approvals, controls, analytics, and evals convert automation into a buyable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2148840" cy="117043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1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AI worker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04871"/>
            <a:ext cx="178308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Does the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2304288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27632"/>
            <a:ext cx="3017520" cy="1664208"/>
          </a:xfrm>
          <a:prstGeom prst="roundRect">
            <a:avLst>
              <a:gd name="adj" fmla="val 5000"/>
            </a:avLst>
          </a:prstGeom>
          <a:solidFill>
            <a:srgbClr val="173E3C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92224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Control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57984"/>
            <a:ext cx="2651760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Logs
Approvals
Settings
Handoffs
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304288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874519"/>
            <a:ext cx="2450592" cy="1170432"/>
          </a:xfrm>
          <a:prstGeom prst="roundRect">
            <a:avLst>
              <a:gd name="adj" fmla="val 5000"/>
            </a:avLst>
          </a:prstGeom>
          <a:solidFill>
            <a:srgbClr val="144E40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039111"/>
            <a:ext cx="20848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Customer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404871"/>
            <a:ext cx="208483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What happened?
Why?
What needs review?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627632"/>
            <a:ext cx="1389888" cy="1664208"/>
          </a:xfrm>
          <a:prstGeom prst="roundRect">
            <a:avLst>
              <a:gd name="adj" fmla="val 5000"/>
            </a:avLst>
          </a:prstGeom>
          <a:solidFill>
            <a:srgbClr val="FFF4C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1764792"/>
            <a:ext cx="102412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Eval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22408" y="2157984"/>
            <a:ext cx="987552" cy="969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50 real examples
Right answers
Failure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68496"/>
            <a:ext cx="11094415" cy="65836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78808"/>
            <a:ext cx="1069207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Eval loop: run real work -&gt; inspect failures -&gt; improve controls -&gt; re-test before expanding autonomy.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A demo shows automation; the SaaS wrapper shows why production use is trustworthy.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SELL THE PILOT LIKE LABOR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Start with three same-niche customers, then productize the repeated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Early pricing should match how buyers already buy capacity; sophistication comes after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173736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3 customers
same niche
same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487168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920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163F4A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08483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450592"/>
            <a:ext cx="173736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Observe edge cases
track failures
tighten 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2487168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920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144E40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08483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Productize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50592"/>
            <a:ext cx="173736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Reusable wrapper
repeatable onboarding
standard evals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2487168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920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4A3A12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08483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450592"/>
            <a:ext cx="173736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Setup + monthly
then usage
then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58768"/>
            <a:ext cx="85953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Sell the result in the buyer’s existing language: receptionist, dispatcher, coordinator, support capacity.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Use the pilot to discover what must be productized, not to pretend the product is finished.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Move toward usage or outcome pricing only once value is observable and repeatable.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Labor-like pilots lower friction; productize only after the workflow repeats.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OWN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moat is the operating loop, not the model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Workflow memory compounds through context, exceptions, policy, and eval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719072"/>
            <a:ext cx="7772400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901952"/>
            <a:ext cx="192024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FFFFFF"/>
                </a:solidFill>
                <a:latin typeface="Calibri"/>
              </a:rPr>
              <a:t>Workflow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901952"/>
            <a:ext cx="40233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E0F7F1"/>
                </a:solidFill>
                <a:latin typeface="Calibri"/>
              </a:rPr>
              <a:t>What the customer does, checks, and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39" y="2432304"/>
            <a:ext cx="7269480" cy="54864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39" y="2615184"/>
            <a:ext cx="192024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FFFFFF"/>
                </a:solidFill>
                <a:latin typeface="Calibri"/>
              </a:rPr>
              <a:t>Exception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15184"/>
            <a:ext cx="40233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E0F7F1"/>
                </a:solidFill>
                <a:latin typeface="Calibri"/>
              </a:rPr>
              <a:t>What makes cases weird and when to escalate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145536"/>
            <a:ext cx="6766560" cy="548640"/>
          </a:xfrm>
          <a:prstGeom prst="roundRect">
            <a:avLst>
              <a:gd name="adj" fmla="val 4000"/>
            </a:avLst>
          </a:prstGeom>
          <a:solidFill>
            <a:srgbClr val="16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328416"/>
            <a:ext cx="192024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FFFFFF"/>
                </a:solidFill>
                <a:latin typeface="Calibri"/>
              </a:rPr>
              <a:t>Policy +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328416"/>
            <a:ext cx="40233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E0F7F1"/>
                </a:solidFill>
                <a:latin typeface="Calibri"/>
              </a:rPr>
              <a:t>What the agent may do without approval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858768"/>
            <a:ext cx="6263640" cy="548640"/>
          </a:xfrm>
          <a:prstGeom prst="roundRect">
            <a:avLst>
              <a:gd name="adj" fmla="val 4000"/>
            </a:avLst>
          </a:prstGeom>
          <a:solidFill>
            <a:srgbClr val="144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4041648"/>
            <a:ext cx="192024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FFFFFF"/>
                </a:solidFill>
                <a:latin typeface="Calibri"/>
              </a:rPr>
              <a:t>Eval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041648"/>
            <a:ext cx="40233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E0F7F1"/>
                </a:solidFill>
                <a:latin typeface="Calibri"/>
              </a:rPr>
              <a:t>Real examples that define quality over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865376"/>
            <a:ext cx="2468880" cy="199339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0" y="1865376"/>
            <a:ext cx="54864" cy="1993392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002536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Defensibility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395728"/>
            <a:ext cx="2066544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Can a competitor copy the landing page but not the operating history, edge cases, controls, and eval set?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The durable asset is the workflow operating system around the agent.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30-DAY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44200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Distribution comes from workflow teardowns: old way versus agent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5B6B7C"/>
                </a:solidFill>
                <a:latin typeface="Calibri"/>
              </a:rPr>
              <a:t>Publish proof from the painful workflow, then put spend behind the teardown that converts.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Days 1-3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1389888" cy="969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Pick one niche
List 20 jobs
Score pain +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2496312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99339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359152"/>
            <a:ext cx="1389888" cy="969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Shadow operators
Write trigger/context/rules
Build eval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96312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828800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163F4A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99339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59152"/>
            <a:ext cx="1389888" cy="969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Ship smallest useful agent
Draft / triage / coordinate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496312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19" y="1828800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144E40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9" y="199339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2359152"/>
            <a:ext cx="1389888" cy="969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Sell 3 pilots
Setup + monthly
Same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1" y="2496312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8F75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828800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4A3A12"/>
          </a:solidFill>
          <a:ln w="12700">
            <a:solidFill>
              <a:srgbClr val="EEF2F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99339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359152"/>
            <a:ext cx="1389888" cy="969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E0F7F1"/>
                </a:solidFill>
                <a:latin typeface="Calibri"/>
              </a:rPr>
              <a:t>Publish teardown engine
50 posts
Ads behind winners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41648"/>
            <a:ext cx="11094415" cy="640080"/>
          </a:xfrm>
          <a:prstGeom prst="roundRect">
            <a:avLst>
              <a:gd name="adj" fmla="val 5000"/>
            </a:avLst>
          </a:prstGeom>
          <a:solidFill>
            <a:srgbClr val="E8F8F4"/>
          </a:solidFill>
          <a:ln w="12700">
            <a:solidFill>
              <a:srgbClr val="BFE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261104"/>
            <a:ext cx="10692079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08F75"/>
                </a:solidFill>
                <a:latin typeface="Calibri"/>
              </a:rPr>
              <a:t>Teardown format: painful old way -&gt; smooth agent way -&gt; obvious painkiller.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04688"/>
            <a:ext cx="11094415" cy="69494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73328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5660136"/>
            <a:ext cx="9759391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The next action is a scored workflow shortlist and operator shadowing plan.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Agents Are The New SaaS | Video-to-deck 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