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6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9098280" y="0"/>
            <a:ext cx="3090672" cy="6858000"/>
          </a:xfrm>
          <a:prstGeom prst="rect">
            <a:avLst/>
          </a:prstGeom>
          <a:solidFill>
            <a:srgbClr val="1224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9098280" y="0"/>
            <a:ext cx="73152" cy="6858000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713232"/>
            <a:ext cx="5394960" cy="20116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30" b="1" i="0">
                <a:solidFill>
                  <a:srgbClr val="00C9A7"/>
                </a:solidFill>
                <a:latin typeface="Calibri"/>
              </a:rPr>
              <a:t>EXECUTIVE BRIEFING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207008"/>
            <a:ext cx="7589520" cy="78638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3500" b="1" i="0">
                <a:solidFill>
                  <a:srgbClr val="FFFFFF"/>
                </a:solidFill>
                <a:latin typeface="Calibri"/>
              </a:rPr>
              <a:t>AI Agents Are The New SaaS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2157984"/>
            <a:ext cx="1325880" cy="50292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2468880"/>
            <a:ext cx="7132320" cy="40233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20" b="0" i="0">
                <a:solidFill>
                  <a:srgbClr val="DCE6EF"/>
                </a:solidFill>
                <a:latin typeface="Calibri"/>
              </a:rPr>
              <a:t>A practical playbook for turning AI agents into workflow businesses.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114032" y="3127248"/>
            <a:ext cx="4041648" cy="2011680"/>
          </a:xfrm>
          <a:prstGeom prst="roundRect">
            <a:avLst>
              <a:gd name="adj" fmla="val 6000"/>
            </a:avLst>
          </a:prstGeom>
          <a:solidFill>
            <a:srgbClr val="0B1118"/>
          </a:solidFill>
          <a:ln>
            <a:noFill/>
          </a:ln>
          <a:effectLst>
            <a:outerShdw blurRad="80000" dist="30000" dir="5400000" rotWithShape="0">
              <a:srgbClr val="0A1628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ai-agents-new-saas-v3-thesis-workflo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60336" y="3255264"/>
            <a:ext cx="3049754" cy="173736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548640" y="4663440"/>
            <a:ext cx="6309360" cy="21945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80" b="1" i="0">
                <a:solidFill>
                  <a:srgbClr val="FFB800"/>
                </a:solidFill>
                <a:latin typeface="Calibri"/>
              </a:rPr>
              <a:t>From product idea to sellable workflow wedge.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021263" y="6437376"/>
            <a:ext cx="658368" cy="1828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919" b="1" i="0">
                <a:solidFill>
                  <a:srgbClr val="5B6B7C"/>
                </a:solidFill>
                <a:latin typeface="Calibri"/>
              </a:rPr>
              <a:t>1 / 15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19456"/>
            <a:ext cx="4114800" cy="16459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19" b="1" i="0">
                <a:solidFill>
                  <a:srgbClr val="008F75"/>
                </a:solidFill>
                <a:latin typeface="Calibri"/>
              </a:rPr>
              <a:t>EXECUTIVE SUMMARY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475488"/>
            <a:ext cx="11094415" cy="53035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2250" b="1" i="0">
                <a:solidFill>
                  <a:srgbClr val="0A1628"/>
                </a:solidFill>
                <a:latin typeface="Calibri"/>
              </a:rPr>
              <a:t>Agent SaaS succeeds when it sells a finished job, not another tool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078992"/>
            <a:ext cx="1234440" cy="41148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548640" y="1389888"/>
            <a:ext cx="11094415" cy="749808"/>
          </a:xfrm>
          <a:prstGeom prst="roundRect">
            <a:avLst>
              <a:gd name="adj" fmla="val 5000"/>
            </a:avLst>
          </a:prstGeom>
          <a:solidFill>
            <a:srgbClr val="0A16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49808" y="1627632"/>
            <a:ext cx="1060704" cy="10972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850" b="1" i="0">
                <a:solidFill>
                  <a:srgbClr val="FFB800"/>
                </a:solidFill>
                <a:latin typeface="Calibri"/>
              </a:rPr>
              <a:t>BOTTOM LINE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901952" y="1572768"/>
            <a:ext cx="9539935" cy="20116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270" b="1" i="0">
                <a:solidFill>
                  <a:srgbClr val="FFFFFF"/>
                </a:solidFill>
                <a:latin typeface="Calibri"/>
              </a:rPr>
              <a:t>The strongest opportunity is a narrow, high-frequency workflow with budget, a clear finish line, and a trust wrapper.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2615184"/>
            <a:ext cx="3401568" cy="1554480"/>
          </a:xfrm>
          <a:prstGeom prst="roundRect">
            <a:avLst>
              <a:gd name="adj" fmla="val 5000"/>
            </a:avLst>
          </a:prstGeom>
          <a:solidFill>
            <a:srgbClr val="F4F7F8"/>
          </a:solidFill>
          <a:ln w="12700">
            <a:solidFill>
              <a:srgbClr val="D9DFE5"/>
            </a:solidFill>
          </a:ln>
          <a:effectLst>
            <a:outerShdw blurRad="80000" dist="30000" dir="5400000" rotWithShape="0">
              <a:srgbClr val="0A1628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48640" y="2615184"/>
            <a:ext cx="54864" cy="1554480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49808" y="2852928"/>
            <a:ext cx="2944368" cy="18288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220" b="1" i="0">
                <a:solidFill>
                  <a:srgbClr val="0A1628"/>
                </a:solidFill>
                <a:latin typeface="Calibri"/>
              </a:rPr>
              <a:t>Where to play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49808" y="3273552"/>
            <a:ext cx="2889504" cy="47548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40" b="0" i="0">
                <a:solidFill>
                  <a:srgbClr val="1B2B3C"/>
                </a:solidFill>
                <a:latin typeface="Calibri"/>
              </a:rPr>
              <a:t>Choose a service workflow already funded by headcount, agencies, or outsourcing.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279392" y="2615184"/>
            <a:ext cx="3401568" cy="1554480"/>
          </a:xfrm>
          <a:prstGeom prst="roundRect">
            <a:avLst>
              <a:gd name="adj" fmla="val 5000"/>
            </a:avLst>
          </a:prstGeom>
          <a:solidFill>
            <a:srgbClr val="F4F7F8"/>
          </a:solidFill>
          <a:ln w="12700">
            <a:solidFill>
              <a:srgbClr val="D9DFE5"/>
            </a:solidFill>
          </a:ln>
          <a:effectLst>
            <a:outerShdw blurRad="80000" dist="30000" dir="5400000" rotWithShape="0">
              <a:srgbClr val="0A1628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279392" y="2615184"/>
            <a:ext cx="54864" cy="1554480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480560" y="2852928"/>
            <a:ext cx="2944368" cy="18288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220" b="1" i="0">
                <a:solidFill>
                  <a:srgbClr val="0A1628"/>
                </a:solidFill>
                <a:latin typeface="Calibri"/>
              </a:rPr>
              <a:t>How to build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80560" y="3273552"/>
            <a:ext cx="2889504" cy="47548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40" b="0" i="0">
                <a:solidFill>
                  <a:srgbClr val="1B2B3C"/>
                </a:solidFill>
                <a:latin typeface="Calibri"/>
              </a:rPr>
              <a:t>Observe real operators, extract the workflow spec, and ship the smallest useful agent.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010144" y="2615184"/>
            <a:ext cx="3401568" cy="1554480"/>
          </a:xfrm>
          <a:prstGeom prst="roundRect">
            <a:avLst>
              <a:gd name="adj" fmla="val 5000"/>
            </a:avLst>
          </a:prstGeom>
          <a:solidFill>
            <a:srgbClr val="F4F7F8"/>
          </a:solidFill>
          <a:ln w="12700">
            <a:solidFill>
              <a:srgbClr val="D9DFE5"/>
            </a:solidFill>
          </a:ln>
          <a:effectLst>
            <a:outerShdw blurRad="80000" dist="30000" dir="5400000" rotWithShape="0">
              <a:srgbClr val="0A1628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010144" y="2615184"/>
            <a:ext cx="54864" cy="1554480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211312" y="2852928"/>
            <a:ext cx="2944368" cy="18288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220" b="1" i="0">
                <a:solidFill>
                  <a:srgbClr val="0A1628"/>
                </a:solidFill>
                <a:latin typeface="Calibri"/>
              </a:rPr>
              <a:t>How to win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11312" y="3273552"/>
            <a:ext cx="2889504" cy="47548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40" b="0" i="0">
                <a:solidFill>
                  <a:srgbClr val="1B2B3C"/>
                </a:solidFill>
                <a:latin typeface="Calibri"/>
              </a:rPr>
              <a:t>Sell pilots like labor, then productize the repeated operating loop with controls and evals.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48640" y="4828032"/>
            <a:ext cx="11094415" cy="585216"/>
          </a:xfrm>
          <a:prstGeom prst="roundRect">
            <a:avLst>
              <a:gd name="adj" fmla="val 5000"/>
            </a:avLst>
          </a:prstGeom>
          <a:solidFill>
            <a:srgbClr val="FFF4CF"/>
          </a:solidFill>
          <a:ln w="12700">
            <a:solidFill>
              <a:srgbClr val="F2D98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49808" y="5029200"/>
            <a:ext cx="841248" cy="10972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819" b="1" i="0">
                <a:solidFill>
                  <a:srgbClr val="0A1628"/>
                </a:solidFill>
                <a:latin typeface="Calibri"/>
              </a:rPr>
              <a:t>DECISION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700784" y="4992624"/>
            <a:ext cx="9741103" cy="16459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10" b="1" i="0">
                <a:solidFill>
                  <a:srgbClr val="0A1628"/>
                </a:solidFill>
                <a:latin typeface="Calibri"/>
              </a:rPr>
              <a:t>Prioritize one niche and score 20 candidate workflows before committing build effort.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021263" y="6437376"/>
            <a:ext cx="658368" cy="1828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919" b="1" i="0">
                <a:solidFill>
                  <a:srgbClr val="5B6B7C"/>
                </a:solidFill>
                <a:latin typeface="Calibri"/>
              </a:rPr>
              <a:t>2 / 15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19456"/>
            <a:ext cx="4114800" cy="16459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19" b="1" i="0">
                <a:solidFill>
                  <a:srgbClr val="008F75"/>
                </a:solidFill>
                <a:latin typeface="Calibri"/>
              </a:rPr>
              <a:t>MARKET CONTEXT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475488"/>
            <a:ext cx="11094415" cy="53035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2250" b="1" i="0">
                <a:solidFill>
                  <a:srgbClr val="0A1628"/>
                </a:solidFill>
                <a:latin typeface="Calibri"/>
              </a:rPr>
              <a:t>Agent SaaS is a packaging shift from software access to completed work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078992"/>
            <a:ext cx="1234440" cy="41148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548640" y="1389888"/>
            <a:ext cx="2852928" cy="3931920"/>
          </a:xfrm>
          <a:prstGeom prst="roundRect">
            <a:avLst>
              <a:gd name="adj" fmla="val 5000"/>
            </a:avLst>
          </a:prstGeom>
          <a:solidFill>
            <a:srgbClr val="F4F7F8"/>
          </a:solidFill>
          <a:ln w="12700">
            <a:solidFill>
              <a:srgbClr val="D9DFE5"/>
            </a:solidFill>
          </a:ln>
          <a:effectLst>
            <a:outerShdw blurRad="80000" dist="30000" dir="5400000" rotWithShape="0">
              <a:srgbClr val="0A1628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49808" y="1627632"/>
            <a:ext cx="2286000" cy="16459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200" b="1" i="0">
                <a:solidFill>
                  <a:srgbClr val="008F75"/>
                </a:solidFill>
                <a:latin typeface="Calibri"/>
              </a:rPr>
              <a:t>Business implication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49808" y="1993392"/>
            <a:ext cx="2395728" cy="85953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10" b="1" i="0">
                <a:solidFill>
                  <a:srgbClr val="0A1628"/>
                </a:solidFill>
                <a:latin typeface="Calibri"/>
              </a:rPr>
              <a:t>The buyer logic changes when the output is a completed workflow rather than another seat of software.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49808" y="3127248"/>
            <a:ext cx="2377440" cy="137160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600"/>
              </a:spcBef>
            </a:pPr>
            <a:r>
              <a:rPr sz="950" b="0" i="0">
                <a:solidFill>
                  <a:srgbClr val="1B2B3C"/>
                </a:solidFill>
                <a:latin typeface="Calibri"/>
              </a:rPr>
              <a:t>•  SaaS sold tools and usage.</a:t>
            </a:r>
          </a:p>
          <a:p>
            <a:pPr algn="l">
              <a:lnSpc>
                <a:spcPct val="105000"/>
              </a:lnSpc>
              <a:spcBef>
                <a:spcPts val="600"/>
              </a:spcBef>
            </a:pPr>
            <a:r>
              <a:rPr sz="950" b="0" i="0">
                <a:solidFill>
                  <a:srgbClr val="1B2B3C"/>
                </a:solidFill>
                <a:latin typeface="Calibri"/>
              </a:rPr>
              <a:t>•  Agent SaaS sells work capacity.</a:t>
            </a:r>
          </a:p>
          <a:p>
            <a:pPr algn="l">
              <a:lnSpc>
                <a:spcPct val="105000"/>
              </a:lnSpc>
              <a:spcBef>
                <a:spcPts val="600"/>
              </a:spcBef>
            </a:pPr>
            <a:r>
              <a:rPr sz="950" b="0" i="0">
                <a:solidFill>
                  <a:srgbClr val="1B2B3C"/>
                </a:solidFill>
                <a:latin typeface="Calibri"/>
              </a:rPr>
              <a:t>•  The wedge must map to budget already attached to a job.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675887" y="1389888"/>
            <a:ext cx="7772400" cy="3931920"/>
          </a:xfrm>
          <a:prstGeom prst="roundRect">
            <a:avLst>
              <a:gd name="adj" fmla="val 6000"/>
            </a:avLst>
          </a:prstGeom>
          <a:solidFill>
            <a:srgbClr val="0B1118"/>
          </a:solidFill>
          <a:ln>
            <a:noFill/>
          </a:ln>
          <a:effectLst>
            <a:outerShdw blurRad="80000" dist="30000" dir="5400000" rotWithShape="0">
              <a:srgbClr val="0A1628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Picture 11" descr="ai-agents-new-saas-v3-market-contex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00560" y="1536192"/>
            <a:ext cx="6523053" cy="3621024"/>
          </a:xfrm>
          <a:prstGeom prst="rect">
            <a:avLst/>
          </a:prstGeom>
        </p:spPr>
      </p:pic>
      <p:sp>
        <p:nvSpPr>
          <p:cNvPr id="13" name="Rounded Rectangle 12"/>
          <p:cNvSpPr/>
          <p:nvPr/>
        </p:nvSpPr>
        <p:spPr>
          <a:xfrm>
            <a:off x="658368" y="5669280"/>
            <a:ext cx="10881360" cy="512064"/>
          </a:xfrm>
          <a:prstGeom prst="roundRect">
            <a:avLst>
              <a:gd name="adj" fmla="val 5000"/>
            </a:avLst>
          </a:prstGeom>
          <a:solidFill>
            <a:srgbClr val="0A16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41248" y="5833872"/>
            <a:ext cx="877824" cy="10972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819" b="1" i="0">
                <a:solidFill>
                  <a:srgbClr val="FFB800"/>
                </a:solidFill>
                <a:latin typeface="Calibri"/>
              </a:rPr>
              <a:t>TAKEAWAY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755648" y="5797296"/>
            <a:ext cx="9464040" cy="16459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60" b="1" i="0">
                <a:solidFill>
                  <a:srgbClr val="FFFFFF"/>
                </a:solidFill>
                <a:latin typeface="Calibri"/>
              </a:rPr>
              <a:t>Start with the paid job, not the generic agent category.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021263" y="6437376"/>
            <a:ext cx="658368" cy="1828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919" b="1" i="0">
                <a:solidFill>
                  <a:srgbClr val="5B6B7C"/>
                </a:solidFill>
                <a:latin typeface="Calibri"/>
              </a:rPr>
              <a:t>3 / 15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19456"/>
            <a:ext cx="4114800" cy="16459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19" b="1" i="0">
                <a:solidFill>
                  <a:srgbClr val="008F75"/>
                </a:solidFill>
                <a:latin typeface="Calibri"/>
              </a:rPr>
              <a:t>CORE THESIS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475488"/>
            <a:ext cx="11094415" cy="53035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2250" b="1" i="0">
                <a:solidFill>
                  <a:srgbClr val="0A1628"/>
                </a:solidFill>
                <a:latin typeface="Calibri"/>
              </a:rPr>
              <a:t>The product is the job the customer can hand off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078992"/>
            <a:ext cx="1234440" cy="41148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548640" y="1389888"/>
            <a:ext cx="2852928" cy="3931920"/>
          </a:xfrm>
          <a:prstGeom prst="roundRect">
            <a:avLst>
              <a:gd name="adj" fmla="val 5000"/>
            </a:avLst>
          </a:prstGeom>
          <a:solidFill>
            <a:srgbClr val="F4F7F8"/>
          </a:solidFill>
          <a:ln w="12700">
            <a:solidFill>
              <a:srgbClr val="D9DFE5"/>
            </a:solidFill>
          </a:ln>
          <a:effectLst>
            <a:outerShdw blurRad="80000" dist="30000" dir="5400000" rotWithShape="0">
              <a:srgbClr val="0A1628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49808" y="1627632"/>
            <a:ext cx="2286000" cy="16459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200" b="1" i="0">
                <a:solidFill>
                  <a:srgbClr val="008F75"/>
                </a:solidFill>
                <a:latin typeface="Calibri"/>
              </a:rPr>
              <a:t>Business implication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49808" y="1993392"/>
            <a:ext cx="2395728" cy="85953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10" b="1" i="0">
                <a:solidFill>
                  <a:srgbClr val="0A1628"/>
                </a:solidFill>
                <a:latin typeface="Calibri"/>
              </a:rPr>
              <a:t>A credible agent business owns a narrow workflow end to end: trigger, context, tools, decisions, and escalation.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49808" y="3127248"/>
            <a:ext cx="2377440" cy="137160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600"/>
              </a:spcBef>
            </a:pPr>
            <a:r>
              <a:rPr sz="950" b="0" i="0">
                <a:solidFill>
                  <a:srgbClr val="1B2B3C"/>
                </a:solidFill>
                <a:latin typeface="Calibri"/>
              </a:rPr>
              <a:t>•  Paid workflow -&gt; observed spec -&gt; agent business.</a:t>
            </a:r>
          </a:p>
          <a:p>
            <a:pPr algn="l">
              <a:lnSpc>
                <a:spcPct val="105000"/>
              </a:lnSpc>
              <a:spcBef>
                <a:spcPts val="600"/>
              </a:spcBef>
            </a:pPr>
            <a:r>
              <a:rPr sz="950" b="0" i="0">
                <a:solidFill>
                  <a:srgbClr val="1B2B3C"/>
                </a:solidFill>
                <a:latin typeface="Calibri"/>
              </a:rPr>
              <a:t>•  Narrow scope makes the offer explainable.</a:t>
            </a:r>
          </a:p>
          <a:p>
            <a:pPr algn="l">
              <a:lnSpc>
                <a:spcPct val="105000"/>
              </a:lnSpc>
              <a:spcBef>
                <a:spcPts val="600"/>
              </a:spcBef>
            </a:pPr>
            <a:r>
              <a:rPr sz="950" b="0" i="0">
                <a:solidFill>
                  <a:srgbClr val="1B2B3C"/>
                </a:solidFill>
                <a:latin typeface="Calibri"/>
              </a:rPr>
              <a:t>•  Trust is designed into the handoff.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675887" y="1389888"/>
            <a:ext cx="7772400" cy="3931920"/>
          </a:xfrm>
          <a:prstGeom prst="roundRect">
            <a:avLst>
              <a:gd name="adj" fmla="val 6000"/>
            </a:avLst>
          </a:prstGeom>
          <a:solidFill>
            <a:srgbClr val="0B1118"/>
          </a:solidFill>
          <a:ln>
            <a:noFill/>
          </a:ln>
          <a:effectLst>
            <a:outerShdw blurRad="80000" dist="30000" dir="5400000" rotWithShape="0">
              <a:srgbClr val="0A1628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Picture 11" descr="ai-agents-new-saas-v3-thesis-workflo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83922" y="1536192"/>
            <a:ext cx="6356329" cy="3621024"/>
          </a:xfrm>
          <a:prstGeom prst="rect">
            <a:avLst/>
          </a:prstGeom>
        </p:spPr>
      </p:pic>
      <p:sp>
        <p:nvSpPr>
          <p:cNvPr id="13" name="Rounded Rectangle 12"/>
          <p:cNvSpPr/>
          <p:nvPr/>
        </p:nvSpPr>
        <p:spPr>
          <a:xfrm>
            <a:off x="658368" y="5669280"/>
            <a:ext cx="10881360" cy="512064"/>
          </a:xfrm>
          <a:prstGeom prst="roundRect">
            <a:avLst>
              <a:gd name="adj" fmla="val 5000"/>
            </a:avLst>
          </a:prstGeom>
          <a:solidFill>
            <a:srgbClr val="0A16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41248" y="5833872"/>
            <a:ext cx="877824" cy="10972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819" b="1" i="0">
                <a:solidFill>
                  <a:srgbClr val="FFB800"/>
                </a:solidFill>
                <a:latin typeface="Calibri"/>
              </a:rPr>
              <a:t>TAKEAWAY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755648" y="5797296"/>
            <a:ext cx="9464040" cy="16459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60" b="1" i="0">
                <a:solidFill>
                  <a:srgbClr val="FFFFFF"/>
                </a:solidFill>
                <a:latin typeface="Calibri"/>
              </a:rPr>
              <a:t>If the job cannot be named, the agent cannot be sold.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021263" y="6437376"/>
            <a:ext cx="658368" cy="1828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919" b="1" i="0">
                <a:solidFill>
                  <a:srgbClr val="5B6B7C"/>
                </a:solidFill>
                <a:latin typeface="Calibri"/>
              </a:rPr>
              <a:t>4 / 15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19456"/>
            <a:ext cx="4114800" cy="16459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19" b="1" i="0">
                <a:solidFill>
                  <a:srgbClr val="008F75"/>
                </a:solidFill>
                <a:latin typeface="Calibri"/>
              </a:rPr>
              <a:t>ECONOMICS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475488"/>
            <a:ext cx="11094415" cy="53035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2250" b="1" i="0">
                <a:solidFill>
                  <a:srgbClr val="0A1628"/>
                </a:solidFill>
                <a:latin typeface="Calibri"/>
              </a:rPr>
              <a:t>Unit economics improve only when the workflow is repeated and bounded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078992"/>
            <a:ext cx="1234440" cy="41148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548640" y="1389888"/>
            <a:ext cx="2852928" cy="3931920"/>
          </a:xfrm>
          <a:prstGeom prst="roundRect">
            <a:avLst>
              <a:gd name="adj" fmla="val 5000"/>
            </a:avLst>
          </a:prstGeom>
          <a:solidFill>
            <a:srgbClr val="F4F7F8"/>
          </a:solidFill>
          <a:ln w="12700">
            <a:solidFill>
              <a:srgbClr val="D9DFE5"/>
            </a:solidFill>
          </a:ln>
          <a:effectLst>
            <a:outerShdw blurRad="80000" dist="30000" dir="5400000" rotWithShape="0">
              <a:srgbClr val="0A1628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49808" y="1627632"/>
            <a:ext cx="2286000" cy="16459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200" b="1" i="0">
                <a:solidFill>
                  <a:srgbClr val="008F75"/>
                </a:solidFill>
                <a:latin typeface="Calibri"/>
              </a:rPr>
              <a:t>Business implication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49808" y="1993392"/>
            <a:ext cx="2395728" cy="85953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10" b="1" i="0">
                <a:solidFill>
                  <a:srgbClr val="0A1628"/>
                </a:solidFill>
                <a:latin typeface="Calibri"/>
              </a:rPr>
              <a:t>The economic promise depends on replacing repeated labor packets, not vaguely improving productivity.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49808" y="3127248"/>
            <a:ext cx="2377440" cy="137160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600"/>
              </a:spcBef>
            </a:pPr>
            <a:r>
              <a:rPr sz="950" b="0" i="0">
                <a:solidFill>
                  <a:srgbClr val="1B2B3C"/>
                </a:solidFill>
                <a:latin typeface="Calibri"/>
              </a:rPr>
              <a:t>•  Labor spend sets the price anchor.</a:t>
            </a:r>
          </a:p>
          <a:p>
            <a:pPr algn="l">
              <a:lnSpc>
                <a:spcPct val="105000"/>
              </a:lnSpc>
              <a:spcBef>
                <a:spcPts val="600"/>
              </a:spcBef>
            </a:pPr>
            <a:r>
              <a:rPr sz="950" b="0" i="0">
                <a:solidFill>
                  <a:srgbClr val="1B2B3C"/>
                </a:solidFill>
                <a:latin typeface="Calibri"/>
              </a:rPr>
              <a:t>•  Frequency creates learning data.</a:t>
            </a:r>
          </a:p>
          <a:p>
            <a:pPr algn="l">
              <a:lnSpc>
                <a:spcPct val="105000"/>
              </a:lnSpc>
              <a:spcBef>
                <a:spcPts val="600"/>
              </a:spcBef>
            </a:pPr>
            <a:r>
              <a:rPr sz="950" b="0" i="0">
                <a:solidFill>
                  <a:srgbClr val="1B2B3C"/>
                </a:solidFill>
                <a:latin typeface="Calibri"/>
              </a:rPr>
              <a:t>•  Boundaries keep delivery evaluable.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675887" y="1389888"/>
            <a:ext cx="7772400" cy="3931920"/>
          </a:xfrm>
          <a:prstGeom prst="roundRect">
            <a:avLst>
              <a:gd name="adj" fmla="val 6000"/>
            </a:avLst>
          </a:prstGeom>
          <a:solidFill>
            <a:srgbClr val="0B1118"/>
          </a:solidFill>
          <a:ln>
            <a:noFill/>
          </a:ln>
          <a:effectLst>
            <a:outerShdw blurRad="80000" dist="30000" dir="5400000" rotWithShape="0">
              <a:srgbClr val="0A1628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Picture 11" descr="ai-agents-new-saas-v3-unit-economic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83922" y="1536192"/>
            <a:ext cx="6356329" cy="3621024"/>
          </a:xfrm>
          <a:prstGeom prst="rect">
            <a:avLst/>
          </a:prstGeom>
        </p:spPr>
      </p:pic>
      <p:sp>
        <p:nvSpPr>
          <p:cNvPr id="13" name="Rounded Rectangle 12"/>
          <p:cNvSpPr/>
          <p:nvPr/>
        </p:nvSpPr>
        <p:spPr>
          <a:xfrm>
            <a:off x="658368" y="5669280"/>
            <a:ext cx="10881360" cy="512064"/>
          </a:xfrm>
          <a:prstGeom prst="roundRect">
            <a:avLst>
              <a:gd name="adj" fmla="val 5000"/>
            </a:avLst>
          </a:prstGeom>
          <a:solidFill>
            <a:srgbClr val="0A16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41248" y="5833872"/>
            <a:ext cx="877824" cy="10972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819" b="1" i="0">
                <a:solidFill>
                  <a:srgbClr val="FFB800"/>
                </a:solidFill>
                <a:latin typeface="Calibri"/>
              </a:rPr>
              <a:t>TAKEAWAY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755648" y="5797296"/>
            <a:ext cx="9464040" cy="16459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60" b="1" i="0">
                <a:solidFill>
                  <a:srgbClr val="FFFFFF"/>
                </a:solidFill>
                <a:latin typeface="Calibri"/>
              </a:rPr>
              <a:t>The workflow must be frequent enough to learn from and valuable enough to price.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021263" y="6437376"/>
            <a:ext cx="658368" cy="1828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919" b="1" i="0">
                <a:solidFill>
                  <a:srgbClr val="5B6B7C"/>
                </a:solidFill>
                <a:latin typeface="Calibri"/>
              </a:rPr>
              <a:t>5 / 15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19456"/>
            <a:ext cx="4114800" cy="16459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19" b="1" i="0">
                <a:solidFill>
                  <a:srgbClr val="008F75"/>
                </a:solidFill>
                <a:latin typeface="Calibri"/>
              </a:rPr>
              <a:t>EXAMPLES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475488"/>
            <a:ext cx="11094415" cy="53035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2250" b="1" i="0">
                <a:solidFill>
                  <a:srgbClr val="0A1628"/>
                </a:solidFill>
                <a:latin typeface="Calibri"/>
              </a:rPr>
              <a:t>The best wedges are boring service workflows with visible labor spend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078992"/>
            <a:ext cx="1234440" cy="41148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548640" y="1389888"/>
            <a:ext cx="2852928" cy="3931920"/>
          </a:xfrm>
          <a:prstGeom prst="roundRect">
            <a:avLst>
              <a:gd name="adj" fmla="val 5000"/>
            </a:avLst>
          </a:prstGeom>
          <a:solidFill>
            <a:srgbClr val="F4F7F8"/>
          </a:solidFill>
          <a:ln w="12700">
            <a:solidFill>
              <a:srgbClr val="D9DFE5"/>
            </a:solidFill>
          </a:ln>
          <a:effectLst>
            <a:outerShdw blurRad="80000" dist="30000" dir="5400000" rotWithShape="0">
              <a:srgbClr val="0A1628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49808" y="1627632"/>
            <a:ext cx="2286000" cy="16459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200" b="1" i="0">
                <a:solidFill>
                  <a:srgbClr val="008F75"/>
                </a:solidFill>
                <a:latin typeface="Calibri"/>
              </a:rPr>
              <a:t>Business implication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49808" y="1993392"/>
            <a:ext cx="2395728" cy="85953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10" b="1" i="0">
                <a:solidFill>
                  <a:srgbClr val="0A1628"/>
                </a:solidFill>
                <a:latin typeface="Calibri"/>
              </a:rPr>
              <a:t>Restaurants, home services, property operations, and contact centers show the repeatable pattern.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49808" y="3127248"/>
            <a:ext cx="2377440" cy="137160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600"/>
              </a:spcBef>
            </a:pPr>
            <a:r>
              <a:rPr sz="950" b="0" i="0">
                <a:solidFill>
                  <a:srgbClr val="1B2B3C"/>
                </a:solidFill>
                <a:latin typeface="Calibri"/>
              </a:rPr>
              <a:t>•  Reception and dispatch already have budget.</a:t>
            </a:r>
          </a:p>
          <a:p>
            <a:pPr algn="l">
              <a:lnSpc>
                <a:spcPct val="105000"/>
              </a:lnSpc>
              <a:spcBef>
                <a:spcPts val="600"/>
              </a:spcBef>
            </a:pPr>
            <a:r>
              <a:rPr sz="950" b="0" i="0">
                <a:solidFill>
                  <a:srgbClr val="1B2B3C"/>
                </a:solidFill>
                <a:latin typeface="Calibri"/>
              </a:rPr>
              <a:t>•  Missed work creates obvious pain.</a:t>
            </a:r>
          </a:p>
          <a:p>
            <a:pPr algn="l">
              <a:lnSpc>
                <a:spcPct val="105000"/>
              </a:lnSpc>
              <a:spcBef>
                <a:spcPts val="600"/>
              </a:spcBef>
            </a:pPr>
            <a:r>
              <a:rPr sz="950" b="0" i="0">
                <a:solidFill>
                  <a:srgbClr val="1B2B3C"/>
                </a:solidFill>
                <a:latin typeface="Calibri"/>
              </a:rPr>
              <a:t>•  The buyer compares against headcount or agencies.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675887" y="1389888"/>
            <a:ext cx="7772400" cy="3931920"/>
          </a:xfrm>
          <a:prstGeom prst="roundRect">
            <a:avLst>
              <a:gd name="adj" fmla="val 6000"/>
            </a:avLst>
          </a:prstGeom>
          <a:solidFill>
            <a:srgbClr val="0B1118"/>
          </a:solidFill>
          <a:ln>
            <a:noFill/>
          </a:ln>
          <a:effectLst>
            <a:outerShdw blurRad="80000" dist="30000" dir="5400000" rotWithShape="0">
              <a:srgbClr val="0A1628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Picture 11" descr="ai-agents-new-saas-v3-wedge-exampl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83922" y="1536192"/>
            <a:ext cx="6356329" cy="3621024"/>
          </a:xfrm>
          <a:prstGeom prst="rect">
            <a:avLst/>
          </a:prstGeom>
        </p:spPr>
      </p:pic>
      <p:sp>
        <p:nvSpPr>
          <p:cNvPr id="13" name="Rounded Rectangle 12"/>
          <p:cNvSpPr/>
          <p:nvPr/>
        </p:nvSpPr>
        <p:spPr>
          <a:xfrm>
            <a:off x="658368" y="5669280"/>
            <a:ext cx="10881360" cy="512064"/>
          </a:xfrm>
          <a:prstGeom prst="roundRect">
            <a:avLst>
              <a:gd name="adj" fmla="val 5000"/>
            </a:avLst>
          </a:prstGeom>
          <a:solidFill>
            <a:srgbClr val="0A16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41248" y="5833872"/>
            <a:ext cx="877824" cy="10972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819" b="1" i="0">
                <a:solidFill>
                  <a:srgbClr val="FFB800"/>
                </a:solidFill>
                <a:latin typeface="Calibri"/>
              </a:rPr>
              <a:t>TAKEAWAY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755648" y="5797296"/>
            <a:ext cx="9464040" cy="16459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60" b="1" i="0">
                <a:solidFill>
                  <a:srgbClr val="FFFFFF"/>
                </a:solidFill>
                <a:latin typeface="Calibri"/>
              </a:rPr>
              <a:t>Boring operations are better first markets than broad AI productivity.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021263" y="6437376"/>
            <a:ext cx="658368" cy="1828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919" b="1" i="0">
                <a:solidFill>
                  <a:srgbClr val="5B6B7C"/>
                </a:solidFill>
                <a:latin typeface="Calibri"/>
              </a:rPr>
              <a:t>6 / 15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19456"/>
            <a:ext cx="4114800" cy="16459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19" b="1" i="0">
                <a:solidFill>
                  <a:srgbClr val="008F75"/>
                </a:solidFill>
                <a:latin typeface="Calibri"/>
              </a:rPr>
              <a:t>WORKFLOW SELECTION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475488"/>
            <a:ext cx="11094415" cy="53035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2250" b="1" i="0">
                <a:solidFill>
                  <a:srgbClr val="0A1628"/>
                </a:solidFill>
                <a:latin typeface="Calibri"/>
              </a:rPr>
              <a:t>Pick a workflow with a paycheck attached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078992"/>
            <a:ext cx="1234440" cy="41148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548640" y="1389888"/>
            <a:ext cx="2852928" cy="3931920"/>
          </a:xfrm>
          <a:prstGeom prst="roundRect">
            <a:avLst>
              <a:gd name="adj" fmla="val 5000"/>
            </a:avLst>
          </a:prstGeom>
          <a:solidFill>
            <a:srgbClr val="F4F7F8"/>
          </a:solidFill>
          <a:ln w="12700">
            <a:solidFill>
              <a:srgbClr val="D9DFE5"/>
            </a:solidFill>
          </a:ln>
          <a:effectLst>
            <a:outerShdw blurRad="80000" dist="30000" dir="5400000" rotWithShape="0">
              <a:srgbClr val="0A1628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49808" y="1627632"/>
            <a:ext cx="2286000" cy="16459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200" b="1" i="0">
                <a:solidFill>
                  <a:srgbClr val="008F75"/>
                </a:solidFill>
                <a:latin typeface="Calibri"/>
              </a:rPr>
              <a:t>Business implication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49808" y="1993392"/>
            <a:ext cx="2395728" cy="85953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10" b="1" i="0">
                <a:solidFill>
                  <a:srgbClr val="0A1628"/>
                </a:solidFill>
                <a:latin typeface="Calibri"/>
              </a:rPr>
              <a:t>Frequency, pain, clarity, tools, edge cases, and budget owner decide whether the idea deserves a build.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49808" y="3127248"/>
            <a:ext cx="2377440" cy="137160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600"/>
              </a:spcBef>
            </a:pPr>
            <a:r>
              <a:rPr sz="950" b="0" i="0">
                <a:solidFill>
                  <a:srgbClr val="1B2B3C"/>
                </a:solidFill>
                <a:latin typeface="Calibri"/>
              </a:rPr>
              <a:t>•  Score 20 jobs in one niche.</a:t>
            </a:r>
          </a:p>
          <a:p>
            <a:pPr algn="l">
              <a:lnSpc>
                <a:spcPct val="105000"/>
              </a:lnSpc>
              <a:spcBef>
                <a:spcPts val="600"/>
              </a:spcBef>
            </a:pPr>
            <a:r>
              <a:rPr sz="950" b="0" i="0">
                <a:solidFill>
                  <a:srgbClr val="1B2B3C"/>
                </a:solidFill>
                <a:latin typeface="Calibri"/>
              </a:rPr>
              <a:t>•  Reject pain with no budget owner.</a:t>
            </a:r>
          </a:p>
          <a:p>
            <a:pPr algn="l">
              <a:lnSpc>
                <a:spcPct val="105000"/>
              </a:lnSpc>
              <a:spcBef>
                <a:spcPts val="600"/>
              </a:spcBef>
            </a:pPr>
            <a:r>
              <a:rPr sz="950" b="0" i="0">
                <a:solidFill>
                  <a:srgbClr val="1B2B3C"/>
                </a:solidFill>
                <a:latin typeface="Calibri"/>
              </a:rPr>
              <a:t>•  Prefer clear finish lines over open-ended judgment.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675887" y="1389888"/>
            <a:ext cx="7772400" cy="3931920"/>
          </a:xfrm>
          <a:prstGeom prst="roundRect">
            <a:avLst>
              <a:gd name="adj" fmla="val 6000"/>
            </a:avLst>
          </a:prstGeom>
          <a:solidFill>
            <a:srgbClr val="0B1118"/>
          </a:solidFill>
          <a:ln>
            <a:noFill/>
          </a:ln>
          <a:effectLst>
            <a:outerShdw blurRad="80000" dist="30000" dir="5400000" rotWithShape="0">
              <a:srgbClr val="0A1628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Picture 11" descr="ai-agents-new-saas-v3-workflow-scorecar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83922" y="1536192"/>
            <a:ext cx="6356329" cy="3621024"/>
          </a:xfrm>
          <a:prstGeom prst="rect">
            <a:avLst/>
          </a:prstGeom>
        </p:spPr>
      </p:pic>
      <p:sp>
        <p:nvSpPr>
          <p:cNvPr id="13" name="Rounded Rectangle 12"/>
          <p:cNvSpPr/>
          <p:nvPr/>
        </p:nvSpPr>
        <p:spPr>
          <a:xfrm>
            <a:off x="658368" y="5669280"/>
            <a:ext cx="10881360" cy="512064"/>
          </a:xfrm>
          <a:prstGeom prst="roundRect">
            <a:avLst>
              <a:gd name="adj" fmla="val 5000"/>
            </a:avLst>
          </a:prstGeom>
          <a:solidFill>
            <a:srgbClr val="0A16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41248" y="5833872"/>
            <a:ext cx="877824" cy="10972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819" b="1" i="0">
                <a:solidFill>
                  <a:srgbClr val="FFB800"/>
                </a:solidFill>
                <a:latin typeface="Calibri"/>
              </a:rPr>
              <a:t>TAKEAWAY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755648" y="5797296"/>
            <a:ext cx="9464040" cy="16459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60" b="1" i="0">
                <a:solidFill>
                  <a:srgbClr val="FFFFFF"/>
                </a:solidFill>
                <a:latin typeface="Calibri"/>
              </a:rPr>
              <a:t>No budget owner, no wedge.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021263" y="6437376"/>
            <a:ext cx="658368" cy="1828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919" b="1" i="0">
                <a:solidFill>
                  <a:srgbClr val="5B6B7C"/>
                </a:solidFill>
                <a:latin typeface="Calibri"/>
              </a:rPr>
              <a:t>7 / 15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19456"/>
            <a:ext cx="4114800" cy="16459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19" b="1" i="0">
                <a:solidFill>
                  <a:srgbClr val="008F75"/>
                </a:solidFill>
                <a:latin typeface="Calibri"/>
              </a:rPr>
              <a:t>OBSERVATION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475488"/>
            <a:ext cx="11094415" cy="53035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2250" b="1" i="0">
                <a:solidFill>
                  <a:srgbClr val="0A1628"/>
                </a:solidFill>
                <a:latin typeface="Calibri"/>
              </a:rPr>
              <a:t>Shadow the human before writing prompts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078992"/>
            <a:ext cx="1234440" cy="41148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548640" y="1389888"/>
            <a:ext cx="2852928" cy="3931920"/>
          </a:xfrm>
          <a:prstGeom prst="roundRect">
            <a:avLst>
              <a:gd name="adj" fmla="val 5000"/>
            </a:avLst>
          </a:prstGeom>
          <a:solidFill>
            <a:srgbClr val="F4F7F8"/>
          </a:solidFill>
          <a:ln w="12700">
            <a:solidFill>
              <a:srgbClr val="D9DFE5"/>
            </a:solidFill>
          </a:ln>
          <a:effectLst>
            <a:outerShdw blurRad="80000" dist="30000" dir="5400000" rotWithShape="0">
              <a:srgbClr val="0A1628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49808" y="1627632"/>
            <a:ext cx="2286000" cy="16459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200" b="1" i="0">
                <a:solidFill>
                  <a:srgbClr val="008F75"/>
                </a:solidFill>
                <a:latin typeface="Calibri"/>
              </a:rPr>
              <a:t>Business implication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49808" y="1993392"/>
            <a:ext cx="2395728" cy="85953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10" b="1" i="0">
                <a:solidFill>
                  <a:srgbClr val="0A1628"/>
                </a:solidFill>
                <a:latin typeface="Calibri"/>
              </a:rPr>
              <a:t>The product spec is hidden in what operators check, where mistakes happen, and when cases become weird.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49808" y="3127248"/>
            <a:ext cx="2377440" cy="137160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600"/>
              </a:spcBef>
            </a:pPr>
            <a:r>
              <a:rPr sz="950" b="0" i="0">
                <a:solidFill>
                  <a:srgbClr val="1B2B3C"/>
                </a:solidFill>
                <a:latin typeface="Calibri"/>
              </a:rPr>
              <a:t>•  Observe 10-20 real cases.</a:t>
            </a:r>
          </a:p>
          <a:p>
            <a:pPr algn="l">
              <a:lnSpc>
                <a:spcPct val="105000"/>
              </a:lnSpc>
              <a:spcBef>
                <a:spcPts val="600"/>
              </a:spcBef>
            </a:pPr>
            <a:r>
              <a:rPr sz="950" b="0" i="0">
                <a:solidFill>
                  <a:srgbClr val="1B2B3C"/>
                </a:solidFill>
                <a:latin typeface="Calibri"/>
              </a:rPr>
              <a:t>•  Record tacit checks and exception paths.</a:t>
            </a:r>
          </a:p>
          <a:p>
            <a:pPr algn="l">
              <a:lnSpc>
                <a:spcPct val="105000"/>
              </a:lnSpc>
              <a:spcBef>
                <a:spcPts val="600"/>
              </a:spcBef>
            </a:pPr>
            <a:r>
              <a:rPr sz="950" b="0" i="0">
                <a:solidFill>
                  <a:srgbClr val="1B2B3C"/>
                </a:solidFill>
                <a:latin typeface="Calibri"/>
              </a:rPr>
              <a:t>•  Convert observation into acceptance criteria.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675887" y="1389888"/>
            <a:ext cx="7772400" cy="3931920"/>
          </a:xfrm>
          <a:prstGeom prst="roundRect">
            <a:avLst>
              <a:gd name="adj" fmla="val 6000"/>
            </a:avLst>
          </a:prstGeom>
          <a:solidFill>
            <a:srgbClr val="0B1118"/>
          </a:solidFill>
          <a:ln>
            <a:noFill/>
          </a:ln>
          <a:effectLst>
            <a:outerShdw blurRad="80000" dist="30000" dir="5400000" rotWithShape="0">
              <a:srgbClr val="0A1628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Picture 11" descr="ai-agents-new-saas-v3-shadow-huma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83922" y="1536192"/>
            <a:ext cx="6356329" cy="3621024"/>
          </a:xfrm>
          <a:prstGeom prst="rect">
            <a:avLst/>
          </a:prstGeom>
        </p:spPr>
      </p:pic>
      <p:sp>
        <p:nvSpPr>
          <p:cNvPr id="13" name="Rounded Rectangle 12"/>
          <p:cNvSpPr/>
          <p:nvPr/>
        </p:nvSpPr>
        <p:spPr>
          <a:xfrm>
            <a:off x="658368" y="5669280"/>
            <a:ext cx="10881360" cy="512064"/>
          </a:xfrm>
          <a:prstGeom prst="roundRect">
            <a:avLst>
              <a:gd name="adj" fmla="val 5000"/>
            </a:avLst>
          </a:prstGeom>
          <a:solidFill>
            <a:srgbClr val="0A16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41248" y="5833872"/>
            <a:ext cx="877824" cy="10972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819" b="1" i="0">
                <a:solidFill>
                  <a:srgbClr val="FFB800"/>
                </a:solidFill>
                <a:latin typeface="Calibri"/>
              </a:rPr>
              <a:t>TAKEAWAY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755648" y="5797296"/>
            <a:ext cx="9464040" cy="16459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60" b="1" i="0">
                <a:solidFill>
                  <a:srgbClr val="FFFFFF"/>
                </a:solidFill>
                <a:latin typeface="Calibri"/>
              </a:rPr>
              <a:t>The detail is the product.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021263" y="6437376"/>
            <a:ext cx="658368" cy="1828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919" b="1" i="0">
                <a:solidFill>
                  <a:srgbClr val="5B6B7C"/>
                </a:solidFill>
                <a:latin typeface="Calibri"/>
              </a:rPr>
              <a:t>8 / 15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19456"/>
            <a:ext cx="4114800" cy="16459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19" b="1" i="0">
                <a:solidFill>
                  <a:srgbClr val="008F75"/>
                </a:solidFill>
                <a:latin typeface="Calibri"/>
              </a:rPr>
              <a:t>FIRST PRODUCT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475488"/>
            <a:ext cx="11094415" cy="53035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2250" b="1" i="0">
                <a:solidFill>
                  <a:srgbClr val="0A1628"/>
                </a:solidFill>
                <a:latin typeface="Calibri"/>
              </a:rPr>
              <a:t>Build the minimum useful agent before chasing autonomy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078992"/>
            <a:ext cx="1234440" cy="41148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548640" y="1389888"/>
            <a:ext cx="2852928" cy="3931920"/>
          </a:xfrm>
          <a:prstGeom prst="roundRect">
            <a:avLst>
              <a:gd name="adj" fmla="val 5000"/>
            </a:avLst>
          </a:prstGeom>
          <a:solidFill>
            <a:srgbClr val="F4F7F8"/>
          </a:solidFill>
          <a:ln w="12700">
            <a:solidFill>
              <a:srgbClr val="D9DFE5"/>
            </a:solidFill>
          </a:ln>
          <a:effectLst>
            <a:outerShdw blurRad="80000" dist="30000" dir="5400000" rotWithShape="0">
              <a:srgbClr val="0A1628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49808" y="1627632"/>
            <a:ext cx="2286000" cy="16459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200" b="1" i="0">
                <a:solidFill>
                  <a:srgbClr val="008F75"/>
                </a:solidFill>
                <a:latin typeface="Calibri"/>
              </a:rPr>
              <a:t>Business implication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49808" y="1993392"/>
            <a:ext cx="2395728" cy="85953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10" b="1" i="0">
                <a:solidFill>
                  <a:srgbClr val="0A1628"/>
                </a:solidFill>
                <a:latin typeface="Calibri"/>
              </a:rPr>
              <a:t>The first version should be useful enough to sell and constrained enough to evaluate.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49808" y="3127248"/>
            <a:ext cx="2377440" cy="137160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600"/>
              </a:spcBef>
            </a:pPr>
            <a:r>
              <a:rPr sz="950" b="0" i="0">
                <a:solidFill>
                  <a:srgbClr val="1B2B3C"/>
                </a:solidFill>
                <a:latin typeface="Calibri"/>
              </a:rPr>
              <a:t>•  Draft-and-approve.</a:t>
            </a:r>
          </a:p>
          <a:p>
            <a:pPr algn="l">
              <a:lnSpc>
                <a:spcPct val="105000"/>
              </a:lnSpc>
              <a:spcBef>
                <a:spcPts val="600"/>
              </a:spcBef>
            </a:pPr>
            <a:r>
              <a:rPr sz="950" b="0" i="0">
                <a:solidFill>
                  <a:srgbClr val="1B2B3C"/>
                </a:solidFill>
                <a:latin typeface="Calibri"/>
              </a:rPr>
              <a:t>•  Triage.</a:t>
            </a:r>
          </a:p>
          <a:p>
            <a:pPr algn="l">
              <a:lnSpc>
                <a:spcPct val="105000"/>
              </a:lnSpc>
              <a:spcBef>
                <a:spcPts val="600"/>
              </a:spcBef>
            </a:pPr>
            <a:r>
              <a:rPr sz="950" b="0" i="0">
                <a:solidFill>
                  <a:srgbClr val="1B2B3C"/>
                </a:solidFill>
                <a:latin typeface="Calibri"/>
              </a:rPr>
              <a:t>•  Coordinator.</a:t>
            </a:r>
          </a:p>
          <a:p>
            <a:pPr algn="l">
              <a:lnSpc>
                <a:spcPct val="105000"/>
              </a:lnSpc>
              <a:spcBef>
                <a:spcPts val="600"/>
              </a:spcBef>
            </a:pPr>
            <a:r>
              <a:rPr sz="950" b="0" i="0">
                <a:solidFill>
                  <a:srgbClr val="1B2B3C"/>
                </a:solidFill>
                <a:latin typeface="Calibri"/>
              </a:rPr>
              <a:t>•  Bounded action.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675887" y="1389888"/>
            <a:ext cx="7772400" cy="3931920"/>
          </a:xfrm>
          <a:prstGeom prst="roundRect">
            <a:avLst>
              <a:gd name="adj" fmla="val 6000"/>
            </a:avLst>
          </a:prstGeom>
          <a:solidFill>
            <a:srgbClr val="0B1118"/>
          </a:solidFill>
          <a:ln>
            <a:noFill/>
          </a:ln>
          <a:effectLst>
            <a:outerShdw blurRad="80000" dist="30000" dir="5400000" rotWithShape="0">
              <a:srgbClr val="0A1628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Picture 11" descr="ai-agents-new-saas-v3-smallest-ag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83922" y="1536192"/>
            <a:ext cx="6356329" cy="3621024"/>
          </a:xfrm>
          <a:prstGeom prst="rect">
            <a:avLst/>
          </a:prstGeom>
        </p:spPr>
      </p:pic>
      <p:sp>
        <p:nvSpPr>
          <p:cNvPr id="13" name="Rounded Rectangle 12"/>
          <p:cNvSpPr/>
          <p:nvPr/>
        </p:nvSpPr>
        <p:spPr>
          <a:xfrm>
            <a:off x="658368" y="5669280"/>
            <a:ext cx="10881360" cy="512064"/>
          </a:xfrm>
          <a:prstGeom prst="roundRect">
            <a:avLst>
              <a:gd name="adj" fmla="val 5000"/>
            </a:avLst>
          </a:prstGeom>
          <a:solidFill>
            <a:srgbClr val="0A16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41248" y="5833872"/>
            <a:ext cx="877824" cy="10972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819" b="1" i="0">
                <a:solidFill>
                  <a:srgbClr val="FFB800"/>
                </a:solidFill>
                <a:latin typeface="Calibri"/>
              </a:rPr>
              <a:t>TAKEAWAY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755648" y="5797296"/>
            <a:ext cx="9464040" cy="16459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60" b="1" i="0">
                <a:solidFill>
                  <a:srgbClr val="FFFFFF"/>
                </a:solidFill>
                <a:latin typeface="Calibri"/>
              </a:rPr>
              <a:t>Earn autonomy one bounded loop at a time.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021263" y="6437376"/>
            <a:ext cx="658368" cy="1828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919" b="1" i="0">
                <a:solidFill>
                  <a:srgbClr val="5B6B7C"/>
                </a:solidFill>
                <a:latin typeface="Calibri"/>
              </a:rPr>
              <a:t>9 / 15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19456"/>
            <a:ext cx="4114800" cy="16459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19" b="1" i="0">
                <a:solidFill>
                  <a:srgbClr val="008F75"/>
                </a:solidFill>
                <a:latin typeface="Calibri"/>
              </a:rPr>
              <a:t>WORKFLOW ARCHITECTURE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475488"/>
            <a:ext cx="11094415" cy="53035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2250" b="1" i="0">
                <a:solidFill>
                  <a:srgbClr val="0A1628"/>
                </a:solidFill>
                <a:latin typeface="Calibri"/>
              </a:rPr>
              <a:t>Most agent products start as predictable workflows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078992"/>
            <a:ext cx="1234440" cy="41148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548640" y="1389888"/>
            <a:ext cx="2852928" cy="3931920"/>
          </a:xfrm>
          <a:prstGeom prst="roundRect">
            <a:avLst>
              <a:gd name="adj" fmla="val 5000"/>
            </a:avLst>
          </a:prstGeom>
          <a:solidFill>
            <a:srgbClr val="F4F7F8"/>
          </a:solidFill>
          <a:ln w="12700">
            <a:solidFill>
              <a:srgbClr val="D9DFE5"/>
            </a:solidFill>
          </a:ln>
          <a:effectLst>
            <a:outerShdw blurRad="80000" dist="30000" dir="5400000" rotWithShape="0">
              <a:srgbClr val="0A1628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49808" y="1627632"/>
            <a:ext cx="2286000" cy="16459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200" b="1" i="0">
                <a:solidFill>
                  <a:srgbClr val="008F75"/>
                </a:solidFill>
                <a:latin typeface="Calibri"/>
              </a:rPr>
              <a:t>Business implication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49808" y="1993392"/>
            <a:ext cx="2395728" cy="85953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10" b="1" i="0">
                <a:solidFill>
                  <a:srgbClr val="0A1628"/>
                </a:solidFill>
                <a:latin typeface="Calibri"/>
              </a:rPr>
              <a:t>The architecture should expose where judgment enters, where tools are called, and where humans approve.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49808" y="3127248"/>
            <a:ext cx="2377440" cy="137160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600"/>
              </a:spcBef>
            </a:pPr>
            <a:r>
              <a:rPr sz="950" b="0" i="0">
                <a:solidFill>
                  <a:srgbClr val="1B2B3C"/>
                </a:solidFill>
                <a:latin typeface="Calibri"/>
              </a:rPr>
              <a:t>•  Predictable path first.</a:t>
            </a:r>
          </a:p>
          <a:p>
            <a:pPr algn="l">
              <a:lnSpc>
                <a:spcPct val="105000"/>
              </a:lnSpc>
              <a:spcBef>
                <a:spcPts val="600"/>
              </a:spcBef>
            </a:pPr>
            <a:r>
              <a:rPr sz="950" b="0" i="0">
                <a:solidFill>
                  <a:srgbClr val="1B2B3C"/>
                </a:solidFill>
                <a:latin typeface="Calibri"/>
              </a:rPr>
              <a:t>•  Judgment only where it creates value.</a:t>
            </a:r>
          </a:p>
          <a:p>
            <a:pPr algn="l">
              <a:lnSpc>
                <a:spcPct val="105000"/>
              </a:lnSpc>
              <a:spcBef>
                <a:spcPts val="600"/>
              </a:spcBef>
            </a:pPr>
            <a:r>
              <a:rPr sz="950" b="0" i="0">
                <a:solidFill>
                  <a:srgbClr val="1B2B3C"/>
                </a:solidFill>
                <a:latin typeface="Calibri"/>
              </a:rPr>
              <a:t>•  Escalation is part of the architecture.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675887" y="1389888"/>
            <a:ext cx="7772400" cy="3931920"/>
          </a:xfrm>
          <a:prstGeom prst="roundRect">
            <a:avLst>
              <a:gd name="adj" fmla="val 6000"/>
            </a:avLst>
          </a:prstGeom>
          <a:solidFill>
            <a:srgbClr val="0B1118"/>
          </a:solidFill>
          <a:ln>
            <a:noFill/>
          </a:ln>
          <a:effectLst>
            <a:outerShdw blurRad="80000" dist="30000" dir="5400000" rotWithShape="0">
              <a:srgbClr val="0A1628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Picture 11" descr="ai-agents-new-saas-v3-agentic-workflow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83922" y="1536192"/>
            <a:ext cx="6356329" cy="3621024"/>
          </a:xfrm>
          <a:prstGeom prst="rect">
            <a:avLst/>
          </a:prstGeom>
        </p:spPr>
      </p:pic>
      <p:sp>
        <p:nvSpPr>
          <p:cNvPr id="13" name="Rounded Rectangle 12"/>
          <p:cNvSpPr/>
          <p:nvPr/>
        </p:nvSpPr>
        <p:spPr>
          <a:xfrm>
            <a:off x="658368" y="5669280"/>
            <a:ext cx="10881360" cy="512064"/>
          </a:xfrm>
          <a:prstGeom prst="roundRect">
            <a:avLst>
              <a:gd name="adj" fmla="val 5000"/>
            </a:avLst>
          </a:prstGeom>
          <a:solidFill>
            <a:srgbClr val="0A16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41248" y="5833872"/>
            <a:ext cx="877824" cy="10972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819" b="1" i="0">
                <a:solidFill>
                  <a:srgbClr val="FFB800"/>
                </a:solidFill>
                <a:latin typeface="Calibri"/>
              </a:rPr>
              <a:t>TAKEAWAY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755648" y="5797296"/>
            <a:ext cx="9464040" cy="16459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60" b="1" i="0">
                <a:solidFill>
                  <a:srgbClr val="FFFFFF"/>
                </a:solidFill>
                <a:latin typeface="Calibri"/>
              </a:rPr>
              <a:t>Design the workflow before expanding the agent.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021263" y="6437376"/>
            <a:ext cx="658368" cy="1828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919" b="1" i="0">
                <a:solidFill>
                  <a:srgbClr val="5B6B7C"/>
                </a:solidFill>
                <a:latin typeface="Calibri"/>
              </a:rPr>
              <a:t>10 / 15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19456"/>
            <a:ext cx="4114800" cy="16459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19" b="1" i="0">
                <a:solidFill>
                  <a:srgbClr val="008F75"/>
                </a:solidFill>
                <a:latin typeface="Calibri"/>
              </a:rPr>
              <a:t>TRUST WRAPPER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475488"/>
            <a:ext cx="11094415" cy="53035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2250" b="1" i="0">
                <a:solidFill>
                  <a:srgbClr val="0A1628"/>
                </a:solidFill>
                <a:latin typeface="Calibri"/>
              </a:rPr>
              <a:t>The wrapper is what turns automation into SaaS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078992"/>
            <a:ext cx="1234440" cy="41148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548640" y="1389888"/>
            <a:ext cx="2852928" cy="3931920"/>
          </a:xfrm>
          <a:prstGeom prst="roundRect">
            <a:avLst>
              <a:gd name="adj" fmla="val 5000"/>
            </a:avLst>
          </a:prstGeom>
          <a:solidFill>
            <a:srgbClr val="F4F7F8"/>
          </a:solidFill>
          <a:ln w="12700">
            <a:solidFill>
              <a:srgbClr val="D9DFE5"/>
            </a:solidFill>
          </a:ln>
          <a:effectLst>
            <a:outerShdw blurRad="80000" dist="30000" dir="5400000" rotWithShape="0">
              <a:srgbClr val="0A1628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49808" y="1627632"/>
            <a:ext cx="2286000" cy="16459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200" b="1" i="0">
                <a:solidFill>
                  <a:srgbClr val="008F75"/>
                </a:solidFill>
                <a:latin typeface="Calibri"/>
              </a:rPr>
              <a:t>Business implication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49808" y="1993392"/>
            <a:ext cx="2395728" cy="85953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10" b="1" i="0">
                <a:solidFill>
                  <a:srgbClr val="0A1628"/>
                </a:solidFill>
                <a:latin typeface="Calibri"/>
              </a:rPr>
              <a:t>Logs, approvals, controls, handoffs, analytics, and evals are the product layer customers pay to trust.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49808" y="3127248"/>
            <a:ext cx="2377440" cy="137160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600"/>
              </a:spcBef>
            </a:pPr>
            <a:r>
              <a:rPr sz="950" b="0" i="0">
                <a:solidFill>
                  <a:srgbClr val="1B2B3C"/>
                </a:solidFill>
                <a:latin typeface="Calibri"/>
              </a:rPr>
              <a:t>•  The agent does the job.</a:t>
            </a:r>
          </a:p>
          <a:p>
            <a:pPr algn="l">
              <a:lnSpc>
                <a:spcPct val="105000"/>
              </a:lnSpc>
              <a:spcBef>
                <a:spcPts val="600"/>
              </a:spcBef>
            </a:pPr>
            <a:r>
              <a:rPr sz="950" b="0" i="0">
                <a:solidFill>
                  <a:srgbClr val="1B2B3C"/>
                </a:solidFill>
                <a:latin typeface="Calibri"/>
              </a:rPr>
              <a:t>•  The control room proves what happened.</a:t>
            </a:r>
          </a:p>
          <a:p>
            <a:pPr algn="l">
              <a:lnSpc>
                <a:spcPct val="105000"/>
              </a:lnSpc>
              <a:spcBef>
                <a:spcPts val="600"/>
              </a:spcBef>
            </a:pPr>
            <a:r>
              <a:rPr sz="950" b="0" i="0">
                <a:solidFill>
                  <a:srgbClr val="1B2B3C"/>
                </a:solidFill>
                <a:latin typeface="Calibri"/>
              </a:rPr>
              <a:t>•  Evals make quality improvable.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675887" y="1389888"/>
            <a:ext cx="7772400" cy="3931920"/>
          </a:xfrm>
          <a:prstGeom prst="roundRect">
            <a:avLst>
              <a:gd name="adj" fmla="val 6000"/>
            </a:avLst>
          </a:prstGeom>
          <a:solidFill>
            <a:srgbClr val="0B1118"/>
          </a:solidFill>
          <a:ln>
            <a:noFill/>
          </a:ln>
          <a:effectLst>
            <a:outerShdw blurRad="80000" dist="30000" dir="5400000" rotWithShape="0">
              <a:srgbClr val="0A1628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Picture 11" descr="ai-agents-new-saas-v3-wrapper-saa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83922" y="1536192"/>
            <a:ext cx="6356329" cy="3621024"/>
          </a:xfrm>
          <a:prstGeom prst="rect">
            <a:avLst/>
          </a:prstGeom>
        </p:spPr>
      </p:pic>
      <p:sp>
        <p:nvSpPr>
          <p:cNvPr id="13" name="Rounded Rectangle 12"/>
          <p:cNvSpPr/>
          <p:nvPr/>
        </p:nvSpPr>
        <p:spPr>
          <a:xfrm>
            <a:off x="658368" y="5669280"/>
            <a:ext cx="10881360" cy="512064"/>
          </a:xfrm>
          <a:prstGeom prst="roundRect">
            <a:avLst>
              <a:gd name="adj" fmla="val 5000"/>
            </a:avLst>
          </a:prstGeom>
          <a:solidFill>
            <a:srgbClr val="0A16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41248" y="5833872"/>
            <a:ext cx="877824" cy="10972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819" b="1" i="0">
                <a:solidFill>
                  <a:srgbClr val="FFB800"/>
                </a:solidFill>
                <a:latin typeface="Calibri"/>
              </a:rPr>
              <a:t>TAKEAWAY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755648" y="5797296"/>
            <a:ext cx="9464040" cy="16459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60" b="1" i="0">
                <a:solidFill>
                  <a:srgbClr val="FFFFFF"/>
                </a:solidFill>
                <a:latin typeface="Calibri"/>
              </a:rPr>
              <a:t>A demo shows automation; the wrapper earns production trust.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021263" y="6437376"/>
            <a:ext cx="658368" cy="1828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919" b="1" i="0">
                <a:solidFill>
                  <a:srgbClr val="5B6B7C"/>
                </a:solidFill>
                <a:latin typeface="Calibri"/>
              </a:rPr>
              <a:t>11 / 15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19456"/>
            <a:ext cx="4114800" cy="16459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19" b="1" i="0">
                <a:solidFill>
                  <a:srgbClr val="008F75"/>
                </a:solidFill>
                <a:latin typeface="Calibri"/>
              </a:rPr>
              <a:t>COMMERCIALIZATION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475488"/>
            <a:ext cx="11094415" cy="53035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2250" b="1" i="0">
                <a:solidFill>
                  <a:srgbClr val="0A1628"/>
                </a:solidFill>
                <a:latin typeface="Calibri"/>
              </a:rPr>
              <a:t>Sell the pilot like labor, then productize the repeated loop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078992"/>
            <a:ext cx="1234440" cy="41148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548640" y="1389888"/>
            <a:ext cx="2852928" cy="3931920"/>
          </a:xfrm>
          <a:prstGeom prst="roundRect">
            <a:avLst>
              <a:gd name="adj" fmla="val 5000"/>
            </a:avLst>
          </a:prstGeom>
          <a:solidFill>
            <a:srgbClr val="F4F7F8"/>
          </a:solidFill>
          <a:ln w="12700">
            <a:solidFill>
              <a:srgbClr val="D9DFE5"/>
            </a:solidFill>
          </a:ln>
          <a:effectLst>
            <a:outerShdw blurRad="80000" dist="30000" dir="5400000" rotWithShape="0">
              <a:srgbClr val="0A1628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49808" y="1627632"/>
            <a:ext cx="2286000" cy="16459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200" b="1" i="0">
                <a:solidFill>
                  <a:srgbClr val="008F75"/>
                </a:solidFill>
                <a:latin typeface="Calibri"/>
              </a:rPr>
              <a:t>Business implication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49808" y="1993392"/>
            <a:ext cx="2395728" cy="85953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10" b="1" i="0">
                <a:solidFill>
                  <a:srgbClr val="0A1628"/>
                </a:solidFill>
                <a:latin typeface="Calibri"/>
              </a:rPr>
              <a:t>Early sales work when the buyer sees a familiar capacity purchase with a better operating model.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49808" y="3127248"/>
            <a:ext cx="2377440" cy="137160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600"/>
              </a:spcBef>
            </a:pPr>
            <a:r>
              <a:rPr sz="950" b="0" i="0">
                <a:solidFill>
                  <a:srgbClr val="1B2B3C"/>
                </a:solidFill>
                <a:latin typeface="Calibri"/>
              </a:rPr>
              <a:t>•  Three same-niche customers.</a:t>
            </a:r>
          </a:p>
          <a:p>
            <a:pPr algn="l">
              <a:lnSpc>
                <a:spcPct val="105000"/>
              </a:lnSpc>
              <a:spcBef>
                <a:spcPts val="600"/>
              </a:spcBef>
            </a:pPr>
            <a:r>
              <a:rPr sz="950" b="0" i="0">
                <a:solidFill>
                  <a:srgbClr val="1B2B3C"/>
                </a:solidFill>
                <a:latin typeface="Calibri"/>
              </a:rPr>
              <a:t>•  Setup plus monthly first.</a:t>
            </a:r>
          </a:p>
          <a:p>
            <a:pPr algn="l">
              <a:lnSpc>
                <a:spcPct val="105000"/>
              </a:lnSpc>
              <a:spcBef>
                <a:spcPts val="600"/>
              </a:spcBef>
            </a:pPr>
            <a:r>
              <a:rPr sz="950" b="0" i="0">
                <a:solidFill>
                  <a:srgbClr val="1B2B3C"/>
                </a:solidFill>
                <a:latin typeface="Calibri"/>
              </a:rPr>
              <a:t>•  Usage or outcome pricing after proof.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675887" y="1389888"/>
            <a:ext cx="7772400" cy="3931920"/>
          </a:xfrm>
          <a:prstGeom prst="roundRect">
            <a:avLst>
              <a:gd name="adj" fmla="val 6000"/>
            </a:avLst>
          </a:prstGeom>
          <a:solidFill>
            <a:srgbClr val="0B1118"/>
          </a:solidFill>
          <a:ln>
            <a:noFill/>
          </a:ln>
          <a:effectLst>
            <a:outerShdw blurRad="80000" dist="30000" dir="5400000" rotWithShape="0">
              <a:srgbClr val="0A1628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Picture 11" descr="ai-agents-new-saas-v3-pilot-productiz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83922" y="1536192"/>
            <a:ext cx="6356329" cy="3621024"/>
          </a:xfrm>
          <a:prstGeom prst="rect">
            <a:avLst/>
          </a:prstGeom>
        </p:spPr>
      </p:pic>
      <p:sp>
        <p:nvSpPr>
          <p:cNvPr id="13" name="Rounded Rectangle 12"/>
          <p:cNvSpPr/>
          <p:nvPr/>
        </p:nvSpPr>
        <p:spPr>
          <a:xfrm>
            <a:off x="658368" y="5669280"/>
            <a:ext cx="10881360" cy="512064"/>
          </a:xfrm>
          <a:prstGeom prst="roundRect">
            <a:avLst>
              <a:gd name="adj" fmla="val 5000"/>
            </a:avLst>
          </a:prstGeom>
          <a:solidFill>
            <a:srgbClr val="0A16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41248" y="5833872"/>
            <a:ext cx="877824" cy="10972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819" b="1" i="0">
                <a:solidFill>
                  <a:srgbClr val="FFB800"/>
                </a:solidFill>
                <a:latin typeface="Calibri"/>
              </a:rPr>
              <a:t>TAKEAWAY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755648" y="5797296"/>
            <a:ext cx="9464040" cy="16459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60" b="1" i="0">
                <a:solidFill>
                  <a:srgbClr val="FFFFFF"/>
                </a:solidFill>
                <a:latin typeface="Calibri"/>
              </a:rPr>
              <a:t>Productization starts after repetition appears.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021263" y="6437376"/>
            <a:ext cx="658368" cy="1828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919" b="1" i="0">
                <a:solidFill>
                  <a:srgbClr val="5B6B7C"/>
                </a:solidFill>
                <a:latin typeface="Calibri"/>
              </a:rPr>
              <a:t>12 / 15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19456"/>
            <a:ext cx="4114800" cy="16459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19" b="1" i="0">
                <a:solidFill>
                  <a:srgbClr val="008F75"/>
                </a:solidFill>
                <a:latin typeface="Calibri"/>
              </a:rPr>
              <a:t>DEFENSIBILITY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475488"/>
            <a:ext cx="11094415" cy="53035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2250" b="1" i="0">
                <a:solidFill>
                  <a:srgbClr val="0A1628"/>
                </a:solidFill>
                <a:latin typeface="Calibri"/>
              </a:rPr>
              <a:t>Owning the workflow is the moat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078992"/>
            <a:ext cx="1234440" cy="41148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548640" y="1389888"/>
            <a:ext cx="2852928" cy="3931920"/>
          </a:xfrm>
          <a:prstGeom prst="roundRect">
            <a:avLst>
              <a:gd name="adj" fmla="val 5000"/>
            </a:avLst>
          </a:prstGeom>
          <a:solidFill>
            <a:srgbClr val="F4F7F8"/>
          </a:solidFill>
          <a:ln w="12700">
            <a:solidFill>
              <a:srgbClr val="D9DFE5"/>
            </a:solidFill>
          </a:ln>
          <a:effectLst>
            <a:outerShdw blurRad="80000" dist="30000" dir="5400000" rotWithShape="0">
              <a:srgbClr val="0A1628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49808" y="1627632"/>
            <a:ext cx="2286000" cy="16459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200" b="1" i="0">
                <a:solidFill>
                  <a:srgbClr val="008F75"/>
                </a:solidFill>
                <a:latin typeface="Calibri"/>
              </a:rPr>
              <a:t>Business implication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49808" y="1993392"/>
            <a:ext cx="2395728" cy="85953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10" b="1" i="0">
                <a:solidFill>
                  <a:srgbClr val="0A1628"/>
                </a:solidFill>
                <a:latin typeface="Calibri"/>
              </a:rPr>
              <a:t>Workflow context, policy, exception handling, and eval memory compound into defensibility.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49808" y="3127248"/>
            <a:ext cx="2377440" cy="137160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600"/>
              </a:spcBef>
            </a:pPr>
            <a:r>
              <a:rPr sz="950" b="0" i="0">
                <a:solidFill>
                  <a:srgbClr val="1B2B3C"/>
                </a:solidFill>
                <a:latin typeface="Calibri"/>
              </a:rPr>
              <a:t>•  Prompts are easy to copy.</a:t>
            </a:r>
          </a:p>
          <a:p>
            <a:pPr algn="l">
              <a:lnSpc>
                <a:spcPct val="105000"/>
              </a:lnSpc>
              <a:spcBef>
                <a:spcPts val="600"/>
              </a:spcBef>
            </a:pPr>
            <a:r>
              <a:rPr sz="950" b="0" i="0">
                <a:solidFill>
                  <a:srgbClr val="1B2B3C"/>
                </a:solidFill>
                <a:latin typeface="Calibri"/>
              </a:rPr>
              <a:t>•  Operating memory is harder to replicate.</a:t>
            </a:r>
          </a:p>
          <a:p>
            <a:pPr algn="l">
              <a:lnSpc>
                <a:spcPct val="105000"/>
              </a:lnSpc>
              <a:spcBef>
                <a:spcPts val="600"/>
              </a:spcBef>
            </a:pPr>
            <a:r>
              <a:rPr sz="950" b="0" i="0">
                <a:solidFill>
                  <a:srgbClr val="1B2B3C"/>
                </a:solidFill>
                <a:latin typeface="Calibri"/>
              </a:rPr>
              <a:t>•  Exceptions become product assets.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675887" y="1389888"/>
            <a:ext cx="7772400" cy="3931920"/>
          </a:xfrm>
          <a:prstGeom prst="roundRect">
            <a:avLst>
              <a:gd name="adj" fmla="val 6000"/>
            </a:avLst>
          </a:prstGeom>
          <a:solidFill>
            <a:srgbClr val="0B1118"/>
          </a:solidFill>
          <a:ln>
            <a:noFill/>
          </a:ln>
          <a:effectLst>
            <a:outerShdw blurRad="80000" dist="30000" dir="5400000" rotWithShape="0">
              <a:srgbClr val="0A1628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Picture 11" descr="ai-agents-new-saas-v3-own-workflo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83922" y="1536192"/>
            <a:ext cx="6356329" cy="3621024"/>
          </a:xfrm>
          <a:prstGeom prst="rect">
            <a:avLst/>
          </a:prstGeom>
        </p:spPr>
      </p:pic>
      <p:sp>
        <p:nvSpPr>
          <p:cNvPr id="13" name="Rounded Rectangle 12"/>
          <p:cNvSpPr/>
          <p:nvPr/>
        </p:nvSpPr>
        <p:spPr>
          <a:xfrm>
            <a:off x="658368" y="5669280"/>
            <a:ext cx="10881360" cy="512064"/>
          </a:xfrm>
          <a:prstGeom prst="roundRect">
            <a:avLst>
              <a:gd name="adj" fmla="val 5000"/>
            </a:avLst>
          </a:prstGeom>
          <a:solidFill>
            <a:srgbClr val="0A16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41248" y="5833872"/>
            <a:ext cx="877824" cy="10972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819" b="1" i="0">
                <a:solidFill>
                  <a:srgbClr val="FFB800"/>
                </a:solidFill>
                <a:latin typeface="Calibri"/>
              </a:rPr>
              <a:t>TAKEAWAY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755648" y="5797296"/>
            <a:ext cx="9464040" cy="16459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60" b="1" i="0">
                <a:solidFill>
                  <a:srgbClr val="FFFFFF"/>
                </a:solidFill>
                <a:latin typeface="Calibri"/>
              </a:rPr>
              <a:t>The moat is the operating loop around the agent.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021263" y="6437376"/>
            <a:ext cx="658368" cy="1828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919" b="1" i="0">
                <a:solidFill>
                  <a:srgbClr val="5B6B7C"/>
                </a:solidFill>
                <a:latin typeface="Calibri"/>
              </a:rPr>
              <a:t>13 / 15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19456"/>
            <a:ext cx="4114800" cy="16459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19" b="1" i="0">
                <a:solidFill>
                  <a:srgbClr val="008F75"/>
                </a:solidFill>
                <a:latin typeface="Calibri"/>
              </a:rPr>
              <a:t>30-DAY PLAN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475488"/>
            <a:ext cx="11094415" cy="53035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2250" b="1" i="0">
                <a:solidFill>
                  <a:srgbClr val="0A1628"/>
                </a:solidFill>
                <a:latin typeface="Calibri"/>
              </a:rPr>
              <a:t>Use workflow teardowns to turn the build into distribution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078992"/>
            <a:ext cx="1234440" cy="41148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548640" y="1389888"/>
            <a:ext cx="2852928" cy="3931920"/>
          </a:xfrm>
          <a:prstGeom prst="roundRect">
            <a:avLst>
              <a:gd name="adj" fmla="val 5000"/>
            </a:avLst>
          </a:prstGeom>
          <a:solidFill>
            <a:srgbClr val="F4F7F8"/>
          </a:solidFill>
          <a:ln w="12700">
            <a:solidFill>
              <a:srgbClr val="D9DFE5"/>
            </a:solidFill>
          </a:ln>
          <a:effectLst>
            <a:outerShdw blurRad="80000" dist="30000" dir="5400000" rotWithShape="0">
              <a:srgbClr val="0A1628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49808" y="1627632"/>
            <a:ext cx="2286000" cy="16459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200" b="1" i="0">
                <a:solidFill>
                  <a:srgbClr val="008F75"/>
                </a:solidFill>
                <a:latin typeface="Calibri"/>
              </a:rPr>
              <a:t>Business implication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49808" y="1993392"/>
            <a:ext cx="2395728" cy="85953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10" b="1" i="0">
                <a:solidFill>
                  <a:srgbClr val="0A1628"/>
                </a:solidFill>
                <a:latin typeface="Calibri"/>
              </a:rPr>
              <a:t>Show the painful old way, show the agent way, publish proof, and put spend behind the winners.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49808" y="3127248"/>
            <a:ext cx="2377440" cy="137160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600"/>
              </a:spcBef>
            </a:pPr>
            <a:r>
              <a:rPr sz="950" b="0" i="0">
                <a:solidFill>
                  <a:srgbClr val="1B2B3C"/>
                </a:solidFill>
                <a:latin typeface="Calibri"/>
              </a:rPr>
              <a:t>•  Days 1-3: score jobs.</a:t>
            </a:r>
          </a:p>
          <a:p>
            <a:pPr algn="l">
              <a:lnSpc>
                <a:spcPct val="105000"/>
              </a:lnSpc>
              <a:spcBef>
                <a:spcPts val="600"/>
              </a:spcBef>
            </a:pPr>
            <a:r>
              <a:rPr sz="950" b="0" i="0">
                <a:solidFill>
                  <a:srgbClr val="1B2B3C"/>
                </a:solidFill>
                <a:latin typeface="Calibri"/>
              </a:rPr>
              <a:t>•  Week 1-2: shadow and build.</a:t>
            </a:r>
          </a:p>
          <a:p>
            <a:pPr algn="l">
              <a:lnSpc>
                <a:spcPct val="105000"/>
              </a:lnSpc>
              <a:spcBef>
                <a:spcPts val="600"/>
              </a:spcBef>
            </a:pPr>
            <a:r>
              <a:rPr sz="950" b="0" i="0">
                <a:solidFill>
                  <a:srgbClr val="1B2B3C"/>
                </a:solidFill>
                <a:latin typeface="Calibri"/>
              </a:rPr>
              <a:t>•  Week 3-4: pilot and publish.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675887" y="1389888"/>
            <a:ext cx="7772400" cy="3931920"/>
          </a:xfrm>
          <a:prstGeom prst="roundRect">
            <a:avLst>
              <a:gd name="adj" fmla="val 6000"/>
            </a:avLst>
          </a:prstGeom>
          <a:solidFill>
            <a:srgbClr val="0B1118"/>
          </a:solidFill>
          <a:ln>
            <a:noFill/>
          </a:ln>
          <a:effectLst>
            <a:outerShdw blurRad="80000" dist="30000" dir="5400000" rotWithShape="0">
              <a:srgbClr val="0A1628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Picture 11" descr="ai-agents-new-saas-v4-zero-to-100-pla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83922" y="1536192"/>
            <a:ext cx="6356329" cy="3621024"/>
          </a:xfrm>
          <a:prstGeom prst="rect">
            <a:avLst/>
          </a:prstGeom>
        </p:spPr>
      </p:pic>
      <p:sp>
        <p:nvSpPr>
          <p:cNvPr id="13" name="Rounded Rectangle 12"/>
          <p:cNvSpPr/>
          <p:nvPr/>
        </p:nvSpPr>
        <p:spPr>
          <a:xfrm>
            <a:off x="658368" y="5669280"/>
            <a:ext cx="10881360" cy="512064"/>
          </a:xfrm>
          <a:prstGeom prst="roundRect">
            <a:avLst>
              <a:gd name="adj" fmla="val 5000"/>
            </a:avLst>
          </a:prstGeom>
          <a:solidFill>
            <a:srgbClr val="0A16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41248" y="5833872"/>
            <a:ext cx="877824" cy="10972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819" b="1" i="0">
                <a:solidFill>
                  <a:srgbClr val="FFB800"/>
                </a:solidFill>
                <a:latin typeface="Calibri"/>
              </a:rPr>
              <a:t>TAKEAWAY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755648" y="5797296"/>
            <a:ext cx="9464040" cy="16459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60" b="1" i="0">
                <a:solidFill>
                  <a:srgbClr val="FFFFFF"/>
                </a:solidFill>
                <a:latin typeface="Calibri"/>
              </a:rPr>
              <a:t>Distribution comes from making the painful workflow visible.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021263" y="6437376"/>
            <a:ext cx="658368" cy="1828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919" b="1" i="0">
                <a:solidFill>
                  <a:srgbClr val="5B6B7C"/>
                </a:solidFill>
                <a:latin typeface="Calibri"/>
              </a:rPr>
              <a:t>14 / 15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6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713232"/>
            <a:ext cx="3657600" cy="20116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50" b="1" i="0">
                <a:solidFill>
                  <a:srgbClr val="00C9A7"/>
                </a:solidFill>
                <a:latin typeface="Calibri"/>
              </a:rPr>
              <a:t>CONCLUSION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188720"/>
            <a:ext cx="8412480" cy="67665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3200" b="1" i="0">
                <a:solidFill>
                  <a:srgbClr val="FFFFFF"/>
                </a:solidFill>
                <a:latin typeface="Calibri"/>
              </a:rPr>
              <a:t>The next move is to choose the workflow, not broaden the agent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2057400"/>
            <a:ext cx="1298448" cy="50292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548640" y="2834640"/>
            <a:ext cx="3858768" cy="786384"/>
          </a:xfrm>
          <a:prstGeom prst="roundRect">
            <a:avLst>
              <a:gd name="adj" fmla="val 5000"/>
            </a:avLst>
          </a:prstGeom>
          <a:solidFill>
            <a:srgbClr val="12243A"/>
          </a:solidFill>
          <a:ln w="12700">
            <a:solidFill>
              <a:srgbClr val="24405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713232" y="3017520"/>
            <a:ext cx="347472" cy="310896"/>
          </a:xfrm>
          <a:prstGeom prst="roundRect">
            <a:avLst>
              <a:gd name="adj" fmla="val 4000"/>
            </a:avLst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13232" y="3108960"/>
            <a:ext cx="347472" cy="7315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940" b="1" i="0">
                <a:solidFill>
                  <a:srgbClr val="0A1628"/>
                </a:solidFill>
                <a:latin typeface="Calibri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43584" y="2999232"/>
            <a:ext cx="2834640" cy="16459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200" b="1" i="0">
                <a:solidFill>
                  <a:srgbClr val="FFFFFF"/>
                </a:solidFill>
                <a:latin typeface="Calibri"/>
              </a:rPr>
              <a:t>Pick one niche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43584" y="3273552"/>
            <a:ext cx="2889504" cy="14630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860" b="0" i="0">
                <a:solidFill>
                  <a:srgbClr val="E0F7F1"/>
                </a:solidFill>
                <a:latin typeface="Calibri"/>
              </a:rPr>
              <a:t>Constrain the market before evaluating workflows.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892040" y="2834640"/>
            <a:ext cx="3858768" cy="786384"/>
          </a:xfrm>
          <a:prstGeom prst="roundRect">
            <a:avLst>
              <a:gd name="adj" fmla="val 5000"/>
            </a:avLst>
          </a:prstGeom>
          <a:solidFill>
            <a:srgbClr val="12243A"/>
          </a:solidFill>
          <a:ln w="12700">
            <a:solidFill>
              <a:srgbClr val="24405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5056632" y="3017520"/>
            <a:ext cx="347472" cy="310896"/>
          </a:xfrm>
          <a:prstGeom prst="roundRect">
            <a:avLst>
              <a:gd name="adj" fmla="val 4000"/>
            </a:avLst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056632" y="3108960"/>
            <a:ext cx="347472" cy="7315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940" b="1" i="0">
                <a:solidFill>
                  <a:srgbClr val="0A1628"/>
                </a:solidFill>
                <a:latin typeface="Calibri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586984" y="2999232"/>
            <a:ext cx="2834640" cy="16459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200" b="1" i="0">
                <a:solidFill>
                  <a:srgbClr val="FFFFFF"/>
                </a:solidFill>
                <a:latin typeface="Calibri"/>
              </a:rPr>
              <a:t>Score 20 jobs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586984" y="3273552"/>
            <a:ext cx="2889504" cy="14630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860" b="0" i="0">
                <a:solidFill>
                  <a:srgbClr val="E0F7F1"/>
                </a:solidFill>
                <a:latin typeface="Calibri"/>
              </a:rPr>
              <a:t>Prioritize frequency, pain, finish-line clarity, tools, and budget.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48640" y="3913632"/>
            <a:ext cx="3858768" cy="786384"/>
          </a:xfrm>
          <a:prstGeom prst="roundRect">
            <a:avLst>
              <a:gd name="adj" fmla="val 5000"/>
            </a:avLst>
          </a:prstGeom>
          <a:solidFill>
            <a:srgbClr val="12243A"/>
          </a:solidFill>
          <a:ln w="12700">
            <a:solidFill>
              <a:srgbClr val="24405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713232" y="4096512"/>
            <a:ext cx="347472" cy="310896"/>
          </a:xfrm>
          <a:prstGeom prst="roundRect">
            <a:avLst>
              <a:gd name="adj" fmla="val 4000"/>
            </a:avLst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13232" y="4187952"/>
            <a:ext cx="347472" cy="7315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940" b="1" i="0">
                <a:solidFill>
                  <a:srgbClr val="0A1628"/>
                </a:solidFill>
                <a:latin typeface="Calibri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243584" y="4078224"/>
            <a:ext cx="2834640" cy="16459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200" b="1" i="0">
                <a:solidFill>
                  <a:srgbClr val="FFFFFF"/>
                </a:solidFill>
                <a:latin typeface="Calibri"/>
              </a:rPr>
              <a:t>Shadow operators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243584" y="4352544"/>
            <a:ext cx="2889504" cy="14630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860" b="0" i="0">
                <a:solidFill>
                  <a:srgbClr val="E0F7F1"/>
                </a:solidFill>
                <a:latin typeface="Calibri"/>
              </a:rPr>
              <a:t>Turn real work into the agent spec and trust model.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892040" y="3913632"/>
            <a:ext cx="3858768" cy="786384"/>
          </a:xfrm>
          <a:prstGeom prst="roundRect">
            <a:avLst>
              <a:gd name="adj" fmla="val 5000"/>
            </a:avLst>
          </a:prstGeom>
          <a:solidFill>
            <a:srgbClr val="12243A"/>
          </a:solidFill>
          <a:ln w="12700">
            <a:solidFill>
              <a:srgbClr val="24405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5056632" y="4096512"/>
            <a:ext cx="347472" cy="310896"/>
          </a:xfrm>
          <a:prstGeom prst="roundRect">
            <a:avLst>
              <a:gd name="adj" fmla="val 4000"/>
            </a:avLst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056632" y="4187952"/>
            <a:ext cx="347472" cy="7315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940" b="1" i="0">
                <a:solidFill>
                  <a:srgbClr val="0A1628"/>
                </a:solidFill>
                <a:latin typeface="Calibri"/>
              </a:rPr>
              <a:t>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586984" y="4078224"/>
            <a:ext cx="2834640" cy="16459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200" b="1" i="0">
                <a:solidFill>
                  <a:srgbClr val="FFFFFF"/>
                </a:solidFill>
                <a:latin typeface="Calibri"/>
              </a:rPr>
              <a:t>Pilot the loop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586984" y="4352544"/>
            <a:ext cx="2889504" cy="14630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860" b="0" i="0">
                <a:solidFill>
                  <a:srgbClr val="E0F7F1"/>
                </a:solidFill>
                <a:latin typeface="Calibri"/>
              </a:rPr>
              <a:t>Sell the outcome first; productize after repetition appears.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48640" y="5797296"/>
            <a:ext cx="8961120" cy="21945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260" b="1" i="0">
                <a:solidFill>
                  <a:srgbClr val="FFB800"/>
                </a:solidFill>
                <a:latin typeface="Calibri"/>
              </a:rPr>
              <a:t>Winning agent businesses are built around work customers already understand, fund, and want off their plate.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1021263" y="6437376"/>
            <a:ext cx="658368" cy="1828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919" b="1" i="0">
                <a:solidFill>
                  <a:srgbClr val="5B6B7C"/>
                </a:solidFill>
                <a:latin typeface="Calibri"/>
              </a:rPr>
              <a:t>15 / 15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