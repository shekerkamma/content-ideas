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Context: The buyer logic changes when the output is a completed workflow rather than another seat of software.</a:t>
            </a:r>
          </a:p>
          <a:p>
            <a:r>
              <a:t>Visible Excalidraw visual: ai-agents-new-saas-v3-market-context.png</a:t>
            </a:r>
          </a:p>
          <a:p>
            <a:r>
              <a:t>Editable source: ai-agents-new-saas-v3-market-context.excalidraw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Thesis: A credible agent business owns a narrow workflow end to end: trigger, context, tools, decisions, and escalation.</a:t>
            </a:r>
          </a:p>
          <a:p>
            <a:r>
              <a:t>Visible Excalidraw visual: ai-agents-new-saas-v3-thesis-workflow.png</a:t>
            </a:r>
          </a:p>
          <a:p>
            <a:r>
              <a:t>Editable source: ai-agents-new-saas-v3-thesis-workflow.excalidraw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Economics: The economic promise depends on replacing repeated labor packets, not vaguely improving productivity.</a:t>
            </a:r>
          </a:p>
          <a:p>
            <a:r>
              <a:t>Visible Excalidraw visual: ai-agents-new-saas-v3-unit-economics.png</a:t>
            </a:r>
          </a:p>
          <a:p>
            <a:r>
              <a:t>Editable source: ai-agents-new-saas-v3-unit-economics.excalidraw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Examples: Restaurants, home services, property operations, and contact centers show the repeatable pattern.</a:t>
            </a:r>
          </a:p>
          <a:p>
            <a:r>
              <a:t>Visible Excalidraw visual: ai-agents-new-saas-v3-wedge-examples.png</a:t>
            </a:r>
          </a:p>
          <a:p>
            <a:r>
              <a:t>Editable source: ai-agents-new-saas-v3-wedge-examples.excalidraw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 Selection: Frequency, pain, clarity, tools, edge cases, and budget owner decide whether the idea deserves a build.</a:t>
            </a:r>
          </a:p>
          <a:p>
            <a:r>
              <a:t>Visible Excalidraw visual: ai-agents-new-saas-v3-workflow-scorecard.png</a:t>
            </a:r>
          </a:p>
          <a:p>
            <a:r>
              <a:t>Editable source: ai-agents-new-saas-v3-workflow-scorecard.excalidraw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Observation: The product spec is hidden in what operators check, where mistakes happen, and when cases become weird.</a:t>
            </a:r>
          </a:p>
          <a:p>
            <a:r>
              <a:t>Visible Excalidraw visual: ai-agents-new-saas-v3-shadow-human.png</a:t>
            </a:r>
          </a:p>
          <a:p>
            <a:r>
              <a:t>Editable source: ai-agents-new-saas-v3-shadow-human.excalidraw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Product: The first version should be useful enough to sell and constrained enough to evaluate.</a:t>
            </a:r>
          </a:p>
          <a:p>
            <a:r>
              <a:t>Visible Excalidraw visual: ai-agents-new-saas-v3-smallest-agent.png</a:t>
            </a:r>
          </a:p>
          <a:p>
            <a:r>
              <a:t>Editable source: ai-agents-new-saas-v3-smallest-agent.excalidraw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 Architecture: The architecture should expose where judgment enters, where tools are called, and where humans approve.</a:t>
            </a:r>
          </a:p>
          <a:p>
            <a:r>
              <a:t>Visible Excalidraw visual: ai-agents-new-saas-v3-agentic-workflows.png</a:t>
            </a:r>
          </a:p>
          <a:p>
            <a:r>
              <a:t>Editable source: ai-agents-new-saas-v3-agentic-workflows.excalidraw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Wrapper: Logs, approvals, controls, handoffs, analytics, and evals are the product layer customers pay to trust.</a:t>
            </a:r>
          </a:p>
          <a:p>
            <a:r>
              <a:t>Visible Excalidraw visual: ai-agents-new-saas-v3-wrapper-saas.png</a:t>
            </a:r>
          </a:p>
          <a:p>
            <a:r>
              <a:t>Editable source: ai-agents-new-saas-v3-wrapper-saas.excalidraw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Commercialization: Early sales work when the buyer sees a familiar capacity purchase with a better operating model.</a:t>
            </a:r>
          </a:p>
          <a:p>
            <a:r>
              <a:t>Visible Excalidraw visual: ai-agents-new-saas-v3-pilot-productize.png</a:t>
            </a:r>
          </a:p>
          <a:p>
            <a:r>
              <a:t>Editable source: ai-agents-new-saas-v3-pilot-productize.excalidraw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Defensibility: Workflow context, policy, exception handling, and eval memory compound into defensibility.</a:t>
            </a:r>
          </a:p>
          <a:p>
            <a:r>
              <a:t>Visible Excalidraw visual: ai-agents-new-saas-v3-own-workflow.png</a:t>
            </a:r>
          </a:p>
          <a:p>
            <a:r>
              <a:t>Editable source: ai-agents-new-saas-v3-own-workflow.excalidraw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30-Day Plan: Show the painful old way, show the agent way, publish proof, and put spend behind the winners.</a:t>
            </a:r>
          </a:p>
          <a:p>
            <a:r>
              <a:t>Visible Excalidraw visual: ai-agents-new-saas-v4-zero-to-100-plan.png</a:t>
            </a:r>
          </a:p>
          <a:p>
            <a:r>
              <a:t>Editable source: ai-agents-new-saas-v4-zero-to-100-plan.excalidraw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Coverage: Dense frames and scene-change frames are retained as audit material; meaningful visuals are redrawn as Excalidraw.</a:t>
            </a:r>
          </a:p>
          <a:p>
            <a:r>
              <a:t>Visible Excalidraw visual: ai-agents-new-saas-v3-coverage-map.png</a:t>
            </a:r>
          </a:p>
          <a:p>
            <a:r>
              <a:t>Editable source: ai-agents-new-saas-v3-coverage-map.excalidraw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98280" y="0"/>
            <a:ext cx="309067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00C9A7"/>
                </a:solidFill>
                <a:latin typeface="Calibri"/>
              </a:rPr>
              <a:t>BRANDED EXCALIDRAW VIDEO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7589520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FFFF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57984"/>
            <a:ext cx="1325880" cy="502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713232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DCE6EF"/>
                </a:solidFill>
                <a:latin typeface="Calibri"/>
              </a:rPr>
              <a:t>Client-ready storyboard with visible Excalidraw recreations, concise synthesis, and hyperframe coverage.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4032" y="3127248"/>
            <a:ext cx="4041648" cy="2011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-agents-new-saas-v3-thesis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3255264"/>
            <a:ext cx="3049754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590288"/>
            <a:ext cx="53949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40" b="1" i="0">
                <a:solidFill>
                  <a:srgbClr val="FFB800"/>
                </a:solidFill>
                <a:latin typeface="Calibri"/>
              </a:rPr>
              <a:t>No YouTube screenshots used as slide visuals.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01184"/>
            <a:ext cx="6309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C8D3DE"/>
                </a:solidFill>
                <a:latin typeface="Calibri"/>
              </a:rPr>
              <a:t>Transcript, dense frames, scene changes, and .excalidraw sources are retained in the run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Video-to-deck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MARKET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Agent SaaS is a packaging shift from software access to completed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buyer logic changes when the output is a completed workflow rather than another seat of software.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SaaS sold tools and usage.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Agent SaaS sells work capacity.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wedge must map to budget already attached to a job.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3-market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560" y="1536192"/>
            <a:ext cx="6523053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Start with the paid job, not the generic agent category.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ai-agents-new-saas-v3-market-context.excalidraw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CORE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product is the job the customer can hand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A credible agent business owns a narrow workflow end to end: trigger, context, tools, decisions, and escalation.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Paid workflow -&gt; observed spec -&gt; agent business.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Narrow scope makes the offer explainable.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Trust is designed into the handoff.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3-thesis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If the job cannot be named, the agent cannot be sold.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ai-agents-new-saas-v3-thesis-workflow.excalidraw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Unit economics improve only when the workflow is repeated and bounded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economic promise depends on replacing repeated labor packets, not vaguely improving productivity.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Labor spend sets the price anchor.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Frequency creates learning data.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Boundaries keep delivery evaluable.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3-unit-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The workflow must be frequent enough to learn from and valuable enough to price.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ai-agents-new-saas-v3-unit-economics.excalidraw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best wedges are boring service workflows with visible labor spend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Restaurants, home services, property operations, and contact centers show the repeatable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Reception and dispatch already have budget.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Missed work creates obvious pain.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buyer compares against headcount or agencies.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3-wedge-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Boring operations are better first markets than broad AI productivity.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ai-agents-new-saas-v3-wedge-examples.excalidraw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WORKFLOW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Pick a workflow with a paycheck attached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Frequency, pain, clarity, tools, edge cases, and budget owner decide whether the idea deserves a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Score 20 jobs in one niche.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Reject pain with no budget owner.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Prefer clear finish lines over open-ended judgment.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3-workflow-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No budget owner, no wedge.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ai-agents-new-saas-v3-workflow-scorecard.excalidraw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Shadow the human before writing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product spec is hidden in what operators check, where mistakes happen, and when cases become weird.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Observe 10-20 real cases.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Record tacit checks and exception paths.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Convert observation into acceptance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3-shadow-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The detail is the product.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ai-agents-new-saas-v3-shadow-human.excalidraw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FIRST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Build the minimum useful agent before chasing autonomy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first version should be useful enough to sell and constrained enough to evaluate.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Draft-and-approve.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Triage.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Coordinator.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Bounded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3-smallest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Earn autonomy one bounded loop at a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ai-agents-new-saas-v3-smallest-agent.excalidraw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WORKFLOW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Most agent products start as predictable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architecture should expose where judgment enters, where tools are called, and where humans approve.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Predictable path first.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Judgment only where it creates value.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Escalation is part of the architecture.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3-agentic-work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Design the workflow before expanding the agent.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ai-agents-new-saas-v3-agentic-workflows.excalidraw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TRUST WRAPPER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wrapper is what turns automation into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Logs, approvals, controls, handoffs, analytics, and evals are the product layer customers pay to trust.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agent does the job.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control room proves what happened.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Evals make quality improvable.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3-wrapper-sa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A demo shows automation; the wrapper earns production trust.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ai-agents-new-saas-v3-wrapper-saas.excalidraw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COMMERCIALIZATION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Sell the pilot like labor, then productize the repeated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Early sales work when the buyer sees a familiar capacity purchase with a better operating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Three same-niche customers.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Setup plus monthly first.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Usage or outcome pricing after proof.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3-pilot-product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Productization starts after repetition appears.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ai-agents-new-saas-v3-pilot-productize.excalidraw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DEFENSIBILITY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Owning the workflow is the moat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Workflow context, policy, exception handling, and eval memory compound into defensibility.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Prompts are easy to copy.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Operating memory is harder to replicate.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Exceptions become product assets.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3-own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The moat is the operating loop around the agent.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ai-agents-new-saas-v3-own-workflow.excalidraw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30-DAY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Use workflow teardowns to turn the build into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Show the painful old way, show the agent way, publish proof, and put spend behind the winners.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Days 1-3: score jobs.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Week 1-2: shadow and build.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Week 3-4: pilot and publish.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4-zero-to-100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Distribution comes from making the painful workflow visible.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ai-agents-new-saas-v4-zero-to-100-plan.excalidraw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Screen changes are accounted for without inserting YouTube screenshots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Dense frames and scene-change frames are retained as audit material; meaningful visuals are redrawn as Excalidraw.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156 dense frames.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56 scene-change frames.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Presenter-only and duplicates excluded.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892040"/>
            <a:ext cx="2377440" cy="201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956048"/>
            <a:ext cx="2148840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1" i="0">
                <a:solidFill>
                  <a:srgbClr val="5B6B7C"/>
                </a:solidFill>
                <a:latin typeface="Calibri"/>
              </a:rPr>
              <a:t>Recreated Excalidraw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s-new-saas-v3-coverage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Hyperframes drive reconstruction; they are not the client-facing visual.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86384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70" b="0" i="0">
                <a:solidFill>
                  <a:srgbClr val="5B6B7C"/>
                </a:solidFill>
                <a:latin typeface="Calibri"/>
              </a:rPr>
              <a:t>Excalidraw source: ai-agents-new-saas-v3-coverage-map.excalidraw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