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B89C"/>
                </a:solidFill>
                <a:latin typeface="Calibri"/>
              </a:rPr>
              <a:t>VIDEO-TO-DECK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FFFFFF"/>
                </a:solidFill>
                <a:latin typeface="Calibri"/>
              </a:rPr>
              <a:t>AI Agents Are The New SaaS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5669280" cy="1170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80" b="0" i="0">
                <a:solidFill>
                  <a:srgbClr val="DCE6EF"/>
                </a:solidFill>
                <a:latin typeface="Calibri"/>
              </a:rPr>
              <a:t>The real opportunity is workflow ownership: find paid work, observe it deeply, automate the smallest useful loop, wrap it with trust controls, then productize the repeated pattern.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005072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4078224"/>
            <a:ext cx="347472" cy="118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023360"/>
            <a:ext cx="1481328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Paid workflow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41448" y="4178808"/>
            <a:ext cx="246888" cy="0"/>
          </a:xfrm>
          <a:prstGeom prst="line">
            <a:avLst/>
          </a:prstGeom>
          <a:ln w="25400">
            <a:solidFill>
              <a:srgbClr val="6EE7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07208" y="4005072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07208" y="4078224"/>
            <a:ext cx="347472" cy="118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4023360"/>
            <a:ext cx="1481328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Observed spec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90288" y="4178808"/>
            <a:ext cx="246888" cy="0"/>
          </a:xfrm>
          <a:prstGeom prst="line">
            <a:avLst/>
          </a:prstGeom>
          <a:ln w="25400">
            <a:solidFill>
              <a:srgbClr val="6EE7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956048" y="4005072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56048" y="4078224"/>
            <a:ext cx="347472" cy="118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4023360"/>
            <a:ext cx="1481328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Small agent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739128" y="4178808"/>
            <a:ext cx="246888" cy="0"/>
          </a:xfrm>
          <a:prstGeom prst="line">
            <a:avLst/>
          </a:prstGeom>
          <a:ln w="25400">
            <a:solidFill>
              <a:srgbClr val="6EE7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104888" y="4005072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04888" y="4078224"/>
            <a:ext cx="347472" cy="118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4023360"/>
            <a:ext cx="1481328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Control room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887968" y="4178808"/>
            <a:ext cx="246888" cy="0"/>
          </a:xfrm>
          <a:prstGeom prst="line">
            <a:avLst/>
          </a:prstGeom>
          <a:ln w="25400">
            <a:solidFill>
              <a:srgbClr val="6EE7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253728" y="4005072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00B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3728" y="4078224"/>
            <a:ext cx="347472" cy="118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4023360"/>
            <a:ext cx="1481328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Productized workflow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172200"/>
            <a:ext cx="932688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0" i="0">
                <a:solidFill>
                  <a:srgbClr val="AAB6C4"/>
                </a:solidFill>
                <a:latin typeface="Calibri"/>
              </a:rPr>
              <a:t>Built from dense hyperframe inventory; prior sparse-frame draft rejected.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217920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AAB6C4"/>
                </a:solidFill>
                <a:latin typeface="Calibri"/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53035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08F75"/>
                </a:solidFill>
                <a:latin typeface="Calibri"/>
              </a:rPr>
              <a:t>MARKET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071524"/>
                </a:solidFill>
                <a:latin typeface="Calibri"/>
              </a:rPr>
              <a:t>SaaS packaged repeatable work; agents can package executed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43000" cy="45720"/>
          </a:xfrm>
          <a:prstGeom prst="rect">
            <a:avLst/>
          </a:prstGeom>
          <a:solidFill>
            <a:srgbClr val="00B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4663440" cy="3977639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7335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71524"/>
                </a:solidFill>
                <a:latin typeface="Calibri"/>
              </a:rPr>
              <a:t>SaaS adoption curve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33272" y="4129592"/>
            <a:ext cx="434993" cy="213808"/>
          </a:xfrm>
          <a:prstGeom prst="rect">
            <a:avLst/>
          </a:prstGeom>
          <a:solidFill>
            <a:srgbClr val="B7D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4" y="4453128"/>
            <a:ext cx="581297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70" b="0" i="0">
                <a:solidFill>
                  <a:srgbClr val="607083"/>
                </a:solidFill>
                <a:latin typeface="Calibri"/>
              </a:rPr>
              <a:t>Early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14569" y="3963297"/>
            <a:ext cx="434993" cy="380103"/>
          </a:xfrm>
          <a:prstGeom prst="rect">
            <a:avLst/>
          </a:prstGeom>
          <a:solidFill>
            <a:srgbClr val="99C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96281" y="4453128"/>
            <a:ext cx="581297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70" b="0" i="0">
                <a:solidFill>
                  <a:srgbClr val="607083"/>
                </a:solidFill>
                <a:latin typeface="Calibri"/>
              </a:rPr>
              <a:t>CRM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5866" y="3749489"/>
            <a:ext cx="434993" cy="593911"/>
          </a:xfrm>
          <a:prstGeom prst="rect">
            <a:avLst/>
          </a:prstGeom>
          <a:solidFill>
            <a:srgbClr val="7FB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77578" y="4453128"/>
            <a:ext cx="581297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70" b="0" i="0">
                <a:solidFill>
                  <a:srgbClr val="607083"/>
                </a:solidFill>
                <a:latin typeface="Calibri"/>
              </a:rPr>
              <a:t>Collab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77163" y="3440655"/>
            <a:ext cx="434993" cy="902745"/>
          </a:xfrm>
          <a:prstGeom prst="rect">
            <a:avLst/>
          </a:prstGeom>
          <a:solidFill>
            <a:srgbClr val="65A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58875" y="4453128"/>
            <a:ext cx="581297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70" b="0" i="0">
                <a:solidFill>
                  <a:srgbClr val="607083"/>
                </a:solidFill>
                <a:latin typeface="Calibri"/>
              </a:rPr>
              <a:t>FinOps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58460" y="3036795"/>
            <a:ext cx="434993" cy="1306605"/>
          </a:xfrm>
          <a:prstGeom prst="rect">
            <a:avLst/>
          </a:prstGeom>
          <a:solidFill>
            <a:srgbClr val="4A9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40172" y="4453128"/>
            <a:ext cx="581297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70" b="0" i="0">
                <a:solidFill>
                  <a:srgbClr val="607083"/>
                </a:solidFill>
                <a:latin typeface="Calibri"/>
              </a:rPr>
              <a:t>Vertical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9757" y="2537909"/>
            <a:ext cx="434993" cy="1805491"/>
          </a:xfrm>
          <a:prstGeom prst="rect">
            <a:avLst/>
          </a:prstGeom>
          <a:solidFill>
            <a:srgbClr val="21B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21469" y="4453128"/>
            <a:ext cx="581297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70" b="0" i="0">
                <a:solidFill>
                  <a:srgbClr val="607083"/>
                </a:solidFill>
                <a:latin typeface="Calibri"/>
              </a:rPr>
              <a:t>AI apps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21054" y="1920240"/>
            <a:ext cx="434993" cy="2423160"/>
          </a:xfrm>
          <a:prstGeom prst="rect">
            <a:avLst/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02766" y="4453128"/>
            <a:ext cx="581297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70" b="0" i="0">
                <a:solidFill>
                  <a:srgbClr val="607083"/>
                </a:solidFill>
                <a:latin typeface="Calibri"/>
              </a:rPr>
              <a:t>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608576"/>
            <a:ext cx="4069080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607083"/>
                </a:solidFill>
                <a:latin typeface="Calibri"/>
              </a:rPr>
              <a:t>Frame coverage: market chart and SaaS-logo context are represented as clean market setup, not ignored.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15000" y="1554480"/>
            <a:ext cx="530352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0" y="1673352"/>
            <a:ext cx="502920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71524"/>
                </a:solidFill>
                <a:latin typeface="Calibri"/>
              </a:rPr>
              <a:t>From software subscriptions to work outcomes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80760" y="2029968"/>
            <a:ext cx="1874519" cy="658368"/>
          </a:xfrm>
          <a:prstGeom prst="roundRect">
            <a:avLst>
              <a:gd name="adj" fmla="val 6000"/>
            </a:avLst>
          </a:prstGeom>
          <a:solidFill>
            <a:srgbClr val="E6F8F4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2148840"/>
            <a:ext cx="1600199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71524"/>
                </a:solidFill>
                <a:latin typeface="Calibri"/>
              </a:rPr>
              <a:t>Shopify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0" y="2029968"/>
            <a:ext cx="1874519" cy="658368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9640" y="2148840"/>
            <a:ext cx="1600199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71524"/>
                </a:solidFill>
                <a:latin typeface="Calibri"/>
              </a:rPr>
              <a:t>Slack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0760" y="2990088"/>
            <a:ext cx="1874519" cy="658368"/>
          </a:xfrm>
          <a:prstGeom prst="roundRect">
            <a:avLst>
              <a:gd name="adj" fmla="val 6000"/>
            </a:avLst>
          </a:prstGeom>
          <a:solidFill>
            <a:srgbClr val="FBE8EE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3108960"/>
            <a:ext cx="1600199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71524"/>
                </a:solidFill>
                <a:latin typeface="Calibri"/>
              </a:rPr>
              <a:t>Airbnb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12480" y="2990088"/>
            <a:ext cx="1874519" cy="658368"/>
          </a:xfrm>
          <a:prstGeom prst="roundRect">
            <a:avLst>
              <a:gd name="adj" fmla="val 6000"/>
            </a:avLst>
          </a:prstGeom>
          <a:solidFill>
            <a:srgbClr val="FFF1C7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40" y="3108960"/>
            <a:ext cx="1600199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71524"/>
                </a:solidFill>
                <a:latin typeface="Calibri"/>
              </a:rPr>
              <a:t>Stripe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4133087"/>
            <a:ext cx="443484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52235"/>
                </a:solidFill>
                <a:latin typeface="Calibri"/>
              </a:rPr>
              <a:t>Previous SaaS winners made workflows visible and repeatable. Agent companies can go one layer deeper: they perform the job and expose the controls buyers need to trust it.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172200"/>
            <a:ext cx="932688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0" i="0">
                <a:solidFill>
                  <a:srgbClr val="607083"/>
                </a:solidFill>
                <a:latin typeface="Calibri"/>
              </a:rPr>
              <a:t>Sources: dense_0001, dense_0002.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4415" y="6217920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607083"/>
                </a:solidFill>
                <a:latin typeface="Calibr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53035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08F75"/>
                </a:solidFill>
                <a:latin typeface="Calibri"/>
              </a:rPr>
              <a:t>CORE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071524"/>
                </a:solidFill>
                <a:latin typeface="Calibri"/>
              </a:rPr>
              <a:t>The agent company is built around a paid workflow, not a generic bot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43000" cy="45720"/>
          </a:xfrm>
          <a:prstGeom prst="rect">
            <a:avLst/>
          </a:prstGeom>
          <a:solidFill>
            <a:srgbClr val="00B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057400"/>
            <a:ext cx="2423160" cy="16002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76272"/>
            <a:ext cx="214884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71524"/>
                </a:solidFill>
                <a:latin typeface="Calibri"/>
              </a:rPr>
              <a:t>Old SaaS job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14600"/>
            <a:ext cx="2148840" cy="10332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52235"/>
                </a:solidFill>
                <a:latin typeface="Calibri"/>
              </a:rPr>
              <a:t>log
dashboard
review
manual follow-up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37560" y="2862072"/>
            <a:ext cx="640080" cy="0"/>
          </a:xfrm>
          <a:prstGeom prst="line">
            <a:avLst/>
          </a:prstGeom>
          <a:ln w="25400">
            <a:solidFill>
              <a:srgbClr val="00B8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43400" y="2057400"/>
            <a:ext cx="2423160" cy="1600200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176272"/>
            <a:ext cx="214884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71524"/>
                </a:solidFill>
                <a:latin typeface="Calibri"/>
              </a:rPr>
              <a:t>Agent job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514600"/>
            <a:ext cx="2148840" cy="10332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52235"/>
                </a:solidFill>
                <a:latin typeface="Calibri"/>
              </a:rPr>
              <a:t>draft
triage
coordinate
act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766560" y="2862072"/>
            <a:ext cx="640080" cy="0"/>
          </a:xfrm>
          <a:prstGeom prst="line">
            <a:avLst/>
          </a:prstGeom>
          <a:ln w="25400">
            <a:solidFill>
              <a:srgbClr val="00B8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772400" y="2057400"/>
            <a:ext cx="2423160" cy="1600200"/>
          </a:xfrm>
          <a:prstGeom prst="roundRect">
            <a:avLst>
              <a:gd name="adj" fmla="val 6000"/>
            </a:avLst>
          </a:prstGeom>
          <a:solidFill>
            <a:srgbClr val="E6F8F4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2176272"/>
            <a:ext cx="214884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71524"/>
                </a:solidFill>
                <a:latin typeface="Calibri"/>
              </a:rPr>
              <a:t>Outcome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514600"/>
            <a:ext cx="2148840" cy="10332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52235"/>
                </a:solidFill>
                <a:latin typeface="Calibri"/>
              </a:rPr>
              <a:t>resolved work
faster cycle
clear audit trail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187952"/>
            <a:ext cx="9509760" cy="768096"/>
          </a:xfrm>
          <a:prstGeom prst="roundRect">
            <a:avLst>
              <a:gd name="adj" fmla="val 8000"/>
            </a:avLst>
          </a:prstGeom>
          <a:solidFill>
            <a:srgbClr val="071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4480560"/>
            <a:ext cx="900684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FFFFFF"/>
                </a:solidFill>
                <a:latin typeface="Calibri"/>
              </a:rPr>
              <a:t>The wedge is workflow ownership: bounded work plus visible controls.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172200"/>
            <a:ext cx="932688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0" i="0">
                <a:solidFill>
                  <a:srgbClr val="607083"/>
                </a:solidFill>
                <a:latin typeface="Calibri"/>
              </a:rPr>
              <a:t>Sources: dense_0004, scene_0007, scene_0028.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217920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607083"/>
                </a:solidFill>
                <a:latin typeface="Calibr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53035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08F75"/>
                </a:solidFill>
                <a:latin typeface="Calibri"/>
              </a:rPr>
              <a:t>ECONOMIC WEDGE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071524"/>
                </a:solidFill>
                <a:latin typeface="Calibri"/>
              </a:rPr>
              <a:t>Agents win where repeated labor cost and response-time pain are measurable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43000" cy="45720"/>
          </a:xfrm>
          <a:prstGeom prst="rect">
            <a:avLst/>
          </a:prstGeom>
          <a:solidFill>
            <a:srgbClr val="00B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719072"/>
            <a:ext cx="2286000" cy="100584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37944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71524"/>
                </a:solidFill>
                <a:latin typeface="Calibri"/>
              </a:rPr>
              <a:t>Human interaction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201168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52235"/>
                </a:solidFill>
                <a:latin typeface="Calibri"/>
              </a:rPr>
              <a:t>$3.00-$6.00
slow queue
business-hour capacity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46120" y="2221992"/>
            <a:ext cx="576071" cy="0"/>
          </a:xfrm>
          <a:prstGeom prst="line">
            <a:avLst/>
          </a:prstGeom>
          <a:ln w="25400">
            <a:solidFill>
              <a:srgbClr val="00B8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977639" y="1719072"/>
            <a:ext cx="2286000" cy="1005840"/>
          </a:xfrm>
          <a:prstGeom prst="roundRect">
            <a:avLst>
              <a:gd name="adj" fmla="val 6000"/>
            </a:avLst>
          </a:prstGeom>
          <a:solidFill>
            <a:srgbClr val="E6F8F4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9" y="1837944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71524"/>
                </a:solidFill>
                <a:latin typeface="Calibri"/>
              </a:rPr>
              <a:t>AI interaction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9" y="2176272"/>
            <a:ext cx="201168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52235"/>
                </a:solidFill>
                <a:latin typeface="Calibri"/>
              </a:rPr>
              <a:t>$0.25-$0.50
near-immediate
always-on capacity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1901952"/>
            <a:ext cx="3246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08F75"/>
                </a:solidFill>
                <a:latin typeface="Calibri"/>
              </a:rPr>
              <a:t>90%+ cost compression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310128"/>
            <a:ext cx="9692640" cy="420624"/>
          </a:xfrm>
          <a:prstGeom prst="rect">
            <a:avLst/>
          </a:prstGeom>
          <a:solidFill>
            <a:srgbClr val="F5F7FA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3401568"/>
            <a:ext cx="19202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1" i="0">
                <a:solidFill>
                  <a:srgbClr val="152235"/>
                </a:solidFill>
                <a:latin typeface="Calibri"/>
              </a:rPr>
              <a:t>First 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3401568"/>
            <a:ext cx="19202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0" i="0">
                <a:solidFill>
                  <a:srgbClr val="152235"/>
                </a:solidFill>
                <a:latin typeface="Calibri"/>
              </a:rPr>
              <a:t>6+ hours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3872" y="3401568"/>
            <a:ext cx="19202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1" i="0">
                <a:solidFill>
                  <a:srgbClr val="008F75"/>
                </a:solidFill>
                <a:latin typeface="Calibri"/>
              </a:rPr>
              <a:t>&lt;4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3401568"/>
            <a:ext cx="19202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0" i="0">
                <a:solidFill>
                  <a:srgbClr val="152235"/>
                </a:solidFill>
                <a:latin typeface="Calibri"/>
              </a:rPr>
              <a:t>speed wedge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877056"/>
            <a:ext cx="9692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3968496"/>
            <a:ext cx="19202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1" i="0">
                <a:solidFill>
                  <a:srgbClr val="152235"/>
                </a:solidFill>
                <a:latin typeface="Calibri"/>
              </a:rPr>
              <a:t>Resolution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6432" y="3968496"/>
            <a:ext cx="19202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0" i="0">
                <a:solidFill>
                  <a:srgbClr val="152235"/>
                </a:solidFill>
                <a:latin typeface="Calibri"/>
              </a:rPr>
              <a:t>32+ hours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33872" y="3968496"/>
            <a:ext cx="19202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1" i="0">
                <a:solidFill>
                  <a:srgbClr val="008F75"/>
                </a:solidFill>
                <a:latin typeface="Calibri"/>
              </a:rPr>
              <a:t>32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3968496"/>
            <a:ext cx="19202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0" i="0">
                <a:solidFill>
                  <a:srgbClr val="152235"/>
                </a:solidFill>
                <a:latin typeface="Calibri"/>
              </a:rPr>
              <a:t>cycle-time wedge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4443984"/>
            <a:ext cx="9692640" cy="420624"/>
          </a:xfrm>
          <a:prstGeom prst="rect">
            <a:avLst/>
          </a:prstGeom>
          <a:solidFill>
            <a:srgbClr val="F5F7FA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4535424"/>
            <a:ext cx="19202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1" i="0">
                <a:solidFill>
                  <a:srgbClr val="152235"/>
                </a:solidFill>
                <a:latin typeface="Calibri"/>
              </a:rPr>
              <a:t>ROI path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56432" y="4535424"/>
            <a:ext cx="19202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0" i="0">
                <a:solidFill>
                  <a:srgbClr val="152235"/>
                </a:solidFill>
                <a:latin typeface="Calibri"/>
              </a:rPr>
              <a:t>year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33872" y="4535424"/>
            <a:ext cx="19202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1" i="0">
                <a:solidFill>
                  <a:srgbClr val="008F75"/>
                </a:solidFill>
                <a:latin typeface="Calibri"/>
              </a:rPr>
              <a:t>year 2-3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4535424"/>
            <a:ext cx="19202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0" i="0">
                <a:solidFill>
                  <a:srgbClr val="152235"/>
                </a:solidFill>
                <a:latin typeface="Calibri"/>
              </a:rPr>
              <a:t>compound wedge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72200"/>
            <a:ext cx="932688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0" i="0">
                <a:solidFill>
                  <a:srgbClr val="607083"/>
                </a:solidFill>
                <a:latin typeface="Calibri"/>
              </a:rPr>
              <a:t>Sources: dense_0007, scene_0021. Recreated; no screenshot embedded.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4415" y="6217920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607083"/>
                </a:solidFill>
                <a:latin typeface="Calibr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53035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08F75"/>
                </a:solidFill>
                <a:latin typeface="Calibri"/>
              </a:rPr>
              <a:t>SEARCH DISCIPLINE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071524"/>
                </a:solidFill>
                <a:latin typeface="Calibri"/>
              </a:rPr>
              <a:t>Pick workflows with frequency, pain, software touchpoints, and budget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43000" cy="45720"/>
          </a:xfrm>
          <a:prstGeom prst="rect">
            <a:avLst/>
          </a:prstGeom>
          <a:solidFill>
            <a:srgbClr val="00B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64208"/>
            <a:ext cx="1664208" cy="118872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389888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71524"/>
                </a:solidFill>
                <a:latin typeface="Calibri"/>
              </a:rPr>
              <a:t>Frequency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21408"/>
            <a:ext cx="1389888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52235"/>
                </a:solidFill>
                <a:latin typeface="Calibri"/>
              </a:rPr>
              <a:t>daily/hourly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664208"/>
            <a:ext cx="1664208" cy="118872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1783080"/>
            <a:ext cx="1389888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71524"/>
                </a:solidFill>
                <a:latin typeface="Calibri"/>
              </a:rPr>
              <a:t>Pain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121408"/>
            <a:ext cx="1389888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52235"/>
                </a:solidFill>
                <a:latin typeface="Calibri"/>
              </a:rPr>
              <a:t>missed calls
slow replies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1664208"/>
            <a:ext cx="1664208" cy="118872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1783080"/>
            <a:ext cx="1389888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71524"/>
                </a:solidFill>
                <a:latin typeface="Calibri"/>
              </a:rPr>
              <a:t>Pattern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2121408"/>
            <a:ext cx="1389888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52235"/>
                </a:solidFill>
                <a:latin typeface="Calibri"/>
              </a:rPr>
              <a:t>booking
triage
approval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86600" y="1664208"/>
            <a:ext cx="1664208" cy="118872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1783080"/>
            <a:ext cx="1389888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71524"/>
                </a:solidFill>
                <a:latin typeface="Calibri"/>
              </a:rPr>
              <a:t>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2121408"/>
            <a:ext cx="1389888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52235"/>
                </a:solidFill>
                <a:latin typeface="Calibri"/>
              </a:rPr>
              <a:t>email
calendar
CRM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664208"/>
            <a:ext cx="1664208" cy="1188720"/>
          </a:xfrm>
          <a:prstGeom prst="roundRect">
            <a:avLst>
              <a:gd name="adj" fmla="val 6000"/>
            </a:avLst>
          </a:prstGeom>
          <a:solidFill>
            <a:srgbClr val="E6F8F4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1783080"/>
            <a:ext cx="1389888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71524"/>
                </a:solidFill>
                <a:latin typeface="Calibri"/>
              </a:rPr>
              <a:t>Budget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121408"/>
            <a:ext cx="1389888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52235"/>
                </a:solidFill>
                <a:latin typeface="Calibri"/>
              </a:rPr>
              <a:t>employee
agency
BPO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401568"/>
            <a:ext cx="4709160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71524"/>
                </a:solidFill>
                <a:latin typeface="Calibri"/>
              </a:rPr>
              <a:t>SIT software map: summarize inputs, tools, triggers, outputs, and exceptions before writing code.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60" y="3154680"/>
            <a:ext cx="196596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0" y="3273552"/>
            <a:ext cx="169164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71524"/>
                </a:solidFill>
                <a:latin typeface="Calibri"/>
              </a:rPr>
              <a:t>Sources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611880"/>
            <a:ext cx="169164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52235"/>
                </a:solidFill>
                <a:latin typeface="Calibri"/>
              </a:rPr>
              <a:t>calls
forms
emails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79" y="3154680"/>
            <a:ext cx="196596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39" y="3273552"/>
            <a:ext cx="169164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71524"/>
                </a:solidFill>
                <a:latin typeface="Calibri"/>
              </a:rPr>
              <a:t>Interfaces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39" y="3611880"/>
            <a:ext cx="169164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52235"/>
                </a:solidFill>
                <a:latin typeface="Calibri"/>
              </a:rPr>
              <a:t>CRM
calendar
phone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23560" y="4142232"/>
            <a:ext cx="196596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0" y="4261104"/>
            <a:ext cx="169164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71524"/>
                </a:solidFill>
                <a:latin typeface="Calibri"/>
              </a:rPr>
              <a:t>Tasks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4599432"/>
            <a:ext cx="169164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52235"/>
                </a:solidFill>
                <a:latin typeface="Calibri"/>
              </a:rPr>
              <a:t>qualify
schedule
update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79" y="4142232"/>
            <a:ext cx="196596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92439" y="4261104"/>
            <a:ext cx="169164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71524"/>
                </a:solidFill>
                <a:latin typeface="Calibri"/>
              </a:rPr>
              <a:t>Risks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39" y="4599432"/>
            <a:ext cx="169164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52235"/>
                </a:solidFill>
                <a:latin typeface="Calibri"/>
              </a:rPr>
              <a:t>edge cases
handoff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172200"/>
            <a:ext cx="932688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0" i="0">
                <a:solidFill>
                  <a:srgbClr val="607083"/>
                </a:solidFill>
                <a:latin typeface="Calibri"/>
              </a:rPr>
              <a:t>Sources: dense_0026-0037, scene_0011, dense_0006, scene_0019.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4415" y="6217920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607083"/>
                </a:solidFill>
                <a:latin typeface="Calibr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53035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08F75"/>
                </a:solidFill>
                <a:latin typeface="Calibri"/>
              </a:rPr>
              <a:t>WEDGE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071524"/>
                </a:solidFill>
                <a:latin typeface="Calibri"/>
              </a:rPr>
              <a:t>The video’s examples cluster around urgent, high-friction service workflows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43000" cy="45720"/>
          </a:xfrm>
          <a:prstGeom prst="rect">
            <a:avLst/>
          </a:prstGeom>
          <a:solidFill>
            <a:srgbClr val="00B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4160520" cy="1097280"/>
          </a:xfrm>
          <a:prstGeom prst="roundRect">
            <a:avLst>
              <a:gd name="adj" fmla="val 6000"/>
            </a:avLst>
          </a:prstGeom>
          <a:solidFill>
            <a:srgbClr val="FFF1C7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388620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71524"/>
                </a:solidFill>
                <a:latin typeface="Calibri"/>
              </a:rPr>
              <a:t>Restaurants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388620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52235"/>
                </a:solidFill>
                <a:latin typeface="Calibri"/>
              </a:rPr>
              <a:t>AI receptionist
booking
missed-call recovery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691640"/>
            <a:ext cx="4160520" cy="1097280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1810512"/>
            <a:ext cx="388620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71524"/>
                </a:solidFill>
                <a:latin typeface="Calibri"/>
              </a:rPr>
              <a:t>Home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148840"/>
            <a:ext cx="388620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52235"/>
                </a:solidFill>
                <a:latin typeface="Calibri"/>
              </a:rPr>
              <a:t>dispatch
quote triage
emergency routing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264408"/>
            <a:ext cx="4160520" cy="1097280"/>
          </a:xfrm>
          <a:prstGeom prst="roundRect">
            <a:avLst>
              <a:gd name="adj" fmla="val 6000"/>
            </a:avLst>
          </a:prstGeom>
          <a:solidFill>
            <a:srgbClr val="E6F8F4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383280"/>
            <a:ext cx="388620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71524"/>
                </a:solidFill>
                <a:latin typeface="Calibri"/>
              </a:rPr>
              <a:t>Property asset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721608"/>
            <a:ext cx="388620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52235"/>
                </a:solidFill>
                <a:latin typeface="Calibri"/>
              </a:rPr>
              <a:t>tenant requests
maintenance
status updates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06440" y="3264408"/>
            <a:ext cx="4160520" cy="1097280"/>
          </a:xfrm>
          <a:prstGeom prst="roundRect">
            <a:avLst>
              <a:gd name="adj" fmla="val 6000"/>
            </a:avLst>
          </a:prstGeom>
          <a:solidFill>
            <a:srgbClr val="FBE8EE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3383280"/>
            <a:ext cx="388620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71524"/>
                </a:solidFill>
                <a:latin typeface="Calibri"/>
              </a:rPr>
              <a:t>Contact center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721608"/>
            <a:ext cx="388620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52235"/>
                </a:solidFill>
                <a:latin typeface="Calibri"/>
              </a:rPr>
              <a:t>front-door triage
qualification
handoff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983480"/>
            <a:ext cx="9784080" cy="502920"/>
          </a:xfrm>
          <a:prstGeom prst="roundRect">
            <a:avLst>
              <a:gd name="adj" fmla="val 8000"/>
            </a:avLst>
          </a:prstGeom>
          <a:solidFill>
            <a:srgbClr val="071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0432" y="5129784"/>
            <a:ext cx="92354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FFFFFF"/>
                </a:solidFill>
                <a:latin typeface="Calibri"/>
              </a:rPr>
              <a:t>Use examples as evidence of where the search should start, not as screenshots.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172200"/>
            <a:ext cx="932688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0" i="0">
                <a:solidFill>
                  <a:srgbClr val="607083"/>
                </a:solidFill>
                <a:latin typeface="Calibri"/>
              </a:rPr>
              <a:t>Sources: Slang AI dense_0018-0019 / scene_0029-0030; home-services scene_0032-0035; Samday/contact-center dense_0023 / scene_0038-0039.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217920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607083"/>
                </a:solidFill>
                <a:latin typeface="Calibri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53035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08F75"/>
                </a:solidFill>
                <a:latin typeface="Calibri"/>
              </a:rPr>
              <a:t>OPERATING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071524"/>
                </a:solidFill>
                <a:latin typeface="Calibri"/>
              </a:rPr>
              <a:t>Shadow the human before you build the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43000" cy="45720"/>
          </a:xfrm>
          <a:prstGeom prst="rect">
            <a:avLst/>
          </a:prstGeom>
          <a:solidFill>
            <a:srgbClr val="00B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965960"/>
            <a:ext cx="2423160" cy="1481328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84832"/>
            <a:ext cx="214884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71524"/>
                </a:solidFill>
                <a:latin typeface="Calibri"/>
              </a:rPr>
              <a:t>Watch 10-20 runs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423160"/>
            <a:ext cx="214884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52235"/>
                </a:solidFill>
                <a:latin typeface="Calibri"/>
              </a:rPr>
              <a:t>screen record
narrate decisions
capture copy/paste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37560" y="2697480"/>
            <a:ext cx="640080" cy="0"/>
          </a:xfrm>
          <a:prstGeom prst="line">
            <a:avLst/>
          </a:prstGeom>
          <a:ln w="25400">
            <a:solidFill>
              <a:srgbClr val="00B8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43400" y="1965960"/>
            <a:ext cx="2423160" cy="1481328"/>
          </a:xfrm>
          <a:prstGeom prst="roundRect">
            <a:avLst>
              <a:gd name="adj" fmla="val 6000"/>
            </a:avLst>
          </a:prstGeom>
          <a:solidFill>
            <a:srgbClr val="FFF1C7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084832"/>
            <a:ext cx="214884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71524"/>
                </a:solidFill>
                <a:latin typeface="Calibri"/>
              </a:rPr>
              <a:t>Extract the spec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423160"/>
            <a:ext cx="214884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52235"/>
                </a:solidFill>
                <a:latin typeface="Calibri"/>
              </a:rPr>
              <a:t>trigger
context
tools
rules
approval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766560" y="2697480"/>
            <a:ext cx="640080" cy="0"/>
          </a:xfrm>
          <a:prstGeom prst="line">
            <a:avLst/>
          </a:prstGeom>
          <a:ln w="25400">
            <a:solidFill>
              <a:srgbClr val="00B8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772400" y="1965960"/>
            <a:ext cx="2423160" cy="1481328"/>
          </a:xfrm>
          <a:prstGeom prst="roundRect">
            <a:avLst>
              <a:gd name="adj" fmla="val 6000"/>
            </a:avLst>
          </a:prstGeom>
          <a:solidFill>
            <a:srgbClr val="E6F8F4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2084832"/>
            <a:ext cx="214884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71524"/>
                </a:solidFill>
                <a:latin typeface="Calibri"/>
              </a:rPr>
              <a:t>Define trust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423160"/>
            <a:ext cx="214884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52235"/>
                </a:solidFill>
                <a:latin typeface="Calibri"/>
              </a:rPr>
              <a:t>when stuck
when to ask
what to 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51960"/>
            <a:ext cx="9144000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71524"/>
                </a:solidFill>
                <a:latin typeface="Calibri"/>
              </a:rPr>
              <a:t>The workflow spec is observed behavior, not a prompt. This is the step that turns a demo into a sellable workflow.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172200"/>
            <a:ext cx="932688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0" i="0">
                <a:solidFill>
                  <a:srgbClr val="607083"/>
                </a:solidFill>
                <a:latin typeface="Calibri"/>
              </a:rPr>
              <a:t>Sources: dense_0038-0055, scene_0013.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217920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607083"/>
                </a:solidFill>
                <a:latin typeface="Calibr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53035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08F75"/>
                </a:solidFill>
                <a:latin typeface="Calibri"/>
              </a:rPr>
              <a:t>BUILD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071524"/>
                </a:solidFill>
                <a:latin typeface="Calibri"/>
              </a:rPr>
              <a:t>Build the smallest useful agent: draft, triage, coordinate, 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43000" cy="45720"/>
          </a:xfrm>
          <a:prstGeom prst="rect">
            <a:avLst/>
          </a:prstGeom>
          <a:solidFill>
            <a:srgbClr val="00B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193852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011680"/>
            <a:ext cx="347472" cy="118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395728"/>
            <a:ext cx="1993392" cy="123444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514600"/>
            <a:ext cx="1719072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71524"/>
                </a:solidFill>
                <a:latin typeface="Calibri"/>
              </a:rPr>
              <a:t>Draft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852928"/>
            <a:ext cx="1719072" cy="6675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52235"/>
                </a:solidFill>
                <a:latin typeface="Calibri"/>
              </a:rPr>
              <a:t>write reply
summarize
prepare next step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34640" y="3017520"/>
            <a:ext cx="384048" cy="0"/>
          </a:xfrm>
          <a:prstGeom prst="line">
            <a:avLst/>
          </a:prstGeom>
          <a:ln w="25400">
            <a:solidFill>
              <a:srgbClr val="00B8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19856" y="193852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9856" y="2011680"/>
            <a:ext cx="347472" cy="118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9856" y="2395728"/>
            <a:ext cx="1993392" cy="1234440"/>
          </a:xfrm>
          <a:prstGeom prst="roundRect">
            <a:avLst>
              <a:gd name="adj" fmla="val 6000"/>
            </a:avLst>
          </a:prstGeom>
          <a:solidFill>
            <a:srgbClr val="FFF1C7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7016" y="2514600"/>
            <a:ext cx="1719072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71524"/>
                </a:solidFill>
                <a:latin typeface="Calibri"/>
              </a:rPr>
              <a:t>Triage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016" y="2852928"/>
            <a:ext cx="1719072" cy="6675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52235"/>
                </a:solidFill>
                <a:latin typeface="Calibri"/>
              </a:rPr>
              <a:t>classify
prioritize
route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13248" y="3017520"/>
            <a:ext cx="384048" cy="0"/>
          </a:xfrm>
          <a:prstGeom prst="line">
            <a:avLst/>
          </a:prstGeom>
          <a:ln w="25400">
            <a:solidFill>
              <a:srgbClr val="00B8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998464" y="193852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98464" y="2011680"/>
            <a:ext cx="347472" cy="118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98464" y="2395728"/>
            <a:ext cx="1993392" cy="1234440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35624" y="2514600"/>
            <a:ext cx="1719072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71524"/>
                </a:solidFill>
                <a:latin typeface="Calibri"/>
              </a:rPr>
              <a:t>Coordinate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35624" y="2852928"/>
            <a:ext cx="1719072" cy="6675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52235"/>
                </a:solidFill>
                <a:latin typeface="Calibri"/>
              </a:rPr>
              <a:t>check slots
notify humans
sync systems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991856" y="3017520"/>
            <a:ext cx="384048" cy="0"/>
          </a:xfrm>
          <a:prstGeom prst="line">
            <a:avLst/>
          </a:prstGeom>
          <a:ln w="25400">
            <a:solidFill>
              <a:srgbClr val="00B8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577072" y="193852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2011680"/>
            <a:ext cx="347472" cy="118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77072" y="2395728"/>
            <a:ext cx="1993392" cy="1234440"/>
          </a:xfrm>
          <a:prstGeom prst="roundRect">
            <a:avLst>
              <a:gd name="adj" fmla="val 6000"/>
            </a:avLst>
          </a:prstGeom>
          <a:solidFill>
            <a:srgbClr val="E6F8F4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14232" y="2514600"/>
            <a:ext cx="1719072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71524"/>
                </a:solidFill>
                <a:latin typeface="Calibri"/>
              </a:rPr>
              <a:t>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14232" y="2852928"/>
            <a:ext cx="1719072" cy="6675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52235"/>
                </a:solidFill>
                <a:latin typeface="Calibri"/>
              </a:rPr>
              <a:t>book
update
send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4370832"/>
            <a:ext cx="9692640" cy="502920"/>
          </a:xfrm>
          <a:prstGeom prst="roundRect">
            <a:avLst>
              <a:gd name="adj" fmla="val 8000"/>
            </a:avLst>
          </a:prstGeom>
          <a:solidFill>
            <a:srgbClr val="FB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07008" y="4526280"/>
            <a:ext cx="9052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152235"/>
                </a:solidFill>
                <a:latin typeface="Calibri"/>
              </a:rPr>
              <a:t>Good promise: answer missed calls, find roofers, and book qualified jobs.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172200"/>
            <a:ext cx="932688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0" i="0">
                <a:solidFill>
                  <a:srgbClr val="607083"/>
                </a:solidFill>
                <a:latin typeface="Calibri"/>
              </a:rPr>
              <a:t>Sources: dense_0058-0069, scene_0043, scene_0045.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4415" y="6217920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607083"/>
                </a:solidFill>
                <a:latin typeface="Calibr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53035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08F75"/>
                </a:solidFill>
                <a:latin typeface="Calibri"/>
              </a:rPr>
              <a:t>WORKFLOW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071524"/>
                </a:solidFill>
                <a:latin typeface="Calibri"/>
              </a:rPr>
              <a:t>Agentic workflows need a control pattern, not just agent autonomy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43000" cy="45720"/>
          </a:xfrm>
          <a:prstGeom prst="rect">
            <a:avLst/>
          </a:prstGeom>
          <a:solidFill>
            <a:srgbClr val="00B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4709160" cy="214884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01952"/>
            <a:ext cx="443484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71524"/>
                </a:solidFill>
                <a:latin typeface="Calibri"/>
              </a:rPr>
              <a:t>Sequential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434840" cy="1581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52235"/>
                </a:solidFill>
                <a:latin typeface="Calibri"/>
              </a:rPr>
              <a:t>Predetermined path for repeatable work.
Use when the steps are stable: intake -&gt; classify -&gt; draft -&gt; approve -&gt; send.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1783080"/>
            <a:ext cx="4709160" cy="2148840"/>
          </a:xfrm>
          <a:prstGeom prst="roundRect">
            <a:avLst>
              <a:gd name="adj" fmla="val 6000"/>
            </a:avLst>
          </a:prstGeom>
          <a:solidFill>
            <a:srgbClr val="E6F8F4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901952"/>
            <a:ext cx="443484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71524"/>
                </a:solidFill>
                <a:latin typeface="Calibri"/>
              </a:rPr>
              <a:t>Hierarchical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240280"/>
            <a:ext cx="4434840" cy="1581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52235"/>
                </a:solidFill>
                <a:latin typeface="Calibri"/>
              </a:rPr>
              <a:t>Delegation and review for higher-risk work.
Use when escalation, judgment, or quality gates matter.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17720"/>
            <a:ext cx="941832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1" i="0">
                <a:solidFill>
                  <a:srgbClr val="071524"/>
                </a:solidFill>
                <a:latin typeface="Calibri"/>
              </a:rPr>
              <a:t>External architecture-pattern references are useful, but the deck should translate them into the founder workflow instead of copying a text-heavy reference card.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172200"/>
            <a:ext cx="932688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0" i="0">
                <a:solidFill>
                  <a:srgbClr val="607083"/>
                </a:solidFill>
                <a:latin typeface="Calibri"/>
              </a:rPr>
              <a:t>Sources: dense_0070, dense_0071-0072, scene_0046-0047.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217920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607083"/>
                </a:solidFill>
                <a:latin typeface="Calibr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53035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08F75"/>
                </a:solidFill>
                <a:latin typeface="Calibri"/>
              </a:rPr>
              <a:t>TRUST WRAPPER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071524"/>
                </a:solidFill>
                <a:latin typeface="Calibri"/>
              </a:rPr>
              <a:t>The wrapper turns agent work into SaaS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43000" cy="45720"/>
          </a:xfrm>
          <a:prstGeom prst="rect">
            <a:avLst/>
          </a:prstGeom>
          <a:solidFill>
            <a:srgbClr val="00B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938528"/>
            <a:ext cx="2423160" cy="1417320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57400"/>
            <a:ext cx="214884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71524"/>
                </a:solidFill>
                <a:latin typeface="Calibri"/>
              </a:rPr>
              <a:t>AI worker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95728"/>
            <a:ext cx="2148840" cy="8503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52235"/>
                </a:solidFill>
                <a:latin typeface="Calibri"/>
              </a:rPr>
              <a:t>does the job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37560" y="2633472"/>
            <a:ext cx="640080" cy="0"/>
          </a:xfrm>
          <a:prstGeom prst="line">
            <a:avLst/>
          </a:prstGeom>
          <a:ln w="25400">
            <a:solidFill>
              <a:srgbClr val="00B8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43400" y="1938528"/>
            <a:ext cx="2423160" cy="1417320"/>
          </a:xfrm>
          <a:prstGeom prst="roundRect">
            <a:avLst>
              <a:gd name="adj" fmla="val 6000"/>
            </a:avLst>
          </a:prstGeom>
          <a:solidFill>
            <a:srgbClr val="FFF1C7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057400"/>
            <a:ext cx="214884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71524"/>
                </a:solidFill>
                <a:latin typeface="Calibri"/>
              </a:rPr>
              <a:t>Control room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395728"/>
            <a:ext cx="2148840" cy="8503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52235"/>
                </a:solidFill>
                <a:latin typeface="Calibri"/>
              </a:rPr>
              <a:t>logs
approvals
settings
handoffs
analytics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766560" y="2633472"/>
            <a:ext cx="640080" cy="0"/>
          </a:xfrm>
          <a:prstGeom prst="line">
            <a:avLst/>
          </a:prstGeom>
          <a:ln w="25400">
            <a:solidFill>
              <a:srgbClr val="00B8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772400" y="1938528"/>
            <a:ext cx="2423160" cy="1417320"/>
          </a:xfrm>
          <a:prstGeom prst="roundRect">
            <a:avLst>
              <a:gd name="adj" fmla="val 6000"/>
            </a:avLst>
          </a:prstGeom>
          <a:solidFill>
            <a:srgbClr val="E6F8F4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2057400"/>
            <a:ext cx="214884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71524"/>
                </a:solidFill>
                <a:latin typeface="Calibri"/>
              </a:rPr>
              <a:t>Customer trust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395728"/>
            <a:ext cx="2148840" cy="8503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52235"/>
                </a:solidFill>
                <a:latin typeface="Calibri"/>
              </a:rPr>
              <a:t>what happened
why it happened
what needs review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261104"/>
            <a:ext cx="9601200" cy="5029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407408"/>
            <a:ext cx="90982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152235"/>
                </a:solidFill>
                <a:latin typeface="Calibri"/>
              </a:rPr>
              <a:t>Eval gym: run real work through the flow; inspect failures; improve controls.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172200"/>
            <a:ext cx="932688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0" i="0">
                <a:solidFill>
                  <a:srgbClr val="607083"/>
                </a:solidFill>
                <a:latin typeface="Calibri"/>
              </a:rPr>
              <a:t>Sources: dense_0078-0091, scene_0015, scene_0049.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217920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607083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53035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08F75"/>
                </a:solidFill>
                <a:latin typeface="Calibri"/>
              </a:rPr>
              <a:t>COMMERCIALIZATION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071524"/>
                </a:solidFill>
                <a:latin typeface="Calibri"/>
              </a:rPr>
              <a:t>Sell the pilot like labor, then productize the repeated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43000" cy="45720"/>
          </a:xfrm>
          <a:prstGeom prst="rect">
            <a:avLst/>
          </a:prstGeom>
          <a:solidFill>
            <a:srgbClr val="00B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901952"/>
            <a:ext cx="2423160" cy="1444752"/>
          </a:xfrm>
          <a:prstGeom prst="roundRect">
            <a:avLst>
              <a:gd name="adj" fmla="val 6000"/>
            </a:avLst>
          </a:prstGeom>
          <a:solidFill>
            <a:srgbClr val="FFF1C7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20824"/>
            <a:ext cx="214884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71524"/>
                </a:solidFill>
                <a:latin typeface="Calibri"/>
              </a:rPr>
              <a:t>Pilot promise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59152"/>
            <a:ext cx="2148840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52235"/>
                </a:solidFill>
                <a:latin typeface="Calibri"/>
              </a:rPr>
              <a:t>We answer and qualify missed calls.
We triage maintenance requests.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37560" y="2615184"/>
            <a:ext cx="640080" cy="0"/>
          </a:xfrm>
          <a:prstGeom prst="line">
            <a:avLst/>
          </a:prstGeom>
          <a:ln w="25400">
            <a:solidFill>
              <a:srgbClr val="00B8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43400" y="1901952"/>
            <a:ext cx="2423160" cy="1444752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020824"/>
            <a:ext cx="214884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71524"/>
                </a:solidFill>
                <a:latin typeface="Calibri"/>
              </a:rPr>
              <a:t>Simple pricing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359152"/>
            <a:ext cx="2148840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52235"/>
                </a:solidFill>
                <a:latin typeface="Calibri"/>
              </a:rPr>
              <a:t>$1,500 setup
+ $1,000/mo
or outcome fee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766560" y="2615184"/>
            <a:ext cx="640080" cy="0"/>
          </a:xfrm>
          <a:prstGeom prst="line">
            <a:avLst/>
          </a:prstGeom>
          <a:ln w="25400">
            <a:solidFill>
              <a:srgbClr val="00B8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772400" y="1901952"/>
            <a:ext cx="2423160" cy="1444752"/>
          </a:xfrm>
          <a:prstGeom prst="roundRect">
            <a:avLst>
              <a:gd name="adj" fmla="val 6000"/>
            </a:avLst>
          </a:prstGeom>
          <a:solidFill>
            <a:srgbClr val="E6F8F4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2020824"/>
            <a:ext cx="214884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71524"/>
                </a:solidFill>
                <a:latin typeface="Calibri"/>
              </a:rPr>
              <a:t>Product pattern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359152"/>
            <a:ext cx="2148840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52235"/>
                </a:solidFill>
                <a:latin typeface="Calibri"/>
              </a:rPr>
              <a:t>same scripts
same rules
same controls
same emails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07408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71524"/>
                </a:solidFill>
                <a:latin typeface="Calibri"/>
              </a:rPr>
              <a:t>You earn the software by doing the work first.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172200"/>
            <a:ext cx="932688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0" i="0">
                <a:solidFill>
                  <a:srgbClr val="607083"/>
                </a:solidFill>
                <a:latin typeface="Calibri"/>
              </a:rPr>
              <a:t>Sources: dense_0096-0111, scene_0017, scene_0051, scene_0053.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217920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607083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53035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08F75"/>
                </a:solidFill>
                <a:latin typeface="Calibri"/>
              </a:rPr>
              <a:t>DEFENSIBILITY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071524"/>
                </a:solidFill>
                <a:latin typeface="Calibri"/>
              </a:rPr>
              <a:t>Own the workflow: the moat is the operating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43000" cy="45720"/>
          </a:xfrm>
          <a:prstGeom prst="rect">
            <a:avLst/>
          </a:prstGeom>
          <a:solidFill>
            <a:srgbClr val="00B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874519"/>
            <a:ext cx="2423160" cy="1600200"/>
          </a:xfrm>
          <a:prstGeom prst="roundRect">
            <a:avLst>
              <a:gd name="adj" fmla="val 6000"/>
            </a:avLst>
          </a:prstGeom>
          <a:solidFill>
            <a:srgbClr val="FBE8EE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14884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71524"/>
                </a:solidFill>
                <a:latin typeface="Calibri"/>
              </a:rPr>
              <a:t>Old 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31719"/>
            <a:ext cx="2148840" cy="10332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52235"/>
                </a:solidFill>
                <a:latin typeface="Calibri"/>
              </a:rPr>
              <a:t>human follows SOP
manager checks
software records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37560" y="2670048"/>
            <a:ext cx="640080" cy="0"/>
          </a:xfrm>
          <a:prstGeom prst="line">
            <a:avLst/>
          </a:prstGeom>
          <a:ln w="25400">
            <a:solidFill>
              <a:srgbClr val="00B8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43400" y="1874519"/>
            <a:ext cx="2423160" cy="1600200"/>
          </a:xfrm>
          <a:prstGeom prst="roundRect">
            <a:avLst>
              <a:gd name="adj" fmla="val 6000"/>
            </a:avLst>
          </a:prstGeom>
          <a:solidFill>
            <a:srgbClr val="E6F8F4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993391"/>
            <a:ext cx="214884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71524"/>
                </a:solidFill>
                <a:latin typeface="Calibri"/>
              </a:rPr>
              <a:t>Agent 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331719"/>
            <a:ext cx="2148840" cy="10332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52235"/>
                </a:solidFill>
                <a:latin typeface="Calibri"/>
              </a:rPr>
              <a:t>agent performs loop
asks when stuck
updates systems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766560" y="2670048"/>
            <a:ext cx="640080" cy="0"/>
          </a:xfrm>
          <a:prstGeom prst="line">
            <a:avLst/>
          </a:prstGeom>
          <a:ln w="25400">
            <a:solidFill>
              <a:srgbClr val="00B8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772400" y="1874519"/>
            <a:ext cx="2423160" cy="1600200"/>
          </a:xfrm>
          <a:prstGeom prst="roundRect">
            <a:avLst>
              <a:gd name="adj" fmla="val 6000"/>
            </a:avLst>
          </a:prstGeom>
          <a:solidFill>
            <a:srgbClr val="FFF1C7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1993391"/>
            <a:ext cx="214884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71524"/>
                </a:solidFill>
                <a:latin typeface="Calibri"/>
              </a:rPr>
              <a:t>Context as product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331719"/>
            <a:ext cx="2148840" cy="10332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52235"/>
                </a:solidFill>
                <a:latin typeface="Calibri"/>
              </a:rPr>
              <a:t>workflow memory
policy
exceptions
evaluation set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315968"/>
            <a:ext cx="9509760" cy="566928"/>
          </a:xfrm>
          <a:prstGeom prst="roundRect">
            <a:avLst>
              <a:gd name="adj" fmla="val 8000"/>
            </a:avLst>
          </a:prstGeom>
          <a:solidFill>
            <a:srgbClr val="071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480560"/>
            <a:ext cx="896112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FFFFFF"/>
                </a:solidFill>
                <a:latin typeface="Calibri"/>
              </a:rPr>
              <a:t>Start with the job. Then build the agent people pay for.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172200"/>
            <a:ext cx="932688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0" i="0">
                <a:solidFill>
                  <a:srgbClr val="607083"/>
                </a:solidFill>
                <a:latin typeface="Calibri"/>
              </a:rPr>
              <a:t>Sources: dense_0113-0123, scene_0055.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217920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607083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53035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08F75"/>
                </a:solidFill>
                <a:latin typeface="Calibri"/>
              </a:rPr>
              <a:t>COVERAGE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300" b="1" i="0">
                <a:solidFill>
                  <a:srgbClr val="071524"/>
                </a:solidFill>
                <a:latin typeface="Calibri"/>
              </a:rPr>
              <a:t>Every meaningful visual beat is represented or intentionally grouped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43000" cy="45720"/>
          </a:xfrm>
          <a:prstGeom prst="rect">
            <a:avLst/>
          </a:prstGeom>
          <a:solidFill>
            <a:srgbClr val="00B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1645920"/>
            <a:ext cx="9601200" cy="310896"/>
          </a:xfrm>
          <a:prstGeom prst="roundRect">
            <a:avLst>
              <a:gd name="adj" fmla="val 4000"/>
            </a:avLst>
          </a:prstGeom>
          <a:solidFill>
            <a:srgbClr val="071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719072"/>
            <a:ext cx="4773168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1" i="0">
                <a:solidFill>
                  <a:srgbClr val="FFFFFF"/>
                </a:solidFill>
                <a:latin typeface="Calibri"/>
              </a:rPr>
              <a:t>Visual beat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42432" y="1719072"/>
            <a:ext cx="1755648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1" i="0">
                <a:solidFill>
                  <a:srgbClr val="FFFFFF"/>
                </a:solidFill>
                <a:latin typeface="Calibri"/>
              </a:rPr>
              <a:t>Deck location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62672" y="1719072"/>
            <a:ext cx="2578608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1" i="0">
                <a:solidFill>
                  <a:srgbClr val="FFFFFF"/>
                </a:solidFill>
                <a:latin typeface="Calibri"/>
              </a:rPr>
              <a:t>Treatment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29968"/>
            <a:ext cx="9601200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112264"/>
            <a:ext cx="4773168" cy="1005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1" i="0">
                <a:solidFill>
                  <a:srgbClr val="152235"/>
                </a:solidFill>
                <a:latin typeface="Calibri"/>
              </a:rPr>
              <a:t>Market chart + SaaS winners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42432" y="2112264"/>
            <a:ext cx="1755648" cy="1005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0" i="0">
                <a:solidFill>
                  <a:srgbClr val="152235"/>
                </a:solidFill>
                <a:latin typeface="Calibri"/>
              </a:rPr>
              <a:t>slides 2-3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62672" y="2112264"/>
            <a:ext cx="2578608" cy="1005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0" i="0">
                <a:solidFill>
                  <a:srgbClr val="008F75"/>
                </a:solidFill>
                <a:latin typeface="Calibri"/>
              </a:rPr>
              <a:t>recreated / synthesized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2441448"/>
            <a:ext cx="96012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523744"/>
            <a:ext cx="4773168" cy="1005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1" i="0">
                <a:solidFill>
                  <a:srgbClr val="152235"/>
                </a:solidFill>
                <a:latin typeface="Calibri"/>
              </a:rPr>
              <a:t>SIT map + workflow scorecard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42432" y="2523744"/>
            <a:ext cx="1755648" cy="1005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0" i="0">
                <a:solidFill>
                  <a:srgbClr val="152235"/>
                </a:solidFill>
                <a:latin typeface="Calibri"/>
              </a:rPr>
              <a:t>slide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62672" y="2523744"/>
            <a:ext cx="2578608" cy="1005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0" i="0">
                <a:solidFill>
                  <a:srgbClr val="008F75"/>
                </a:solidFill>
                <a:latin typeface="Calibri"/>
              </a:rPr>
              <a:t>recreated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2852928"/>
            <a:ext cx="9601200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2935224"/>
            <a:ext cx="4773168" cy="1005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1" i="0">
                <a:solidFill>
                  <a:srgbClr val="152235"/>
                </a:solidFill>
                <a:latin typeface="Calibri"/>
              </a:rPr>
              <a:t>Slang, home services, Samday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42432" y="2935224"/>
            <a:ext cx="1755648" cy="1005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0" i="0">
                <a:solidFill>
                  <a:srgbClr val="152235"/>
                </a:solidFill>
                <a:latin typeface="Calibri"/>
              </a:rPr>
              <a:t>slide 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62672" y="2935224"/>
            <a:ext cx="2578608" cy="1005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0" i="0">
                <a:solidFill>
                  <a:srgbClr val="152235"/>
                </a:solidFill>
                <a:latin typeface="Calibri"/>
              </a:rPr>
              <a:t>grouped evidence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3264408"/>
            <a:ext cx="96012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3346704"/>
            <a:ext cx="4773168" cy="1005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1" i="0">
                <a:solidFill>
                  <a:srgbClr val="152235"/>
                </a:solidFill>
                <a:latin typeface="Calibri"/>
              </a:rPr>
              <a:t>Shadow human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42432" y="3346704"/>
            <a:ext cx="1755648" cy="1005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0" i="0">
                <a:solidFill>
                  <a:srgbClr val="152235"/>
                </a:solidFill>
                <a:latin typeface="Calibri"/>
              </a:rPr>
              <a:t>slide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62672" y="3346704"/>
            <a:ext cx="2578608" cy="1005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0" i="0">
                <a:solidFill>
                  <a:srgbClr val="008F75"/>
                </a:solidFill>
                <a:latin typeface="Calibri"/>
              </a:rPr>
              <a:t>recreated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3675888"/>
            <a:ext cx="9601200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3758184"/>
            <a:ext cx="4773168" cy="1005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1" i="0">
                <a:solidFill>
                  <a:srgbClr val="152235"/>
                </a:solidFill>
                <a:latin typeface="Calibri"/>
              </a:rPr>
              <a:t>Smallest useful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42432" y="3758184"/>
            <a:ext cx="1755648" cy="1005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0" i="0">
                <a:solidFill>
                  <a:srgbClr val="152235"/>
                </a:solidFill>
                <a:latin typeface="Calibri"/>
              </a:rPr>
              <a:t>slide 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62672" y="3758184"/>
            <a:ext cx="2578608" cy="1005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0" i="0">
                <a:solidFill>
                  <a:srgbClr val="008F75"/>
                </a:solidFill>
                <a:latin typeface="Calibri"/>
              </a:rPr>
              <a:t>recreated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4087368"/>
            <a:ext cx="96012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4169664"/>
            <a:ext cx="4773168" cy="1005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1" i="0">
                <a:solidFill>
                  <a:srgbClr val="152235"/>
                </a:solidFill>
                <a:latin typeface="Calibri"/>
              </a:rPr>
              <a:t>Agentic workflows + architecture ref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42432" y="4169664"/>
            <a:ext cx="1755648" cy="1005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0" i="0">
                <a:solidFill>
                  <a:srgbClr val="152235"/>
                </a:solidFill>
                <a:latin typeface="Calibri"/>
              </a:rPr>
              <a:t>slide 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62672" y="4169664"/>
            <a:ext cx="2578608" cy="1005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0" i="0">
                <a:solidFill>
                  <a:srgbClr val="008F75"/>
                </a:solidFill>
                <a:latin typeface="Calibri"/>
              </a:rPr>
              <a:t>recreated / summarized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" y="4498848"/>
            <a:ext cx="9601200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" y="4581144"/>
            <a:ext cx="4773168" cy="1005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1" i="0">
                <a:solidFill>
                  <a:srgbClr val="152235"/>
                </a:solidFill>
                <a:latin typeface="Calibri"/>
              </a:rPr>
              <a:t>Wrapper + pilot + own workflow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42432" y="4581144"/>
            <a:ext cx="1755648" cy="1005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0" i="0">
                <a:solidFill>
                  <a:srgbClr val="152235"/>
                </a:solidFill>
                <a:latin typeface="Calibri"/>
              </a:rPr>
              <a:t>slides 10-12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62672" y="4581144"/>
            <a:ext cx="2578608" cy="1005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0" i="0">
                <a:solidFill>
                  <a:srgbClr val="008F75"/>
                </a:solidFill>
                <a:latin typeface="Calibri"/>
              </a:rPr>
              <a:t>recreated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3232" y="4910328"/>
            <a:ext cx="96012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" y="4992624"/>
            <a:ext cx="4773168" cy="1005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1" i="0">
                <a:solidFill>
                  <a:srgbClr val="152235"/>
                </a:solidFill>
                <a:latin typeface="Calibri"/>
              </a:rPr>
              <a:t>Presenter-only frames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42432" y="4992624"/>
            <a:ext cx="1755648" cy="1005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0" i="0">
                <a:solidFill>
                  <a:srgbClr val="152235"/>
                </a:solidFill>
                <a:latin typeface="Calibri"/>
              </a:rPr>
              <a:t>excluded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62672" y="4992624"/>
            <a:ext cx="2578608" cy="1005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0" i="0">
                <a:solidFill>
                  <a:srgbClr val="152235"/>
                </a:solidFill>
                <a:latin typeface="Calibri"/>
              </a:rPr>
              <a:t>not used as deck visuals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172200"/>
            <a:ext cx="932688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0" i="0">
                <a:solidFill>
                  <a:srgbClr val="607083"/>
                </a:solidFill>
                <a:latin typeface="Calibri"/>
              </a:rPr>
              <a:t>Inventory source: ai-agents-new-saas-visual-inventory-v2.md.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94415" y="6217920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607083"/>
                </a:solidFill>
                <a:latin typeface="Calibr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