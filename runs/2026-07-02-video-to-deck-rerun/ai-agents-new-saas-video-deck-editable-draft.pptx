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VIDEO-TO-DECK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33856"/>
            <a:ext cx="859536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7680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F4F7F8"/>
                </a:solidFill>
                <a:latin typeface="Calibri"/>
              </a:rPr>
              <a:t>Editable branded deck rebuilt from cached transcript and hyperframes.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16352"/>
            <a:ext cx="3749039" cy="1874519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926080"/>
            <a:ext cx="349300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Core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3255264"/>
            <a:ext cx="3493007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FFFFFF"/>
                </a:solidFill>
                <a:latin typeface="Calibri"/>
              </a:rPr>
              <a:t>The opportunity is a narrow, repeated human workflow that can be observed, specified, piloted, and productized.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816352"/>
            <a:ext cx="1920240" cy="1874519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8616" y="2926080"/>
            <a:ext cx="16642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3255264"/>
            <a:ext cx="1664208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FFFFFF"/>
                </a:solidFill>
                <a:latin typeface="Calibri"/>
              </a:rPr>
              <a:t>7 content hyperframes
5 talking-head frames excluded
0 screenshots inserted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816352"/>
            <a:ext cx="3611880" cy="1874519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4616" y="2926080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Deck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4616" y="3255264"/>
            <a:ext cx="3355848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FFFFFF"/>
                </a:solidFill>
                <a:latin typeface="Calibri"/>
              </a:rPr>
              <a:t>Every diagram is recreated with editable PowerPoint shapes, text, and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All Hyperframes Are Accounted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Content frames are recreated; presenter-only frames are excluded.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0195559" cy="3474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41732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709928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09928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Disposition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39112"/>
            <a:ext cx="10195559" cy="38404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12264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12264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Unit economics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12264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Editable slide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78024"/>
            <a:ext cx="1019555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51176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551176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Workflow scorecard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551176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Editable slide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16936"/>
            <a:ext cx="10195559" cy="38404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990088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Shadow/spec/trust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90088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Editable slide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55848"/>
            <a:ext cx="1019555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429000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Agentic workflows text slide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429000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Editable slide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94760"/>
            <a:ext cx="10195559" cy="38404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67912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867912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Wrapper/control-room/trust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867912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Editable slide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33672"/>
            <a:ext cx="1019555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06824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0008/0009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306824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Pilot/pricing/product pattern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306824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8F75"/>
                </a:solidFill>
                <a:latin typeface="Calibri"/>
              </a:rPr>
              <a:t>Editable slide 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72584"/>
            <a:ext cx="10195559" cy="38404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45736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1B2B3C"/>
                </a:solidFill>
                <a:latin typeface="Calibri"/>
              </a:rPr>
              <a:t>0002, 0005, 0010+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745736"/>
            <a:ext cx="5029200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Talking-head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745736"/>
            <a:ext cx="374903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Excluded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Manifest: ai-agents-new-saas-hyperframes.md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Agents Win When Unit Economics Compress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from frame_0001 as editable table and callouts.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109441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Cost per customer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84247"/>
            <a:ext cx="19842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Human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313431"/>
            <a:ext cx="1984248" cy="521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$3.00-$6.00
per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219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874519"/>
            <a:ext cx="2240280" cy="105156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984247"/>
            <a:ext cx="19842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AI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313431"/>
            <a:ext cx="1984248" cy="521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$0.25-$0.50
per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011680"/>
            <a:ext cx="233172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90% lower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01568"/>
            <a:ext cx="8138160" cy="31089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474720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First response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474720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5B6B7C"/>
                </a:solidFill>
                <a:latin typeface="Calibri"/>
              </a:rPr>
              <a:t>Human: 6+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474720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8F75"/>
                </a:solidFill>
                <a:latin typeface="Calibri"/>
              </a:rPr>
              <a:t>AI: &lt;4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155448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98% faster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8138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822192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Resolution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822192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5B6B7C"/>
                </a:solidFill>
                <a:latin typeface="Calibri"/>
              </a:rPr>
              <a:t>Human: 32+ hrs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822192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8F75"/>
                </a:solidFill>
                <a:latin typeface="Calibri"/>
              </a:rPr>
              <a:t>AI: 32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22192"/>
            <a:ext cx="155448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98% faster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96512"/>
            <a:ext cx="8138160" cy="31089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169664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ROI year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169664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5B6B7C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169664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8F75"/>
                </a:solidFill>
                <a:latin typeface="Calibri"/>
              </a:rPr>
              <a:t>41%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169664"/>
            <a:ext cx="155448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43984"/>
            <a:ext cx="81381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517136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ROI year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517136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5B6B7C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517136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8F75"/>
                </a:solidFill>
                <a:latin typeface="Calibri"/>
              </a:rPr>
              <a:t>87%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517136"/>
            <a:ext cx="155448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91456"/>
            <a:ext cx="8138160" cy="31089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864608"/>
            <a:ext cx="21031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1B2B3C"/>
                </a:solidFill>
                <a:latin typeface="Calibri"/>
              </a:rPr>
              <a:t>ROI year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864608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5B6B7C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864608"/>
            <a:ext cx="164592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8F75"/>
                </a:solidFill>
                <a:latin typeface="Calibri"/>
              </a:rPr>
              <a:t>124%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864608"/>
            <a:ext cx="1554480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Recreated from frame_0001; no screenshot embedded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from frame_0003 as an editable scoring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38528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267712"/>
            <a:ext cx="1572768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daily / hourly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82880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938528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267712"/>
            <a:ext cx="1572768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missed calls
slow replies
dropped leads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82880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1938528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Pattern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267712"/>
            <a:ext cx="1572768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booking
triage
approval
chase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82880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1938528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2267712"/>
            <a:ext cx="1572768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Gmail
Slack
dialer
calendar
app/form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2880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938528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267712"/>
            <a:ext cx="1572768" cy="886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employee
agency
VA
BPO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22191"/>
            <a:ext cx="9784080" cy="658368"/>
          </a:xfrm>
          <a:prstGeom prst="roundRect">
            <a:avLst>
              <a:gd name="adj" fmla="val 8000"/>
            </a:avLst>
          </a:prstGeom>
          <a:solidFill>
            <a:srgbClr val="F4DFE8"/>
          </a:solidFill>
          <a:ln w="12700">
            <a:solidFill>
              <a:srgbClr val="E0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41648"/>
            <a:ext cx="92354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First rep: pick one niche -&gt; list 20 annoying jobs -&gt; score each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Recreated from frame_0003; presenter crop excluded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Shadow The Human Before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from frame_0004 as an editable three-step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3852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Watch 10-20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2121408" cy="9326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screen record
narrate steps
copy/paste spots
edge cases
manager approvals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505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288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4EFD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4216" y="193852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Extract the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2267712"/>
            <a:ext cx="2121408" cy="9326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trigger
context
tools
rules
approval
escalation
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505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8288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193852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Trusted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6" y="2267712"/>
            <a:ext cx="2121408" cy="9326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knows the job
knows if stuck
knows when to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Example: home services CSR. Ready during urgency, service area, capacity, membership, financing, and job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Recreated from frame_0004; no screenshot embedded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Agentic Workflows Need A Control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from frame_0006 as an editable summary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94415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Agentic workflows define how agents operate, communicate, hand off tasks, and collaborate.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800600" cy="1874519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624328"/>
            <a:ext cx="45445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Sequential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953512"/>
            <a:ext cx="4544568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Predetermined control flow with defined execution paths. Best for repeatable processes such as document approval chains or compliance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514600"/>
            <a:ext cx="4800600" cy="1874519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2624328"/>
            <a:ext cx="45445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Hierarchical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953512"/>
            <a:ext cx="4544568" cy="13441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Structured delegation and review. Best when work needs oversight, escalation, and quality control across agent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Recreated from frame_0006; presenter crop excluded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Wrapper Turns Work Into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from frame_0007 as an editable control-room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84247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AI worker does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13431"/>
            <a:ext cx="1755648" cy="521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Agent executes the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2219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27632"/>
            <a:ext cx="2331720" cy="1554480"/>
          </a:xfrm>
          <a:prstGeom prst="roundRect">
            <a:avLst>
              <a:gd name="adj" fmla="val 12000"/>
            </a:avLst>
          </a:prstGeom>
          <a:solidFill>
            <a:srgbClr val="F4EFD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737360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Control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066544"/>
            <a:ext cx="2075688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logs
approvals
settings
handoffs
analytics
policy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2219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74519"/>
            <a:ext cx="2103120" cy="105156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1984247"/>
            <a:ext cx="184708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Customer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313431"/>
            <a:ext cx="1847088" cy="5212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what happened?
why?
what needs review?
where did it fail?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96512"/>
            <a:ext cx="9418320" cy="621792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315968"/>
            <a:ext cx="89611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Eval gym: 50 real calls / tickets / leads -&gt; run the agent -&gt; find failure modes -&gt; improve.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Recreated from frame_0007; no screenshot embedded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Sell The Pilot Like Labor, Then Productize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Recreated from frames_0008 and 0009 as editable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560320" cy="132588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38528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Pilot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67712"/>
            <a:ext cx="230428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We will answer and qualify missed calls.
We will triage maintenance requests.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82880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E6F0F7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5655" y="1938528"/>
            <a:ext cx="19842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Simple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5" y="2267712"/>
            <a:ext cx="198424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$1,500 setup
+ $1,000/mo
or
$30/booked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8288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1938528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Product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2267712"/>
            <a:ext cx="221284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Same scripts
Same rules
Same controls
Same emails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A1628"/>
                </a:solidFill>
                <a:latin typeface="Calibri"/>
              </a:rPr>
              <a:t>You earn the software by doing the work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Recreated from frames_0008 and 0009; duplicate presenter position excluded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30-Day Path Turns Proof Into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Synthesized from transcript, using the same editable visual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148840" cy="150876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84247"/>
            <a:ext cx="18928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Days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13431"/>
            <a:ext cx="1892808" cy="9784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Pick niche
Shadow workflow
Write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4505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148840" cy="150876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984247"/>
            <a:ext cx="18928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313431"/>
            <a:ext cx="1892808" cy="9784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Build narrow workflow pilot
Define 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4505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874519"/>
            <a:ext cx="2148840" cy="1508760"/>
          </a:xfrm>
          <a:prstGeom prst="roundRect">
            <a:avLst>
              <a:gd name="adj" fmla="val 12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5" y="1984247"/>
            <a:ext cx="18928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Weeks 2-3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5" y="2313431"/>
            <a:ext cx="1892808" cy="9784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Sell two pilots
Same niche
Same 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50592"/>
            <a:ext cx="320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19" y="1874519"/>
            <a:ext cx="2148840" cy="1508760"/>
          </a:xfrm>
          <a:prstGeom prst="roundRect">
            <a:avLst>
              <a:gd name="adj" fmla="val 12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5" y="1984247"/>
            <a:ext cx="189280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5" y="2313431"/>
            <a:ext cx="1892808" cy="9784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1B2B3C"/>
                </a:solidFill>
                <a:latin typeface="Calibri"/>
              </a:rPr>
              <a:t>Package repeated pattern
Start productizing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Decision gate: scale only after the same painful workflow repeats across buyers.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Transcript synthesis around 22:06-25:30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Markdown Is Source, PPTX Is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corrected workflow keeps evidence files, but ships editable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715000" cy="3246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Research Markdown: transcript synthesis, claims, citations, speaker notes.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Hyperframe manifest: every image classified and accounted for.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Excalidraw: editable concept source when useful.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PPTX: editable shapes, text boxes, tables, and diagrams.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Screenshots: excluded from main slides unless explicitly requested as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828800"/>
            <a:ext cx="3840480" cy="201168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57416" y="1938528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Correct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7416" y="2267712"/>
            <a:ext cx="3584448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FFFFFF"/>
                </a:solidFill>
                <a:latin typeface="Calibri"/>
              </a:rPr>
              <a:t>ai-agents-new-saas-video-deck-editable-draft.pptx
Status: draft until PowerPoint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71616"/>
            <a:ext cx="11094415" cy="237744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117336"/>
            <a:ext cx="10874959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08F75"/>
                </a:solidFill>
                <a:latin typeface="Calibri"/>
              </a:rPr>
              <a:t>Workflow rule now blocks screenshot-based deck visuals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Video-to-Deck | editable recreation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