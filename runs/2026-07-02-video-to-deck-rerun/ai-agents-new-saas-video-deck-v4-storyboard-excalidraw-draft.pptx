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VIDEO-TO-DECK 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FFFF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7040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40" b="0" i="0">
                <a:solidFill>
                  <a:srgbClr val="DCE6EF"/>
                </a:solidFill>
                <a:latin typeface="Calibri"/>
              </a:rPr>
              <a:t>Storyboard rebuilt from transcript notes, dense hyperframes, screen-change captures, and Excalidraw-created visuals.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926080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35808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Intro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7912" y="2926080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40" y="3035808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Product is the job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22592" y="2926080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035808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Workflow 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547872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Shadow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67912" y="3547872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3657600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Minimum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22592" y="3547872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3657600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Wrapper + evals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9664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79392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Pilot pricing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67912" y="4169664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4279392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Own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22592" y="4169664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4279392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30-day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AAB6C4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5156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thesis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452360" cy="42454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234440"/>
            <a:ext cx="3063240" cy="4370832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499616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1847088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Agent SaaS sells work as a service; the product is the job itself, priced like labor.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907792"/>
            <a:ext cx="2542032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Core shift: buyer pays for completed work, not software access.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Implication: package a narrow job before building a broad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8046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5B6B7C"/>
                </a:solidFill>
                <a:latin typeface="Calibri"/>
              </a:rPr>
              <a:t>Editable source: ai-agents-new-saas-v3-thesis-workflow.excalidraw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1. THE PRODUCT IS THE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SaaS sells software; agent SaaS sells completed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5156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market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452360" cy="413689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234440"/>
            <a:ext cx="3063240" cy="4370832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499616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1847088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Package a job the customer's team can hand off entirely, then sell the outcome as a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907792"/>
            <a:ext cx="2542032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Claim: the job becomes the product surface.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Builder move: define the outcome, SLA, handoff, and exception policy.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8046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5B6B7C"/>
                </a:solidFill>
                <a:latin typeface="Calibri"/>
              </a:rPr>
              <a:t>Editable source: ai-agents-new-saas-v3-market-context.excalidraw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2. REAL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Slang AI and Same Day make the pattern concrete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5156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wedge-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452360" cy="42454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234440"/>
            <a:ext cx="3063240" cy="4370832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499616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1847088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Restaurants, home services, property services, and contact centers show where annoying jobs already have budget.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907792"/>
            <a:ext cx="2542032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Named proof: reception, dispatch, reservation, and triage workflows already have spend.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Pattern: beat junior labor on speed, consistency, and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8046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5B6B7C"/>
                </a:solidFill>
                <a:latin typeface="Calibri"/>
              </a:rPr>
              <a:t>Editable source: ai-agents-new-saas-v3-wedge-examples.excalidraw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3. PICK A WORKFLOW WITH A PAYCHECK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Start with money already flowing to a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5156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workflow-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452360" cy="42454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234440"/>
            <a:ext cx="3063240" cy="4370832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499616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1847088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Score frequency, pain, finish-line clarity, software touchpoints, edge cases, and budget owner.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907792"/>
            <a:ext cx="2542032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Decision rule: no budget owner, no wedge.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First rep: one niche, 20 annoying jobs, score before building.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8046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5B6B7C"/>
                </a:solidFill>
                <a:latin typeface="Calibri"/>
              </a:rPr>
              <a:t>Editable source: ai-agents-new-saas-v3-workflow-scorecard.excalidraw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4. SHADOW THE HUMAN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Watch 10-20 real jobs before writing a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5156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shadow-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452360" cy="42454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234440"/>
            <a:ext cx="3063240" cy="4370832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499616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1847088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The hidden workflow is what they check, where mistakes happen, and what makes cases weird.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907792"/>
            <a:ext cx="2542032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detail is the product: hidden checks, weird cases, approvals.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Output: trigger, context, tools, actions, approvals, escalation, success.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8046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5B6B7C"/>
                </a:solidFill>
                <a:latin typeface="Calibri"/>
              </a:rPr>
              <a:t>Editable source: ai-agents-new-saas-v3-shadow-human.excalidraw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5. BUILD THE MINIMUM USEFUL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Earn autonomy one bounded loop at a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5156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smallest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452360" cy="42454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234440"/>
            <a:ext cx="3063240" cy="4370832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499616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1847088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Start with draft-and-approve, triage, coordinator, or bounded action before adding judgment.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907792"/>
            <a:ext cx="2542032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Scope discipline: start as assistive, then earn autonomy.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Good first shapes: draft, triage, coordinate, bounded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8046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5B6B7C"/>
                </a:solidFill>
                <a:latin typeface="Calibri"/>
              </a:rPr>
              <a:t>Editable source: ai-agents-new-saas-v3-smallest-agent.excalidraw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6. PRODUCT WRAPPER AND EVALS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wrapper turns automation into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5156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wrapper-sa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452360" cy="42454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234440"/>
            <a:ext cx="3063240" cy="4370832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499616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1847088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Logs, approvals, controls, handoff rules, analytics, and evals create the trust customers pay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907792"/>
            <a:ext cx="2542032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Trust is the product wrapper, not a nice-to-have.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Build evals from 50 real examples and improve like a gym.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8046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5B6B7C"/>
                </a:solidFill>
                <a:latin typeface="Calibri"/>
              </a:rPr>
              <a:t>Editable source: ai-agents-new-saas-v3-wrapper-saas.excalidraw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7. SELL THE PILOT LIKE LABOR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Three customers, one niche, one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5156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pilot-product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452360" cy="42454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234440"/>
            <a:ext cx="3063240" cy="4370832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499616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1847088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Charge setup plus monthly first, then move toward usage or outcome pricing as value becomes clear.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907792"/>
            <a:ext cx="2542032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Sell the outcome first; productize after repetition appears.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Pricing path: setup + monthly -&gt; usage -&gt; outcome pricing.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8046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5B6B7C"/>
                </a:solidFill>
                <a:latin typeface="Calibri"/>
              </a:rPr>
              <a:t>Editable source: ai-agents-new-saas-v3-pilot-productize.excalidraw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8. OWN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moat is the operating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5156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own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452360" cy="42454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234440"/>
            <a:ext cx="3063240" cy="4370832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499616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1847088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Context, policy, exceptions, and evals become the product's defensibility.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907792"/>
            <a:ext cx="2542032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Moat: accumulated workflow context and exception handling.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Defensibility comes from owning the operating loop end to 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8046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5B6B7C"/>
                </a:solidFill>
                <a:latin typeface="Calibri"/>
              </a:rPr>
              <a:t>Editable source: ai-agents-new-saas-v3-own-workflow.excalidraw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DISTRIBUTION AND 30-DAY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Win attention with workflow teardowns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5156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4-zero-to-100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452360" cy="42454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234440"/>
            <a:ext cx="3063240" cy="4370832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499616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1847088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Show the painful old way, show the smooth agent way, publish proof, then put ads behind winners.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907792"/>
            <a:ext cx="2542032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Distribution asset: old way vs agent way teardown.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30-day motion: niche, shadow, agent, pilots, 50 proof posts.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8046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5B6B7C"/>
                </a:solidFill>
                <a:latin typeface="Calibri"/>
              </a:rPr>
              <a:t>Editable source: ai-agents-new-saas-v4-zero-to-100-plan.excalidraw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CLOSING THOUGHTS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Start with the job; build the agent people pay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5156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coverage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452360" cy="42454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234440"/>
            <a:ext cx="3063240" cy="4370832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499616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3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1847088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Dense hyperframes are accounted for; presenter-only frames are excluded from main slides.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907792"/>
            <a:ext cx="2542032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Final recommendation: stop brainstorming agents; choose a paid job.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Deck audit: screen changes are captured, grouped, and redrawn.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80467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5B6B7C"/>
                </a:solidFill>
                <a:latin typeface="Calibri"/>
              </a:rPr>
              <a:t>Editable source: ai-agents-new-saas-v3-coverage-map.excalidraw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