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VIDEO-TO-DECK REBUILT FROM HYPERFRAMES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narrow workflow with a paycheck attached becomes an agent business when the operator workflow is observed, encoded, controlled, piloted, and then productized.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changed in this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27248"/>
            <a:ext cx="4389120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20" b="0" i="0">
                <a:solidFill>
                  <a:srgbClr val="F4F7F8"/>
                </a:solidFill>
                <a:latin typeface="Calibri"/>
              </a:rPr>
              <a:t>•  No original hyperframe screenshots inserted.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20" b="0" i="0">
                <a:solidFill>
                  <a:srgbClr val="F4F7F8"/>
                </a:solidFill>
                <a:latin typeface="Calibri"/>
              </a:rPr>
              <a:t>•  Every meaningful visual frame has an Excalidraw source file.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20" b="0" i="0">
                <a:solidFill>
                  <a:srgbClr val="F4F7F8"/>
                </a:solidFill>
                <a:latin typeface="Calibri"/>
              </a:rPr>
              <a:t>•  Presenter-only frames are excluded.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20" b="0" i="0">
                <a:solidFill>
                  <a:srgbClr val="F4F7F8"/>
                </a:solidFill>
                <a:latin typeface="Calibri"/>
              </a:rPr>
              <a:t>•  Markdown remains audit/source material, not the deliverable.</a:t>
            </a:r>
          </a:p>
        </p:txBody>
      </p:sp>
      <p:pic>
        <p:nvPicPr>
          <p:cNvPr id="9" name="Picture 8" descr="ai-agents-new-saas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17320"/>
            <a:ext cx="5349240" cy="3047313"/>
          </a:xfrm>
          <a:prstGeom prst="rect">
            <a:avLst/>
          </a:prstGeom>
        </p:spPr>
      </p:pic>
      <p:pic>
        <p:nvPicPr>
          <p:cNvPr id="10" name="Picture 9" descr="ai-agents-new-saas-workflow-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749039"/>
            <a:ext cx="5349240" cy="30473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C6D0DA"/>
                </a:solidFill>
                <a:latin typeface="Calibri"/>
              </a:rPr>
              <a:t>Status: draft. Visual layer is Excalidraw-generated; editable .excalidraw sources are delivered alongside.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STORYBOARD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Storyline Comes From The Video, Not From A Text Dump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BLUF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8521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Calibri"/>
              </a:rPr>
              <a:t>The opportunity is not “build an agent.” The opportunity is to find a narrow, repeated, expensive human workflow and productize it after the pattern repeats.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88036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9008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99923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Economic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55848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Unit economics compress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1" y="3355848"/>
            <a:ext cx="301753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88036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9008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99923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Where to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55848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Paid workflow scorecard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5463" y="3355848"/>
            <a:ext cx="301753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48656" y="288036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99008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99923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How to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55848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Shadow the human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23175" y="3355848"/>
            <a:ext cx="301753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16368" y="288036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299008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99923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How to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3355848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Agentic control room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90887" y="3355848"/>
            <a:ext cx="301753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288036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99008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299923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How to 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3355848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Pilot first, productize second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Storyboard source: ai-agents-new-saas-storyboard.md; ai-analyst unavailable, strategy-consulting fallback used.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FRAME_0001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Agents Win When Unit Economics Compress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78" y="1298448"/>
            <a:ext cx="7672539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AI is compelling where labor cost is frequent and measurable.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Speed and cost both improve, creating a budget wedge.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buyer case starts with operating economics, not novelty.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ai-agents-new-saas-unit-economics.excalidraw,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FRAME_0003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78" y="1298448"/>
            <a:ext cx="7672539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Search where frequency, pain, tools, and budget overlap.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first niche should have repeatable jobs with a clear finish line.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A scorecard beats brainstorming generic agent ideas.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ai-agents-new-saas-workflow-scorecard.excalidraw,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FRAME_0004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Shadow The Human Before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78" y="1298448"/>
            <a:ext cx="7672539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real spec lives in observed work, exceptions, and approvals.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Ten to twenty workflow runs reveal hidden rules.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agent must know when it is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ai-agents-new-saas-shadow-human.excalidraw,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FRAME_0006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Agentic Workflows Need A Control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65" y="1298448"/>
            <a:ext cx="9766765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Agents require predefined operating patterns.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Sequential flow handles repeatable paths.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Hierarchical flow handles review and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ai-agents-new-saas-agentic-workflows.excalidraw,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FRAME_0007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Wrapper Turns Work Into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78" y="1298448"/>
            <a:ext cx="7672539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agent does work; the wrapper creates trust.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Logs, approvals, settings, handoffs, analytics, and policy matter.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Control surfaces make the product buyable.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ai-agents-new-saas-wrapper-saas.excalidraw,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RECREATED FROM FRAMES_0008/0009 IN EXCALIDRAW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Sell The Pilot Like Labor, Then Productize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78" y="1298448"/>
            <a:ext cx="7672539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389888"/>
            <a:ext cx="2029968" cy="3429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609344"/>
            <a:ext cx="16276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572768" cy="2542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Start as a service promise against a specific job.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Use simple pricing buyers already understand.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Productize only after the same workflow repeats.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Deck visual is rendered from ai-agents-new-saas-pilot-productize.excalidraw, not a source hyperframe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TRANSCRIPT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30-Day Path Turns Proof Into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10512"/>
            <a:ext cx="15819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Days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39696"/>
            <a:ext cx="15819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Pick one niche
List 20 annoying jobs
Score for pain + budget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7" y="2578608"/>
            <a:ext cx="283465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8648" y="1664208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810512"/>
            <a:ext cx="15819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Days 4-7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139696"/>
            <a:ext cx="15819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Shadow real operators
Extract trigger/rules/escalation
Define success metric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578608"/>
            <a:ext cx="283464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38928" y="1664208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810512"/>
            <a:ext cx="15819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139696"/>
            <a:ext cx="15819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Build narrow pilot
Use real tickets/calls/leads
Create control room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3448" y="2578608"/>
            <a:ext cx="283464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79208" y="1664208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1810512"/>
            <a:ext cx="15819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139696"/>
            <a:ext cx="15819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Sell 2-3 pilots
Same niche
Same workflow
Same promise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53728" y="2578608"/>
            <a:ext cx="283464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19488" y="1664208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1810512"/>
            <a:ext cx="15819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139696"/>
            <a:ext cx="1581911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Package the pattern
Lock repeatable rules
Prepare SaaS wrapper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160520"/>
            <a:ext cx="9966960" cy="676656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407408"/>
            <a:ext cx="9372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FFFFFF"/>
                </a:solidFill>
                <a:latin typeface="Calibri"/>
              </a:rPr>
              <a:t>Decision gate: productize only after the same painful workflow repeats across buyers.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This slide is synthesized from transcript notes; it is not a missing hyperframe substitute.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754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DELIVERY PACKAGE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Every Meaningful Hyperframe Has An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86410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50492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650492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1650492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Editable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650492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56816"/>
            <a:ext cx="8641080" cy="34747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039112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039112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unit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039112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ai-agents-new-saas-unit-economics.excalidraw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039112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86583"/>
            <a:ext cx="8641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468879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468879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workflow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468879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ai-agents-new-saas-workflow-scorecard.excalidraw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468879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816352"/>
            <a:ext cx="8641080" cy="34747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898648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2898648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shadow human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898648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ai-agents-new-saas-shadow-human.excalidraw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898648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46119"/>
            <a:ext cx="8641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328415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3328415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agentic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3328415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ai-agents-new-saas-agentic-workflows.excalidraw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3328415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675888"/>
            <a:ext cx="8641080" cy="34747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58184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3758184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wrapper 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3758184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ai-agents-new-saas-wrapper-saas.excalidraw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3758184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105655"/>
            <a:ext cx="8641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187951"/>
            <a:ext cx="7406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0008/0009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2" y="4187951"/>
            <a:ext cx="192938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pilot to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5032" y="4187951"/>
            <a:ext cx="462686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ai-agents-new-saas-pilot-productize.excalidraw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4187951"/>
            <a:ext cx="8321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slide 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1664208"/>
            <a:ext cx="1627632" cy="310896"/>
          </a:xfrm>
          <a:prstGeom prst="roundRect">
            <a:avLst>
              <a:gd name="adj" fmla="val 12000"/>
            </a:avLst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1741932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E05A6B"/>
                </a:solidFill>
                <a:latin typeface="Calibri"/>
              </a:rPr>
              <a:t>Screenshots excluded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2103120"/>
            <a:ext cx="1627632" cy="310896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21808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8F75"/>
                </a:solidFill>
                <a:latin typeface="Calibri"/>
              </a:rPr>
              <a:t>Excalidraw source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542032"/>
            <a:ext cx="1627632" cy="310896"/>
          </a:xfrm>
          <a:prstGeom prst="roundRect">
            <a:avLst>
              <a:gd name="adj" fmla="val 12000"/>
            </a:avLst>
          </a:prstGeom>
          <a:solidFill>
            <a:srgbClr val="F7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2619756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9A6A00"/>
                </a:solidFill>
                <a:latin typeface="Calibri"/>
              </a:rPr>
              <a:t>PPTX packaged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4846320"/>
            <a:ext cx="877824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A1628"/>
                </a:solidFill>
                <a:latin typeface="Calibri"/>
              </a:rPr>
              <a:t>The PPTX embeds rendered Excalidraw previews for presentation quality. Edit the actual drawings in the paired .excalidraw files, then re-export/rebuild.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53912"/>
            <a:ext cx="9509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Manifest: ai-agents-new-saas-hyperframes.md. Visual spec: ai-agents-new-saas-visual-spec.json.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Excalidraw recreation package | Draft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