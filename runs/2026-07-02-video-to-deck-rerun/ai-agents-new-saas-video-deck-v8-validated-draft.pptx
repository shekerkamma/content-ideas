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98280" y="0"/>
            <a:ext cx="309067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00C9A7"/>
                </a:solidFill>
                <a:latin typeface="Calibri"/>
              </a:rPr>
              <a:t>EXECUTIVE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7589520" cy="7863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500" b="1" i="0">
                <a:solidFill>
                  <a:srgbClr val="FFFFFF"/>
                </a:solidFill>
                <a:latin typeface="Calibri"/>
              </a:rPr>
              <a:t>AI Agents Are The New SaaS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57984"/>
            <a:ext cx="1325880" cy="502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713232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20" b="0" i="0">
                <a:solidFill>
                  <a:srgbClr val="DCE6EF"/>
                </a:solidFill>
                <a:latin typeface="Calibri"/>
              </a:rPr>
              <a:t>A practical playbook for turning AI agents into workflow businesses.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4032" y="3127248"/>
            <a:ext cx="4041648" cy="201168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-agents-new-saas-v3-thesis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3255264"/>
            <a:ext cx="3049754" cy="1737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663440"/>
            <a:ext cx="6309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FFB800"/>
                </a:solidFill>
                <a:latin typeface="Calibri"/>
              </a:rPr>
              <a:t>From product idea to sellable workflow wedge.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Agent SaaS succeeds when it sells a finished job, not another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11094415" cy="74980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106070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FFB800"/>
                </a:solidFill>
                <a:latin typeface="Calibri"/>
              </a:rPr>
              <a:t>BOTTOM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1572768"/>
            <a:ext cx="953993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70" b="1" i="0">
                <a:solidFill>
                  <a:srgbClr val="FFFFFF"/>
                </a:solidFill>
                <a:latin typeface="Calibri"/>
              </a:rPr>
              <a:t>The strongest opportunity is a narrow, high-frequency workflow with budget, a clear finish line, and a trust wrapper.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15184"/>
            <a:ext cx="3401568" cy="1554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15184"/>
            <a:ext cx="54864" cy="15544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852928"/>
            <a:ext cx="29443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Where to 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273552"/>
            <a:ext cx="2889504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Choose a service workflow already funded by headcount, agencies, or outsourcing.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2615184"/>
            <a:ext cx="3401568" cy="1554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2615184"/>
            <a:ext cx="54864" cy="15544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852928"/>
            <a:ext cx="29443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How to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273552"/>
            <a:ext cx="2889504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Observe real operators, extract the workflow spec, and ship the smallest useful agent.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4" y="2615184"/>
            <a:ext cx="3401568" cy="15544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2615184"/>
            <a:ext cx="54864" cy="15544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2852928"/>
            <a:ext cx="294436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20" b="1" i="0">
                <a:solidFill>
                  <a:srgbClr val="0A1628"/>
                </a:solidFill>
                <a:latin typeface="Calibri"/>
              </a:rPr>
              <a:t>How to win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3273552"/>
            <a:ext cx="2889504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Sell pilots like labor, then productize the repeated operating loop with controls and evals.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28032"/>
            <a:ext cx="11094415" cy="585216"/>
          </a:xfrm>
          <a:prstGeom prst="roundRect">
            <a:avLst>
              <a:gd name="adj" fmla="val 5000"/>
            </a:avLst>
          </a:prstGeom>
          <a:solidFill>
            <a:srgbClr val="FFF4CF"/>
          </a:solidFill>
          <a:ln w="12700">
            <a:solidFill>
              <a:srgbClr val="F2D9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029200"/>
            <a:ext cx="84124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0A1628"/>
                </a:solidFill>
                <a:latin typeface="Calibri"/>
              </a:rPr>
              <a:t>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0784" y="4992624"/>
            <a:ext cx="9741103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10" b="1" i="0">
                <a:solidFill>
                  <a:srgbClr val="0A1628"/>
                </a:solidFill>
                <a:latin typeface="Calibri"/>
              </a:rPr>
              <a:t>Prioritize one niche and score 20 candidate workflows before committing build effort.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MARKET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Agent SaaS expands the market from software seats to work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The transcript frames the opportunity as software moving from helping people do work to doing work with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market anchor is labor, not just software seats.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offer must map to work already being paid for.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first product should be narrow enough to explain.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market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560" y="1536192"/>
            <a:ext cx="6523053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Start with the paid work, then package the software around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CORE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The product is the job the customer can hand 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A credible agent business owns a narrow workflow end to end: trigger, context, tools, decisions, and escalation.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Paid workflow -&gt; observed spec -&gt; agent business.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Narrow scope makes the offer explainable.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Trust is designed into the handoff.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thesis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If the job cannot be named, the agent cannot be sold.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The labor comparison sets the value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The speaker’s mental model is one annoying job done better than a junior employee, faster than an agency, and cheaper than headcount.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Labor spend sets the buyer comparison.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Repeated jobs make the promise easier to prove.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Bounded work keeps pricing and quality visible.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unit-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Price against the work being replaced, not abstract productivity.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The best wedges are boring service workflows with visible labor spend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Restaurants, home services, property operations, and contact centers show the repeatable pattern.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Reception and dispatch already have budget.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Missed work creates obvious pain.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buyer compares against headcount or agencies.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wedge-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Boring operations are better first markets than broad AI productivity.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WORKFLOW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Pick a workflow with a paycheck attached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The transcript’s selection rule is direct: start where people already pay an employee, agency, receptionist, coordinator, or dispatcher.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Score 20 jobs in one niche.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Use frequency, pain, finish line, tools, and budget owner.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Prefer learnable edge cases over pure human judgment.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workflow-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No budget owner, no wedge.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Shadow the human before writing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The product spec is hidden in what operators check, where mistakes happen, and when cases become weird.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Observe 10-20 real cases.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Record tacit checks and exception paths.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Convert observation into acceptance criteria.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shadow-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The detail is the product.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FIRST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Build the minimum useful agent before chasing autonomy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The transcript says to start smaller than the fully autonomous employee fantasy.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Draft and approve.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Triage.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Coordinator.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Bounded 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smallest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Earn autonomy one bounded loop at a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WORKFLOW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Most agent products start as predictable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The transcript cites the idea that many agent problems should start as workflows because workflows follow predictable paths.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Predictable path first.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Add judgment only where it creates value.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Keep escalation explicit.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agentic-work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Design the workflow before expanding the agent.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TRUST WRAPPER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The wrapper is what turns automation into SaaS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Logs, approvals, controls, handoffs, analytics, and evals are the product layer customers pay to trust.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agent does the job.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control room proves what happened.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Evals make quality improvable.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wrapper-sa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A demo shows automation; the wrapper earns production trust.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COMMERCIALIZATION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Sell the pilot like labor, then productize the repeated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Early sales work when the buyer sees a familiar capacity purchase with a better operating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Three same-niche customers.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Setup plus monthly first.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Usage or outcome pricing after proof.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pilot-product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Productization starts after repetition appears.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PRODUCTIZATION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Earn the software by doing the work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The transcript-supported productization path is to do the work, learn the repeated pattern, then build the product around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Manual-plus-AI pilots expose the repeated pattern.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Repeated scripts and checks become software.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The product emerges from what customers repeatedly need.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3-own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Productization starts after the repeated pattern is visible.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41148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008F75"/>
                </a:solidFill>
                <a:latin typeface="Calibri"/>
              </a:rPr>
              <a:t>30-DAY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94415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50" b="1" i="0">
                <a:solidFill>
                  <a:srgbClr val="0A1628"/>
                </a:solidFill>
                <a:latin typeface="Calibri"/>
              </a:rPr>
              <a:t>Use workflow teardowns to turn the build into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78992"/>
            <a:ext cx="123444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27632"/>
            <a:ext cx="22860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8F75"/>
                </a:solidFill>
                <a:latin typeface="Calibri"/>
              </a:rPr>
              <a:t>Business implication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2395728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10" b="1" i="0">
                <a:solidFill>
                  <a:srgbClr val="0A1628"/>
                </a:solidFill>
                <a:latin typeface="Calibri"/>
              </a:rPr>
              <a:t>Show the painful old way, show the agent way, publish proof, and put spend behind the winners.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127248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Days 1-3: score jobs.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Week 1-2: shadow and build.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•  Week 3-4: pilot and publish.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7" y="1389888"/>
            <a:ext cx="7772400" cy="3931920"/>
          </a:xfrm>
          <a:prstGeom prst="roundRect">
            <a:avLst>
              <a:gd name="adj" fmla="val 6000"/>
            </a:avLst>
          </a:prstGeom>
          <a:solidFill>
            <a:srgbClr val="0B111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-agents-new-saas-v4-zero-to-100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922" y="1536192"/>
            <a:ext cx="6356329" cy="362102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58368" y="5669280"/>
            <a:ext cx="10881360" cy="512064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833872"/>
            <a:ext cx="87782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19" b="1" i="0">
                <a:solidFill>
                  <a:srgbClr val="FFB800"/>
                </a:solidFill>
                <a:latin typeface="Calibri"/>
              </a:rP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5797296"/>
            <a:ext cx="94640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FFFFFF"/>
                </a:solidFill>
                <a:latin typeface="Calibri"/>
              </a:rPr>
              <a:t>Distribution comes from making the painful workflow visible.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C9A7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412480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next move is to choose the workflow, not broaden the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57400"/>
            <a:ext cx="1298448" cy="502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3858768" cy="786384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4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3017520"/>
            <a:ext cx="347472" cy="31089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108960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2999232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Pick one niche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3273552"/>
            <a:ext cx="2889504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E0F7F1"/>
                </a:solidFill>
                <a:latin typeface="Calibri"/>
              </a:rPr>
              <a:t>Constrain the market before evaluating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834640"/>
            <a:ext cx="3858768" cy="786384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4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56632" y="3017520"/>
            <a:ext cx="347472" cy="31089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6632" y="3108960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6984" y="2999232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Score 20 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6984" y="3273552"/>
            <a:ext cx="2889504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E0F7F1"/>
                </a:solidFill>
                <a:latin typeface="Calibri"/>
              </a:rPr>
              <a:t>Prioritize frequency, pain, finish-line clarity, tools, and budget.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13632"/>
            <a:ext cx="3858768" cy="786384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4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4096512"/>
            <a:ext cx="347472" cy="31089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187952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3584" y="4078224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Shadow operators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352544"/>
            <a:ext cx="2889504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E0F7F1"/>
                </a:solidFill>
                <a:latin typeface="Calibri"/>
              </a:rPr>
              <a:t>Turn real work into the agent spec and trust model.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3913632"/>
            <a:ext cx="3858768" cy="786384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 w="12700">
            <a:solidFill>
              <a:srgbClr val="2440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56632" y="4096512"/>
            <a:ext cx="347472" cy="310896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2" y="4187952"/>
            <a:ext cx="347472" cy="731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4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6984" y="4078224"/>
            <a:ext cx="283464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Pilot the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86984" y="4352544"/>
            <a:ext cx="2889504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60" b="0" i="0">
                <a:solidFill>
                  <a:srgbClr val="E0F7F1"/>
                </a:solidFill>
                <a:latin typeface="Calibri"/>
              </a:rPr>
              <a:t>Sell the outcome first; productize after repetition appears.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97296"/>
            <a:ext cx="89611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1" i="0">
                <a:solidFill>
                  <a:srgbClr val="FFB800"/>
                </a:solidFill>
                <a:latin typeface="Calibri"/>
              </a:rPr>
              <a:t>Winning agent businesses are built around work customers already understand, fund, and want off their plate.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21263" y="6437376"/>
            <a:ext cx="65836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19" b="1" i="0">
                <a:solidFill>
                  <a:srgbClr val="5B6B7C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