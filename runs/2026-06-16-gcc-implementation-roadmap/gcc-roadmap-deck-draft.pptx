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963095" y="0"/>
            <a:ext cx="228600" cy="6858000"/>
          </a:xfrm>
          <a:prstGeom prst="rect">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935663" y="0"/>
            <a:ext cx="54864" cy="685800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777240"/>
            <a:ext cx="11094415" cy="365760"/>
          </a:xfrm>
          <a:prstGeom prst="rect">
            <a:avLst/>
          </a:prstGeom>
          <a:noFill/>
        </p:spPr>
        <p:txBody>
          <a:bodyPr wrap="square" anchor="t" lIns="0" rIns="0" tIns="0" bIns="0">
            <a:noAutofit/>
          </a:bodyPr>
          <a:lstStyle/>
          <a:p>
            <a:pPr algn="l">
              <a:lnSpc>
                <a:spcPct val="105000"/>
              </a:lnSpc>
              <a:spcBef>
                <a:spcPts val="0"/>
              </a:spcBef>
            </a:pPr>
            <a:r>
              <a:rPr sz="1300" b="1" i="0">
                <a:solidFill>
                  <a:srgbClr val="00C9A7"/>
                </a:solidFill>
                <a:latin typeface="Calibri"/>
              </a:rPr>
              <a:t>GCC IMPLEMENTATION ROADMAP</a:t>
            </a:r>
          </a:p>
        </p:txBody>
      </p:sp>
      <p:sp>
        <p:nvSpPr>
          <p:cNvPr id="7" name="TextBox 6"/>
          <p:cNvSpPr txBox="1"/>
          <p:nvPr/>
        </p:nvSpPr>
        <p:spPr>
          <a:xfrm>
            <a:off x="548640" y="1207008"/>
            <a:ext cx="7436815" cy="868680"/>
          </a:xfrm>
          <a:prstGeom prst="rect">
            <a:avLst/>
          </a:prstGeom>
          <a:noFill/>
        </p:spPr>
        <p:txBody>
          <a:bodyPr wrap="square" anchor="t" lIns="0" rIns="0" tIns="0" bIns="0">
            <a:normAutofit/>
          </a:bodyPr>
          <a:lstStyle/>
          <a:p>
            <a:pPr algn="l">
              <a:lnSpc>
                <a:spcPct val="105000"/>
              </a:lnSpc>
              <a:spcBef>
                <a:spcPts val="0"/>
              </a:spcBef>
            </a:pPr>
            <a:r>
              <a:rPr sz="5200" b="1" i="0">
                <a:solidFill>
                  <a:srgbClr val="FFFFFF"/>
                </a:solidFill>
                <a:latin typeface="Calibri"/>
              </a:rPr>
              <a:t>FPT Software</a:t>
            </a:r>
          </a:p>
        </p:txBody>
      </p:sp>
      <p:sp>
        <p:nvSpPr>
          <p:cNvPr id="8" name="Rectangle 7"/>
          <p:cNvSpPr/>
          <p:nvPr/>
        </p:nvSpPr>
        <p:spPr>
          <a:xfrm>
            <a:off x="548640" y="2176272"/>
            <a:ext cx="4572000" cy="5486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2331720"/>
            <a:ext cx="8351215" cy="685800"/>
          </a:xfrm>
          <a:prstGeom prst="rect">
            <a:avLst/>
          </a:prstGeom>
          <a:noFill/>
        </p:spPr>
        <p:txBody>
          <a:bodyPr wrap="square" anchor="t" lIns="0" rIns="0" tIns="0" bIns="0">
            <a:normAutofit/>
          </a:bodyPr>
          <a:lstStyle/>
          <a:p>
            <a:pPr algn="l">
              <a:lnSpc>
                <a:spcPct val="105000"/>
              </a:lnSpc>
              <a:spcBef>
                <a:spcPts val="0"/>
              </a:spcBef>
            </a:pPr>
            <a:r>
              <a:rPr sz="1800" b="0" i="0">
                <a:solidFill>
                  <a:srgbClr val="E0F7F1"/>
                </a:solidFill>
                <a:latin typeface="Calibri"/>
              </a:rPr>
              <a:t>From AI Mandate to Production AI — The Full Delivery Journey</a:t>
            </a:r>
          </a:p>
        </p:txBody>
      </p:sp>
      <p:sp>
        <p:nvSpPr>
          <p:cNvPr id="10" name="Rounded Rectangle 9"/>
          <p:cNvSpPr/>
          <p:nvPr/>
        </p:nvSpPr>
        <p:spPr>
          <a:xfrm>
            <a:off x="548640" y="3310128"/>
            <a:ext cx="3606698" cy="749808"/>
          </a:xfrm>
          <a:prstGeom prst="roundRect">
            <a:avLst>
              <a:gd name="adj" fmla="val 4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3310128"/>
            <a:ext cx="3606698"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3383280"/>
            <a:ext cx="3423818" cy="292608"/>
          </a:xfrm>
          <a:prstGeom prst="rect">
            <a:avLst/>
          </a:prstGeom>
          <a:noFill/>
        </p:spPr>
        <p:txBody>
          <a:bodyPr wrap="square" anchor="t" lIns="0" rIns="0" tIns="0" bIns="0">
            <a:normAutofit/>
          </a:bodyPr>
          <a:lstStyle/>
          <a:p>
            <a:pPr algn="ctr">
              <a:lnSpc>
                <a:spcPct val="105000"/>
              </a:lnSpc>
              <a:spcBef>
                <a:spcPts val="0"/>
              </a:spcBef>
            </a:pPr>
            <a:r>
              <a:rPr sz="1000" b="1" i="0">
                <a:solidFill>
                  <a:srgbClr val="FFFFFF"/>
                </a:solidFill>
                <a:latin typeface="Calibri"/>
              </a:rPr>
              <a:t>AI READINESS SPRINT</a:t>
            </a:r>
          </a:p>
        </p:txBody>
      </p:sp>
      <p:sp>
        <p:nvSpPr>
          <p:cNvPr id="13" name="TextBox 12"/>
          <p:cNvSpPr txBox="1"/>
          <p:nvPr/>
        </p:nvSpPr>
        <p:spPr>
          <a:xfrm>
            <a:off x="658368" y="3675887"/>
            <a:ext cx="3423818" cy="274320"/>
          </a:xfrm>
          <a:prstGeom prst="rect">
            <a:avLst/>
          </a:prstGeom>
          <a:noFill/>
        </p:spPr>
        <p:txBody>
          <a:bodyPr wrap="square" anchor="t" lIns="0" rIns="0" tIns="0" bIns="0">
            <a:normAutofit/>
          </a:bodyPr>
          <a:lstStyle/>
          <a:p>
            <a:pPr algn="ctr">
              <a:lnSpc>
                <a:spcPct val="105000"/>
              </a:lnSpc>
              <a:spcBef>
                <a:spcPts val="0"/>
              </a:spcBef>
            </a:pPr>
            <a:r>
              <a:rPr sz="1000" b="0" i="0">
                <a:solidFill>
                  <a:srgbClr val="FFB800"/>
                </a:solidFill>
                <a:latin typeface="Calibri"/>
              </a:rPr>
              <a:t>Wks 1–8 · $150K–$250K</a:t>
            </a:r>
          </a:p>
        </p:txBody>
      </p:sp>
      <p:sp>
        <p:nvSpPr>
          <p:cNvPr id="14" name="Rounded Rectangle 13"/>
          <p:cNvSpPr/>
          <p:nvPr/>
        </p:nvSpPr>
        <p:spPr>
          <a:xfrm>
            <a:off x="4292498" y="3310128"/>
            <a:ext cx="3606698" cy="749808"/>
          </a:xfrm>
          <a:prstGeom prst="roundRect">
            <a:avLst>
              <a:gd name="adj" fmla="val 4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292498" y="3310128"/>
            <a:ext cx="3606698"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02226" y="3383280"/>
            <a:ext cx="3423818" cy="292608"/>
          </a:xfrm>
          <a:prstGeom prst="rect">
            <a:avLst/>
          </a:prstGeom>
          <a:noFill/>
        </p:spPr>
        <p:txBody>
          <a:bodyPr wrap="square" anchor="t" lIns="0" rIns="0" tIns="0" bIns="0">
            <a:normAutofit/>
          </a:bodyPr>
          <a:lstStyle/>
          <a:p>
            <a:pPr algn="ctr">
              <a:lnSpc>
                <a:spcPct val="105000"/>
              </a:lnSpc>
              <a:spcBef>
                <a:spcPts val="0"/>
              </a:spcBef>
            </a:pPr>
            <a:r>
              <a:rPr sz="1000" b="1" i="0">
                <a:solidFill>
                  <a:srgbClr val="FFFFFF"/>
                </a:solidFill>
                <a:latin typeface="Calibri"/>
              </a:rPr>
              <a:t>TRANSFORMATION PROGRAM</a:t>
            </a:r>
          </a:p>
        </p:txBody>
      </p:sp>
      <p:sp>
        <p:nvSpPr>
          <p:cNvPr id="17" name="TextBox 16"/>
          <p:cNvSpPr txBox="1"/>
          <p:nvPr/>
        </p:nvSpPr>
        <p:spPr>
          <a:xfrm>
            <a:off x="4402226" y="3675887"/>
            <a:ext cx="3423818" cy="274320"/>
          </a:xfrm>
          <a:prstGeom prst="rect">
            <a:avLst/>
          </a:prstGeom>
          <a:noFill/>
        </p:spPr>
        <p:txBody>
          <a:bodyPr wrap="square" anchor="t" lIns="0" rIns="0" tIns="0" bIns="0">
            <a:normAutofit/>
          </a:bodyPr>
          <a:lstStyle/>
          <a:p>
            <a:pPr algn="ctr">
              <a:lnSpc>
                <a:spcPct val="105000"/>
              </a:lnSpc>
              <a:spcBef>
                <a:spcPts val="0"/>
              </a:spcBef>
            </a:pPr>
            <a:r>
              <a:rPr sz="1000" b="0" i="0">
                <a:solidFill>
                  <a:srgbClr val="FFB800"/>
                </a:solidFill>
                <a:latin typeface="Calibri"/>
              </a:rPr>
              <a:t>$2M–$10M / Year</a:t>
            </a:r>
          </a:p>
        </p:txBody>
      </p:sp>
      <p:sp>
        <p:nvSpPr>
          <p:cNvPr id="18" name="Rounded Rectangle 17"/>
          <p:cNvSpPr/>
          <p:nvPr/>
        </p:nvSpPr>
        <p:spPr>
          <a:xfrm>
            <a:off x="8036356" y="3310128"/>
            <a:ext cx="3606698" cy="749808"/>
          </a:xfrm>
          <a:prstGeom prst="roundRect">
            <a:avLst>
              <a:gd name="adj" fmla="val 4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36356" y="3310128"/>
            <a:ext cx="3606698" cy="45720"/>
          </a:xfrm>
          <a:prstGeom prst="rect">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46084" y="3383280"/>
            <a:ext cx="3423818" cy="292608"/>
          </a:xfrm>
          <a:prstGeom prst="rect">
            <a:avLst/>
          </a:prstGeom>
          <a:noFill/>
        </p:spPr>
        <p:txBody>
          <a:bodyPr wrap="square" anchor="t" lIns="0" rIns="0" tIns="0" bIns="0">
            <a:normAutofit/>
          </a:bodyPr>
          <a:lstStyle/>
          <a:p>
            <a:pPr algn="ctr">
              <a:lnSpc>
                <a:spcPct val="105000"/>
              </a:lnSpc>
              <a:spcBef>
                <a:spcPts val="0"/>
              </a:spcBef>
            </a:pPr>
            <a:r>
              <a:rPr sz="1000" b="1" i="0">
                <a:solidFill>
                  <a:srgbClr val="FFFFFF"/>
                </a:solidFill>
                <a:latin typeface="Calibri"/>
              </a:rPr>
              <a:t>STRATEGIC AI PARTNERSHIP</a:t>
            </a:r>
          </a:p>
        </p:txBody>
      </p:sp>
      <p:sp>
        <p:nvSpPr>
          <p:cNvPr id="21" name="TextBox 20"/>
          <p:cNvSpPr txBox="1"/>
          <p:nvPr/>
        </p:nvSpPr>
        <p:spPr>
          <a:xfrm>
            <a:off x="8146084" y="3675887"/>
            <a:ext cx="3423818" cy="274320"/>
          </a:xfrm>
          <a:prstGeom prst="rect">
            <a:avLst/>
          </a:prstGeom>
          <a:noFill/>
        </p:spPr>
        <p:txBody>
          <a:bodyPr wrap="square" anchor="t" lIns="0" rIns="0" tIns="0" bIns="0">
            <a:normAutofit/>
          </a:bodyPr>
          <a:lstStyle/>
          <a:p>
            <a:pPr algn="ctr">
              <a:lnSpc>
                <a:spcPct val="105000"/>
              </a:lnSpc>
              <a:spcBef>
                <a:spcPts val="0"/>
              </a:spcBef>
            </a:pPr>
            <a:r>
              <a:rPr sz="1000" b="0" i="0">
                <a:solidFill>
                  <a:srgbClr val="FFB800"/>
                </a:solidFill>
                <a:latin typeface="Calibri"/>
              </a:rPr>
              <a:t>$10M–$30M · Multi-Year</a:t>
            </a:r>
          </a:p>
        </p:txBody>
      </p:sp>
      <p:sp>
        <p:nvSpPr>
          <p:cNvPr id="22" name="TextBox 21"/>
          <p:cNvSpPr txBox="1"/>
          <p:nvPr/>
        </p:nvSpPr>
        <p:spPr>
          <a:xfrm>
            <a:off x="548640" y="4251960"/>
            <a:ext cx="11094415" cy="347472"/>
          </a:xfrm>
          <a:prstGeom prst="rect">
            <a:avLst/>
          </a:prstGeom>
          <a:noFill/>
        </p:spPr>
        <p:txBody>
          <a:bodyPr wrap="square" anchor="t" lIns="0" rIns="0" tIns="0" bIns="0">
            <a:noAutofit/>
          </a:bodyPr>
          <a:lstStyle/>
          <a:p>
            <a:pPr algn="l">
              <a:lnSpc>
                <a:spcPct val="105000"/>
              </a:lnSpc>
              <a:spcBef>
                <a:spcPts val="0"/>
              </a:spcBef>
            </a:pPr>
            <a:r>
              <a:rPr sz="1600" b="1" i="0">
                <a:solidFill>
                  <a:srgbClr val="00C9A7"/>
                </a:solidFill>
                <a:latin typeface="Calibri"/>
              </a:rPr>
              <a:t>Modernize  ·  Activate  ·  Innovate</a:t>
            </a:r>
          </a:p>
        </p:txBody>
      </p:sp>
      <p:sp>
        <p:nvSpPr>
          <p:cNvPr id="23" name="TextBox 22"/>
          <p:cNvSpPr txBox="1"/>
          <p:nvPr/>
        </p:nvSpPr>
        <p:spPr>
          <a:xfrm>
            <a:off x="548640" y="4709160"/>
            <a:ext cx="11094415" cy="292608"/>
          </a:xfrm>
          <a:prstGeom prst="rect">
            <a:avLst/>
          </a:prstGeom>
          <a:noFill/>
        </p:spPr>
        <p:txBody>
          <a:bodyPr wrap="square" anchor="t" lIns="0" rIns="0" tIns="0" bIns="0">
            <a:noAutofit/>
          </a:bodyPr>
          <a:lstStyle/>
          <a:p>
            <a:pPr algn="l">
              <a:lnSpc>
                <a:spcPct val="105000"/>
              </a:lnSpc>
              <a:spcBef>
                <a:spcPts val="0"/>
              </a:spcBef>
            </a:pPr>
            <a:r>
              <a:rPr sz="1200" b="0" i="0">
                <a:solidFill>
                  <a:srgbClr val="5B6B7C"/>
                </a:solidFill>
                <a:latin typeface="Calibri"/>
              </a:rPr>
              <a:t>Prepared by Srikumar V R  ·  Director Strategic BD, FPT Software  ·  Jun 2026</a:t>
            </a:r>
          </a:p>
        </p:txBody>
      </p:sp>
      <p:sp>
        <p:nvSpPr>
          <p:cNvPr id="24" name="TextBox 23"/>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889098"/>
                </a:solidFill>
                <a:latin typeface="Calibri"/>
              </a:rPr>
              <a:t>FPT Software · GCC Implementation Roadmap · Jun 2026</a:t>
            </a:r>
          </a:p>
        </p:txBody>
      </p:sp>
      <p:sp>
        <p:nvSpPr>
          <p:cNvPr id="25" name="TextBox 24"/>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889098"/>
                </a:solidFill>
                <a:latin typeface="Calibri"/>
              </a:rPr>
              <a:t>1 / 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18 Months from AI Mandate to Strategic AI Partner Status</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Executive Summary</a:t>
            </a:r>
          </a:p>
        </p:txBody>
      </p:sp>
      <p:sp>
        <p:nvSpPr>
          <p:cNvPr id="7" name="Rounded Rectangle 6"/>
          <p:cNvSpPr/>
          <p:nvPr/>
        </p:nvSpPr>
        <p:spPr>
          <a:xfrm>
            <a:off x="548640" y="1572768"/>
            <a:ext cx="11094415" cy="1444752"/>
          </a:xfrm>
          <a:prstGeom prst="roundRect">
            <a:avLst>
              <a:gd name="adj" fmla="val 3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572768"/>
            <a:ext cx="11094415"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1664208"/>
            <a:ext cx="3200400" cy="274320"/>
          </a:xfrm>
          <a:prstGeom prst="rect">
            <a:avLst/>
          </a:prstGeom>
          <a:noFill/>
        </p:spPr>
        <p:txBody>
          <a:bodyPr wrap="square" anchor="t" lIns="0" rIns="0" tIns="0" bIns="0">
            <a:noAutofit/>
          </a:bodyPr>
          <a:lstStyle/>
          <a:p>
            <a:pPr algn="l">
              <a:lnSpc>
                <a:spcPct val="105000"/>
              </a:lnSpc>
              <a:spcBef>
                <a:spcPts val="0"/>
              </a:spcBef>
            </a:pPr>
            <a:r>
              <a:rPr sz="1100" b="1" i="0">
                <a:solidFill>
                  <a:srgbClr val="00C9A7"/>
                </a:solidFill>
                <a:latin typeface="Calibri"/>
              </a:rPr>
              <a:t>THE PROBLEM</a:t>
            </a:r>
          </a:p>
        </p:txBody>
      </p:sp>
      <p:sp>
        <p:nvSpPr>
          <p:cNvPr id="10" name="TextBox 9"/>
          <p:cNvSpPr txBox="1"/>
          <p:nvPr/>
        </p:nvSpPr>
        <p:spPr>
          <a:xfrm>
            <a:off x="713232" y="1975104"/>
            <a:ext cx="10820095" cy="987552"/>
          </a:xfrm>
          <a:prstGeom prst="rect">
            <a:avLst/>
          </a:prstGeom>
          <a:noFill/>
        </p:spPr>
        <p:txBody>
          <a:bodyPr wrap="square" anchor="t" lIns="0" rIns="0" tIns="0" bIns="0">
            <a:normAutofit/>
          </a:bodyPr>
          <a:lstStyle/>
          <a:p>
            <a:pPr algn="l">
              <a:lnSpc>
                <a:spcPct val="105000"/>
              </a:lnSpc>
              <a:spcBef>
                <a:spcPts val="0"/>
              </a:spcBef>
            </a:pPr>
            <a:r>
              <a:rPr sz="1250" b="0" i="0">
                <a:solidFill>
                  <a:srgbClr val="FFFFFF"/>
                </a:solidFill>
                <a:latin typeface="Calibri"/>
              </a:rPr>
              <a:t>GCC heads face a board AI mandate with an 18-month delivery expectation and no trusted technology partner who can cover legacy modernization, production AI deployment, vertical platforms, and managed services in one programme.</a:t>
            </a:r>
          </a:p>
        </p:txBody>
      </p:sp>
      <p:sp>
        <p:nvSpPr>
          <p:cNvPr id="11" name="Rounded Rectangle 10"/>
          <p:cNvSpPr/>
          <p:nvPr/>
        </p:nvSpPr>
        <p:spPr>
          <a:xfrm>
            <a:off x="548640" y="3145536"/>
            <a:ext cx="11094415" cy="1444752"/>
          </a:xfrm>
          <a:prstGeom prst="roundRect">
            <a:avLst>
              <a:gd name="adj" fmla="val 3000"/>
            </a:avLst>
          </a:prstGeom>
          <a:solidFill>
            <a:srgbClr val="009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3145536"/>
            <a:ext cx="11094415" cy="457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3232" y="3236976"/>
            <a:ext cx="3200400" cy="274320"/>
          </a:xfrm>
          <a:prstGeom prst="rect">
            <a:avLst/>
          </a:prstGeom>
          <a:noFill/>
        </p:spPr>
        <p:txBody>
          <a:bodyPr wrap="square" anchor="t" lIns="0" rIns="0" tIns="0" bIns="0">
            <a:noAutofit/>
          </a:bodyPr>
          <a:lstStyle/>
          <a:p>
            <a:pPr algn="l">
              <a:lnSpc>
                <a:spcPct val="105000"/>
              </a:lnSpc>
              <a:spcBef>
                <a:spcPts val="0"/>
              </a:spcBef>
            </a:pPr>
            <a:r>
              <a:rPr sz="1100" b="1" i="0">
                <a:solidFill>
                  <a:srgbClr val="FFFFFF"/>
                </a:solidFill>
                <a:latin typeface="Calibri"/>
              </a:rPr>
              <a:t>THE FPT ANSWER</a:t>
            </a:r>
          </a:p>
        </p:txBody>
      </p:sp>
      <p:sp>
        <p:nvSpPr>
          <p:cNvPr id="14" name="TextBox 13"/>
          <p:cNvSpPr txBox="1"/>
          <p:nvPr/>
        </p:nvSpPr>
        <p:spPr>
          <a:xfrm>
            <a:off x="713232" y="3547872"/>
            <a:ext cx="10820095" cy="987552"/>
          </a:xfrm>
          <a:prstGeom prst="rect">
            <a:avLst/>
          </a:prstGeom>
          <a:noFill/>
        </p:spPr>
        <p:txBody>
          <a:bodyPr wrap="square" anchor="t" lIns="0" rIns="0" tIns="0" bIns="0">
            <a:normAutofit/>
          </a:bodyPr>
          <a:lstStyle/>
          <a:p>
            <a:pPr algn="l">
              <a:lnSpc>
                <a:spcPct val="105000"/>
              </a:lnSpc>
              <a:spcBef>
                <a:spcPts val="0"/>
              </a:spcBef>
            </a:pPr>
            <a:r>
              <a:rPr sz="1250" b="0" i="0">
                <a:solidFill>
                  <a:srgbClr val="FFFFFF"/>
                </a:solidFill>
                <a:latin typeface="Calibri"/>
              </a:rPr>
              <a:t>A single integrated delivery programme spanning three phases: AI Readiness Sprint → Transformation Program → Strategic AI Partnership. Each phase builds on the last. The GCC's AI capability compounds — and so does FPT's contract value.</a:t>
            </a:r>
          </a:p>
        </p:txBody>
      </p:sp>
      <p:sp>
        <p:nvSpPr>
          <p:cNvPr id="15" name="Rounded Rectangle 14"/>
          <p:cNvSpPr/>
          <p:nvPr/>
        </p:nvSpPr>
        <p:spPr>
          <a:xfrm>
            <a:off x="548640" y="4718304"/>
            <a:ext cx="11094415" cy="1444752"/>
          </a:xfrm>
          <a:prstGeom prst="roundRect">
            <a:avLst>
              <a:gd name="adj" fmla="val 3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718304"/>
            <a:ext cx="11094415"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13232" y="4809744"/>
            <a:ext cx="3200400" cy="274320"/>
          </a:xfrm>
          <a:prstGeom prst="rect">
            <a:avLst/>
          </a:prstGeom>
          <a:noFill/>
        </p:spPr>
        <p:txBody>
          <a:bodyPr wrap="square" anchor="t" lIns="0" rIns="0" tIns="0" bIns="0">
            <a:noAutofit/>
          </a:bodyPr>
          <a:lstStyle/>
          <a:p>
            <a:pPr algn="l">
              <a:lnSpc>
                <a:spcPct val="105000"/>
              </a:lnSpc>
              <a:spcBef>
                <a:spcPts val="0"/>
              </a:spcBef>
            </a:pPr>
            <a:r>
              <a:rPr sz="1100" b="1" i="0">
                <a:solidFill>
                  <a:srgbClr val="00C9A7"/>
                </a:solidFill>
                <a:latin typeface="Calibri"/>
              </a:rPr>
              <a:t>WHAT GCC LEADERSHIP PRESENTS TO GLOBAL PARENT</a:t>
            </a:r>
          </a:p>
        </p:txBody>
      </p:sp>
      <p:sp>
        <p:nvSpPr>
          <p:cNvPr id="18" name="TextBox 17"/>
          <p:cNvSpPr txBox="1"/>
          <p:nvPr/>
        </p:nvSpPr>
        <p:spPr>
          <a:xfrm>
            <a:off x="713232" y="5120640"/>
            <a:ext cx="10820095" cy="987552"/>
          </a:xfrm>
          <a:prstGeom prst="rect">
            <a:avLst/>
          </a:prstGeom>
          <a:noFill/>
        </p:spPr>
        <p:txBody>
          <a:bodyPr wrap="square" anchor="t" lIns="0" rIns="0" tIns="0" bIns="0">
            <a:normAutofit/>
          </a:bodyPr>
          <a:lstStyle/>
          <a:p>
            <a:pPr algn="l">
              <a:lnSpc>
                <a:spcPct val="105000"/>
              </a:lnSpc>
              <a:spcBef>
                <a:spcPts val="0"/>
              </a:spcBef>
            </a:pPr>
            <a:r>
              <a:rPr sz="1250" b="0" i="0">
                <a:solidFill>
                  <a:srgbClr val="FFFFFF"/>
                </a:solidFill>
                <a:latin typeface="Calibri"/>
              </a:rPr>
              <a:t>A credible, costed implementation roadmap with stage-gates, measurable milestones, and a partner who has delivered $256M AI transformation programmes and serves 130+ Fortune 500 companies globally.</a:t>
            </a:r>
          </a:p>
        </p:txBody>
      </p:sp>
      <p:sp>
        <p:nvSpPr>
          <p:cNvPr id="19" name="TextBox 18"/>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FPT Software · GCC Implementation Roadmap · Jun 2026</a:t>
            </a:r>
          </a:p>
        </p:txBody>
      </p:sp>
      <p:sp>
        <p:nvSpPr>
          <p:cNvPr id="20" name="TextBox 19"/>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2 / 17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Three Capability Layers · Deployed in Sequence · Compounding in Value</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Implementation Architecture</a:t>
            </a:r>
          </a:p>
        </p:txBody>
      </p:sp>
      <p:sp>
        <p:nvSpPr>
          <p:cNvPr id="7" name="Rounded Rectangle 6"/>
          <p:cNvSpPr/>
          <p:nvPr/>
        </p:nvSpPr>
        <p:spPr>
          <a:xfrm>
            <a:off x="548640" y="1572768"/>
            <a:ext cx="3606698" cy="4663440"/>
          </a:xfrm>
          <a:prstGeom prst="roundRect">
            <a:avLst>
              <a:gd name="adj" fmla="val 3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572768"/>
            <a:ext cx="3606698" cy="5486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1664208"/>
            <a:ext cx="3423818" cy="274320"/>
          </a:xfrm>
          <a:prstGeom prst="rect">
            <a:avLst/>
          </a:prstGeom>
          <a:noFill/>
        </p:spPr>
        <p:txBody>
          <a:bodyPr wrap="square" anchor="t" lIns="0" rIns="0" tIns="0" bIns="0">
            <a:normAutofit/>
          </a:bodyPr>
          <a:lstStyle/>
          <a:p>
            <a:pPr algn="l">
              <a:lnSpc>
                <a:spcPct val="105000"/>
              </a:lnSpc>
              <a:spcBef>
                <a:spcPts val="0"/>
              </a:spcBef>
            </a:pPr>
            <a:r>
              <a:rPr sz="1100" b="1" i="0">
                <a:solidFill>
                  <a:srgbClr val="00C9A7"/>
                </a:solidFill>
                <a:latin typeface="Calibri"/>
              </a:rPr>
              <a:t>LAYER 1 — MODERNIZE</a:t>
            </a:r>
          </a:p>
        </p:txBody>
      </p:sp>
      <p:sp>
        <p:nvSpPr>
          <p:cNvPr id="10" name="TextBox 9"/>
          <p:cNvSpPr txBox="1"/>
          <p:nvPr/>
        </p:nvSpPr>
        <p:spPr>
          <a:xfrm>
            <a:off x="658368" y="1956816"/>
            <a:ext cx="3423818" cy="274320"/>
          </a:xfrm>
          <a:prstGeom prst="rect">
            <a:avLst/>
          </a:prstGeom>
          <a:noFill/>
        </p:spPr>
        <p:txBody>
          <a:bodyPr wrap="square" anchor="t" lIns="0" rIns="0" tIns="0" bIns="0">
            <a:noAutofit/>
          </a:bodyPr>
          <a:lstStyle/>
          <a:p>
            <a:pPr algn="l">
              <a:lnSpc>
                <a:spcPct val="105000"/>
              </a:lnSpc>
              <a:spcBef>
                <a:spcPts val="0"/>
              </a:spcBef>
            </a:pPr>
            <a:r>
              <a:rPr sz="1100" b="0" i="0">
                <a:solidFill>
                  <a:srgbClr val="E0F7F1"/>
                </a:solidFill>
                <a:latin typeface="Calibri"/>
              </a:rPr>
              <a:t>Foundation: Remove the blockers</a:t>
            </a:r>
          </a:p>
        </p:txBody>
      </p:sp>
      <p:sp>
        <p:nvSpPr>
          <p:cNvPr id="11" name="Rectangle 10"/>
          <p:cNvSpPr/>
          <p:nvPr/>
        </p:nvSpPr>
        <p:spPr>
          <a:xfrm>
            <a:off x="822960" y="2258568"/>
            <a:ext cx="3058058" cy="27432"/>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58368" y="2395728"/>
            <a:ext cx="3405530" cy="676656"/>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432304"/>
            <a:ext cx="3286658" cy="201168"/>
          </a:xfrm>
          <a:prstGeom prst="rect">
            <a:avLst/>
          </a:prstGeom>
          <a:noFill/>
        </p:spPr>
        <p:txBody>
          <a:bodyPr wrap="square" anchor="t" lIns="0" rIns="0" tIns="0" bIns="0">
            <a:normAutofit/>
          </a:bodyPr>
          <a:lstStyle/>
          <a:p>
            <a:pPr algn="l">
              <a:lnSpc>
                <a:spcPct val="105000"/>
              </a:lnSpc>
              <a:spcBef>
                <a:spcPts val="0"/>
              </a:spcBef>
            </a:pPr>
            <a:r>
              <a:rPr sz="1000" b="1" i="0">
                <a:solidFill>
                  <a:srgbClr val="00C9A7"/>
                </a:solidFill>
                <a:latin typeface="Calibri"/>
              </a:rPr>
              <a:t>EMT</a:t>
            </a:r>
          </a:p>
        </p:txBody>
      </p:sp>
      <p:sp>
        <p:nvSpPr>
          <p:cNvPr id="14" name="TextBox 13"/>
          <p:cNvSpPr txBox="1"/>
          <p:nvPr/>
        </p:nvSpPr>
        <p:spPr>
          <a:xfrm>
            <a:off x="731520" y="2633472"/>
            <a:ext cx="3286658" cy="384048"/>
          </a:xfrm>
          <a:prstGeom prst="rect">
            <a:avLst/>
          </a:prstGeom>
          <a:noFill/>
        </p:spPr>
        <p:txBody>
          <a:bodyPr wrap="square" anchor="t" lIns="0" rIns="0" tIns="0" bIns="0">
            <a:normAutofit/>
          </a:bodyPr>
          <a:lstStyle/>
          <a:p>
            <a:pPr algn="l">
              <a:lnSpc>
                <a:spcPct val="105000"/>
              </a:lnSpc>
              <a:spcBef>
                <a:spcPts val="0"/>
              </a:spcBef>
            </a:pPr>
            <a:r>
              <a:rPr sz="900" b="0" i="0">
                <a:solidFill>
                  <a:srgbClr val="E0F7F1"/>
                </a:solidFill>
                <a:latin typeface="Calibri"/>
              </a:rPr>
              <a:t>End-to-end legacy modernization platform — assessment to rewrite</a:t>
            </a:r>
          </a:p>
        </p:txBody>
      </p:sp>
      <p:sp>
        <p:nvSpPr>
          <p:cNvPr id="15" name="Rounded Rectangle 14"/>
          <p:cNvSpPr/>
          <p:nvPr/>
        </p:nvSpPr>
        <p:spPr>
          <a:xfrm>
            <a:off x="658368" y="3145536"/>
            <a:ext cx="3405530" cy="676656"/>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3182112"/>
            <a:ext cx="3286658" cy="201168"/>
          </a:xfrm>
          <a:prstGeom prst="rect">
            <a:avLst/>
          </a:prstGeom>
          <a:noFill/>
        </p:spPr>
        <p:txBody>
          <a:bodyPr wrap="square" anchor="t" lIns="0" rIns="0" tIns="0" bIns="0">
            <a:normAutofit/>
          </a:bodyPr>
          <a:lstStyle/>
          <a:p>
            <a:pPr algn="l">
              <a:lnSpc>
                <a:spcPct val="105000"/>
              </a:lnSpc>
              <a:spcBef>
                <a:spcPts val="0"/>
              </a:spcBef>
            </a:pPr>
            <a:r>
              <a:rPr sz="1000" b="1" i="0">
                <a:solidFill>
                  <a:srgbClr val="00C9A7"/>
                </a:solidFill>
                <a:latin typeface="Calibri"/>
              </a:rPr>
              <a:t>xMainframe</a:t>
            </a:r>
          </a:p>
        </p:txBody>
      </p:sp>
      <p:sp>
        <p:nvSpPr>
          <p:cNvPr id="17" name="TextBox 16"/>
          <p:cNvSpPr txBox="1"/>
          <p:nvPr/>
        </p:nvSpPr>
        <p:spPr>
          <a:xfrm>
            <a:off x="731520" y="3383280"/>
            <a:ext cx="3286658" cy="384048"/>
          </a:xfrm>
          <a:prstGeom prst="rect">
            <a:avLst/>
          </a:prstGeom>
          <a:noFill/>
        </p:spPr>
        <p:txBody>
          <a:bodyPr wrap="square" anchor="t" lIns="0" rIns="0" tIns="0" bIns="0">
            <a:normAutofit/>
          </a:bodyPr>
          <a:lstStyle/>
          <a:p>
            <a:pPr algn="l">
              <a:lnSpc>
                <a:spcPct val="105000"/>
              </a:lnSpc>
              <a:spcBef>
                <a:spcPts val="0"/>
              </a:spcBef>
            </a:pPr>
            <a:r>
              <a:rPr sz="900" b="0" i="0">
                <a:solidFill>
                  <a:srgbClr val="E0F7F1"/>
                </a:solidFill>
                <a:latin typeface="Calibri"/>
              </a:rPr>
              <a:t>AI mainframe migration · 30% faster onboarding · 90% accuracy · monthly → weekly cycles</a:t>
            </a:r>
          </a:p>
        </p:txBody>
      </p:sp>
      <p:sp>
        <p:nvSpPr>
          <p:cNvPr id="18" name="Rounded Rectangle 17"/>
          <p:cNvSpPr/>
          <p:nvPr/>
        </p:nvSpPr>
        <p:spPr>
          <a:xfrm>
            <a:off x="658368" y="3895344"/>
            <a:ext cx="3405530" cy="676656"/>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3931920"/>
            <a:ext cx="3286658" cy="201168"/>
          </a:xfrm>
          <a:prstGeom prst="rect">
            <a:avLst/>
          </a:prstGeom>
          <a:noFill/>
        </p:spPr>
        <p:txBody>
          <a:bodyPr wrap="square" anchor="t" lIns="0" rIns="0" tIns="0" bIns="0">
            <a:normAutofit/>
          </a:bodyPr>
          <a:lstStyle/>
          <a:p>
            <a:pPr algn="l">
              <a:lnSpc>
                <a:spcPct val="105000"/>
              </a:lnSpc>
              <a:spcBef>
                <a:spcPts val="0"/>
              </a:spcBef>
            </a:pPr>
            <a:r>
              <a:rPr sz="1000" b="1" i="0">
                <a:solidFill>
                  <a:srgbClr val="00C9A7"/>
                </a:solidFill>
                <a:latin typeface="Calibri"/>
              </a:rPr>
              <a:t>CodeVista</a:t>
            </a:r>
          </a:p>
        </p:txBody>
      </p:sp>
      <p:sp>
        <p:nvSpPr>
          <p:cNvPr id="20" name="TextBox 19"/>
          <p:cNvSpPr txBox="1"/>
          <p:nvPr/>
        </p:nvSpPr>
        <p:spPr>
          <a:xfrm>
            <a:off x="731520" y="4133088"/>
            <a:ext cx="3286658" cy="384048"/>
          </a:xfrm>
          <a:prstGeom prst="rect">
            <a:avLst/>
          </a:prstGeom>
          <a:noFill/>
        </p:spPr>
        <p:txBody>
          <a:bodyPr wrap="square" anchor="t" lIns="0" rIns="0" tIns="0" bIns="0">
            <a:normAutofit/>
          </a:bodyPr>
          <a:lstStyle/>
          <a:p>
            <a:pPr algn="l">
              <a:lnSpc>
                <a:spcPct val="105000"/>
              </a:lnSpc>
              <a:spcBef>
                <a:spcPts val="0"/>
              </a:spcBef>
            </a:pPr>
            <a:r>
              <a:rPr sz="900" b="0" i="0">
                <a:solidFill>
                  <a:srgbClr val="E0F7F1"/>
                </a:solidFill>
                <a:latin typeface="Calibri"/>
              </a:rPr>
              <a:t>AI developer productivity · 30% efficiency gain · 6,000 man-months saved · 1.5M lines generated</a:t>
            </a:r>
          </a:p>
        </p:txBody>
      </p:sp>
      <p:sp>
        <p:nvSpPr>
          <p:cNvPr id="21" name="Rounded Rectangle 20"/>
          <p:cNvSpPr/>
          <p:nvPr/>
        </p:nvSpPr>
        <p:spPr>
          <a:xfrm>
            <a:off x="658368" y="4645152"/>
            <a:ext cx="3405530" cy="676656"/>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 y="4681728"/>
            <a:ext cx="3286658" cy="201168"/>
          </a:xfrm>
          <a:prstGeom prst="rect">
            <a:avLst/>
          </a:prstGeom>
          <a:noFill/>
        </p:spPr>
        <p:txBody>
          <a:bodyPr wrap="square" anchor="t" lIns="0" rIns="0" tIns="0" bIns="0">
            <a:normAutofit/>
          </a:bodyPr>
          <a:lstStyle/>
          <a:p>
            <a:pPr algn="l">
              <a:lnSpc>
                <a:spcPct val="105000"/>
              </a:lnSpc>
              <a:spcBef>
                <a:spcPts val="0"/>
              </a:spcBef>
            </a:pPr>
            <a:r>
              <a:rPr sz="1000" b="1" i="0">
                <a:solidFill>
                  <a:srgbClr val="00C9A7"/>
                </a:solidFill>
                <a:latin typeface="Calibri"/>
              </a:rPr>
              <a:t>CASAN Framework</a:t>
            </a:r>
          </a:p>
        </p:txBody>
      </p:sp>
      <p:sp>
        <p:nvSpPr>
          <p:cNvPr id="23" name="TextBox 22"/>
          <p:cNvSpPr txBox="1"/>
          <p:nvPr/>
        </p:nvSpPr>
        <p:spPr>
          <a:xfrm>
            <a:off x="731520" y="4882896"/>
            <a:ext cx="3286658" cy="384048"/>
          </a:xfrm>
          <a:prstGeom prst="rect">
            <a:avLst/>
          </a:prstGeom>
          <a:noFill/>
        </p:spPr>
        <p:txBody>
          <a:bodyPr wrap="square" anchor="t" lIns="0" rIns="0" tIns="0" bIns="0">
            <a:normAutofit/>
          </a:bodyPr>
          <a:lstStyle/>
          <a:p>
            <a:pPr algn="l">
              <a:lnSpc>
                <a:spcPct val="105000"/>
              </a:lnSpc>
              <a:spcBef>
                <a:spcPts val="0"/>
              </a:spcBef>
            </a:pPr>
            <a:r>
              <a:rPr sz="900" b="0" i="0">
                <a:solidFill>
                  <a:srgbClr val="E0F7F1"/>
                </a:solidFill>
                <a:latin typeface="Calibri"/>
              </a:rPr>
              <a:t>Scalable assessment methodology · strategy to execution in one framework</a:t>
            </a:r>
          </a:p>
        </p:txBody>
      </p:sp>
      <p:sp>
        <p:nvSpPr>
          <p:cNvPr id="24" name="Rounded Rectangle 23"/>
          <p:cNvSpPr/>
          <p:nvPr/>
        </p:nvSpPr>
        <p:spPr>
          <a:xfrm>
            <a:off x="658368" y="5394960"/>
            <a:ext cx="3405530" cy="676656"/>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31520" y="5431536"/>
            <a:ext cx="3286658" cy="201168"/>
          </a:xfrm>
          <a:prstGeom prst="rect">
            <a:avLst/>
          </a:prstGeom>
          <a:noFill/>
        </p:spPr>
        <p:txBody>
          <a:bodyPr wrap="square" anchor="t" lIns="0" rIns="0" tIns="0" bIns="0">
            <a:normAutofit/>
          </a:bodyPr>
          <a:lstStyle/>
          <a:p>
            <a:pPr algn="l">
              <a:lnSpc>
                <a:spcPct val="105000"/>
              </a:lnSpc>
              <a:spcBef>
                <a:spcPts val="0"/>
              </a:spcBef>
            </a:pPr>
            <a:r>
              <a:rPr sz="1000" b="1" i="0">
                <a:solidFill>
                  <a:srgbClr val="00C9A7"/>
                </a:solidFill>
                <a:latin typeface="Calibri"/>
              </a:rPr>
              <a:t>Data Readiness</a:t>
            </a:r>
          </a:p>
        </p:txBody>
      </p:sp>
      <p:sp>
        <p:nvSpPr>
          <p:cNvPr id="26" name="TextBox 25"/>
          <p:cNvSpPr txBox="1"/>
          <p:nvPr/>
        </p:nvSpPr>
        <p:spPr>
          <a:xfrm>
            <a:off x="731520" y="5632704"/>
            <a:ext cx="3286658" cy="384048"/>
          </a:xfrm>
          <a:prstGeom prst="rect">
            <a:avLst/>
          </a:prstGeom>
          <a:noFill/>
        </p:spPr>
        <p:txBody>
          <a:bodyPr wrap="square" anchor="t" lIns="0" rIns="0" tIns="0" bIns="0">
            <a:normAutofit/>
          </a:bodyPr>
          <a:lstStyle/>
          <a:p>
            <a:pPr algn="l">
              <a:lnSpc>
                <a:spcPct val="105000"/>
              </a:lnSpc>
              <a:spcBef>
                <a:spcPts val="0"/>
              </a:spcBef>
            </a:pPr>
            <a:r>
              <a:rPr sz="900" b="0" i="0">
                <a:solidFill>
                  <a:srgbClr val="E0F7F1"/>
                </a:solidFill>
                <a:latin typeface="Calibri"/>
              </a:rPr>
              <a:t>Data platform setup, cloud migration, governance layer</a:t>
            </a:r>
          </a:p>
        </p:txBody>
      </p:sp>
      <p:sp>
        <p:nvSpPr>
          <p:cNvPr id="27" name="Rounded Rectangle 26"/>
          <p:cNvSpPr/>
          <p:nvPr/>
        </p:nvSpPr>
        <p:spPr>
          <a:xfrm>
            <a:off x="4292498" y="1572768"/>
            <a:ext cx="3606698" cy="4663440"/>
          </a:xfrm>
          <a:prstGeom prst="roundRect">
            <a:avLst>
              <a:gd name="adj" fmla="val 3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292498" y="1572768"/>
            <a:ext cx="3606698" cy="54864"/>
          </a:xfrm>
          <a:prstGeom prst="rect">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402226" y="1664208"/>
            <a:ext cx="3423818" cy="274320"/>
          </a:xfrm>
          <a:prstGeom prst="rect">
            <a:avLst/>
          </a:prstGeom>
          <a:noFill/>
        </p:spPr>
        <p:txBody>
          <a:bodyPr wrap="square" anchor="t" lIns="0" rIns="0" tIns="0" bIns="0">
            <a:normAutofit/>
          </a:bodyPr>
          <a:lstStyle/>
          <a:p>
            <a:pPr algn="l">
              <a:lnSpc>
                <a:spcPct val="105000"/>
              </a:lnSpc>
              <a:spcBef>
                <a:spcPts val="0"/>
              </a:spcBef>
            </a:pPr>
            <a:r>
              <a:rPr sz="1100" b="1" i="0">
                <a:solidFill>
                  <a:srgbClr val="FFB800"/>
                </a:solidFill>
                <a:latin typeface="Calibri"/>
              </a:rPr>
              <a:t>LAYER 2 — ACTIVATE</a:t>
            </a:r>
          </a:p>
        </p:txBody>
      </p:sp>
      <p:sp>
        <p:nvSpPr>
          <p:cNvPr id="30" name="TextBox 29"/>
          <p:cNvSpPr txBox="1"/>
          <p:nvPr/>
        </p:nvSpPr>
        <p:spPr>
          <a:xfrm>
            <a:off x="4402226" y="1956816"/>
            <a:ext cx="3423818" cy="274320"/>
          </a:xfrm>
          <a:prstGeom prst="rect">
            <a:avLst/>
          </a:prstGeom>
          <a:noFill/>
        </p:spPr>
        <p:txBody>
          <a:bodyPr wrap="square" anchor="t" lIns="0" rIns="0" tIns="0" bIns="0">
            <a:noAutofit/>
          </a:bodyPr>
          <a:lstStyle/>
          <a:p>
            <a:pPr algn="l">
              <a:lnSpc>
                <a:spcPct val="105000"/>
              </a:lnSpc>
              <a:spcBef>
                <a:spcPts val="0"/>
              </a:spcBef>
            </a:pPr>
            <a:r>
              <a:rPr sz="1100" b="0" i="0">
                <a:solidFill>
                  <a:srgbClr val="E0F7F1"/>
                </a:solidFill>
                <a:latin typeface="Calibri"/>
              </a:rPr>
              <a:t>Intelligence: Put AI into production</a:t>
            </a:r>
          </a:p>
        </p:txBody>
      </p:sp>
      <p:sp>
        <p:nvSpPr>
          <p:cNvPr id="31" name="Rectangle 30"/>
          <p:cNvSpPr/>
          <p:nvPr/>
        </p:nvSpPr>
        <p:spPr>
          <a:xfrm>
            <a:off x="4566818" y="2258568"/>
            <a:ext cx="3058058" cy="27432"/>
          </a:xfrm>
          <a:prstGeom prst="rect">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4402226" y="2395728"/>
            <a:ext cx="3405530" cy="676656"/>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475378" y="2432304"/>
            <a:ext cx="3286658" cy="201168"/>
          </a:xfrm>
          <a:prstGeom prst="rect">
            <a:avLst/>
          </a:prstGeom>
          <a:noFill/>
        </p:spPr>
        <p:txBody>
          <a:bodyPr wrap="square" anchor="t" lIns="0" rIns="0" tIns="0" bIns="0">
            <a:normAutofit/>
          </a:bodyPr>
          <a:lstStyle/>
          <a:p>
            <a:pPr algn="l">
              <a:lnSpc>
                <a:spcPct val="105000"/>
              </a:lnSpc>
              <a:spcBef>
                <a:spcPts val="0"/>
              </a:spcBef>
            </a:pPr>
            <a:r>
              <a:rPr sz="1000" b="1" i="0">
                <a:solidFill>
                  <a:srgbClr val="00C9A7"/>
                </a:solidFill>
                <a:latin typeface="Calibri"/>
              </a:rPr>
              <a:t>FleziPT</a:t>
            </a:r>
          </a:p>
        </p:txBody>
      </p:sp>
      <p:sp>
        <p:nvSpPr>
          <p:cNvPr id="34" name="TextBox 33"/>
          <p:cNvSpPr txBox="1"/>
          <p:nvPr/>
        </p:nvSpPr>
        <p:spPr>
          <a:xfrm>
            <a:off x="4475378" y="2633472"/>
            <a:ext cx="3286658" cy="384048"/>
          </a:xfrm>
          <a:prstGeom prst="rect">
            <a:avLst/>
          </a:prstGeom>
          <a:noFill/>
        </p:spPr>
        <p:txBody>
          <a:bodyPr wrap="square" anchor="t" lIns="0" rIns="0" tIns="0" bIns="0">
            <a:normAutofit/>
          </a:bodyPr>
          <a:lstStyle/>
          <a:p>
            <a:pPr algn="l">
              <a:lnSpc>
                <a:spcPct val="105000"/>
              </a:lnSpc>
              <a:spcBef>
                <a:spcPts val="0"/>
              </a:spcBef>
            </a:pPr>
            <a:r>
              <a:rPr sz="900" b="0" i="0">
                <a:solidFill>
                  <a:srgbClr val="E0F7F1"/>
                </a:solidFill>
                <a:latin typeface="Calibri"/>
              </a:rPr>
              <a:t>Enterprise AI deployment — data readiness, model integration, monitoring, full lifecycle</a:t>
            </a:r>
          </a:p>
        </p:txBody>
      </p:sp>
      <p:sp>
        <p:nvSpPr>
          <p:cNvPr id="35" name="Rounded Rectangle 34"/>
          <p:cNvSpPr/>
          <p:nvPr/>
        </p:nvSpPr>
        <p:spPr>
          <a:xfrm>
            <a:off x="4402226" y="3145536"/>
            <a:ext cx="3405530" cy="676656"/>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475378" y="3182112"/>
            <a:ext cx="3286658" cy="201168"/>
          </a:xfrm>
          <a:prstGeom prst="rect">
            <a:avLst/>
          </a:prstGeom>
          <a:noFill/>
        </p:spPr>
        <p:txBody>
          <a:bodyPr wrap="square" anchor="t" lIns="0" rIns="0" tIns="0" bIns="0">
            <a:normAutofit/>
          </a:bodyPr>
          <a:lstStyle/>
          <a:p>
            <a:pPr algn="l">
              <a:lnSpc>
                <a:spcPct val="105000"/>
              </a:lnSpc>
              <a:spcBef>
                <a:spcPts val="0"/>
              </a:spcBef>
            </a:pPr>
            <a:r>
              <a:rPr sz="1000" b="1" i="0">
                <a:solidFill>
                  <a:srgbClr val="00C9A7"/>
                </a:solidFill>
                <a:latin typeface="Calibri"/>
              </a:rPr>
              <a:t>KnowMed.ai</a:t>
            </a:r>
          </a:p>
        </p:txBody>
      </p:sp>
      <p:sp>
        <p:nvSpPr>
          <p:cNvPr id="37" name="TextBox 36"/>
          <p:cNvSpPr txBox="1"/>
          <p:nvPr/>
        </p:nvSpPr>
        <p:spPr>
          <a:xfrm>
            <a:off x="4475378" y="3383280"/>
            <a:ext cx="3286658" cy="384048"/>
          </a:xfrm>
          <a:prstGeom prst="rect">
            <a:avLst/>
          </a:prstGeom>
          <a:noFill/>
        </p:spPr>
        <p:txBody>
          <a:bodyPr wrap="square" anchor="t" lIns="0" rIns="0" tIns="0" bIns="0">
            <a:normAutofit/>
          </a:bodyPr>
          <a:lstStyle/>
          <a:p>
            <a:pPr algn="l">
              <a:lnSpc>
                <a:spcPct val="105000"/>
              </a:lnSpc>
              <a:spcBef>
                <a:spcPts val="0"/>
              </a:spcBef>
            </a:pPr>
            <a:r>
              <a:rPr sz="900" b="0" i="0">
                <a:solidFill>
                  <a:srgbClr val="E0F7F1"/>
                </a:solidFill>
                <a:latin typeface="Calibri"/>
              </a:rPr>
              <a:t>Healthcare &amp; life sciences vertical AI — HIPAA compliant</a:t>
            </a:r>
          </a:p>
        </p:txBody>
      </p:sp>
      <p:sp>
        <p:nvSpPr>
          <p:cNvPr id="38" name="Rounded Rectangle 37"/>
          <p:cNvSpPr/>
          <p:nvPr/>
        </p:nvSpPr>
        <p:spPr>
          <a:xfrm>
            <a:off x="4402226" y="3895344"/>
            <a:ext cx="3405530" cy="676656"/>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475378" y="3931920"/>
            <a:ext cx="3286658" cy="201168"/>
          </a:xfrm>
          <a:prstGeom prst="rect">
            <a:avLst/>
          </a:prstGeom>
          <a:noFill/>
        </p:spPr>
        <p:txBody>
          <a:bodyPr wrap="square" anchor="t" lIns="0" rIns="0" tIns="0" bIns="0">
            <a:normAutofit/>
          </a:bodyPr>
          <a:lstStyle/>
          <a:p>
            <a:pPr algn="l">
              <a:lnSpc>
                <a:spcPct val="105000"/>
              </a:lnSpc>
              <a:spcBef>
                <a:spcPts val="0"/>
              </a:spcBef>
            </a:pPr>
            <a:r>
              <a:rPr sz="1000" b="1" i="0">
                <a:solidFill>
                  <a:srgbClr val="00C9A7"/>
                </a:solidFill>
                <a:latin typeface="Calibri"/>
              </a:rPr>
              <a:t>Virtual Factory</a:t>
            </a:r>
          </a:p>
        </p:txBody>
      </p:sp>
      <p:sp>
        <p:nvSpPr>
          <p:cNvPr id="40" name="TextBox 39"/>
          <p:cNvSpPr txBox="1"/>
          <p:nvPr/>
        </p:nvSpPr>
        <p:spPr>
          <a:xfrm>
            <a:off x="4475378" y="4133088"/>
            <a:ext cx="3286658" cy="384048"/>
          </a:xfrm>
          <a:prstGeom prst="rect">
            <a:avLst/>
          </a:prstGeom>
          <a:noFill/>
        </p:spPr>
        <p:txBody>
          <a:bodyPr wrap="square" anchor="t" lIns="0" rIns="0" tIns="0" bIns="0">
            <a:normAutofit/>
          </a:bodyPr>
          <a:lstStyle/>
          <a:p>
            <a:pPr algn="l">
              <a:lnSpc>
                <a:spcPct val="105000"/>
              </a:lnSpc>
              <a:spcBef>
                <a:spcPts val="0"/>
              </a:spcBef>
            </a:pPr>
            <a:r>
              <a:rPr sz="900" b="0" i="0">
                <a:solidFill>
                  <a:srgbClr val="E0F7F1"/>
                </a:solidFill>
                <a:latin typeface="Calibri"/>
              </a:rPr>
              <a:t>Manufacturing AI — anomaly detection, computer vision, predictive maintenance</a:t>
            </a:r>
          </a:p>
        </p:txBody>
      </p:sp>
      <p:sp>
        <p:nvSpPr>
          <p:cNvPr id="41" name="Rounded Rectangle 40"/>
          <p:cNvSpPr/>
          <p:nvPr/>
        </p:nvSpPr>
        <p:spPr>
          <a:xfrm>
            <a:off x="4402226" y="4645152"/>
            <a:ext cx="3405530" cy="676656"/>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475378" y="4681728"/>
            <a:ext cx="3286658" cy="201168"/>
          </a:xfrm>
          <a:prstGeom prst="rect">
            <a:avLst/>
          </a:prstGeom>
          <a:noFill/>
        </p:spPr>
        <p:txBody>
          <a:bodyPr wrap="square" anchor="t" lIns="0" rIns="0" tIns="0" bIns="0">
            <a:normAutofit/>
          </a:bodyPr>
          <a:lstStyle/>
          <a:p>
            <a:pPr algn="l">
              <a:lnSpc>
                <a:spcPct val="105000"/>
              </a:lnSpc>
              <a:spcBef>
                <a:spcPts val="0"/>
              </a:spcBef>
            </a:pPr>
            <a:r>
              <a:rPr sz="1000" b="1" i="0">
                <a:solidFill>
                  <a:srgbClr val="00C9A7"/>
                </a:solidFill>
                <a:latin typeface="Calibri"/>
              </a:rPr>
              <a:t>Edge AI Orchestrator</a:t>
            </a:r>
          </a:p>
        </p:txBody>
      </p:sp>
      <p:sp>
        <p:nvSpPr>
          <p:cNvPr id="43" name="TextBox 42"/>
          <p:cNvSpPr txBox="1"/>
          <p:nvPr/>
        </p:nvSpPr>
        <p:spPr>
          <a:xfrm>
            <a:off x="4475378" y="4882896"/>
            <a:ext cx="3286658" cy="384048"/>
          </a:xfrm>
          <a:prstGeom prst="rect">
            <a:avLst/>
          </a:prstGeom>
          <a:noFill/>
        </p:spPr>
        <p:txBody>
          <a:bodyPr wrap="square" anchor="t" lIns="0" rIns="0" tIns="0" bIns="0">
            <a:normAutofit/>
          </a:bodyPr>
          <a:lstStyle/>
          <a:p>
            <a:pPr algn="l">
              <a:lnSpc>
                <a:spcPct val="105000"/>
              </a:lnSpc>
              <a:spcBef>
                <a:spcPts val="0"/>
              </a:spcBef>
            </a:pPr>
            <a:r>
              <a:rPr sz="900" b="0" i="0">
                <a:solidFill>
                  <a:srgbClr val="E0F7F1"/>
                </a:solidFill>
                <a:latin typeface="Calibri"/>
              </a:rPr>
              <a:t>Low-latency on-device AI — automotive, IoT, Qualcomm/NVIDIA</a:t>
            </a:r>
          </a:p>
        </p:txBody>
      </p:sp>
      <p:sp>
        <p:nvSpPr>
          <p:cNvPr id="44" name="Rounded Rectangle 43"/>
          <p:cNvSpPr/>
          <p:nvPr/>
        </p:nvSpPr>
        <p:spPr>
          <a:xfrm>
            <a:off x="4402226" y="5394960"/>
            <a:ext cx="3405530" cy="676656"/>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475378" y="5431536"/>
            <a:ext cx="3286658" cy="201168"/>
          </a:xfrm>
          <a:prstGeom prst="rect">
            <a:avLst/>
          </a:prstGeom>
          <a:noFill/>
        </p:spPr>
        <p:txBody>
          <a:bodyPr wrap="square" anchor="t" lIns="0" rIns="0" tIns="0" bIns="0">
            <a:normAutofit/>
          </a:bodyPr>
          <a:lstStyle/>
          <a:p>
            <a:pPr algn="l">
              <a:lnSpc>
                <a:spcPct val="105000"/>
              </a:lnSpc>
              <a:spcBef>
                <a:spcPts val="0"/>
              </a:spcBef>
            </a:pPr>
            <a:r>
              <a:rPr sz="1000" b="1" i="0">
                <a:solidFill>
                  <a:srgbClr val="00C9A7"/>
                </a:solidFill>
                <a:latin typeface="Calibri"/>
              </a:rPr>
              <a:t>AI Testing Loop</a:t>
            </a:r>
          </a:p>
        </p:txBody>
      </p:sp>
      <p:sp>
        <p:nvSpPr>
          <p:cNvPr id="46" name="TextBox 45"/>
          <p:cNvSpPr txBox="1"/>
          <p:nvPr/>
        </p:nvSpPr>
        <p:spPr>
          <a:xfrm>
            <a:off x="4475378" y="5632704"/>
            <a:ext cx="3286658" cy="384048"/>
          </a:xfrm>
          <a:prstGeom prst="rect">
            <a:avLst/>
          </a:prstGeom>
          <a:noFill/>
        </p:spPr>
        <p:txBody>
          <a:bodyPr wrap="square" anchor="t" lIns="0" rIns="0" tIns="0" bIns="0">
            <a:normAutofit/>
          </a:bodyPr>
          <a:lstStyle/>
          <a:p>
            <a:pPr algn="l">
              <a:lnSpc>
                <a:spcPct val="105000"/>
              </a:lnSpc>
              <a:spcBef>
                <a:spcPts val="0"/>
              </a:spcBef>
            </a:pPr>
            <a:r>
              <a:rPr sz="900" b="0" i="0">
                <a:solidFill>
                  <a:srgbClr val="E0F7F1"/>
                </a:solidFill>
                <a:latin typeface="Calibri"/>
              </a:rPr>
              <a:t>80% manual testing automated · V-Model &amp; A-SPICE compliant</a:t>
            </a:r>
          </a:p>
        </p:txBody>
      </p:sp>
      <p:sp>
        <p:nvSpPr>
          <p:cNvPr id="47" name="Rounded Rectangle 46"/>
          <p:cNvSpPr/>
          <p:nvPr/>
        </p:nvSpPr>
        <p:spPr>
          <a:xfrm>
            <a:off x="8036356" y="1572768"/>
            <a:ext cx="3606698" cy="4663440"/>
          </a:xfrm>
          <a:prstGeom prst="roundRect">
            <a:avLst>
              <a:gd name="adj" fmla="val 3000"/>
            </a:avLst>
          </a:prstGeom>
          <a:solidFill>
            <a:srgbClr val="009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8036356" y="1572768"/>
            <a:ext cx="3606698"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146084" y="1664208"/>
            <a:ext cx="3423818" cy="274320"/>
          </a:xfrm>
          <a:prstGeom prst="rect">
            <a:avLst/>
          </a:prstGeom>
          <a:noFill/>
        </p:spPr>
        <p:txBody>
          <a:bodyPr wrap="square" anchor="t" lIns="0" rIns="0" tIns="0" bIns="0">
            <a:normAutofit/>
          </a:bodyPr>
          <a:lstStyle/>
          <a:p>
            <a:pPr algn="l">
              <a:lnSpc>
                <a:spcPct val="105000"/>
              </a:lnSpc>
              <a:spcBef>
                <a:spcPts val="0"/>
              </a:spcBef>
            </a:pPr>
            <a:r>
              <a:rPr sz="1100" b="1" i="0">
                <a:solidFill>
                  <a:srgbClr val="FFFFFF"/>
                </a:solidFill>
                <a:latin typeface="Calibri"/>
              </a:rPr>
              <a:t>LAYER 3 — INNOVATE</a:t>
            </a:r>
          </a:p>
        </p:txBody>
      </p:sp>
      <p:sp>
        <p:nvSpPr>
          <p:cNvPr id="50" name="TextBox 49"/>
          <p:cNvSpPr txBox="1"/>
          <p:nvPr/>
        </p:nvSpPr>
        <p:spPr>
          <a:xfrm>
            <a:off x="8146084" y="1956816"/>
            <a:ext cx="3423818" cy="274320"/>
          </a:xfrm>
          <a:prstGeom prst="rect">
            <a:avLst/>
          </a:prstGeom>
          <a:noFill/>
        </p:spPr>
        <p:txBody>
          <a:bodyPr wrap="square" anchor="t" lIns="0" rIns="0" tIns="0" bIns="0">
            <a:noAutofit/>
          </a:bodyPr>
          <a:lstStyle/>
          <a:p>
            <a:pPr algn="l">
              <a:lnSpc>
                <a:spcPct val="105000"/>
              </a:lnSpc>
              <a:spcBef>
                <a:spcPts val="0"/>
              </a:spcBef>
            </a:pPr>
            <a:r>
              <a:rPr sz="1100" b="0" i="0">
                <a:solidFill>
                  <a:srgbClr val="FFFFFF"/>
                </a:solidFill>
                <a:latin typeface="Calibri"/>
              </a:rPr>
              <a:t>Innovation: Create IP together</a:t>
            </a:r>
          </a:p>
        </p:txBody>
      </p:sp>
      <p:sp>
        <p:nvSpPr>
          <p:cNvPr id="51" name="Rectangle 50"/>
          <p:cNvSpPr/>
          <p:nvPr/>
        </p:nvSpPr>
        <p:spPr>
          <a:xfrm>
            <a:off x="8310676" y="2258568"/>
            <a:ext cx="3058058" cy="274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ounded Rectangle 51"/>
          <p:cNvSpPr/>
          <p:nvPr/>
        </p:nvSpPr>
        <p:spPr>
          <a:xfrm>
            <a:off x="8146084" y="2395728"/>
            <a:ext cx="3405530" cy="676656"/>
          </a:xfrm>
          <a:prstGeom prst="roundRect">
            <a:avLst>
              <a:gd name="adj" fmla="val 2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219236" y="2432304"/>
            <a:ext cx="3286658" cy="201168"/>
          </a:xfrm>
          <a:prstGeom prst="rect">
            <a:avLst/>
          </a:prstGeom>
          <a:noFill/>
        </p:spPr>
        <p:txBody>
          <a:bodyPr wrap="square" anchor="t" lIns="0" rIns="0" tIns="0" bIns="0">
            <a:normAutofit/>
          </a:bodyPr>
          <a:lstStyle/>
          <a:p>
            <a:pPr algn="l">
              <a:lnSpc>
                <a:spcPct val="105000"/>
              </a:lnSpc>
              <a:spcBef>
                <a:spcPts val="0"/>
              </a:spcBef>
            </a:pPr>
            <a:r>
              <a:rPr sz="1000" b="1" i="0">
                <a:solidFill>
                  <a:srgbClr val="00C9A7"/>
                </a:solidFill>
                <a:latin typeface="Calibri"/>
              </a:rPr>
              <a:t>Co-Development</a:t>
            </a:r>
          </a:p>
        </p:txBody>
      </p:sp>
      <p:sp>
        <p:nvSpPr>
          <p:cNvPr id="54" name="TextBox 53"/>
          <p:cNvSpPr txBox="1"/>
          <p:nvPr/>
        </p:nvSpPr>
        <p:spPr>
          <a:xfrm>
            <a:off x="8219236" y="2633472"/>
            <a:ext cx="3286658" cy="384048"/>
          </a:xfrm>
          <a:prstGeom prst="rect">
            <a:avLst/>
          </a:prstGeom>
          <a:noFill/>
        </p:spPr>
        <p:txBody>
          <a:bodyPr wrap="square" anchor="t" lIns="0" rIns="0" tIns="0" bIns="0">
            <a:normAutofit/>
          </a:bodyPr>
          <a:lstStyle/>
          <a:p>
            <a:pPr algn="l">
              <a:lnSpc>
                <a:spcPct val="105000"/>
              </a:lnSpc>
              <a:spcBef>
                <a:spcPts val="0"/>
              </a:spcBef>
            </a:pPr>
            <a:r>
              <a:rPr sz="900" b="0" i="0">
                <a:solidFill>
                  <a:srgbClr val="E0F7F1"/>
                </a:solidFill>
                <a:latin typeface="Calibri"/>
              </a:rPr>
              <a:t>Joint AI module development — GCC's domain expertise + FPT's engineering depth</a:t>
            </a:r>
          </a:p>
        </p:txBody>
      </p:sp>
      <p:sp>
        <p:nvSpPr>
          <p:cNvPr id="55" name="Rounded Rectangle 54"/>
          <p:cNvSpPr/>
          <p:nvPr/>
        </p:nvSpPr>
        <p:spPr>
          <a:xfrm>
            <a:off x="8146084" y="3145536"/>
            <a:ext cx="3405530" cy="676656"/>
          </a:xfrm>
          <a:prstGeom prst="roundRect">
            <a:avLst>
              <a:gd name="adj" fmla="val 2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219236" y="3182112"/>
            <a:ext cx="3286658" cy="201168"/>
          </a:xfrm>
          <a:prstGeom prst="rect">
            <a:avLst/>
          </a:prstGeom>
          <a:noFill/>
        </p:spPr>
        <p:txBody>
          <a:bodyPr wrap="square" anchor="t" lIns="0" rIns="0" tIns="0" bIns="0">
            <a:normAutofit/>
          </a:bodyPr>
          <a:lstStyle/>
          <a:p>
            <a:pPr algn="l">
              <a:lnSpc>
                <a:spcPct val="105000"/>
              </a:lnSpc>
              <a:spcBef>
                <a:spcPts val="0"/>
              </a:spcBef>
            </a:pPr>
            <a:r>
              <a:rPr sz="1000" b="1" i="0">
                <a:solidFill>
                  <a:srgbClr val="00C9A7"/>
                </a:solidFill>
                <a:latin typeface="Calibri"/>
              </a:rPr>
              <a:t>White-Label Packaging</a:t>
            </a:r>
          </a:p>
        </p:txBody>
      </p:sp>
      <p:sp>
        <p:nvSpPr>
          <p:cNvPr id="57" name="TextBox 56"/>
          <p:cNvSpPr txBox="1"/>
          <p:nvPr/>
        </p:nvSpPr>
        <p:spPr>
          <a:xfrm>
            <a:off x="8219236" y="3383280"/>
            <a:ext cx="3286658" cy="384048"/>
          </a:xfrm>
          <a:prstGeom prst="rect">
            <a:avLst/>
          </a:prstGeom>
          <a:noFill/>
        </p:spPr>
        <p:txBody>
          <a:bodyPr wrap="square" anchor="t" lIns="0" rIns="0" tIns="0" bIns="0">
            <a:normAutofit/>
          </a:bodyPr>
          <a:lstStyle/>
          <a:p>
            <a:pPr algn="l">
              <a:lnSpc>
                <a:spcPct val="105000"/>
              </a:lnSpc>
              <a:spcBef>
                <a:spcPts val="0"/>
              </a:spcBef>
            </a:pPr>
            <a:r>
              <a:rPr sz="900" b="0" i="0">
                <a:solidFill>
                  <a:srgbClr val="E0F7F1"/>
                </a:solidFill>
                <a:latin typeface="Calibri"/>
              </a:rPr>
              <a:t>GCC owns branded AI modules built on FPT platforms — resellable IP</a:t>
            </a:r>
          </a:p>
        </p:txBody>
      </p:sp>
      <p:sp>
        <p:nvSpPr>
          <p:cNvPr id="58" name="Rounded Rectangle 57"/>
          <p:cNvSpPr/>
          <p:nvPr/>
        </p:nvSpPr>
        <p:spPr>
          <a:xfrm>
            <a:off x="8146084" y="3895344"/>
            <a:ext cx="3405530" cy="676656"/>
          </a:xfrm>
          <a:prstGeom prst="roundRect">
            <a:avLst>
              <a:gd name="adj" fmla="val 2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8219236" y="3931920"/>
            <a:ext cx="3286658" cy="201168"/>
          </a:xfrm>
          <a:prstGeom prst="rect">
            <a:avLst/>
          </a:prstGeom>
          <a:noFill/>
        </p:spPr>
        <p:txBody>
          <a:bodyPr wrap="square" anchor="t" lIns="0" rIns="0" tIns="0" bIns="0">
            <a:normAutofit/>
          </a:bodyPr>
          <a:lstStyle/>
          <a:p>
            <a:pPr algn="l">
              <a:lnSpc>
                <a:spcPct val="105000"/>
              </a:lnSpc>
              <a:spcBef>
                <a:spcPts val="0"/>
              </a:spcBef>
            </a:pPr>
            <a:r>
              <a:rPr sz="1000" b="1" i="0">
                <a:solidFill>
                  <a:srgbClr val="00C9A7"/>
                </a:solidFill>
                <a:latin typeface="Calibri"/>
              </a:rPr>
              <a:t>CxO Quarterly Roadmap</a:t>
            </a:r>
          </a:p>
        </p:txBody>
      </p:sp>
      <p:sp>
        <p:nvSpPr>
          <p:cNvPr id="60" name="TextBox 59"/>
          <p:cNvSpPr txBox="1"/>
          <p:nvPr/>
        </p:nvSpPr>
        <p:spPr>
          <a:xfrm>
            <a:off x="8219236" y="4133088"/>
            <a:ext cx="3286658" cy="384048"/>
          </a:xfrm>
          <a:prstGeom prst="rect">
            <a:avLst/>
          </a:prstGeom>
          <a:noFill/>
        </p:spPr>
        <p:txBody>
          <a:bodyPr wrap="square" anchor="t" lIns="0" rIns="0" tIns="0" bIns="0">
            <a:normAutofit/>
          </a:bodyPr>
          <a:lstStyle/>
          <a:p>
            <a:pPr algn="l">
              <a:lnSpc>
                <a:spcPct val="105000"/>
              </a:lnSpc>
              <a:spcBef>
                <a:spcPts val="0"/>
              </a:spcBef>
            </a:pPr>
            <a:r>
              <a:rPr sz="900" b="0" i="0">
                <a:solidFill>
                  <a:srgbClr val="E0F7F1"/>
                </a:solidFill>
                <a:latin typeface="Calibri"/>
              </a:rPr>
              <a:t>Bi-directional strategic planning — FPT's global pipeline feeds GCC's roadmap</a:t>
            </a:r>
          </a:p>
        </p:txBody>
      </p:sp>
      <p:sp>
        <p:nvSpPr>
          <p:cNvPr id="61" name="Rounded Rectangle 60"/>
          <p:cNvSpPr/>
          <p:nvPr/>
        </p:nvSpPr>
        <p:spPr>
          <a:xfrm>
            <a:off x="8146084" y="4645152"/>
            <a:ext cx="3405530" cy="676656"/>
          </a:xfrm>
          <a:prstGeom prst="roundRect">
            <a:avLst>
              <a:gd name="adj" fmla="val 2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8219236" y="4681728"/>
            <a:ext cx="3286658" cy="201168"/>
          </a:xfrm>
          <a:prstGeom prst="rect">
            <a:avLst/>
          </a:prstGeom>
          <a:noFill/>
        </p:spPr>
        <p:txBody>
          <a:bodyPr wrap="square" anchor="t" lIns="0" rIns="0" tIns="0" bIns="0">
            <a:normAutofit/>
          </a:bodyPr>
          <a:lstStyle/>
          <a:p>
            <a:pPr algn="l">
              <a:lnSpc>
                <a:spcPct val="105000"/>
              </a:lnSpc>
              <a:spcBef>
                <a:spcPts val="0"/>
              </a:spcBef>
            </a:pPr>
            <a:r>
              <a:rPr sz="1000" b="1" i="0">
                <a:solidFill>
                  <a:srgbClr val="00C9A7"/>
                </a:solidFill>
                <a:latin typeface="Calibri"/>
              </a:rPr>
              <a:t>DX Garage</a:t>
            </a:r>
          </a:p>
        </p:txBody>
      </p:sp>
      <p:sp>
        <p:nvSpPr>
          <p:cNvPr id="63" name="TextBox 62"/>
          <p:cNvSpPr txBox="1"/>
          <p:nvPr/>
        </p:nvSpPr>
        <p:spPr>
          <a:xfrm>
            <a:off x="8219236" y="4882896"/>
            <a:ext cx="3286658" cy="384048"/>
          </a:xfrm>
          <a:prstGeom prst="rect">
            <a:avLst/>
          </a:prstGeom>
          <a:noFill/>
        </p:spPr>
        <p:txBody>
          <a:bodyPr wrap="square" anchor="t" lIns="0" rIns="0" tIns="0" bIns="0">
            <a:normAutofit/>
          </a:bodyPr>
          <a:lstStyle/>
          <a:p>
            <a:pPr algn="l">
              <a:lnSpc>
                <a:spcPct val="105000"/>
              </a:lnSpc>
              <a:spcBef>
                <a:spcPts val="0"/>
              </a:spcBef>
            </a:pPr>
            <a:r>
              <a:rPr sz="900" b="0" i="0">
                <a:solidFill>
                  <a:srgbClr val="E0F7F1"/>
                </a:solidFill>
                <a:latin typeface="Calibri"/>
              </a:rPr>
              <a:t>Innovation studio: rapid prototyping of next-generation AI use cases</a:t>
            </a:r>
          </a:p>
        </p:txBody>
      </p:sp>
      <p:sp>
        <p:nvSpPr>
          <p:cNvPr id="64" name="Rounded Rectangle 63"/>
          <p:cNvSpPr/>
          <p:nvPr/>
        </p:nvSpPr>
        <p:spPr>
          <a:xfrm>
            <a:off x="8146084" y="5394960"/>
            <a:ext cx="3405530" cy="676656"/>
          </a:xfrm>
          <a:prstGeom prst="roundRect">
            <a:avLst>
              <a:gd name="adj" fmla="val 2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8219236" y="5431536"/>
            <a:ext cx="3286658" cy="201168"/>
          </a:xfrm>
          <a:prstGeom prst="rect">
            <a:avLst/>
          </a:prstGeom>
          <a:noFill/>
        </p:spPr>
        <p:txBody>
          <a:bodyPr wrap="square" anchor="t" lIns="0" rIns="0" tIns="0" bIns="0">
            <a:normAutofit/>
          </a:bodyPr>
          <a:lstStyle/>
          <a:p>
            <a:pPr algn="l">
              <a:lnSpc>
                <a:spcPct val="105000"/>
              </a:lnSpc>
              <a:spcBef>
                <a:spcPts val="0"/>
              </a:spcBef>
            </a:pPr>
            <a:r>
              <a:rPr sz="1000" b="1" i="0">
                <a:solidFill>
                  <a:srgbClr val="00C9A7"/>
                </a:solidFill>
                <a:latin typeface="Calibri"/>
              </a:rPr>
              <a:t>Strategic Partnership</a:t>
            </a:r>
          </a:p>
        </p:txBody>
      </p:sp>
      <p:sp>
        <p:nvSpPr>
          <p:cNvPr id="66" name="TextBox 65"/>
          <p:cNvSpPr txBox="1"/>
          <p:nvPr/>
        </p:nvSpPr>
        <p:spPr>
          <a:xfrm>
            <a:off x="8219236" y="5632704"/>
            <a:ext cx="3286658" cy="384048"/>
          </a:xfrm>
          <a:prstGeom prst="rect">
            <a:avLst/>
          </a:prstGeom>
          <a:noFill/>
        </p:spPr>
        <p:txBody>
          <a:bodyPr wrap="square" anchor="t" lIns="0" rIns="0" tIns="0" bIns="0">
            <a:normAutofit/>
          </a:bodyPr>
          <a:lstStyle/>
          <a:p>
            <a:pPr algn="l">
              <a:lnSpc>
                <a:spcPct val="105000"/>
              </a:lnSpc>
              <a:spcBef>
                <a:spcPts val="0"/>
              </a:spcBef>
            </a:pPr>
            <a:r>
              <a:rPr sz="900" b="0" i="0">
                <a:solidFill>
                  <a:srgbClr val="E0F7F1"/>
                </a:solidFill>
                <a:latin typeface="Calibri"/>
              </a:rPr>
              <a:t>Preferred technology partner status · $10M–$30M · multi-year locked-in</a:t>
            </a:r>
          </a:p>
        </p:txBody>
      </p:sp>
      <p:sp>
        <p:nvSpPr>
          <p:cNvPr id="67" name="TextBox 66"/>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FPT Software · GCC Implementation Roadmap · Jun 2026</a:t>
            </a:r>
          </a:p>
        </p:txBody>
      </p:sp>
      <p:sp>
        <p:nvSpPr>
          <p:cNvPr id="68" name="TextBox 67"/>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3 / 17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56032"/>
            <a:ext cx="11094415" cy="438912"/>
          </a:xfrm>
          <a:prstGeom prst="rect">
            <a:avLst/>
          </a:prstGeom>
          <a:noFill/>
        </p:spPr>
        <p:txBody>
          <a:bodyPr wrap="square" anchor="t" lIns="0" rIns="0" tIns="0" bIns="0">
            <a:normAutofit/>
          </a:bodyPr>
          <a:lstStyle/>
          <a:p>
            <a:pPr algn="l">
              <a:lnSpc>
                <a:spcPct val="105000"/>
              </a:lnSpc>
              <a:spcBef>
                <a:spcPts val="0"/>
              </a:spcBef>
            </a:pPr>
            <a:r>
              <a:rPr sz="2200" b="1" i="0">
                <a:solidFill>
                  <a:srgbClr val="FFFFFF"/>
                </a:solidFill>
                <a:latin typeface="Calibri"/>
              </a:rPr>
              <a:t>GCC Implementation Roadmap — Time × Capability Matrix</a:t>
            </a:r>
          </a:p>
        </p:txBody>
      </p:sp>
      <p:sp>
        <p:nvSpPr>
          <p:cNvPr id="5" name="Rectangle 4"/>
          <p:cNvSpPr/>
          <p:nvPr/>
        </p:nvSpPr>
        <p:spPr>
          <a:xfrm>
            <a:off x="548640" y="804672"/>
            <a:ext cx="1508760" cy="594360"/>
          </a:xfrm>
          <a:prstGeom prst="rect">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2093976" y="804672"/>
            <a:ext cx="2368981" cy="594360"/>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093976" y="804672"/>
            <a:ext cx="2368981" cy="36576"/>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148840" y="850392"/>
            <a:ext cx="2277541" cy="347472"/>
          </a:xfrm>
          <a:prstGeom prst="rect">
            <a:avLst/>
          </a:prstGeom>
          <a:noFill/>
        </p:spPr>
        <p:txBody>
          <a:bodyPr wrap="square" anchor="t" lIns="0" rIns="0" tIns="0" bIns="0">
            <a:normAutofit/>
          </a:bodyPr>
          <a:lstStyle/>
          <a:p>
            <a:pPr algn="ctr">
              <a:lnSpc>
                <a:spcPct val="105000"/>
              </a:lnSpc>
              <a:spcBef>
                <a:spcPts val="0"/>
              </a:spcBef>
            </a:pPr>
            <a:r>
              <a:rPr sz="900" b="1" i="0">
                <a:solidFill>
                  <a:srgbClr val="00C9A7"/>
                </a:solidFill>
                <a:latin typeface="Calibri"/>
              </a:rPr>
              <a:t>PHASE 1
AI READINESS SPRINT</a:t>
            </a:r>
          </a:p>
        </p:txBody>
      </p:sp>
      <p:sp>
        <p:nvSpPr>
          <p:cNvPr id="9" name="TextBox 8"/>
          <p:cNvSpPr txBox="1"/>
          <p:nvPr/>
        </p:nvSpPr>
        <p:spPr>
          <a:xfrm>
            <a:off x="2148840" y="1207008"/>
            <a:ext cx="2277541" cy="164592"/>
          </a:xfrm>
          <a:prstGeom prst="rect">
            <a:avLst/>
          </a:prstGeom>
          <a:noFill/>
        </p:spPr>
        <p:txBody>
          <a:bodyPr wrap="square" anchor="t" lIns="0" rIns="0" tIns="0" bIns="0">
            <a:noAutofit/>
          </a:bodyPr>
          <a:lstStyle/>
          <a:p>
            <a:pPr algn="ctr">
              <a:lnSpc>
                <a:spcPct val="105000"/>
              </a:lnSpc>
              <a:spcBef>
                <a:spcPts val="0"/>
              </a:spcBef>
            </a:pPr>
            <a:r>
              <a:rPr sz="850" b="0" i="0">
                <a:solidFill>
                  <a:srgbClr val="5B6B7C"/>
                </a:solidFill>
                <a:latin typeface="Calibri"/>
              </a:rPr>
              <a:t>Wks 1–8</a:t>
            </a:r>
          </a:p>
        </p:txBody>
      </p:sp>
      <p:sp>
        <p:nvSpPr>
          <p:cNvPr id="10" name="Rounded Rectangle 9"/>
          <p:cNvSpPr/>
          <p:nvPr/>
        </p:nvSpPr>
        <p:spPr>
          <a:xfrm>
            <a:off x="4499533" y="804672"/>
            <a:ext cx="2368981" cy="594360"/>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499533" y="804672"/>
            <a:ext cx="2368981" cy="36576"/>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54397" y="850392"/>
            <a:ext cx="2277541" cy="347472"/>
          </a:xfrm>
          <a:prstGeom prst="rect">
            <a:avLst/>
          </a:prstGeom>
          <a:noFill/>
        </p:spPr>
        <p:txBody>
          <a:bodyPr wrap="square" anchor="t" lIns="0" rIns="0" tIns="0" bIns="0">
            <a:normAutofit/>
          </a:bodyPr>
          <a:lstStyle/>
          <a:p>
            <a:pPr algn="ctr">
              <a:lnSpc>
                <a:spcPct val="105000"/>
              </a:lnSpc>
              <a:spcBef>
                <a:spcPts val="0"/>
              </a:spcBef>
            </a:pPr>
            <a:r>
              <a:rPr sz="900" b="1" i="0">
                <a:solidFill>
                  <a:srgbClr val="00C9A7"/>
                </a:solidFill>
                <a:latin typeface="Calibri"/>
              </a:rPr>
              <a:t>PHASE 2
TRANSFORMATION YR 1</a:t>
            </a:r>
          </a:p>
        </p:txBody>
      </p:sp>
      <p:sp>
        <p:nvSpPr>
          <p:cNvPr id="13" name="TextBox 12"/>
          <p:cNvSpPr txBox="1"/>
          <p:nvPr/>
        </p:nvSpPr>
        <p:spPr>
          <a:xfrm>
            <a:off x="4554397" y="1207008"/>
            <a:ext cx="2277541" cy="164592"/>
          </a:xfrm>
          <a:prstGeom prst="rect">
            <a:avLst/>
          </a:prstGeom>
          <a:noFill/>
        </p:spPr>
        <p:txBody>
          <a:bodyPr wrap="square" anchor="t" lIns="0" rIns="0" tIns="0" bIns="0">
            <a:noAutofit/>
          </a:bodyPr>
          <a:lstStyle/>
          <a:p>
            <a:pPr algn="ctr">
              <a:lnSpc>
                <a:spcPct val="105000"/>
              </a:lnSpc>
              <a:spcBef>
                <a:spcPts val="0"/>
              </a:spcBef>
            </a:pPr>
            <a:r>
              <a:rPr sz="850" b="0" i="0">
                <a:solidFill>
                  <a:srgbClr val="5B6B7C"/>
                </a:solidFill>
                <a:latin typeface="Calibri"/>
              </a:rPr>
              <a:t>Months 3–12</a:t>
            </a:r>
          </a:p>
        </p:txBody>
      </p:sp>
      <p:sp>
        <p:nvSpPr>
          <p:cNvPr id="14" name="Rounded Rectangle 13"/>
          <p:cNvSpPr/>
          <p:nvPr/>
        </p:nvSpPr>
        <p:spPr>
          <a:xfrm>
            <a:off x="6905091" y="804672"/>
            <a:ext cx="2368981" cy="594360"/>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05091" y="804672"/>
            <a:ext cx="2368981" cy="36576"/>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959955" y="850392"/>
            <a:ext cx="2277541" cy="347472"/>
          </a:xfrm>
          <a:prstGeom prst="rect">
            <a:avLst/>
          </a:prstGeom>
          <a:noFill/>
        </p:spPr>
        <p:txBody>
          <a:bodyPr wrap="square" anchor="t" lIns="0" rIns="0" tIns="0" bIns="0">
            <a:normAutofit/>
          </a:bodyPr>
          <a:lstStyle/>
          <a:p>
            <a:pPr algn="ctr">
              <a:lnSpc>
                <a:spcPct val="105000"/>
              </a:lnSpc>
              <a:spcBef>
                <a:spcPts val="0"/>
              </a:spcBef>
            </a:pPr>
            <a:r>
              <a:rPr sz="900" b="1" i="0">
                <a:solidFill>
                  <a:srgbClr val="00C9A7"/>
                </a:solidFill>
                <a:latin typeface="Calibri"/>
              </a:rPr>
              <a:t>PHASE 3
TRANSFORMATION YR 2</a:t>
            </a:r>
          </a:p>
        </p:txBody>
      </p:sp>
      <p:sp>
        <p:nvSpPr>
          <p:cNvPr id="17" name="TextBox 16"/>
          <p:cNvSpPr txBox="1"/>
          <p:nvPr/>
        </p:nvSpPr>
        <p:spPr>
          <a:xfrm>
            <a:off x="6959955" y="1207008"/>
            <a:ext cx="2277541" cy="164592"/>
          </a:xfrm>
          <a:prstGeom prst="rect">
            <a:avLst/>
          </a:prstGeom>
          <a:noFill/>
        </p:spPr>
        <p:txBody>
          <a:bodyPr wrap="square" anchor="t" lIns="0" rIns="0" tIns="0" bIns="0">
            <a:noAutofit/>
          </a:bodyPr>
          <a:lstStyle/>
          <a:p>
            <a:pPr algn="ctr">
              <a:lnSpc>
                <a:spcPct val="105000"/>
              </a:lnSpc>
              <a:spcBef>
                <a:spcPts val="0"/>
              </a:spcBef>
            </a:pPr>
            <a:r>
              <a:rPr sz="850" b="0" i="0">
                <a:solidFill>
                  <a:srgbClr val="5B6B7C"/>
                </a:solidFill>
                <a:latin typeface="Calibri"/>
              </a:rPr>
              <a:t>Months 12–24</a:t>
            </a:r>
          </a:p>
        </p:txBody>
      </p:sp>
      <p:sp>
        <p:nvSpPr>
          <p:cNvPr id="18" name="Rounded Rectangle 17"/>
          <p:cNvSpPr/>
          <p:nvPr/>
        </p:nvSpPr>
        <p:spPr>
          <a:xfrm>
            <a:off x="9310649" y="804672"/>
            <a:ext cx="2368981" cy="594360"/>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9310649" y="804672"/>
            <a:ext cx="2368981" cy="36576"/>
          </a:xfrm>
          <a:prstGeom prst="rect">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65513" y="850392"/>
            <a:ext cx="2277541" cy="347472"/>
          </a:xfrm>
          <a:prstGeom prst="rect">
            <a:avLst/>
          </a:prstGeom>
          <a:noFill/>
        </p:spPr>
        <p:txBody>
          <a:bodyPr wrap="square" anchor="t" lIns="0" rIns="0" tIns="0" bIns="0">
            <a:normAutofit/>
          </a:bodyPr>
          <a:lstStyle/>
          <a:p>
            <a:pPr algn="ctr">
              <a:lnSpc>
                <a:spcPct val="105000"/>
              </a:lnSpc>
              <a:spcBef>
                <a:spcPts val="0"/>
              </a:spcBef>
            </a:pPr>
            <a:r>
              <a:rPr sz="900" b="1" i="0">
                <a:solidFill>
                  <a:srgbClr val="FFB800"/>
                </a:solidFill>
                <a:latin typeface="Calibri"/>
              </a:rPr>
              <a:t>PHASE 4
STRATEGIC PARTNERSHIP</a:t>
            </a:r>
          </a:p>
        </p:txBody>
      </p:sp>
      <p:sp>
        <p:nvSpPr>
          <p:cNvPr id="21" name="TextBox 20"/>
          <p:cNvSpPr txBox="1"/>
          <p:nvPr/>
        </p:nvSpPr>
        <p:spPr>
          <a:xfrm>
            <a:off x="9365513" y="1207008"/>
            <a:ext cx="2277541" cy="164592"/>
          </a:xfrm>
          <a:prstGeom prst="rect">
            <a:avLst/>
          </a:prstGeom>
          <a:noFill/>
        </p:spPr>
        <p:txBody>
          <a:bodyPr wrap="square" anchor="t" lIns="0" rIns="0" tIns="0" bIns="0">
            <a:noAutofit/>
          </a:bodyPr>
          <a:lstStyle/>
          <a:p>
            <a:pPr algn="ctr">
              <a:lnSpc>
                <a:spcPct val="105000"/>
              </a:lnSpc>
              <a:spcBef>
                <a:spcPts val="0"/>
              </a:spcBef>
            </a:pPr>
            <a:r>
              <a:rPr sz="850" b="0" i="0">
                <a:solidFill>
                  <a:srgbClr val="5B6B7C"/>
                </a:solidFill>
                <a:latin typeface="Calibri"/>
              </a:rPr>
              <a:t>Year 2+</a:t>
            </a:r>
          </a:p>
        </p:txBody>
      </p:sp>
      <p:sp>
        <p:nvSpPr>
          <p:cNvPr id="22" name="Rounded Rectangle 21"/>
          <p:cNvSpPr/>
          <p:nvPr/>
        </p:nvSpPr>
        <p:spPr>
          <a:xfrm>
            <a:off x="548640" y="1435608"/>
            <a:ext cx="1508760" cy="1636776"/>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48640" y="1435608"/>
            <a:ext cx="45720" cy="1636776"/>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8368" y="1508760"/>
            <a:ext cx="1344168" cy="1490472"/>
          </a:xfrm>
          <a:prstGeom prst="rect">
            <a:avLst/>
          </a:prstGeom>
          <a:noFill/>
        </p:spPr>
        <p:txBody>
          <a:bodyPr wrap="square" anchor="ctr" lIns="0" rIns="0" tIns="0" bIns="0">
            <a:normAutofit/>
          </a:bodyPr>
          <a:lstStyle/>
          <a:p>
            <a:pPr algn="ctr">
              <a:lnSpc>
                <a:spcPct val="105000"/>
              </a:lnSpc>
              <a:spcBef>
                <a:spcPts val="0"/>
              </a:spcBef>
            </a:pPr>
            <a:r>
              <a:rPr sz="1000" b="1" i="0">
                <a:solidFill>
                  <a:srgbClr val="00C9A7"/>
                </a:solidFill>
                <a:latin typeface="Calibri"/>
              </a:rPr>
              <a:t>MODERNIZE
Foundation</a:t>
            </a:r>
          </a:p>
        </p:txBody>
      </p:sp>
      <p:sp>
        <p:nvSpPr>
          <p:cNvPr id="25" name="Rounded Rectangle 24"/>
          <p:cNvSpPr/>
          <p:nvPr/>
        </p:nvSpPr>
        <p:spPr>
          <a:xfrm>
            <a:off x="2093976" y="1435608"/>
            <a:ext cx="2368981" cy="1636776"/>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93976" y="1435608"/>
            <a:ext cx="2368981" cy="27432"/>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167128" y="1508760"/>
            <a:ext cx="2240965" cy="1490472"/>
          </a:xfrm>
          <a:prstGeom prst="rect">
            <a:avLst/>
          </a:prstGeom>
          <a:noFill/>
        </p:spPr>
        <p:txBody>
          <a:bodyPr wrap="square" anchor="t" lIns="0" rIns="0" tIns="0" bIns="0">
            <a:normAutofit/>
          </a:bodyPr>
          <a:lstStyle/>
          <a:p>
            <a:pPr algn="l">
              <a:lnSpc>
                <a:spcPct val="105000"/>
              </a:lnSpc>
              <a:spcBef>
                <a:spcPts val="0"/>
              </a:spcBef>
            </a:pPr>
            <a:r>
              <a:rPr sz="950" b="0" i="0">
                <a:solidFill>
                  <a:srgbClr val="E0F7F1"/>
                </a:solidFill>
                <a:latin typeface="Calibri"/>
              </a:rPr>
              <a:t>CASAN Assessment
Data Readiness Audit
Cloud Migration Scoping
xMainframe Baseline</a:t>
            </a:r>
          </a:p>
        </p:txBody>
      </p:sp>
      <p:sp>
        <p:nvSpPr>
          <p:cNvPr id="28" name="Rounded Rectangle 27"/>
          <p:cNvSpPr/>
          <p:nvPr/>
        </p:nvSpPr>
        <p:spPr>
          <a:xfrm>
            <a:off x="4499533" y="1435608"/>
            <a:ext cx="2368981" cy="1636776"/>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499533" y="1435608"/>
            <a:ext cx="2368981" cy="27432"/>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572685" y="1508760"/>
            <a:ext cx="2240965" cy="1490472"/>
          </a:xfrm>
          <a:prstGeom prst="rect">
            <a:avLst/>
          </a:prstGeom>
          <a:noFill/>
        </p:spPr>
        <p:txBody>
          <a:bodyPr wrap="square" anchor="t" lIns="0" rIns="0" tIns="0" bIns="0">
            <a:normAutofit/>
          </a:bodyPr>
          <a:lstStyle/>
          <a:p>
            <a:pPr algn="l">
              <a:lnSpc>
                <a:spcPct val="105000"/>
              </a:lnSpc>
              <a:spcBef>
                <a:spcPts val="0"/>
              </a:spcBef>
            </a:pPr>
            <a:r>
              <a:rPr sz="950" b="0" i="0">
                <a:solidFill>
                  <a:srgbClr val="E0F7F1"/>
                </a:solidFill>
                <a:latin typeface="Calibri"/>
              </a:rPr>
              <a:t>EMT Legacy Modernization
xMainframe Migration Live
CodeVista Developer AI
Data Platform Built</a:t>
            </a:r>
          </a:p>
        </p:txBody>
      </p:sp>
      <p:sp>
        <p:nvSpPr>
          <p:cNvPr id="31" name="Rounded Rectangle 30"/>
          <p:cNvSpPr/>
          <p:nvPr/>
        </p:nvSpPr>
        <p:spPr>
          <a:xfrm>
            <a:off x="6905091" y="1435608"/>
            <a:ext cx="2368981" cy="1636776"/>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905091" y="1435608"/>
            <a:ext cx="2368981" cy="27432"/>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978243" y="1508760"/>
            <a:ext cx="2240965" cy="1490472"/>
          </a:xfrm>
          <a:prstGeom prst="rect">
            <a:avLst/>
          </a:prstGeom>
          <a:noFill/>
        </p:spPr>
        <p:txBody>
          <a:bodyPr wrap="square" anchor="t" lIns="0" rIns="0" tIns="0" bIns="0">
            <a:normAutofit/>
          </a:bodyPr>
          <a:lstStyle/>
          <a:p>
            <a:pPr algn="l">
              <a:lnSpc>
                <a:spcPct val="105000"/>
              </a:lnSpc>
              <a:spcBef>
                <a:spcPts val="0"/>
              </a:spcBef>
            </a:pPr>
            <a:r>
              <a:rPr sz="950" b="0" i="0">
                <a:solidFill>
                  <a:srgbClr val="E0F7F1"/>
                </a:solidFill>
                <a:latin typeface="Calibri"/>
              </a:rPr>
              <a:t>Modernization Complete
Legacy Tech Debt Cleared
Cloud-Native Stack
CodeVista at Scale</a:t>
            </a:r>
          </a:p>
        </p:txBody>
      </p:sp>
      <p:sp>
        <p:nvSpPr>
          <p:cNvPr id="34" name="Rounded Rectangle 33"/>
          <p:cNvSpPr/>
          <p:nvPr/>
        </p:nvSpPr>
        <p:spPr>
          <a:xfrm>
            <a:off x="9310649" y="1435608"/>
            <a:ext cx="2368981" cy="1636776"/>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310649" y="1435608"/>
            <a:ext cx="2368981" cy="27432"/>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383801" y="1508760"/>
            <a:ext cx="2240965" cy="1490472"/>
          </a:xfrm>
          <a:prstGeom prst="rect">
            <a:avLst/>
          </a:prstGeom>
          <a:noFill/>
        </p:spPr>
        <p:txBody>
          <a:bodyPr wrap="square" anchor="t" lIns="0" rIns="0" tIns="0" bIns="0">
            <a:normAutofit/>
          </a:bodyPr>
          <a:lstStyle/>
          <a:p>
            <a:pPr algn="l">
              <a:lnSpc>
                <a:spcPct val="105000"/>
              </a:lnSpc>
              <a:spcBef>
                <a:spcPts val="0"/>
              </a:spcBef>
            </a:pPr>
            <a:r>
              <a:rPr sz="950" b="0" i="0">
                <a:solidFill>
                  <a:srgbClr val="E0F7F1"/>
                </a:solidFill>
                <a:latin typeface="Calibri"/>
              </a:rPr>
              <a:t>Foundation Hardened
IP Library Growing
Dev Velocity Baseline
Platform Lock-In</a:t>
            </a:r>
          </a:p>
        </p:txBody>
      </p:sp>
      <p:sp>
        <p:nvSpPr>
          <p:cNvPr id="37" name="Rounded Rectangle 36"/>
          <p:cNvSpPr/>
          <p:nvPr/>
        </p:nvSpPr>
        <p:spPr>
          <a:xfrm>
            <a:off x="548640" y="3108960"/>
            <a:ext cx="1508760" cy="1636776"/>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48640" y="3108960"/>
            <a:ext cx="45720" cy="1636776"/>
          </a:xfrm>
          <a:prstGeom prst="rect">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58368" y="3182112"/>
            <a:ext cx="1344168" cy="1490472"/>
          </a:xfrm>
          <a:prstGeom prst="rect">
            <a:avLst/>
          </a:prstGeom>
          <a:noFill/>
        </p:spPr>
        <p:txBody>
          <a:bodyPr wrap="square" anchor="ctr" lIns="0" rIns="0" tIns="0" bIns="0">
            <a:normAutofit/>
          </a:bodyPr>
          <a:lstStyle/>
          <a:p>
            <a:pPr algn="ctr">
              <a:lnSpc>
                <a:spcPct val="105000"/>
              </a:lnSpc>
              <a:spcBef>
                <a:spcPts val="0"/>
              </a:spcBef>
            </a:pPr>
            <a:r>
              <a:rPr sz="1000" b="1" i="0">
                <a:solidFill>
                  <a:srgbClr val="FFB800"/>
                </a:solidFill>
                <a:latin typeface="Calibri"/>
              </a:rPr>
              <a:t>ACTIVATE
Intelligence</a:t>
            </a:r>
          </a:p>
        </p:txBody>
      </p:sp>
      <p:sp>
        <p:nvSpPr>
          <p:cNvPr id="40" name="Rounded Rectangle 39"/>
          <p:cNvSpPr/>
          <p:nvPr/>
        </p:nvSpPr>
        <p:spPr>
          <a:xfrm>
            <a:off x="2093976" y="3108960"/>
            <a:ext cx="2368981" cy="1636776"/>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2093976" y="3108960"/>
            <a:ext cx="2368981" cy="27432"/>
          </a:xfrm>
          <a:prstGeom prst="rect">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167128" y="3182112"/>
            <a:ext cx="2240965" cy="1490472"/>
          </a:xfrm>
          <a:prstGeom prst="rect">
            <a:avLst/>
          </a:prstGeom>
          <a:noFill/>
        </p:spPr>
        <p:txBody>
          <a:bodyPr wrap="square" anchor="t" lIns="0" rIns="0" tIns="0" bIns="0">
            <a:normAutofit/>
          </a:bodyPr>
          <a:lstStyle/>
          <a:p>
            <a:pPr algn="l">
              <a:lnSpc>
                <a:spcPct val="105000"/>
              </a:lnSpc>
              <a:spcBef>
                <a:spcPts val="0"/>
              </a:spcBef>
            </a:pPr>
            <a:r>
              <a:rPr sz="950" b="0" i="0">
                <a:solidFill>
                  <a:srgbClr val="E0F7F1"/>
                </a:solidFill>
                <a:latin typeface="Calibri"/>
              </a:rPr>
              <a:t>FleziPT PoC (1 use case)
Vertical AI Scoped
AI Testing Framework
Model Selection</a:t>
            </a:r>
          </a:p>
        </p:txBody>
      </p:sp>
      <p:sp>
        <p:nvSpPr>
          <p:cNvPr id="43" name="Rounded Rectangle 42"/>
          <p:cNvSpPr/>
          <p:nvPr/>
        </p:nvSpPr>
        <p:spPr>
          <a:xfrm>
            <a:off x="4499533" y="3108960"/>
            <a:ext cx="2368981" cy="1636776"/>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4499533" y="3108960"/>
            <a:ext cx="2368981" cy="27432"/>
          </a:xfrm>
          <a:prstGeom prst="rect">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572685" y="3182112"/>
            <a:ext cx="2240965" cy="1490472"/>
          </a:xfrm>
          <a:prstGeom prst="rect">
            <a:avLst/>
          </a:prstGeom>
          <a:noFill/>
        </p:spPr>
        <p:txBody>
          <a:bodyPr wrap="square" anchor="t" lIns="0" rIns="0" tIns="0" bIns="0">
            <a:normAutofit/>
          </a:bodyPr>
          <a:lstStyle/>
          <a:p>
            <a:pPr algn="l">
              <a:lnSpc>
                <a:spcPct val="105000"/>
              </a:lnSpc>
              <a:spcBef>
                <a:spcPts val="0"/>
              </a:spcBef>
            </a:pPr>
            <a:r>
              <a:rPr sz="950" b="0" i="0">
                <a:solidFill>
                  <a:srgbClr val="E0F7F1"/>
                </a:solidFill>
                <a:latin typeface="Calibri"/>
              </a:rPr>
              <a:t>FleziPT Production
Vertical AI Live
(KnowMed / VFactory)
AI Testing Automated</a:t>
            </a:r>
          </a:p>
        </p:txBody>
      </p:sp>
      <p:sp>
        <p:nvSpPr>
          <p:cNvPr id="46" name="Rounded Rectangle 45"/>
          <p:cNvSpPr/>
          <p:nvPr/>
        </p:nvSpPr>
        <p:spPr>
          <a:xfrm>
            <a:off x="6905091" y="3108960"/>
            <a:ext cx="2368981" cy="1636776"/>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6905091" y="3108960"/>
            <a:ext cx="2368981" cy="27432"/>
          </a:xfrm>
          <a:prstGeom prst="rect">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978243" y="3182112"/>
            <a:ext cx="2240965" cy="1490472"/>
          </a:xfrm>
          <a:prstGeom prst="rect">
            <a:avLst/>
          </a:prstGeom>
          <a:noFill/>
        </p:spPr>
        <p:txBody>
          <a:bodyPr wrap="square" anchor="t" lIns="0" rIns="0" tIns="0" bIns="0">
            <a:normAutofit/>
          </a:bodyPr>
          <a:lstStyle/>
          <a:p>
            <a:pPr algn="l">
              <a:lnSpc>
                <a:spcPct val="105000"/>
              </a:lnSpc>
              <a:spcBef>
                <a:spcPts val="0"/>
              </a:spcBef>
            </a:pPr>
            <a:r>
              <a:rPr sz="950" b="0" i="0">
                <a:solidFill>
                  <a:srgbClr val="E0F7F1"/>
                </a:solidFill>
                <a:latin typeface="Calibri"/>
              </a:rPr>
              <a:t>2nd Vertical AI Live
Edge AI Deployed
AI Testing at 80%
MLOps Pipeline Stable</a:t>
            </a:r>
          </a:p>
        </p:txBody>
      </p:sp>
      <p:sp>
        <p:nvSpPr>
          <p:cNvPr id="49" name="Rounded Rectangle 48"/>
          <p:cNvSpPr/>
          <p:nvPr/>
        </p:nvSpPr>
        <p:spPr>
          <a:xfrm>
            <a:off x="9310649" y="3108960"/>
            <a:ext cx="2368981" cy="1636776"/>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9310649" y="3108960"/>
            <a:ext cx="2368981" cy="27432"/>
          </a:xfrm>
          <a:prstGeom prst="rect">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9383801" y="3182112"/>
            <a:ext cx="2240965" cy="1490472"/>
          </a:xfrm>
          <a:prstGeom prst="rect">
            <a:avLst/>
          </a:prstGeom>
          <a:noFill/>
        </p:spPr>
        <p:txBody>
          <a:bodyPr wrap="square" anchor="t" lIns="0" rIns="0" tIns="0" bIns="0">
            <a:normAutofit/>
          </a:bodyPr>
          <a:lstStyle/>
          <a:p>
            <a:pPr algn="l">
              <a:lnSpc>
                <a:spcPct val="105000"/>
              </a:lnSpc>
              <a:spcBef>
                <a:spcPts val="0"/>
              </a:spcBef>
            </a:pPr>
            <a:r>
              <a:rPr sz="950" b="0" i="0">
                <a:solidFill>
                  <a:srgbClr val="E0F7F1"/>
                </a:solidFill>
                <a:latin typeface="Calibri"/>
              </a:rPr>
              <a:t>AI Platform as Standard
All Verticals Active
Self-Improving Models
AI-First Operations</a:t>
            </a:r>
          </a:p>
        </p:txBody>
      </p:sp>
      <p:sp>
        <p:nvSpPr>
          <p:cNvPr id="52" name="Rounded Rectangle 51"/>
          <p:cNvSpPr/>
          <p:nvPr/>
        </p:nvSpPr>
        <p:spPr>
          <a:xfrm>
            <a:off x="548640" y="4782312"/>
            <a:ext cx="1508760" cy="1636776"/>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548640" y="4782312"/>
            <a:ext cx="45720" cy="1636776"/>
          </a:xfrm>
          <a:prstGeom prst="rect">
            <a:avLst/>
          </a:prstGeom>
          <a:solidFill>
            <a:srgbClr val="009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58368" y="4855464"/>
            <a:ext cx="1344168" cy="1490472"/>
          </a:xfrm>
          <a:prstGeom prst="rect">
            <a:avLst/>
          </a:prstGeom>
          <a:noFill/>
        </p:spPr>
        <p:txBody>
          <a:bodyPr wrap="square" anchor="ctr" lIns="0" rIns="0" tIns="0" bIns="0">
            <a:normAutofit/>
          </a:bodyPr>
          <a:lstStyle/>
          <a:p>
            <a:pPr algn="ctr">
              <a:lnSpc>
                <a:spcPct val="105000"/>
              </a:lnSpc>
              <a:spcBef>
                <a:spcPts val="0"/>
              </a:spcBef>
            </a:pPr>
            <a:r>
              <a:rPr sz="1000" b="1" i="0">
                <a:solidFill>
                  <a:srgbClr val="009B82"/>
                </a:solidFill>
                <a:latin typeface="Calibri"/>
              </a:rPr>
              <a:t>INNOVATE
Innovation</a:t>
            </a:r>
          </a:p>
        </p:txBody>
      </p:sp>
      <p:sp>
        <p:nvSpPr>
          <p:cNvPr id="55" name="Rounded Rectangle 54"/>
          <p:cNvSpPr/>
          <p:nvPr/>
        </p:nvSpPr>
        <p:spPr>
          <a:xfrm>
            <a:off x="2093976" y="4782312"/>
            <a:ext cx="2368981" cy="1636776"/>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2093976" y="4782312"/>
            <a:ext cx="2368981" cy="27432"/>
          </a:xfrm>
          <a:prstGeom prst="rect">
            <a:avLst/>
          </a:prstGeom>
          <a:solidFill>
            <a:srgbClr val="009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2167128" y="4855464"/>
            <a:ext cx="2240965" cy="1490472"/>
          </a:xfrm>
          <a:prstGeom prst="rect">
            <a:avLst/>
          </a:prstGeom>
          <a:noFill/>
        </p:spPr>
        <p:txBody>
          <a:bodyPr wrap="square" anchor="t" lIns="0" rIns="0" tIns="0" bIns="0">
            <a:normAutofit/>
          </a:bodyPr>
          <a:lstStyle/>
          <a:p>
            <a:pPr algn="l">
              <a:lnSpc>
                <a:spcPct val="105000"/>
              </a:lnSpc>
              <a:spcBef>
                <a:spcPts val="0"/>
              </a:spcBef>
            </a:pPr>
            <a:r>
              <a:rPr sz="950" b="0" i="0">
                <a:solidFill>
                  <a:srgbClr val="E0F7F1"/>
                </a:solidFill>
                <a:latin typeface="Calibri"/>
              </a:rPr>
              <a:t>Innovation Agenda Set
CxO Roadmap Drafted
IP Framework Agreed
DX Garage Scoped</a:t>
            </a:r>
          </a:p>
        </p:txBody>
      </p:sp>
      <p:sp>
        <p:nvSpPr>
          <p:cNvPr id="58" name="Rounded Rectangle 57"/>
          <p:cNvSpPr/>
          <p:nvPr/>
        </p:nvSpPr>
        <p:spPr>
          <a:xfrm>
            <a:off x="4499533" y="4782312"/>
            <a:ext cx="2368981" cy="1636776"/>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4499533" y="4782312"/>
            <a:ext cx="2368981" cy="27432"/>
          </a:xfrm>
          <a:prstGeom prst="rect">
            <a:avLst/>
          </a:prstGeom>
          <a:solidFill>
            <a:srgbClr val="009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4572685" y="4855464"/>
            <a:ext cx="2240965" cy="1490472"/>
          </a:xfrm>
          <a:prstGeom prst="rect">
            <a:avLst/>
          </a:prstGeom>
          <a:noFill/>
        </p:spPr>
        <p:txBody>
          <a:bodyPr wrap="square" anchor="t" lIns="0" rIns="0" tIns="0" bIns="0">
            <a:normAutofit/>
          </a:bodyPr>
          <a:lstStyle/>
          <a:p>
            <a:pPr algn="l">
              <a:lnSpc>
                <a:spcPct val="105000"/>
              </a:lnSpc>
              <a:spcBef>
                <a:spcPts val="0"/>
              </a:spcBef>
            </a:pPr>
            <a:r>
              <a:rPr sz="950" b="0" i="0">
                <a:solidFill>
                  <a:srgbClr val="E0F7F1"/>
                </a:solidFill>
                <a:latin typeface="Calibri"/>
              </a:rPr>
              <a:t>First Co-Dev Sprint
Quarterly CxO Review
White-Label Module v1
DX Garage Running</a:t>
            </a:r>
          </a:p>
        </p:txBody>
      </p:sp>
      <p:sp>
        <p:nvSpPr>
          <p:cNvPr id="61" name="Rounded Rectangle 60"/>
          <p:cNvSpPr/>
          <p:nvPr/>
        </p:nvSpPr>
        <p:spPr>
          <a:xfrm>
            <a:off x="6905091" y="4782312"/>
            <a:ext cx="2368981" cy="1636776"/>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6905091" y="4782312"/>
            <a:ext cx="2368981" cy="27432"/>
          </a:xfrm>
          <a:prstGeom prst="rect">
            <a:avLst/>
          </a:prstGeom>
          <a:solidFill>
            <a:srgbClr val="009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6978243" y="4855464"/>
            <a:ext cx="2240965" cy="1490472"/>
          </a:xfrm>
          <a:prstGeom prst="rect">
            <a:avLst/>
          </a:prstGeom>
          <a:noFill/>
        </p:spPr>
        <p:txBody>
          <a:bodyPr wrap="square" anchor="t" lIns="0" rIns="0" tIns="0" bIns="0">
            <a:normAutofit/>
          </a:bodyPr>
          <a:lstStyle/>
          <a:p>
            <a:pPr algn="l">
              <a:lnSpc>
                <a:spcPct val="105000"/>
              </a:lnSpc>
              <a:spcBef>
                <a:spcPts val="0"/>
              </a:spcBef>
            </a:pPr>
            <a:r>
              <a:rPr sz="950" b="0" i="0">
                <a:solidFill>
                  <a:srgbClr val="E0F7F1"/>
                </a:solidFill>
                <a:latin typeface="Calibri"/>
              </a:rPr>
              <a:t>Co-Dev Cycle 2
Patent/IP Filing
White-Label v2 Live
Global Parent Briefed</a:t>
            </a:r>
          </a:p>
        </p:txBody>
      </p:sp>
      <p:sp>
        <p:nvSpPr>
          <p:cNvPr id="64" name="Rounded Rectangle 63"/>
          <p:cNvSpPr/>
          <p:nvPr/>
        </p:nvSpPr>
        <p:spPr>
          <a:xfrm>
            <a:off x="9310649" y="4782312"/>
            <a:ext cx="2368981" cy="1636776"/>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9310649" y="4782312"/>
            <a:ext cx="2368981" cy="27432"/>
          </a:xfrm>
          <a:prstGeom prst="rect">
            <a:avLst/>
          </a:prstGeom>
          <a:solidFill>
            <a:srgbClr val="009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9383801" y="4855464"/>
            <a:ext cx="2240965" cy="1490472"/>
          </a:xfrm>
          <a:prstGeom prst="rect">
            <a:avLst/>
          </a:prstGeom>
          <a:noFill/>
        </p:spPr>
        <p:txBody>
          <a:bodyPr wrap="square" anchor="t" lIns="0" rIns="0" tIns="0" bIns="0">
            <a:normAutofit/>
          </a:bodyPr>
          <a:lstStyle/>
          <a:p>
            <a:pPr algn="l">
              <a:lnSpc>
                <a:spcPct val="105000"/>
              </a:lnSpc>
              <a:spcBef>
                <a:spcPts val="0"/>
              </a:spcBef>
            </a:pPr>
            <a:r>
              <a:rPr sz="950" b="0" i="0">
                <a:solidFill>
                  <a:srgbClr val="E0F7F1"/>
                </a:solidFill>
                <a:latin typeface="Calibri"/>
              </a:rPr>
              <a:t>Strategic Partnership
Joint AI Products
Resellable IP Portfolio
Preferred Partner Status</a:t>
            </a:r>
          </a:p>
        </p:txBody>
      </p:sp>
      <p:sp>
        <p:nvSpPr>
          <p:cNvPr id="67" name="TextBox 66"/>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889098"/>
                </a:solidFill>
                <a:latin typeface="Calibri"/>
              </a:rPr>
              <a:t>FPT Software · GCC Implementation Roadmap · Jun 2026</a:t>
            </a:r>
          </a:p>
        </p:txBody>
      </p:sp>
      <p:sp>
        <p:nvSpPr>
          <p:cNvPr id="68" name="TextBox 67"/>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889098"/>
                </a:solidFill>
                <a:latin typeface="Calibri"/>
              </a:rPr>
              <a:t>4 / 17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Phase 1 — AI Readiness Sprint · Weeks 1–8 · $150K–$250K</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The Entry Point That Opens Everything Else</a:t>
            </a:r>
          </a:p>
        </p:txBody>
      </p:sp>
      <p:sp>
        <p:nvSpPr>
          <p:cNvPr id="7" name="Rounded Rectangle 6"/>
          <p:cNvSpPr/>
          <p:nvPr/>
        </p:nvSpPr>
        <p:spPr>
          <a:xfrm>
            <a:off x="548640" y="1572768"/>
            <a:ext cx="5455767" cy="1024128"/>
          </a:xfrm>
          <a:prstGeom prst="roundRect">
            <a:avLst>
              <a:gd name="adj" fmla="val 3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572768"/>
            <a:ext cx="54864" cy="102412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76656" y="1627632"/>
            <a:ext cx="5272887" cy="256032"/>
          </a:xfrm>
          <a:prstGeom prst="rect">
            <a:avLst/>
          </a:prstGeom>
          <a:noFill/>
        </p:spPr>
        <p:txBody>
          <a:bodyPr wrap="square" anchor="t" lIns="0" rIns="0" tIns="0" bIns="0">
            <a:normAutofit/>
          </a:bodyPr>
          <a:lstStyle/>
          <a:p>
            <a:pPr algn="l">
              <a:lnSpc>
                <a:spcPct val="105000"/>
              </a:lnSpc>
              <a:spcBef>
                <a:spcPts val="0"/>
              </a:spcBef>
            </a:pPr>
            <a:r>
              <a:rPr sz="1100" b="1" i="0">
                <a:solidFill>
                  <a:srgbClr val="0A1628"/>
                </a:solidFill>
                <a:latin typeface="Calibri"/>
              </a:rPr>
              <a:t>CASAN Framework Assessment</a:t>
            </a:r>
          </a:p>
        </p:txBody>
      </p:sp>
      <p:sp>
        <p:nvSpPr>
          <p:cNvPr id="10" name="TextBox 9"/>
          <p:cNvSpPr txBox="1"/>
          <p:nvPr/>
        </p:nvSpPr>
        <p:spPr>
          <a:xfrm>
            <a:off x="676656" y="1901952"/>
            <a:ext cx="5272887" cy="640080"/>
          </a:xfrm>
          <a:prstGeom prst="rect">
            <a:avLst/>
          </a:prstGeom>
          <a:noFill/>
        </p:spPr>
        <p:txBody>
          <a:bodyPr wrap="square" anchor="t" lIns="0" rIns="0" tIns="0" bIns="0">
            <a:normAutofit/>
          </a:bodyPr>
          <a:lstStyle/>
          <a:p>
            <a:pPr algn="l">
              <a:lnSpc>
                <a:spcPct val="105000"/>
              </a:lnSpc>
              <a:spcBef>
                <a:spcPts val="0"/>
              </a:spcBef>
            </a:pPr>
            <a:r>
              <a:rPr sz="1000" b="0" i="0">
                <a:solidFill>
                  <a:srgbClr val="1B2B3C"/>
                </a:solidFill>
                <a:latin typeface="Calibri"/>
              </a:rPr>
              <a:t>FPT's structured AI readiness methodology — maps GCC's current state across data, architecture, people, and use-case pipeline. Produces a prioritised AI roadmap the GCC head can defend to global parent.</a:t>
            </a:r>
          </a:p>
        </p:txBody>
      </p:sp>
      <p:sp>
        <p:nvSpPr>
          <p:cNvPr id="11" name="Rounded Rectangle 10"/>
          <p:cNvSpPr/>
          <p:nvPr/>
        </p:nvSpPr>
        <p:spPr>
          <a:xfrm>
            <a:off x="548640" y="2670048"/>
            <a:ext cx="5455767" cy="1024128"/>
          </a:xfrm>
          <a:prstGeom prst="roundRect">
            <a:avLst>
              <a:gd name="adj" fmla="val 3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670048"/>
            <a:ext cx="54864" cy="102412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76656" y="2724912"/>
            <a:ext cx="5272887" cy="256032"/>
          </a:xfrm>
          <a:prstGeom prst="rect">
            <a:avLst/>
          </a:prstGeom>
          <a:noFill/>
        </p:spPr>
        <p:txBody>
          <a:bodyPr wrap="square" anchor="t" lIns="0" rIns="0" tIns="0" bIns="0">
            <a:normAutofit/>
          </a:bodyPr>
          <a:lstStyle/>
          <a:p>
            <a:pPr algn="l">
              <a:lnSpc>
                <a:spcPct val="105000"/>
              </a:lnSpc>
              <a:spcBef>
                <a:spcPts val="0"/>
              </a:spcBef>
            </a:pPr>
            <a:r>
              <a:rPr sz="1100" b="1" i="0">
                <a:solidFill>
                  <a:srgbClr val="0A1628"/>
                </a:solidFill>
                <a:latin typeface="Calibri"/>
              </a:rPr>
              <a:t>Data Readiness Audit</a:t>
            </a:r>
          </a:p>
        </p:txBody>
      </p:sp>
      <p:sp>
        <p:nvSpPr>
          <p:cNvPr id="14" name="TextBox 13"/>
          <p:cNvSpPr txBox="1"/>
          <p:nvPr/>
        </p:nvSpPr>
        <p:spPr>
          <a:xfrm>
            <a:off x="676656" y="2999232"/>
            <a:ext cx="5272887" cy="640080"/>
          </a:xfrm>
          <a:prstGeom prst="rect">
            <a:avLst/>
          </a:prstGeom>
          <a:noFill/>
        </p:spPr>
        <p:txBody>
          <a:bodyPr wrap="square" anchor="t" lIns="0" rIns="0" tIns="0" bIns="0">
            <a:normAutofit/>
          </a:bodyPr>
          <a:lstStyle/>
          <a:p>
            <a:pPr algn="l">
              <a:lnSpc>
                <a:spcPct val="105000"/>
              </a:lnSpc>
              <a:spcBef>
                <a:spcPts val="0"/>
              </a:spcBef>
            </a:pPr>
            <a:r>
              <a:rPr sz="1000" b="0" i="0">
                <a:solidFill>
                  <a:srgbClr val="1B2B3C"/>
                </a:solidFill>
                <a:latin typeface="Calibri"/>
              </a:rPr>
              <a:t>Assess existing data infrastructure against production AI requirements. Identifies quick wins and blockers. Output: data gap report + remediation plan with FPT's data platform team.</a:t>
            </a:r>
          </a:p>
        </p:txBody>
      </p:sp>
      <p:sp>
        <p:nvSpPr>
          <p:cNvPr id="15" name="Rounded Rectangle 14"/>
          <p:cNvSpPr/>
          <p:nvPr/>
        </p:nvSpPr>
        <p:spPr>
          <a:xfrm>
            <a:off x="548640" y="3767328"/>
            <a:ext cx="5455767" cy="1024128"/>
          </a:xfrm>
          <a:prstGeom prst="roundRect">
            <a:avLst>
              <a:gd name="adj" fmla="val 3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767328"/>
            <a:ext cx="54864" cy="102412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76656" y="3822192"/>
            <a:ext cx="5272887" cy="256032"/>
          </a:xfrm>
          <a:prstGeom prst="rect">
            <a:avLst/>
          </a:prstGeom>
          <a:noFill/>
        </p:spPr>
        <p:txBody>
          <a:bodyPr wrap="square" anchor="t" lIns="0" rIns="0" tIns="0" bIns="0">
            <a:normAutofit/>
          </a:bodyPr>
          <a:lstStyle/>
          <a:p>
            <a:pPr algn="l">
              <a:lnSpc>
                <a:spcPct val="105000"/>
              </a:lnSpc>
              <a:spcBef>
                <a:spcPts val="0"/>
              </a:spcBef>
            </a:pPr>
            <a:r>
              <a:rPr sz="1100" b="1" i="0">
                <a:solidFill>
                  <a:srgbClr val="0A1628"/>
                </a:solidFill>
                <a:latin typeface="Calibri"/>
              </a:rPr>
              <a:t>Legacy Modernization Scoping</a:t>
            </a:r>
          </a:p>
        </p:txBody>
      </p:sp>
      <p:sp>
        <p:nvSpPr>
          <p:cNvPr id="18" name="TextBox 17"/>
          <p:cNvSpPr txBox="1"/>
          <p:nvPr/>
        </p:nvSpPr>
        <p:spPr>
          <a:xfrm>
            <a:off x="676656" y="4096512"/>
            <a:ext cx="5272887" cy="640080"/>
          </a:xfrm>
          <a:prstGeom prst="rect">
            <a:avLst/>
          </a:prstGeom>
          <a:noFill/>
        </p:spPr>
        <p:txBody>
          <a:bodyPr wrap="square" anchor="t" lIns="0" rIns="0" tIns="0" bIns="0">
            <a:normAutofit/>
          </a:bodyPr>
          <a:lstStyle/>
          <a:p>
            <a:pPr algn="l">
              <a:lnSpc>
                <a:spcPct val="105000"/>
              </a:lnSpc>
              <a:spcBef>
                <a:spcPts val="0"/>
              </a:spcBef>
            </a:pPr>
            <a:r>
              <a:rPr sz="1000" b="0" i="0">
                <a:solidFill>
                  <a:srgbClr val="1B2B3C"/>
                </a:solidFill>
                <a:latin typeface="Calibri"/>
              </a:rPr>
              <a:t>xMainframe baseline assessment — maps mainframe workloads to AI-assisted migration paths. Quantifies the man-month savings achievable with CodeVista and EMT in Phase 2.</a:t>
            </a:r>
          </a:p>
        </p:txBody>
      </p:sp>
      <p:sp>
        <p:nvSpPr>
          <p:cNvPr id="19" name="Rounded Rectangle 18"/>
          <p:cNvSpPr/>
          <p:nvPr/>
        </p:nvSpPr>
        <p:spPr>
          <a:xfrm>
            <a:off x="548640" y="4864608"/>
            <a:ext cx="5455767" cy="1024128"/>
          </a:xfrm>
          <a:prstGeom prst="roundRect">
            <a:avLst>
              <a:gd name="adj" fmla="val 3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4864608"/>
            <a:ext cx="54864" cy="102412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76656" y="4919472"/>
            <a:ext cx="5272887" cy="256032"/>
          </a:xfrm>
          <a:prstGeom prst="rect">
            <a:avLst/>
          </a:prstGeom>
          <a:noFill/>
        </p:spPr>
        <p:txBody>
          <a:bodyPr wrap="square" anchor="t" lIns="0" rIns="0" tIns="0" bIns="0">
            <a:normAutofit/>
          </a:bodyPr>
          <a:lstStyle/>
          <a:p>
            <a:pPr algn="l">
              <a:lnSpc>
                <a:spcPct val="105000"/>
              </a:lnSpc>
              <a:spcBef>
                <a:spcPts val="0"/>
              </a:spcBef>
            </a:pPr>
            <a:r>
              <a:rPr sz="1100" b="1" i="0">
                <a:solidFill>
                  <a:srgbClr val="0A1628"/>
                </a:solidFill>
                <a:latin typeface="Calibri"/>
              </a:rPr>
              <a:t>FleziPT Proof-of-Concept</a:t>
            </a:r>
          </a:p>
        </p:txBody>
      </p:sp>
      <p:sp>
        <p:nvSpPr>
          <p:cNvPr id="22" name="TextBox 21"/>
          <p:cNvSpPr txBox="1"/>
          <p:nvPr/>
        </p:nvSpPr>
        <p:spPr>
          <a:xfrm>
            <a:off x="676656" y="5193792"/>
            <a:ext cx="5272887" cy="640080"/>
          </a:xfrm>
          <a:prstGeom prst="rect">
            <a:avLst/>
          </a:prstGeom>
          <a:noFill/>
        </p:spPr>
        <p:txBody>
          <a:bodyPr wrap="square" anchor="t" lIns="0" rIns="0" tIns="0" bIns="0">
            <a:normAutofit/>
          </a:bodyPr>
          <a:lstStyle/>
          <a:p>
            <a:pPr algn="l">
              <a:lnSpc>
                <a:spcPct val="105000"/>
              </a:lnSpc>
              <a:spcBef>
                <a:spcPts val="0"/>
              </a:spcBef>
            </a:pPr>
            <a:r>
              <a:rPr sz="1000" b="0" i="0">
                <a:solidFill>
                  <a:srgbClr val="1B2B3C"/>
                </a:solidFill>
                <a:latin typeface="Calibri"/>
              </a:rPr>
              <a:t>One high-value use case deployed in FleziPT within 6 weeks. Not a demo — a live PoC with real data, measurable output, and a production deployment plan. This is the artefact that justifies Phase 2 budget.</a:t>
            </a:r>
          </a:p>
        </p:txBody>
      </p:sp>
      <p:sp>
        <p:nvSpPr>
          <p:cNvPr id="23" name="Rounded Rectangle 22"/>
          <p:cNvSpPr/>
          <p:nvPr/>
        </p:nvSpPr>
        <p:spPr>
          <a:xfrm>
            <a:off x="6187287" y="1572768"/>
            <a:ext cx="5455767" cy="1024128"/>
          </a:xfrm>
          <a:prstGeom prst="roundRect">
            <a:avLst>
              <a:gd name="adj" fmla="val 3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15303" y="1627632"/>
            <a:ext cx="5272887" cy="256032"/>
          </a:xfrm>
          <a:prstGeom prst="rect">
            <a:avLst/>
          </a:prstGeom>
          <a:noFill/>
        </p:spPr>
        <p:txBody>
          <a:bodyPr wrap="square" anchor="t" lIns="0" rIns="0" tIns="0" bIns="0">
            <a:normAutofit/>
          </a:bodyPr>
          <a:lstStyle/>
          <a:p>
            <a:pPr algn="l">
              <a:lnSpc>
                <a:spcPct val="105000"/>
              </a:lnSpc>
              <a:spcBef>
                <a:spcPts val="0"/>
              </a:spcBef>
            </a:pPr>
            <a:r>
              <a:rPr sz="1100" b="1" i="0">
                <a:solidFill>
                  <a:srgbClr val="00C9A7"/>
                </a:solidFill>
                <a:latin typeface="Calibri"/>
              </a:rPr>
              <a:t>Deliverable at Week 8</a:t>
            </a:r>
          </a:p>
        </p:txBody>
      </p:sp>
      <p:sp>
        <p:nvSpPr>
          <p:cNvPr id="25" name="TextBox 24"/>
          <p:cNvSpPr txBox="1"/>
          <p:nvPr/>
        </p:nvSpPr>
        <p:spPr>
          <a:xfrm>
            <a:off x="6315303" y="1901952"/>
            <a:ext cx="5272887" cy="640080"/>
          </a:xfrm>
          <a:prstGeom prst="rect">
            <a:avLst/>
          </a:prstGeom>
          <a:noFill/>
        </p:spPr>
        <p:txBody>
          <a:bodyPr wrap="square" anchor="t" lIns="0" rIns="0" tIns="0" bIns="0">
            <a:normAutofit/>
          </a:bodyPr>
          <a:lstStyle/>
          <a:p>
            <a:pPr algn="l">
              <a:lnSpc>
                <a:spcPct val="105000"/>
              </a:lnSpc>
              <a:spcBef>
                <a:spcPts val="0"/>
              </a:spcBef>
            </a:pPr>
            <a:r>
              <a:rPr sz="1000" b="0" i="0">
                <a:solidFill>
                  <a:srgbClr val="E0F7F1"/>
                </a:solidFill>
                <a:latin typeface="Calibri"/>
              </a:rPr>
              <a:t>AI Transformation Roadmap (board-ready) · PoC results with production pathway · Transformation Program business case · Signed Transformation Program Statement of Work</a:t>
            </a:r>
          </a:p>
        </p:txBody>
      </p:sp>
      <p:sp>
        <p:nvSpPr>
          <p:cNvPr id="26" name="Rounded Rectangle 25"/>
          <p:cNvSpPr/>
          <p:nvPr/>
        </p:nvSpPr>
        <p:spPr>
          <a:xfrm>
            <a:off x="6187287" y="2670048"/>
            <a:ext cx="5455767" cy="1024128"/>
          </a:xfrm>
          <a:prstGeom prst="roundRect">
            <a:avLst>
              <a:gd name="adj" fmla="val 3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15303" y="2724912"/>
            <a:ext cx="5272887" cy="256032"/>
          </a:xfrm>
          <a:prstGeom prst="rect">
            <a:avLst/>
          </a:prstGeom>
          <a:noFill/>
        </p:spPr>
        <p:txBody>
          <a:bodyPr wrap="square" anchor="t" lIns="0" rIns="0" tIns="0" bIns="0">
            <a:normAutofit/>
          </a:bodyPr>
          <a:lstStyle/>
          <a:p>
            <a:pPr algn="l">
              <a:lnSpc>
                <a:spcPct val="105000"/>
              </a:lnSpc>
              <a:spcBef>
                <a:spcPts val="0"/>
              </a:spcBef>
            </a:pPr>
            <a:r>
              <a:rPr sz="1100" b="1" i="0">
                <a:solidFill>
                  <a:srgbClr val="00C9A7"/>
                </a:solidFill>
                <a:latin typeface="Calibri"/>
              </a:rPr>
              <a:t>Who's Involved from FPT</a:t>
            </a:r>
          </a:p>
        </p:txBody>
      </p:sp>
      <p:sp>
        <p:nvSpPr>
          <p:cNvPr id="28" name="TextBox 27"/>
          <p:cNvSpPr txBox="1"/>
          <p:nvPr/>
        </p:nvSpPr>
        <p:spPr>
          <a:xfrm>
            <a:off x="6315303" y="2999232"/>
            <a:ext cx="5272887" cy="640080"/>
          </a:xfrm>
          <a:prstGeom prst="rect">
            <a:avLst/>
          </a:prstGeom>
          <a:noFill/>
        </p:spPr>
        <p:txBody>
          <a:bodyPr wrap="square" anchor="t" lIns="0" rIns="0" tIns="0" bIns="0">
            <a:normAutofit/>
          </a:bodyPr>
          <a:lstStyle/>
          <a:p>
            <a:pPr algn="l">
              <a:lnSpc>
                <a:spcPct val="105000"/>
              </a:lnSpc>
              <a:spcBef>
                <a:spcPts val="0"/>
              </a:spcBef>
            </a:pPr>
            <a:r>
              <a:rPr sz="1000" b="0" i="0">
                <a:solidFill>
                  <a:srgbClr val="E0F7F1"/>
                </a:solidFill>
                <a:latin typeface="Calibri"/>
              </a:rPr>
              <a:t>CASAN Framework lead · FleziPT solution architect · xMainframe specialist · Data platform engineer · Srikumar as programme sponsor and GCC relationship owner</a:t>
            </a:r>
          </a:p>
        </p:txBody>
      </p:sp>
      <p:sp>
        <p:nvSpPr>
          <p:cNvPr id="29" name="Rounded Rectangle 28"/>
          <p:cNvSpPr/>
          <p:nvPr/>
        </p:nvSpPr>
        <p:spPr>
          <a:xfrm>
            <a:off x="6187287" y="3767328"/>
            <a:ext cx="5455767" cy="1024128"/>
          </a:xfrm>
          <a:prstGeom prst="roundRect">
            <a:avLst>
              <a:gd name="adj" fmla="val 3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315303" y="3822192"/>
            <a:ext cx="5272887" cy="256032"/>
          </a:xfrm>
          <a:prstGeom prst="rect">
            <a:avLst/>
          </a:prstGeom>
          <a:noFill/>
        </p:spPr>
        <p:txBody>
          <a:bodyPr wrap="square" anchor="t" lIns="0" rIns="0" tIns="0" bIns="0">
            <a:normAutofit/>
          </a:bodyPr>
          <a:lstStyle/>
          <a:p>
            <a:pPr algn="l">
              <a:lnSpc>
                <a:spcPct val="105000"/>
              </a:lnSpc>
              <a:spcBef>
                <a:spcPts val="0"/>
              </a:spcBef>
            </a:pPr>
            <a:r>
              <a:rPr sz="1100" b="1" i="0">
                <a:solidFill>
                  <a:srgbClr val="0A1628"/>
                </a:solidFill>
                <a:latin typeface="Calibri"/>
              </a:rPr>
              <a:t>GCC Risk at This Stage</a:t>
            </a:r>
          </a:p>
        </p:txBody>
      </p:sp>
      <p:sp>
        <p:nvSpPr>
          <p:cNvPr id="31" name="TextBox 30"/>
          <p:cNvSpPr txBox="1"/>
          <p:nvPr/>
        </p:nvSpPr>
        <p:spPr>
          <a:xfrm>
            <a:off x="6315303" y="4096512"/>
            <a:ext cx="5272887" cy="640080"/>
          </a:xfrm>
          <a:prstGeom prst="rect">
            <a:avLst/>
          </a:prstGeom>
          <a:noFill/>
        </p:spPr>
        <p:txBody>
          <a:bodyPr wrap="square" anchor="t" lIns="0" rIns="0" tIns="0" bIns="0">
            <a:normAutofit/>
          </a:bodyPr>
          <a:lstStyle/>
          <a:p>
            <a:pPr algn="l">
              <a:lnSpc>
                <a:spcPct val="105000"/>
              </a:lnSpc>
              <a:spcBef>
                <a:spcPts val="0"/>
              </a:spcBef>
            </a:pPr>
            <a:r>
              <a:rPr sz="1000" b="0" i="0">
                <a:solidFill>
                  <a:srgbClr val="1B2B3C"/>
                </a:solidFill>
                <a:latin typeface="Calibri"/>
              </a:rPr>
              <a:t>Low — fixed price, fixed scope, fixed timeline. No open-ended commitment. Worst case: GCC has a credible AI roadmap and PoC results at $150K–$250K. Best case: Transformation Program signed at Week 8.</a:t>
            </a:r>
          </a:p>
        </p:txBody>
      </p:sp>
      <p:sp>
        <p:nvSpPr>
          <p:cNvPr id="32" name="Rounded Rectangle 31"/>
          <p:cNvSpPr/>
          <p:nvPr/>
        </p:nvSpPr>
        <p:spPr>
          <a:xfrm>
            <a:off x="6187287" y="4864608"/>
            <a:ext cx="5455767" cy="1024128"/>
          </a:xfrm>
          <a:prstGeom prst="roundRect">
            <a:avLst>
              <a:gd name="adj" fmla="val 3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315303" y="4919472"/>
            <a:ext cx="5272887" cy="256032"/>
          </a:xfrm>
          <a:prstGeom prst="rect">
            <a:avLst/>
          </a:prstGeom>
          <a:noFill/>
        </p:spPr>
        <p:txBody>
          <a:bodyPr wrap="square" anchor="t" lIns="0" rIns="0" tIns="0" bIns="0">
            <a:normAutofit/>
          </a:bodyPr>
          <a:lstStyle/>
          <a:p>
            <a:pPr algn="l">
              <a:lnSpc>
                <a:spcPct val="105000"/>
              </a:lnSpc>
              <a:spcBef>
                <a:spcPts val="0"/>
              </a:spcBef>
            </a:pPr>
            <a:r>
              <a:rPr sz="1100" b="1" i="0">
                <a:solidFill>
                  <a:srgbClr val="0A1628"/>
                </a:solidFill>
                <a:latin typeface="Calibri"/>
              </a:rPr>
              <a:t>Reference Proof Points</a:t>
            </a:r>
          </a:p>
        </p:txBody>
      </p:sp>
      <p:sp>
        <p:nvSpPr>
          <p:cNvPr id="34" name="TextBox 33"/>
          <p:cNvSpPr txBox="1"/>
          <p:nvPr/>
        </p:nvSpPr>
        <p:spPr>
          <a:xfrm>
            <a:off x="6315303" y="5193792"/>
            <a:ext cx="5272887" cy="640080"/>
          </a:xfrm>
          <a:prstGeom prst="rect">
            <a:avLst/>
          </a:prstGeom>
          <a:noFill/>
        </p:spPr>
        <p:txBody>
          <a:bodyPr wrap="square" anchor="t" lIns="0" rIns="0" tIns="0" bIns="0">
            <a:normAutofit/>
          </a:bodyPr>
          <a:lstStyle/>
          <a:p>
            <a:pPr algn="l">
              <a:lnSpc>
                <a:spcPct val="105000"/>
              </a:lnSpc>
              <a:spcBef>
                <a:spcPts val="0"/>
              </a:spcBef>
            </a:pPr>
            <a:r>
              <a:rPr sz="1000" b="0" i="0">
                <a:solidFill>
                  <a:srgbClr val="1B2B3C"/>
                </a:solidFill>
                <a:latin typeface="Calibri"/>
              </a:rPr>
              <a:t>FPT has run 1,100+ client engagements globally. The Sprint model is validated. $10M+ contracts doubled YoY in 2025 — most originated as Readiness Sprints.</a:t>
            </a:r>
          </a:p>
        </p:txBody>
      </p:sp>
      <p:sp>
        <p:nvSpPr>
          <p:cNvPr id="35" name="TextBox 34"/>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FPT Software · GCC Implementation Roadmap · Jun 2026</a:t>
            </a:r>
          </a:p>
        </p:txBody>
      </p:sp>
      <p:sp>
        <p:nvSpPr>
          <p:cNvPr id="36" name="TextBox 35"/>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5 / 17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Phase 2 — Transformation Program Year 1 · Months 3–12 · $2M–$10M ARR</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Modernize + Activate: Legacy Out, Production AI In</a:t>
            </a:r>
          </a:p>
        </p:txBody>
      </p:sp>
      <p:sp>
        <p:nvSpPr>
          <p:cNvPr id="7" name="Rectangle 6"/>
          <p:cNvSpPr/>
          <p:nvPr/>
        </p:nvSpPr>
        <p:spPr>
          <a:xfrm>
            <a:off x="548640" y="1572768"/>
            <a:ext cx="2103120" cy="585216"/>
          </a:xfrm>
          <a:prstGeom prst="rect">
            <a:avLst/>
          </a:prstGeom>
          <a:solidFill>
            <a:srgbClr val="0A162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1618488"/>
            <a:ext cx="1956816" cy="539496"/>
          </a:xfrm>
          <a:prstGeom prst="rect">
            <a:avLst/>
          </a:prstGeom>
          <a:noFill/>
        </p:spPr>
        <p:txBody>
          <a:bodyPr wrap="square" anchor="ctr" lIns="0" rIns="0" tIns="0" bIns="0">
            <a:normAutofit/>
          </a:bodyPr>
          <a:lstStyle/>
          <a:p>
            <a:pPr algn="l">
              <a:lnSpc>
                <a:spcPct val="105000"/>
              </a:lnSpc>
              <a:spcBef>
                <a:spcPts val="0"/>
              </a:spcBef>
            </a:pPr>
            <a:r>
              <a:rPr sz="1100" b="1" i="0">
                <a:solidFill>
                  <a:srgbClr val="FFFFFF"/>
                </a:solidFill>
                <a:latin typeface="Calibri"/>
              </a:rPr>
              <a:t>Work Stream</a:t>
            </a:r>
          </a:p>
        </p:txBody>
      </p:sp>
      <p:sp>
        <p:nvSpPr>
          <p:cNvPr id="9" name="Rectangle 8"/>
          <p:cNvSpPr/>
          <p:nvPr/>
        </p:nvSpPr>
        <p:spPr>
          <a:xfrm>
            <a:off x="2651760" y="1572768"/>
            <a:ext cx="2103120" cy="585216"/>
          </a:xfrm>
          <a:prstGeom prst="rect">
            <a:avLst/>
          </a:prstGeom>
          <a:solidFill>
            <a:srgbClr val="0A162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24912" y="1618488"/>
            <a:ext cx="1956816" cy="539496"/>
          </a:xfrm>
          <a:prstGeom prst="rect">
            <a:avLst/>
          </a:prstGeom>
          <a:noFill/>
        </p:spPr>
        <p:txBody>
          <a:bodyPr wrap="square" anchor="ctr" lIns="0" rIns="0" tIns="0" bIns="0">
            <a:normAutofit/>
          </a:bodyPr>
          <a:lstStyle/>
          <a:p>
            <a:pPr algn="l">
              <a:lnSpc>
                <a:spcPct val="105000"/>
              </a:lnSpc>
              <a:spcBef>
                <a:spcPts val="0"/>
              </a:spcBef>
            </a:pPr>
            <a:r>
              <a:rPr sz="1100" b="1" i="0">
                <a:solidFill>
                  <a:srgbClr val="FFFFFF"/>
                </a:solidFill>
                <a:latin typeface="Calibri"/>
              </a:rPr>
              <a:t>FPT Platform</a:t>
            </a:r>
          </a:p>
        </p:txBody>
      </p:sp>
      <p:sp>
        <p:nvSpPr>
          <p:cNvPr id="11" name="Rectangle 10"/>
          <p:cNvSpPr/>
          <p:nvPr/>
        </p:nvSpPr>
        <p:spPr>
          <a:xfrm>
            <a:off x="4754880" y="1572768"/>
            <a:ext cx="4937760" cy="585216"/>
          </a:xfrm>
          <a:prstGeom prst="rect">
            <a:avLst/>
          </a:prstGeom>
          <a:solidFill>
            <a:srgbClr val="0A162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828032" y="1618488"/>
            <a:ext cx="4791456" cy="539496"/>
          </a:xfrm>
          <a:prstGeom prst="rect">
            <a:avLst/>
          </a:prstGeom>
          <a:noFill/>
        </p:spPr>
        <p:txBody>
          <a:bodyPr wrap="square" anchor="ctr" lIns="0" rIns="0" tIns="0" bIns="0">
            <a:normAutofit/>
          </a:bodyPr>
          <a:lstStyle/>
          <a:p>
            <a:pPr algn="l">
              <a:lnSpc>
                <a:spcPct val="105000"/>
              </a:lnSpc>
              <a:spcBef>
                <a:spcPts val="0"/>
              </a:spcBef>
            </a:pPr>
            <a:r>
              <a:rPr sz="1100" b="1" i="0">
                <a:solidFill>
                  <a:srgbClr val="FFFFFF"/>
                </a:solidFill>
                <a:latin typeface="Calibri"/>
              </a:rPr>
              <a:t>What Gets Delivered</a:t>
            </a:r>
          </a:p>
        </p:txBody>
      </p:sp>
      <p:sp>
        <p:nvSpPr>
          <p:cNvPr id="13" name="Rectangle 12"/>
          <p:cNvSpPr/>
          <p:nvPr/>
        </p:nvSpPr>
        <p:spPr>
          <a:xfrm>
            <a:off x="9692640" y="1572768"/>
            <a:ext cx="1828800" cy="585216"/>
          </a:xfrm>
          <a:prstGeom prst="rect">
            <a:avLst/>
          </a:prstGeom>
          <a:solidFill>
            <a:srgbClr val="0A162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65792" y="1618488"/>
            <a:ext cx="1682496" cy="539496"/>
          </a:xfrm>
          <a:prstGeom prst="rect">
            <a:avLst/>
          </a:prstGeom>
          <a:noFill/>
        </p:spPr>
        <p:txBody>
          <a:bodyPr wrap="square" anchor="ctr" lIns="0" rIns="0" tIns="0" bIns="0">
            <a:normAutofit/>
          </a:bodyPr>
          <a:lstStyle/>
          <a:p>
            <a:pPr algn="l">
              <a:lnSpc>
                <a:spcPct val="105000"/>
              </a:lnSpc>
              <a:spcBef>
                <a:spcPts val="0"/>
              </a:spcBef>
            </a:pPr>
            <a:r>
              <a:rPr sz="1100" b="1" i="0">
                <a:solidFill>
                  <a:srgbClr val="FFFFFF"/>
                </a:solidFill>
                <a:latin typeface="Calibri"/>
              </a:rPr>
              <a:t>Milestone</a:t>
            </a:r>
          </a:p>
        </p:txBody>
      </p:sp>
      <p:sp>
        <p:nvSpPr>
          <p:cNvPr id="15" name="Rectangle 14"/>
          <p:cNvSpPr/>
          <p:nvPr/>
        </p:nvSpPr>
        <p:spPr>
          <a:xfrm>
            <a:off x="548640" y="2157984"/>
            <a:ext cx="2103120" cy="585216"/>
          </a:xfrm>
          <a:prstGeom prst="rect">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1792" y="2203704"/>
            <a:ext cx="1956816" cy="539496"/>
          </a:xfrm>
          <a:prstGeom prst="rect">
            <a:avLst/>
          </a:prstGeom>
          <a:noFill/>
        </p:spPr>
        <p:txBody>
          <a:bodyPr wrap="square" anchor="ctr" lIns="0" rIns="0" tIns="0" bIns="0">
            <a:normAutofit/>
          </a:bodyPr>
          <a:lstStyle/>
          <a:p>
            <a:pPr algn="l">
              <a:lnSpc>
                <a:spcPct val="105000"/>
              </a:lnSpc>
              <a:spcBef>
                <a:spcPts val="0"/>
              </a:spcBef>
            </a:pPr>
            <a:r>
              <a:rPr sz="1000" b="0" i="0">
                <a:solidFill>
                  <a:srgbClr val="1B2B3C"/>
                </a:solidFill>
                <a:latin typeface="Calibri"/>
              </a:rPr>
              <a:t>Legacy Modernization</a:t>
            </a:r>
          </a:p>
        </p:txBody>
      </p:sp>
      <p:sp>
        <p:nvSpPr>
          <p:cNvPr id="17" name="Rectangle 16"/>
          <p:cNvSpPr/>
          <p:nvPr/>
        </p:nvSpPr>
        <p:spPr>
          <a:xfrm>
            <a:off x="2651760" y="2157984"/>
            <a:ext cx="2103120" cy="585216"/>
          </a:xfrm>
          <a:prstGeom prst="rect">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24912" y="2203704"/>
            <a:ext cx="1956816" cy="539496"/>
          </a:xfrm>
          <a:prstGeom prst="rect">
            <a:avLst/>
          </a:prstGeom>
          <a:noFill/>
        </p:spPr>
        <p:txBody>
          <a:bodyPr wrap="square" anchor="ctr" lIns="0" rIns="0" tIns="0" bIns="0">
            <a:normAutofit/>
          </a:bodyPr>
          <a:lstStyle/>
          <a:p>
            <a:pPr algn="l">
              <a:lnSpc>
                <a:spcPct val="105000"/>
              </a:lnSpc>
              <a:spcBef>
                <a:spcPts val="0"/>
              </a:spcBef>
            </a:pPr>
            <a:r>
              <a:rPr sz="1000" b="0" i="0">
                <a:solidFill>
                  <a:srgbClr val="1B2B3C"/>
                </a:solidFill>
                <a:latin typeface="Calibri"/>
              </a:rPr>
              <a:t>EMT + xMainframe + CodeVista</a:t>
            </a:r>
          </a:p>
        </p:txBody>
      </p:sp>
      <p:sp>
        <p:nvSpPr>
          <p:cNvPr id="19" name="Rectangle 18"/>
          <p:cNvSpPr/>
          <p:nvPr/>
        </p:nvSpPr>
        <p:spPr>
          <a:xfrm>
            <a:off x="4754880" y="2157984"/>
            <a:ext cx="4937760" cy="585216"/>
          </a:xfrm>
          <a:prstGeom prst="rect">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828032" y="2203704"/>
            <a:ext cx="4791456" cy="539496"/>
          </a:xfrm>
          <a:prstGeom prst="rect">
            <a:avLst/>
          </a:prstGeom>
          <a:noFill/>
        </p:spPr>
        <p:txBody>
          <a:bodyPr wrap="square" anchor="ctr" lIns="0" rIns="0" tIns="0" bIns="0">
            <a:normAutofit/>
          </a:bodyPr>
          <a:lstStyle/>
          <a:p>
            <a:pPr algn="l">
              <a:lnSpc>
                <a:spcPct val="105000"/>
              </a:lnSpc>
              <a:spcBef>
                <a:spcPts val="0"/>
              </a:spcBef>
            </a:pPr>
            <a:r>
              <a:rPr sz="1000" b="0" i="0">
                <a:solidFill>
                  <a:srgbClr val="1B2B3C"/>
                </a:solidFill>
                <a:latin typeface="Calibri"/>
              </a:rPr>
              <a:t>AI-assisted mainframe migration · 30% faster onboarding · 90% accuracy · developer AI tooling across GCC engineering team</a:t>
            </a:r>
          </a:p>
        </p:txBody>
      </p:sp>
      <p:sp>
        <p:nvSpPr>
          <p:cNvPr id="21" name="Rectangle 20"/>
          <p:cNvSpPr/>
          <p:nvPr/>
        </p:nvSpPr>
        <p:spPr>
          <a:xfrm>
            <a:off x="9692640" y="2157984"/>
            <a:ext cx="1828800" cy="585216"/>
          </a:xfrm>
          <a:prstGeom prst="rect">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765792" y="2203704"/>
            <a:ext cx="1682496" cy="539496"/>
          </a:xfrm>
          <a:prstGeom prst="rect">
            <a:avLst/>
          </a:prstGeom>
          <a:noFill/>
        </p:spPr>
        <p:txBody>
          <a:bodyPr wrap="square" anchor="ctr" lIns="0" rIns="0" tIns="0" bIns="0">
            <a:normAutofit/>
          </a:bodyPr>
          <a:lstStyle/>
          <a:p>
            <a:pPr algn="l">
              <a:lnSpc>
                <a:spcPct val="105000"/>
              </a:lnSpc>
              <a:spcBef>
                <a:spcPts val="0"/>
              </a:spcBef>
            </a:pPr>
            <a:r>
              <a:rPr sz="1000" b="0" i="0">
                <a:solidFill>
                  <a:srgbClr val="1B2B3C"/>
                </a:solidFill>
                <a:latin typeface="Calibri"/>
              </a:rPr>
              <a:t>Month 6: First workload migrated · Month 12: Legacy debt cleared</a:t>
            </a:r>
          </a:p>
        </p:txBody>
      </p:sp>
      <p:sp>
        <p:nvSpPr>
          <p:cNvPr id="23" name="Rectangle 22"/>
          <p:cNvSpPr/>
          <p:nvPr/>
        </p:nvSpPr>
        <p:spPr>
          <a:xfrm>
            <a:off x="548640" y="2743200"/>
            <a:ext cx="2103120" cy="585216"/>
          </a:xfrm>
          <a:prstGeom prst="rect">
            <a:avLst/>
          </a:prstGeom>
          <a:solidFill>
            <a:srgbClr val="F4F7F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21792" y="2788920"/>
            <a:ext cx="1956816" cy="539496"/>
          </a:xfrm>
          <a:prstGeom prst="rect">
            <a:avLst/>
          </a:prstGeom>
          <a:noFill/>
        </p:spPr>
        <p:txBody>
          <a:bodyPr wrap="square" anchor="ctr" lIns="0" rIns="0" tIns="0" bIns="0">
            <a:normAutofit/>
          </a:bodyPr>
          <a:lstStyle/>
          <a:p>
            <a:pPr algn="l">
              <a:lnSpc>
                <a:spcPct val="105000"/>
              </a:lnSpc>
              <a:spcBef>
                <a:spcPts val="0"/>
              </a:spcBef>
            </a:pPr>
            <a:r>
              <a:rPr sz="1000" b="0" i="0">
                <a:solidFill>
                  <a:srgbClr val="1B2B3C"/>
                </a:solidFill>
                <a:latin typeface="Calibri"/>
              </a:rPr>
              <a:t>Data Platform</a:t>
            </a:r>
          </a:p>
        </p:txBody>
      </p:sp>
      <p:sp>
        <p:nvSpPr>
          <p:cNvPr id="25" name="Rectangle 24"/>
          <p:cNvSpPr/>
          <p:nvPr/>
        </p:nvSpPr>
        <p:spPr>
          <a:xfrm>
            <a:off x="2651760" y="2743200"/>
            <a:ext cx="2103120" cy="585216"/>
          </a:xfrm>
          <a:prstGeom prst="rect">
            <a:avLst/>
          </a:prstGeom>
          <a:solidFill>
            <a:srgbClr val="F4F7F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724912" y="2788920"/>
            <a:ext cx="1956816" cy="539496"/>
          </a:xfrm>
          <a:prstGeom prst="rect">
            <a:avLst/>
          </a:prstGeom>
          <a:noFill/>
        </p:spPr>
        <p:txBody>
          <a:bodyPr wrap="square" anchor="ctr" lIns="0" rIns="0" tIns="0" bIns="0">
            <a:normAutofit/>
          </a:bodyPr>
          <a:lstStyle/>
          <a:p>
            <a:pPr algn="l">
              <a:lnSpc>
                <a:spcPct val="105000"/>
              </a:lnSpc>
              <a:spcBef>
                <a:spcPts val="0"/>
              </a:spcBef>
            </a:pPr>
            <a:r>
              <a:rPr sz="1000" b="0" i="0">
                <a:solidFill>
                  <a:srgbClr val="1B2B3C"/>
                </a:solidFill>
                <a:latin typeface="Calibri"/>
              </a:rPr>
              <a:t>FleziPT data layer + cloud infra</a:t>
            </a:r>
          </a:p>
        </p:txBody>
      </p:sp>
      <p:sp>
        <p:nvSpPr>
          <p:cNvPr id="27" name="Rectangle 26"/>
          <p:cNvSpPr/>
          <p:nvPr/>
        </p:nvSpPr>
        <p:spPr>
          <a:xfrm>
            <a:off x="4754880" y="2743200"/>
            <a:ext cx="4937760" cy="585216"/>
          </a:xfrm>
          <a:prstGeom prst="rect">
            <a:avLst/>
          </a:prstGeom>
          <a:solidFill>
            <a:srgbClr val="F4F7F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28032" y="2788920"/>
            <a:ext cx="4791456" cy="539496"/>
          </a:xfrm>
          <a:prstGeom prst="rect">
            <a:avLst/>
          </a:prstGeom>
          <a:noFill/>
        </p:spPr>
        <p:txBody>
          <a:bodyPr wrap="square" anchor="ctr" lIns="0" rIns="0" tIns="0" bIns="0">
            <a:normAutofit/>
          </a:bodyPr>
          <a:lstStyle/>
          <a:p>
            <a:pPr algn="l">
              <a:lnSpc>
                <a:spcPct val="105000"/>
              </a:lnSpc>
              <a:spcBef>
                <a:spcPts val="0"/>
              </a:spcBef>
            </a:pPr>
            <a:r>
              <a:rPr sz="1000" b="0" i="0">
                <a:solidFill>
                  <a:srgbClr val="1B2B3C"/>
                </a:solidFill>
                <a:latin typeface="Calibri"/>
              </a:rPr>
              <a:t>Production data pipeline · data governance · model training infrastructure · integration with GCC's existing cloud (AWS / Azure / GCP)</a:t>
            </a:r>
          </a:p>
        </p:txBody>
      </p:sp>
      <p:sp>
        <p:nvSpPr>
          <p:cNvPr id="29" name="Rectangle 28"/>
          <p:cNvSpPr/>
          <p:nvPr/>
        </p:nvSpPr>
        <p:spPr>
          <a:xfrm>
            <a:off x="9692640" y="2743200"/>
            <a:ext cx="1828800" cy="585216"/>
          </a:xfrm>
          <a:prstGeom prst="rect">
            <a:avLst/>
          </a:prstGeom>
          <a:solidFill>
            <a:srgbClr val="F4F7F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765792" y="2788920"/>
            <a:ext cx="1682496" cy="539496"/>
          </a:xfrm>
          <a:prstGeom prst="rect">
            <a:avLst/>
          </a:prstGeom>
          <a:noFill/>
        </p:spPr>
        <p:txBody>
          <a:bodyPr wrap="square" anchor="ctr" lIns="0" rIns="0" tIns="0" bIns="0">
            <a:normAutofit/>
          </a:bodyPr>
          <a:lstStyle/>
          <a:p>
            <a:pPr algn="l">
              <a:lnSpc>
                <a:spcPct val="105000"/>
              </a:lnSpc>
              <a:spcBef>
                <a:spcPts val="0"/>
              </a:spcBef>
            </a:pPr>
            <a:r>
              <a:rPr sz="1000" b="0" i="0">
                <a:solidFill>
                  <a:srgbClr val="1B2B3C"/>
                </a:solidFill>
                <a:latin typeface="Calibri"/>
              </a:rPr>
              <a:t>Month 4: Data pipeline live · Month 8: Model training operational</a:t>
            </a:r>
          </a:p>
        </p:txBody>
      </p:sp>
      <p:sp>
        <p:nvSpPr>
          <p:cNvPr id="31" name="Rectangle 30"/>
          <p:cNvSpPr/>
          <p:nvPr/>
        </p:nvSpPr>
        <p:spPr>
          <a:xfrm>
            <a:off x="548640" y="3328416"/>
            <a:ext cx="2103120" cy="585216"/>
          </a:xfrm>
          <a:prstGeom prst="rect">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21792" y="3374136"/>
            <a:ext cx="1956816" cy="539496"/>
          </a:xfrm>
          <a:prstGeom prst="rect">
            <a:avLst/>
          </a:prstGeom>
          <a:noFill/>
        </p:spPr>
        <p:txBody>
          <a:bodyPr wrap="square" anchor="ctr" lIns="0" rIns="0" tIns="0" bIns="0">
            <a:normAutofit/>
          </a:bodyPr>
          <a:lstStyle/>
          <a:p>
            <a:pPr algn="l">
              <a:lnSpc>
                <a:spcPct val="105000"/>
              </a:lnSpc>
              <a:spcBef>
                <a:spcPts val="0"/>
              </a:spcBef>
            </a:pPr>
            <a:r>
              <a:rPr sz="1000" b="0" i="0">
                <a:solidFill>
                  <a:srgbClr val="1B2B3C"/>
                </a:solidFill>
                <a:latin typeface="Calibri"/>
              </a:rPr>
              <a:t>Production AI Deployment</a:t>
            </a:r>
          </a:p>
        </p:txBody>
      </p:sp>
      <p:sp>
        <p:nvSpPr>
          <p:cNvPr id="33" name="Rectangle 32"/>
          <p:cNvSpPr/>
          <p:nvPr/>
        </p:nvSpPr>
        <p:spPr>
          <a:xfrm>
            <a:off x="2651760" y="3328416"/>
            <a:ext cx="2103120" cy="585216"/>
          </a:xfrm>
          <a:prstGeom prst="rect">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724912" y="3374136"/>
            <a:ext cx="1956816" cy="539496"/>
          </a:xfrm>
          <a:prstGeom prst="rect">
            <a:avLst/>
          </a:prstGeom>
          <a:noFill/>
        </p:spPr>
        <p:txBody>
          <a:bodyPr wrap="square" anchor="ctr" lIns="0" rIns="0" tIns="0" bIns="0">
            <a:normAutofit/>
          </a:bodyPr>
          <a:lstStyle/>
          <a:p>
            <a:pPr algn="l">
              <a:lnSpc>
                <a:spcPct val="105000"/>
              </a:lnSpc>
              <a:spcBef>
                <a:spcPts val="0"/>
              </a:spcBef>
            </a:pPr>
            <a:r>
              <a:rPr sz="1000" b="0" i="0">
                <a:solidFill>
                  <a:srgbClr val="1B2B3C"/>
                </a:solidFill>
                <a:latin typeface="Calibri"/>
              </a:rPr>
              <a:t>FleziPT</a:t>
            </a:r>
          </a:p>
        </p:txBody>
      </p:sp>
      <p:sp>
        <p:nvSpPr>
          <p:cNvPr id="35" name="Rectangle 34"/>
          <p:cNvSpPr/>
          <p:nvPr/>
        </p:nvSpPr>
        <p:spPr>
          <a:xfrm>
            <a:off x="4754880" y="3328416"/>
            <a:ext cx="4937760" cy="585216"/>
          </a:xfrm>
          <a:prstGeom prst="rect">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828032" y="3374136"/>
            <a:ext cx="4791456" cy="539496"/>
          </a:xfrm>
          <a:prstGeom prst="rect">
            <a:avLst/>
          </a:prstGeom>
          <a:noFill/>
        </p:spPr>
        <p:txBody>
          <a:bodyPr wrap="square" anchor="ctr" lIns="0" rIns="0" tIns="0" bIns="0">
            <a:normAutofit/>
          </a:bodyPr>
          <a:lstStyle/>
          <a:p>
            <a:pPr algn="l">
              <a:lnSpc>
                <a:spcPct val="105000"/>
              </a:lnSpc>
              <a:spcBef>
                <a:spcPts val="0"/>
              </a:spcBef>
            </a:pPr>
            <a:r>
              <a:rPr sz="1000" b="0" i="0">
                <a:solidFill>
                  <a:srgbClr val="1B2B3C"/>
                </a:solidFill>
                <a:latin typeface="Calibri"/>
              </a:rPr>
              <a:t>2–3 AI use cases in full production · monitoring dashboards · model retraining cycles · audit trail for regulated industries</a:t>
            </a:r>
          </a:p>
        </p:txBody>
      </p:sp>
      <p:sp>
        <p:nvSpPr>
          <p:cNvPr id="37" name="Rectangle 36"/>
          <p:cNvSpPr/>
          <p:nvPr/>
        </p:nvSpPr>
        <p:spPr>
          <a:xfrm>
            <a:off x="9692640" y="3328416"/>
            <a:ext cx="1828800" cy="585216"/>
          </a:xfrm>
          <a:prstGeom prst="rect">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765792" y="3374136"/>
            <a:ext cx="1682496" cy="539496"/>
          </a:xfrm>
          <a:prstGeom prst="rect">
            <a:avLst/>
          </a:prstGeom>
          <a:noFill/>
        </p:spPr>
        <p:txBody>
          <a:bodyPr wrap="square" anchor="ctr" lIns="0" rIns="0" tIns="0" bIns="0">
            <a:normAutofit/>
          </a:bodyPr>
          <a:lstStyle/>
          <a:p>
            <a:pPr algn="l">
              <a:lnSpc>
                <a:spcPct val="105000"/>
              </a:lnSpc>
              <a:spcBef>
                <a:spcPts val="0"/>
              </a:spcBef>
            </a:pPr>
            <a:r>
              <a:rPr sz="1000" b="0" i="0">
                <a:solidFill>
                  <a:srgbClr val="1B2B3C"/>
                </a:solidFill>
                <a:latin typeface="Calibri"/>
              </a:rPr>
              <a:t>Month 6: First use case live · Month 10: 2nd use case live</a:t>
            </a:r>
          </a:p>
        </p:txBody>
      </p:sp>
      <p:sp>
        <p:nvSpPr>
          <p:cNvPr id="39" name="Rectangle 38"/>
          <p:cNvSpPr/>
          <p:nvPr/>
        </p:nvSpPr>
        <p:spPr>
          <a:xfrm>
            <a:off x="548640" y="3913632"/>
            <a:ext cx="2103120" cy="585216"/>
          </a:xfrm>
          <a:prstGeom prst="rect">
            <a:avLst/>
          </a:prstGeom>
          <a:solidFill>
            <a:srgbClr val="F4F7F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21792" y="3959352"/>
            <a:ext cx="1956816" cy="539496"/>
          </a:xfrm>
          <a:prstGeom prst="rect">
            <a:avLst/>
          </a:prstGeom>
          <a:noFill/>
        </p:spPr>
        <p:txBody>
          <a:bodyPr wrap="square" anchor="ctr" lIns="0" rIns="0" tIns="0" bIns="0">
            <a:normAutofit/>
          </a:bodyPr>
          <a:lstStyle/>
          <a:p>
            <a:pPr algn="l">
              <a:lnSpc>
                <a:spcPct val="105000"/>
              </a:lnSpc>
              <a:spcBef>
                <a:spcPts val="0"/>
              </a:spcBef>
            </a:pPr>
            <a:r>
              <a:rPr sz="1000" b="0" i="0">
                <a:solidFill>
                  <a:srgbClr val="1B2B3C"/>
                </a:solidFill>
                <a:latin typeface="Calibri"/>
              </a:rPr>
              <a:t>Vertical AI Platform</a:t>
            </a:r>
          </a:p>
        </p:txBody>
      </p:sp>
      <p:sp>
        <p:nvSpPr>
          <p:cNvPr id="41" name="Rectangle 40"/>
          <p:cNvSpPr/>
          <p:nvPr/>
        </p:nvSpPr>
        <p:spPr>
          <a:xfrm>
            <a:off x="2651760" y="3913632"/>
            <a:ext cx="2103120" cy="585216"/>
          </a:xfrm>
          <a:prstGeom prst="rect">
            <a:avLst/>
          </a:prstGeom>
          <a:solidFill>
            <a:srgbClr val="F4F7F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724912" y="3959352"/>
            <a:ext cx="1956816" cy="539496"/>
          </a:xfrm>
          <a:prstGeom prst="rect">
            <a:avLst/>
          </a:prstGeom>
          <a:noFill/>
        </p:spPr>
        <p:txBody>
          <a:bodyPr wrap="square" anchor="ctr" lIns="0" rIns="0" tIns="0" bIns="0">
            <a:normAutofit/>
          </a:bodyPr>
          <a:lstStyle/>
          <a:p>
            <a:pPr algn="l">
              <a:lnSpc>
                <a:spcPct val="105000"/>
              </a:lnSpc>
              <a:spcBef>
                <a:spcPts val="0"/>
              </a:spcBef>
            </a:pPr>
            <a:r>
              <a:rPr sz="1000" b="0" i="0">
                <a:solidFill>
                  <a:srgbClr val="1B2B3C"/>
                </a:solidFill>
                <a:latin typeface="Calibri"/>
              </a:rPr>
              <a:t>KnowMed.ai / Virtual Factory / Edge AI</a:t>
            </a:r>
          </a:p>
        </p:txBody>
      </p:sp>
      <p:sp>
        <p:nvSpPr>
          <p:cNvPr id="43" name="Rectangle 42"/>
          <p:cNvSpPr/>
          <p:nvPr/>
        </p:nvSpPr>
        <p:spPr>
          <a:xfrm>
            <a:off x="4754880" y="3913632"/>
            <a:ext cx="4937760" cy="585216"/>
          </a:xfrm>
          <a:prstGeom prst="rect">
            <a:avLst/>
          </a:prstGeom>
          <a:solidFill>
            <a:srgbClr val="F4F7F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828032" y="3959352"/>
            <a:ext cx="4791456" cy="539496"/>
          </a:xfrm>
          <a:prstGeom prst="rect">
            <a:avLst/>
          </a:prstGeom>
          <a:noFill/>
        </p:spPr>
        <p:txBody>
          <a:bodyPr wrap="square" anchor="ctr" lIns="0" rIns="0" tIns="0" bIns="0">
            <a:normAutofit/>
          </a:bodyPr>
          <a:lstStyle/>
          <a:p>
            <a:pPr algn="l">
              <a:lnSpc>
                <a:spcPct val="105000"/>
              </a:lnSpc>
              <a:spcBef>
                <a:spcPts val="0"/>
              </a:spcBef>
            </a:pPr>
            <a:r>
              <a:rPr sz="1000" b="0" i="0">
                <a:solidFill>
                  <a:srgbClr val="1B2B3C"/>
                </a:solidFill>
                <a:latin typeface="Calibri"/>
              </a:rPr>
              <a:t>Industry-specific AI platform deployed inside GCC's domain (healthcare / manufacturing / automotive / energy) with domain-trained models</a:t>
            </a:r>
          </a:p>
        </p:txBody>
      </p:sp>
      <p:sp>
        <p:nvSpPr>
          <p:cNvPr id="45" name="Rectangle 44"/>
          <p:cNvSpPr/>
          <p:nvPr/>
        </p:nvSpPr>
        <p:spPr>
          <a:xfrm>
            <a:off x="9692640" y="3913632"/>
            <a:ext cx="1828800" cy="585216"/>
          </a:xfrm>
          <a:prstGeom prst="rect">
            <a:avLst/>
          </a:prstGeom>
          <a:solidFill>
            <a:srgbClr val="F4F7F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765792" y="3959352"/>
            <a:ext cx="1682496" cy="539496"/>
          </a:xfrm>
          <a:prstGeom prst="rect">
            <a:avLst/>
          </a:prstGeom>
          <a:noFill/>
        </p:spPr>
        <p:txBody>
          <a:bodyPr wrap="square" anchor="ctr" lIns="0" rIns="0" tIns="0" bIns="0">
            <a:normAutofit/>
          </a:bodyPr>
          <a:lstStyle/>
          <a:p>
            <a:pPr algn="l">
              <a:lnSpc>
                <a:spcPct val="105000"/>
              </a:lnSpc>
              <a:spcBef>
                <a:spcPts val="0"/>
              </a:spcBef>
            </a:pPr>
            <a:r>
              <a:rPr sz="1000" b="0" i="0">
                <a:solidFill>
                  <a:srgbClr val="1B2B3C"/>
                </a:solidFill>
                <a:latin typeface="Calibri"/>
              </a:rPr>
              <a:t>Month 9: Vertical platform operational · Month 12: First vertical results</a:t>
            </a:r>
          </a:p>
        </p:txBody>
      </p:sp>
      <p:sp>
        <p:nvSpPr>
          <p:cNvPr id="47" name="Rectangle 46"/>
          <p:cNvSpPr/>
          <p:nvPr/>
        </p:nvSpPr>
        <p:spPr>
          <a:xfrm>
            <a:off x="548640" y="4498848"/>
            <a:ext cx="2103120" cy="585216"/>
          </a:xfrm>
          <a:prstGeom prst="rect">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21792" y="4544568"/>
            <a:ext cx="1956816" cy="539496"/>
          </a:xfrm>
          <a:prstGeom prst="rect">
            <a:avLst/>
          </a:prstGeom>
          <a:noFill/>
        </p:spPr>
        <p:txBody>
          <a:bodyPr wrap="square" anchor="ctr" lIns="0" rIns="0" tIns="0" bIns="0">
            <a:normAutofit/>
          </a:bodyPr>
          <a:lstStyle/>
          <a:p>
            <a:pPr algn="l">
              <a:lnSpc>
                <a:spcPct val="105000"/>
              </a:lnSpc>
              <a:spcBef>
                <a:spcPts val="0"/>
              </a:spcBef>
            </a:pPr>
            <a:r>
              <a:rPr sz="1000" b="0" i="0">
                <a:solidFill>
                  <a:srgbClr val="1B2B3C"/>
                </a:solidFill>
                <a:latin typeface="Calibri"/>
              </a:rPr>
              <a:t>AI Quality &amp; Compliance</a:t>
            </a:r>
          </a:p>
        </p:txBody>
      </p:sp>
      <p:sp>
        <p:nvSpPr>
          <p:cNvPr id="49" name="Rectangle 48"/>
          <p:cNvSpPr/>
          <p:nvPr/>
        </p:nvSpPr>
        <p:spPr>
          <a:xfrm>
            <a:off x="2651760" y="4498848"/>
            <a:ext cx="2103120" cy="585216"/>
          </a:xfrm>
          <a:prstGeom prst="rect">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2724912" y="4544568"/>
            <a:ext cx="1956816" cy="539496"/>
          </a:xfrm>
          <a:prstGeom prst="rect">
            <a:avLst/>
          </a:prstGeom>
          <a:noFill/>
        </p:spPr>
        <p:txBody>
          <a:bodyPr wrap="square" anchor="ctr" lIns="0" rIns="0" tIns="0" bIns="0">
            <a:normAutofit/>
          </a:bodyPr>
          <a:lstStyle/>
          <a:p>
            <a:pPr algn="l">
              <a:lnSpc>
                <a:spcPct val="105000"/>
              </a:lnSpc>
              <a:spcBef>
                <a:spcPts val="0"/>
              </a:spcBef>
            </a:pPr>
            <a:r>
              <a:rPr sz="1000" b="0" i="0">
                <a:solidFill>
                  <a:srgbClr val="1B2B3C"/>
                </a:solidFill>
                <a:latin typeface="Calibri"/>
              </a:rPr>
              <a:t>AI Testing Loop</a:t>
            </a:r>
          </a:p>
        </p:txBody>
      </p:sp>
      <p:sp>
        <p:nvSpPr>
          <p:cNvPr id="51" name="Rectangle 50"/>
          <p:cNvSpPr/>
          <p:nvPr/>
        </p:nvSpPr>
        <p:spPr>
          <a:xfrm>
            <a:off x="4754880" y="4498848"/>
            <a:ext cx="4937760" cy="585216"/>
          </a:xfrm>
          <a:prstGeom prst="rect">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4828032" y="4544568"/>
            <a:ext cx="4791456" cy="539496"/>
          </a:xfrm>
          <a:prstGeom prst="rect">
            <a:avLst/>
          </a:prstGeom>
          <a:noFill/>
        </p:spPr>
        <p:txBody>
          <a:bodyPr wrap="square" anchor="ctr" lIns="0" rIns="0" tIns="0" bIns="0">
            <a:normAutofit/>
          </a:bodyPr>
          <a:lstStyle/>
          <a:p>
            <a:pPr algn="l">
              <a:lnSpc>
                <a:spcPct val="105000"/>
              </a:lnSpc>
              <a:spcBef>
                <a:spcPts val="0"/>
              </a:spcBef>
            </a:pPr>
            <a:r>
              <a:rPr sz="1000" b="0" i="0">
                <a:solidFill>
                  <a:srgbClr val="1B2B3C"/>
                </a:solidFill>
                <a:latin typeface="Calibri"/>
              </a:rPr>
              <a:t>80% manual testing automated · V-Model and A-SPICE compliance traceability · regulated industry audit readiness</a:t>
            </a:r>
          </a:p>
        </p:txBody>
      </p:sp>
      <p:sp>
        <p:nvSpPr>
          <p:cNvPr id="53" name="Rectangle 52"/>
          <p:cNvSpPr/>
          <p:nvPr/>
        </p:nvSpPr>
        <p:spPr>
          <a:xfrm>
            <a:off x="9692640" y="4498848"/>
            <a:ext cx="1828800" cy="585216"/>
          </a:xfrm>
          <a:prstGeom prst="rect">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9765792" y="4544568"/>
            <a:ext cx="1682496" cy="539496"/>
          </a:xfrm>
          <a:prstGeom prst="rect">
            <a:avLst/>
          </a:prstGeom>
          <a:noFill/>
        </p:spPr>
        <p:txBody>
          <a:bodyPr wrap="square" anchor="ctr" lIns="0" rIns="0" tIns="0" bIns="0">
            <a:normAutofit/>
          </a:bodyPr>
          <a:lstStyle/>
          <a:p>
            <a:pPr algn="l">
              <a:lnSpc>
                <a:spcPct val="105000"/>
              </a:lnSpc>
              <a:spcBef>
                <a:spcPts val="0"/>
              </a:spcBef>
            </a:pPr>
            <a:r>
              <a:rPr sz="1000" b="0" i="0">
                <a:solidFill>
                  <a:srgbClr val="1B2B3C"/>
                </a:solidFill>
                <a:latin typeface="Calibri"/>
              </a:rPr>
              <a:t>Month 5: Test automation live · Month 12: Full compliance coverage</a:t>
            </a:r>
          </a:p>
        </p:txBody>
      </p:sp>
      <p:sp>
        <p:nvSpPr>
          <p:cNvPr id="55" name="Rectangle 54"/>
          <p:cNvSpPr/>
          <p:nvPr/>
        </p:nvSpPr>
        <p:spPr>
          <a:xfrm>
            <a:off x="548640" y="5084064"/>
            <a:ext cx="2103120" cy="585216"/>
          </a:xfrm>
          <a:prstGeom prst="rect">
            <a:avLst/>
          </a:prstGeom>
          <a:solidFill>
            <a:srgbClr val="F4F7F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621792" y="5129784"/>
            <a:ext cx="1956816" cy="539496"/>
          </a:xfrm>
          <a:prstGeom prst="rect">
            <a:avLst/>
          </a:prstGeom>
          <a:noFill/>
        </p:spPr>
        <p:txBody>
          <a:bodyPr wrap="square" anchor="ctr" lIns="0" rIns="0" tIns="0" bIns="0">
            <a:normAutofit/>
          </a:bodyPr>
          <a:lstStyle/>
          <a:p>
            <a:pPr algn="l">
              <a:lnSpc>
                <a:spcPct val="105000"/>
              </a:lnSpc>
              <a:spcBef>
                <a:spcPts val="0"/>
              </a:spcBef>
            </a:pPr>
            <a:r>
              <a:rPr sz="1000" b="0" i="0">
                <a:solidFill>
                  <a:srgbClr val="1B2B3C"/>
                </a:solidFill>
                <a:latin typeface="Calibri"/>
              </a:rPr>
              <a:t>Managed Services</a:t>
            </a:r>
          </a:p>
        </p:txBody>
      </p:sp>
      <p:sp>
        <p:nvSpPr>
          <p:cNvPr id="57" name="Rectangle 56"/>
          <p:cNvSpPr/>
          <p:nvPr/>
        </p:nvSpPr>
        <p:spPr>
          <a:xfrm>
            <a:off x="2651760" y="5084064"/>
            <a:ext cx="2103120" cy="585216"/>
          </a:xfrm>
          <a:prstGeom prst="rect">
            <a:avLst/>
          </a:prstGeom>
          <a:solidFill>
            <a:srgbClr val="F4F7F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2724912" y="5129784"/>
            <a:ext cx="1956816" cy="539496"/>
          </a:xfrm>
          <a:prstGeom prst="rect">
            <a:avLst/>
          </a:prstGeom>
          <a:noFill/>
        </p:spPr>
        <p:txBody>
          <a:bodyPr wrap="square" anchor="ctr" lIns="0" rIns="0" tIns="0" bIns="0">
            <a:normAutofit/>
          </a:bodyPr>
          <a:lstStyle/>
          <a:p>
            <a:pPr algn="l">
              <a:lnSpc>
                <a:spcPct val="105000"/>
              </a:lnSpc>
              <a:spcBef>
                <a:spcPts val="0"/>
              </a:spcBef>
            </a:pPr>
            <a:r>
              <a:rPr sz="1000" b="0" i="0">
                <a:solidFill>
                  <a:srgbClr val="1B2B3C"/>
                </a:solidFill>
                <a:latin typeface="Calibri"/>
              </a:rPr>
              <a:t>FPT AMS team</a:t>
            </a:r>
          </a:p>
        </p:txBody>
      </p:sp>
      <p:sp>
        <p:nvSpPr>
          <p:cNvPr id="59" name="Rectangle 58"/>
          <p:cNvSpPr/>
          <p:nvPr/>
        </p:nvSpPr>
        <p:spPr>
          <a:xfrm>
            <a:off x="4754880" y="5084064"/>
            <a:ext cx="4937760" cy="585216"/>
          </a:xfrm>
          <a:prstGeom prst="rect">
            <a:avLst/>
          </a:prstGeom>
          <a:solidFill>
            <a:srgbClr val="F4F7F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4828032" y="5129784"/>
            <a:ext cx="4791456" cy="539496"/>
          </a:xfrm>
          <a:prstGeom prst="rect">
            <a:avLst/>
          </a:prstGeom>
          <a:noFill/>
        </p:spPr>
        <p:txBody>
          <a:bodyPr wrap="square" anchor="ctr" lIns="0" rIns="0" tIns="0" bIns="0">
            <a:normAutofit/>
          </a:bodyPr>
          <a:lstStyle/>
          <a:p>
            <a:pPr algn="l">
              <a:lnSpc>
                <a:spcPct val="105000"/>
              </a:lnSpc>
              <a:spcBef>
                <a:spcPts val="0"/>
              </a:spcBef>
            </a:pPr>
            <a:r>
              <a:rPr sz="1000" b="0" i="0">
                <a:solidFill>
                  <a:srgbClr val="1B2B3C"/>
                </a:solidFill>
                <a:latin typeface="Calibri"/>
              </a:rPr>
              <a:t>24/7 AI operations support · SLA-backed uptime · model drift monitoring · monthly performance reviews with Srikumar</a:t>
            </a:r>
          </a:p>
        </p:txBody>
      </p:sp>
      <p:sp>
        <p:nvSpPr>
          <p:cNvPr id="61" name="Rectangle 60"/>
          <p:cNvSpPr/>
          <p:nvPr/>
        </p:nvSpPr>
        <p:spPr>
          <a:xfrm>
            <a:off x="9692640" y="5084064"/>
            <a:ext cx="1828800" cy="585216"/>
          </a:xfrm>
          <a:prstGeom prst="rect">
            <a:avLst/>
          </a:prstGeom>
          <a:solidFill>
            <a:srgbClr val="F4F7F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9765792" y="5129784"/>
            <a:ext cx="1682496" cy="539496"/>
          </a:xfrm>
          <a:prstGeom prst="rect">
            <a:avLst/>
          </a:prstGeom>
          <a:noFill/>
        </p:spPr>
        <p:txBody>
          <a:bodyPr wrap="square" anchor="ctr" lIns="0" rIns="0" tIns="0" bIns="0">
            <a:normAutofit/>
          </a:bodyPr>
          <a:lstStyle/>
          <a:p>
            <a:pPr algn="l">
              <a:lnSpc>
                <a:spcPct val="105000"/>
              </a:lnSpc>
              <a:spcBef>
                <a:spcPts val="0"/>
              </a:spcBef>
            </a:pPr>
            <a:r>
              <a:rPr sz="1000" b="0" i="0">
                <a:solidFill>
                  <a:srgbClr val="1B2B3C"/>
                </a:solidFill>
                <a:latin typeface="Calibri"/>
              </a:rPr>
              <a:t>Month 3: AMS contract active · ongoing through Year 2+</a:t>
            </a:r>
          </a:p>
        </p:txBody>
      </p:sp>
      <p:sp>
        <p:nvSpPr>
          <p:cNvPr id="63" name="TextBox 62"/>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FPT Software · GCC Implementation Roadmap · Jun 2026</a:t>
            </a:r>
          </a:p>
        </p:txBody>
      </p:sp>
      <p:sp>
        <p:nvSpPr>
          <p:cNvPr id="64" name="TextBox 63"/>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6 / 17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Phase 3 — Transformation Program Year 2 · Months 12–24 · $6M–$15M ARR</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Activate at Scale + Innovate: AI Becomes the GCC's Competitive Advantage</a:t>
            </a:r>
          </a:p>
        </p:txBody>
      </p:sp>
      <p:sp>
        <p:nvSpPr>
          <p:cNvPr id="7" name="Rounded Rectangle 6"/>
          <p:cNvSpPr/>
          <p:nvPr/>
        </p:nvSpPr>
        <p:spPr>
          <a:xfrm>
            <a:off x="548640" y="1572768"/>
            <a:ext cx="3606698" cy="2103120"/>
          </a:xfrm>
          <a:prstGeom prst="roundRect">
            <a:avLst>
              <a:gd name="adj" fmla="val 3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572768"/>
            <a:ext cx="3606698" cy="5486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1664208"/>
            <a:ext cx="3423818" cy="292608"/>
          </a:xfrm>
          <a:prstGeom prst="rect">
            <a:avLst/>
          </a:prstGeom>
          <a:noFill/>
        </p:spPr>
        <p:txBody>
          <a:bodyPr wrap="square" anchor="t" lIns="0" rIns="0" tIns="0" bIns="0">
            <a:normAutofit/>
          </a:bodyPr>
          <a:lstStyle/>
          <a:p>
            <a:pPr algn="l">
              <a:lnSpc>
                <a:spcPct val="105000"/>
              </a:lnSpc>
              <a:spcBef>
                <a:spcPts val="0"/>
              </a:spcBef>
            </a:pPr>
            <a:r>
              <a:rPr sz="1050" b="1" i="0">
                <a:solidFill>
                  <a:srgbClr val="00C9A7"/>
                </a:solidFill>
                <a:latin typeface="Calibri"/>
              </a:rPr>
              <a:t>SCALE AI ACROSS VERTICALS</a:t>
            </a:r>
          </a:p>
        </p:txBody>
      </p:sp>
      <p:sp>
        <p:nvSpPr>
          <p:cNvPr id="10" name="TextBox 9"/>
          <p:cNvSpPr txBox="1"/>
          <p:nvPr/>
        </p:nvSpPr>
        <p:spPr>
          <a:xfrm>
            <a:off x="658368" y="1993392"/>
            <a:ext cx="3423818" cy="1600200"/>
          </a:xfrm>
          <a:prstGeom prst="rect">
            <a:avLst/>
          </a:prstGeom>
          <a:noFill/>
        </p:spPr>
        <p:txBody>
          <a:bodyPr wrap="square" anchor="t" lIns="0" rIns="0" tIns="0" bIns="0">
            <a:normAutofit/>
          </a:bodyPr>
          <a:lstStyle/>
          <a:p>
            <a:pPr algn="l">
              <a:lnSpc>
                <a:spcPct val="105000"/>
              </a:lnSpc>
              <a:spcBef>
                <a:spcPts val="0"/>
              </a:spcBef>
            </a:pPr>
            <a:r>
              <a:rPr sz="1050" b="0" i="0">
                <a:solidFill>
                  <a:srgbClr val="FFFFFF"/>
                </a:solidFill>
                <a:latin typeface="Calibri"/>
              </a:rPr>
              <a:t>Deploy second and third vertical AI platforms. If Year 1 was KnowMed.ai, Year 2 adds Virtual Factory or Edge AI Orchestrator. Each new vertical compounds the ROI case for the global parent.</a:t>
            </a:r>
          </a:p>
        </p:txBody>
      </p:sp>
      <p:sp>
        <p:nvSpPr>
          <p:cNvPr id="11" name="Rounded Rectangle 10"/>
          <p:cNvSpPr/>
          <p:nvPr/>
        </p:nvSpPr>
        <p:spPr>
          <a:xfrm>
            <a:off x="4292498" y="1572768"/>
            <a:ext cx="3606698" cy="2103120"/>
          </a:xfrm>
          <a:prstGeom prst="roundRect">
            <a:avLst>
              <a:gd name="adj" fmla="val 3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292498" y="1572768"/>
            <a:ext cx="3606698" cy="5486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02226" y="1664208"/>
            <a:ext cx="3423818" cy="292608"/>
          </a:xfrm>
          <a:prstGeom prst="rect">
            <a:avLst/>
          </a:prstGeom>
          <a:noFill/>
        </p:spPr>
        <p:txBody>
          <a:bodyPr wrap="square" anchor="t" lIns="0" rIns="0" tIns="0" bIns="0">
            <a:normAutofit/>
          </a:bodyPr>
          <a:lstStyle/>
          <a:p>
            <a:pPr algn="l">
              <a:lnSpc>
                <a:spcPct val="105000"/>
              </a:lnSpc>
              <a:spcBef>
                <a:spcPts val="0"/>
              </a:spcBef>
            </a:pPr>
            <a:r>
              <a:rPr sz="1050" b="1" i="0">
                <a:solidFill>
                  <a:srgbClr val="00C9A7"/>
                </a:solidFill>
                <a:latin typeface="Calibri"/>
              </a:rPr>
              <a:t>ACTIVATE EDGE &amp; IOT AI</a:t>
            </a:r>
          </a:p>
        </p:txBody>
      </p:sp>
      <p:sp>
        <p:nvSpPr>
          <p:cNvPr id="14" name="TextBox 13"/>
          <p:cNvSpPr txBox="1"/>
          <p:nvPr/>
        </p:nvSpPr>
        <p:spPr>
          <a:xfrm>
            <a:off x="4402226" y="1993392"/>
            <a:ext cx="3423818" cy="1600200"/>
          </a:xfrm>
          <a:prstGeom prst="rect">
            <a:avLst/>
          </a:prstGeom>
          <a:noFill/>
        </p:spPr>
        <p:txBody>
          <a:bodyPr wrap="square" anchor="t" lIns="0" rIns="0" tIns="0" bIns="0">
            <a:normAutofit/>
          </a:bodyPr>
          <a:lstStyle/>
          <a:p>
            <a:pPr algn="l">
              <a:lnSpc>
                <a:spcPct val="105000"/>
              </a:lnSpc>
              <a:spcBef>
                <a:spcPts val="0"/>
              </a:spcBef>
            </a:pPr>
            <a:r>
              <a:rPr sz="1050" b="0" i="0">
                <a:solidFill>
                  <a:srgbClr val="FFFFFF"/>
                </a:solidFill>
                <a:latin typeface="Calibri"/>
              </a:rPr>
              <a:t>Edge AI Orchestrator deployed on Qualcomm/NVIDIA hardware. Low-latency on-device AI for manufacturing, automotive, and field operations. GCC becomes the AI edge competence centre for the global group.</a:t>
            </a:r>
          </a:p>
        </p:txBody>
      </p:sp>
      <p:sp>
        <p:nvSpPr>
          <p:cNvPr id="15" name="Rounded Rectangle 14"/>
          <p:cNvSpPr/>
          <p:nvPr/>
        </p:nvSpPr>
        <p:spPr>
          <a:xfrm>
            <a:off x="8036356" y="1572768"/>
            <a:ext cx="3606698" cy="2103120"/>
          </a:xfrm>
          <a:prstGeom prst="roundRect">
            <a:avLst>
              <a:gd name="adj" fmla="val 3000"/>
            </a:avLst>
          </a:prstGeom>
          <a:solidFill>
            <a:srgbClr val="009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36356" y="1572768"/>
            <a:ext cx="3606698"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46084" y="1664208"/>
            <a:ext cx="3423818" cy="292608"/>
          </a:xfrm>
          <a:prstGeom prst="rect">
            <a:avLst/>
          </a:prstGeom>
          <a:noFill/>
        </p:spPr>
        <p:txBody>
          <a:bodyPr wrap="square" anchor="t" lIns="0" rIns="0" tIns="0" bIns="0">
            <a:normAutofit/>
          </a:bodyPr>
          <a:lstStyle/>
          <a:p>
            <a:pPr algn="l">
              <a:lnSpc>
                <a:spcPct val="105000"/>
              </a:lnSpc>
              <a:spcBef>
                <a:spcPts val="0"/>
              </a:spcBef>
            </a:pPr>
            <a:r>
              <a:rPr sz="1050" b="1" i="0">
                <a:solidFill>
                  <a:srgbClr val="FFFFFF"/>
                </a:solidFill>
                <a:latin typeface="Calibri"/>
              </a:rPr>
              <a:t>BEGIN CO-DEVELOPMENT (INNOVATE LAYER)</a:t>
            </a:r>
          </a:p>
        </p:txBody>
      </p:sp>
      <p:sp>
        <p:nvSpPr>
          <p:cNvPr id="18" name="TextBox 17"/>
          <p:cNvSpPr txBox="1"/>
          <p:nvPr/>
        </p:nvSpPr>
        <p:spPr>
          <a:xfrm>
            <a:off x="8146084" y="1993392"/>
            <a:ext cx="3423818" cy="1600200"/>
          </a:xfrm>
          <a:prstGeom prst="rect">
            <a:avLst/>
          </a:prstGeom>
          <a:noFill/>
        </p:spPr>
        <p:txBody>
          <a:bodyPr wrap="square" anchor="t" lIns="0" rIns="0" tIns="0" bIns="0">
            <a:normAutofit/>
          </a:bodyPr>
          <a:lstStyle/>
          <a:p>
            <a:pPr algn="l">
              <a:lnSpc>
                <a:spcPct val="105000"/>
              </a:lnSpc>
              <a:spcBef>
                <a:spcPts val="0"/>
              </a:spcBef>
            </a:pPr>
            <a:r>
              <a:rPr sz="1050" b="0" i="0">
                <a:solidFill>
                  <a:srgbClr val="FFFFFF"/>
                </a:solidFill>
                <a:latin typeface="Calibri"/>
              </a:rPr>
              <a:t>First joint AI module built — GCC's domain expertise + FPT's engineering. Legal framework agreed. IP ownership structure set. DX Garage running rapid prototyping cycles.</a:t>
            </a:r>
          </a:p>
        </p:txBody>
      </p:sp>
      <p:sp>
        <p:nvSpPr>
          <p:cNvPr id="19" name="Rounded Rectangle 18"/>
          <p:cNvSpPr/>
          <p:nvPr/>
        </p:nvSpPr>
        <p:spPr>
          <a:xfrm>
            <a:off x="548640" y="3803904"/>
            <a:ext cx="3606698" cy="2103120"/>
          </a:xfrm>
          <a:prstGeom prst="roundRect">
            <a:avLst>
              <a:gd name="adj" fmla="val 3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803904"/>
            <a:ext cx="3606698" cy="5486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8368" y="3895344"/>
            <a:ext cx="3423818" cy="292608"/>
          </a:xfrm>
          <a:prstGeom prst="rect">
            <a:avLst/>
          </a:prstGeom>
          <a:noFill/>
        </p:spPr>
        <p:txBody>
          <a:bodyPr wrap="square" anchor="t" lIns="0" rIns="0" tIns="0" bIns="0">
            <a:normAutofit/>
          </a:bodyPr>
          <a:lstStyle/>
          <a:p>
            <a:pPr algn="l">
              <a:lnSpc>
                <a:spcPct val="105000"/>
              </a:lnSpc>
              <a:spcBef>
                <a:spcPts val="0"/>
              </a:spcBef>
            </a:pPr>
            <a:r>
              <a:rPr sz="1050" b="1" i="0">
                <a:solidFill>
                  <a:srgbClr val="00C9A7"/>
                </a:solidFill>
                <a:latin typeface="Calibri"/>
              </a:rPr>
              <a:t>WHITE-LABEL MODULE v1</a:t>
            </a:r>
          </a:p>
        </p:txBody>
      </p:sp>
      <p:sp>
        <p:nvSpPr>
          <p:cNvPr id="22" name="TextBox 21"/>
          <p:cNvSpPr txBox="1"/>
          <p:nvPr/>
        </p:nvSpPr>
        <p:spPr>
          <a:xfrm>
            <a:off x="658368" y="4224528"/>
            <a:ext cx="3423818" cy="1600200"/>
          </a:xfrm>
          <a:prstGeom prst="rect">
            <a:avLst/>
          </a:prstGeom>
          <a:noFill/>
        </p:spPr>
        <p:txBody>
          <a:bodyPr wrap="square" anchor="t" lIns="0" rIns="0" tIns="0" bIns="0">
            <a:normAutofit/>
          </a:bodyPr>
          <a:lstStyle/>
          <a:p>
            <a:pPr algn="l">
              <a:lnSpc>
                <a:spcPct val="105000"/>
              </a:lnSpc>
              <a:spcBef>
                <a:spcPts val="0"/>
              </a:spcBef>
            </a:pPr>
            <a:r>
              <a:rPr sz="1050" b="0" i="0">
                <a:solidFill>
                  <a:srgbClr val="FFFFFF"/>
                </a:solidFill>
                <a:latin typeface="Calibri"/>
              </a:rPr>
              <a:t>First AI module packaged for the GCC to own and potentially resell to their global parent's other subsidiaries. Turns FPT's engineering into GCC's IP. Revenue tail independent of FPT licence fees.</a:t>
            </a:r>
          </a:p>
        </p:txBody>
      </p:sp>
      <p:sp>
        <p:nvSpPr>
          <p:cNvPr id="23" name="Rounded Rectangle 22"/>
          <p:cNvSpPr/>
          <p:nvPr/>
        </p:nvSpPr>
        <p:spPr>
          <a:xfrm>
            <a:off x="4292498" y="3803904"/>
            <a:ext cx="3606698" cy="2103120"/>
          </a:xfrm>
          <a:prstGeom prst="roundRect">
            <a:avLst>
              <a:gd name="adj" fmla="val 3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292498" y="3803904"/>
            <a:ext cx="3606698" cy="54864"/>
          </a:xfrm>
          <a:prstGeom prst="rect">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402226" y="3895344"/>
            <a:ext cx="3423818" cy="292608"/>
          </a:xfrm>
          <a:prstGeom prst="rect">
            <a:avLst/>
          </a:prstGeom>
          <a:noFill/>
        </p:spPr>
        <p:txBody>
          <a:bodyPr wrap="square" anchor="t" lIns="0" rIns="0" tIns="0" bIns="0">
            <a:normAutofit/>
          </a:bodyPr>
          <a:lstStyle/>
          <a:p>
            <a:pPr algn="l">
              <a:lnSpc>
                <a:spcPct val="105000"/>
              </a:lnSpc>
              <a:spcBef>
                <a:spcPts val="0"/>
              </a:spcBef>
            </a:pPr>
            <a:r>
              <a:rPr sz="1050" b="1" i="0">
                <a:solidFill>
                  <a:srgbClr val="FFB800"/>
                </a:solidFill>
                <a:latin typeface="Calibri"/>
              </a:rPr>
              <a:t>GLOBAL PARENT BRIEFING</a:t>
            </a:r>
          </a:p>
        </p:txBody>
      </p:sp>
      <p:sp>
        <p:nvSpPr>
          <p:cNvPr id="26" name="TextBox 25"/>
          <p:cNvSpPr txBox="1"/>
          <p:nvPr/>
        </p:nvSpPr>
        <p:spPr>
          <a:xfrm>
            <a:off x="4402226" y="4224528"/>
            <a:ext cx="3423818" cy="1600200"/>
          </a:xfrm>
          <a:prstGeom prst="rect">
            <a:avLst/>
          </a:prstGeom>
          <a:noFill/>
        </p:spPr>
        <p:txBody>
          <a:bodyPr wrap="square" anchor="t" lIns="0" rIns="0" tIns="0" bIns="0">
            <a:normAutofit/>
          </a:bodyPr>
          <a:lstStyle/>
          <a:p>
            <a:pPr algn="l">
              <a:lnSpc>
                <a:spcPct val="105000"/>
              </a:lnSpc>
              <a:spcBef>
                <a:spcPts val="0"/>
              </a:spcBef>
            </a:pPr>
            <a:r>
              <a:rPr sz="1050" b="0" i="0">
                <a:solidFill>
                  <a:srgbClr val="FFFFFF"/>
                </a:solidFill>
                <a:latin typeface="Calibri"/>
              </a:rPr>
              <a:t>Srikumar leads a CxO-level presentation to the global parent. Shows 24-month results: AI in production, legacy cleared, developer velocity gains, vertical AI ROI, and the co-development IP pipeline.</a:t>
            </a:r>
          </a:p>
        </p:txBody>
      </p:sp>
      <p:sp>
        <p:nvSpPr>
          <p:cNvPr id="27" name="Rounded Rectangle 26"/>
          <p:cNvSpPr/>
          <p:nvPr/>
        </p:nvSpPr>
        <p:spPr>
          <a:xfrm>
            <a:off x="8036356" y="3803904"/>
            <a:ext cx="3606698" cy="2103120"/>
          </a:xfrm>
          <a:prstGeom prst="roundRect">
            <a:avLst>
              <a:gd name="adj" fmla="val 3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036356" y="3803904"/>
            <a:ext cx="3606698" cy="54864"/>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146084" y="3895344"/>
            <a:ext cx="3423818" cy="292608"/>
          </a:xfrm>
          <a:prstGeom prst="rect">
            <a:avLst/>
          </a:prstGeom>
          <a:noFill/>
        </p:spPr>
        <p:txBody>
          <a:bodyPr wrap="square" anchor="t" lIns="0" rIns="0" tIns="0" bIns="0">
            <a:normAutofit/>
          </a:bodyPr>
          <a:lstStyle/>
          <a:p>
            <a:pPr algn="l">
              <a:lnSpc>
                <a:spcPct val="105000"/>
              </a:lnSpc>
              <a:spcBef>
                <a:spcPts val="0"/>
              </a:spcBef>
            </a:pPr>
            <a:r>
              <a:rPr sz="1050" b="1" i="0">
                <a:solidFill>
                  <a:srgbClr val="0A1628"/>
                </a:solidFill>
                <a:latin typeface="Calibri"/>
              </a:rPr>
              <a:t>STRATEGIC PARTNERSHIP CONVERSION</a:t>
            </a:r>
          </a:p>
        </p:txBody>
      </p:sp>
      <p:sp>
        <p:nvSpPr>
          <p:cNvPr id="30" name="TextBox 29"/>
          <p:cNvSpPr txBox="1"/>
          <p:nvPr/>
        </p:nvSpPr>
        <p:spPr>
          <a:xfrm>
            <a:off x="8146084" y="4224528"/>
            <a:ext cx="3423818" cy="1600200"/>
          </a:xfrm>
          <a:prstGeom prst="rect">
            <a:avLst/>
          </a:prstGeom>
          <a:noFill/>
        </p:spPr>
        <p:txBody>
          <a:bodyPr wrap="square" anchor="t" lIns="0" rIns="0" tIns="0" bIns="0">
            <a:normAutofit/>
          </a:bodyPr>
          <a:lstStyle/>
          <a:p>
            <a:pPr algn="l">
              <a:lnSpc>
                <a:spcPct val="105000"/>
              </a:lnSpc>
              <a:spcBef>
                <a:spcPts val="0"/>
              </a:spcBef>
            </a:pPr>
            <a:r>
              <a:rPr sz="1050" b="0" i="0">
                <a:solidFill>
                  <a:srgbClr val="0A1628"/>
                </a:solidFill>
                <a:latin typeface="Calibri"/>
              </a:rPr>
              <a:t>$10M–$30M multi-year contract. Platform lock-in. Preferred partner status. GCC becomes a flagship reference for FPT's India GCC practice — unlocking the next 5 GCC introductions from this one.</a:t>
            </a:r>
          </a:p>
        </p:txBody>
      </p:sp>
      <p:sp>
        <p:nvSpPr>
          <p:cNvPr id="31" name="TextBox 30"/>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FPT Software · GCC Implementation Roadmap · Jun 2026</a:t>
            </a:r>
          </a:p>
        </p:txBody>
      </p:sp>
      <p:sp>
        <p:nvSpPr>
          <p:cNvPr id="32" name="TextBox 31"/>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7 / 17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56032"/>
            <a:ext cx="11094415" cy="475488"/>
          </a:xfrm>
          <a:prstGeom prst="rect">
            <a:avLst/>
          </a:prstGeom>
          <a:noFill/>
        </p:spPr>
        <p:txBody>
          <a:bodyPr wrap="square" anchor="t" lIns="0" rIns="0" tIns="0" bIns="0">
            <a:normAutofit/>
          </a:bodyPr>
          <a:lstStyle/>
          <a:p>
            <a:pPr algn="l">
              <a:lnSpc>
                <a:spcPct val="105000"/>
              </a:lnSpc>
              <a:spcBef>
                <a:spcPts val="0"/>
              </a:spcBef>
            </a:pPr>
            <a:r>
              <a:rPr sz="2000" b="1" i="0">
                <a:solidFill>
                  <a:srgbClr val="FFFFFF"/>
                </a:solidFill>
                <a:latin typeface="Calibri"/>
              </a:rPr>
              <a:t>Phase 4 — Strategic AI Partnership · Year 2+ · $10M–$30M · Multi-Year</a:t>
            </a:r>
          </a:p>
        </p:txBody>
      </p:sp>
      <p:sp>
        <p:nvSpPr>
          <p:cNvPr id="5" name="TextBox 4"/>
          <p:cNvSpPr txBox="1"/>
          <p:nvPr/>
        </p:nvSpPr>
        <p:spPr>
          <a:xfrm>
            <a:off x="548640" y="804672"/>
            <a:ext cx="11094415" cy="320040"/>
          </a:xfrm>
          <a:prstGeom prst="rect">
            <a:avLst/>
          </a:prstGeom>
          <a:noFill/>
        </p:spPr>
        <p:txBody>
          <a:bodyPr wrap="square" anchor="t" lIns="0" rIns="0" tIns="0" bIns="0">
            <a:noAutofit/>
          </a:bodyPr>
          <a:lstStyle/>
          <a:p>
            <a:pPr algn="l">
              <a:lnSpc>
                <a:spcPct val="105000"/>
              </a:lnSpc>
              <a:spcBef>
                <a:spcPts val="0"/>
              </a:spcBef>
            </a:pPr>
            <a:r>
              <a:rPr sz="1300" b="0" i="0">
                <a:solidFill>
                  <a:srgbClr val="E0F7F1"/>
                </a:solidFill>
                <a:latin typeface="Calibri"/>
              </a:rPr>
              <a:t>The GCC is now FPT's reference client in India. FPT is the GCC's preferred AI partner globally.</a:t>
            </a:r>
          </a:p>
        </p:txBody>
      </p:sp>
      <p:sp>
        <p:nvSpPr>
          <p:cNvPr id="6" name="Rectangle 5"/>
          <p:cNvSpPr/>
          <p:nvPr/>
        </p:nvSpPr>
        <p:spPr>
          <a:xfrm>
            <a:off x="548640" y="1298448"/>
            <a:ext cx="2560320" cy="658368"/>
          </a:xfrm>
          <a:prstGeom prst="rect">
            <a:avLst/>
          </a:prstGeom>
          <a:solidFill>
            <a:srgbClr val="00C9A7"/>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21792" y="1344168"/>
            <a:ext cx="2414016" cy="612648"/>
          </a:xfrm>
          <a:prstGeom prst="rect">
            <a:avLst/>
          </a:prstGeom>
          <a:noFill/>
        </p:spPr>
        <p:txBody>
          <a:bodyPr wrap="square" anchor="ctr" lIns="0" rIns="0" tIns="0" bIns="0">
            <a:normAutofit/>
          </a:bodyPr>
          <a:lstStyle/>
          <a:p>
            <a:pPr algn="l">
              <a:lnSpc>
                <a:spcPct val="105000"/>
              </a:lnSpc>
              <a:spcBef>
                <a:spcPts val="0"/>
              </a:spcBef>
            </a:pPr>
            <a:r>
              <a:rPr sz="1100" b="1" i="0">
                <a:solidFill>
                  <a:srgbClr val="FFFFFF"/>
                </a:solidFill>
                <a:latin typeface="Calibri"/>
              </a:rPr>
              <a:t>Partnership Element</a:t>
            </a:r>
          </a:p>
        </p:txBody>
      </p:sp>
      <p:sp>
        <p:nvSpPr>
          <p:cNvPr id="8" name="Rectangle 7"/>
          <p:cNvSpPr/>
          <p:nvPr/>
        </p:nvSpPr>
        <p:spPr>
          <a:xfrm>
            <a:off x="3108960" y="1298448"/>
            <a:ext cx="4206240" cy="658368"/>
          </a:xfrm>
          <a:prstGeom prst="rect">
            <a:avLst/>
          </a:prstGeom>
          <a:solidFill>
            <a:srgbClr val="00C9A7"/>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182112" y="1344168"/>
            <a:ext cx="4059936" cy="612648"/>
          </a:xfrm>
          <a:prstGeom prst="rect">
            <a:avLst/>
          </a:prstGeom>
          <a:noFill/>
        </p:spPr>
        <p:txBody>
          <a:bodyPr wrap="square" anchor="ctr" lIns="0" rIns="0" tIns="0" bIns="0">
            <a:normAutofit/>
          </a:bodyPr>
          <a:lstStyle/>
          <a:p>
            <a:pPr algn="l">
              <a:lnSpc>
                <a:spcPct val="105000"/>
              </a:lnSpc>
              <a:spcBef>
                <a:spcPts val="0"/>
              </a:spcBef>
            </a:pPr>
            <a:r>
              <a:rPr sz="1100" b="1" i="0">
                <a:solidFill>
                  <a:srgbClr val="FFFFFF"/>
                </a:solidFill>
                <a:latin typeface="Calibri"/>
              </a:rPr>
              <a:t>What It Means for the GCC</a:t>
            </a:r>
          </a:p>
        </p:txBody>
      </p:sp>
      <p:sp>
        <p:nvSpPr>
          <p:cNvPr id="10" name="Rectangle 9"/>
          <p:cNvSpPr/>
          <p:nvPr/>
        </p:nvSpPr>
        <p:spPr>
          <a:xfrm>
            <a:off x="7315200" y="1298448"/>
            <a:ext cx="4206240" cy="658368"/>
          </a:xfrm>
          <a:prstGeom prst="rect">
            <a:avLst/>
          </a:prstGeom>
          <a:solidFill>
            <a:srgbClr val="00C9A7"/>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88352" y="1344168"/>
            <a:ext cx="4059936" cy="612648"/>
          </a:xfrm>
          <a:prstGeom prst="rect">
            <a:avLst/>
          </a:prstGeom>
          <a:noFill/>
        </p:spPr>
        <p:txBody>
          <a:bodyPr wrap="square" anchor="ctr" lIns="0" rIns="0" tIns="0" bIns="0">
            <a:normAutofit/>
          </a:bodyPr>
          <a:lstStyle/>
          <a:p>
            <a:pPr algn="l">
              <a:lnSpc>
                <a:spcPct val="105000"/>
              </a:lnSpc>
              <a:spcBef>
                <a:spcPts val="0"/>
              </a:spcBef>
            </a:pPr>
            <a:r>
              <a:rPr sz="1100" b="1" i="0">
                <a:solidFill>
                  <a:srgbClr val="FFFFFF"/>
                </a:solidFill>
                <a:latin typeface="Calibri"/>
              </a:rPr>
              <a:t>What It Means for FPT</a:t>
            </a:r>
          </a:p>
        </p:txBody>
      </p:sp>
      <p:sp>
        <p:nvSpPr>
          <p:cNvPr id="12" name="Rectangle 11"/>
          <p:cNvSpPr/>
          <p:nvPr/>
        </p:nvSpPr>
        <p:spPr>
          <a:xfrm>
            <a:off x="548640" y="1956816"/>
            <a:ext cx="2560320" cy="658368"/>
          </a:xfrm>
          <a:prstGeom prst="rect">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1792" y="2002536"/>
            <a:ext cx="2414016" cy="612648"/>
          </a:xfrm>
          <a:prstGeom prst="rect">
            <a:avLst/>
          </a:prstGeom>
          <a:noFill/>
        </p:spPr>
        <p:txBody>
          <a:bodyPr wrap="square" anchor="ctr" lIns="0" rIns="0" tIns="0" bIns="0">
            <a:normAutofit/>
          </a:bodyPr>
          <a:lstStyle/>
          <a:p>
            <a:pPr algn="l">
              <a:lnSpc>
                <a:spcPct val="105000"/>
              </a:lnSpc>
              <a:spcBef>
                <a:spcPts val="0"/>
              </a:spcBef>
            </a:pPr>
            <a:r>
              <a:rPr sz="1050" b="0" i="0">
                <a:solidFill>
                  <a:srgbClr val="1B2B3C"/>
                </a:solidFill>
                <a:latin typeface="Calibri"/>
              </a:rPr>
              <a:t>Multi-year MSA</a:t>
            </a:r>
          </a:p>
        </p:txBody>
      </p:sp>
      <p:sp>
        <p:nvSpPr>
          <p:cNvPr id="14" name="Rectangle 13"/>
          <p:cNvSpPr/>
          <p:nvPr/>
        </p:nvSpPr>
        <p:spPr>
          <a:xfrm>
            <a:off x="3108960" y="1956816"/>
            <a:ext cx="4206240" cy="658368"/>
          </a:xfrm>
          <a:prstGeom prst="rect">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182112" y="2002536"/>
            <a:ext cx="4059936" cy="612648"/>
          </a:xfrm>
          <a:prstGeom prst="rect">
            <a:avLst/>
          </a:prstGeom>
          <a:noFill/>
        </p:spPr>
        <p:txBody>
          <a:bodyPr wrap="square" anchor="ctr" lIns="0" rIns="0" tIns="0" bIns="0">
            <a:normAutofit/>
          </a:bodyPr>
          <a:lstStyle/>
          <a:p>
            <a:pPr algn="l">
              <a:lnSpc>
                <a:spcPct val="105000"/>
              </a:lnSpc>
              <a:spcBef>
                <a:spcPts val="0"/>
              </a:spcBef>
            </a:pPr>
            <a:r>
              <a:rPr sz="1050" b="0" i="0">
                <a:solidFill>
                  <a:srgbClr val="1B2B3C"/>
                </a:solidFill>
                <a:latin typeface="Calibri"/>
              </a:rPr>
              <a:t>Budget certainty · no annual renegotiation · platform roadmap locked</a:t>
            </a:r>
          </a:p>
        </p:txBody>
      </p:sp>
      <p:sp>
        <p:nvSpPr>
          <p:cNvPr id="16" name="Rectangle 15"/>
          <p:cNvSpPr/>
          <p:nvPr/>
        </p:nvSpPr>
        <p:spPr>
          <a:xfrm>
            <a:off x="7315200" y="1956816"/>
            <a:ext cx="4206240" cy="658368"/>
          </a:xfrm>
          <a:prstGeom prst="rect">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88352" y="2002536"/>
            <a:ext cx="4059936" cy="612648"/>
          </a:xfrm>
          <a:prstGeom prst="rect">
            <a:avLst/>
          </a:prstGeom>
          <a:noFill/>
        </p:spPr>
        <p:txBody>
          <a:bodyPr wrap="square" anchor="ctr" lIns="0" rIns="0" tIns="0" bIns="0">
            <a:normAutofit/>
          </a:bodyPr>
          <a:lstStyle/>
          <a:p>
            <a:pPr algn="l">
              <a:lnSpc>
                <a:spcPct val="105000"/>
              </a:lnSpc>
              <a:spcBef>
                <a:spcPts val="0"/>
              </a:spcBef>
            </a:pPr>
            <a:r>
              <a:rPr sz="1050" b="0" i="0">
                <a:solidFill>
                  <a:srgbClr val="1B2B3C"/>
                </a:solidFill>
                <a:latin typeface="Calibri"/>
              </a:rPr>
              <a:t>Predictable ARR · deepening platform dependency · flagship reference</a:t>
            </a:r>
          </a:p>
        </p:txBody>
      </p:sp>
      <p:sp>
        <p:nvSpPr>
          <p:cNvPr id="18" name="Rectangle 17"/>
          <p:cNvSpPr/>
          <p:nvPr/>
        </p:nvSpPr>
        <p:spPr>
          <a:xfrm>
            <a:off x="548640" y="2615184"/>
            <a:ext cx="2560320" cy="658368"/>
          </a:xfrm>
          <a:prstGeom prst="rect">
            <a:avLst/>
          </a:prstGeom>
          <a:solidFill>
            <a:srgbClr val="F4F7F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 y="2660904"/>
            <a:ext cx="2414016" cy="612648"/>
          </a:xfrm>
          <a:prstGeom prst="rect">
            <a:avLst/>
          </a:prstGeom>
          <a:noFill/>
        </p:spPr>
        <p:txBody>
          <a:bodyPr wrap="square" anchor="ctr" lIns="0" rIns="0" tIns="0" bIns="0">
            <a:normAutofit/>
          </a:bodyPr>
          <a:lstStyle/>
          <a:p>
            <a:pPr algn="l">
              <a:lnSpc>
                <a:spcPct val="105000"/>
              </a:lnSpc>
              <a:spcBef>
                <a:spcPts val="0"/>
              </a:spcBef>
            </a:pPr>
            <a:r>
              <a:rPr sz="1050" b="0" i="0">
                <a:solidFill>
                  <a:srgbClr val="1B2B3C"/>
                </a:solidFill>
                <a:latin typeface="Calibri"/>
              </a:rPr>
              <a:t>Co-Development Programme</a:t>
            </a:r>
          </a:p>
        </p:txBody>
      </p:sp>
      <p:sp>
        <p:nvSpPr>
          <p:cNvPr id="20" name="Rectangle 19"/>
          <p:cNvSpPr/>
          <p:nvPr/>
        </p:nvSpPr>
        <p:spPr>
          <a:xfrm>
            <a:off x="3108960" y="2615184"/>
            <a:ext cx="4206240" cy="658368"/>
          </a:xfrm>
          <a:prstGeom prst="rect">
            <a:avLst/>
          </a:prstGeom>
          <a:solidFill>
            <a:srgbClr val="F4F7F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182112" y="2660904"/>
            <a:ext cx="4059936" cy="612648"/>
          </a:xfrm>
          <a:prstGeom prst="rect">
            <a:avLst/>
          </a:prstGeom>
          <a:noFill/>
        </p:spPr>
        <p:txBody>
          <a:bodyPr wrap="square" anchor="ctr" lIns="0" rIns="0" tIns="0" bIns="0">
            <a:normAutofit/>
          </a:bodyPr>
          <a:lstStyle/>
          <a:p>
            <a:pPr algn="l">
              <a:lnSpc>
                <a:spcPct val="105000"/>
              </a:lnSpc>
              <a:spcBef>
                <a:spcPts val="0"/>
              </a:spcBef>
            </a:pPr>
            <a:r>
              <a:rPr sz="1050" b="0" i="0">
                <a:solidFill>
                  <a:srgbClr val="1B2B3C"/>
                </a:solidFill>
                <a:latin typeface="Calibri"/>
              </a:rPr>
              <a:t>Owns jointly-developed AI modules · builds resellable IP · domain AI leadership</a:t>
            </a:r>
          </a:p>
        </p:txBody>
      </p:sp>
      <p:sp>
        <p:nvSpPr>
          <p:cNvPr id="22" name="Rectangle 21"/>
          <p:cNvSpPr/>
          <p:nvPr/>
        </p:nvSpPr>
        <p:spPr>
          <a:xfrm>
            <a:off x="7315200" y="2615184"/>
            <a:ext cx="4206240" cy="658368"/>
          </a:xfrm>
          <a:prstGeom prst="rect">
            <a:avLst/>
          </a:prstGeom>
          <a:solidFill>
            <a:srgbClr val="F4F7F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88352" y="2660904"/>
            <a:ext cx="4059936" cy="612648"/>
          </a:xfrm>
          <a:prstGeom prst="rect">
            <a:avLst/>
          </a:prstGeom>
          <a:noFill/>
        </p:spPr>
        <p:txBody>
          <a:bodyPr wrap="square" anchor="ctr" lIns="0" rIns="0" tIns="0" bIns="0">
            <a:normAutofit/>
          </a:bodyPr>
          <a:lstStyle/>
          <a:p>
            <a:pPr algn="l">
              <a:lnSpc>
                <a:spcPct val="105000"/>
              </a:lnSpc>
              <a:spcBef>
                <a:spcPts val="0"/>
              </a:spcBef>
            </a:pPr>
            <a:r>
              <a:rPr sz="1050" b="0" i="0">
                <a:solidFill>
                  <a:srgbClr val="1B2B3C"/>
                </a:solidFill>
                <a:latin typeface="Calibri"/>
              </a:rPr>
              <a:t>Engineering capacity deployed on sticky, high-value co-creation work</a:t>
            </a:r>
          </a:p>
        </p:txBody>
      </p:sp>
      <p:sp>
        <p:nvSpPr>
          <p:cNvPr id="24" name="Rectangle 23"/>
          <p:cNvSpPr/>
          <p:nvPr/>
        </p:nvSpPr>
        <p:spPr>
          <a:xfrm>
            <a:off x="548640" y="3273552"/>
            <a:ext cx="2560320" cy="658368"/>
          </a:xfrm>
          <a:prstGeom prst="rect">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1792" y="3319272"/>
            <a:ext cx="2414016" cy="612648"/>
          </a:xfrm>
          <a:prstGeom prst="rect">
            <a:avLst/>
          </a:prstGeom>
          <a:noFill/>
        </p:spPr>
        <p:txBody>
          <a:bodyPr wrap="square" anchor="ctr" lIns="0" rIns="0" tIns="0" bIns="0">
            <a:normAutofit/>
          </a:bodyPr>
          <a:lstStyle/>
          <a:p>
            <a:pPr algn="l">
              <a:lnSpc>
                <a:spcPct val="105000"/>
              </a:lnSpc>
              <a:spcBef>
                <a:spcPts val="0"/>
              </a:spcBef>
            </a:pPr>
            <a:r>
              <a:rPr sz="1050" b="0" i="0">
                <a:solidFill>
                  <a:srgbClr val="1B2B3C"/>
                </a:solidFill>
                <a:latin typeface="Calibri"/>
              </a:rPr>
              <a:t>CxO Quarterly Roadmap</a:t>
            </a:r>
          </a:p>
        </p:txBody>
      </p:sp>
      <p:sp>
        <p:nvSpPr>
          <p:cNvPr id="26" name="Rectangle 25"/>
          <p:cNvSpPr/>
          <p:nvPr/>
        </p:nvSpPr>
        <p:spPr>
          <a:xfrm>
            <a:off x="3108960" y="3273552"/>
            <a:ext cx="4206240" cy="658368"/>
          </a:xfrm>
          <a:prstGeom prst="rect">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182112" y="3319272"/>
            <a:ext cx="4059936" cy="612648"/>
          </a:xfrm>
          <a:prstGeom prst="rect">
            <a:avLst/>
          </a:prstGeom>
          <a:noFill/>
        </p:spPr>
        <p:txBody>
          <a:bodyPr wrap="square" anchor="ctr" lIns="0" rIns="0" tIns="0" bIns="0">
            <a:normAutofit/>
          </a:bodyPr>
          <a:lstStyle/>
          <a:p>
            <a:pPr algn="l">
              <a:lnSpc>
                <a:spcPct val="105000"/>
              </a:lnSpc>
              <a:spcBef>
                <a:spcPts val="0"/>
              </a:spcBef>
            </a:pPr>
            <a:r>
              <a:rPr sz="1050" b="0" i="0">
                <a:solidFill>
                  <a:srgbClr val="1B2B3C"/>
                </a:solidFill>
                <a:latin typeface="Calibri"/>
              </a:rPr>
              <a:t>GCC's AI agenda shaped by FPT's global technology pipeline · first-mover access</a:t>
            </a:r>
          </a:p>
        </p:txBody>
      </p:sp>
      <p:sp>
        <p:nvSpPr>
          <p:cNvPr id="28" name="Rectangle 27"/>
          <p:cNvSpPr/>
          <p:nvPr/>
        </p:nvSpPr>
        <p:spPr>
          <a:xfrm>
            <a:off x="7315200" y="3273552"/>
            <a:ext cx="4206240" cy="658368"/>
          </a:xfrm>
          <a:prstGeom prst="rect">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388352" y="3319272"/>
            <a:ext cx="4059936" cy="612648"/>
          </a:xfrm>
          <a:prstGeom prst="rect">
            <a:avLst/>
          </a:prstGeom>
          <a:noFill/>
        </p:spPr>
        <p:txBody>
          <a:bodyPr wrap="square" anchor="ctr" lIns="0" rIns="0" tIns="0" bIns="0">
            <a:normAutofit/>
          </a:bodyPr>
          <a:lstStyle/>
          <a:p>
            <a:pPr algn="l">
              <a:lnSpc>
                <a:spcPct val="105000"/>
              </a:lnSpc>
              <a:spcBef>
                <a:spcPts val="0"/>
              </a:spcBef>
            </a:pPr>
            <a:r>
              <a:rPr sz="1050" b="0" i="0">
                <a:solidFill>
                  <a:srgbClr val="1B2B3C"/>
                </a:solidFill>
                <a:latin typeface="Calibri"/>
              </a:rPr>
              <a:t>Strategy influence at board level · early signal of next expansion opportunity</a:t>
            </a:r>
          </a:p>
        </p:txBody>
      </p:sp>
      <p:sp>
        <p:nvSpPr>
          <p:cNvPr id="30" name="Rectangle 29"/>
          <p:cNvSpPr/>
          <p:nvPr/>
        </p:nvSpPr>
        <p:spPr>
          <a:xfrm>
            <a:off x="548640" y="3931920"/>
            <a:ext cx="2560320" cy="658368"/>
          </a:xfrm>
          <a:prstGeom prst="rect">
            <a:avLst/>
          </a:prstGeom>
          <a:solidFill>
            <a:srgbClr val="F4F7F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21792" y="3977640"/>
            <a:ext cx="2414016" cy="612648"/>
          </a:xfrm>
          <a:prstGeom prst="rect">
            <a:avLst/>
          </a:prstGeom>
          <a:noFill/>
        </p:spPr>
        <p:txBody>
          <a:bodyPr wrap="square" anchor="ctr" lIns="0" rIns="0" tIns="0" bIns="0">
            <a:normAutofit/>
          </a:bodyPr>
          <a:lstStyle/>
          <a:p>
            <a:pPr algn="l">
              <a:lnSpc>
                <a:spcPct val="105000"/>
              </a:lnSpc>
              <a:spcBef>
                <a:spcPts val="0"/>
              </a:spcBef>
            </a:pPr>
            <a:r>
              <a:rPr sz="1050" b="0" i="0">
                <a:solidFill>
                  <a:srgbClr val="1B2B3C"/>
                </a:solidFill>
                <a:latin typeface="Calibri"/>
              </a:rPr>
              <a:t>Preferred Partner Status</a:t>
            </a:r>
          </a:p>
        </p:txBody>
      </p:sp>
      <p:sp>
        <p:nvSpPr>
          <p:cNvPr id="32" name="Rectangle 31"/>
          <p:cNvSpPr/>
          <p:nvPr/>
        </p:nvSpPr>
        <p:spPr>
          <a:xfrm>
            <a:off x="3108960" y="3931920"/>
            <a:ext cx="4206240" cy="658368"/>
          </a:xfrm>
          <a:prstGeom prst="rect">
            <a:avLst/>
          </a:prstGeom>
          <a:solidFill>
            <a:srgbClr val="F4F7F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182112" y="3977640"/>
            <a:ext cx="4059936" cy="612648"/>
          </a:xfrm>
          <a:prstGeom prst="rect">
            <a:avLst/>
          </a:prstGeom>
          <a:noFill/>
        </p:spPr>
        <p:txBody>
          <a:bodyPr wrap="square" anchor="ctr" lIns="0" rIns="0" tIns="0" bIns="0">
            <a:normAutofit/>
          </a:bodyPr>
          <a:lstStyle/>
          <a:p>
            <a:pPr algn="l">
              <a:lnSpc>
                <a:spcPct val="105000"/>
              </a:lnSpc>
              <a:spcBef>
                <a:spcPts val="0"/>
              </a:spcBef>
            </a:pPr>
            <a:r>
              <a:rPr sz="1050" b="0" i="0">
                <a:solidFill>
                  <a:srgbClr val="1B2B3C"/>
                </a:solidFill>
                <a:latin typeface="Calibri"/>
              </a:rPr>
              <a:t>Global parent recognises FPT as primary AI SI for the group's India operations</a:t>
            </a:r>
          </a:p>
        </p:txBody>
      </p:sp>
      <p:sp>
        <p:nvSpPr>
          <p:cNvPr id="34" name="Rectangle 33"/>
          <p:cNvSpPr/>
          <p:nvPr/>
        </p:nvSpPr>
        <p:spPr>
          <a:xfrm>
            <a:off x="7315200" y="3931920"/>
            <a:ext cx="4206240" cy="658368"/>
          </a:xfrm>
          <a:prstGeom prst="rect">
            <a:avLst/>
          </a:prstGeom>
          <a:solidFill>
            <a:srgbClr val="F4F7F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388352" y="3977640"/>
            <a:ext cx="4059936" cy="612648"/>
          </a:xfrm>
          <a:prstGeom prst="rect">
            <a:avLst/>
          </a:prstGeom>
          <a:noFill/>
        </p:spPr>
        <p:txBody>
          <a:bodyPr wrap="square" anchor="ctr" lIns="0" rIns="0" tIns="0" bIns="0">
            <a:normAutofit/>
          </a:bodyPr>
          <a:lstStyle/>
          <a:p>
            <a:pPr algn="l">
              <a:lnSpc>
                <a:spcPct val="105000"/>
              </a:lnSpc>
              <a:spcBef>
                <a:spcPts val="0"/>
              </a:spcBef>
            </a:pPr>
            <a:r>
              <a:rPr sz="1050" b="0" i="0">
                <a:solidFill>
                  <a:srgbClr val="1B2B3C"/>
                </a:solidFill>
                <a:latin typeface="Calibri"/>
              </a:rPr>
              <a:t>Srikumar's network effect: one GCC win → 3–5 referrals to peer GCCs</a:t>
            </a:r>
          </a:p>
        </p:txBody>
      </p:sp>
      <p:sp>
        <p:nvSpPr>
          <p:cNvPr id="36" name="Rectangle 35"/>
          <p:cNvSpPr/>
          <p:nvPr/>
        </p:nvSpPr>
        <p:spPr>
          <a:xfrm>
            <a:off x="548640" y="4590288"/>
            <a:ext cx="2560320" cy="658368"/>
          </a:xfrm>
          <a:prstGeom prst="rect">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21792" y="4636008"/>
            <a:ext cx="2414016" cy="612648"/>
          </a:xfrm>
          <a:prstGeom prst="rect">
            <a:avLst/>
          </a:prstGeom>
          <a:noFill/>
        </p:spPr>
        <p:txBody>
          <a:bodyPr wrap="square" anchor="ctr" lIns="0" rIns="0" tIns="0" bIns="0">
            <a:normAutofit/>
          </a:bodyPr>
          <a:lstStyle/>
          <a:p>
            <a:pPr algn="l">
              <a:lnSpc>
                <a:spcPct val="105000"/>
              </a:lnSpc>
              <a:spcBef>
                <a:spcPts val="0"/>
              </a:spcBef>
            </a:pPr>
            <a:r>
              <a:rPr sz="1050" b="0" i="0">
                <a:solidFill>
                  <a:srgbClr val="1B2B3C"/>
                </a:solidFill>
                <a:latin typeface="Calibri"/>
              </a:rPr>
              <a:t>IP Revenue Tail</a:t>
            </a:r>
          </a:p>
        </p:txBody>
      </p:sp>
      <p:sp>
        <p:nvSpPr>
          <p:cNvPr id="38" name="Rectangle 37"/>
          <p:cNvSpPr/>
          <p:nvPr/>
        </p:nvSpPr>
        <p:spPr>
          <a:xfrm>
            <a:off x="3108960" y="4590288"/>
            <a:ext cx="4206240" cy="658368"/>
          </a:xfrm>
          <a:prstGeom prst="rect">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182112" y="4636008"/>
            <a:ext cx="4059936" cy="612648"/>
          </a:xfrm>
          <a:prstGeom prst="rect">
            <a:avLst/>
          </a:prstGeom>
          <a:noFill/>
        </p:spPr>
        <p:txBody>
          <a:bodyPr wrap="square" anchor="ctr" lIns="0" rIns="0" tIns="0" bIns="0">
            <a:normAutofit/>
          </a:bodyPr>
          <a:lstStyle/>
          <a:p>
            <a:pPr algn="l">
              <a:lnSpc>
                <a:spcPct val="105000"/>
              </a:lnSpc>
              <a:spcBef>
                <a:spcPts val="0"/>
              </a:spcBef>
            </a:pPr>
            <a:r>
              <a:rPr sz="1050" b="0" i="0">
                <a:solidFill>
                  <a:srgbClr val="1B2B3C"/>
                </a:solidFill>
                <a:latin typeface="Calibri"/>
              </a:rPr>
              <a:t>White-label AI modules generate revenue independent of FPT services</a:t>
            </a:r>
          </a:p>
        </p:txBody>
      </p:sp>
      <p:sp>
        <p:nvSpPr>
          <p:cNvPr id="40" name="Rectangle 39"/>
          <p:cNvSpPr/>
          <p:nvPr/>
        </p:nvSpPr>
        <p:spPr>
          <a:xfrm>
            <a:off x="7315200" y="4590288"/>
            <a:ext cx="4206240" cy="658368"/>
          </a:xfrm>
          <a:prstGeom prst="rect">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388352" y="4636008"/>
            <a:ext cx="4059936" cy="612648"/>
          </a:xfrm>
          <a:prstGeom prst="rect">
            <a:avLst/>
          </a:prstGeom>
          <a:noFill/>
        </p:spPr>
        <p:txBody>
          <a:bodyPr wrap="square" anchor="ctr" lIns="0" rIns="0" tIns="0" bIns="0">
            <a:normAutofit/>
          </a:bodyPr>
          <a:lstStyle/>
          <a:p>
            <a:pPr algn="l">
              <a:lnSpc>
                <a:spcPct val="105000"/>
              </a:lnSpc>
              <a:spcBef>
                <a:spcPts val="0"/>
              </a:spcBef>
            </a:pPr>
            <a:r>
              <a:rPr sz="1050" b="0" i="0">
                <a:solidFill>
                  <a:srgbClr val="1B2B3C"/>
                </a:solidFill>
                <a:latin typeface="Calibri"/>
              </a:rPr>
              <a:t>FPT platform embedded in client-owned products → long-term ecosystem lock-in</a:t>
            </a:r>
          </a:p>
        </p:txBody>
      </p:sp>
      <p:sp>
        <p:nvSpPr>
          <p:cNvPr id="42" name="Rectangle 41"/>
          <p:cNvSpPr/>
          <p:nvPr/>
        </p:nvSpPr>
        <p:spPr>
          <a:xfrm>
            <a:off x="548640" y="5248656"/>
            <a:ext cx="2560320" cy="658368"/>
          </a:xfrm>
          <a:prstGeom prst="rect">
            <a:avLst/>
          </a:prstGeom>
          <a:solidFill>
            <a:srgbClr val="F4F7F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21792" y="5294376"/>
            <a:ext cx="2414016" cy="612648"/>
          </a:xfrm>
          <a:prstGeom prst="rect">
            <a:avLst/>
          </a:prstGeom>
          <a:noFill/>
        </p:spPr>
        <p:txBody>
          <a:bodyPr wrap="square" anchor="ctr" lIns="0" rIns="0" tIns="0" bIns="0">
            <a:normAutofit/>
          </a:bodyPr>
          <a:lstStyle/>
          <a:p>
            <a:pPr algn="l">
              <a:lnSpc>
                <a:spcPct val="105000"/>
              </a:lnSpc>
              <a:spcBef>
                <a:spcPts val="0"/>
              </a:spcBef>
            </a:pPr>
            <a:r>
              <a:rPr sz="1050" b="0" i="0">
                <a:solidFill>
                  <a:srgbClr val="1B2B3C"/>
                </a:solidFill>
                <a:latin typeface="Calibri"/>
              </a:rPr>
              <a:t>Innovation Access</a:t>
            </a:r>
          </a:p>
        </p:txBody>
      </p:sp>
      <p:sp>
        <p:nvSpPr>
          <p:cNvPr id="44" name="Rectangle 43"/>
          <p:cNvSpPr/>
          <p:nvPr/>
        </p:nvSpPr>
        <p:spPr>
          <a:xfrm>
            <a:off x="3108960" y="5248656"/>
            <a:ext cx="4206240" cy="658368"/>
          </a:xfrm>
          <a:prstGeom prst="rect">
            <a:avLst/>
          </a:prstGeom>
          <a:solidFill>
            <a:srgbClr val="F4F7F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182112" y="5294376"/>
            <a:ext cx="4059936" cy="612648"/>
          </a:xfrm>
          <a:prstGeom prst="rect">
            <a:avLst/>
          </a:prstGeom>
          <a:noFill/>
        </p:spPr>
        <p:txBody>
          <a:bodyPr wrap="square" anchor="ctr" lIns="0" rIns="0" tIns="0" bIns="0">
            <a:normAutofit/>
          </a:bodyPr>
          <a:lstStyle/>
          <a:p>
            <a:pPr algn="l">
              <a:lnSpc>
                <a:spcPct val="105000"/>
              </a:lnSpc>
              <a:spcBef>
                <a:spcPts val="0"/>
              </a:spcBef>
            </a:pPr>
            <a:r>
              <a:rPr sz="1050" b="0" i="0">
                <a:solidFill>
                  <a:srgbClr val="1B2B3C"/>
                </a:solidFill>
                <a:latin typeface="Calibri"/>
              </a:rPr>
              <a:t>DX Garage running continuously · FPT R&amp;D pipeline input · joint patent potential</a:t>
            </a:r>
          </a:p>
        </p:txBody>
      </p:sp>
      <p:sp>
        <p:nvSpPr>
          <p:cNvPr id="46" name="Rectangle 45"/>
          <p:cNvSpPr/>
          <p:nvPr/>
        </p:nvSpPr>
        <p:spPr>
          <a:xfrm>
            <a:off x="7315200" y="5248656"/>
            <a:ext cx="4206240" cy="658368"/>
          </a:xfrm>
          <a:prstGeom prst="rect">
            <a:avLst/>
          </a:prstGeom>
          <a:solidFill>
            <a:srgbClr val="F4F7F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388352" y="5294376"/>
            <a:ext cx="4059936" cy="612648"/>
          </a:xfrm>
          <a:prstGeom prst="rect">
            <a:avLst/>
          </a:prstGeom>
          <a:noFill/>
        </p:spPr>
        <p:txBody>
          <a:bodyPr wrap="square" anchor="ctr" lIns="0" rIns="0" tIns="0" bIns="0">
            <a:normAutofit/>
          </a:bodyPr>
          <a:lstStyle/>
          <a:p>
            <a:pPr algn="l">
              <a:lnSpc>
                <a:spcPct val="105000"/>
              </a:lnSpc>
              <a:spcBef>
                <a:spcPts val="0"/>
              </a:spcBef>
            </a:pPr>
            <a:r>
              <a:rPr sz="1050" b="0" i="0">
                <a:solidFill>
                  <a:srgbClr val="1B2B3C"/>
                </a:solidFill>
                <a:latin typeface="Calibri"/>
              </a:rPr>
              <a:t>GCC acts as live lab for new FPT platform features before global rollout</a:t>
            </a:r>
          </a:p>
        </p:txBody>
      </p:sp>
      <p:sp>
        <p:nvSpPr>
          <p:cNvPr id="48" name="TextBox 47"/>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889098"/>
                </a:solidFill>
                <a:latin typeface="Calibri"/>
              </a:rPr>
              <a:t>FPT Software · GCC Implementation Roadmap · Jun 2026</a:t>
            </a:r>
          </a:p>
        </p:txBody>
      </p:sp>
      <p:sp>
        <p:nvSpPr>
          <p:cNvPr id="49" name="TextBox 48"/>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889098"/>
                </a:solidFill>
                <a:latin typeface="Calibri"/>
              </a:rPr>
              <a:t>8 / 17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MODERNIZE — FPT's Legacy Modernization Stack · The Foundation Layer</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Why Legacy Blocks AI — and How FPT Removes the Blocker</a:t>
            </a:r>
          </a:p>
        </p:txBody>
      </p:sp>
      <p:sp>
        <p:nvSpPr>
          <p:cNvPr id="7" name="Rounded Rectangle 6"/>
          <p:cNvSpPr/>
          <p:nvPr/>
        </p:nvSpPr>
        <p:spPr>
          <a:xfrm>
            <a:off x="548640" y="1572768"/>
            <a:ext cx="11094415" cy="475488"/>
          </a:xfrm>
          <a:prstGeom prst="roundRect">
            <a:avLst>
              <a:gd name="adj" fmla="val 3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1627632"/>
            <a:ext cx="10820095" cy="365760"/>
          </a:xfrm>
          <a:prstGeom prst="rect">
            <a:avLst/>
          </a:prstGeom>
          <a:noFill/>
        </p:spPr>
        <p:txBody>
          <a:bodyPr wrap="square" anchor="t" lIns="0" rIns="0" tIns="0" bIns="0">
            <a:normAutofit/>
          </a:bodyPr>
          <a:lstStyle/>
          <a:p>
            <a:pPr algn="l">
              <a:lnSpc>
                <a:spcPct val="105000"/>
              </a:lnSpc>
              <a:spcBef>
                <a:spcPts val="0"/>
              </a:spcBef>
            </a:pPr>
            <a:r>
              <a:rPr sz="1250" b="0" i="0">
                <a:solidFill>
                  <a:srgbClr val="E0F7F1"/>
                </a:solidFill>
                <a:latin typeface="Calibri"/>
              </a:rPr>
              <a:t>The single most common reason GCC AI initiatives fail to reach production: the underlying tech stack cannot support production AI workloads.</a:t>
            </a:r>
          </a:p>
        </p:txBody>
      </p:sp>
      <p:sp>
        <p:nvSpPr>
          <p:cNvPr id="9" name="Rectangle 8"/>
          <p:cNvSpPr/>
          <p:nvPr/>
        </p:nvSpPr>
        <p:spPr>
          <a:xfrm>
            <a:off x="548640" y="2212848"/>
            <a:ext cx="2194560" cy="658368"/>
          </a:xfrm>
          <a:prstGeom prst="rect">
            <a:avLst/>
          </a:prstGeom>
          <a:solidFill>
            <a:srgbClr val="0A162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792" y="2258568"/>
            <a:ext cx="2048256" cy="612648"/>
          </a:xfrm>
          <a:prstGeom prst="rect">
            <a:avLst/>
          </a:prstGeom>
          <a:noFill/>
        </p:spPr>
        <p:txBody>
          <a:bodyPr wrap="square" anchor="ctr" lIns="0" rIns="0" tIns="0" bIns="0">
            <a:normAutofit/>
          </a:bodyPr>
          <a:lstStyle/>
          <a:p>
            <a:pPr algn="l">
              <a:lnSpc>
                <a:spcPct val="105000"/>
              </a:lnSpc>
              <a:spcBef>
                <a:spcPts val="0"/>
              </a:spcBef>
            </a:pPr>
            <a:r>
              <a:rPr sz="1100" b="1" i="0">
                <a:solidFill>
                  <a:srgbClr val="FFFFFF"/>
                </a:solidFill>
                <a:latin typeface="Calibri"/>
              </a:rPr>
              <a:t>FPT Platform</a:t>
            </a:r>
          </a:p>
        </p:txBody>
      </p:sp>
      <p:sp>
        <p:nvSpPr>
          <p:cNvPr id="11" name="Rectangle 10"/>
          <p:cNvSpPr/>
          <p:nvPr/>
        </p:nvSpPr>
        <p:spPr>
          <a:xfrm>
            <a:off x="2743200" y="2212848"/>
            <a:ext cx="4754880" cy="658368"/>
          </a:xfrm>
          <a:prstGeom prst="rect">
            <a:avLst/>
          </a:prstGeom>
          <a:solidFill>
            <a:srgbClr val="0A162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816352" y="2258568"/>
            <a:ext cx="4608576" cy="612648"/>
          </a:xfrm>
          <a:prstGeom prst="rect">
            <a:avLst/>
          </a:prstGeom>
          <a:noFill/>
        </p:spPr>
        <p:txBody>
          <a:bodyPr wrap="square" anchor="ctr" lIns="0" rIns="0" tIns="0" bIns="0">
            <a:normAutofit/>
          </a:bodyPr>
          <a:lstStyle/>
          <a:p>
            <a:pPr algn="l">
              <a:lnSpc>
                <a:spcPct val="105000"/>
              </a:lnSpc>
              <a:spcBef>
                <a:spcPts val="0"/>
              </a:spcBef>
            </a:pPr>
            <a:r>
              <a:rPr sz="1100" b="1" i="0">
                <a:solidFill>
                  <a:srgbClr val="FFFFFF"/>
                </a:solidFill>
                <a:latin typeface="Calibri"/>
              </a:rPr>
              <a:t>What It Does</a:t>
            </a:r>
          </a:p>
        </p:txBody>
      </p:sp>
      <p:sp>
        <p:nvSpPr>
          <p:cNvPr id="13" name="Rectangle 12"/>
          <p:cNvSpPr/>
          <p:nvPr/>
        </p:nvSpPr>
        <p:spPr>
          <a:xfrm>
            <a:off x="7498080" y="2212848"/>
            <a:ext cx="2560320" cy="658368"/>
          </a:xfrm>
          <a:prstGeom prst="rect">
            <a:avLst/>
          </a:prstGeom>
          <a:solidFill>
            <a:srgbClr val="0A162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71232" y="2258568"/>
            <a:ext cx="2414016" cy="612648"/>
          </a:xfrm>
          <a:prstGeom prst="rect">
            <a:avLst/>
          </a:prstGeom>
          <a:noFill/>
        </p:spPr>
        <p:txBody>
          <a:bodyPr wrap="square" anchor="ctr" lIns="0" rIns="0" tIns="0" bIns="0">
            <a:normAutofit/>
          </a:bodyPr>
          <a:lstStyle/>
          <a:p>
            <a:pPr algn="l">
              <a:lnSpc>
                <a:spcPct val="105000"/>
              </a:lnSpc>
              <a:spcBef>
                <a:spcPts val="0"/>
              </a:spcBef>
            </a:pPr>
            <a:r>
              <a:rPr sz="1100" b="1" i="0">
                <a:solidFill>
                  <a:srgbClr val="FFFFFF"/>
                </a:solidFill>
                <a:latin typeface="Calibri"/>
              </a:rPr>
              <a:t>Proof Metric</a:t>
            </a:r>
          </a:p>
        </p:txBody>
      </p:sp>
      <p:sp>
        <p:nvSpPr>
          <p:cNvPr id="15" name="Rectangle 14"/>
          <p:cNvSpPr/>
          <p:nvPr/>
        </p:nvSpPr>
        <p:spPr>
          <a:xfrm>
            <a:off x="10058400" y="2212848"/>
            <a:ext cx="1554480" cy="658368"/>
          </a:xfrm>
          <a:prstGeom prst="rect">
            <a:avLst/>
          </a:prstGeom>
          <a:solidFill>
            <a:srgbClr val="0A162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131552" y="2258568"/>
            <a:ext cx="1408176" cy="612648"/>
          </a:xfrm>
          <a:prstGeom prst="rect">
            <a:avLst/>
          </a:prstGeom>
          <a:noFill/>
        </p:spPr>
        <p:txBody>
          <a:bodyPr wrap="square" anchor="ctr" lIns="0" rIns="0" tIns="0" bIns="0">
            <a:normAutofit/>
          </a:bodyPr>
          <a:lstStyle/>
          <a:p>
            <a:pPr algn="l">
              <a:lnSpc>
                <a:spcPct val="105000"/>
              </a:lnSpc>
              <a:spcBef>
                <a:spcPts val="0"/>
              </a:spcBef>
            </a:pPr>
            <a:r>
              <a:rPr sz="1100" b="1" i="0">
                <a:solidFill>
                  <a:srgbClr val="FFFFFF"/>
                </a:solidFill>
                <a:latin typeface="Calibri"/>
              </a:rPr>
              <a:t>Typical Timeline</a:t>
            </a:r>
          </a:p>
        </p:txBody>
      </p:sp>
      <p:sp>
        <p:nvSpPr>
          <p:cNvPr id="17" name="Rectangle 16"/>
          <p:cNvSpPr/>
          <p:nvPr/>
        </p:nvSpPr>
        <p:spPr>
          <a:xfrm>
            <a:off x="548640" y="2871216"/>
            <a:ext cx="2194560" cy="658368"/>
          </a:xfrm>
          <a:prstGeom prst="rect">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1792" y="2916936"/>
            <a:ext cx="2048256" cy="612648"/>
          </a:xfrm>
          <a:prstGeom prst="rect">
            <a:avLst/>
          </a:prstGeom>
          <a:noFill/>
        </p:spPr>
        <p:txBody>
          <a:bodyPr wrap="square" anchor="ctr" lIns="0" rIns="0" tIns="0" bIns="0">
            <a:normAutofit/>
          </a:bodyPr>
          <a:lstStyle/>
          <a:p>
            <a:pPr algn="l">
              <a:lnSpc>
                <a:spcPct val="105000"/>
              </a:lnSpc>
              <a:spcBef>
                <a:spcPts val="0"/>
              </a:spcBef>
            </a:pPr>
            <a:r>
              <a:rPr sz="1000" b="0" i="0">
                <a:solidFill>
                  <a:srgbClr val="1B2B3C"/>
                </a:solidFill>
                <a:latin typeface="Calibri"/>
              </a:rPr>
              <a:t>EMT
(Engineering Modernization Technologies)</a:t>
            </a:r>
          </a:p>
        </p:txBody>
      </p:sp>
      <p:sp>
        <p:nvSpPr>
          <p:cNvPr id="19" name="Rectangle 18"/>
          <p:cNvSpPr/>
          <p:nvPr/>
        </p:nvSpPr>
        <p:spPr>
          <a:xfrm>
            <a:off x="2743200" y="2871216"/>
            <a:ext cx="4754880" cy="658368"/>
          </a:xfrm>
          <a:prstGeom prst="rect">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816352" y="2916936"/>
            <a:ext cx="4608576" cy="612648"/>
          </a:xfrm>
          <a:prstGeom prst="rect">
            <a:avLst/>
          </a:prstGeom>
          <a:noFill/>
        </p:spPr>
        <p:txBody>
          <a:bodyPr wrap="square" anchor="ctr" lIns="0" rIns="0" tIns="0" bIns="0">
            <a:normAutofit/>
          </a:bodyPr>
          <a:lstStyle/>
          <a:p>
            <a:pPr algn="l">
              <a:lnSpc>
                <a:spcPct val="105000"/>
              </a:lnSpc>
              <a:spcBef>
                <a:spcPts val="0"/>
              </a:spcBef>
            </a:pPr>
            <a:r>
              <a:rPr sz="1000" b="0" i="0">
                <a:solidFill>
                  <a:srgbClr val="1B2B3C"/>
                </a:solidFill>
                <a:latin typeface="Calibri"/>
              </a:rPr>
              <a:t>End-to-end legacy modernization lifecycle — codebase assessment, architecture analysis, automated refactoring, cloud-native rewrite, testing, deployment</a:t>
            </a:r>
          </a:p>
        </p:txBody>
      </p:sp>
      <p:sp>
        <p:nvSpPr>
          <p:cNvPr id="21" name="Rectangle 20"/>
          <p:cNvSpPr/>
          <p:nvPr/>
        </p:nvSpPr>
        <p:spPr>
          <a:xfrm>
            <a:off x="7498080" y="2871216"/>
            <a:ext cx="2560320" cy="658368"/>
          </a:xfrm>
          <a:prstGeom prst="rect">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571232" y="2916936"/>
            <a:ext cx="2414016" cy="612648"/>
          </a:xfrm>
          <a:prstGeom prst="rect">
            <a:avLst/>
          </a:prstGeom>
          <a:noFill/>
        </p:spPr>
        <p:txBody>
          <a:bodyPr wrap="square" anchor="ctr" lIns="0" rIns="0" tIns="0" bIns="0">
            <a:normAutofit/>
          </a:bodyPr>
          <a:lstStyle/>
          <a:p>
            <a:pPr algn="l">
              <a:lnSpc>
                <a:spcPct val="105000"/>
              </a:lnSpc>
              <a:spcBef>
                <a:spcPts val="0"/>
              </a:spcBef>
            </a:pPr>
            <a:r>
              <a:rPr sz="1000" b="0" i="0">
                <a:solidFill>
                  <a:srgbClr val="1B2B3C"/>
                </a:solidFill>
                <a:latin typeface="Calibri"/>
              </a:rPr>
              <a:t>Proven across 1,100+ client engagements globally</a:t>
            </a:r>
          </a:p>
        </p:txBody>
      </p:sp>
      <p:sp>
        <p:nvSpPr>
          <p:cNvPr id="23" name="Rectangle 22"/>
          <p:cNvSpPr/>
          <p:nvPr/>
        </p:nvSpPr>
        <p:spPr>
          <a:xfrm>
            <a:off x="10058400" y="2871216"/>
            <a:ext cx="1554480" cy="658368"/>
          </a:xfrm>
          <a:prstGeom prst="rect">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131552" y="2916936"/>
            <a:ext cx="1408176" cy="612648"/>
          </a:xfrm>
          <a:prstGeom prst="rect">
            <a:avLst/>
          </a:prstGeom>
          <a:noFill/>
        </p:spPr>
        <p:txBody>
          <a:bodyPr wrap="square" anchor="ctr" lIns="0" rIns="0" tIns="0" bIns="0">
            <a:normAutofit/>
          </a:bodyPr>
          <a:lstStyle/>
          <a:p>
            <a:pPr algn="l">
              <a:lnSpc>
                <a:spcPct val="105000"/>
              </a:lnSpc>
              <a:spcBef>
                <a:spcPts val="0"/>
              </a:spcBef>
            </a:pPr>
            <a:r>
              <a:rPr sz="1000" b="0" i="0">
                <a:solidFill>
                  <a:srgbClr val="1B2B3C"/>
                </a:solidFill>
                <a:latin typeface="Calibri"/>
              </a:rPr>
              <a:t>3–9 months depending on estate size</a:t>
            </a:r>
          </a:p>
        </p:txBody>
      </p:sp>
      <p:sp>
        <p:nvSpPr>
          <p:cNvPr id="25" name="Rectangle 24"/>
          <p:cNvSpPr/>
          <p:nvPr/>
        </p:nvSpPr>
        <p:spPr>
          <a:xfrm>
            <a:off x="548640" y="3529584"/>
            <a:ext cx="2194560" cy="658368"/>
          </a:xfrm>
          <a:prstGeom prst="rect">
            <a:avLst/>
          </a:prstGeom>
          <a:solidFill>
            <a:srgbClr val="F4F7F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1792" y="3575304"/>
            <a:ext cx="2048256" cy="612648"/>
          </a:xfrm>
          <a:prstGeom prst="rect">
            <a:avLst/>
          </a:prstGeom>
          <a:noFill/>
        </p:spPr>
        <p:txBody>
          <a:bodyPr wrap="square" anchor="ctr" lIns="0" rIns="0" tIns="0" bIns="0">
            <a:normAutofit/>
          </a:bodyPr>
          <a:lstStyle/>
          <a:p>
            <a:pPr algn="l">
              <a:lnSpc>
                <a:spcPct val="105000"/>
              </a:lnSpc>
              <a:spcBef>
                <a:spcPts val="0"/>
              </a:spcBef>
            </a:pPr>
            <a:r>
              <a:rPr sz="1000" b="0" i="0">
                <a:solidFill>
                  <a:srgbClr val="1B2B3C"/>
                </a:solidFill>
                <a:latin typeface="Calibri"/>
              </a:rPr>
              <a:t>xMainframe</a:t>
            </a:r>
          </a:p>
        </p:txBody>
      </p:sp>
      <p:sp>
        <p:nvSpPr>
          <p:cNvPr id="27" name="Rectangle 26"/>
          <p:cNvSpPr/>
          <p:nvPr/>
        </p:nvSpPr>
        <p:spPr>
          <a:xfrm>
            <a:off x="2743200" y="3529584"/>
            <a:ext cx="4754880" cy="658368"/>
          </a:xfrm>
          <a:prstGeom prst="rect">
            <a:avLst/>
          </a:prstGeom>
          <a:solidFill>
            <a:srgbClr val="F4F7F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816352" y="3575304"/>
            <a:ext cx="4608576" cy="612648"/>
          </a:xfrm>
          <a:prstGeom prst="rect">
            <a:avLst/>
          </a:prstGeom>
          <a:noFill/>
        </p:spPr>
        <p:txBody>
          <a:bodyPr wrap="square" anchor="ctr" lIns="0" rIns="0" tIns="0" bIns="0">
            <a:normAutofit/>
          </a:bodyPr>
          <a:lstStyle/>
          <a:p>
            <a:pPr algn="l">
              <a:lnSpc>
                <a:spcPct val="105000"/>
              </a:lnSpc>
              <a:spcBef>
                <a:spcPts val="0"/>
              </a:spcBef>
            </a:pPr>
            <a:r>
              <a:rPr sz="1000" b="0" i="0">
                <a:solidFill>
                  <a:srgbClr val="1B2B3C"/>
                </a:solidFill>
                <a:latin typeface="Calibri"/>
              </a:rPr>
              <a:t>AI-powered mainframe modernization — translates COBOL/PL1 to modern languages, preserves business logic, maintains data integrity across migration</a:t>
            </a:r>
          </a:p>
        </p:txBody>
      </p:sp>
      <p:sp>
        <p:nvSpPr>
          <p:cNvPr id="29" name="Rectangle 28"/>
          <p:cNvSpPr/>
          <p:nvPr/>
        </p:nvSpPr>
        <p:spPr>
          <a:xfrm>
            <a:off x="7498080" y="3529584"/>
            <a:ext cx="2560320" cy="658368"/>
          </a:xfrm>
          <a:prstGeom prst="rect">
            <a:avLst/>
          </a:prstGeom>
          <a:solidFill>
            <a:srgbClr val="F4F7F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571232" y="3575304"/>
            <a:ext cx="2414016" cy="612648"/>
          </a:xfrm>
          <a:prstGeom prst="rect">
            <a:avLst/>
          </a:prstGeom>
          <a:noFill/>
        </p:spPr>
        <p:txBody>
          <a:bodyPr wrap="square" anchor="ctr" lIns="0" rIns="0" tIns="0" bIns="0">
            <a:normAutofit/>
          </a:bodyPr>
          <a:lstStyle/>
          <a:p>
            <a:pPr algn="l">
              <a:lnSpc>
                <a:spcPct val="105000"/>
              </a:lnSpc>
              <a:spcBef>
                <a:spcPts val="0"/>
              </a:spcBef>
            </a:pPr>
            <a:r>
              <a:rPr sz="1000" b="0" i="0">
                <a:solidFill>
                  <a:srgbClr val="1B2B3C"/>
                </a:solidFill>
                <a:latin typeface="Calibri"/>
              </a:rPr>
              <a:t>30% faster onboarding · 90% code accuracy · transforms monthly data cycles to weekly</a:t>
            </a:r>
          </a:p>
        </p:txBody>
      </p:sp>
      <p:sp>
        <p:nvSpPr>
          <p:cNvPr id="31" name="Rectangle 30"/>
          <p:cNvSpPr/>
          <p:nvPr/>
        </p:nvSpPr>
        <p:spPr>
          <a:xfrm>
            <a:off x="10058400" y="3529584"/>
            <a:ext cx="1554480" cy="658368"/>
          </a:xfrm>
          <a:prstGeom prst="rect">
            <a:avLst/>
          </a:prstGeom>
          <a:solidFill>
            <a:srgbClr val="F4F7F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131552" y="3575304"/>
            <a:ext cx="1408176" cy="612648"/>
          </a:xfrm>
          <a:prstGeom prst="rect">
            <a:avLst/>
          </a:prstGeom>
          <a:noFill/>
        </p:spPr>
        <p:txBody>
          <a:bodyPr wrap="square" anchor="ctr" lIns="0" rIns="0" tIns="0" bIns="0">
            <a:normAutofit/>
          </a:bodyPr>
          <a:lstStyle/>
          <a:p>
            <a:pPr algn="l">
              <a:lnSpc>
                <a:spcPct val="105000"/>
              </a:lnSpc>
              <a:spcBef>
                <a:spcPts val="0"/>
              </a:spcBef>
            </a:pPr>
            <a:r>
              <a:rPr sz="1000" b="0" i="0">
                <a:solidFill>
                  <a:srgbClr val="1B2B3C"/>
                </a:solidFill>
                <a:latin typeface="Calibri"/>
              </a:rPr>
              <a:t>6–18 months for large mainframe estate</a:t>
            </a:r>
          </a:p>
        </p:txBody>
      </p:sp>
      <p:sp>
        <p:nvSpPr>
          <p:cNvPr id="33" name="Rectangle 32"/>
          <p:cNvSpPr/>
          <p:nvPr/>
        </p:nvSpPr>
        <p:spPr>
          <a:xfrm>
            <a:off x="548640" y="4187952"/>
            <a:ext cx="2194560" cy="658368"/>
          </a:xfrm>
          <a:prstGeom prst="rect">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21792" y="4233672"/>
            <a:ext cx="2048256" cy="612648"/>
          </a:xfrm>
          <a:prstGeom prst="rect">
            <a:avLst/>
          </a:prstGeom>
          <a:noFill/>
        </p:spPr>
        <p:txBody>
          <a:bodyPr wrap="square" anchor="ctr" lIns="0" rIns="0" tIns="0" bIns="0">
            <a:normAutofit/>
          </a:bodyPr>
          <a:lstStyle/>
          <a:p>
            <a:pPr algn="l">
              <a:lnSpc>
                <a:spcPct val="105000"/>
              </a:lnSpc>
              <a:spcBef>
                <a:spcPts val="0"/>
              </a:spcBef>
            </a:pPr>
            <a:r>
              <a:rPr sz="1000" b="0" i="0">
                <a:solidFill>
                  <a:srgbClr val="1B2B3C"/>
                </a:solidFill>
                <a:latin typeface="Calibri"/>
              </a:rPr>
              <a:t>CodeVista</a:t>
            </a:r>
          </a:p>
        </p:txBody>
      </p:sp>
      <p:sp>
        <p:nvSpPr>
          <p:cNvPr id="35" name="Rectangle 34"/>
          <p:cNvSpPr/>
          <p:nvPr/>
        </p:nvSpPr>
        <p:spPr>
          <a:xfrm>
            <a:off x="2743200" y="4187952"/>
            <a:ext cx="4754880" cy="658368"/>
          </a:xfrm>
          <a:prstGeom prst="rect">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816352" y="4233672"/>
            <a:ext cx="4608576" cy="612648"/>
          </a:xfrm>
          <a:prstGeom prst="rect">
            <a:avLst/>
          </a:prstGeom>
          <a:noFill/>
        </p:spPr>
        <p:txBody>
          <a:bodyPr wrap="square" anchor="ctr" lIns="0" rIns="0" tIns="0" bIns="0">
            <a:normAutofit/>
          </a:bodyPr>
          <a:lstStyle/>
          <a:p>
            <a:pPr algn="l">
              <a:lnSpc>
                <a:spcPct val="105000"/>
              </a:lnSpc>
              <a:spcBef>
                <a:spcPts val="0"/>
              </a:spcBef>
            </a:pPr>
            <a:r>
              <a:rPr sz="1000" b="0" i="0">
                <a:solidFill>
                  <a:srgbClr val="1B2B3C"/>
                </a:solidFill>
                <a:latin typeface="Calibri"/>
              </a:rPr>
              <a:t>AI developer productivity tooling — code generation, intelligent completion, automated review, documentation generation deployed across the GCC engineering team</a:t>
            </a:r>
          </a:p>
        </p:txBody>
      </p:sp>
      <p:sp>
        <p:nvSpPr>
          <p:cNvPr id="37" name="Rectangle 36"/>
          <p:cNvSpPr/>
          <p:nvPr/>
        </p:nvSpPr>
        <p:spPr>
          <a:xfrm>
            <a:off x="7498080" y="4187952"/>
            <a:ext cx="2560320" cy="658368"/>
          </a:xfrm>
          <a:prstGeom prst="rect">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571232" y="4233672"/>
            <a:ext cx="2414016" cy="612648"/>
          </a:xfrm>
          <a:prstGeom prst="rect">
            <a:avLst/>
          </a:prstGeom>
          <a:noFill/>
        </p:spPr>
        <p:txBody>
          <a:bodyPr wrap="square" anchor="ctr" lIns="0" rIns="0" tIns="0" bIns="0">
            <a:normAutofit/>
          </a:bodyPr>
          <a:lstStyle/>
          <a:p>
            <a:pPr algn="l">
              <a:lnSpc>
                <a:spcPct val="105000"/>
              </a:lnSpc>
              <a:spcBef>
                <a:spcPts val="0"/>
              </a:spcBef>
            </a:pPr>
            <a:r>
              <a:rPr sz="1000" b="0" i="0">
                <a:solidFill>
                  <a:srgbClr val="1B2B3C"/>
                </a:solidFill>
                <a:latin typeface="Calibri"/>
              </a:rPr>
              <a:t>30% developer efficiency gain · 1.5M lines generated · 6,000 man-months saved across engagements</a:t>
            </a:r>
          </a:p>
        </p:txBody>
      </p:sp>
      <p:sp>
        <p:nvSpPr>
          <p:cNvPr id="39" name="Rectangle 38"/>
          <p:cNvSpPr/>
          <p:nvPr/>
        </p:nvSpPr>
        <p:spPr>
          <a:xfrm>
            <a:off x="10058400" y="4187952"/>
            <a:ext cx="1554480" cy="658368"/>
          </a:xfrm>
          <a:prstGeom prst="rect">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131552" y="4233672"/>
            <a:ext cx="1408176" cy="612648"/>
          </a:xfrm>
          <a:prstGeom prst="rect">
            <a:avLst/>
          </a:prstGeom>
          <a:noFill/>
        </p:spPr>
        <p:txBody>
          <a:bodyPr wrap="square" anchor="ctr" lIns="0" rIns="0" tIns="0" bIns="0">
            <a:normAutofit/>
          </a:bodyPr>
          <a:lstStyle/>
          <a:p>
            <a:pPr algn="l">
              <a:lnSpc>
                <a:spcPct val="105000"/>
              </a:lnSpc>
              <a:spcBef>
                <a:spcPts val="0"/>
              </a:spcBef>
            </a:pPr>
            <a:r>
              <a:rPr sz="1000" b="0" i="0">
                <a:solidFill>
                  <a:srgbClr val="1B2B3C"/>
                </a:solidFill>
                <a:latin typeface="Calibri"/>
              </a:rPr>
              <a:t>Week 4 of Sprint → live during Transformation Yr 1</a:t>
            </a:r>
          </a:p>
        </p:txBody>
      </p:sp>
      <p:sp>
        <p:nvSpPr>
          <p:cNvPr id="41" name="Rectangle 40"/>
          <p:cNvSpPr/>
          <p:nvPr/>
        </p:nvSpPr>
        <p:spPr>
          <a:xfrm>
            <a:off x="548640" y="4846320"/>
            <a:ext cx="2194560" cy="658368"/>
          </a:xfrm>
          <a:prstGeom prst="rect">
            <a:avLst/>
          </a:prstGeom>
          <a:solidFill>
            <a:srgbClr val="F4F7F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21792" y="4892040"/>
            <a:ext cx="2048256" cy="612648"/>
          </a:xfrm>
          <a:prstGeom prst="rect">
            <a:avLst/>
          </a:prstGeom>
          <a:noFill/>
        </p:spPr>
        <p:txBody>
          <a:bodyPr wrap="square" anchor="ctr" lIns="0" rIns="0" tIns="0" bIns="0">
            <a:normAutofit/>
          </a:bodyPr>
          <a:lstStyle/>
          <a:p>
            <a:pPr algn="l">
              <a:lnSpc>
                <a:spcPct val="105000"/>
              </a:lnSpc>
              <a:spcBef>
                <a:spcPts val="0"/>
              </a:spcBef>
            </a:pPr>
            <a:r>
              <a:rPr sz="1000" b="0" i="0">
                <a:solidFill>
                  <a:srgbClr val="1B2B3C"/>
                </a:solidFill>
                <a:latin typeface="Calibri"/>
              </a:rPr>
              <a:t>CASAN Framework</a:t>
            </a:r>
          </a:p>
        </p:txBody>
      </p:sp>
      <p:sp>
        <p:nvSpPr>
          <p:cNvPr id="43" name="Rectangle 42"/>
          <p:cNvSpPr/>
          <p:nvPr/>
        </p:nvSpPr>
        <p:spPr>
          <a:xfrm>
            <a:off x="2743200" y="4846320"/>
            <a:ext cx="4754880" cy="658368"/>
          </a:xfrm>
          <a:prstGeom prst="rect">
            <a:avLst/>
          </a:prstGeom>
          <a:solidFill>
            <a:srgbClr val="F4F7F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2816352" y="4892040"/>
            <a:ext cx="4608576" cy="612648"/>
          </a:xfrm>
          <a:prstGeom prst="rect">
            <a:avLst/>
          </a:prstGeom>
          <a:noFill/>
        </p:spPr>
        <p:txBody>
          <a:bodyPr wrap="square" anchor="ctr" lIns="0" rIns="0" tIns="0" bIns="0">
            <a:normAutofit/>
          </a:bodyPr>
          <a:lstStyle/>
          <a:p>
            <a:pPr algn="l">
              <a:lnSpc>
                <a:spcPct val="105000"/>
              </a:lnSpc>
              <a:spcBef>
                <a:spcPts val="0"/>
              </a:spcBef>
            </a:pPr>
            <a:r>
              <a:rPr sz="1000" b="0" i="0">
                <a:solidFill>
                  <a:srgbClr val="1B2B3C"/>
                </a:solidFill>
                <a:latin typeface="Calibri"/>
              </a:rPr>
              <a:t>Assessment methodology — Scalable engineering + domain expertise + data + advanced AI. Maps current state, identifies gaps, sequences the modernization roadmap</a:t>
            </a:r>
          </a:p>
        </p:txBody>
      </p:sp>
      <p:sp>
        <p:nvSpPr>
          <p:cNvPr id="45" name="Rectangle 44"/>
          <p:cNvSpPr/>
          <p:nvPr/>
        </p:nvSpPr>
        <p:spPr>
          <a:xfrm>
            <a:off x="7498080" y="4846320"/>
            <a:ext cx="2560320" cy="658368"/>
          </a:xfrm>
          <a:prstGeom prst="rect">
            <a:avLst/>
          </a:prstGeom>
          <a:solidFill>
            <a:srgbClr val="F4F7F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571232" y="4892040"/>
            <a:ext cx="2414016" cy="612648"/>
          </a:xfrm>
          <a:prstGeom prst="rect">
            <a:avLst/>
          </a:prstGeom>
          <a:noFill/>
        </p:spPr>
        <p:txBody>
          <a:bodyPr wrap="square" anchor="ctr" lIns="0" rIns="0" tIns="0" bIns="0">
            <a:normAutofit/>
          </a:bodyPr>
          <a:lstStyle/>
          <a:p>
            <a:pPr algn="l">
              <a:lnSpc>
                <a:spcPct val="105000"/>
              </a:lnSpc>
              <a:spcBef>
                <a:spcPts val="0"/>
              </a:spcBef>
            </a:pPr>
            <a:r>
              <a:rPr sz="1000" b="0" i="0">
                <a:solidFill>
                  <a:srgbClr val="1B2B3C"/>
                </a:solidFill>
                <a:latin typeface="Calibri"/>
              </a:rPr>
              <a:t>Used as the entry point for all FPT enterprise engagements</a:t>
            </a:r>
          </a:p>
        </p:txBody>
      </p:sp>
      <p:sp>
        <p:nvSpPr>
          <p:cNvPr id="47" name="Rectangle 46"/>
          <p:cNvSpPr/>
          <p:nvPr/>
        </p:nvSpPr>
        <p:spPr>
          <a:xfrm>
            <a:off x="10058400" y="4846320"/>
            <a:ext cx="1554480" cy="658368"/>
          </a:xfrm>
          <a:prstGeom prst="rect">
            <a:avLst/>
          </a:prstGeom>
          <a:solidFill>
            <a:srgbClr val="F4F7F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0131552" y="4892040"/>
            <a:ext cx="1408176" cy="612648"/>
          </a:xfrm>
          <a:prstGeom prst="rect">
            <a:avLst/>
          </a:prstGeom>
          <a:noFill/>
        </p:spPr>
        <p:txBody>
          <a:bodyPr wrap="square" anchor="ctr" lIns="0" rIns="0" tIns="0" bIns="0">
            <a:normAutofit/>
          </a:bodyPr>
          <a:lstStyle/>
          <a:p>
            <a:pPr algn="l">
              <a:lnSpc>
                <a:spcPct val="105000"/>
              </a:lnSpc>
              <a:spcBef>
                <a:spcPts val="0"/>
              </a:spcBef>
            </a:pPr>
            <a:r>
              <a:rPr sz="1000" b="0" i="0">
                <a:solidFill>
                  <a:srgbClr val="1B2B3C"/>
                </a:solidFill>
                <a:latin typeface="Calibri"/>
              </a:rPr>
              <a:t>2–4 weeks in Sprint phase</a:t>
            </a:r>
          </a:p>
        </p:txBody>
      </p:sp>
      <p:sp>
        <p:nvSpPr>
          <p:cNvPr id="49" name="Rectangle 48"/>
          <p:cNvSpPr/>
          <p:nvPr/>
        </p:nvSpPr>
        <p:spPr>
          <a:xfrm>
            <a:off x="548640" y="5504688"/>
            <a:ext cx="2194560" cy="658368"/>
          </a:xfrm>
          <a:prstGeom prst="rect">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21792" y="5550408"/>
            <a:ext cx="2048256" cy="612648"/>
          </a:xfrm>
          <a:prstGeom prst="rect">
            <a:avLst/>
          </a:prstGeom>
          <a:noFill/>
        </p:spPr>
        <p:txBody>
          <a:bodyPr wrap="square" anchor="ctr" lIns="0" rIns="0" tIns="0" bIns="0">
            <a:normAutofit/>
          </a:bodyPr>
          <a:lstStyle/>
          <a:p>
            <a:pPr algn="l">
              <a:lnSpc>
                <a:spcPct val="105000"/>
              </a:lnSpc>
              <a:spcBef>
                <a:spcPts val="0"/>
              </a:spcBef>
            </a:pPr>
            <a:r>
              <a:rPr sz="1000" b="0" i="0">
                <a:solidFill>
                  <a:srgbClr val="1B2B3C"/>
                </a:solidFill>
                <a:latin typeface="Calibri"/>
              </a:rPr>
              <a:t>Data Platform</a:t>
            </a:r>
          </a:p>
        </p:txBody>
      </p:sp>
      <p:sp>
        <p:nvSpPr>
          <p:cNvPr id="51" name="Rectangle 50"/>
          <p:cNvSpPr/>
          <p:nvPr/>
        </p:nvSpPr>
        <p:spPr>
          <a:xfrm>
            <a:off x="2743200" y="5504688"/>
            <a:ext cx="4754880" cy="658368"/>
          </a:xfrm>
          <a:prstGeom prst="rect">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2816352" y="5550408"/>
            <a:ext cx="4608576" cy="612648"/>
          </a:xfrm>
          <a:prstGeom prst="rect">
            <a:avLst/>
          </a:prstGeom>
          <a:noFill/>
        </p:spPr>
        <p:txBody>
          <a:bodyPr wrap="square" anchor="ctr" lIns="0" rIns="0" tIns="0" bIns="0">
            <a:normAutofit/>
          </a:bodyPr>
          <a:lstStyle/>
          <a:p>
            <a:pPr algn="l">
              <a:lnSpc>
                <a:spcPct val="105000"/>
              </a:lnSpc>
              <a:spcBef>
                <a:spcPts val="0"/>
              </a:spcBef>
            </a:pPr>
            <a:r>
              <a:rPr sz="1000" b="0" i="0">
                <a:solidFill>
                  <a:srgbClr val="1B2B3C"/>
                </a:solidFill>
                <a:latin typeface="Calibri"/>
              </a:rPr>
              <a:t>Cloud data infrastructure — lake, warehouse, pipeline, governance layer. Built on GCC's existing cloud provider (AWS / Azure / GCP) to avoid vendor lock-in</a:t>
            </a:r>
          </a:p>
        </p:txBody>
      </p:sp>
      <p:sp>
        <p:nvSpPr>
          <p:cNvPr id="53" name="Rectangle 52"/>
          <p:cNvSpPr/>
          <p:nvPr/>
        </p:nvSpPr>
        <p:spPr>
          <a:xfrm>
            <a:off x="7498080" y="5504688"/>
            <a:ext cx="2560320" cy="658368"/>
          </a:xfrm>
          <a:prstGeom prst="rect">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571232" y="5550408"/>
            <a:ext cx="2414016" cy="612648"/>
          </a:xfrm>
          <a:prstGeom prst="rect">
            <a:avLst/>
          </a:prstGeom>
          <a:noFill/>
        </p:spPr>
        <p:txBody>
          <a:bodyPr wrap="square" anchor="ctr" lIns="0" rIns="0" tIns="0" bIns="0">
            <a:normAutofit/>
          </a:bodyPr>
          <a:lstStyle/>
          <a:p>
            <a:pPr algn="l">
              <a:lnSpc>
                <a:spcPct val="105000"/>
              </a:lnSpc>
              <a:spcBef>
                <a:spcPts val="0"/>
              </a:spcBef>
            </a:pPr>
            <a:r>
              <a:rPr sz="1000" b="0" i="0">
                <a:solidFill>
                  <a:srgbClr val="1B2B3C"/>
                </a:solidFill>
                <a:latin typeface="Calibri"/>
              </a:rPr>
              <a:t>Required foundation for FleziPT production AI deployment</a:t>
            </a:r>
          </a:p>
        </p:txBody>
      </p:sp>
      <p:sp>
        <p:nvSpPr>
          <p:cNvPr id="55" name="Rectangle 54"/>
          <p:cNvSpPr/>
          <p:nvPr/>
        </p:nvSpPr>
        <p:spPr>
          <a:xfrm>
            <a:off x="10058400" y="5504688"/>
            <a:ext cx="1554480" cy="658368"/>
          </a:xfrm>
          <a:prstGeom prst="rect">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10131552" y="5550408"/>
            <a:ext cx="1408176" cy="612648"/>
          </a:xfrm>
          <a:prstGeom prst="rect">
            <a:avLst/>
          </a:prstGeom>
          <a:noFill/>
        </p:spPr>
        <p:txBody>
          <a:bodyPr wrap="square" anchor="ctr" lIns="0" rIns="0" tIns="0" bIns="0">
            <a:normAutofit/>
          </a:bodyPr>
          <a:lstStyle/>
          <a:p>
            <a:pPr algn="l">
              <a:lnSpc>
                <a:spcPct val="105000"/>
              </a:lnSpc>
              <a:spcBef>
                <a:spcPts val="0"/>
              </a:spcBef>
            </a:pPr>
            <a:r>
              <a:rPr sz="1000" b="0" i="0">
                <a:solidFill>
                  <a:srgbClr val="1B2B3C"/>
                </a:solidFill>
                <a:latin typeface="Calibri"/>
              </a:rPr>
              <a:t>Months 3–6 of Transformation Yr 1</a:t>
            </a:r>
          </a:p>
        </p:txBody>
      </p:sp>
      <p:sp>
        <p:nvSpPr>
          <p:cNvPr id="57" name="TextBox 56"/>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FPT Software · GCC Implementation Roadmap · Jun 2026</a:t>
            </a:r>
          </a:p>
        </p:txBody>
      </p:sp>
      <p:sp>
        <p:nvSpPr>
          <p:cNvPr id="58" name="TextBox 57"/>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9 / 17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ACTIVATE — FPT's AI Production Stack · Intelligence Layer</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Production AI — Not Pilots, Not Demos, Not Frameworks</a:t>
            </a:r>
          </a:p>
        </p:txBody>
      </p:sp>
      <p:sp>
        <p:nvSpPr>
          <p:cNvPr id="7" name="Rounded Rectangle 6"/>
          <p:cNvSpPr/>
          <p:nvPr/>
        </p:nvSpPr>
        <p:spPr>
          <a:xfrm>
            <a:off x="548640" y="1572768"/>
            <a:ext cx="3606698" cy="2084831"/>
          </a:xfrm>
          <a:prstGeom prst="roundRect">
            <a:avLst>
              <a:gd name="adj" fmla="val 3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572768"/>
            <a:ext cx="3606698" cy="5486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1664208"/>
            <a:ext cx="3423818" cy="274320"/>
          </a:xfrm>
          <a:prstGeom prst="rect">
            <a:avLst/>
          </a:prstGeom>
          <a:noFill/>
        </p:spPr>
        <p:txBody>
          <a:bodyPr wrap="square" anchor="t" lIns="0" rIns="0" tIns="0" bIns="0">
            <a:noAutofit/>
          </a:bodyPr>
          <a:lstStyle/>
          <a:p>
            <a:pPr algn="l">
              <a:lnSpc>
                <a:spcPct val="105000"/>
              </a:lnSpc>
              <a:spcBef>
                <a:spcPts val="0"/>
              </a:spcBef>
            </a:pPr>
            <a:r>
              <a:rPr sz="1200" b="1" i="0">
                <a:solidFill>
                  <a:srgbClr val="00C9A7"/>
                </a:solidFill>
                <a:latin typeface="Calibri"/>
              </a:rPr>
              <a:t>FleziPT</a:t>
            </a:r>
          </a:p>
        </p:txBody>
      </p:sp>
      <p:sp>
        <p:nvSpPr>
          <p:cNvPr id="10" name="TextBox 9"/>
          <p:cNvSpPr txBox="1"/>
          <p:nvPr/>
        </p:nvSpPr>
        <p:spPr>
          <a:xfrm>
            <a:off x="658368" y="1975104"/>
            <a:ext cx="3423818" cy="1024128"/>
          </a:xfrm>
          <a:prstGeom prst="rect">
            <a:avLst/>
          </a:prstGeom>
          <a:noFill/>
        </p:spPr>
        <p:txBody>
          <a:bodyPr wrap="square" anchor="t" lIns="0" rIns="0" tIns="0" bIns="0">
            <a:normAutofit/>
          </a:bodyPr>
          <a:lstStyle/>
          <a:p>
            <a:pPr algn="l">
              <a:lnSpc>
                <a:spcPct val="105000"/>
              </a:lnSpc>
              <a:spcBef>
                <a:spcPts val="0"/>
              </a:spcBef>
            </a:pPr>
            <a:r>
              <a:rPr sz="1000" b="0" i="0">
                <a:solidFill>
                  <a:srgbClr val="E0F7F1"/>
                </a:solidFill>
                <a:latin typeface="Calibri"/>
              </a:rPr>
              <a:t>Enterprise AI production platform: data readiness → model integration → validation → operational monitoring → retraining. Every AI use case goes through FleziPT. Gives GCC full lifecycle control — not a black box.</a:t>
            </a:r>
          </a:p>
        </p:txBody>
      </p:sp>
      <p:sp>
        <p:nvSpPr>
          <p:cNvPr id="11" name="Rectangle 10"/>
          <p:cNvSpPr/>
          <p:nvPr/>
        </p:nvSpPr>
        <p:spPr>
          <a:xfrm>
            <a:off x="731520" y="3182111"/>
            <a:ext cx="3286658" cy="1828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3218687"/>
            <a:ext cx="3423818" cy="365760"/>
          </a:xfrm>
          <a:prstGeom prst="rect">
            <a:avLst/>
          </a:prstGeom>
          <a:noFill/>
        </p:spPr>
        <p:txBody>
          <a:bodyPr wrap="square" anchor="t" lIns="0" rIns="0" tIns="0" bIns="0">
            <a:normAutofit/>
          </a:bodyPr>
          <a:lstStyle/>
          <a:p>
            <a:pPr algn="l">
              <a:lnSpc>
                <a:spcPct val="105000"/>
              </a:lnSpc>
              <a:spcBef>
                <a:spcPts val="0"/>
              </a:spcBef>
            </a:pPr>
            <a:r>
              <a:rPr sz="900" b="0" i="0">
                <a:solidFill>
                  <a:srgbClr val="5B6B7C"/>
                </a:solidFill>
                <a:latin typeface="Calibri"/>
              </a:rPr>
              <a:t>Audit trail · compliance traceability · model drift alerts · 99.9% uptime SLA</a:t>
            </a:r>
          </a:p>
        </p:txBody>
      </p:sp>
      <p:sp>
        <p:nvSpPr>
          <p:cNvPr id="13" name="Rounded Rectangle 12"/>
          <p:cNvSpPr/>
          <p:nvPr/>
        </p:nvSpPr>
        <p:spPr>
          <a:xfrm>
            <a:off x="4292498" y="1572768"/>
            <a:ext cx="3606698" cy="2084831"/>
          </a:xfrm>
          <a:prstGeom prst="roundRect">
            <a:avLst>
              <a:gd name="adj" fmla="val 3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292498" y="1572768"/>
            <a:ext cx="3606698" cy="5486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02226" y="1664208"/>
            <a:ext cx="3423818" cy="274320"/>
          </a:xfrm>
          <a:prstGeom prst="rect">
            <a:avLst/>
          </a:prstGeom>
          <a:noFill/>
        </p:spPr>
        <p:txBody>
          <a:bodyPr wrap="square" anchor="t" lIns="0" rIns="0" tIns="0" bIns="0">
            <a:noAutofit/>
          </a:bodyPr>
          <a:lstStyle/>
          <a:p>
            <a:pPr algn="l">
              <a:lnSpc>
                <a:spcPct val="105000"/>
              </a:lnSpc>
              <a:spcBef>
                <a:spcPts val="0"/>
              </a:spcBef>
            </a:pPr>
            <a:r>
              <a:rPr sz="1200" b="1" i="0">
                <a:solidFill>
                  <a:srgbClr val="00C9A7"/>
                </a:solidFill>
                <a:latin typeface="Calibri"/>
              </a:rPr>
              <a:t>KnowMed.ai</a:t>
            </a:r>
          </a:p>
        </p:txBody>
      </p:sp>
      <p:sp>
        <p:nvSpPr>
          <p:cNvPr id="16" name="TextBox 15"/>
          <p:cNvSpPr txBox="1"/>
          <p:nvPr/>
        </p:nvSpPr>
        <p:spPr>
          <a:xfrm>
            <a:off x="4402226" y="1975104"/>
            <a:ext cx="3423818" cy="1024128"/>
          </a:xfrm>
          <a:prstGeom prst="rect">
            <a:avLst/>
          </a:prstGeom>
          <a:noFill/>
        </p:spPr>
        <p:txBody>
          <a:bodyPr wrap="square" anchor="t" lIns="0" rIns="0" tIns="0" bIns="0">
            <a:normAutofit/>
          </a:bodyPr>
          <a:lstStyle/>
          <a:p>
            <a:pPr algn="l">
              <a:lnSpc>
                <a:spcPct val="105000"/>
              </a:lnSpc>
              <a:spcBef>
                <a:spcPts val="0"/>
              </a:spcBef>
            </a:pPr>
            <a:r>
              <a:rPr sz="1000" b="0" i="0">
                <a:solidFill>
                  <a:srgbClr val="E0F7F1"/>
                </a:solidFill>
                <a:latin typeface="Calibri"/>
              </a:rPr>
              <a:t>Healthcare &amp; life sciences vertical AI: clinical documentation automation, patient intake AI, HIPAA-compliant data handling, hospital operations intelligence. Deployed inside GCC as a managed platform.</a:t>
            </a:r>
          </a:p>
        </p:txBody>
      </p:sp>
      <p:sp>
        <p:nvSpPr>
          <p:cNvPr id="17" name="Rectangle 16"/>
          <p:cNvSpPr/>
          <p:nvPr/>
        </p:nvSpPr>
        <p:spPr>
          <a:xfrm>
            <a:off x="4475378" y="3182111"/>
            <a:ext cx="3286658" cy="1828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02226" y="3218687"/>
            <a:ext cx="3423818" cy="365760"/>
          </a:xfrm>
          <a:prstGeom prst="rect">
            <a:avLst/>
          </a:prstGeom>
          <a:noFill/>
        </p:spPr>
        <p:txBody>
          <a:bodyPr wrap="square" anchor="t" lIns="0" rIns="0" tIns="0" bIns="0">
            <a:normAutofit/>
          </a:bodyPr>
          <a:lstStyle/>
          <a:p>
            <a:pPr algn="l">
              <a:lnSpc>
                <a:spcPct val="105000"/>
              </a:lnSpc>
              <a:spcBef>
                <a:spcPts val="0"/>
              </a:spcBef>
            </a:pPr>
            <a:r>
              <a:rPr sz="900" b="0" i="0">
                <a:solidFill>
                  <a:srgbClr val="5B6B7C"/>
                </a:solidFill>
                <a:latin typeface="Calibri"/>
              </a:rPr>
              <a:t>GE Healthcare reference · hospital operations + patient care acceleration</a:t>
            </a:r>
          </a:p>
        </p:txBody>
      </p:sp>
      <p:sp>
        <p:nvSpPr>
          <p:cNvPr id="19" name="Rounded Rectangle 18"/>
          <p:cNvSpPr/>
          <p:nvPr/>
        </p:nvSpPr>
        <p:spPr>
          <a:xfrm>
            <a:off x="8036356" y="1572768"/>
            <a:ext cx="3606698" cy="2084831"/>
          </a:xfrm>
          <a:prstGeom prst="roundRect">
            <a:avLst>
              <a:gd name="adj" fmla="val 3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36356" y="1572768"/>
            <a:ext cx="3606698" cy="5486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46084" y="1664208"/>
            <a:ext cx="3423818" cy="274320"/>
          </a:xfrm>
          <a:prstGeom prst="rect">
            <a:avLst/>
          </a:prstGeom>
          <a:noFill/>
        </p:spPr>
        <p:txBody>
          <a:bodyPr wrap="square" anchor="t" lIns="0" rIns="0" tIns="0" bIns="0">
            <a:noAutofit/>
          </a:bodyPr>
          <a:lstStyle/>
          <a:p>
            <a:pPr algn="l">
              <a:lnSpc>
                <a:spcPct val="105000"/>
              </a:lnSpc>
              <a:spcBef>
                <a:spcPts val="0"/>
              </a:spcBef>
            </a:pPr>
            <a:r>
              <a:rPr sz="1200" b="1" i="0">
                <a:solidFill>
                  <a:srgbClr val="00C9A7"/>
                </a:solidFill>
                <a:latin typeface="Calibri"/>
              </a:rPr>
              <a:t>Virtual Factory</a:t>
            </a:r>
          </a:p>
        </p:txBody>
      </p:sp>
      <p:sp>
        <p:nvSpPr>
          <p:cNvPr id="22" name="TextBox 21"/>
          <p:cNvSpPr txBox="1"/>
          <p:nvPr/>
        </p:nvSpPr>
        <p:spPr>
          <a:xfrm>
            <a:off x="8146084" y="1975104"/>
            <a:ext cx="3423818" cy="1024128"/>
          </a:xfrm>
          <a:prstGeom prst="rect">
            <a:avLst/>
          </a:prstGeom>
          <a:noFill/>
        </p:spPr>
        <p:txBody>
          <a:bodyPr wrap="square" anchor="t" lIns="0" rIns="0" tIns="0" bIns="0">
            <a:normAutofit/>
          </a:bodyPr>
          <a:lstStyle/>
          <a:p>
            <a:pPr algn="l">
              <a:lnSpc>
                <a:spcPct val="105000"/>
              </a:lnSpc>
              <a:spcBef>
                <a:spcPts val="0"/>
              </a:spcBef>
            </a:pPr>
            <a:r>
              <a:rPr sz="1000" b="0" i="0">
                <a:solidFill>
                  <a:srgbClr val="E0F7F1"/>
                </a:solidFill>
                <a:latin typeface="Calibri"/>
              </a:rPr>
              <a:t>Manufacturing AI: real-time computer vision for anomaly detection, predictive maintenance on plant equipment, quality inspection automation, safety surveillance. Runs on existing plant sensor infrastructure.</a:t>
            </a:r>
          </a:p>
        </p:txBody>
      </p:sp>
      <p:sp>
        <p:nvSpPr>
          <p:cNvPr id="23" name="Rectangle 22"/>
          <p:cNvSpPr/>
          <p:nvPr/>
        </p:nvSpPr>
        <p:spPr>
          <a:xfrm>
            <a:off x="8219236" y="3182111"/>
            <a:ext cx="3286658" cy="1828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146084" y="3218687"/>
            <a:ext cx="3423818" cy="365760"/>
          </a:xfrm>
          <a:prstGeom prst="rect">
            <a:avLst/>
          </a:prstGeom>
          <a:noFill/>
        </p:spPr>
        <p:txBody>
          <a:bodyPr wrap="square" anchor="t" lIns="0" rIns="0" tIns="0" bIns="0">
            <a:normAutofit/>
          </a:bodyPr>
          <a:lstStyle/>
          <a:p>
            <a:pPr algn="l">
              <a:lnSpc>
                <a:spcPct val="105000"/>
              </a:lnSpc>
              <a:spcBef>
                <a:spcPts val="0"/>
              </a:spcBef>
            </a:pPr>
            <a:r>
              <a:rPr sz="900" b="0" i="0">
                <a:solidFill>
                  <a:srgbClr val="5B6B7C"/>
                </a:solidFill>
                <a:latin typeface="Calibri"/>
              </a:rPr>
              <a:t>80% cost reduction in factory safety · 70% manual monitoring effort eliminated</a:t>
            </a:r>
          </a:p>
        </p:txBody>
      </p:sp>
      <p:sp>
        <p:nvSpPr>
          <p:cNvPr id="25" name="Rounded Rectangle 24"/>
          <p:cNvSpPr/>
          <p:nvPr/>
        </p:nvSpPr>
        <p:spPr>
          <a:xfrm>
            <a:off x="548640" y="3785615"/>
            <a:ext cx="3606698" cy="2084831"/>
          </a:xfrm>
          <a:prstGeom prst="roundRect">
            <a:avLst>
              <a:gd name="adj" fmla="val 3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48640" y="3785615"/>
            <a:ext cx="3606698" cy="54864"/>
          </a:xfrm>
          <a:prstGeom prst="rect">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58368" y="3877055"/>
            <a:ext cx="3423818" cy="274320"/>
          </a:xfrm>
          <a:prstGeom prst="rect">
            <a:avLst/>
          </a:prstGeom>
          <a:noFill/>
        </p:spPr>
        <p:txBody>
          <a:bodyPr wrap="square" anchor="t" lIns="0" rIns="0" tIns="0" bIns="0">
            <a:noAutofit/>
          </a:bodyPr>
          <a:lstStyle/>
          <a:p>
            <a:pPr algn="l">
              <a:lnSpc>
                <a:spcPct val="105000"/>
              </a:lnSpc>
              <a:spcBef>
                <a:spcPts val="0"/>
              </a:spcBef>
            </a:pPr>
            <a:r>
              <a:rPr sz="1200" b="1" i="0">
                <a:solidFill>
                  <a:srgbClr val="FFB800"/>
                </a:solidFill>
                <a:latin typeface="Calibri"/>
              </a:rPr>
              <a:t>Edge AI Orchestrator</a:t>
            </a:r>
          </a:p>
        </p:txBody>
      </p:sp>
      <p:sp>
        <p:nvSpPr>
          <p:cNvPr id="28" name="TextBox 27"/>
          <p:cNvSpPr txBox="1"/>
          <p:nvPr/>
        </p:nvSpPr>
        <p:spPr>
          <a:xfrm>
            <a:off x="658368" y="4187951"/>
            <a:ext cx="3423818" cy="1024128"/>
          </a:xfrm>
          <a:prstGeom prst="rect">
            <a:avLst/>
          </a:prstGeom>
          <a:noFill/>
        </p:spPr>
        <p:txBody>
          <a:bodyPr wrap="square" anchor="t" lIns="0" rIns="0" tIns="0" bIns="0">
            <a:normAutofit/>
          </a:bodyPr>
          <a:lstStyle/>
          <a:p>
            <a:pPr algn="l">
              <a:lnSpc>
                <a:spcPct val="105000"/>
              </a:lnSpc>
              <a:spcBef>
                <a:spcPts val="0"/>
              </a:spcBef>
            </a:pPr>
            <a:r>
              <a:rPr sz="1000" b="0" i="0">
                <a:solidFill>
                  <a:srgbClr val="E0F7F1"/>
                </a:solidFill>
                <a:latin typeface="Calibri"/>
              </a:rPr>
              <a:t>Multi-agent edge AI on Qualcomm/NVIDIA hardware. Low-latency on-device inference for automotive, IoT, field operations. GCC becomes the AI edge centre of excellence for the global group.</a:t>
            </a:r>
          </a:p>
        </p:txBody>
      </p:sp>
      <p:sp>
        <p:nvSpPr>
          <p:cNvPr id="29" name="Rectangle 28"/>
          <p:cNvSpPr/>
          <p:nvPr/>
        </p:nvSpPr>
        <p:spPr>
          <a:xfrm>
            <a:off x="731520" y="5394958"/>
            <a:ext cx="3286658" cy="18288"/>
          </a:xfrm>
          <a:prstGeom prst="rect">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8368" y="5431534"/>
            <a:ext cx="3423818" cy="365760"/>
          </a:xfrm>
          <a:prstGeom prst="rect">
            <a:avLst/>
          </a:prstGeom>
          <a:noFill/>
        </p:spPr>
        <p:txBody>
          <a:bodyPr wrap="square" anchor="t" lIns="0" rIns="0" tIns="0" bIns="0">
            <a:normAutofit/>
          </a:bodyPr>
          <a:lstStyle/>
          <a:p>
            <a:pPr algn="l">
              <a:lnSpc>
                <a:spcPct val="105000"/>
              </a:lnSpc>
              <a:spcBef>
                <a:spcPts val="0"/>
              </a:spcBef>
            </a:pPr>
            <a:r>
              <a:rPr sz="900" b="0" i="0">
                <a:solidFill>
                  <a:srgbClr val="5B6B7C"/>
                </a:solidFill>
                <a:latin typeface="Calibri"/>
              </a:rPr>
              <a:t>Showcased at CES 2026 · automotive + industrial IoT validated</a:t>
            </a:r>
          </a:p>
        </p:txBody>
      </p:sp>
      <p:sp>
        <p:nvSpPr>
          <p:cNvPr id="31" name="Rounded Rectangle 30"/>
          <p:cNvSpPr/>
          <p:nvPr/>
        </p:nvSpPr>
        <p:spPr>
          <a:xfrm>
            <a:off x="4292498" y="3785615"/>
            <a:ext cx="3606698" cy="2084831"/>
          </a:xfrm>
          <a:prstGeom prst="roundRect">
            <a:avLst>
              <a:gd name="adj" fmla="val 3000"/>
            </a:avLst>
          </a:prstGeom>
          <a:solidFill>
            <a:srgbClr val="009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4292498" y="3785615"/>
            <a:ext cx="3606698"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402226" y="3877055"/>
            <a:ext cx="3423818" cy="274320"/>
          </a:xfrm>
          <a:prstGeom prst="rect">
            <a:avLst/>
          </a:prstGeom>
          <a:noFill/>
        </p:spPr>
        <p:txBody>
          <a:bodyPr wrap="square" anchor="t" lIns="0" rIns="0" tIns="0" bIns="0">
            <a:noAutofit/>
          </a:bodyPr>
          <a:lstStyle/>
          <a:p>
            <a:pPr algn="l">
              <a:lnSpc>
                <a:spcPct val="105000"/>
              </a:lnSpc>
              <a:spcBef>
                <a:spcPts val="0"/>
              </a:spcBef>
            </a:pPr>
            <a:r>
              <a:rPr sz="1200" b="1" i="0">
                <a:solidFill>
                  <a:srgbClr val="FFFFFF"/>
                </a:solidFill>
                <a:latin typeface="Calibri"/>
              </a:rPr>
              <a:t>AI Testing Loop</a:t>
            </a:r>
          </a:p>
        </p:txBody>
      </p:sp>
      <p:sp>
        <p:nvSpPr>
          <p:cNvPr id="34" name="TextBox 33"/>
          <p:cNvSpPr txBox="1"/>
          <p:nvPr/>
        </p:nvSpPr>
        <p:spPr>
          <a:xfrm>
            <a:off x="4402226" y="4187951"/>
            <a:ext cx="3423818" cy="1024128"/>
          </a:xfrm>
          <a:prstGeom prst="rect">
            <a:avLst/>
          </a:prstGeom>
          <a:noFill/>
        </p:spPr>
        <p:txBody>
          <a:bodyPr wrap="square" anchor="t" lIns="0" rIns="0" tIns="0" bIns="0">
            <a:normAutofit/>
          </a:bodyPr>
          <a:lstStyle/>
          <a:p>
            <a:pPr algn="l">
              <a:lnSpc>
                <a:spcPct val="105000"/>
              </a:lnSpc>
              <a:spcBef>
                <a:spcPts val="0"/>
              </a:spcBef>
            </a:pPr>
            <a:r>
              <a:rPr sz="1000" b="0" i="0">
                <a:solidFill>
                  <a:srgbClr val="E0F7F1"/>
                </a:solidFill>
                <a:latin typeface="Calibri"/>
              </a:rPr>
              <a:t>Industrialised AI testing: 80% of manual testing automated, V-Model and A-SPICE compliance traceability, regression testing across model versions, audit-ready reports for regulated industries.</a:t>
            </a:r>
          </a:p>
        </p:txBody>
      </p:sp>
      <p:sp>
        <p:nvSpPr>
          <p:cNvPr id="35" name="Rectangle 34"/>
          <p:cNvSpPr/>
          <p:nvPr/>
        </p:nvSpPr>
        <p:spPr>
          <a:xfrm>
            <a:off x="4475378" y="5394958"/>
            <a:ext cx="3286658" cy="182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402226" y="5431534"/>
            <a:ext cx="3423818" cy="365760"/>
          </a:xfrm>
          <a:prstGeom prst="rect">
            <a:avLst/>
          </a:prstGeom>
          <a:noFill/>
        </p:spPr>
        <p:txBody>
          <a:bodyPr wrap="square" anchor="t" lIns="0" rIns="0" tIns="0" bIns="0">
            <a:normAutofit/>
          </a:bodyPr>
          <a:lstStyle/>
          <a:p>
            <a:pPr algn="l">
              <a:lnSpc>
                <a:spcPct val="105000"/>
              </a:lnSpc>
              <a:spcBef>
                <a:spcPts val="0"/>
              </a:spcBef>
            </a:pPr>
            <a:r>
              <a:rPr sz="900" b="0" i="0">
                <a:solidFill>
                  <a:srgbClr val="5B6B7C"/>
                </a:solidFill>
                <a:latin typeface="Calibri"/>
              </a:rPr>
              <a:t>80% manual testing automated · AWS-based · V-Model / A-SPICE compliant</a:t>
            </a:r>
          </a:p>
        </p:txBody>
      </p:sp>
      <p:sp>
        <p:nvSpPr>
          <p:cNvPr id="37" name="Rounded Rectangle 36"/>
          <p:cNvSpPr/>
          <p:nvPr/>
        </p:nvSpPr>
        <p:spPr>
          <a:xfrm>
            <a:off x="8036356" y="3785615"/>
            <a:ext cx="3606698" cy="2084831"/>
          </a:xfrm>
          <a:prstGeom prst="roundRect">
            <a:avLst>
              <a:gd name="adj" fmla="val 3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8036356" y="3785615"/>
            <a:ext cx="3606698" cy="5486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146084" y="3877055"/>
            <a:ext cx="3423818" cy="274320"/>
          </a:xfrm>
          <a:prstGeom prst="rect">
            <a:avLst/>
          </a:prstGeom>
          <a:noFill/>
        </p:spPr>
        <p:txBody>
          <a:bodyPr wrap="square" anchor="t" lIns="0" rIns="0" tIns="0" bIns="0">
            <a:noAutofit/>
          </a:bodyPr>
          <a:lstStyle/>
          <a:p>
            <a:pPr algn="l">
              <a:lnSpc>
                <a:spcPct val="105000"/>
              </a:lnSpc>
              <a:spcBef>
                <a:spcPts val="0"/>
              </a:spcBef>
            </a:pPr>
            <a:r>
              <a:rPr sz="1200" b="1" i="0">
                <a:solidFill>
                  <a:srgbClr val="00C9A7"/>
                </a:solidFill>
                <a:latin typeface="Calibri"/>
              </a:rPr>
              <a:t>FleziPT AI Factory</a:t>
            </a:r>
          </a:p>
        </p:txBody>
      </p:sp>
      <p:sp>
        <p:nvSpPr>
          <p:cNvPr id="40" name="TextBox 39"/>
          <p:cNvSpPr txBox="1"/>
          <p:nvPr/>
        </p:nvSpPr>
        <p:spPr>
          <a:xfrm>
            <a:off x="8146084" y="4187951"/>
            <a:ext cx="3423818" cy="1024128"/>
          </a:xfrm>
          <a:prstGeom prst="rect">
            <a:avLst/>
          </a:prstGeom>
          <a:noFill/>
        </p:spPr>
        <p:txBody>
          <a:bodyPr wrap="square" anchor="t" lIns="0" rIns="0" tIns="0" bIns="0">
            <a:normAutofit/>
          </a:bodyPr>
          <a:lstStyle/>
          <a:p>
            <a:pPr algn="l">
              <a:lnSpc>
                <a:spcPct val="105000"/>
              </a:lnSpc>
              <a:spcBef>
                <a:spcPts val="0"/>
              </a:spcBef>
            </a:pPr>
            <a:r>
              <a:rPr sz="1000" b="0" i="0">
                <a:solidFill>
                  <a:srgbClr val="E0F7F1"/>
                </a:solidFill>
                <a:latin typeface="Calibri"/>
              </a:rPr>
              <a:t>FPT's global AI production infrastructure: 1,100B+ tokens processed, 70+ fine-tuned models, 18,000+ engineers on platform. GCC taps into this at the speed of a model API, not a build-from-scratch project.</a:t>
            </a:r>
          </a:p>
        </p:txBody>
      </p:sp>
      <p:sp>
        <p:nvSpPr>
          <p:cNvPr id="41" name="Rectangle 40"/>
          <p:cNvSpPr/>
          <p:nvPr/>
        </p:nvSpPr>
        <p:spPr>
          <a:xfrm>
            <a:off x="8219236" y="5394958"/>
            <a:ext cx="3286658" cy="1828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146084" y="5431534"/>
            <a:ext cx="3423818" cy="365760"/>
          </a:xfrm>
          <a:prstGeom prst="rect">
            <a:avLst/>
          </a:prstGeom>
          <a:noFill/>
        </p:spPr>
        <p:txBody>
          <a:bodyPr wrap="square" anchor="t" lIns="0" rIns="0" tIns="0" bIns="0">
            <a:normAutofit/>
          </a:bodyPr>
          <a:lstStyle/>
          <a:p>
            <a:pPr algn="l">
              <a:lnSpc>
                <a:spcPct val="105000"/>
              </a:lnSpc>
              <a:spcBef>
                <a:spcPts val="0"/>
              </a:spcBef>
            </a:pPr>
            <a:r>
              <a:rPr sz="900" b="0" i="0">
                <a:solidFill>
                  <a:srgbClr val="5B6B7C"/>
                </a:solidFill>
                <a:latin typeface="Calibri"/>
              </a:rPr>
              <a:t>1,100B+ tokens · 70+ fine-tuned models · 43 AI cloud services</a:t>
            </a:r>
          </a:p>
        </p:txBody>
      </p:sp>
      <p:sp>
        <p:nvSpPr>
          <p:cNvPr id="43" name="TextBox 42"/>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FPT Software · GCC Implementation Roadmap · Jun 2026</a:t>
            </a:r>
          </a:p>
        </p:txBody>
      </p:sp>
      <p:sp>
        <p:nvSpPr>
          <p:cNvPr id="44" name="TextBox 43"/>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10 / 17</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INNOVATE — Co-Development, IP Creation, Strategic Partnership</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The Layer That Transforms FPT from Vendor to Partner</a:t>
            </a:r>
          </a:p>
        </p:txBody>
      </p:sp>
      <p:sp>
        <p:nvSpPr>
          <p:cNvPr id="7" name="Rounded Rectangle 6"/>
          <p:cNvSpPr/>
          <p:nvPr/>
        </p:nvSpPr>
        <p:spPr>
          <a:xfrm>
            <a:off x="548640" y="1572768"/>
            <a:ext cx="11094415" cy="438912"/>
          </a:xfrm>
          <a:prstGeom prst="roundRect">
            <a:avLst>
              <a:gd name="adj" fmla="val 3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1627632"/>
            <a:ext cx="10820095" cy="347472"/>
          </a:xfrm>
          <a:prstGeom prst="rect">
            <a:avLst/>
          </a:prstGeom>
          <a:noFill/>
        </p:spPr>
        <p:txBody>
          <a:bodyPr wrap="square" anchor="t" lIns="0" rIns="0" tIns="0" bIns="0">
            <a:normAutofit/>
          </a:bodyPr>
          <a:lstStyle/>
          <a:p>
            <a:pPr algn="l">
              <a:lnSpc>
                <a:spcPct val="105000"/>
              </a:lnSpc>
              <a:spcBef>
                <a:spcPts val="0"/>
              </a:spcBef>
            </a:pPr>
            <a:r>
              <a:rPr sz="1200" b="0" i="0">
                <a:solidFill>
                  <a:srgbClr val="E0F7F1"/>
                </a:solidFill>
                <a:latin typeface="Calibri"/>
              </a:rPr>
              <a:t>Most GCC-SI relationships stay transactional. The INNOVATE layer is where they become strategic — GCC owns IP, FPT is embedded in the roadmap, and both parties have skin in each other's success.</a:t>
            </a:r>
          </a:p>
        </p:txBody>
      </p:sp>
      <p:sp>
        <p:nvSpPr>
          <p:cNvPr id="9" name="Rounded Rectangle 8"/>
          <p:cNvSpPr/>
          <p:nvPr/>
        </p:nvSpPr>
        <p:spPr>
          <a:xfrm>
            <a:off x="548640" y="2176272"/>
            <a:ext cx="3606698" cy="2084831"/>
          </a:xfrm>
          <a:prstGeom prst="roundRect">
            <a:avLst>
              <a:gd name="adj" fmla="val 3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176272"/>
            <a:ext cx="3606698" cy="5486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2267712"/>
            <a:ext cx="3423818" cy="274320"/>
          </a:xfrm>
          <a:prstGeom prst="rect">
            <a:avLst/>
          </a:prstGeom>
          <a:noFill/>
        </p:spPr>
        <p:txBody>
          <a:bodyPr wrap="square" anchor="t" lIns="0" rIns="0" tIns="0" bIns="0">
            <a:normAutofit/>
          </a:bodyPr>
          <a:lstStyle/>
          <a:p>
            <a:pPr algn="l">
              <a:lnSpc>
                <a:spcPct val="105000"/>
              </a:lnSpc>
              <a:spcBef>
                <a:spcPts val="0"/>
              </a:spcBef>
            </a:pPr>
            <a:r>
              <a:rPr sz="1100" b="1" i="0">
                <a:solidFill>
                  <a:srgbClr val="00C9A7"/>
                </a:solidFill>
                <a:latin typeface="Calibri"/>
              </a:rPr>
              <a:t>DX Garage</a:t>
            </a:r>
          </a:p>
        </p:txBody>
      </p:sp>
      <p:sp>
        <p:nvSpPr>
          <p:cNvPr id="12" name="TextBox 11"/>
          <p:cNvSpPr txBox="1"/>
          <p:nvPr/>
        </p:nvSpPr>
        <p:spPr>
          <a:xfrm>
            <a:off x="658368" y="2578608"/>
            <a:ext cx="3423818" cy="1024128"/>
          </a:xfrm>
          <a:prstGeom prst="rect">
            <a:avLst/>
          </a:prstGeom>
          <a:noFill/>
        </p:spPr>
        <p:txBody>
          <a:bodyPr wrap="square" anchor="t" lIns="0" rIns="0" tIns="0" bIns="0">
            <a:normAutofit/>
          </a:bodyPr>
          <a:lstStyle/>
          <a:p>
            <a:pPr algn="l">
              <a:lnSpc>
                <a:spcPct val="105000"/>
              </a:lnSpc>
              <a:spcBef>
                <a:spcPts val="0"/>
              </a:spcBef>
            </a:pPr>
            <a:r>
              <a:rPr sz="1000" b="0" i="0">
                <a:solidFill>
                  <a:srgbClr val="FFFFFF"/>
                </a:solidFill>
                <a:latin typeface="Calibri"/>
              </a:rPr>
              <a:t>FPT's innovation studio embedded inside the GCC. Rapid prototyping of next-generation AI use cases — 2-week sprints from concept to working prototype. GCC engineers participate. Domain expertise meets FPT engineering depth.</a:t>
            </a:r>
          </a:p>
        </p:txBody>
      </p:sp>
      <p:sp>
        <p:nvSpPr>
          <p:cNvPr id="13" name="TextBox 12"/>
          <p:cNvSpPr txBox="1"/>
          <p:nvPr/>
        </p:nvSpPr>
        <p:spPr>
          <a:xfrm>
            <a:off x="658368" y="3840479"/>
            <a:ext cx="3423818" cy="347472"/>
          </a:xfrm>
          <a:prstGeom prst="rect">
            <a:avLst/>
          </a:prstGeom>
          <a:noFill/>
        </p:spPr>
        <p:txBody>
          <a:bodyPr wrap="square" anchor="t" lIns="0" rIns="0" tIns="0" bIns="0">
            <a:normAutofit/>
          </a:bodyPr>
          <a:lstStyle/>
          <a:p>
            <a:pPr algn="l">
              <a:lnSpc>
                <a:spcPct val="105000"/>
              </a:lnSpc>
              <a:spcBef>
                <a:spcPts val="0"/>
              </a:spcBef>
            </a:pPr>
            <a:r>
              <a:rPr sz="900" b="0" i="0">
                <a:solidFill>
                  <a:srgbClr val="5B6B7C"/>
                </a:solidFill>
                <a:latin typeface="Calibri"/>
              </a:rPr>
              <a:t>Activated from Month 12 of Transformation Program</a:t>
            </a:r>
          </a:p>
        </p:txBody>
      </p:sp>
      <p:sp>
        <p:nvSpPr>
          <p:cNvPr id="14" name="Rounded Rectangle 13"/>
          <p:cNvSpPr/>
          <p:nvPr/>
        </p:nvSpPr>
        <p:spPr>
          <a:xfrm>
            <a:off x="4292498" y="2176272"/>
            <a:ext cx="3606698" cy="2084831"/>
          </a:xfrm>
          <a:prstGeom prst="roundRect">
            <a:avLst>
              <a:gd name="adj" fmla="val 3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292498" y="2176272"/>
            <a:ext cx="3606698" cy="5486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02226" y="2267712"/>
            <a:ext cx="3423818" cy="274320"/>
          </a:xfrm>
          <a:prstGeom prst="rect">
            <a:avLst/>
          </a:prstGeom>
          <a:noFill/>
        </p:spPr>
        <p:txBody>
          <a:bodyPr wrap="square" anchor="t" lIns="0" rIns="0" tIns="0" bIns="0">
            <a:normAutofit/>
          </a:bodyPr>
          <a:lstStyle/>
          <a:p>
            <a:pPr algn="l">
              <a:lnSpc>
                <a:spcPct val="105000"/>
              </a:lnSpc>
              <a:spcBef>
                <a:spcPts val="0"/>
              </a:spcBef>
            </a:pPr>
            <a:r>
              <a:rPr sz="1100" b="1" i="0">
                <a:solidFill>
                  <a:srgbClr val="00C9A7"/>
                </a:solidFill>
                <a:latin typeface="Calibri"/>
              </a:rPr>
              <a:t>Co-Development Programme</a:t>
            </a:r>
          </a:p>
        </p:txBody>
      </p:sp>
      <p:sp>
        <p:nvSpPr>
          <p:cNvPr id="17" name="TextBox 16"/>
          <p:cNvSpPr txBox="1"/>
          <p:nvPr/>
        </p:nvSpPr>
        <p:spPr>
          <a:xfrm>
            <a:off x="4402226" y="2578608"/>
            <a:ext cx="3423818" cy="1024128"/>
          </a:xfrm>
          <a:prstGeom prst="rect">
            <a:avLst/>
          </a:prstGeom>
          <a:noFill/>
        </p:spPr>
        <p:txBody>
          <a:bodyPr wrap="square" anchor="t" lIns="0" rIns="0" tIns="0" bIns="0">
            <a:normAutofit/>
          </a:bodyPr>
          <a:lstStyle/>
          <a:p>
            <a:pPr algn="l">
              <a:lnSpc>
                <a:spcPct val="105000"/>
              </a:lnSpc>
              <a:spcBef>
                <a:spcPts val="0"/>
              </a:spcBef>
            </a:pPr>
            <a:r>
              <a:rPr sz="1000" b="0" i="0">
                <a:solidFill>
                  <a:srgbClr val="FFFFFF"/>
                </a:solidFill>
                <a:latin typeface="Calibri"/>
              </a:rPr>
              <a:t>Joint AI module development. Legal framework: IP ownership split agreed upfront. GCC contributes domain expertise, training data, and business validation. FPT contributes engineering, platform, and AI tooling. Output: modules the GCC owns.</a:t>
            </a:r>
          </a:p>
        </p:txBody>
      </p:sp>
      <p:sp>
        <p:nvSpPr>
          <p:cNvPr id="18" name="TextBox 17"/>
          <p:cNvSpPr txBox="1"/>
          <p:nvPr/>
        </p:nvSpPr>
        <p:spPr>
          <a:xfrm>
            <a:off x="4402226" y="3840479"/>
            <a:ext cx="3423818" cy="347472"/>
          </a:xfrm>
          <a:prstGeom prst="rect">
            <a:avLst/>
          </a:prstGeom>
          <a:noFill/>
        </p:spPr>
        <p:txBody>
          <a:bodyPr wrap="square" anchor="t" lIns="0" rIns="0" tIns="0" bIns="0">
            <a:normAutofit/>
          </a:bodyPr>
          <a:lstStyle/>
          <a:p>
            <a:pPr algn="l">
              <a:lnSpc>
                <a:spcPct val="105000"/>
              </a:lnSpc>
              <a:spcBef>
                <a:spcPts val="0"/>
              </a:spcBef>
            </a:pPr>
            <a:r>
              <a:rPr sz="900" b="0" i="0">
                <a:solidFill>
                  <a:srgbClr val="5B6B7C"/>
                </a:solidFill>
                <a:latin typeface="Calibri"/>
              </a:rPr>
              <a:t>Year 2 onwards — structured as quarterly sprints</a:t>
            </a:r>
          </a:p>
        </p:txBody>
      </p:sp>
      <p:sp>
        <p:nvSpPr>
          <p:cNvPr id="19" name="Rounded Rectangle 18"/>
          <p:cNvSpPr/>
          <p:nvPr/>
        </p:nvSpPr>
        <p:spPr>
          <a:xfrm>
            <a:off x="8036356" y="2176272"/>
            <a:ext cx="3606698" cy="2084831"/>
          </a:xfrm>
          <a:prstGeom prst="roundRect">
            <a:avLst>
              <a:gd name="adj" fmla="val 3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36356" y="2176272"/>
            <a:ext cx="3606698" cy="54864"/>
          </a:xfrm>
          <a:prstGeom prst="rect">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46084" y="2267712"/>
            <a:ext cx="3423818" cy="274320"/>
          </a:xfrm>
          <a:prstGeom prst="rect">
            <a:avLst/>
          </a:prstGeom>
          <a:noFill/>
        </p:spPr>
        <p:txBody>
          <a:bodyPr wrap="square" anchor="t" lIns="0" rIns="0" tIns="0" bIns="0">
            <a:normAutofit/>
          </a:bodyPr>
          <a:lstStyle/>
          <a:p>
            <a:pPr algn="l">
              <a:lnSpc>
                <a:spcPct val="105000"/>
              </a:lnSpc>
              <a:spcBef>
                <a:spcPts val="0"/>
              </a:spcBef>
            </a:pPr>
            <a:r>
              <a:rPr sz="1100" b="1" i="0">
                <a:solidFill>
                  <a:srgbClr val="FFB800"/>
                </a:solidFill>
                <a:latin typeface="Calibri"/>
              </a:rPr>
              <a:t>White-Label AI Modules</a:t>
            </a:r>
          </a:p>
        </p:txBody>
      </p:sp>
      <p:sp>
        <p:nvSpPr>
          <p:cNvPr id="22" name="TextBox 21"/>
          <p:cNvSpPr txBox="1"/>
          <p:nvPr/>
        </p:nvSpPr>
        <p:spPr>
          <a:xfrm>
            <a:off x="8146084" y="2578608"/>
            <a:ext cx="3423818" cy="1024128"/>
          </a:xfrm>
          <a:prstGeom prst="rect">
            <a:avLst/>
          </a:prstGeom>
          <a:noFill/>
        </p:spPr>
        <p:txBody>
          <a:bodyPr wrap="square" anchor="t" lIns="0" rIns="0" tIns="0" bIns="0">
            <a:normAutofit/>
          </a:bodyPr>
          <a:lstStyle/>
          <a:p>
            <a:pPr algn="l">
              <a:lnSpc>
                <a:spcPct val="105000"/>
              </a:lnSpc>
              <a:spcBef>
                <a:spcPts val="0"/>
              </a:spcBef>
            </a:pPr>
            <a:r>
              <a:rPr sz="1000" b="0" i="0">
                <a:solidFill>
                  <a:srgbClr val="FFFFFF"/>
                </a:solidFill>
                <a:latin typeface="Calibri"/>
              </a:rPr>
              <a:t>AI modules built jointly are packaged for the GCC to own and market. Can be licensed to the global parent's other subsidiaries. Turns the engagement into a revenue stream for the GCC — independent of FPT's ongoing fees.</a:t>
            </a:r>
          </a:p>
        </p:txBody>
      </p:sp>
      <p:sp>
        <p:nvSpPr>
          <p:cNvPr id="23" name="TextBox 22"/>
          <p:cNvSpPr txBox="1"/>
          <p:nvPr/>
        </p:nvSpPr>
        <p:spPr>
          <a:xfrm>
            <a:off x="8146084" y="3840479"/>
            <a:ext cx="3423818" cy="347472"/>
          </a:xfrm>
          <a:prstGeom prst="rect">
            <a:avLst/>
          </a:prstGeom>
          <a:noFill/>
        </p:spPr>
        <p:txBody>
          <a:bodyPr wrap="square" anchor="t" lIns="0" rIns="0" tIns="0" bIns="0">
            <a:normAutofit/>
          </a:bodyPr>
          <a:lstStyle/>
          <a:p>
            <a:pPr algn="l">
              <a:lnSpc>
                <a:spcPct val="105000"/>
              </a:lnSpc>
              <a:spcBef>
                <a:spcPts val="0"/>
              </a:spcBef>
            </a:pPr>
            <a:r>
              <a:rPr sz="900" b="0" i="0">
                <a:solidFill>
                  <a:srgbClr val="5B6B7C"/>
                </a:solidFill>
                <a:latin typeface="Calibri"/>
              </a:rPr>
              <a:t>First module typically ready Month 18–24</a:t>
            </a:r>
          </a:p>
        </p:txBody>
      </p:sp>
      <p:sp>
        <p:nvSpPr>
          <p:cNvPr id="24" name="Rounded Rectangle 23"/>
          <p:cNvSpPr/>
          <p:nvPr/>
        </p:nvSpPr>
        <p:spPr>
          <a:xfrm>
            <a:off x="548640" y="4389119"/>
            <a:ext cx="3606698" cy="2084831"/>
          </a:xfrm>
          <a:prstGeom prst="roundRect">
            <a:avLst>
              <a:gd name="adj" fmla="val 3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4389119"/>
            <a:ext cx="3606698" cy="5486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8368" y="4480559"/>
            <a:ext cx="3423818" cy="274320"/>
          </a:xfrm>
          <a:prstGeom prst="rect">
            <a:avLst/>
          </a:prstGeom>
          <a:noFill/>
        </p:spPr>
        <p:txBody>
          <a:bodyPr wrap="square" anchor="t" lIns="0" rIns="0" tIns="0" bIns="0">
            <a:normAutofit/>
          </a:bodyPr>
          <a:lstStyle/>
          <a:p>
            <a:pPr algn="l">
              <a:lnSpc>
                <a:spcPct val="105000"/>
              </a:lnSpc>
              <a:spcBef>
                <a:spcPts val="0"/>
              </a:spcBef>
            </a:pPr>
            <a:r>
              <a:rPr sz="1100" b="1" i="0">
                <a:solidFill>
                  <a:srgbClr val="00C9A7"/>
                </a:solidFill>
                <a:latin typeface="Calibri"/>
              </a:rPr>
              <a:t>CxO Quarterly Roadmap</a:t>
            </a:r>
          </a:p>
        </p:txBody>
      </p:sp>
      <p:sp>
        <p:nvSpPr>
          <p:cNvPr id="27" name="TextBox 26"/>
          <p:cNvSpPr txBox="1"/>
          <p:nvPr/>
        </p:nvSpPr>
        <p:spPr>
          <a:xfrm>
            <a:off x="658368" y="4791455"/>
            <a:ext cx="3423818" cy="1024128"/>
          </a:xfrm>
          <a:prstGeom prst="rect">
            <a:avLst/>
          </a:prstGeom>
          <a:noFill/>
        </p:spPr>
        <p:txBody>
          <a:bodyPr wrap="square" anchor="t" lIns="0" rIns="0" tIns="0" bIns="0">
            <a:normAutofit/>
          </a:bodyPr>
          <a:lstStyle/>
          <a:p>
            <a:pPr algn="l">
              <a:lnSpc>
                <a:spcPct val="105000"/>
              </a:lnSpc>
              <a:spcBef>
                <a:spcPts val="0"/>
              </a:spcBef>
            </a:pPr>
            <a:r>
              <a:rPr sz="1000" b="0" i="0">
                <a:solidFill>
                  <a:srgbClr val="FFFFFF"/>
                </a:solidFill>
                <a:latin typeface="Calibri"/>
              </a:rPr>
              <a:t>Bi-directional strategic planning: FPT shares its global technology pipeline (what's coming in FleziPT, new vertical AI, Edge AI developments) and the GCC shapes FPT's India product roadmap. Both parties plan 12 months ahead together.</a:t>
            </a:r>
          </a:p>
        </p:txBody>
      </p:sp>
      <p:sp>
        <p:nvSpPr>
          <p:cNvPr id="28" name="TextBox 27"/>
          <p:cNvSpPr txBox="1"/>
          <p:nvPr/>
        </p:nvSpPr>
        <p:spPr>
          <a:xfrm>
            <a:off x="658368" y="6053326"/>
            <a:ext cx="3423818" cy="347472"/>
          </a:xfrm>
          <a:prstGeom prst="rect">
            <a:avLst/>
          </a:prstGeom>
          <a:noFill/>
        </p:spPr>
        <p:txBody>
          <a:bodyPr wrap="square" anchor="t" lIns="0" rIns="0" tIns="0" bIns="0">
            <a:normAutofit/>
          </a:bodyPr>
          <a:lstStyle/>
          <a:p>
            <a:pPr algn="l">
              <a:lnSpc>
                <a:spcPct val="105000"/>
              </a:lnSpc>
              <a:spcBef>
                <a:spcPts val="0"/>
              </a:spcBef>
            </a:pPr>
            <a:r>
              <a:rPr sz="900" b="0" i="0">
                <a:solidFill>
                  <a:srgbClr val="5B6B7C"/>
                </a:solidFill>
                <a:latin typeface="Calibri"/>
              </a:rPr>
              <a:t>Starts at contract signing — quarterly cadence</a:t>
            </a:r>
          </a:p>
        </p:txBody>
      </p:sp>
      <p:sp>
        <p:nvSpPr>
          <p:cNvPr id="29" name="Rounded Rectangle 28"/>
          <p:cNvSpPr/>
          <p:nvPr/>
        </p:nvSpPr>
        <p:spPr>
          <a:xfrm>
            <a:off x="4292498" y="4389119"/>
            <a:ext cx="3606698" cy="2084831"/>
          </a:xfrm>
          <a:prstGeom prst="roundRect">
            <a:avLst>
              <a:gd name="adj" fmla="val 3000"/>
            </a:avLst>
          </a:prstGeom>
          <a:solidFill>
            <a:srgbClr val="009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292498" y="4389119"/>
            <a:ext cx="3606698"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402226" y="4480559"/>
            <a:ext cx="3423818" cy="274320"/>
          </a:xfrm>
          <a:prstGeom prst="rect">
            <a:avLst/>
          </a:prstGeom>
          <a:noFill/>
        </p:spPr>
        <p:txBody>
          <a:bodyPr wrap="square" anchor="t" lIns="0" rIns="0" tIns="0" bIns="0">
            <a:normAutofit/>
          </a:bodyPr>
          <a:lstStyle/>
          <a:p>
            <a:pPr algn="l">
              <a:lnSpc>
                <a:spcPct val="105000"/>
              </a:lnSpc>
              <a:spcBef>
                <a:spcPts val="0"/>
              </a:spcBef>
            </a:pPr>
            <a:r>
              <a:rPr sz="1100" b="1" i="0">
                <a:solidFill>
                  <a:srgbClr val="FFFFFF"/>
                </a:solidFill>
                <a:latin typeface="Calibri"/>
              </a:rPr>
              <a:t>Preferred Partner Status</a:t>
            </a:r>
          </a:p>
        </p:txBody>
      </p:sp>
      <p:sp>
        <p:nvSpPr>
          <p:cNvPr id="32" name="TextBox 31"/>
          <p:cNvSpPr txBox="1"/>
          <p:nvPr/>
        </p:nvSpPr>
        <p:spPr>
          <a:xfrm>
            <a:off x="4402226" y="4791455"/>
            <a:ext cx="3423818" cy="1024128"/>
          </a:xfrm>
          <a:prstGeom prst="rect">
            <a:avLst/>
          </a:prstGeom>
          <a:noFill/>
        </p:spPr>
        <p:txBody>
          <a:bodyPr wrap="square" anchor="t" lIns="0" rIns="0" tIns="0" bIns="0">
            <a:normAutofit/>
          </a:bodyPr>
          <a:lstStyle/>
          <a:p>
            <a:pPr algn="l">
              <a:lnSpc>
                <a:spcPct val="105000"/>
              </a:lnSpc>
              <a:spcBef>
                <a:spcPts val="0"/>
              </a:spcBef>
            </a:pPr>
            <a:r>
              <a:rPr sz="1000" b="0" i="0">
                <a:solidFill>
                  <a:srgbClr val="FFFFFF"/>
                </a:solidFill>
                <a:latin typeface="Calibri"/>
              </a:rPr>
              <a:t>Formalised in the Strategic AI Partnership MSA. FPT is the named preferred AI technology partner for the GCC. Global parent endorsement obtained. Srikumar's network effect activates — this GCC becomes the reference that opens the next 5.</a:t>
            </a:r>
          </a:p>
        </p:txBody>
      </p:sp>
      <p:sp>
        <p:nvSpPr>
          <p:cNvPr id="33" name="TextBox 32"/>
          <p:cNvSpPr txBox="1"/>
          <p:nvPr/>
        </p:nvSpPr>
        <p:spPr>
          <a:xfrm>
            <a:off x="4402226" y="6053326"/>
            <a:ext cx="3423818" cy="347472"/>
          </a:xfrm>
          <a:prstGeom prst="rect">
            <a:avLst/>
          </a:prstGeom>
          <a:noFill/>
        </p:spPr>
        <p:txBody>
          <a:bodyPr wrap="square" anchor="t" lIns="0" rIns="0" tIns="0" bIns="0">
            <a:normAutofit/>
          </a:bodyPr>
          <a:lstStyle/>
          <a:p>
            <a:pPr algn="l">
              <a:lnSpc>
                <a:spcPct val="105000"/>
              </a:lnSpc>
              <a:spcBef>
                <a:spcPts val="0"/>
              </a:spcBef>
            </a:pPr>
            <a:r>
              <a:rPr sz="900" b="0" i="0">
                <a:solidFill>
                  <a:srgbClr val="5B6B7C"/>
                </a:solidFill>
                <a:latin typeface="Calibri"/>
              </a:rPr>
              <a:t>Triggered at Strategic Partnership conversion (Year 2)</a:t>
            </a:r>
          </a:p>
        </p:txBody>
      </p:sp>
      <p:sp>
        <p:nvSpPr>
          <p:cNvPr id="34" name="Rounded Rectangle 33"/>
          <p:cNvSpPr/>
          <p:nvPr/>
        </p:nvSpPr>
        <p:spPr>
          <a:xfrm>
            <a:off x="8036356" y="4389119"/>
            <a:ext cx="3606698" cy="2084831"/>
          </a:xfrm>
          <a:prstGeom prst="roundRect">
            <a:avLst>
              <a:gd name="adj" fmla="val 3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036356" y="4389119"/>
            <a:ext cx="3606698" cy="5486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146084" y="4480559"/>
            <a:ext cx="3423818" cy="274320"/>
          </a:xfrm>
          <a:prstGeom prst="rect">
            <a:avLst/>
          </a:prstGeom>
          <a:noFill/>
        </p:spPr>
        <p:txBody>
          <a:bodyPr wrap="square" anchor="t" lIns="0" rIns="0" tIns="0" bIns="0">
            <a:normAutofit/>
          </a:bodyPr>
          <a:lstStyle/>
          <a:p>
            <a:pPr algn="l">
              <a:lnSpc>
                <a:spcPct val="105000"/>
              </a:lnSpc>
              <a:spcBef>
                <a:spcPts val="0"/>
              </a:spcBef>
            </a:pPr>
            <a:r>
              <a:rPr sz="1100" b="1" i="0">
                <a:solidFill>
                  <a:srgbClr val="00C9A7"/>
                </a:solidFill>
                <a:latin typeface="Calibri"/>
              </a:rPr>
              <a:t>Global Patent &amp; IP Filing</a:t>
            </a:r>
          </a:p>
        </p:txBody>
      </p:sp>
      <p:sp>
        <p:nvSpPr>
          <p:cNvPr id="37" name="TextBox 36"/>
          <p:cNvSpPr txBox="1"/>
          <p:nvPr/>
        </p:nvSpPr>
        <p:spPr>
          <a:xfrm>
            <a:off x="8146084" y="4791455"/>
            <a:ext cx="3423818" cy="1024128"/>
          </a:xfrm>
          <a:prstGeom prst="rect">
            <a:avLst/>
          </a:prstGeom>
          <a:noFill/>
        </p:spPr>
        <p:txBody>
          <a:bodyPr wrap="square" anchor="t" lIns="0" rIns="0" tIns="0" bIns="0">
            <a:normAutofit/>
          </a:bodyPr>
          <a:lstStyle/>
          <a:p>
            <a:pPr algn="l">
              <a:lnSpc>
                <a:spcPct val="105000"/>
              </a:lnSpc>
              <a:spcBef>
                <a:spcPts val="0"/>
              </a:spcBef>
            </a:pPr>
            <a:r>
              <a:rPr sz="1000" b="0" i="0">
                <a:solidFill>
                  <a:srgbClr val="FFFFFF"/>
                </a:solidFill>
                <a:latin typeface="Calibri"/>
              </a:rPr>
              <a:t>Where co-development produces novel AI methods, FPT supports the GCC in joint patent filing. GCC gains IP assets. FPT gains a co-inventor relationship. Both benefit from the innovation narrative with global parent and regulators.</a:t>
            </a:r>
          </a:p>
        </p:txBody>
      </p:sp>
      <p:sp>
        <p:nvSpPr>
          <p:cNvPr id="38" name="TextBox 37"/>
          <p:cNvSpPr txBox="1"/>
          <p:nvPr/>
        </p:nvSpPr>
        <p:spPr>
          <a:xfrm>
            <a:off x="8146084" y="6053326"/>
            <a:ext cx="3423818" cy="347472"/>
          </a:xfrm>
          <a:prstGeom prst="rect">
            <a:avLst/>
          </a:prstGeom>
          <a:noFill/>
        </p:spPr>
        <p:txBody>
          <a:bodyPr wrap="square" anchor="t" lIns="0" rIns="0" tIns="0" bIns="0">
            <a:normAutofit/>
          </a:bodyPr>
          <a:lstStyle/>
          <a:p>
            <a:pPr algn="l">
              <a:lnSpc>
                <a:spcPct val="105000"/>
              </a:lnSpc>
              <a:spcBef>
                <a:spcPts val="0"/>
              </a:spcBef>
            </a:pPr>
            <a:r>
              <a:rPr sz="900" b="0" i="0">
                <a:solidFill>
                  <a:srgbClr val="5B6B7C"/>
                </a:solidFill>
                <a:latin typeface="Calibri"/>
              </a:rPr>
              <a:t>Case-by-case — typically Year 2–3</a:t>
            </a:r>
          </a:p>
        </p:txBody>
      </p:sp>
      <p:sp>
        <p:nvSpPr>
          <p:cNvPr id="39" name="TextBox 38"/>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FPT Software · GCC Implementation Roadmap · Jun 2026</a:t>
            </a:r>
          </a:p>
        </p:txBody>
      </p:sp>
      <p:sp>
        <p:nvSpPr>
          <p:cNvPr id="40" name="TextBox 39"/>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11 / 17</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What the GCC Owns at Each Stage — The Compounding Asset Base</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GCC Ownership Milestones</a:t>
            </a:r>
          </a:p>
        </p:txBody>
      </p:sp>
      <p:sp>
        <p:nvSpPr>
          <p:cNvPr id="7" name="Rectangle 6"/>
          <p:cNvSpPr/>
          <p:nvPr/>
        </p:nvSpPr>
        <p:spPr>
          <a:xfrm>
            <a:off x="548640" y="1572768"/>
            <a:ext cx="2194560" cy="1005840"/>
          </a:xfrm>
          <a:prstGeom prst="rect">
            <a:avLst/>
          </a:prstGeom>
          <a:solidFill>
            <a:srgbClr val="0A162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1618488"/>
            <a:ext cx="2048256" cy="960120"/>
          </a:xfrm>
          <a:prstGeom prst="rect">
            <a:avLst/>
          </a:prstGeom>
          <a:noFill/>
        </p:spPr>
        <p:txBody>
          <a:bodyPr wrap="square" anchor="ctr" lIns="0" rIns="0" tIns="0" bIns="0">
            <a:normAutofit/>
          </a:bodyPr>
          <a:lstStyle/>
          <a:p>
            <a:pPr algn="l">
              <a:lnSpc>
                <a:spcPct val="105000"/>
              </a:lnSpc>
              <a:spcBef>
                <a:spcPts val="0"/>
              </a:spcBef>
            </a:pPr>
            <a:r>
              <a:rPr sz="1200" b="1" i="0">
                <a:solidFill>
                  <a:srgbClr val="FFFFFF"/>
                </a:solidFill>
                <a:latin typeface="Calibri"/>
              </a:rPr>
              <a:t>Stage</a:t>
            </a:r>
          </a:p>
        </p:txBody>
      </p:sp>
      <p:sp>
        <p:nvSpPr>
          <p:cNvPr id="9" name="Rectangle 8"/>
          <p:cNvSpPr/>
          <p:nvPr/>
        </p:nvSpPr>
        <p:spPr>
          <a:xfrm>
            <a:off x="2743200" y="1572768"/>
            <a:ext cx="5303520" cy="1005840"/>
          </a:xfrm>
          <a:prstGeom prst="rect">
            <a:avLst/>
          </a:prstGeom>
          <a:solidFill>
            <a:srgbClr val="0A162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816352" y="1618488"/>
            <a:ext cx="5157216" cy="960120"/>
          </a:xfrm>
          <a:prstGeom prst="rect">
            <a:avLst/>
          </a:prstGeom>
          <a:noFill/>
        </p:spPr>
        <p:txBody>
          <a:bodyPr wrap="square" anchor="ctr" lIns="0" rIns="0" tIns="0" bIns="0">
            <a:normAutofit/>
          </a:bodyPr>
          <a:lstStyle/>
          <a:p>
            <a:pPr algn="l">
              <a:lnSpc>
                <a:spcPct val="105000"/>
              </a:lnSpc>
              <a:spcBef>
                <a:spcPts val="0"/>
              </a:spcBef>
            </a:pPr>
            <a:r>
              <a:rPr sz="1200" b="1" i="0">
                <a:solidFill>
                  <a:srgbClr val="FFFFFF"/>
                </a:solidFill>
                <a:latin typeface="Calibri"/>
              </a:rPr>
              <a:t>GCC Owns at This Point</a:t>
            </a:r>
          </a:p>
        </p:txBody>
      </p:sp>
      <p:sp>
        <p:nvSpPr>
          <p:cNvPr id="11" name="Rectangle 10"/>
          <p:cNvSpPr/>
          <p:nvPr/>
        </p:nvSpPr>
        <p:spPr>
          <a:xfrm>
            <a:off x="8046720" y="1572768"/>
            <a:ext cx="3474720" cy="1005840"/>
          </a:xfrm>
          <a:prstGeom prst="rect">
            <a:avLst/>
          </a:prstGeom>
          <a:solidFill>
            <a:srgbClr val="0A162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19872" y="1618488"/>
            <a:ext cx="3328416" cy="960120"/>
          </a:xfrm>
          <a:prstGeom prst="rect">
            <a:avLst/>
          </a:prstGeom>
          <a:noFill/>
        </p:spPr>
        <p:txBody>
          <a:bodyPr wrap="square" anchor="ctr" lIns="0" rIns="0" tIns="0" bIns="0">
            <a:normAutofit/>
          </a:bodyPr>
          <a:lstStyle/>
          <a:p>
            <a:pPr algn="l">
              <a:lnSpc>
                <a:spcPct val="105000"/>
              </a:lnSpc>
              <a:spcBef>
                <a:spcPts val="0"/>
              </a:spcBef>
            </a:pPr>
            <a:r>
              <a:rPr sz="1200" b="1" i="0">
                <a:solidFill>
                  <a:srgbClr val="FFFFFF"/>
                </a:solidFill>
                <a:latin typeface="Calibri"/>
              </a:rPr>
              <a:t>Global Parent Sees</a:t>
            </a:r>
          </a:p>
        </p:txBody>
      </p:sp>
      <p:sp>
        <p:nvSpPr>
          <p:cNvPr id="13" name="Rectangle 12"/>
          <p:cNvSpPr/>
          <p:nvPr/>
        </p:nvSpPr>
        <p:spPr>
          <a:xfrm>
            <a:off x="548640" y="2578608"/>
            <a:ext cx="2194560" cy="1005840"/>
          </a:xfrm>
          <a:prstGeom prst="rect">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1792" y="2624328"/>
            <a:ext cx="2048256" cy="960120"/>
          </a:xfrm>
          <a:prstGeom prst="rect">
            <a:avLst/>
          </a:prstGeom>
          <a:noFill/>
        </p:spPr>
        <p:txBody>
          <a:bodyPr wrap="square" anchor="ctr" lIns="0" rIns="0" tIns="0" bIns="0">
            <a:normAutofit/>
          </a:bodyPr>
          <a:lstStyle/>
          <a:p>
            <a:pPr algn="l">
              <a:lnSpc>
                <a:spcPct val="105000"/>
              </a:lnSpc>
              <a:spcBef>
                <a:spcPts val="0"/>
              </a:spcBef>
            </a:pPr>
            <a:r>
              <a:rPr sz="1100" b="0" i="0">
                <a:solidFill>
                  <a:srgbClr val="1B2B3C"/>
                </a:solidFill>
                <a:latin typeface="Calibri"/>
              </a:rPr>
              <a:t>End of Sprint
(Week 8)</a:t>
            </a:r>
          </a:p>
        </p:txBody>
      </p:sp>
      <p:sp>
        <p:nvSpPr>
          <p:cNvPr id="15" name="Rectangle 14"/>
          <p:cNvSpPr/>
          <p:nvPr/>
        </p:nvSpPr>
        <p:spPr>
          <a:xfrm>
            <a:off x="2743200" y="2578608"/>
            <a:ext cx="5303520" cy="1005840"/>
          </a:xfrm>
          <a:prstGeom prst="rect">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816352" y="2624328"/>
            <a:ext cx="5157216" cy="960120"/>
          </a:xfrm>
          <a:prstGeom prst="rect">
            <a:avLst/>
          </a:prstGeom>
          <a:noFill/>
        </p:spPr>
        <p:txBody>
          <a:bodyPr wrap="square" anchor="ctr" lIns="0" rIns="0" tIns="0" bIns="0">
            <a:normAutofit/>
          </a:bodyPr>
          <a:lstStyle/>
          <a:p>
            <a:pPr algn="l">
              <a:lnSpc>
                <a:spcPct val="105000"/>
              </a:lnSpc>
              <a:spcBef>
                <a:spcPts val="0"/>
              </a:spcBef>
            </a:pPr>
            <a:r>
              <a:rPr sz="1100" b="0" i="0">
                <a:solidFill>
                  <a:srgbClr val="1B2B3C"/>
                </a:solidFill>
                <a:latin typeface="Calibri"/>
              </a:rPr>
              <a:t>AI Transformation Roadmap · PoC results with production pathway · Transformation business case · Signed partner relationship with FPT</a:t>
            </a:r>
          </a:p>
        </p:txBody>
      </p:sp>
      <p:sp>
        <p:nvSpPr>
          <p:cNvPr id="17" name="Rectangle 16"/>
          <p:cNvSpPr/>
          <p:nvPr/>
        </p:nvSpPr>
        <p:spPr>
          <a:xfrm>
            <a:off x="8046720" y="2578608"/>
            <a:ext cx="3474720" cy="1005840"/>
          </a:xfrm>
          <a:prstGeom prst="rect">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19872" y="2624328"/>
            <a:ext cx="3328416" cy="960120"/>
          </a:xfrm>
          <a:prstGeom prst="rect">
            <a:avLst/>
          </a:prstGeom>
          <a:noFill/>
        </p:spPr>
        <p:txBody>
          <a:bodyPr wrap="square" anchor="ctr" lIns="0" rIns="0" tIns="0" bIns="0">
            <a:normAutofit/>
          </a:bodyPr>
          <a:lstStyle/>
          <a:p>
            <a:pPr algn="l">
              <a:lnSpc>
                <a:spcPct val="105000"/>
              </a:lnSpc>
              <a:spcBef>
                <a:spcPts val="0"/>
              </a:spcBef>
            </a:pPr>
            <a:r>
              <a:rPr sz="1100" b="0" i="0">
                <a:solidFill>
                  <a:srgbClr val="1B2B3C"/>
                </a:solidFill>
                <a:latin typeface="Calibri"/>
              </a:rPr>
              <a:t>Credible AI roadmap · costed delivery plan · named technology partner · $150K–$250K invested, $2M–$10M ARR unlocked</a:t>
            </a:r>
          </a:p>
        </p:txBody>
      </p:sp>
      <p:sp>
        <p:nvSpPr>
          <p:cNvPr id="19" name="Rectangle 18"/>
          <p:cNvSpPr/>
          <p:nvPr/>
        </p:nvSpPr>
        <p:spPr>
          <a:xfrm>
            <a:off x="548640" y="3584448"/>
            <a:ext cx="2194560" cy="1005840"/>
          </a:xfrm>
          <a:prstGeom prst="rect">
            <a:avLst/>
          </a:prstGeom>
          <a:solidFill>
            <a:srgbClr val="F4F7F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 y="3630168"/>
            <a:ext cx="2048256" cy="960120"/>
          </a:xfrm>
          <a:prstGeom prst="rect">
            <a:avLst/>
          </a:prstGeom>
          <a:noFill/>
        </p:spPr>
        <p:txBody>
          <a:bodyPr wrap="square" anchor="ctr" lIns="0" rIns="0" tIns="0" bIns="0">
            <a:normAutofit/>
          </a:bodyPr>
          <a:lstStyle/>
          <a:p>
            <a:pPr algn="l">
              <a:lnSpc>
                <a:spcPct val="105000"/>
              </a:lnSpc>
              <a:spcBef>
                <a:spcPts val="0"/>
              </a:spcBef>
            </a:pPr>
            <a:r>
              <a:rPr sz="1100" b="0" i="0">
                <a:solidFill>
                  <a:srgbClr val="1B2B3C"/>
                </a:solidFill>
                <a:latin typeface="Calibri"/>
              </a:rPr>
              <a:t>End of Transformation Yr 1
(Month 12)</a:t>
            </a:r>
          </a:p>
        </p:txBody>
      </p:sp>
      <p:sp>
        <p:nvSpPr>
          <p:cNvPr id="21" name="Rectangle 20"/>
          <p:cNvSpPr/>
          <p:nvPr/>
        </p:nvSpPr>
        <p:spPr>
          <a:xfrm>
            <a:off x="2743200" y="3584448"/>
            <a:ext cx="5303520" cy="1005840"/>
          </a:xfrm>
          <a:prstGeom prst="rect">
            <a:avLst/>
          </a:prstGeom>
          <a:solidFill>
            <a:srgbClr val="F4F7F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816352" y="3630168"/>
            <a:ext cx="5157216" cy="960120"/>
          </a:xfrm>
          <a:prstGeom prst="rect">
            <a:avLst/>
          </a:prstGeom>
          <a:noFill/>
        </p:spPr>
        <p:txBody>
          <a:bodyPr wrap="square" anchor="ctr" lIns="0" rIns="0" tIns="0" bIns="0">
            <a:normAutofit/>
          </a:bodyPr>
          <a:lstStyle/>
          <a:p>
            <a:pPr algn="l">
              <a:lnSpc>
                <a:spcPct val="105000"/>
              </a:lnSpc>
              <a:spcBef>
                <a:spcPts val="0"/>
              </a:spcBef>
            </a:pPr>
            <a:r>
              <a:rPr sz="1100" b="0" i="0">
                <a:solidFill>
                  <a:srgbClr val="1B2B3C"/>
                </a:solidFill>
                <a:latin typeface="Calibri"/>
              </a:rPr>
              <a:t>Production AI system (2–3 live use cases) · modernised legacy stack · vertical AI platform deployed · AI testing automated · managed services SLA</a:t>
            </a:r>
          </a:p>
        </p:txBody>
      </p:sp>
      <p:sp>
        <p:nvSpPr>
          <p:cNvPr id="23" name="Rectangle 22"/>
          <p:cNvSpPr/>
          <p:nvPr/>
        </p:nvSpPr>
        <p:spPr>
          <a:xfrm>
            <a:off x="8046720" y="3584448"/>
            <a:ext cx="3474720" cy="1005840"/>
          </a:xfrm>
          <a:prstGeom prst="rect">
            <a:avLst/>
          </a:prstGeom>
          <a:solidFill>
            <a:srgbClr val="F4F7F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119872" y="3630168"/>
            <a:ext cx="3328416" cy="960120"/>
          </a:xfrm>
          <a:prstGeom prst="rect">
            <a:avLst/>
          </a:prstGeom>
          <a:noFill/>
        </p:spPr>
        <p:txBody>
          <a:bodyPr wrap="square" anchor="ctr" lIns="0" rIns="0" tIns="0" bIns="0">
            <a:normAutofit/>
          </a:bodyPr>
          <a:lstStyle/>
          <a:p>
            <a:pPr algn="l">
              <a:lnSpc>
                <a:spcPct val="105000"/>
              </a:lnSpc>
              <a:spcBef>
                <a:spcPts val="0"/>
              </a:spcBef>
            </a:pPr>
            <a:r>
              <a:rPr sz="1100" b="0" i="0">
                <a:solidFill>
                  <a:srgbClr val="1B2B3C"/>
                </a:solidFill>
                <a:latin typeface="Calibri"/>
              </a:rPr>
              <a:t>AI in production · legacy tech debt cleared · developer velocity improved · first measurable ROI from vertical AI · FPT delivering at pace</a:t>
            </a:r>
          </a:p>
        </p:txBody>
      </p:sp>
      <p:sp>
        <p:nvSpPr>
          <p:cNvPr id="25" name="Rectangle 24"/>
          <p:cNvSpPr/>
          <p:nvPr/>
        </p:nvSpPr>
        <p:spPr>
          <a:xfrm>
            <a:off x="548640" y="4590288"/>
            <a:ext cx="2194560" cy="1005840"/>
          </a:xfrm>
          <a:prstGeom prst="rect">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1792" y="4636008"/>
            <a:ext cx="2048256" cy="960120"/>
          </a:xfrm>
          <a:prstGeom prst="rect">
            <a:avLst/>
          </a:prstGeom>
          <a:noFill/>
        </p:spPr>
        <p:txBody>
          <a:bodyPr wrap="square" anchor="ctr" lIns="0" rIns="0" tIns="0" bIns="0">
            <a:normAutofit/>
          </a:bodyPr>
          <a:lstStyle/>
          <a:p>
            <a:pPr algn="l">
              <a:lnSpc>
                <a:spcPct val="105000"/>
              </a:lnSpc>
              <a:spcBef>
                <a:spcPts val="0"/>
              </a:spcBef>
            </a:pPr>
            <a:r>
              <a:rPr sz="1100" b="0" i="0">
                <a:solidFill>
                  <a:srgbClr val="1B2B3C"/>
                </a:solidFill>
                <a:latin typeface="Calibri"/>
              </a:rPr>
              <a:t>End of Transformation Yr 2
(Month 24)</a:t>
            </a:r>
          </a:p>
        </p:txBody>
      </p:sp>
      <p:sp>
        <p:nvSpPr>
          <p:cNvPr id="27" name="Rectangle 26"/>
          <p:cNvSpPr/>
          <p:nvPr/>
        </p:nvSpPr>
        <p:spPr>
          <a:xfrm>
            <a:off x="2743200" y="4590288"/>
            <a:ext cx="5303520" cy="1005840"/>
          </a:xfrm>
          <a:prstGeom prst="rect">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816352" y="4636008"/>
            <a:ext cx="5157216" cy="960120"/>
          </a:xfrm>
          <a:prstGeom prst="rect">
            <a:avLst/>
          </a:prstGeom>
          <a:noFill/>
        </p:spPr>
        <p:txBody>
          <a:bodyPr wrap="square" anchor="ctr" lIns="0" rIns="0" tIns="0" bIns="0">
            <a:normAutofit/>
          </a:bodyPr>
          <a:lstStyle/>
          <a:p>
            <a:pPr algn="l">
              <a:lnSpc>
                <a:spcPct val="105000"/>
              </a:lnSpc>
              <a:spcBef>
                <a:spcPts val="0"/>
              </a:spcBef>
            </a:pPr>
            <a:r>
              <a:rPr sz="1100" b="0" i="0">
                <a:solidFill>
                  <a:srgbClr val="1B2B3C"/>
                </a:solidFill>
                <a:latin typeface="Calibri"/>
              </a:rPr>
              <a:t>Multiple verticals live · edge AI deployed · first co-developed AI module · DX Garage running · white-label module v1 · joint IP framework</a:t>
            </a:r>
          </a:p>
        </p:txBody>
      </p:sp>
      <p:sp>
        <p:nvSpPr>
          <p:cNvPr id="29" name="Rectangle 28"/>
          <p:cNvSpPr/>
          <p:nvPr/>
        </p:nvSpPr>
        <p:spPr>
          <a:xfrm>
            <a:off x="8046720" y="4590288"/>
            <a:ext cx="3474720" cy="1005840"/>
          </a:xfrm>
          <a:prstGeom prst="rect">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119872" y="4636008"/>
            <a:ext cx="3328416" cy="960120"/>
          </a:xfrm>
          <a:prstGeom prst="rect">
            <a:avLst/>
          </a:prstGeom>
          <a:noFill/>
        </p:spPr>
        <p:txBody>
          <a:bodyPr wrap="square" anchor="ctr" lIns="0" rIns="0" tIns="0" bIns="0">
            <a:normAutofit/>
          </a:bodyPr>
          <a:lstStyle/>
          <a:p>
            <a:pPr algn="l">
              <a:lnSpc>
                <a:spcPct val="105000"/>
              </a:lnSpc>
              <a:spcBef>
                <a:spcPts val="0"/>
              </a:spcBef>
            </a:pPr>
            <a:r>
              <a:rPr sz="1100" b="0" i="0">
                <a:solidFill>
                  <a:srgbClr val="1B2B3C"/>
                </a:solidFill>
                <a:latin typeface="Calibri"/>
              </a:rPr>
              <a:t>GCC as AI innovation centre · co-owned IP · strategic asset not just cost centre · preferred partner MSA signed · $10M–$30M engagement</a:t>
            </a:r>
          </a:p>
        </p:txBody>
      </p:sp>
      <p:sp>
        <p:nvSpPr>
          <p:cNvPr id="31" name="Rectangle 30"/>
          <p:cNvSpPr/>
          <p:nvPr/>
        </p:nvSpPr>
        <p:spPr>
          <a:xfrm>
            <a:off x="548640" y="5596128"/>
            <a:ext cx="2194560" cy="1005840"/>
          </a:xfrm>
          <a:prstGeom prst="rect">
            <a:avLst/>
          </a:prstGeom>
          <a:solidFill>
            <a:srgbClr val="F4F7F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21792" y="5641848"/>
            <a:ext cx="2048256" cy="960120"/>
          </a:xfrm>
          <a:prstGeom prst="rect">
            <a:avLst/>
          </a:prstGeom>
          <a:noFill/>
        </p:spPr>
        <p:txBody>
          <a:bodyPr wrap="square" anchor="ctr" lIns="0" rIns="0" tIns="0" bIns="0">
            <a:normAutofit/>
          </a:bodyPr>
          <a:lstStyle/>
          <a:p>
            <a:pPr algn="l">
              <a:lnSpc>
                <a:spcPct val="105000"/>
              </a:lnSpc>
              <a:spcBef>
                <a:spcPts val="0"/>
              </a:spcBef>
            </a:pPr>
            <a:r>
              <a:rPr sz="1100" b="0" i="0">
                <a:solidFill>
                  <a:srgbClr val="1B2B3C"/>
                </a:solidFill>
                <a:latin typeface="Calibri"/>
              </a:rPr>
              <a:t>Strategic Partnership
(Year 2+)</a:t>
            </a:r>
          </a:p>
        </p:txBody>
      </p:sp>
      <p:sp>
        <p:nvSpPr>
          <p:cNvPr id="33" name="Rectangle 32"/>
          <p:cNvSpPr/>
          <p:nvPr/>
        </p:nvSpPr>
        <p:spPr>
          <a:xfrm>
            <a:off x="2743200" y="5596128"/>
            <a:ext cx="5303520" cy="1005840"/>
          </a:xfrm>
          <a:prstGeom prst="rect">
            <a:avLst/>
          </a:prstGeom>
          <a:solidFill>
            <a:srgbClr val="F4F7F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816352" y="5641848"/>
            <a:ext cx="5157216" cy="960120"/>
          </a:xfrm>
          <a:prstGeom prst="rect">
            <a:avLst/>
          </a:prstGeom>
          <a:noFill/>
        </p:spPr>
        <p:txBody>
          <a:bodyPr wrap="square" anchor="ctr" lIns="0" rIns="0" tIns="0" bIns="0">
            <a:normAutofit/>
          </a:bodyPr>
          <a:lstStyle/>
          <a:p>
            <a:pPr algn="l">
              <a:lnSpc>
                <a:spcPct val="105000"/>
              </a:lnSpc>
              <a:spcBef>
                <a:spcPts val="0"/>
              </a:spcBef>
            </a:pPr>
            <a:r>
              <a:rPr sz="1100" b="0" i="0">
                <a:solidFill>
                  <a:srgbClr val="1B2B3C"/>
                </a:solidFill>
                <a:latin typeface="Calibri"/>
              </a:rPr>
              <a:t>AI platform as standard · resellable IP portfolio · CxO co-design seat · preferred partner ecosystem · potential joint patents · global innovation access</a:t>
            </a:r>
          </a:p>
        </p:txBody>
      </p:sp>
      <p:sp>
        <p:nvSpPr>
          <p:cNvPr id="35" name="Rectangle 34"/>
          <p:cNvSpPr/>
          <p:nvPr/>
        </p:nvSpPr>
        <p:spPr>
          <a:xfrm>
            <a:off x="8046720" y="5596128"/>
            <a:ext cx="3474720" cy="1005840"/>
          </a:xfrm>
          <a:prstGeom prst="rect">
            <a:avLst/>
          </a:prstGeom>
          <a:solidFill>
            <a:srgbClr val="F4F7F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119872" y="5641848"/>
            <a:ext cx="3328416" cy="960120"/>
          </a:xfrm>
          <a:prstGeom prst="rect">
            <a:avLst/>
          </a:prstGeom>
          <a:noFill/>
        </p:spPr>
        <p:txBody>
          <a:bodyPr wrap="square" anchor="ctr" lIns="0" rIns="0" tIns="0" bIns="0">
            <a:normAutofit/>
          </a:bodyPr>
          <a:lstStyle/>
          <a:p>
            <a:pPr algn="l">
              <a:lnSpc>
                <a:spcPct val="105000"/>
              </a:lnSpc>
              <a:spcBef>
                <a:spcPts val="0"/>
              </a:spcBef>
            </a:pPr>
            <a:r>
              <a:rPr sz="1100" b="0" i="0">
                <a:solidFill>
                  <a:srgbClr val="1B2B3C"/>
                </a:solidFill>
                <a:latin typeface="Calibri"/>
              </a:rPr>
              <a:t>GCC as flagship AI Centre of Excellence for the global group · FPT embedded · reference for peer GCCs · competitive advantage through proprietary AI</a:t>
            </a:r>
          </a:p>
        </p:txBody>
      </p:sp>
      <p:sp>
        <p:nvSpPr>
          <p:cNvPr id="37" name="TextBox 36"/>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FPT Software · GCC Implementation Roadmap · Jun 2026</a:t>
            </a:r>
          </a:p>
        </p:txBody>
      </p:sp>
      <p:sp>
        <p:nvSpPr>
          <p:cNvPr id="38" name="TextBox 37"/>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12 / 17</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FPT Platform Activation by Phase — The Full Breadth in One View</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Platform-to-Phase Mapping</a:t>
            </a:r>
          </a:p>
        </p:txBody>
      </p:sp>
      <p:sp>
        <p:nvSpPr>
          <p:cNvPr id="7" name="Rectangle 6"/>
          <p:cNvSpPr/>
          <p:nvPr/>
        </p:nvSpPr>
        <p:spPr>
          <a:xfrm>
            <a:off x="548640" y="1572768"/>
            <a:ext cx="2377440" cy="347472"/>
          </a:xfrm>
          <a:prstGeom prst="rect">
            <a:avLst/>
          </a:prstGeom>
          <a:solidFill>
            <a:srgbClr val="0A162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1618488"/>
            <a:ext cx="2231136" cy="301752"/>
          </a:xfrm>
          <a:prstGeom prst="rect">
            <a:avLst/>
          </a:prstGeom>
          <a:noFill/>
        </p:spPr>
        <p:txBody>
          <a:bodyPr wrap="square" anchor="ctr" lIns="0" rIns="0" tIns="0" bIns="0">
            <a:normAutofit/>
          </a:bodyPr>
          <a:lstStyle/>
          <a:p>
            <a:pPr algn="l">
              <a:lnSpc>
                <a:spcPct val="105000"/>
              </a:lnSpc>
              <a:spcBef>
                <a:spcPts val="0"/>
              </a:spcBef>
            </a:pPr>
            <a:r>
              <a:rPr sz="1050" b="1" i="0">
                <a:solidFill>
                  <a:srgbClr val="FFFFFF"/>
                </a:solidFill>
                <a:latin typeface="Calibri"/>
              </a:rPr>
              <a:t>FPT Platform</a:t>
            </a:r>
          </a:p>
        </p:txBody>
      </p:sp>
      <p:sp>
        <p:nvSpPr>
          <p:cNvPr id="9" name="Rectangle 8"/>
          <p:cNvSpPr/>
          <p:nvPr/>
        </p:nvSpPr>
        <p:spPr>
          <a:xfrm>
            <a:off x="2926080" y="1572768"/>
            <a:ext cx="1325880" cy="347472"/>
          </a:xfrm>
          <a:prstGeom prst="rect">
            <a:avLst/>
          </a:prstGeom>
          <a:solidFill>
            <a:srgbClr val="0A162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99232" y="1618488"/>
            <a:ext cx="1179576" cy="301752"/>
          </a:xfrm>
          <a:prstGeom prst="rect">
            <a:avLst/>
          </a:prstGeom>
          <a:noFill/>
        </p:spPr>
        <p:txBody>
          <a:bodyPr wrap="square" anchor="ctr" lIns="0" rIns="0" tIns="0" bIns="0">
            <a:normAutofit/>
          </a:bodyPr>
          <a:lstStyle/>
          <a:p>
            <a:pPr algn="l">
              <a:lnSpc>
                <a:spcPct val="105000"/>
              </a:lnSpc>
              <a:spcBef>
                <a:spcPts val="0"/>
              </a:spcBef>
            </a:pPr>
            <a:r>
              <a:rPr sz="1050" b="1" i="0">
                <a:solidFill>
                  <a:srgbClr val="FFFFFF"/>
                </a:solidFill>
                <a:latin typeface="Calibri"/>
              </a:rPr>
              <a:t>Layer</a:t>
            </a:r>
          </a:p>
        </p:txBody>
      </p:sp>
      <p:sp>
        <p:nvSpPr>
          <p:cNvPr id="11" name="Rectangle 10"/>
          <p:cNvSpPr/>
          <p:nvPr/>
        </p:nvSpPr>
        <p:spPr>
          <a:xfrm>
            <a:off x="4251960" y="1572768"/>
            <a:ext cx="1371600" cy="347472"/>
          </a:xfrm>
          <a:prstGeom prst="rect">
            <a:avLst/>
          </a:prstGeom>
          <a:solidFill>
            <a:srgbClr val="0A162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25112" y="1618488"/>
            <a:ext cx="1225296" cy="301752"/>
          </a:xfrm>
          <a:prstGeom prst="rect">
            <a:avLst/>
          </a:prstGeom>
          <a:noFill/>
        </p:spPr>
        <p:txBody>
          <a:bodyPr wrap="square" anchor="ctr" lIns="0" rIns="0" tIns="0" bIns="0">
            <a:normAutofit/>
          </a:bodyPr>
          <a:lstStyle/>
          <a:p>
            <a:pPr algn="l">
              <a:lnSpc>
                <a:spcPct val="105000"/>
              </a:lnSpc>
              <a:spcBef>
                <a:spcPts val="0"/>
              </a:spcBef>
            </a:pPr>
            <a:r>
              <a:rPr sz="1050" b="1" i="0">
                <a:solidFill>
                  <a:srgbClr val="FFFFFF"/>
                </a:solidFill>
                <a:latin typeface="Calibri"/>
              </a:rPr>
              <a:t>Sprint
(Wks 1–8)</a:t>
            </a:r>
          </a:p>
        </p:txBody>
      </p:sp>
      <p:sp>
        <p:nvSpPr>
          <p:cNvPr id="13" name="Rectangle 12"/>
          <p:cNvSpPr/>
          <p:nvPr/>
        </p:nvSpPr>
        <p:spPr>
          <a:xfrm>
            <a:off x="5623560" y="1572768"/>
            <a:ext cx="1691640" cy="347472"/>
          </a:xfrm>
          <a:prstGeom prst="rect">
            <a:avLst/>
          </a:prstGeom>
          <a:solidFill>
            <a:srgbClr val="0A162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696712" y="1618488"/>
            <a:ext cx="1545336" cy="301752"/>
          </a:xfrm>
          <a:prstGeom prst="rect">
            <a:avLst/>
          </a:prstGeom>
          <a:noFill/>
        </p:spPr>
        <p:txBody>
          <a:bodyPr wrap="square" anchor="ctr" lIns="0" rIns="0" tIns="0" bIns="0">
            <a:normAutofit/>
          </a:bodyPr>
          <a:lstStyle/>
          <a:p>
            <a:pPr algn="l">
              <a:lnSpc>
                <a:spcPct val="105000"/>
              </a:lnSpc>
              <a:spcBef>
                <a:spcPts val="0"/>
              </a:spcBef>
            </a:pPr>
            <a:r>
              <a:rPr sz="1050" b="1" i="0">
                <a:solidFill>
                  <a:srgbClr val="FFFFFF"/>
                </a:solidFill>
                <a:latin typeface="Calibri"/>
              </a:rPr>
              <a:t>Transformation
Yr 1 (M 3–12)</a:t>
            </a:r>
          </a:p>
        </p:txBody>
      </p:sp>
      <p:sp>
        <p:nvSpPr>
          <p:cNvPr id="15" name="Rectangle 14"/>
          <p:cNvSpPr/>
          <p:nvPr/>
        </p:nvSpPr>
        <p:spPr>
          <a:xfrm>
            <a:off x="7315200" y="1572768"/>
            <a:ext cx="1828800" cy="347472"/>
          </a:xfrm>
          <a:prstGeom prst="rect">
            <a:avLst/>
          </a:prstGeom>
          <a:solidFill>
            <a:srgbClr val="0A162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88352" y="1618488"/>
            <a:ext cx="1682496" cy="301752"/>
          </a:xfrm>
          <a:prstGeom prst="rect">
            <a:avLst/>
          </a:prstGeom>
          <a:noFill/>
        </p:spPr>
        <p:txBody>
          <a:bodyPr wrap="square" anchor="ctr" lIns="0" rIns="0" tIns="0" bIns="0">
            <a:normAutofit/>
          </a:bodyPr>
          <a:lstStyle/>
          <a:p>
            <a:pPr algn="l">
              <a:lnSpc>
                <a:spcPct val="105000"/>
              </a:lnSpc>
              <a:spcBef>
                <a:spcPts val="0"/>
              </a:spcBef>
            </a:pPr>
            <a:r>
              <a:rPr sz="1050" b="1" i="0">
                <a:solidFill>
                  <a:srgbClr val="FFFFFF"/>
                </a:solidFill>
                <a:latin typeface="Calibri"/>
              </a:rPr>
              <a:t>Transformation
Yr 2 (M 12–24)</a:t>
            </a:r>
          </a:p>
        </p:txBody>
      </p:sp>
      <p:sp>
        <p:nvSpPr>
          <p:cNvPr id="17" name="Rectangle 16"/>
          <p:cNvSpPr/>
          <p:nvPr/>
        </p:nvSpPr>
        <p:spPr>
          <a:xfrm>
            <a:off x="9144000" y="1572768"/>
            <a:ext cx="2468880" cy="347472"/>
          </a:xfrm>
          <a:prstGeom prst="rect">
            <a:avLst/>
          </a:prstGeom>
          <a:solidFill>
            <a:srgbClr val="0A162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217152" y="1618488"/>
            <a:ext cx="2322576" cy="301752"/>
          </a:xfrm>
          <a:prstGeom prst="rect">
            <a:avLst/>
          </a:prstGeom>
          <a:noFill/>
        </p:spPr>
        <p:txBody>
          <a:bodyPr wrap="square" anchor="ctr" lIns="0" rIns="0" tIns="0" bIns="0">
            <a:normAutofit/>
          </a:bodyPr>
          <a:lstStyle/>
          <a:p>
            <a:pPr algn="l">
              <a:lnSpc>
                <a:spcPct val="105000"/>
              </a:lnSpc>
              <a:spcBef>
                <a:spcPts val="0"/>
              </a:spcBef>
            </a:pPr>
            <a:r>
              <a:rPr sz="1050" b="1" i="0">
                <a:solidFill>
                  <a:srgbClr val="FFFFFF"/>
                </a:solidFill>
                <a:latin typeface="Calibri"/>
              </a:rPr>
              <a:t>Strategic
Partnership</a:t>
            </a:r>
          </a:p>
        </p:txBody>
      </p:sp>
      <p:sp>
        <p:nvSpPr>
          <p:cNvPr id="19" name="Rectangle 18"/>
          <p:cNvSpPr/>
          <p:nvPr/>
        </p:nvSpPr>
        <p:spPr>
          <a:xfrm>
            <a:off x="548640" y="1920240"/>
            <a:ext cx="2377440" cy="347472"/>
          </a:xfrm>
          <a:prstGeom prst="rect">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 y="1965960"/>
            <a:ext cx="2231136" cy="301752"/>
          </a:xfrm>
          <a:prstGeom prst="rect">
            <a:avLst/>
          </a:prstGeom>
          <a:noFill/>
        </p:spPr>
        <p:txBody>
          <a:bodyPr wrap="square" anchor="ctr" lIns="0" rIns="0" tIns="0" bIns="0">
            <a:normAutofit/>
          </a:bodyPr>
          <a:lstStyle/>
          <a:p>
            <a:pPr algn="l">
              <a:lnSpc>
                <a:spcPct val="105000"/>
              </a:lnSpc>
              <a:spcBef>
                <a:spcPts val="0"/>
              </a:spcBef>
            </a:pPr>
            <a:r>
              <a:rPr sz="950" b="0" i="0">
                <a:solidFill>
                  <a:srgbClr val="1B2B3C"/>
                </a:solidFill>
                <a:latin typeface="Calibri"/>
              </a:rPr>
              <a:t>CASAN Framework</a:t>
            </a:r>
          </a:p>
        </p:txBody>
      </p:sp>
      <p:sp>
        <p:nvSpPr>
          <p:cNvPr id="21" name="Rectangle 20"/>
          <p:cNvSpPr/>
          <p:nvPr/>
        </p:nvSpPr>
        <p:spPr>
          <a:xfrm>
            <a:off x="2926080" y="1920240"/>
            <a:ext cx="1325880" cy="347472"/>
          </a:xfrm>
          <a:prstGeom prst="rect">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999232" y="1965960"/>
            <a:ext cx="1179576" cy="301752"/>
          </a:xfrm>
          <a:prstGeom prst="rect">
            <a:avLst/>
          </a:prstGeom>
          <a:noFill/>
        </p:spPr>
        <p:txBody>
          <a:bodyPr wrap="square" anchor="ctr" lIns="0" rIns="0" tIns="0" bIns="0">
            <a:normAutofit/>
          </a:bodyPr>
          <a:lstStyle/>
          <a:p>
            <a:pPr algn="l">
              <a:lnSpc>
                <a:spcPct val="105000"/>
              </a:lnSpc>
              <a:spcBef>
                <a:spcPts val="0"/>
              </a:spcBef>
            </a:pPr>
            <a:r>
              <a:rPr sz="950" b="0" i="0">
                <a:solidFill>
                  <a:srgbClr val="1B2B3C"/>
                </a:solidFill>
                <a:latin typeface="Calibri"/>
              </a:rPr>
              <a:t>MODERNIZE</a:t>
            </a:r>
          </a:p>
        </p:txBody>
      </p:sp>
      <p:sp>
        <p:nvSpPr>
          <p:cNvPr id="23" name="Rectangle 22"/>
          <p:cNvSpPr/>
          <p:nvPr/>
        </p:nvSpPr>
        <p:spPr>
          <a:xfrm>
            <a:off x="4251960" y="1920240"/>
            <a:ext cx="1371600" cy="347472"/>
          </a:xfrm>
          <a:prstGeom prst="rect">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325112" y="1965960"/>
            <a:ext cx="1225296" cy="301752"/>
          </a:xfrm>
          <a:prstGeom prst="rect">
            <a:avLst/>
          </a:prstGeom>
          <a:noFill/>
        </p:spPr>
        <p:txBody>
          <a:bodyPr wrap="square" anchor="ctr" lIns="0" rIns="0" tIns="0" bIns="0">
            <a:normAutofit/>
          </a:bodyPr>
          <a:lstStyle/>
          <a:p>
            <a:pPr algn="l">
              <a:lnSpc>
                <a:spcPct val="105000"/>
              </a:lnSpc>
              <a:spcBef>
                <a:spcPts val="0"/>
              </a:spcBef>
            </a:pPr>
            <a:r>
              <a:rPr sz="950" b="0" i="0">
                <a:solidFill>
                  <a:srgbClr val="1B2B3C"/>
                </a:solidFill>
                <a:latin typeface="Calibri"/>
              </a:rPr>
              <a:t>Full assessment</a:t>
            </a:r>
          </a:p>
        </p:txBody>
      </p:sp>
      <p:sp>
        <p:nvSpPr>
          <p:cNvPr id="25" name="Rectangle 24"/>
          <p:cNvSpPr/>
          <p:nvPr/>
        </p:nvSpPr>
        <p:spPr>
          <a:xfrm>
            <a:off x="5623560" y="1920240"/>
            <a:ext cx="1691640" cy="347472"/>
          </a:xfrm>
          <a:prstGeom prst="rect">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696712" y="1965960"/>
            <a:ext cx="1545336" cy="301752"/>
          </a:xfrm>
          <a:prstGeom prst="rect">
            <a:avLst/>
          </a:prstGeom>
          <a:noFill/>
        </p:spPr>
        <p:txBody>
          <a:bodyPr wrap="square" anchor="ctr" lIns="0" rIns="0" tIns="0" bIns="0">
            <a:normAutofit/>
          </a:bodyPr>
          <a:lstStyle/>
          <a:p>
            <a:pPr algn="l">
              <a:lnSpc>
                <a:spcPct val="105000"/>
              </a:lnSpc>
              <a:spcBef>
                <a:spcPts val="0"/>
              </a:spcBef>
            </a:pPr>
            <a:r>
              <a:rPr sz="950" b="0" i="0">
                <a:solidFill>
                  <a:srgbClr val="1B2B3C"/>
                </a:solidFill>
                <a:latin typeface="Calibri"/>
              </a:rPr>
              <a:t>Ongoing governance</a:t>
            </a:r>
          </a:p>
        </p:txBody>
      </p:sp>
      <p:sp>
        <p:nvSpPr>
          <p:cNvPr id="27" name="Rectangle 26"/>
          <p:cNvSpPr/>
          <p:nvPr/>
        </p:nvSpPr>
        <p:spPr>
          <a:xfrm>
            <a:off x="7315200" y="1920240"/>
            <a:ext cx="1828800" cy="347472"/>
          </a:xfrm>
          <a:prstGeom prst="rect">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388352" y="1965960"/>
            <a:ext cx="1682496" cy="301752"/>
          </a:xfrm>
          <a:prstGeom prst="rect">
            <a:avLst/>
          </a:prstGeom>
          <a:noFill/>
        </p:spPr>
        <p:txBody>
          <a:bodyPr wrap="square" anchor="ctr" lIns="0" rIns="0" tIns="0" bIns="0">
            <a:normAutofit/>
          </a:bodyPr>
          <a:lstStyle/>
          <a:p>
            <a:pPr algn="l">
              <a:lnSpc>
                <a:spcPct val="105000"/>
              </a:lnSpc>
              <a:spcBef>
                <a:spcPts val="0"/>
              </a:spcBef>
            </a:pPr>
            <a:r>
              <a:rPr sz="950" b="0" i="0">
                <a:solidFill>
                  <a:srgbClr val="1B2B3C"/>
                </a:solidFill>
                <a:latin typeface="Calibri"/>
              </a:rPr>
              <a:t>Continuous</a:t>
            </a:r>
          </a:p>
        </p:txBody>
      </p:sp>
      <p:sp>
        <p:nvSpPr>
          <p:cNvPr id="29" name="Rectangle 28"/>
          <p:cNvSpPr/>
          <p:nvPr/>
        </p:nvSpPr>
        <p:spPr>
          <a:xfrm>
            <a:off x="9144000" y="1920240"/>
            <a:ext cx="2468880" cy="347472"/>
          </a:xfrm>
          <a:prstGeom prst="rect">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217152" y="1965960"/>
            <a:ext cx="2322576" cy="301752"/>
          </a:xfrm>
          <a:prstGeom prst="rect">
            <a:avLst/>
          </a:prstGeom>
          <a:noFill/>
        </p:spPr>
        <p:txBody>
          <a:bodyPr wrap="square" anchor="ctr" lIns="0" rIns="0" tIns="0" bIns="0">
            <a:normAutofit/>
          </a:bodyPr>
          <a:lstStyle/>
          <a:p>
            <a:pPr algn="l">
              <a:lnSpc>
                <a:spcPct val="105000"/>
              </a:lnSpc>
              <a:spcBef>
                <a:spcPts val="0"/>
              </a:spcBef>
            </a:pPr>
            <a:r>
              <a:rPr sz="950" b="0" i="0">
                <a:solidFill>
                  <a:srgbClr val="1B2B3C"/>
                </a:solidFill>
                <a:latin typeface="Calibri"/>
              </a:rPr>
              <a:t>Embedded</a:t>
            </a:r>
          </a:p>
        </p:txBody>
      </p:sp>
      <p:sp>
        <p:nvSpPr>
          <p:cNvPr id="31" name="Rectangle 30"/>
          <p:cNvSpPr/>
          <p:nvPr/>
        </p:nvSpPr>
        <p:spPr>
          <a:xfrm>
            <a:off x="548640" y="2267712"/>
            <a:ext cx="2377440" cy="347472"/>
          </a:xfrm>
          <a:prstGeom prst="rect">
            <a:avLst/>
          </a:prstGeom>
          <a:solidFill>
            <a:srgbClr val="F4F7F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21792" y="2313432"/>
            <a:ext cx="2231136" cy="301752"/>
          </a:xfrm>
          <a:prstGeom prst="rect">
            <a:avLst/>
          </a:prstGeom>
          <a:noFill/>
        </p:spPr>
        <p:txBody>
          <a:bodyPr wrap="square" anchor="ctr" lIns="0" rIns="0" tIns="0" bIns="0">
            <a:normAutofit/>
          </a:bodyPr>
          <a:lstStyle/>
          <a:p>
            <a:pPr algn="l">
              <a:lnSpc>
                <a:spcPct val="105000"/>
              </a:lnSpc>
              <a:spcBef>
                <a:spcPts val="0"/>
              </a:spcBef>
            </a:pPr>
            <a:r>
              <a:rPr sz="950" b="0" i="0">
                <a:solidFill>
                  <a:srgbClr val="1B2B3C"/>
                </a:solidFill>
                <a:latin typeface="Calibri"/>
              </a:rPr>
              <a:t>EMT</a:t>
            </a:r>
          </a:p>
        </p:txBody>
      </p:sp>
      <p:sp>
        <p:nvSpPr>
          <p:cNvPr id="33" name="Rectangle 32"/>
          <p:cNvSpPr/>
          <p:nvPr/>
        </p:nvSpPr>
        <p:spPr>
          <a:xfrm>
            <a:off x="2926080" y="2267712"/>
            <a:ext cx="1325880" cy="347472"/>
          </a:xfrm>
          <a:prstGeom prst="rect">
            <a:avLst/>
          </a:prstGeom>
          <a:solidFill>
            <a:srgbClr val="F4F7F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999232" y="2313432"/>
            <a:ext cx="1179576" cy="301752"/>
          </a:xfrm>
          <a:prstGeom prst="rect">
            <a:avLst/>
          </a:prstGeom>
          <a:noFill/>
        </p:spPr>
        <p:txBody>
          <a:bodyPr wrap="square" anchor="ctr" lIns="0" rIns="0" tIns="0" bIns="0">
            <a:normAutofit/>
          </a:bodyPr>
          <a:lstStyle/>
          <a:p>
            <a:pPr algn="l">
              <a:lnSpc>
                <a:spcPct val="105000"/>
              </a:lnSpc>
              <a:spcBef>
                <a:spcPts val="0"/>
              </a:spcBef>
            </a:pPr>
            <a:r>
              <a:rPr sz="950" b="0" i="0">
                <a:solidFill>
                  <a:srgbClr val="1B2B3C"/>
                </a:solidFill>
                <a:latin typeface="Calibri"/>
              </a:rPr>
              <a:t>MODERNIZE</a:t>
            </a:r>
          </a:p>
        </p:txBody>
      </p:sp>
      <p:sp>
        <p:nvSpPr>
          <p:cNvPr id="35" name="Rectangle 34"/>
          <p:cNvSpPr/>
          <p:nvPr/>
        </p:nvSpPr>
        <p:spPr>
          <a:xfrm>
            <a:off x="4251960" y="2267712"/>
            <a:ext cx="1371600" cy="347472"/>
          </a:xfrm>
          <a:prstGeom prst="rect">
            <a:avLst/>
          </a:prstGeom>
          <a:solidFill>
            <a:srgbClr val="F4F7F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325112" y="2313432"/>
            <a:ext cx="1225296" cy="301752"/>
          </a:xfrm>
          <a:prstGeom prst="rect">
            <a:avLst/>
          </a:prstGeom>
          <a:noFill/>
        </p:spPr>
        <p:txBody>
          <a:bodyPr wrap="square" anchor="ctr" lIns="0" rIns="0" tIns="0" bIns="0">
            <a:normAutofit/>
          </a:bodyPr>
          <a:lstStyle/>
          <a:p>
            <a:pPr algn="l">
              <a:lnSpc>
                <a:spcPct val="105000"/>
              </a:lnSpc>
              <a:spcBef>
                <a:spcPts val="0"/>
              </a:spcBef>
            </a:pPr>
            <a:r>
              <a:rPr sz="950" b="0" i="0">
                <a:solidFill>
                  <a:srgbClr val="1B2B3C"/>
                </a:solidFill>
                <a:latin typeface="Calibri"/>
              </a:rPr>
              <a:t>Scoping</a:t>
            </a:r>
          </a:p>
        </p:txBody>
      </p:sp>
      <p:sp>
        <p:nvSpPr>
          <p:cNvPr id="37" name="Rectangle 36"/>
          <p:cNvSpPr/>
          <p:nvPr/>
        </p:nvSpPr>
        <p:spPr>
          <a:xfrm>
            <a:off x="5623560" y="2267712"/>
            <a:ext cx="1691640" cy="347472"/>
          </a:xfrm>
          <a:prstGeom prst="rect">
            <a:avLst/>
          </a:prstGeom>
          <a:solidFill>
            <a:srgbClr val="F4F7F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696712" y="2313432"/>
            <a:ext cx="1545336" cy="301752"/>
          </a:xfrm>
          <a:prstGeom prst="rect">
            <a:avLst/>
          </a:prstGeom>
          <a:noFill/>
        </p:spPr>
        <p:txBody>
          <a:bodyPr wrap="square" anchor="ctr" lIns="0" rIns="0" tIns="0" bIns="0">
            <a:normAutofit/>
          </a:bodyPr>
          <a:lstStyle/>
          <a:p>
            <a:pPr algn="l">
              <a:lnSpc>
                <a:spcPct val="105000"/>
              </a:lnSpc>
              <a:spcBef>
                <a:spcPts val="0"/>
              </a:spcBef>
            </a:pPr>
            <a:r>
              <a:rPr sz="950" b="0" i="0">
                <a:solidFill>
                  <a:srgbClr val="1B2B3C"/>
                </a:solidFill>
                <a:latin typeface="Calibri"/>
              </a:rPr>
              <a:t>Full deployment</a:t>
            </a:r>
          </a:p>
        </p:txBody>
      </p:sp>
      <p:sp>
        <p:nvSpPr>
          <p:cNvPr id="39" name="Rectangle 38"/>
          <p:cNvSpPr/>
          <p:nvPr/>
        </p:nvSpPr>
        <p:spPr>
          <a:xfrm>
            <a:off x="7315200" y="2267712"/>
            <a:ext cx="1828800" cy="347472"/>
          </a:xfrm>
          <a:prstGeom prst="rect">
            <a:avLst/>
          </a:prstGeom>
          <a:solidFill>
            <a:srgbClr val="F4F7F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388352" y="2313432"/>
            <a:ext cx="1682496" cy="301752"/>
          </a:xfrm>
          <a:prstGeom prst="rect">
            <a:avLst/>
          </a:prstGeom>
          <a:noFill/>
        </p:spPr>
        <p:txBody>
          <a:bodyPr wrap="square" anchor="ctr" lIns="0" rIns="0" tIns="0" bIns="0">
            <a:normAutofit/>
          </a:bodyPr>
          <a:lstStyle/>
          <a:p>
            <a:pPr algn="l">
              <a:lnSpc>
                <a:spcPct val="105000"/>
              </a:lnSpc>
              <a:spcBef>
                <a:spcPts val="0"/>
              </a:spcBef>
            </a:pPr>
            <a:r>
              <a:rPr sz="950" b="0" i="0">
                <a:solidFill>
                  <a:srgbClr val="1B2B3C"/>
                </a:solidFill>
                <a:latin typeface="Calibri"/>
              </a:rPr>
              <a:t>Optimise</a:t>
            </a:r>
          </a:p>
        </p:txBody>
      </p:sp>
      <p:sp>
        <p:nvSpPr>
          <p:cNvPr id="41" name="Rectangle 40"/>
          <p:cNvSpPr/>
          <p:nvPr/>
        </p:nvSpPr>
        <p:spPr>
          <a:xfrm>
            <a:off x="9144000" y="2267712"/>
            <a:ext cx="2468880" cy="347472"/>
          </a:xfrm>
          <a:prstGeom prst="rect">
            <a:avLst/>
          </a:prstGeom>
          <a:solidFill>
            <a:srgbClr val="F4F7F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217152" y="2313432"/>
            <a:ext cx="2322576" cy="301752"/>
          </a:xfrm>
          <a:prstGeom prst="rect">
            <a:avLst/>
          </a:prstGeom>
          <a:noFill/>
        </p:spPr>
        <p:txBody>
          <a:bodyPr wrap="square" anchor="ctr" lIns="0" rIns="0" tIns="0" bIns="0">
            <a:normAutofit/>
          </a:bodyPr>
          <a:lstStyle/>
          <a:p>
            <a:pPr algn="l">
              <a:lnSpc>
                <a:spcPct val="105000"/>
              </a:lnSpc>
              <a:spcBef>
                <a:spcPts val="0"/>
              </a:spcBef>
            </a:pPr>
            <a:r>
              <a:rPr sz="950" b="0" i="0">
                <a:solidFill>
                  <a:srgbClr val="1B2B3C"/>
                </a:solidFill>
                <a:latin typeface="Calibri"/>
              </a:rPr>
              <a:t>Maintain</a:t>
            </a:r>
          </a:p>
        </p:txBody>
      </p:sp>
      <p:sp>
        <p:nvSpPr>
          <p:cNvPr id="43" name="Rectangle 42"/>
          <p:cNvSpPr/>
          <p:nvPr/>
        </p:nvSpPr>
        <p:spPr>
          <a:xfrm>
            <a:off x="548640" y="2615184"/>
            <a:ext cx="2377440" cy="347472"/>
          </a:xfrm>
          <a:prstGeom prst="rect">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21792" y="2660904"/>
            <a:ext cx="2231136" cy="301752"/>
          </a:xfrm>
          <a:prstGeom prst="rect">
            <a:avLst/>
          </a:prstGeom>
          <a:noFill/>
        </p:spPr>
        <p:txBody>
          <a:bodyPr wrap="square" anchor="ctr" lIns="0" rIns="0" tIns="0" bIns="0">
            <a:normAutofit/>
          </a:bodyPr>
          <a:lstStyle/>
          <a:p>
            <a:pPr algn="l">
              <a:lnSpc>
                <a:spcPct val="105000"/>
              </a:lnSpc>
              <a:spcBef>
                <a:spcPts val="0"/>
              </a:spcBef>
            </a:pPr>
            <a:r>
              <a:rPr sz="950" b="0" i="0">
                <a:solidFill>
                  <a:srgbClr val="1B2B3C"/>
                </a:solidFill>
                <a:latin typeface="Calibri"/>
              </a:rPr>
              <a:t>xMainframe</a:t>
            </a:r>
          </a:p>
        </p:txBody>
      </p:sp>
      <p:sp>
        <p:nvSpPr>
          <p:cNvPr id="45" name="Rectangle 44"/>
          <p:cNvSpPr/>
          <p:nvPr/>
        </p:nvSpPr>
        <p:spPr>
          <a:xfrm>
            <a:off x="2926080" y="2615184"/>
            <a:ext cx="1325880" cy="347472"/>
          </a:xfrm>
          <a:prstGeom prst="rect">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2999232" y="2660904"/>
            <a:ext cx="1179576" cy="301752"/>
          </a:xfrm>
          <a:prstGeom prst="rect">
            <a:avLst/>
          </a:prstGeom>
          <a:noFill/>
        </p:spPr>
        <p:txBody>
          <a:bodyPr wrap="square" anchor="ctr" lIns="0" rIns="0" tIns="0" bIns="0">
            <a:normAutofit/>
          </a:bodyPr>
          <a:lstStyle/>
          <a:p>
            <a:pPr algn="l">
              <a:lnSpc>
                <a:spcPct val="105000"/>
              </a:lnSpc>
              <a:spcBef>
                <a:spcPts val="0"/>
              </a:spcBef>
            </a:pPr>
            <a:r>
              <a:rPr sz="950" b="0" i="0">
                <a:solidFill>
                  <a:srgbClr val="1B2B3C"/>
                </a:solidFill>
                <a:latin typeface="Calibri"/>
              </a:rPr>
              <a:t>MODERNIZE</a:t>
            </a:r>
          </a:p>
        </p:txBody>
      </p:sp>
      <p:sp>
        <p:nvSpPr>
          <p:cNvPr id="47" name="Rectangle 46"/>
          <p:cNvSpPr/>
          <p:nvPr/>
        </p:nvSpPr>
        <p:spPr>
          <a:xfrm>
            <a:off x="4251960" y="2615184"/>
            <a:ext cx="1371600" cy="347472"/>
          </a:xfrm>
          <a:prstGeom prst="rect">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325112" y="2660904"/>
            <a:ext cx="1225296" cy="301752"/>
          </a:xfrm>
          <a:prstGeom prst="rect">
            <a:avLst/>
          </a:prstGeom>
          <a:noFill/>
        </p:spPr>
        <p:txBody>
          <a:bodyPr wrap="square" anchor="ctr" lIns="0" rIns="0" tIns="0" bIns="0">
            <a:normAutofit/>
          </a:bodyPr>
          <a:lstStyle/>
          <a:p>
            <a:pPr algn="l">
              <a:lnSpc>
                <a:spcPct val="105000"/>
              </a:lnSpc>
              <a:spcBef>
                <a:spcPts val="0"/>
              </a:spcBef>
            </a:pPr>
            <a:r>
              <a:rPr sz="950" b="0" i="0">
                <a:solidFill>
                  <a:srgbClr val="1B2B3C"/>
                </a:solidFill>
                <a:latin typeface="Calibri"/>
              </a:rPr>
              <a:t>Baseline</a:t>
            </a:r>
          </a:p>
        </p:txBody>
      </p:sp>
      <p:sp>
        <p:nvSpPr>
          <p:cNvPr id="49" name="Rectangle 48"/>
          <p:cNvSpPr/>
          <p:nvPr/>
        </p:nvSpPr>
        <p:spPr>
          <a:xfrm>
            <a:off x="5623560" y="2615184"/>
            <a:ext cx="1691640" cy="347472"/>
          </a:xfrm>
          <a:prstGeom prst="rect">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696712" y="2660904"/>
            <a:ext cx="1545336" cy="301752"/>
          </a:xfrm>
          <a:prstGeom prst="rect">
            <a:avLst/>
          </a:prstGeom>
          <a:noFill/>
        </p:spPr>
        <p:txBody>
          <a:bodyPr wrap="square" anchor="ctr" lIns="0" rIns="0" tIns="0" bIns="0">
            <a:normAutofit/>
          </a:bodyPr>
          <a:lstStyle/>
          <a:p>
            <a:pPr algn="l">
              <a:lnSpc>
                <a:spcPct val="105000"/>
              </a:lnSpc>
              <a:spcBef>
                <a:spcPts val="0"/>
              </a:spcBef>
            </a:pPr>
            <a:r>
              <a:rPr sz="950" b="0" i="0">
                <a:solidFill>
                  <a:srgbClr val="1B2B3C"/>
                </a:solidFill>
                <a:latin typeface="Calibri"/>
              </a:rPr>
              <a:t>Migration live</a:t>
            </a:r>
          </a:p>
        </p:txBody>
      </p:sp>
      <p:sp>
        <p:nvSpPr>
          <p:cNvPr id="51" name="Rectangle 50"/>
          <p:cNvSpPr/>
          <p:nvPr/>
        </p:nvSpPr>
        <p:spPr>
          <a:xfrm>
            <a:off x="7315200" y="2615184"/>
            <a:ext cx="1828800" cy="347472"/>
          </a:xfrm>
          <a:prstGeom prst="rect">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388352" y="2660904"/>
            <a:ext cx="1682496" cy="301752"/>
          </a:xfrm>
          <a:prstGeom prst="rect">
            <a:avLst/>
          </a:prstGeom>
          <a:noFill/>
        </p:spPr>
        <p:txBody>
          <a:bodyPr wrap="square" anchor="ctr" lIns="0" rIns="0" tIns="0" bIns="0">
            <a:normAutofit/>
          </a:bodyPr>
          <a:lstStyle/>
          <a:p>
            <a:pPr algn="l">
              <a:lnSpc>
                <a:spcPct val="105000"/>
              </a:lnSpc>
              <a:spcBef>
                <a:spcPts val="0"/>
              </a:spcBef>
            </a:pPr>
            <a:r>
              <a:rPr sz="950" b="0" i="0">
                <a:solidFill>
                  <a:srgbClr val="1B2B3C"/>
                </a:solidFill>
                <a:latin typeface="Calibri"/>
              </a:rPr>
              <a:t>Complete</a:t>
            </a:r>
          </a:p>
        </p:txBody>
      </p:sp>
      <p:sp>
        <p:nvSpPr>
          <p:cNvPr id="53" name="Rectangle 52"/>
          <p:cNvSpPr/>
          <p:nvPr/>
        </p:nvSpPr>
        <p:spPr>
          <a:xfrm>
            <a:off x="9144000" y="2615184"/>
            <a:ext cx="2468880" cy="347472"/>
          </a:xfrm>
          <a:prstGeom prst="rect">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9217152" y="2660904"/>
            <a:ext cx="2322576" cy="301752"/>
          </a:xfrm>
          <a:prstGeom prst="rect">
            <a:avLst/>
          </a:prstGeom>
          <a:noFill/>
        </p:spPr>
        <p:txBody>
          <a:bodyPr wrap="square" anchor="ctr" lIns="0" rIns="0" tIns="0" bIns="0">
            <a:normAutofit/>
          </a:bodyPr>
          <a:lstStyle/>
          <a:p>
            <a:pPr algn="l">
              <a:lnSpc>
                <a:spcPct val="105000"/>
              </a:lnSpc>
              <a:spcBef>
                <a:spcPts val="0"/>
              </a:spcBef>
            </a:pPr>
            <a:r>
              <a:rPr sz="950" b="0" i="0">
                <a:solidFill>
                  <a:srgbClr val="1B2B3C"/>
                </a:solidFill>
                <a:latin typeface="Calibri"/>
              </a:rPr>
              <a:t>Managed</a:t>
            </a:r>
          </a:p>
        </p:txBody>
      </p:sp>
      <p:sp>
        <p:nvSpPr>
          <p:cNvPr id="55" name="Rectangle 54"/>
          <p:cNvSpPr/>
          <p:nvPr/>
        </p:nvSpPr>
        <p:spPr>
          <a:xfrm>
            <a:off x="548640" y="2962656"/>
            <a:ext cx="2377440" cy="347472"/>
          </a:xfrm>
          <a:prstGeom prst="rect">
            <a:avLst/>
          </a:prstGeom>
          <a:solidFill>
            <a:srgbClr val="F4F7F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621792" y="3008376"/>
            <a:ext cx="2231136" cy="301752"/>
          </a:xfrm>
          <a:prstGeom prst="rect">
            <a:avLst/>
          </a:prstGeom>
          <a:noFill/>
        </p:spPr>
        <p:txBody>
          <a:bodyPr wrap="square" anchor="ctr" lIns="0" rIns="0" tIns="0" bIns="0">
            <a:normAutofit/>
          </a:bodyPr>
          <a:lstStyle/>
          <a:p>
            <a:pPr algn="l">
              <a:lnSpc>
                <a:spcPct val="105000"/>
              </a:lnSpc>
              <a:spcBef>
                <a:spcPts val="0"/>
              </a:spcBef>
            </a:pPr>
            <a:r>
              <a:rPr sz="950" b="0" i="0">
                <a:solidFill>
                  <a:srgbClr val="1B2B3C"/>
                </a:solidFill>
                <a:latin typeface="Calibri"/>
              </a:rPr>
              <a:t>CodeVista</a:t>
            </a:r>
          </a:p>
        </p:txBody>
      </p:sp>
      <p:sp>
        <p:nvSpPr>
          <p:cNvPr id="57" name="Rectangle 56"/>
          <p:cNvSpPr/>
          <p:nvPr/>
        </p:nvSpPr>
        <p:spPr>
          <a:xfrm>
            <a:off x="2926080" y="2962656"/>
            <a:ext cx="1325880" cy="347472"/>
          </a:xfrm>
          <a:prstGeom prst="rect">
            <a:avLst/>
          </a:prstGeom>
          <a:solidFill>
            <a:srgbClr val="F4F7F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2999232" y="3008376"/>
            <a:ext cx="1179576" cy="301752"/>
          </a:xfrm>
          <a:prstGeom prst="rect">
            <a:avLst/>
          </a:prstGeom>
          <a:noFill/>
        </p:spPr>
        <p:txBody>
          <a:bodyPr wrap="square" anchor="ctr" lIns="0" rIns="0" tIns="0" bIns="0">
            <a:normAutofit/>
          </a:bodyPr>
          <a:lstStyle/>
          <a:p>
            <a:pPr algn="l">
              <a:lnSpc>
                <a:spcPct val="105000"/>
              </a:lnSpc>
              <a:spcBef>
                <a:spcPts val="0"/>
              </a:spcBef>
            </a:pPr>
            <a:r>
              <a:rPr sz="950" b="0" i="0">
                <a:solidFill>
                  <a:srgbClr val="1B2B3C"/>
                </a:solidFill>
                <a:latin typeface="Calibri"/>
              </a:rPr>
              <a:t>MODERNIZE</a:t>
            </a:r>
          </a:p>
        </p:txBody>
      </p:sp>
      <p:sp>
        <p:nvSpPr>
          <p:cNvPr id="59" name="Rectangle 58"/>
          <p:cNvSpPr/>
          <p:nvPr/>
        </p:nvSpPr>
        <p:spPr>
          <a:xfrm>
            <a:off x="4251960" y="2962656"/>
            <a:ext cx="1371600" cy="347472"/>
          </a:xfrm>
          <a:prstGeom prst="rect">
            <a:avLst/>
          </a:prstGeom>
          <a:solidFill>
            <a:srgbClr val="F4F7F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4325112" y="3008376"/>
            <a:ext cx="1225296" cy="301752"/>
          </a:xfrm>
          <a:prstGeom prst="rect">
            <a:avLst/>
          </a:prstGeom>
          <a:noFill/>
        </p:spPr>
        <p:txBody>
          <a:bodyPr wrap="square" anchor="ctr" lIns="0" rIns="0" tIns="0" bIns="0">
            <a:normAutofit/>
          </a:bodyPr>
          <a:lstStyle/>
          <a:p>
            <a:pPr algn="l">
              <a:lnSpc>
                <a:spcPct val="105000"/>
              </a:lnSpc>
              <a:spcBef>
                <a:spcPts val="0"/>
              </a:spcBef>
            </a:pPr>
            <a:r>
              <a:rPr sz="950" b="0" i="0">
                <a:solidFill>
                  <a:srgbClr val="1B2B3C"/>
                </a:solidFill>
                <a:latin typeface="Calibri"/>
              </a:rPr>
              <a:t>Pilot</a:t>
            </a:r>
          </a:p>
        </p:txBody>
      </p:sp>
      <p:sp>
        <p:nvSpPr>
          <p:cNvPr id="61" name="Rectangle 60"/>
          <p:cNvSpPr/>
          <p:nvPr/>
        </p:nvSpPr>
        <p:spPr>
          <a:xfrm>
            <a:off x="5623560" y="2962656"/>
            <a:ext cx="1691640" cy="347472"/>
          </a:xfrm>
          <a:prstGeom prst="rect">
            <a:avLst/>
          </a:prstGeom>
          <a:solidFill>
            <a:srgbClr val="F4F7F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5696712" y="3008376"/>
            <a:ext cx="1545336" cy="301752"/>
          </a:xfrm>
          <a:prstGeom prst="rect">
            <a:avLst/>
          </a:prstGeom>
          <a:noFill/>
        </p:spPr>
        <p:txBody>
          <a:bodyPr wrap="square" anchor="ctr" lIns="0" rIns="0" tIns="0" bIns="0">
            <a:normAutofit/>
          </a:bodyPr>
          <a:lstStyle/>
          <a:p>
            <a:pPr algn="l">
              <a:lnSpc>
                <a:spcPct val="105000"/>
              </a:lnSpc>
              <a:spcBef>
                <a:spcPts val="0"/>
              </a:spcBef>
            </a:pPr>
            <a:r>
              <a:rPr sz="950" b="0" i="0">
                <a:solidFill>
                  <a:srgbClr val="1B2B3C"/>
                </a:solidFill>
                <a:latin typeface="Calibri"/>
              </a:rPr>
              <a:t>Full team rollout</a:t>
            </a:r>
          </a:p>
        </p:txBody>
      </p:sp>
      <p:sp>
        <p:nvSpPr>
          <p:cNvPr id="63" name="Rectangle 62"/>
          <p:cNvSpPr/>
          <p:nvPr/>
        </p:nvSpPr>
        <p:spPr>
          <a:xfrm>
            <a:off x="7315200" y="2962656"/>
            <a:ext cx="1828800" cy="347472"/>
          </a:xfrm>
          <a:prstGeom prst="rect">
            <a:avLst/>
          </a:prstGeom>
          <a:solidFill>
            <a:srgbClr val="F4F7F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7388352" y="3008376"/>
            <a:ext cx="1682496" cy="301752"/>
          </a:xfrm>
          <a:prstGeom prst="rect">
            <a:avLst/>
          </a:prstGeom>
          <a:noFill/>
        </p:spPr>
        <p:txBody>
          <a:bodyPr wrap="square" anchor="ctr" lIns="0" rIns="0" tIns="0" bIns="0">
            <a:normAutofit/>
          </a:bodyPr>
          <a:lstStyle/>
          <a:p>
            <a:pPr algn="l">
              <a:lnSpc>
                <a:spcPct val="105000"/>
              </a:lnSpc>
              <a:spcBef>
                <a:spcPts val="0"/>
              </a:spcBef>
            </a:pPr>
            <a:r>
              <a:rPr sz="950" b="0" i="0">
                <a:solidFill>
                  <a:srgbClr val="1B2B3C"/>
                </a:solidFill>
                <a:latin typeface="Calibri"/>
              </a:rPr>
              <a:t>At scale</a:t>
            </a:r>
          </a:p>
        </p:txBody>
      </p:sp>
      <p:sp>
        <p:nvSpPr>
          <p:cNvPr id="65" name="Rectangle 64"/>
          <p:cNvSpPr/>
          <p:nvPr/>
        </p:nvSpPr>
        <p:spPr>
          <a:xfrm>
            <a:off x="9144000" y="2962656"/>
            <a:ext cx="2468880" cy="347472"/>
          </a:xfrm>
          <a:prstGeom prst="rect">
            <a:avLst/>
          </a:prstGeom>
          <a:solidFill>
            <a:srgbClr val="F4F7F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9217152" y="3008376"/>
            <a:ext cx="2322576" cy="301752"/>
          </a:xfrm>
          <a:prstGeom prst="rect">
            <a:avLst/>
          </a:prstGeom>
          <a:noFill/>
        </p:spPr>
        <p:txBody>
          <a:bodyPr wrap="square" anchor="ctr" lIns="0" rIns="0" tIns="0" bIns="0">
            <a:normAutofit/>
          </a:bodyPr>
          <a:lstStyle/>
          <a:p>
            <a:pPr algn="l">
              <a:lnSpc>
                <a:spcPct val="105000"/>
              </a:lnSpc>
              <a:spcBef>
                <a:spcPts val="0"/>
              </a:spcBef>
            </a:pPr>
            <a:r>
              <a:rPr sz="950" b="0" i="0">
                <a:solidFill>
                  <a:srgbClr val="1B2B3C"/>
                </a:solidFill>
                <a:latin typeface="Calibri"/>
              </a:rPr>
              <a:t>Standard tool</a:t>
            </a:r>
          </a:p>
        </p:txBody>
      </p:sp>
      <p:sp>
        <p:nvSpPr>
          <p:cNvPr id="67" name="Rectangle 66"/>
          <p:cNvSpPr/>
          <p:nvPr/>
        </p:nvSpPr>
        <p:spPr>
          <a:xfrm>
            <a:off x="548640" y="3310128"/>
            <a:ext cx="2377440" cy="347472"/>
          </a:xfrm>
          <a:prstGeom prst="rect">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621792" y="3355848"/>
            <a:ext cx="2231136" cy="301752"/>
          </a:xfrm>
          <a:prstGeom prst="rect">
            <a:avLst/>
          </a:prstGeom>
          <a:noFill/>
        </p:spPr>
        <p:txBody>
          <a:bodyPr wrap="square" anchor="ctr" lIns="0" rIns="0" tIns="0" bIns="0">
            <a:normAutofit/>
          </a:bodyPr>
          <a:lstStyle/>
          <a:p>
            <a:pPr algn="l">
              <a:lnSpc>
                <a:spcPct val="105000"/>
              </a:lnSpc>
              <a:spcBef>
                <a:spcPts val="0"/>
              </a:spcBef>
            </a:pPr>
            <a:r>
              <a:rPr sz="950" b="0" i="0">
                <a:solidFill>
                  <a:srgbClr val="1B2B3C"/>
                </a:solidFill>
                <a:latin typeface="Calibri"/>
              </a:rPr>
              <a:t>Data Platform</a:t>
            </a:r>
          </a:p>
        </p:txBody>
      </p:sp>
      <p:sp>
        <p:nvSpPr>
          <p:cNvPr id="69" name="Rectangle 68"/>
          <p:cNvSpPr/>
          <p:nvPr/>
        </p:nvSpPr>
        <p:spPr>
          <a:xfrm>
            <a:off x="2926080" y="3310128"/>
            <a:ext cx="1325880" cy="347472"/>
          </a:xfrm>
          <a:prstGeom prst="rect">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2999232" y="3355848"/>
            <a:ext cx="1179576" cy="301752"/>
          </a:xfrm>
          <a:prstGeom prst="rect">
            <a:avLst/>
          </a:prstGeom>
          <a:noFill/>
        </p:spPr>
        <p:txBody>
          <a:bodyPr wrap="square" anchor="ctr" lIns="0" rIns="0" tIns="0" bIns="0">
            <a:normAutofit/>
          </a:bodyPr>
          <a:lstStyle/>
          <a:p>
            <a:pPr algn="l">
              <a:lnSpc>
                <a:spcPct val="105000"/>
              </a:lnSpc>
              <a:spcBef>
                <a:spcPts val="0"/>
              </a:spcBef>
            </a:pPr>
            <a:r>
              <a:rPr sz="950" b="0" i="0">
                <a:solidFill>
                  <a:srgbClr val="1B2B3C"/>
                </a:solidFill>
                <a:latin typeface="Calibri"/>
              </a:rPr>
              <a:t>MODERNIZE</a:t>
            </a:r>
          </a:p>
        </p:txBody>
      </p:sp>
      <p:sp>
        <p:nvSpPr>
          <p:cNvPr id="71" name="Rectangle 70"/>
          <p:cNvSpPr/>
          <p:nvPr/>
        </p:nvSpPr>
        <p:spPr>
          <a:xfrm>
            <a:off x="4251960" y="3310128"/>
            <a:ext cx="1371600" cy="347472"/>
          </a:xfrm>
          <a:prstGeom prst="rect">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4325112" y="3355848"/>
            <a:ext cx="1225296" cy="301752"/>
          </a:xfrm>
          <a:prstGeom prst="rect">
            <a:avLst/>
          </a:prstGeom>
          <a:noFill/>
        </p:spPr>
        <p:txBody>
          <a:bodyPr wrap="square" anchor="ctr" lIns="0" rIns="0" tIns="0" bIns="0">
            <a:normAutofit/>
          </a:bodyPr>
          <a:lstStyle/>
          <a:p>
            <a:pPr algn="l">
              <a:lnSpc>
                <a:spcPct val="105000"/>
              </a:lnSpc>
              <a:spcBef>
                <a:spcPts val="0"/>
              </a:spcBef>
            </a:pPr>
            <a:r>
              <a:rPr sz="950" b="0" i="0">
                <a:solidFill>
                  <a:srgbClr val="1B2B3C"/>
                </a:solidFill>
                <a:latin typeface="Calibri"/>
              </a:rPr>
              <a:t>Audit</a:t>
            </a:r>
          </a:p>
        </p:txBody>
      </p:sp>
      <p:sp>
        <p:nvSpPr>
          <p:cNvPr id="73" name="Rectangle 72"/>
          <p:cNvSpPr/>
          <p:nvPr/>
        </p:nvSpPr>
        <p:spPr>
          <a:xfrm>
            <a:off x="5623560" y="3310128"/>
            <a:ext cx="1691640" cy="347472"/>
          </a:xfrm>
          <a:prstGeom prst="rect">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5696712" y="3355848"/>
            <a:ext cx="1545336" cy="301752"/>
          </a:xfrm>
          <a:prstGeom prst="rect">
            <a:avLst/>
          </a:prstGeom>
          <a:noFill/>
        </p:spPr>
        <p:txBody>
          <a:bodyPr wrap="square" anchor="ctr" lIns="0" rIns="0" tIns="0" bIns="0">
            <a:normAutofit/>
          </a:bodyPr>
          <a:lstStyle/>
          <a:p>
            <a:pPr algn="l">
              <a:lnSpc>
                <a:spcPct val="105000"/>
              </a:lnSpc>
              <a:spcBef>
                <a:spcPts val="0"/>
              </a:spcBef>
            </a:pPr>
            <a:r>
              <a:rPr sz="950" b="0" i="0">
                <a:solidFill>
                  <a:srgbClr val="1B2B3C"/>
                </a:solidFill>
                <a:latin typeface="Calibri"/>
              </a:rPr>
              <a:t>Build</a:t>
            </a:r>
          </a:p>
        </p:txBody>
      </p:sp>
      <p:sp>
        <p:nvSpPr>
          <p:cNvPr id="75" name="Rectangle 74"/>
          <p:cNvSpPr/>
          <p:nvPr/>
        </p:nvSpPr>
        <p:spPr>
          <a:xfrm>
            <a:off x="7315200" y="3310128"/>
            <a:ext cx="1828800" cy="347472"/>
          </a:xfrm>
          <a:prstGeom prst="rect">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7388352" y="3355848"/>
            <a:ext cx="1682496" cy="301752"/>
          </a:xfrm>
          <a:prstGeom prst="rect">
            <a:avLst/>
          </a:prstGeom>
          <a:noFill/>
        </p:spPr>
        <p:txBody>
          <a:bodyPr wrap="square" anchor="ctr" lIns="0" rIns="0" tIns="0" bIns="0">
            <a:normAutofit/>
          </a:bodyPr>
          <a:lstStyle/>
          <a:p>
            <a:pPr algn="l">
              <a:lnSpc>
                <a:spcPct val="105000"/>
              </a:lnSpc>
              <a:spcBef>
                <a:spcPts val="0"/>
              </a:spcBef>
            </a:pPr>
            <a:r>
              <a:rPr sz="950" b="0" i="0">
                <a:solidFill>
                  <a:srgbClr val="1B2B3C"/>
                </a:solidFill>
                <a:latin typeface="Calibri"/>
              </a:rPr>
              <a:t>Expand</a:t>
            </a:r>
          </a:p>
        </p:txBody>
      </p:sp>
      <p:sp>
        <p:nvSpPr>
          <p:cNvPr id="77" name="Rectangle 76"/>
          <p:cNvSpPr/>
          <p:nvPr/>
        </p:nvSpPr>
        <p:spPr>
          <a:xfrm>
            <a:off x="9144000" y="3310128"/>
            <a:ext cx="2468880" cy="347472"/>
          </a:xfrm>
          <a:prstGeom prst="rect">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9217152" y="3355848"/>
            <a:ext cx="2322576" cy="301752"/>
          </a:xfrm>
          <a:prstGeom prst="rect">
            <a:avLst/>
          </a:prstGeom>
          <a:noFill/>
        </p:spPr>
        <p:txBody>
          <a:bodyPr wrap="square" anchor="ctr" lIns="0" rIns="0" tIns="0" bIns="0">
            <a:normAutofit/>
          </a:bodyPr>
          <a:lstStyle/>
          <a:p>
            <a:pPr algn="l">
              <a:lnSpc>
                <a:spcPct val="105000"/>
              </a:lnSpc>
              <a:spcBef>
                <a:spcPts val="0"/>
              </a:spcBef>
            </a:pPr>
            <a:r>
              <a:rPr sz="950" b="0" i="0">
                <a:solidFill>
                  <a:srgbClr val="1B2B3C"/>
                </a:solidFill>
                <a:latin typeface="Calibri"/>
              </a:rPr>
              <a:t>Managed</a:t>
            </a:r>
          </a:p>
        </p:txBody>
      </p:sp>
      <p:sp>
        <p:nvSpPr>
          <p:cNvPr id="79" name="Rectangle 78"/>
          <p:cNvSpPr/>
          <p:nvPr/>
        </p:nvSpPr>
        <p:spPr>
          <a:xfrm>
            <a:off x="548640" y="3657600"/>
            <a:ext cx="2377440" cy="347472"/>
          </a:xfrm>
          <a:prstGeom prst="rect">
            <a:avLst/>
          </a:prstGeom>
          <a:solidFill>
            <a:srgbClr val="F4F7F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621792" y="3703320"/>
            <a:ext cx="2231136" cy="301752"/>
          </a:xfrm>
          <a:prstGeom prst="rect">
            <a:avLst/>
          </a:prstGeom>
          <a:noFill/>
        </p:spPr>
        <p:txBody>
          <a:bodyPr wrap="square" anchor="ctr" lIns="0" rIns="0" tIns="0" bIns="0">
            <a:normAutofit/>
          </a:bodyPr>
          <a:lstStyle/>
          <a:p>
            <a:pPr algn="l">
              <a:lnSpc>
                <a:spcPct val="105000"/>
              </a:lnSpc>
              <a:spcBef>
                <a:spcPts val="0"/>
              </a:spcBef>
            </a:pPr>
            <a:r>
              <a:rPr sz="950" b="0" i="0">
                <a:solidFill>
                  <a:srgbClr val="1B2B3C"/>
                </a:solidFill>
                <a:latin typeface="Calibri"/>
              </a:rPr>
              <a:t>FleziPT</a:t>
            </a:r>
          </a:p>
        </p:txBody>
      </p:sp>
      <p:sp>
        <p:nvSpPr>
          <p:cNvPr id="81" name="Rectangle 80"/>
          <p:cNvSpPr/>
          <p:nvPr/>
        </p:nvSpPr>
        <p:spPr>
          <a:xfrm>
            <a:off x="2926080" y="3657600"/>
            <a:ext cx="1325880" cy="347472"/>
          </a:xfrm>
          <a:prstGeom prst="rect">
            <a:avLst/>
          </a:prstGeom>
          <a:solidFill>
            <a:srgbClr val="F4F7F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2999232" y="3703320"/>
            <a:ext cx="1179576" cy="301752"/>
          </a:xfrm>
          <a:prstGeom prst="rect">
            <a:avLst/>
          </a:prstGeom>
          <a:noFill/>
        </p:spPr>
        <p:txBody>
          <a:bodyPr wrap="square" anchor="ctr" lIns="0" rIns="0" tIns="0" bIns="0">
            <a:normAutofit/>
          </a:bodyPr>
          <a:lstStyle/>
          <a:p>
            <a:pPr algn="l">
              <a:lnSpc>
                <a:spcPct val="105000"/>
              </a:lnSpc>
              <a:spcBef>
                <a:spcPts val="0"/>
              </a:spcBef>
            </a:pPr>
            <a:r>
              <a:rPr sz="950" b="0" i="0">
                <a:solidFill>
                  <a:srgbClr val="1B2B3C"/>
                </a:solidFill>
                <a:latin typeface="Calibri"/>
              </a:rPr>
              <a:t>ACTIVATE</a:t>
            </a:r>
          </a:p>
        </p:txBody>
      </p:sp>
      <p:sp>
        <p:nvSpPr>
          <p:cNvPr id="83" name="Rectangle 82"/>
          <p:cNvSpPr/>
          <p:nvPr/>
        </p:nvSpPr>
        <p:spPr>
          <a:xfrm>
            <a:off x="4251960" y="3657600"/>
            <a:ext cx="1371600" cy="347472"/>
          </a:xfrm>
          <a:prstGeom prst="rect">
            <a:avLst/>
          </a:prstGeom>
          <a:solidFill>
            <a:srgbClr val="F4F7F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4325112" y="3703320"/>
            <a:ext cx="1225296" cy="301752"/>
          </a:xfrm>
          <a:prstGeom prst="rect">
            <a:avLst/>
          </a:prstGeom>
          <a:noFill/>
        </p:spPr>
        <p:txBody>
          <a:bodyPr wrap="square" anchor="ctr" lIns="0" rIns="0" tIns="0" bIns="0">
            <a:normAutofit/>
          </a:bodyPr>
          <a:lstStyle/>
          <a:p>
            <a:pPr algn="l">
              <a:lnSpc>
                <a:spcPct val="105000"/>
              </a:lnSpc>
              <a:spcBef>
                <a:spcPts val="0"/>
              </a:spcBef>
            </a:pPr>
            <a:r>
              <a:rPr sz="950" b="0" i="0">
                <a:solidFill>
                  <a:srgbClr val="1B2B3C"/>
                </a:solidFill>
                <a:latin typeface="Calibri"/>
              </a:rPr>
              <a:t>PoC</a:t>
            </a:r>
          </a:p>
        </p:txBody>
      </p:sp>
      <p:sp>
        <p:nvSpPr>
          <p:cNvPr id="85" name="Rectangle 84"/>
          <p:cNvSpPr/>
          <p:nvPr/>
        </p:nvSpPr>
        <p:spPr>
          <a:xfrm>
            <a:off x="5623560" y="3657600"/>
            <a:ext cx="1691640" cy="347472"/>
          </a:xfrm>
          <a:prstGeom prst="rect">
            <a:avLst/>
          </a:prstGeom>
          <a:solidFill>
            <a:srgbClr val="F4F7F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5696712" y="3703320"/>
            <a:ext cx="1545336" cy="301752"/>
          </a:xfrm>
          <a:prstGeom prst="rect">
            <a:avLst/>
          </a:prstGeom>
          <a:noFill/>
        </p:spPr>
        <p:txBody>
          <a:bodyPr wrap="square" anchor="ctr" lIns="0" rIns="0" tIns="0" bIns="0">
            <a:normAutofit/>
          </a:bodyPr>
          <a:lstStyle/>
          <a:p>
            <a:pPr algn="l">
              <a:lnSpc>
                <a:spcPct val="105000"/>
              </a:lnSpc>
              <a:spcBef>
                <a:spcPts val="0"/>
              </a:spcBef>
            </a:pPr>
            <a:r>
              <a:rPr sz="950" b="0" i="0">
                <a:solidFill>
                  <a:srgbClr val="1B2B3C"/>
                </a:solidFill>
                <a:latin typeface="Calibri"/>
              </a:rPr>
              <a:t>2–3 use cases live</a:t>
            </a:r>
          </a:p>
        </p:txBody>
      </p:sp>
      <p:sp>
        <p:nvSpPr>
          <p:cNvPr id="87" name="Rectangle 86"/>
          <p:cNvSpPr/>
          <p:nvPr/>
        </p:nvSpPr>
        <p:spPr>
          <a:xfrm>
            <a:off x="7315200" y="3657600"/>
            <a:ext cx="1828800" cy="347472"/>
          </a:xfrm>
          <a:prstGeom prst="rect">
            <a:avLst/>
          </a:prstGeom>
          <a:solidFill>
            <a:srgbClr val="F4F7F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7388352" y="3703320"/>
            <a:ext cx="1682496" cy="301752"/>
          </a:xfrm>
          <a:prstGeom prst="rect">
            <a:avLst/>
          </a:prstGeom>
          <a:noFill/>
        </p:spPr>
        <p:txBody>
          <a:bodyPr wrap="square" anchor="ctr" lIns="0" rIns="0" tIns="0" bIns="0">
            <a:normAutofit/>
          </a:bodyPr>
          <a:lstStyle/>
          <a:p>
            <a:pPr algn="l">
              <a:lnSpc>
                <a:spcPct val="105000"/>
              </a:lnSpc>
              <a:spcBef>
                <a:spcPts val="0"/>
              </a:spcBef>
            </a:pPr>
            <a:r>
              <a:rPr sz="950" b="0" i="0">
                <a:solidFill>
                  <a:srgbClr val="1B2B3C"/>
                </a:solidFill>
                <a:latin typeface="Calibri"/>
              </a:rPr>
              <a:t>Scale + new cases</a:t>
            </a:r>
          </a:p>
        </p:txBody>
      </p:sp>
      <p:sp>
        <p:nvSpPr>
          <p:cNvPr id="89" name="Rectangle 88"/>
          <p:cNvSpPr/>
          <p:nvPr/>
        </p:nvSpPr>
        <p:spPr>
          <a:xfrm>
            <a:off x="9144000" y="3657600"/>
            <a:ext cx="2468880" cy="347472"/>
          </a:xfrm>
          <a:prstGeom prst="rect">
            <a:avLst/>
          </a:prstGeom>
          <a:solidFill>
            <a:srgbClr val="F4F7F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9217152" y="3703320"/>
            <a:ext cx="2322576" cy="301752"/>
          </a:xfrm>
          <a:prstGeom prst="rect">
            <a:avLst/>
          </a:prstGeom>
          <a:noFill/>
        </p:spPr>
        <p:txBody>
          <a:bodyPr wrap="square" anchor="ctr" lIns="0" rIns="0" tIns="0" bIns="0">
            <a:normAutofit/>
          </a:bodyPr>
          <a:lstStyle/>
          <a:p>
            <a:pPr algn="l">
              <a:lnSpc>
                <a:spcPct val="105000"/>
              </a:lnSpc>
              <a:spcBef>
                <a:spcPts val="0"/>
              </a:spcBef>
            </a:pPr>
            <a:r>
              <a:rPr sz="950" b="0" i="0">
                <a:solidFill>
                  <a:srgbClr val="1B2B3C"/>
                </a:solidFill>
                <a:latin typeface="Calibri"/>
              </a:rPr>
              <a:t>Platform standard</a:t>
            </a:r>
          </a:p>
        </p:txBody>
      </p:sp>
      <p:sp>
        <p:nvSpPr>
          <p:cNvPr id="91" name="Rectangle 90"/>
          <p:cNvSpPr/>
          <p:nvPr/>
        </p:nvSpPr>
        <p:spPr>
          <a:xfrm>
            <a:off x="548640" y="4005072"/>
            <a:ext cx="2377440" cy="347472"/>
          </a:xfrm>
          <a:prstGeom prst="rect">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621792" y="4050792"/>
            <a:ext cx="2231136" cy="301752"/>
          </a:xfrm>
          <a:prstGeom prst="rect">
            <a:avLst/>
          </a:prstGeom>
          <a:noFill/>
        </p:spPr>
        <p:txBody>
          <a:bodyPr wrap="square" anchor="ctr" lIns="0" rIns="0" tIns="0" bIns="0">
            <a:normAutofit/>
          </a:bodyPr>
          <a:lstStyle/>
          <a:p>
            <a:pPr algn="l">
              <a:lnSpc>
                <a:spcPct val="105000"/>
              </a:lnSpc>
              <a:spcBef>
                <a:spcPts val="0"/>
              </a:spcBef>
            </a:pPr>
            <a:r>
              <a:rPr sz="950" b="0" i="0">
                <a:solidFill>
                  <a:srgbClr val="1B2B3C"/>
                </a:solidFill>
                <a:latin typeface="Calibri"/>
              </a:rPr>
              <a:t>KnowMed.ai / V.Factory</a:t>
            </a:r>
          </a:p>
        </p:txBody>
      </p:sp>
      <p:sp>
        <p:nvSpPr>
          <p:cNvPr id="93" name="Rectangle 92"/>
          <p:cNvSpPr/>
          <p:nvPr/>
        </p:nvSpPr>
        <p:spPr>
          <a:xfrm>
            <a:off x="2926080" y="4005072"/>
            <a:ext cx="1325880" cy="347472"/>
          </a:xfrm>
          <a:prstGeom prst="rect">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2999232" y="4050792"/>
            <a:ext cx="1179576" cy="301752"/>
          </a:xfrm>
          <a:prstGeom prst="rect">
            <a:avLst/>
          </a:prstGeom>
          <a:noFill/>
        </p:spPr>
        <p:txBody>
          <a:bodyPr wrap="square" anchor="ctr" lIns="0" rIns="0" tIns="0" bIns="0">
            <a:normAutofit/>
          </a:bodyPr>
          <a:lstStyle/>
          <a:p>
            <a:pPr algn="l">
              <a:lnSpc>
                <a:spcPct val="105000"/>
              </a:lnSpc>
              <a:spcBef>
                <a:spcPts val="0"/>
              </a:spcBef>
            </a:pPr>
            <a:r>
              <a:rPr sz="950" b="0" i="0">
                <a:solidFill>
                  <a:srgbClr val="1B2B3C"/>
                </a:solidFill>
                <a:latin typeface="Calibri"/>
              </a:rPr>
              <a:t>ACTIVATE</a:t>
            </a:r>
          </a:p>
        </p:txBody>
      </p:sp>
      <p:sp>
        <p:nvSpPr>
          <p:cNvPr id="95" name="Rectangle 94"/>
          <p:cNvSpPr/>
          <p:nvPr/>
        </p:nvSpPr>
        <p:spPr>
          <a:xfrm>
            <a:off x="4251960" y="4005072"/>
            <a:ext cx="1371600" cy="347472"/>
          </a:xfrm>
          <a:prstGeom prst="rect">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4325112" y="4050792"/>
            <a:ext cx="1225296" cy="301752"/>
          </a:xfrm>
          <a:prstGeom prst="rect">
            <a:avLst/>
          </a:prstGeom>
          <a:noFill/>
        </p:spPr>
        <p:txBody>
          <a:bodyPr wrap="square" anchor="ctr" lIns="0" rIns="0" tIns="0" bIns="0">
            <a:normAutofit/>
          </a:bodyPr>
          <a:lstStyle/>
          <a:p>
            <a:pPr algn="l">
              <a:lnSpc>
                <a:spcPct val="105000"/>
              </a:lnSpc>
              <a:spcBef>
                <a:spcPts val="0"/>
              </a:spcBef>
            </a:pPr>
            <a:r>
              <a:rPr sz="950" b="0" i="0">
                <a:solidFill>
                  <a:srgbClr val="1B2B3C"/>
                </a:solidFill>
                <a:latin typeface="Calibri"/>
              </a:rPr>
              <a:t>Scope</a:t>
            </a:r>
          </a:p>
        </p:txBody>
      </p:sp>
      <p:sp>
        <p:nvSpPr>
          <p:cNvPr id="97" name="Rectangle 96"/>
          <p:cNvSpPr/>
          <p:nvPr/>
        </p:nvSpPr>
        <p:spPr>
          <a:xfrm>
            <a:off x="5623560" y="4005072"/>
            <a:ext cx="1691640" cy="347472"/>
          </a:xfrm>
          <a:prstGeom prst="rect">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5696712" y="4050792"/>
            <a:ext cx="1545336" cy="301752"/>
          </a:xfrm>
          <a:prstGeom prst="rect">
            <a:avLst/>
          </a:prstGeom>
          <a:noFill/>
        </p:spPr>
        <p:txBody>
          <a:bodyPr wrap="square" anchor="ctr" lIns="0" rIns="0" tIns="0" bIns="0">
            <a:normAutofit/>
          </a:bodyPr>
          <a:lstStyle/>
          <a:p>
            <a:pPr algn="l">
              <a:lnSpc>
                <a:spcPct val="105000"/>
              </a:lnSpc>
              <a:spcBef>
                <a:spcPts val="0"/>
              </a:spcBef>
            </a:pPr>
            <a:r>
              <a:rPr sz="950" b="0" i="0">
                <a:solidFill>
                  <a:srgbClr val="1B2B3C"/>
                </a:solidFill>
                <a:latin typeface="Calibri"/>
              </a:rPr>
              <a:t>First vertical live</a:t>
            </a:r>
          </a:p>
        </p:txBody>
      </p:sp>
      <p:sp>
        <p:nvSpPr>
          <p:cNvPr id="99" name="Rectangle 98"/>
          <p:cNvSpPr/>
          <p:nvPr/>
        </p:nvSpPr>
        <p:spPr>
          <a:xfrm>
            <a:off x="7315200" y="4005072"/>
            <a:ext cx="1828800" cy="347472"/>
          </a:xfrm>
          <a:prstGeom prst="rect">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7388352" y="4050792"/>
            <a:ext cx="1682496" cy="301752"/>
          </a:xfrm>
          <a:prstGeom prst="rect">
            <a:avLst/>
          </a:prstGeom>
          <a:noFill/>
        </p:spPr>
        <p:txBody>
          <a:bodyPr wrap="square" anchor="ctr" lIns="0" rIns="0" tIns="0" bIns="0">
            <a:normAutofit/>
          </a:bodyPr>
          <a:lstStyle/>
          <a:p>
            <a:pPr algn="l">
              <a:lnSpc>
                <a:spcPct val="105000"/>
              </a:lnSpc>
              <a:spcBef>
                <a:spcPts val="0"/>
              </a:spcBef>
            </a:pPr>
            <a:r>
              <a:rPr sz="950" b="0" i="0">
                <a:solidFill>
                  <a:srgbClr val="1B2B3C"/>
                </a:solidFill>
                <a:latin typeface="Calibri"/>
              </a:rPr>
              <a:t>2nd vertical live</a:t>
            </a:r>
          </a:p>
        </p:txBody>
      </p:sp>
      <p:sp>
        <p:nvSpPr>
          <p:cNvPr id="101" name="Rectangle 100"/>
          <p:cNvSpPr/>
          <p:nvPr/>
        </p:nvSpPr>
        <p:spPr>
          <a:xfrm>
            <a:off x="9144000" y="4005072"/>
            <a:ext cx="2468880" cy="347472"/>
          </a:xfrm>
          <a:prstGeom prst="rect">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9217152" y="4050792"/>
            <a:ext cx="2322576" cy="301752"/>
          </a:xfrm>
          <a:prstGeom prst="rect">
            <a:avLst/>
          </a:prstGeom>
          <a:noFill/>
        </p:spPr>
        <p:txBody>
          <a:bodyPr wrap="square" anchor="ctr" lIns="0" rIns="0" tIns="0" bIns="0">
            <a:normAutofit/>
          </a:bodyPr>
          <a:lstStyle/>
          <a:p>
            <a:pPr algn="l">
              <a:lnSpc>
                <a:spcPct val="105000"/>
              </a:lnSpc>
              <a:spcBef>
                <a:spcPts val="0"/>
              </a:spcBef>
            </a:pPr>
            <a:r>
              <a:rPr sz="950" b="0" i="0">
                <a:solidFill>
                  <a:srgbClr val="1B2B3C"/>
                </a:solidFill>
                <a:latin typeface="Calibri"/>
              </a:rPr>
              <a:t>All verticals</a:t>
            </a:r>
          </a:p>
        </p:txBody>
      </p:sp>
      <p:sp>
        <p:nvSpPr>
          <p:cNvPr id="103" name="Rectangle 102"/>
          <p:cNvSpPr/>
          <p:nvPr/>
        </p:nvSpPr>
        <p:spPr>
          <a:xfrm>
            <a:off x="548640" y="4352544"/>
            <a:ext cx="2377440" cy="347472"/>
          </a:xfrm>
          <a:prstGeom prst="rect">
            <a:avLst/>
          </a:prstGeom>
          <a:solidFill>
            <a:srgbClr val="F4F7F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621792" y="4398264"/>
            <a:ext cx="2231136" cy="301752"/>
          </a:xfrm>
          <a:prstGeom prst="rect">
            <a:avLst/>
          </a:prstGeom>
          <a:noFill/>
        </p:spPr>
        <p:txBody>
          <a:bodyPr wrap="square" anchor="ctr" lIns="0" rIns="0" tIns="0" bIns="0">
            <a:normAutofit/>
          </a:bodyPr>
          <a:lstStyle/>
          <a:p>
            <a:pPr algn="l">
              <a:lnSpc>
                <a:spcPct val="105000"/>
              </a:lnSpc>
              <a:spcBef>
                <a:spcPts val="0"/>
              </a:spcBef>
            </a:pPr>
            <a:r>
              <a:rPr sz="950" b="0" i="0">
                <a:solidFill>
                  <a:srgbClr val="1B2B3C"/>
                </a:solidFill>
                <a:latin typeface="Calibri"/>
              </a:rPr>
              <a:t>Edge AI Orchestrator</a:t>
            </a:r>
          </a:p>
        </p:txBody>
      </p:sp>
      <p:sp>
        <p:nvSpPr>
          <p:cNvPr id="105" name="Rectangle 104"/>
          <p:cNvSpPr/>
          <p:nvPr/>
        </p:nvSpPr>
        <p:spPr>
          <a:xfrm>
            <a:off x="2926080" y="4352544"/>
            <a:ext cx="1325880" cy="347472"/>
          </a:xfrm>
          <a:prstGeom prst="rect">
            <a:avLst/>
          </a:prstGeom>
          <a:solidFill>
            <a:srgbClr val="F4F7F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2999232" y="4398264"/>
            <a:ext cx="1179576" cy="301752"/>
          </a:xfrm>
          <a:prstGeom prst="rect">
            <a:avLst/>
          </a:prstGeom>
          <a:noFill/>
        </p:spPr>
        <p:txBody>
          <a:bodyPr wrap="square" anchor="ctr" lIns="0" rIns="0" tIns="0" bIns="0">
            <a:normAutofit/>
          </a:bodyPr>
          <a:lstStyle/>
          <a:p>
            <a:pPr algn="l">
              <a:lnSpc>
                <a:spcPct val="105000"/>
              </a:lnSpc>
              <a:spcBef>
                <a:spcPts val="0"/>
              </a:spcBef>
            </a:pPr>
            <a:r>
              <a:rPr sz="950" b="0" i="0">
                <a:solidFill>
                  <a:srgbClr val="1B2B3C"/>
                </a:solidFill>
                <a:latin typeface="Calibri"/>
              </a:rPr>
              <a:t>ACTIVATE</a:t>
            </a:r>
          </a:p>
        </p:txBody>
      </p:sp>
      <p:sp>
        <p:nvSpPr>
          <p:cNvPr id="107" name="Rectangle 106"/>
          <p:cNvSpPr/>
          <p:nvPr/>
        </p:nvSpPr>
        <p:spPr>
          <a:xfrm>
            <a:off x="4251960" y="4352544"/>
            <a:ext cx="1371600" cy="347472"/>
          </a:xfrm>
          <a:prstGeom prst="rect">
            <a:avLst/>
          </a:prstGeom>
          <a:solidFill>
            <a:srgbClr val="F4F7F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4325112" y="4398264"/>
            <a:ext cx="1225296" cy="301752"/>
          </a:xfrm>
          <a:prstGeom prst="rect">
            <a:avLst/>
          </a:prstGeom>
          <a:noFill/>
        </p:spPr>
        <p:txBody>
          <a:bodyPr wrap="square" anchor="ctr" lIns="0" rIns="0" tIns="0" bIns="0">
            <a:normAutofit/>
          </a:bodyPr>
          <a:lstStyle/>
          <a:p>
            <a:pPr algn="l">
              <a:lnSpc>
                <a:spcPct val="105000"/>
              </a:lnSpc>
              <a:spcBef>
                <a:spcPts val="0"/>
              </a:spcBef>
            </a:pPr>
            <a:r>
              <a:rPr sz="950" b="0" i="0">
                <a:solidFill>
                  <a:srgbClr val="1B2B3C"/>
                </a:solidFill>
                <a:latin typeface="Calibri"/>
              </a:rPr>
              <a:t>—</a:t>
            </a:r>
          </a:p>
        </p:txBody>
      </p:sp>
      <p:sp>
        <p:nvSpPr>
          <p:cNvPr id="109" name="Rectangle 108"/>
          <p:cNvSpPr/>
          <p:nvPr/>
        </p:nvSpPr>
        <p:spPr>
          <a:xfrm>
            <a:off x="5623560" y="4352544"/>
            <a:ext cx="1691640" cy="347472"/>
          </a:xfrm>
          <a:prstGeom prst="rect">
            <a:avLst/>
          </a:prstGeom>
          <a:solidFill>
            <a:srgbClr val="F4F7F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5696712" y="4398264"/>
            <a:ext cx="1545336" cy="301752"/>
          </a:xfrm>
          <a:prstGeom prst="rect">
            <a:avLst/>
          </a:prstGeom>
          <a:noFill/>
        </p:spPr>
        <p:txBody>
          <a:bodyPr wrap="square" anchor="ctr" lIns="0" rIns="0" tIns="0" bIns="0">
            <a:normAutofit/>
          </a:bodyPr>
          <a:lstStyle/>
          <a:p>
            <a:pPr algn="l">
              <a:lnSpc>
                <a:spcPct val="105000"/>
              </a:lnSpc>
              <a:spcBef>
                <a:spcPts val="0"/>
              </a:spcBef>
            </a:pPr>
            <a:r>
              <a:rPr sz="950" b="0" i="0">
                <a:solidFill>
                  <a:srgbClr val="1B2B3C"/>
                </a:solidFill>
                <a:latin typeface="Calibri"/>
              </a:rPr>
              <a:t>Scope</a:t>
            </a:r>
          </a:p>
        </p:txBody>
      </p:sp>
      <p:sp>
        <p:nvSpPr>
          <p:cNvPr id="111" name="Rectangle 110"/>
          <p:cNvSpPr/>
          <p:nvPr/>
        </p:nvSpPr>
        <p:spPr>
          <a:xfrm>
            <a:off x="7315200" y="4352544"/>
            <a:ext cx="1828800" cy="347472"/>
          </a:xfrm>
          <a:prstGeom prst="rect">
            <a:avLst/>
          </a:prstGeom>
          <a:solidFill>
            <a:srgbClr val="F4F7F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7388352" y="4398264"/>
            <a:ext cx="1682496" cy="301752"/>
          </a:xfrm>
          <a:prstGeom prst="rect">
            <a:avLst/>
          </a:prstGeom>
          <a:noFill/>
        </p:spPr>
        <p:txBody>
          <a:bodyPr wrap="square" anchor="ctr" lIns="0" rIns="0" tIns="0" bIns="0">
            <a:normAutofit/>
          </a:bodyPr>
          <a:lstStyle/>
          <a:p>
            <a:pPr algn="l">
              <a:lnSpc>
                <a:spcPct val="105000"/>
              </a:lnSpc>
              <a:spcBef>
                <a:spcPts val="0"/>
              </a:spcBef>
            </a:pPr>
            <a:r>
              <a:rPr sz="950" b="0" i="0">
                <a:solidFill>
                  <a:srgbClr val="1B2B3C"/>
                </a:solidFill>
                <a:latin typeface="Calibri"/>
              </a:rPr>
              <a:t>Deploy</a:t>
            </a:r>
          </a:p>
        </p:txBody>
      </p:sp>
      <p:sp>
        <p:nvSpPr>
          <p:cNvPr id="113" name="Rectangle 112"/>
          <p:cNvSpPr/>
          <p:nvPr/>
        </p:nvSpPr>
        <p:spPr>
          <a:xfrm>
            <a:off x="9144000" y="4352544"/>
            <a:ext cx="2468880" cy="347472"/>
          </a:xfrm>
          <a:prstGeom prst="rect">
            <a:avLst/>
          </a:prstGeom>
          <a:solidFill>
            <a:srgbClr val="F4F7F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extBox 113"/>
          <p:cNvSpPr txBox="1"/>
          <p:nvPr/>
        </p:nvSpPr>
        <p:spPr>
          <a:xfrm>
            <a:off x="9217152" y="4398264"/>
            <a:ext cx="2322576" cy="301752"/>
          </a:xfrm>
          <a:prstGeom prst="rect">
            <a:avLst/>
          </a:prstGeom>
          <a:noFill/>
        </p:spPr>
        <p:txBody>
          <a:bodyPr wrap="square" anchor="ctr" lIns="0" rIns="0" tIns="0" bIns="0">
            <a:normAutofit/>
          </a:bodyPr>
          <a:lstStyle/>
          <a:p>
            <a:pPr algn="l">
              <a:lnSpc>
                <a:spcPct val="105000"/>
              </a:lnSpc>
              <a:spcBef>
                <a:spcPts val="0"/>
              </a:spcBef>
            </a:pPr>
            <a:r>
              <a:rPr sz="950" b="0" i="0">
                <a:solidFill>
                  <a:srgbClr val="1B2B3C"/>
                </a:solidFill>
                <a:latin typeface="Calibri"/>
              </a:rPr>
              <a:t>Operate</a:t>
            </a:r>
          </a:p>
        </p:txBody>
      </p:sp>
      <p:sp>
        <p:nvSpPr>
          <p:cNvPr id="115" name="Rectangle 114"/>
          <p:cNvSpPr/>
          <p:nvPr/>
        </p:nvSpPr>
        <p:spPr>
          <a:xfrm>
            <a:off x="548640" y="4700016"/>
            <a:ext cx="2377440" cy="347472"/>
          </a:xfrm>
          <a:prstGeom prst="rect">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TextBox 115"/>
          <p:cNvSpPr txBox="1"/>
          <p:nvPr/>
        </p:nvSpPr>
        <p:spPr>
          <a:xfrm>
            <a:off x="621792" y="4745736"/>
            <a:ext cx="2231136" cy="301752"/>
          </a:xfrm>
          <a:prstGeom prst="rect">
            <a:avLst/>
          </a:prstGeom>
          <a:noFill/>
        </p:spPr>
        <p:txBody>
          <a:bodyPr wrap="square" anchor="ctr" lIns="0" rIns="0" tIns="0" bIns="0">
            <a:normAutofit/>
          </a:bodyPr>
          <a:lstStyle/>
          <a:p>
            <a:pPr algn="l">
              <a:lnSpc>
                <a:spcPct val="105000"/>
              </a:lnSpc>
              <a:spcBef>
                <a:spcPts val="0"/>
              </a:spcBef>
            </a:pPr>
            <a:r>
              <a:rPr sz="950" b="0" i="0">
                <a:solidFill>
                  <a:srgbClr val="1B2B3C"/>
                </a:solidFill>
                <a:latin typeface="Calibri"/>
              </a:rPr>
              <a:t>AI Testing Loop</a:t>
            </a:r>
          </a:p>
        </p:txBody>
      </p:sp>
      <p:sp>
        <p:nvSpPr>
          <p:cNvPr id="117" name="Rectangle 116"/>
          <p:cNvSpPr/>
          <p:nvPr/>
        </p:nvSpPr>
        <p:spPr>
          <a:xfrm>
            <a:off x="2926080" y="4700016"/>
            <a:ext cx="1325880" cy="347472"/>
          </a:xfrm>
          <a:prstGeom prst="rect">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TextBox 117"/>
          <p:cNvSpPr txBox="1"/>
          <p:nvPr/>
        </p:nvSpPr>
        <p:spPr>
          <a:xfrm>
            <a:off x="2999232" y="4745736"/>
            <a:ext cx="1179576" cy="301752"/>
          </a:xfrm>
          <a:prstGeom prst="rect">
            <a:avLst/>
          </a:prstGeom>
          <a:noFill/>
        </p:spPr>
        <p:txBody>
          <a:bodyPr wrap="square" anchor="ctr" lIns="0" rIns="0" tIns="0" bIns="0">
            <a:normAutofit/>
          </a:bodyPr>
          <a:lstStyle/>
          <a:p>
            <a:pPr algn="l">
              <a:lnSpc>
                <a:spcPct val="105000"/>
              </a:lnSpc>
              <a:spcBef>
                <a:spcPts val="0"/>
              </a:spcBef>
            </a:pPr>
            <a:r>
              <a:rPr sz="950" b="0" i="0">
                <a:solidFill>
                  <a:srgbClr val="1B2B3C"/>
                </a:solidFill>
                <a:latin typeface="Calibri"/>
              </a:rPr>
              <a:t>ACTIVATE</a:t>
            </a:r>
          </a:p>
        </p:txBody>
      </p:sp>
      <p:sp>
        <p:nvSpPr>
          <p:cNvPr id="119" name="Rectangle 118"/>
          <p:cNvSpPr/>
          <p:nvPr/>
        </p:nvSpPr>
        <p:spPr>
          <a:xfrm>
            <a:off x="4251960" y="4700016"/>
            <a:ext cx="1371600" cy="347472"/>
          </a:xfrm>
          <a:prstGeom prst="rect">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TextBox 119"/>
          <p:cNvSpPr txBox="1"/>
          <p:nvPr/>
        </p:nvSpPr>
        <p:spPr>
          <a:xfrm>
            <a:off x="4325112" y="4745736"/>
            <a:ext cx="1225296" cy="301752"/>
          </a:xfrm>
          <a:prstGeom prst="rect">
            <a:avLst/>
          </a:prstGeom>
          <a:noFill/>
        </p:spPr>
        <p:txBody>
          <a:bodyPr wrap="square" anchor="ctr" lIns="0" rIns="0" tIns="0" bIns="0">
            <a:normAutofit/>
          </a:bodyPr>
          <a:lstStyle/>
          <a:p>
            <a:pPr algn="l">
              <a:lnSpc>
                <a:spcPct val="105000"/>
              </a:lnSpc>
              <a:spcBef>
                <a:spcPts val="0"/>
              </a:spcBef>
            </a:pPr>
            <a:r>
              <a:rPr sz="950" b="0" i="0">
                <a:solidFill>
                  <a:srgbClr val="1B2B3C"/>
                </a:solidFill>
                <a:latin typeface="Calibri"/>
              </a:rPr>
              <a:t>—</a:t>
            </a:r>
          </a:p>
        </p:txBody>
      </p:sp>
      <p:sp>
        <p:nvSpPr>
          <p:cNvPr id="121" name="Rectangle 120"/>
          <p:cNvSpPr/>
          <p:nvPr/>
        </p:nvSpPr>
        <p:spPr>
          <a:xfrm>
            <a:off x="5623560" y="4700016"/>
            <a:ext cx="1691640" cy="347472"/>
          </a:xfrm>
          <a:prstGeom prst="rect">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TextBox 121"/>
          <p:cNvSpPr txBox="1"/>
          <p:nvPr/>
        </p:nvSpPr>
        <p:spPr>
          <a:xfrm>
            <a:off x="5696712" y="4745736"/>
            <a:ext cx="1545336" cy="301752"/>
          </a:xfrm>
          <a:prstGeom prst="rect">
            <a:avLst/>
          </a:prstGeom>
          <a:noFill/>
        </p:spPr>
        <p:txBody>
          <a:bodyPr wrap="square" anchor="ctr" lIns="0" rIns="0" tIns="0" bIns="0">
            <a:normAutofit/>
          </a:bodyPr>
          <a:lstStyle/>
          <a:p>
            <a:pPr algn="l">
              <a:lnSpc>
                <a:spcPct val="105000"/>
              </a:lnSpc>
              <a:spcBef>
                <a:spcPts val="0"/>
              </a:spcBef>
            </a:pPr>
            <a:r>
              <a:rPr sz="950" b="0" i="0">
                <a:solidFill>
                  <a:srgbClr val="1B2B3C"/>
                </a:solidFill>
                <a:latin typeface="Calibri"/>
              </a:rPr>
              <a:t>Live (Month 5)</a:t>
            </a:r>
          </a:p>
        </p:txBody>
      </p:sp>
      <p:sp>
        <p:nvSpPr>
          <p:cNvPr id="123" name="Rectangle 122"/>
          <p:cNvSpPr/>
          <p:nvPr/>
        </p:nvSpPr>
        <p:spPr>
          <a:xfrm>
            <a:off x="7315200" y="4700016"/>
            <a:ext cx="1828800" cy="347472"/>
          </a:xfrm>
          <a:prstGeom prst="rect">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7388352" y="4745736"/>
            <a:ext cx="1682496" cy="301752"/>
          </a:xfrm>
          <a:prstGeom prst="rect">
            <a:avLst/>
          </a:prstGeom>
          <a:noFill/>
        </p:spPr>
        <p:txBody>
          <a:bodyPr wrap="square" anchor="ctr" lIns="0" rIns="0" tIns="0" bIns="0">
            <a:normAutofit/>
          </a:bodyPr>
          <a:lstStyle/>
          <a:p>
            <a:pPr algn="l">
              <a:lnSpc>
                <a:spcPct val="105000"/>
              </a:lnSpc>
              <a:spcBef>
                <a:spcPts val="0"/>
              </a:spcBef>
            </a:pPr>
            <a:r>
              <a:rPr sz="950" b="0" i="0">
                <a:solidFill>
                  <a:srgbClr val="1B2B3C"/>
                </a:solidFill>
                <a:latin typeface="Calibri"/>
              </a:rPr>
              <a:t>Full coverage</a:t>
            </a:r>
          </a:p>
        </p:txBody>
      </p:sp>
      <p:sp>
        <p:nvSpPr>
          <p:cNvPr id="125" name="Rectangle 124"/>
          <p:cNvSpPr/>
          <p:nvPr/>
        </p:nvSpPr>
        <p:spPr>
          <a:xfrm>
            <a:off x="9144000" y="4700016"/>
            <a:ext cx="2468880" cy="347472"/>
          </a:xfrm>
          <a:prstGeom prst="rect">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TextBox 125"/>
          <p:cNvSpPr txBox="1"/>
          <p:nvPr/>
        </p:nvSpPr>
        <p:spPr>
          <a:xfrm>
            <a:off x="9217152" y="4745736"/>
            <a:ext cx="2322576" cy="301752"/>
          </a:xfrm>
          <a:prstGeom prst="rect">
            <a:avLst/>
          </a:prstGeom>
          <a:noFill/>
        </p:spPr>
        <p:txBody>
          <a:bodyPr wrap="square" anchor="ctr" lIns="0" rIns="0" tIns="0" bIns="0">
            <a:normAutofit/>
          </a:bodyPr>
          <a:lstStyle/>
          <a:p>
            <a:pPr algn="l">
              <a:lnSpc>
                <a:spcPct val="105000"/>
              </a:lnSpc>
              <a:spcBef>
                <a:spcPts val="0"/>
              </a:spcBef>
            </a:pPr>
            <a:r>
              <a:rPr sz="950" b="0" i="0">
                <a:solidFill>
                  <a:srgbClr val="1B2B3C"/>
                </a:solidFill>
                <a:latin typeface="Calibri"/>
              </a:rPr>
              <a:t>Continuous</a:t>
            </a:r>
          </a:p>
        </p:txBody>
      </p:sp>
      <p:sp>
        <p:nvSpPr>
          <p:cNvPr id="127" name="Rectangle 126"/>
          <p:cNvSpPr/>
          <p:nvPr/>
        </p:nvSpPr>
        <p:spPr>
          <a:xfrm>
            <a:off x="548640" y="5047488"/>
            <a:ext cx="2377440" cy="347472"/>
          </a:xfrm>
          <a:prstGeom prst="rect">
            <a:avLst/>
          </a:prstGeom>
          <a:solidFill>
            <a:srgbClr val="F4F7F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TextBox 127"/>
          <p:cNvSpPr txBox="1"/>
          <p:nvPr/>
        </p:nvSpPr>
        <p:spPr>
          <a:xfrm>
            <a:off x="621792" y="5093208"/>
            <a:ext cx="2231136" cy="301752"/>
          </a:xfrm>
          <a:prstGeom prst="rect">
            <a:avLst/>
          </a:prstGeom>
          <a:noFill/>
        </p:spPr>
        <p:txBody>
          <a:bodyPr wrap="square" anchor="ctr" lIns="0" rIns="0" tIns="0" bIns="0">
            <a:normAutofit/>
          </a:bodyPr>
          <a:lstStyle/>
          <a:p>
            <a:pPr algn="l">
              <a:lnSpc>
                <a:spcPct val="105000"/>
              </a:lnSpc>
              <a:spcBef>
                <a:spcPts val="0"/>
              </a:spcBef>
            </a:pPr>
            <a:r>
              <a:rPr sz="950" b="0" i="0">
                <a:solidFill>
                  <a:srgbClr val="1B2B3C"/>
                </a:solidFill>
                <a:latin typeface="Calibri"/>
              </a:rPr>
              <a:t>DX Garage</a:t>
            </a:r>
          </a:p>
        </p:txBody>
      </p:sp>
      <p:sp>
        <p:nvSpPr>
          <p:cNvPr id="129" name="Rectangle 128"/>
          <p:cNvSpPr/>
          <p:nvPr/>
        </p:nvSpPr>
        <p:spPr>
          <a:xfrm>
            <a:off x="2926080" y="5047488"/>
            <a:ext cx="1325880" cy="347472"/>
          </a:xfrm>
          <a:prstGeom prst="rect">
            <a:avLst/>
          </a:prstGeom>
          <a:solidFill>
            <a:srgbClr val="F4F7F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TextBox 129"/>
          <p:cNvSpPr txBox="1"/>
          <p:nvPr/>
        </p:nvSpPr>
        <p:spPr>
          <a:xfrm>
            <a:off x="2999232" y="5093208"/>
            <a:ext cx="1179576" cy="301752"/>
          </a:xfrm>
          <a:prstGeom prst="rect">
            <a:avLst/>
          </a:prstGeom>
          <a:noFill/>
        </p:spPr>
        <p:txBody>
          <a:bodyPr wrap="square" anchor="ctr" lIns="0" rIns="0" tIns="0" bIns="0">
            <a:normAutofit/>
          </a:bodyPr>
          <a:lstStyle/>
          <a:p>
            <a:pPr algn="l">
              <a:lnSpc>
                <a:spcPct val="105000"/>
              </a:lnSpc>
              <a:spcBef>
                <a:spcPts val="0"/>
              </a:spcBef>
            </a:pPr>
            <a:r>
              <a:rPr sz="950" b="0" i="0">
                <a:solidFill>
                  <a:srgbClr val="1B2B3C"/>
                </a:solidFill>
                <a:latin typeface="Calibri"/>
              </a:rPr>
              <a:t>INNOVATE</a:t>
            </a:r>
          </a:p>
        </p:txBody>
      </p:sp>
      <p:sp>
        <p:nvSpPr>
          <p:cNvPr id="131" name="Rectangle 130"/>
          <p:cNvSpPr/>
          <p:nvPr/>
        </p:nvSpPr>
        <p:spPr>
          <a:xfrm>
            <a:off x="4251960" y="5047488"/>
            <a:ext cx="1371600" cy="347472"/>
          </a:xfrm>
          <a:prstGeom prst="rect">
            <a:avLst/>
          </a:prstGeom>
          <a:solidFill>
            <a:srgbClr val="F4F7F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TextBox 131"/>
          <p:cNvSpPr txBox="1"/>
          <p:nvPr/>
        </p:nvSpPr>
        <p:spPr>
          <a:xfrm>
            <a:off x="4325112" y="5093208"/>
            <a:ext cx="1225296" cy="301752"/>
          </a:xfrm>
          <a:prstGeom prst="rect">
            <a:avLst/>
          </a:prstGeom>
          <a:noFill/>
        </p:spPr>
        <p:txBody>
          <a:bodyPr wrap="square" anchor="ctr" lIns="0" rIns="0" tIns="0" bIns="0">
            <a:normAutofit/>
          </a:bodyPr>
          <a:lstStyle/>
          <a:p>
            <a:pPr algn="l">
              <a:lnSpc>
                <a:spcPct val="105000"/>
              </a:lnSpc>
              <a:spcBef>
                <a:spcPts val="0"/>
              </a:spcBef>
            </a:pPr>
            <a:r>
              <a:rPr sz="950" b="0" i="0">
                <a:solidFill>
                  <a:srgbClr val="1B2B3C"/>
                </a:solidFill>
                <a:latin typeface="Calibri"/>
              </a:rPr>
              <a:t>—</a:t>
            </a:r>
          </a:p>
        </p:txBody>
      </p:sp>
      <p:sp>
        <p:nvSpPr>
          <p:cNvPr id="133" name="Rectangle 132"/>
          <p:cNvSpPr/>
          <p:nvPr/>
        </p:nvSpPr>
        <p:spPr>
          <a:xfrm>
            <a:off x="5623560" y="5047488"/>
            <a:ext cx="1691640" cy="347472"/>
          </a:xfrm>
          <a:prstGeom prst="rect">
            <a:avLst/>
          </a:prstGeom>
          <a:solidFill>
            <a:srgbClr val="F4F7F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TextBox 133"/>
          <p:cNvSpPr txBox="1"/>
          <p:nvPr/>
        </p:nvSpPr>
        <p:spPr>
          <a:xfrm>
            <a:off x="5696712" y="5093208"/>
            <a:ext cx="1545336" cy="301752"/>
          </a:xfrm>
          <a:prstGeom prst="rect">
            <a:avLst/>
          </a:prstGeom>
          <a:noFill/>
        </p:spPr>
        <p:txBody>
          <a:bodyPr wrap="square" anchor="ctr" lIns="0" rIns="0" tIns="0" bIns="0">
            <a:normAutofit/>
          </a:bodyPr>
          <a:lstStyle/>
          <a:p>
            <a:pPr algn="l">
              <a:lnSpc>
                <a:spcPct val="105000"/>
              </a:lnSpc>
              <a:spcBef>
                <a:spcPts val="0"/>
              </a:spcBef>
            </a:pPr>
            <a:r>
              <a:rPr sz="950" b="0" i="0">
                <a:solidFill>
                  <a:srgbClr val="1B2B3C"/>
                </a:solidFill>
                <a:latin typeface="Calibri"/>
              </a:rPr>
              <a:t>—</a:t>
            </a:r>
          </a:p>
        </p:txBody>
      </p:sp>
      <p:sp>
        <p:nvSpPr>
          <p:cNvPr id="135" name="Rectangle 134"/>
          <p:cNvSpPr/>
          <p:nvPr/>
        </p:nvSpPr>
        <p:spPr>
          <a:xfrm>
            <a:off x="7315200" y="5047488"/>
            <a:ext cx="1828800" cy="347472"/>
          </a:xfrm>
          <a:prstGeom prst="rect">
            <a:avLst/>
          </a:prstGeom>
          <a:solidFill>
            <a:srgbClr val="F4F7F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TextBox 135"/>
          <p:cNvSpPr txBox="1"/>
          <p:nvPr/>
        </p:nvSpPr>
        <p:spPr>
          <a:xfrm>
            <a:off x="7388352" y="5093208"/>
            <a:ext cx="1682496" cy="301752"/>
          </a:xfrm>
          <a:prstGeom prst="rect">
            <a:avLst/>
          </a:prstGeom>
          <a:noFill/>
        </p:spPr>
        <p:txBody>
          <a:bodyPr wrap="square" anchor="ctr" lIns="0" rIns="0" tIns="0" bIns="0">
            <a:normAutofit/>
          </a:bodyPr>
          <a:lstStyle/>
          <a:p>
            <a:pPr algn="l">
              <a:lnSpc>
                <a:spcPct val="105000"/>
              </a:lnSpc>
              <a:spcBef>
                <a:spcPts val="0"/>
              </a:spcBef>
            </a:pPr>
            <a:r>
              <a:rPr sz="950" b="0" i="0">
                <a:solidFill>
                  <a:srgbClr val="1B2B3C"/>
                </a:solidFill>
                <a:latin typeface="Calibri"/>
              </a:rPr>
              <a:t>Running (Month 12)</a:t>
            </a:r>
          </a:p>
        </p:txBody>
      </p:sp>
      <p:sp>
        <p:nvSpPr>
          <p:cNvPr id="137" name="Rectangle 136"/>
          <p:cNvSpPr/>
          <p:nvPr/>
        </p:nvSpPr>
        <p:spPr>
          <a:xfrm>
            <a:off x="9144000" y="5047488"/>
            <a:ext cx="2468880" cy="347472"/>
          </a:xfrm>
          <a:prstGeom prst="rect">
            <a:avLst/>
          </a:prstGeom>
          <a:solidFill>
            <a:srgbClr val="F4F7F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TextBox 137"/>
          <p:cNvSpPr txBox="1"/>
          <p:nvPr/>
        </p:nvSpPr>
        <p:spPr>
          <a:xfrm>
            <a:off x="9217152" y="5093208"/>
            <a:ext cx="2322576" cy="301752"/>
          </a:xfrm>
          <a:prstGeom prst="rect">
            <a:avLst/>
          </a:prstGeom>
          <a:noFill/>
        </p:spPr>
        <p:txBody>
          <a:bodyPr wrap="square" anchor="ctr" lIns="0" rIns="0" tIns="0" bIns="0">
            <a:normAutofit/>
          </a:bodyPr>
          <a:lstStyle/>
          <a:p>
            <a:pPr algn="l">
              <a:lnSpc>
                <a:spcPct val="105000"/>
              </a:lnSpc>
              <a:spcBef>
                <a:spcPts val="0"/>
              </a:spcBef>
            </a:pPr>
            <a:r>
              <a:rPr sz="950" b="0" i="0">
                <a:solidFill>
                  <a:srgbClr val="1B2B3C"/>
                </a:solidFill>
                <a:latin typeface="Calibri"/>
              </a:rPr>
              <a:t>Continuous</a:t>
            </a:r>
          </a:p>
        </p:txBody>
      </p:sp>
      <p:sp>
        <p:nvSpPr>
          <p:cNvPr id="139" name="Rectangle 138"/>
          <p:cNvSpPr/>
          <p:nvPr/>
        </p:nvSpPr>
        <p:spPr>
          <a:xfrm>
            <a:off x="548640" y="5394960"/>
            <a:ext cx="2377440" cy="347472"/>
          </a:xfrm>
          <a:prstGeom prst="rect">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TextBox 139"/>
          <p:cNvSpPr txBox="1"/>
          <p:nvPr/>
        </p:nvSpPr>
        <p:spPr>
          <a:xfrm>
            <a:off x="621792" y="5440680"/>
            <a:ext cx="2231136" cy="301752"/>
          </a:xfrm>
          <a:prstGeom prst="rect">
            <a:avLst/>
          </a:prstGeom>
          <a:noFill/>
        </p:spPr>
        <p:txBody>
          <a:bodyPr wrap="square" anchor="ctr" lIns="0" rIns="0" tIns="0" bIns="0">
            <a:normAutofit/>
          </a:bodyPr>
          <a:lstStyle/>
          <a:p>
            <a:pPr algn="l">
              <a:lnSpc>
                <a:spcPct val="105000"/>
              </a:lnSpc>
              <a:spcBef>
                <a:spcPts val="0"/>
              </a:spcBef>
            </a:pPr>
            <a:r>
              <a:rPr sz="950" b="0" i="0">
                <a:solidFill>
                  <a:srgbClr val="1B2B3C"/>
                </a:solidFill>
                <a:latin typeface="Calibri"/>
              </a:rPr>
              <a:t>Co-Development</a:t>
            </a:r>
          </a:p>
        </p:txBody>
      </p:sp>
      <p:sp>
        <p:nvSpPr>
          <p:cNvPr id="141" name="Rectangle 140"/>
          <p:cNvSpPr/>
          <p:nvPr/>
        </p:nvSpPr>
        <p:spPr>
          <a:xfrm>
            <a:off x="2926080" y="5394960"/>
            <a:ext cx="1325880" cy="347472"/>
          </a:xfrm>
          <a:prstGeom prst="rect">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TextBox 141"/>
          <p:cNvSpPr txBox="1"/>
          <p:nvPr/>
        </p:nvSpPr>
        <p:spPr>
          <a:xfrm>
            <a:off x="2999232" y="5440680"/>
            <a:ext cx="1179576" cy="301752"/>
          </a:xfrm>
          <a:prstGeom prst="rect">
            <a:avLst/>
          </a:prstGeom>
          <a:noFill/>
        </p:spPr>
        <p:txBody>
          <a:bodyPr wrap="square" anchor="ctr" lIns="0" rIns="0" tIns="0" bIns="0">
            <a:normAutofit/>
          </a:bodyPr>
          <a:lstStyle/>
          <a:p>
            <a:pPr algn="l">
              <a:lnSpc>
                <a:spcPct val="105000"/>
              </a:lnSpc>
              <a:spcBef>
                <a:spcPts val="0"/>
              </a:spcBef>
            </a:pPr>
            <a:r>
              <a:rPr sz="950" b="0" i="0">
                <a:solidFill>
                  <a:srgbClr val="1B2B3C"/>
                </a:solidFill>
                <a:latin typeface="Calibri"/>
              </a:rPr>
              <a:t>INNOVATE</a:t>
            </a:r>
          </a:p>
        </p:txBody>
      </p:sp>
      <p:sp>
        <p:nvSpPr>
          <p:cNvPr id="143" name="Rectangle 142"/>
          <p:cNvSpPr/>
          <p:nvPr/>
        </p:nvSpPr>
        <p:spPr>
          <a:xfrm>
            <a:off x="4251960" y="5394960"/>
            <a:ext cx="1371600" cy="347472"/>
          </a:xfrm>
          <a:prstGeom prst="rect">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TextBox 143"/>
          <p:cNvSpPr txBox="1"/>
          <p:nvPr/>
        </p:nvSpPr>
        <p:spPr>
          <a:xfrm>
            <a:off x="4325112" y="5440680"/>
            <a:ext cx="1225296" cy="301752"/>
          </a:xfrm>
          <a:prstGeom prst="rect">
            <a:avLst/>
          </a:prstGeom>
          <a:noFill/>
        </p:spPr>
        <p:txBody>
          <a:bodyPr wrap="square" anchor="ctr" lIns="0" rIns="0" tIns="0" bIns="0">
            <a:normAutofit/>
          </a:bodyPr>
          <a:lstStyle/>
          <a:p>
            <a:pPr algn="l">
              <a:lnSpc>
                <a:spcPct val="105000"/>
              </a:lnSpc>
              <a:spcBef>
                <a:spcPts val="0"/>
              </a:spcBef>
            </a:pPr>
            <a:r>
              <a:rPr sz="950" b="0" i="0">
                <a:solidFill>
                  <a:srgbClr val="1B2B3C"/>
                </a:solidFill>
                <a:latin typeface="Calibri"/>
              </a:rPr>
              <a:t>—</a:t>
            </a:r>
          </a:p>
        </p:txBody>
      </p:sp>
      <p:sp>
        <p:nvSpPr>
          <p:cNvPr id="145" name="Rectangle 144"/>
          <p:cNvSpPr/>
          <p:nvPr/>
        </p:nvSpPr>
        <p:spPr>
          <a:xfrm>
            <a:off x="5623560" y="5394960"/>
            <a:ext cx="1691640" cy="347472"/>
          </a:xfrm>
          <a:prstGeom prst="rect">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TextBox 145"/>
          <p:cNvSpPr txBox="1"/>
          <p:nvPr/>
        </p:nvSpPr>
        <p:spPr>
          <a:xfrm>
            <a:off x="5696712" y="5440680"/>
            <a:ext cx="1545336" cy="301752"/>
          </a:xfrm>
          <a:prstGeom prst="rect">
            <a:avLst/>
          </a:prstGeom>
          <a:noFill/>
        </p:spPr>
        <p:txBody>
          <a:bodyPr wrap="square" anchor="ctr" lIns="0" rIns="0" tIns="0" bIns="0">
            <a:normAutofit/>
          </a:bodyPr>
          <a:lstStyle/>
          <a:p>
            <a:pPr algn="l">
              <a:lnSpc>
                <a:spcPct val="105000"/>
              </a:lnSpc>
              <a:spcBef>
                <a:spcPts val="0"/>
              </a:spcBef>
            </a:pPr>
            <a:r>
              <a:rPr sz="950" b="0" i="0">
                <a:solidFill>
                  <a:srgbClr val="1B2B3C"/>
                </a:solidFill>
                <a:latin typeface="Calibri"/>
              </a:rPr>
              <a:t>—</a:t>
            </a:r>
          </a:p>
        </p:txBody>
      </p:sp>
      <p:sp>
        <p:nvSpPr>
          <p:cNvPr id="147" name="Rectangle 146"/>
          <p:cNvSpPr/>
          <p:nvPr/>
        </p:nvSpPr>
        <p:spPr>
          <a:xfrm>
            <a:off x="7315200" y="5394960"/>
            <a:ext cx="1828800" cy="347472"/>
          </a:xfrm>
          <a:prstGeom prst="rect">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TextBox 147"/>
          <p:cNvSpPr txBox="1"/>
          <p:nvPr/>
        </p:nvSpPr>
        <p:spPr>
          <a:xfrm>
            <a:off x="7388352" y="5440680"/>
            <a:ext cx="1682496" cy="301752"/>
          </a:xfrm>
          <a:prstGeom prst="rect">
            <a:avLst/>
          </a:prstGeom>
          <a:noFill/>
        </p:spPr>
        <p:txBody>
          <a:bodyPr wrap="square" anchor="ctr" lIns="0" rIns="0" tIns="0" bIns="0">
            <a:normAutofit/>
          </a:bodyPr>
          <a:lstStyle/>
          <a:p>
            <a:pPr algn="l">
              <a:lnSpc>
                <a:spcPct val="105000"/>
              </a:lnSpc>
              <a:spcBef>
                <a:spcPts val="0"/>
              </a:spcBef>
            </a:pPr>
            <a:r>
              <a:rPr sz="950" b="0" i="0">
                <a:solidFill>
                  <a:srgbClr val="1B2B3C"/>
                </a:solidFill>
                <a:latin typeface="Calibri"/>
              </a:rPr>
              <a:t>Sprint 1</a:t>
            </a:r>
          </a:p>
        </p:txBody>
      </p:sp>
      <p:sp>
        <p:nvSpPr>
          <p:cNvPr id="149" name="Rectangle 148"/>
          <p:cNvSpPr/>
          <p:nvPr/>
        </p:nvSpPr>
        <p:spPr>
          <a:xfrm>
            <a:off x="9144000" y="5394960"/>
            <a:ext cx="2468880" cy="347472"/>
          </a:xfrm>
          <a:prstGeom prst="rect">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TextBox 149"/>
          <p:cNvSpPr txBox="1"/>
          <p:nvPr/>
        </p:nvSpPr>
        <p:spPr>
          <a:xfrm>
            <a:off x="9217152" y="5440680"/>
            <a:ext cx="2322576" cy="301752"/>
          </a:xfrm>
          <a:prstGeom prst="rect">
            <a:avLst/>
          </a:prstGeom>
          <a:noFill/>
        </p:spPr>
        <p:txBody>
          <a:bodyPr wrap="square" anchor="ctr" lIns="0" rIns="0" tIns="0" bIns="0">
            <a:normAutofit/>
          </a:bodyPr>
          <a:lstStyle/>
          <a:p>
            <a:pPr algn="l">
              <a:lnSpc>
                <a:spcPct val="105000"/>
              </a:lnSpc>
              <a:spcBef>
                <a:spcPts val="0"/>
              </a:spcBef>
            </a:pPr>
            <a:r>
              <a:rPr sz="950" b="0" i="0">
                <a:solidFill>
                  <a:srgbClr val="1B2B3C"/>
                </a:solidFill>
                <a:latin typeface="Calibri"/>
              </a:rPr>
              <a:t>Ongoing</a:t>
            </a:r>
          </a:p>
        </p:txBody>
      </p:sp>
      <p:sp>
        <p:nvSpPr>
          <p:cNvPr id="151" name="Rectangle 150"/>
          <p:cNvSpPr/>
          <p:nvPr/>
        </p:nvSpPr>
        <p:spPr>
          <a:xfrm>
            <a:off x="548640" y="5742432"/>
            <a:ext cx="2377440" cy="347472"/>
          </a:xfrm>
          <a:prstGeom prst="rect">
            <a:avLst/>
          </a:prstGeom>
          <a:solidFill>
            <a:srgbClr val="F4F7F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TextBox 151"/>
          <p:cNvSpPr txBox="1"/>
          <p:nvPr/>
        </p:nvSpPr>
        <p:spPr>
          <a:xfrm>
            <a:off x="621792" y="5788152"/>
            <a:ext cx="2231136" cy="301752"/>
          </a:xfrm>
          <a:prstGeom prst="rect">
            <a:avLst/>
          </a:prstGeom>
          <a:noFill/>
        </p:spPr>
        <p:txBody>
          <a:bodyPr wrap="square" anchor="ctr" lIns="0" rIns="0" tIns="0" bIns="0">
            <a:normAutofit/>
          </a:bodyPr>
          <a:lstStyle/>
          <a:p>
            <a:pPr algn="l">
              <a:lnSpc>
                <a:spcPct val="105000"/>
              </a:lnSpc>
              <a:spcBef>
                <a:spcPts val="0"/>
              </a:spcBef>
            </a:pPr>
            <a:r>
              <a:rPr sz="950" b="0" i="0">
                <a:solidFill>
                  <a:srgbClr val="1B2B3C"/>
                </a:solidFill>
                <a:latin typeface="Calibri"/>
              </a:rPr>
              <a:t>White-Label Modules</a:t>
            </a:r>
          </a:p>
        </p:txBody>
      </p:sp>
      <p:sp>
        <p:nvSpPr>
          <p:cNvPr id="153" name="Rectangle 152"/>
          <p:cNvSpPr/>
          <p:nvPr/>
        </p:nvSpPr>
        <p:spPr>
          <a:xfrm>
            <a:off x="2926080" y="5742432"/>
            <a:ext cx="1325880" cy="347472"/>
          </a:xfrm>
          <a:prstGeom prst="rect">
            <a:avLst/>
          </a:prstGeom>
          <a:solidFill>
            <a:srgbClr val="F4F7F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TextBox 153"/>
          <p:cNvSpPr txBox="1"/>
          <p:nvPr/>
        </p:nvSpPr>
        <p:spPr>
          <a:xfrm>
            <a:off x="2999232" y="5788152"/>
            <a:ext cx="1179576" cy="301752"/>
          </a:xfrm>
          <a:prstGeom prst="rect">
            <a:avLst/>
          </a:prstGeom>
          <a:noFill/>
        </p:spPr>
        <p:txBody>
          <a:bodyPr wrap="square" anchor="ctr" lIns="0" rIns="0" tIns="0" bIns="0">
            <a:normAutofit/>
          </a:bodyPr>
          <a:lstStyle/>
          <a:p>
            <a:pPr algn="l">
              <a:lnSpc>
                <a:spcPct val="105000"/>
              </a:lnSpc>
              <a:spcBef>
                <a:spcPts val="0"/>
              </a:spcBef>
            </a:pPr>
            <a:r>
              <a:rPr sz="950" b="0" i="0">
                <a:solidFill>
                  <a:srgbClr val="1B2B3C"/>
                </a:solidFill>
                <a:latin typeface="Calibri"/>
              </a:rPr>
              <a:t>INNOVATE</a:t>
            </a:r>
          </a:p>
        </p:txBody>
      </p:sp>
      <p:sp>
        <p:nvSpPr>
          <p:cNvPr id="155" name="Rectangle 154"/>
          <p:cNvSpPr/>
          <p:nvPr/>
        </p:nvSpPr>
        <p:spPr>
          <a:xfrm>
            <a:off x="4251960" y="5742432"/>
            <a:ext cx="1371600" cy="347472"/>
          </a:xfrm>
          <a:prstGeom prst="rect">
            <a:avLst/>
          </a:prstGeom>
          <a:solidFill>
            <a:srgbClr val="F4F7F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TextBox 155"/>
          <p:cNvSpPr txBox="1"/>
          <p:nvPr/>
        </p:nvSpPr>
        <p:spPr>
          <a:xfrm>
            <a:off x="4325112" y="5788152"/>
            <a:ext cx="1225296" cy="301752"/>
          </a:xfrm>
          <a:prstGeom prst="rect">
            <a:avLst/>
          </a:prstGeom>
          <a:noFill/>
        </p:spPr>
        <p:txBody>
          <a:bodyPr wrap="square" anchor="ctr" lIns="0" rIns="0" tIns="0" bIns="0">
            <a:normAutofit/>
          </a:bodyPr>
          <a:lstStyle/>
          <a:p>
            <a:pPr algn="l">
              <a:lnSpc>
                <a:spcPct val="105000"/>
              </a:lnSpc>
              <a:spcBef>
                <a:spcPts val="0"/>
              </a:spcBef>
            </a:pPr>
            <a:r>
              <a:rPr sz="950" b="0" i="0">
                <a:solidFill>
                  <a:srgbClr val="1B2B3C"/>
                </a:solidFill>
                <a:latin typeface="Calibri"/>
              </a:rPr>
              <a:t>—</a:t>
            </a:r>
          </a:p>
        </p:txBody>
      </p:sp>
      <p:sp>
        <p:nvSpPr>
          <p:cNvPr id="157" name="Rectangle 156"/>
          <p:cNvSpPr/>
          <p:nvPr/>
        </p:nvSpPr>
        <p:spPr>
          <a:xfrm>
            <a:off x="5623560" y="5742432"/>
            <a:ext cx="1691640" cy="347472"/>
          </a:xfrm>
          <a:prstGeom prst="rect">
            <a:avLst/>
          </a:prstGeom>
          <a:solidFill>
            <a:srgbClr val="F4F7F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TextBox 157"/>
          <p:cNvSpPr txBox="1"/>
          <p:nvPr/>
        </p:nvSpPr>
        <p:spPr>
          <a:xfrm>
            <a:off x="5696712" y="5788152"/>
            <a:ext cx="1545336" cy="301752"/>
          </a:xfrm>
          <a:prstGeom prst="rect">
            <a:avLst/>
          </a:prstGeom>
          <a:noFill/>
        </p:spPr>
        <p:txBody>
          <a:bodyPr wrap="square" anchor="ctr" lIns="0" rIns="0" tIns="0" bIns="0">
            <a:normAutofit/>
          </a:bodyPr>
          <a:lstStyle/>
          <a:p>
            <a:pPr algn="l">
              <a:lnSpc>
                <a:spcPct val="105000"/>
              </a:lnSpc>
              <a:spcBef>
                <a:spcPts val="0"/>
              </a:spcBef>
            </a:pPr>
            <a:r>
              <a:rPr sz="950" b="0" i="0">
                <a:solidFill>
                  <a:srgbClr val="1B2B3C"/>
                </a:solidFill>
                <a:latin typeface="Calibri"/>
              </a:rPr>
              <a:t>—</a:t>
            </a:r>
          </a:p>
        </p:txBody>
      </p:sp>
      <p:sp>
        <p:nvSpPr>
          <p:cNvPr id="159" name="Rectangle 158"/>
          <p:cNvSpPr/>
          <p:nvPr/>
        </p:nvSpPr>
        <p:spPr>
          <a:xfrm>
            <a:off x="7315200" y="5742432"/>
            <a:ext cx="1828800" cy="347472"/>
          </a:xfrm>
          <a:prstGeom prst="rect">
            <a:avLst/>
          </a:prstGeom>
          <a:solidFill>
            <a:srgbClr val="F4F7F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TextBox 159"/>
          <p:cNvSpPr txBox="1"/>
          <p:nvPr/>
        </p:nvSpPr>
        <p:spPr>
          <a:xfrm>
            <a:off x="7388352" y="5788152"/>
            <a:ext cx="1682496" cy="301752"/>
          </a:xfrm>
          <a:prstGeom prst="rect">
            <a:avLst/>
          </a:prstGeom>
          <a:noFill/>
        </p:spPr>
        <p:txBody>
          <a:bodyPr wrap="square" anchor="ctr" lIns="0" rIns="0" tIns="0" bIns="0">
            <a:normAutofit/>
          </a:bodyPr>
          <a:lstStyle/>
          <a:p>
            <a:pPr algn="l">
              <a:lnSpc>
                <a:spcPct val="105000"/>
              </a:lnSpc>
              <a:spcBef>
                <a:spcPts val="0"/>
              </a:spcBef>
            </a:pPr>
            <a:r>
              <a:rPr sz="950" b="0" i="0">
                <a:solidFill>
                  <a:srgbClr val="1B2B3C"/>
                </a:solidFill>
                <a:latin typeface="Calibri"/>
              </a:rPr>
              <a:t>Module v1</a:t>
            </a:r>
          </a:p>
        </p:txBody>
      </p:sp>
      <p:sp>
        <p:nvSpPr>
          <p:cNvPr id="161" name="Rectangle 160"/>
          <p:cNvSpPr/>
          <p:nvPr/>
        </p:nvSpPr>
        <p:spPr>
          <a:xfrm>
            <a:off x="9144000" y="5742432"/>
            <a:ext cx="2468880" cy="347472"/>
          </a:xfrm>
          <a:prstGeom prst="rect">
            <a:avLst/>
          </a:prstGeom>
          <a:solidFill>
            <a:srgbClr val="F4F7F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TextBox 161"/>
          <p:cNvSpPr txBox="1"/>
          <p:nvPr/>
        </p:nvSpPr>
        <p:spPr>
          <a:xfrm>
            <a:off x="9217152" y="5788152"/>
            <a:ext cx="2322576" cy="301752"/>
          </a:xfrm>
          <a:prstGeom prst="rect">
            <a:avLst/>
          </a:prstGeom>
          <a:noFill/>
        </p:spPr>
        <p:txBody>
          <a:bodyPr wrap="square" anchor="ctr" lIns="0" rIns="0" tIns="0" bIns="0">
            <a:normAutofit/>
          </a:bodyPr>
          <a:lstStyle/>
          <a:p>
            <a:pPr algn="l">
              <a:lnSpc>
                <a:spcPct val="105000"/>
              </a:lnSpc>
              <a:spcBef>
                <a:spcPts val="0"/>
              </a:spcBef>
            </a:pPr>
            <a:r>
              <a:rPr sz="950" b="0" i="0">
                <a:solidFill>
                  <a:srgbClr val="1B2B3C"/>
                </a:solidFill>
                <a:latin typeface="Calibri"/>
              </a:rPr>
              <a:t>Portfolio</a:t>
            </a:r>
          </a:p>
        </p:txBody>
      </p:sp>
      <p:sp>
        <p:nvSpPr>
          <p:cNvPr id="163" name="Rectangle 162"/>
          <p:cNvSpPr/>
          <p:nvPr/>
        </p:nvSpPr>
        <p:spPr>
          <a:xfrm>
            <a:off x="548640" y="6089904"/>
            <a:ext cx="2377440" cy="347472"/>
          </a:xfrm>
          <a:prstGeom prst="rect">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TextBox 163"/>
          <p:cNvSpPr txBox="1"/>
          <p:nvPr/>
        </p:nvSpPr>
        <p:spPr>
          <a:xfrm>
            <a:off x="621792" y="6135624"/>
            <a:ext cx="2231136" cy="301752"/>
          </a:xfrm>
          <a:prstGeom prst="rect">
            <a:avLst/>
          </a:prstGeom>
          <a:noFill/>
        </p:spPr>
        <p:txBody>
          <a:bodyPr wrap="square" anchor="ctr" lIns="0" rIns="0" tIns="0" bIns="0">
            <a:normAutofit/>
          </a:bodyPr>
          <a:lstStyle/>
          <a:p>
            <a:pPr algn="l">
              <a:lnSpc>
                <a:spcPct val="105000"/>
              </a:lnSpc>
              <a:spcBef>
                <a:spcPts val="0"/>
              </a:spcBef>
            </a:pPr>
            <a:r>
              <a:rPr sz="950" b="0" i="0">
                <a:solidFill>
                  <a:srgbClr val="1B2B3C"/>
                </a:solidFill>
                <a:latin typeface="Calibri"/>
              </a:rPr>
              <a:t>CxO Quarterly Roadmap</a:t>
            </a:r>
          </a:p>
        </p:txBody>
      </p:sp>
      <p:sp>
        <p:nvSpPr>
          <p:cNvPr id="165" name="Rectangle 164"/>
          <p:cNvSpPr/>
          <p:nvPr/>
        </p:nvSpPr>
        <p:spPr>
          <a:xfrm>
            <a:off x="2926080" y="6089904"/>
            <a:ext cx="1325880" cy="347472"/>
          </a:xfrm>
          <a:prstGeom prst="rect">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TextBox 165"/>
          <p:cNvSpPr txBox="1"/>
          <p:nvPr/>
        </p:nvSpPr>
        <p:spPr>
          <a:xfrm>
            <a:off x="2999232" y="6135624"/>
            <a:ext cx="1179576" cy="301752"/>
          </a:xfrm>
          <a:prstGeom prst="rect">
            <a:avLst/>
          </a:prstGeom>
          <a:noFill/>
        </p:spPr>
        <p:txBody>
          <a:bodyPr wrap="square" anchor="ctr" lIns="0" rIns="0" tIns="0" bIns="0">
            <a:normAutofit/>
          </a:bodyPr>
          <a:lstStyle/>
          <a:p>
            <a:pPr algn="l">
              <a:lnSpc>
                <a:spcPct val="105000"/>
              </a:lnSpc>
              <a:spcBef>
                <a:spcPts val="0"/>
              </a:spcBef>
            </a:pPr>
            <a:r>
              <a:rPr sz="950" b="0" i="0">
                <a:solidFill>
                  <a:srgbClr val="1B2B3C"/>
                </a:solidFill>
                <a:latin typeface="Calibri"/>
              </a:rPr>
              <a:t>INNOVATE</a:t>
            </a:r>
          </a:p>
        </p:txBody>
      </p:sp>
      <p:sp>
        <p:nvSpPr>
          <p:cNvPr id="167" name="Rectangle 166"/>
          <p:cNvSpPr/>
          <p:nvPr/>
        </p:nvSpPr>
        <p:spPr>
          <a:xfrm>
            <a:off x="4251960" y="6089904"/>
            <a:ext cx="1371600" cy="347472"/>
          </a:xfrm>
          <a:prstGeom prst="rect">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TextBox 167"/>
          <p:cNvSpPr txBox="1"/>
          <p:nvPr/>
        </p:nvSpPr>
        <p:spPr>
          <a:xfrm>
            <a:off x="4325112" y="6135624"/>
            <a:ext cx="1225296" cy="301752"/>
          </a:xfrm>
          <a:prstGeom prst="rect">
            <a:avLst/>
          </a:prstGeom>
          <a:noFill/>
        </p:spPr>
        <p:txBody>
          <a:bodyPr wrap="square" anchor="ctr" lIns="0" rIns="0" tIns="0" bIns="0">
            <a:normAutofit/>
          </a:bodyPr>
          <a:lstStyle/>
          <a:p>
            <a:pPr algn="l">
              <a:lnSpc>
                <a:spcPct val="105000"/>
              </a:lnSpc>
              <a:spcBef>
                <a:spcPts val="0"/>
              </a:spcBef>
            </a:pPr>
            <a:r>
              <a:rPr sz="950" b="0" i="0">
                <a:solidFill>
                  <a:srgbClr val="1B2B3C"/>
                </a:solidFill>
                <a:latin typeface="Calibri"/>
              </a:rPr>
              <a:t>—</a:t>
            </a:r>
          </a:p>
        </p:txBody>
      </p:sp>
      <p:sp>
        <p:nvSpPr>
          <p:cNvPr id="169" name="Rectangle 168"/>
          <p:cNvSpPr/>
          <p:nvPr/>
        </p:nvSpPr>
        <p:spPr>
          <a:xfrm>
            <a:off x="5623560" y="6089904"/>
            <a:ext cx="1691640" cy="347472"/>
          </a:xfrm>
          <a:prstGeom prst="rect">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TextBox 169"/>
          <p:cNvSpPr txBox="1"/>
          <p:nvPr/>
        </p:nvSpPr>
        <p:spPr>
          <a:xfrm>
            <a:off x="5696712" y="6135624"/>
            <a:ext cx="1545336" cy="301752"/>
          </a:xfrm>
          <a:prstGeom prst="rect">
            <a:avLst/>
          </a:prstGeom>
          <a:noFill/>
        </p:spPr>
        <p:txBody>
          <a:bodyPr wrap="square" anchor="ctr" lIns="0" rIns="0" tIns="0" bIns="0">
            <a:normAutofit/>
          </a:bodyPr>
          <a:lstStyle/>
          <a:p>
            <a:pPr algn="l">
              <a:lnSpc>
                <a:spcPct val="105000"/>
              </a:lnSpc>
              <a:spcBef>
                <a:spcPts val="0"/>
              </a:spcBef>
            </a:pPr>
            <a:r>
              <a:rPr sz="950" b="0" i="0">
                <a:solidFill>
                  <a:srgbClr val="1B2B3C"/>
                </a:solidFill>
                <a:latin typeface="Calibri"/>
              </a:rPr>
              <a:t>Month 3 kickoff</a:t>
            </a:r>
          </a:p>
        </p:txBody>
      </p:sp>
      <p:sp>
        <p:nvSpPr>
          <p:cNvPr id="171" name="Rectangle 170"/>
          <p:cNvSpPr/>
          <p:nvPr/>
        </p:nvSpPr>
        <p:spPr>
          <a:xfrm>
            <a:off x="7315200" y="6089904"/>
            <a:ext cx="1828800" cy="347472"/>
          </a:xfrm>
          <a:prstGeom prst="rect">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 name="TextBox 171"/>
          <p:cNvSpPr txBox="1"/>
          <p:nvPr/>
        </p:nvSpPr>
        <p:spPr>
          <a:xfrm>
            <a:off x="7388352" y="6135624"/>
            <a:ext cx="1682496" cy="301752"/>
          </a:xfrm>
          <a:prstGeom prst="rect">
            <a:avLst/>
          </a:prstGeom>
          <a:noFill/>
        </p:spPr>
        <p:txBody>
          <a:bodyPr wrap="square" anchor="ctr" lIns="0" rIns="0" tIns="0" bIns="0">
            <a:normAutofit/>
          </a:bodyPr>
          <a:lstStyle/>
          <a:p>
            <a:pPr algn="l">
              <a:lnSpc>
                <a:spcPct val="105000"/>
              </a:lnSpc>
              <a:spcBef>
                <a:spcPts val="0"/>
              </a:spcBef>
            </a:pPr>
            <a:r>
              <a:rPr sz="950" b="0" i="0">
                <a:solidFill>
                  <a:srgbClr val="1B2B3C"/>
                </a:solidFill>
                <a:latin typeface="Calibri"/>
              </a:rPr>
              <a:t>Quarterly</a:t>
            </a:r>
          </a:p>
        </p:txBody>
      </p:sp>
      <p:sp>
        <p:nvSpPr>
          <p:cNvPr id="173" name="Rectangle 172"/>
          <p:cNvSpPr/>
          <p:nvPr/>
        </p:nvSpPr>
        <p:spPr>
          <a:xfrm>
            <a:off x="9144000" y="6089904"/>
            <a:ext cx="2468880" cy="347472"/>
          </a:xfrm>
          <a:prstGeom prst="rect">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TextBox 173"/>
          <p:cNvSpPr txBox="1"/>
          <p:nvPr/>
        </p:nvSpPr>
        <p:spPr>
          <a:xfrm>
            <a:off x="9217152" y="6135624"/>
            <a:ext cx="2322576" cy="301752"/>
          </a:xfrm>
          <a:prstGeom prst="rect">
            <a:avLst/>
          </a:prstGeom>
          <a:noFill/>
        </p:spPr>
        <p:txBody>
          <a:bodyPr wrap="square" anchor="ctr" lIns="0" rIns="0" tIns="0" bIns="0">
            <a:normAutofit/>
          </a:bodyPr>
          <a:lstStyle/>
          <a:p>
            <a:pPr algn="l">
              <a:lnSpc>
                <a:spcPct val="105000"/>
              </a:lnSpc>
              <a:spcBef>
                <a:spcPts val="0"/>
              </a:spcBef>
            </a:pPr>
            <a:r>
              <a:rPr sz="950" b="0" i="0">
                <a:solidFill>
                  <a:srgbClr val="1B2B3C"/>
                </a:solidFill>
                <a:latin typeface="Calibri"/>
              </a:rPr>
              <a:t>Bi-directional</a:t>
            </a:r>
          </a:p>
        </p:txBody>
      </p:sp>
      <p:sp>
        <p:nvSpPr>
          <p:cNvPr id="175" name="TextBox 174"/>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FPT Software · GCC Implementation Roadmap · Jun 2026</a:t>
            </a:r>
          </a:p>
        </p:txBody>
      </p:sp>
      <p:sp>
        <p:nvSpPr>
          <p:cNvPr id="176" name="TextBox 175"/>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13 / 17</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Governance Model — Stage Gates, RAID, and CxO Cadence</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How FPT Keeps the Programme on Track and the GCC Head Covered</a:t>
            </a:r>
          </a:p>
        </p:txBody>
      </p:sp>
      <p:sp>
        <p:nvSpPr>
          <p:cNvPr id="7" name="Rounded Rectangle 6"/>
          <p:cNvSpPr/>
          <p:nvPr/>
        </p:nvSpPr>
        <p:spPr>
          <a:xfrm>
            <a:off x="548640" y="1572768"/>
            <a:ext cx="5455767" cy="4480560"/>
          </a:xfrm>
          <a:prstGeom prst="roundRect">
            <a:avLst>
              <a:gd name="adj" fmla="val 3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572768"/>
            <a:ext cx="5455767" cy="347472"/>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76656" y="1627632"/>
            <a:ext cx="5272887" cy="256032"/>
          </a:xfrm>
          <a:prstGeom prst="rect">
            <a:avLst/>
          </a:prstGeom>
          <a:noFill/>
        </p:spPr>
        <p:txBody>
          <a:bodyPr wrap="square" anchor="t" lIns="0" rIns="0" tIns="0" bIns="0">
            <a:noAutofit/>
          </a:bodyPr>
          <a:lstStyle/>
          <a:p>
            <a:pPr algn="l">
              <a:lnSpc>
                <a:spcPct val="105000"/>
              </a:lnSpc>
              <a:spcBef>
                <a:spcPts val="0"/>
              </a:spcBef>
            </a:pPr>
            <a:r>
              <a:rPr sz="1200" b="1" i="0">
                <a:solidFill>
                  <a:srgbClr val="00C9A7"/>
                </a:solidFill>
                <a:latin typeface="Calibri"/>
              </a:rPr>
              <a:t>STAGE GATES</a:t>
            </a:r>
          </a:p>
        </p:txBody>
      </p:sp>
      <p:sp>
        <p:nvSpPr>
          <p:cNvPr id="10" name="Rounded Rectangle 9"/>
          <p:cNvSpPr/>
          <p:nvPr/>
        </p:nvSpPr>
        <p:spPr>
          <a:xfrm>
            <a:off x="658368" y="2029968"/>
            <a:ext cx="5254599" cy="914400"/>
          </a:xfrm>
          <a:prstGeom prst="roundRect">
            <a:avLst>
              <a:gd name="adj" fmla="val 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8" y="2084832"/>
            <a:ext cx="5108295" cy="237744"/>
          </a:xfrm>
          <a:prstGeom prst="rect">
            <a:avLst/>
          </a:prstGeom>
          <a:noFill/>
        </p:spPr>
        <p:txBody>
          <a:bodyPr wrap="square" anchor="t" lIns="0" rIns="0" tIns="0" bIns="0">
            <a:normAutofit/>
          </a:bodyPr>
          <a:lstStyle/>
          <a:p>
            <a:pPr algn="l">
              <a:lnSpc>
                <a:spcPct val="105000"/>
              </a:lnSpc>
              <a:spcBef>
                <a:spcPts val="0"/>
              </a:spcBef>
            </a:pPr>
            <a:r>
              <a:rPr sz="1050" b="1" i="0">
                <a:solidFill>
                  <a:srgbClr val="0A1628"/>
                </a:solidFill>
                <a:latin typeface="Calibri"/>
              </a:rPr>
              <a:t>Gate 1 — Week 8 (End of Sprint)</a:t>
            </a:r>
          </a:p>
        </p:txBody>
      </p:sp>
      <p:sp>
        <p:nvSpPr>
          <p:cNvPr id="12" name="TextBox 11"/>
          <p:cNvSpPr txBox="1"/>
          <p:nvPr/>
        </p:nvSpPr>
        <p:spPr>
          <a:xfrm>
            <a:off x="749808" y="2340864"/>
            <a:ext cx="5108295" cy="530352"/>
          </a:xfrm>
          <a:prstGeom prst="rect">
            <a:avLst/>
          </a:prstGeom>
          <a:noFill/>
        </p:spPr>
        <p:txBody>
          <a:bodyPr wrap="square" anchor="t" lIns="0" rIns="0" tIns="0" bIns="0">
            <a:normAutofit/>
          </a:bodyPr>
          <a:lstStyle/>
          <a:p>
            <a:pPr algn="l">
              <a:lnSpc>
                <a:spcPct val="105000"/>
              </a:lnSpc>
              <a:spcBef>
                <a:spcPts val="0"/>
              </a:spcBef>
            </a:pPr>
            <a:r>
              <a:rPr sz="1000" b="0" i="0">
                <a:solidFill>
                  <a:srgbClr val="1B2B3C"/>
                </a:solidFill>
                <a:latin typeface="Calibri"/>
              </a:rPr>
              <a:t>Go/No-Go for Transformation Program. Criteria: PoC results meet agreed KPIs · roadmap endorsed by GCC head · global parent briefed · SOW signed.</a:t>
            </a:r>
          </a:p>
        </p:txBody>
      </p:sp>
      <p:sp>
        <p:nvSpPr>
          <p:cNvPr id="13" name="Rounded Rectangle 12"/>
          <p:cNvSpPr/>
          <p:nvPr/>
        </p:nvSpPr>
        <p:spPr>
          <a:xfrm>
            <a:off x="658368" y="3035808"/>
            <a:ext cx="5254599" cy="914400"/>
          </a:xfrm>
          <a:prstGeom prst="roundRect">
            <a:avLst>
              <a:gd name="adj" fmla="val 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9808" y="3090672"/>
            <a:ext cx="5108295" cy="237744"/>
          </a:xfrm>
          <a:prstGeom prst="rect">
            <a:avLst/>
          </a:prstGeom>
          <a:noFill/>
        </p:spPr>
        <p:txBody>
          <a:bodyPr wrap="square" anchor="t" lIns="0" rIns="0" tIns="0" bIns="0">
            <a:normAutofit/>
          </a:bodyPr>
          <a:lstStyle/>
          <a:p>
            <a:pPr algn="l">
              <a:lnSpc>
                <a:spcPct val="105000"/>
              </a:lnSpc>
              <a:spcBef>
                <a:spcPts val="0"/>
              </a:spcBef>
            </a:pPr>
            <a:r>
              <a:rPr sz="1050" b="1" i="0">
                <a:solidFill>
                  <a:srgbClr val="0A1628"/>
                </a:solidFill>
                <a:latin typeface="Calibri"/>
              </a:rPr>
              <a:t>Gate 2 — Month 6 (Mid-Year 1)</a:t>
            </a:r>
          </a:p>
        </p:txBody>
      </p:sp>
      <p:sp>
        <p:nvSpPr>
          <p:cNvPr id="15" name="TextBox 14"/>
          <p:cNvSpPr txBox="1"/>
          <p:nvPr/>
        </p:nvSpPr>
        <p:spPr>
          <a:xfrm>
            <a:off x="749808" y="3346704"/>
            <a:ext cx="5108295" cy="530352"/>
          </a:xfrm>
          <a:prstGeom prst="rect">
            <a:avLst/>
          </a:prstGeom>
          <a:noFill/>
        </p:spPr>
        <p:txBody>
          <a:bodyPr wrap="square" anchor="t" lIns="0" rIns="0" tIns="0" bIns="0">
            <a:normAutofit/>
          </a:bodyPr>
          <a:lstStyle/>
          <a:p>
            <a:pPr algn="l">
              <a:lnSpc>
                <a:spcPct val="105000"/>
              </a:lnSpc>
              <a:spcBef>
                <a:spcPts val="0"/>
              </a:spcBef>
            </a:pPr>
            <a:r>
              <a:rPr sz="1000" b="0" i="0">
                <a:solidFill>
                  <a:srgbClr val="1B2B3C"/>
                </a:solidFill>
                <a:latin typeface="Calibri"/>
              </a:rPr>
              <a:t>Programme health check. Criteria: first production use case live · data platform operational · legacy modernization on track · managed services SLA met.</a:t>
            </a:r>
          </a:p>
        </p:txBody>
      </p:sp>
      <p:sp>
        <p:nvSpPr>
          <p:cNvPr id="16" name="Rounded Rectangle 15"/>
          <p:cNvSpPr/>
          <p:nvPr/>
        </p:nvSpPr>
        <p:spPr>
          <a:xfrm>
            <a:off x="658368" y="4041648"/>
            <a:ext cx="5254599" cy="914400"/>
          </a:xfrm>
          <a:prstGeom prst="roundRect">
            <a:avLst>
              <a:gd name="adj" fmla="val 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9808" y="4096512"/>
            <a:ext cx="5108295" cy="237744"/>
          </a:xfrm>
          <a:prstGeom prst="rect">
            <a:avLst/>
          </a:prstGeom>
          <a:noFill/>
        </p:spPr>
        <p:txBody>
          <a:bodyPr wrap="square" anchor="t" lIns="0" rIns="0" tIns="0" bIns="0">
            <a:normAutofit/>
          </a:bodyPr>
          <a:lstStyle/>
          <a:p>
            <a:pPr algn="l">
              <a:lnSpc>
                <a:spcPct val="105000"/>
              </a:lnSpc>
              <a:spcBef>
                <a:spcPts val="0"/>
              </a:spcBef>
            </a:pPr>
            <a:r>
              <a:rPr sz="1050" b="1" i="0">
                <a:solidFill>
                  <a:srgbClr val="0A1628"/>
                </a:solidFill>
                <a:latin typeface="Calibri"/>
              </a:rPr>
              <a:t>Gate 3 — Month 12 (End of Year 1)</a:t>
            </a:r>
          </a:p>
        </p:txBody>
      </p:sp>
      <p:sp>
        <p:nvSpPr>
          <p:cNvPr id="18" name="TextBox 17"/>
          <p:cNvSpPr txBox="1"/>
          <p:nvPr/>
        </p:nvSpPr>
        <p:spPr>
          <a:xfrm>
            <a:off x="749808" y="4352544"/>
            <a:ext cx="5108295" cy="530352"/>
          </a:xfrm>
          <a:prstGeom prst="rect">
            <a:avLst/>
          </a:prstGeom>
          <a:noFill/>
        </p:spPr>
        <p:txBody>
          <a:bodyPr wrap="square" anchor="t" lIns="0" rIns="0" tIns="0" bIns="0">
            <a:normAutofit/>
          </a:bodyPr>
          <a:lstStyle/>
          <a:p>
            <a:pPr algn="l">
              <a:lnSpc>
                <a:spcPct val="105000"/>
              </a:lnSpc>
              <a:spcBef>
                <a:spcPts val="0"/>
              </a:spcBef>
            </a:pPr>
            <a:r>
              <a:rPr sz="1000" b="0" i="0">
                <a:solidFill>
                  <a:srgbClr val="1B2B3C"/>
                </a:solidFill>
                <a:latin typeface="Calibri"/>
              </a:rPr>
              <a:t>Year 2 renewal decision. Criteria: 2+ use cases in production · vertical AI deployed · measurable ROI documented · GCC head satisfied · global parent review passed.</a:t>
            </a:r>
          </a:p>
        </p:txBody>
      </p:sp>
      <p:sp>
        <p:nvSpPr>
          <p:cNvPr id="19" name="Rounded Rectangle 18"/>
          <p:cNvSpPr/>
          <p:nvPr/>
        </p:nvSpPr>
        <p:spPr>
          <a:xfrm>
            <a:off x="658368" y="5047488"/>
            <a:ext cx="5254599" cy="914400"/>
          </a:xfrm>
          <a:prstGeom prst="roundRect">
            <a:avLst>
              <a:gd name="adj" fmla="val 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5102352"/>
            <a:ext cx="5108295" cy="237744"/>
          </a:xfrm>
          <a:prstGeom prst="rect">
            <a:avLst/>
          </a:prstGeom>
          <a:noFill/>
        </p:spPr>
        <p:txBody>
          <a:bodyPr wrap="square" anchor="t" lIns="0" rIns="0" tIns="0" bIns="0">
            <a:normAutofit/>
          </a:bodyPr>
          <a:lstStyle/>
          <a:p>
            <a:pPr algn="l">
              <a:lnSpc>
                <a:spcPct val="105000"/>
              </a:lnSpc>
              <a:spcBef>
                <a:spcPts val="0"/>
              </a:spcBef>
            </a:pPr>
            <a:r>
              <a:rPr sz="1050" b="1" i="0">
                <a:solidFill>
                  <a:srgbClr val="0A1628"/>
                </a:solidFill>
                <a:latin typeface="Calibri"/>
              </a:rPr>
              <a:t>Gate 4 — Month 24 (Strategic Conversion)</a:t>
            </a:r>
          </a:p>
        </p:txBody>
      </p:sp>
      <p:sp>
        <p:nvSpPr>
          <p:cNvPr id="21" name="TextBox 20"/>
          <p:cNvSpPr txBox="1"/>
          <p:nvPr/>
        </p:nvSpPr>
        <p:spPr>
          <a:xfrm>
            <a:off x="749808" y="5358384"/>
            <a:ext cx="5108295" cy="530352"/>
          </a:xfrm>
          <a:prstGeom prst="rect">
            <a:avLst/>
          </a:prstGeom>
          <a:noFill/>
        </p:spPr>
        <p:txBody>
          <a:bodyPr wrap="square" anchor="t" lIns="0" rIns="0" tIns="0" bIns="0">
            <a:normAutofit/>
          </a:bodyPr>
          <a:lstStyle/>
          <a:p>
            <a:pPr algn="l">
              <a:lnSpc>
                <a:spcPct val="105000"/>
              </a:lnSpc>
              <a:spcBef>
                <a:spcPts val="0"/>
              </a:spcBef>
            </a:pPr>
            <a:r>
              <a:rPr sz="1000" b="0" i="0">
                <a:solidFill>
                  <a:srgbClr val="1B2B3C"/>
                </a:solidFill>
                <a:latin typeface="Calibri"/>
              </a:rPr>
              <a:t>Go/No-Go for Strategic AI Partnership. Criteria: co-development sprint completed · white-label module v1 shipped · IP framework signed · CxO alignment on multi-year MSA.</a:t>
            </a:r>
          </a:p>
        </p:txBody>
      </p:sp>
      <p:sp>
        <p:nvSpPr>
          <p:cNvPr id="22" name="Rounded Rectangle 21"/>
          <p:cNvSpPr/>
          <p:nvPr/>
        </p:nvSpPr>
        <p:spPr>
          <a:xfrm>
            <a:off x="6187287" y="1572768"/>
            <a:ext cx="5455767" cy="4480560"/>
          </a:xfrm>
          <a:prstGeom prst="roundRect">
            <a:avLst>
              <a:gd name="adj" fmla="val 3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87287" y="1572768"/>
            <a:ext cx="5455767" cy="347472"/>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15303" y="1627632"/>
            <a:ext cx="5272887" cy="256032"/>
          </a:xfrm>
          <a:prstGeom prst="rect">
            <a:avLst/>
          </a:prstGeom>
          <a:noFill/>
        </p:spPr>
        <p:txBody>
          <a:bodyPr wrap="square" anchor="t" lIns="0" rIns="0" tIns="0" bIns="0">
            <a:noAutofit/>
          </a:bodyPr>
          <a:lstStyle/>
          <a:p>
            <a:pPr algn="l">
              <a:lnSpc>
                <a:spcPct val="105000"/>
              </a:lnSpc>
              <a:spcBef>
                <a:spcPts val="0"/>
              </a:spcBef>
            </a:pPr>
            <a:r>
              <a:rPr sz="1200" b="1" i="0">
                <a:solidFill>
                  <a:srgbClr val="0A1628"/>
                </a:solidFill>
                <a:latin typeface="Calibri"/>
              </a:rPr>
              <a:t>OPERATING CADENCE</a:t>
            </a:r>
          </a:p>
        </p:txBody>
      </p:sp>
      <p:sp>
        <p:nvSpPr>
          <p:cNvPr id="25" name="Rounded Rectangle 24"/>
          <p:cNvSpPr/>
          <p:nvPr/>
        </p:nvSpPr>
        <p:spPr>
          <a:xfrm>
            <a:off x="6297015" y="2029968"/>
            <a:ext cx="1005840" cy="594360"/>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15303" y="2167128"/>
            <a:ext cx="914400" cy="320040"/>
          </a:xfrm>
          <a:prstGeom prst="rect">
            <a:avLst/>
          </a:prstGeom>
          <a:noFill/>
        </p:spPr>
        <p:txBody>
          <a:bodyPr wrap="square" anchor="ctr" lIns="0" rIns="0" tIns="0" bIns="0">
            <a:noAutofit/>
          </a:bodyPr>
          <a:lstStyle/>
          <a:p>
            <a:pPr algn="ctr">
              <a:lnSpc>
                <a:spcPct val="105000"/>
              </a:lnSpc>
              <a:spcBef>
                <a:spcPts val="0"/>
              </a:spcBef>
            </a:pPr>
            <a:r>
              <a:rPr sz="1100" b="1" i="0">
                <a:solidFill>
                  <a:srgbClr val="00C9A7"/>
                </a:solidFill>
                <a:latin typeface="Calibri"/>
              </a:rPr>
              <a:t>Weekly</a:t>
            </a:r>
          </a:p>
        </p:txBody>
      </p:sp>
      <p:sp>
        <p:nvSpPr>
          <p:cNvPr id="27" name="TextBox 26"/>
          <p:cNvSpPr txBox="1"/>
          <p:nvPr/>
        </p:nvSpPr>
        <p:spPr>
          <a:xfrm>
            <a:off x="7357719" y="2084832"/>
            <a:ext cx="4157319" cy="493776"/>
          </a:xfrm>
          <a:prstGeom prst="rect">
            <a:avLst/>
          </a:prstGeom>
          <a:noFill/>
        </p:spPr>
        <p:txBody>
          <a:bodyPr wrap="square" anchor="t" lIns="0" rIns="0" tIns="0" bIns="0">
            <a:normAutofit/>
          </a:bodyPr>
          <a:lstStyle/>
          <a:p>
            <a:pPr algn="l">
              <a:lnSpc>
                <a:spcPct val="105000"/>
              </a:lnSpc>
              <a:spcBef>
                <a:spcPts val="0"/>
              </a:spcBef>
            </a:pPr>
            <a:r>
              <a:rPr sz="1000" b="0" i="0">
                <a:solidFill>
                  <a:srgbClr val="E0F7F1"/>
                </a:solidFill>
                <a:latin typeface="Calibri"/>
              </a:rPr>
              <a:t>FPT delivery lead + GCC programme manager · sprint reviews · blockers surfaced</a:t>
            </a:r>
          </a:p>
        </p:txBody>
      </p:sp>
      <p:sp>
        <p:nvSpPr>
          <p:cNvPr id="28" name="Rounded Rectangle 27"/>
          <p:cNvSpPr/>
          <p:nvPr/>
        </p:nvSpPr>
        <p:spPr>
          <a:xfrm>
            <a:off x="6297015" y="2715768"/>
            <a:ext cx="1005840" cy="594360"/>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315303" y="2852928"/>
            <a:ext cx="914400" cy="320040"/>
          </a:xfrm>
          <a:prstGeom prst="rect">
            <a:avLst/>
          </a:prstGeom>
          <a:noFill/>
        </p:spPr>
        <p:txBody>
          <a:bodyPr wrap="square" anchor="ctr" lIns="0" rIns="0" tIns="0" bIns="0">
            <a:noAutofit/>
          </a:bodyPr>
          <a:lstStyle/>
          <a:p>
            <a:pPr algn="ctr">
              <a:lnSpc>
                <a:spcPct val="105000"/>
              </a:lnSpc>
              <a:spcBef>
                <a:spcPts val="0"/>
              </a:spcBef>
            </a:pPr>
            <a:r>
              <a:rPr sz="1100" b="1" i="0">
                <a:solidFill>
                  <a:srgbClr val="00C9A7"/>
                </a:solidFill>
                <a:latin typeface="Calibri"/>
              </a:rPr>
              <a:t>Monthly</a:t>
            </a:r>
          </a:p>
        </p:txBody>
      </p:sp>
      <p:sp>
        <p:nvSpPr>
          <p:cNvPr id="30" name="TextBox 29"/>
          <p:cNvSpPr txBox="1"/>
          <p:nvPr/>
        </p:nvSpPr>
        <p:spPr>
          <a:xfrm>
            <a:off x="7357719" y="2770632"/>
            <a:ext cx="4157319" cy="493776"/>
          </a:xfrm>
          <a:prstGeom prst="rect">
            <a:avLst/>
          </a:prstGeom>
          <a:noFill/>
        </p:spPr>
        <p:txBody>
          <a:bodyPr wrap="square" anchor="t" lIns="0" rIns="0" tIns="0" bIns="0">
            <a:normAutofit/>
          </a:bodyPr>
          <a:lstStyle/>
          <a:p>
            <a:pPr algn="l">
              <a:lnSpc>
                <a:spcPct val="105000"/>
              </a:lnSpc>
              <a:spcBef>
                <a:spcPts val="0"/>
              </a:spcBef>
            </a:pPr>
            <a:r>
              <a:rPr sz="1000" b="0" i="0">
                <a:solidFill>
                  <a:srgbClr val="E0F7F1"/>
                </a:solidFill>
                <a:latin typeface="Calibri"/>
              </a:rPr>
              <a:t>Srikumar + GCC VP · performance vs SLA · upcoming milestones · commercial items</a:t>
            </a:r>
          </a:p>
        </p:txBody>
      </p:sp>
      <p:sp>
        <p:nvSpPr>
          <p:cNvPr id="31" name="Rounded Rectangle 30"/>
          <p:cNvSpPr/>
          <p:nvPr/>
        </p:nvSpPr>
        <p:spPr>
          <a:xfrm>
            <a:off x="6297015" y="3401568"/>
            <a:ext cx="1005840" cy="594360"/>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315303" y="3538728"/>
            <a:ext cx="914400" cy="320040"/>
          </a:xfrm>
          <a:prstGeom prst="rect">
            <a:avLst/>
          </a:prstGeom>
          <a:noFill/>
        </p:spPr>
        <p:txBody>
          <a:bodyPr wrap="square" anchor="ctr" lIns="0" rIns="0" tIns="0" bIns="0">
            <a:noAutofit/>
          </a:bodyPr>
          <a:lstStyle/>
          <a:p>
            <a:pPr algn="ctr">
              <a:lnSpc>
                <a:spcPct val="105000"/>
              </a:lnSpc>
              <a:spcBef>
                <a:spcPts val="0"/>
              </a:spcBef>
            </a:pPr>
            <a:r>
              <a:rPr sz="1100" b="1" i="0">
                <a:solidFill>
                  <a:srgbClr val="00C9A7"/>
                </a:solidFill>
                <a:latin typeface="Calibri"/>
              </a:rPr>
              <a:t>Quarterly</a:t>
            </a:r>
          </a:p>
        </p:txBody>
      </p:sp>
      <p:sp>
        <p:nvSpPr>
          <p:cNvPr id="33" name="TextBox 32"/>
          <p:cNvSpPr txBox="1"/>
          <p:nvPr/>
        </p:nvSpPr>
        <p:spPr>
          <a:xfrm>
            <a:off x="7357719" y="3456432"/>
            <a:ext cx="4157319" cy="493776"/>
          </a:xfrm>
          <a:prstGeom prst="rect">
            <a:avLst/>
          </a:prstGeom>
          <a:noFill/>
        </p:spPr>
        <p:txBody>
          <a:bodyPr wrap="square" anchor="t" lIns="0" rIns="0" tIns="0" bIns="0">
            <a:normAutofit/>
          </a:bodyPr>
          <a:lstStyle/>
          <a:p>
            <a:pPr algn="l">
              <a:lnSpc>
                <a:spcPct val="105000"/>
              </a:lnSpc>
              <a:spcBef>
                <a:spcPts val="0"/>
              </a:spcBef>
            </a:pPr>
            <a:r>
              <a:rPr sz="1000" b="0" i="0">
                <a:solidFill>
                  <a:srgbClr val="E0F7F1"/>
                </a:solidFill>
                <a:latin typeface="Calibri"/>
              </a:rPr>
              <a:t>CxO review · FPT technology pipeline briefing · roadmap co-planning · gate assessment</a:t>
            </a:r>
          </a:p>
        </p:txBody>
      </p:sp>
      <p:sp>
        <p:nvSpPr>
          <p:cNvPr id="34" name="Rounded Rectangle 33"/>
          <p:cNvSpPr/>
          <p:nvPr/>
        </p:nvSpPr>
        <p:spPr>
          <a:xfrm>
            <a:off x="6297015" y="4087368"/>
            <a:ext cx="1005840" cy="594360"/>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15303" y="4224528"/>
            <a:ext cx="914400" cy="320040"/>
          </a:xfrm>
          <a:prstGeom prst="rect">
            <a:avLst/>
          </a:prstGeom>
          <a:noFill/>
        </p:spPr>
        <p:txBody>
          <a:bodyPr wrap="square" anchor="ctr" lIns="0" rIns="0" tIns="0" bIns="0">
            <a:noAutofit/>
          </a:bodyPr>
          <a:lstStyle/>
          <a:p>
            <a:pPr algn="ctr">
              <a:lnSpc>
                <a:spcPct val="105000"/>
              </a:lnSpc>
              <a:spcBef>
                <a:spcPts val="0"/>
              </a:spcBef>
            </a:pPr>
            <a:r>
              <a:rPr sz="1100" b="1" i="0">
                <a:solidFill>
                  <a:srgbClr val="00C9A7"/>
                </a:solidFill>
                <a:latin typeface="Calibri"/>
              </a:rPr>
              <a:t>Annually</a:t>
            </a:r>
          </a:p>
        </p:txBody>
      </p:sp>
      <p:sp>
        <p:nvSpPr>
          <p:cNvPr id="36" name="TextBox 35"/>
          <p:cNvSpPr txBox="1"/>
          <p:nvPr/>
        </p:nvSpPr>
        <p:spPr>
          <a:xfrm>
            <a:off x="7357719" y="4142232"/>
            <a:ext cx="4157319" cy="493776"/>
          </a:xfrm>
          <a:prstGeom prst="rect">
            <a:avLst/>
          </a:prstGeom>
          <a:noFill/>
        </p:spPr>
        <p:txBody>
          <a:bodyPr wrap="square" anchor="t" lIns="0" rIns="0" tIns="0" bIns="0">
            <a:normAutofit/>
          </a:bodyPr>
          <a:lstStyle/>
          <a:p>
            <a:pPr algn="l">
              <a:lnSpc>
                <a:spcPct val="105000"/>
              </a:lnSpc>
              <a:spcBef>
                <a:spcPts val="0"/>
              </a:spcBef>
            </a:pPr>
            <a:r>
              <a:rPr sz="1000" b="0" i="0">
                <a:solidFill>
                  <a:srgbClr val="E0F7F1"/>
                </a:solidFill>
                <a:latin typeface="Calibri"/>
              </a:rPr>
              <a:t>Global parent briefing · ROI review · Strategic Partnership expansion discussion</a:t>
            </a:r>
          </a:p>
        </p:txBody>
      </p:sp>
      <p:sp>
        <p:nvSpPr>
          <p:cNvPr id="37" name="Rounded Rectangle 36"/>
          <p:cNvSpPr/>
          <p:nvPr/>
        </p:nvSpPr>
        <p:spPr>
          <a:xfrm>
            <a:off x="6297015" y="4773168"/>
            <a:ext cx="1005840" cy="594360"/>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15303" y="4910328"/>
            <a:ext cx="914400" cy="320040"/>
          </a:xfrm>
          <a:prstGeom prst="rect">
            <a:avLst/>
          </a:prstGeom>
          <a:noFill/>
        </p:spPr>
        <p:txBody>
          <a:bodyPr wrap="square" anchor="ctr" lIns="0" rIns="0" tIns="0" bIns="0">
            <a:noAutofit/>
          </a:bodyPr>
          <a:lstStyle/>
          <a:p>
            <a:pPr algn="ctr">
              <a:lnSpc>
                <a:spcPct val="105000"/>
              </a:lnSpc>
              <a:spcBef>
                <a:spcPts val="0"/>
              </a:spcBef>
            </a:pPr>
            <a:r>
              <a:rPr sz="1100" b="1" i="0">
                <a:solidFill>
                  <a:srgbClr val="00C9A7"/>
                </a:solidFill>
                <a:latin typeface="Calibri"/>
              </a:rPr>
              <a:t>RAID Log</a:t>
            </a:r>
          </a:p>
        </p:txBody>
      </p:sp>
      <p:sp>
        <p:nvSpPr>
          <p:cNvPr id="39" name="TextBox 38"/>
          <p:cNvSpPr txBox="1"/>
          <p:nvPr/>
        </p:nvSpPr>
        <p:spPr>
          <a:xfrm>
            <a:off x="7357719" y="4828032"/>
            <a:ext cx="4157319" cy="493776"/>
          </a:xfrm>
          <a:prstGeom prst="rect">
            <a:avLst/>
          </a:prstGeom>
          <a:noFill/>
        </p:spPr>
        <p:txBody>
          <a:bodyPr wrap="square" anchor="t" lIns="0" rIns="0" tIns="0" bIns="0">
            <a:normAutofit/>
          </a:bodyPr>
          <a:lstStyle/>
          <a:p>
            <a:pPr algn="l">
              <a:lnSpc>
                <a:spcPct val="105000"/>
              </a:lnSpc>
              <a:spcBef>
                <a:spcPts val="0"/>
              </a:spcBef>
            </a:pPr>
            <a:r>
              <a:rPr sz="1000" b="0" i="0">
                <a:solidFill>
                  <a:srgbClr val="E0F7F1"/>
                </a:solidFill>
                <a:latin typeface="Calibri"/>
              </a:rPr>
              <a:t>Risks, Assumptions, Issues, Decisions — maintained continuously by FPT delivery lead · shared with GCC weekly</a:t>
            </a:r>
          </a:p>
        </p:txBody>
      </p:sp>
      <p:sp>
        <p:nvSpPr>
          <p:cNvPr id="40" name="Rounded Rectangle 39"/>
          <p:cNvSpPr/>
          <p:nvPr/>
        </p:nvSpPr>
        <p:spPr>
          <a:xfrm>
            <a:off x="6297015" y="5458968"/>
            <a:ext cx="1005840" cy="594360"/>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315303" y="5596128"/>
            <a:ext cx="914400" cy="320040"/>
          </a:xfrm>
          <a:prstGeom prst="rect">
            <a:avLst/>
          </a:prstGeom>
          <a:noFill/>
        </p:spPr>
        <p:txBody>
          <a:bodyPr wrap="square" anchor="ctr" lIns="0" rIns="0" tIns="0" bIns="0">
            <a:noAutofit/>
          </a:bodyPr>
          <a:lstStyle/>
          <a:p>
            <a:pPr algn="ctr">
              <a:lnSpc>
                <a:spcPct val="105000"/>
              </a:lnSpc>
              <a:spcBef>
                <a:spcPts val="0"/>
              </a:spcBef>
            </a:pPr>
            <a:r>
              <a:rPr sz="1100" b="1" i="0">
                <a:solidFill>
                  <a:srgbClr val="00C9A7"/>
                </a:solidFill>
                <a:latin typeface="Calibri"/>
              </a:rPr>
              <a:t>Escalation Path</a:t>
            </a:r>
          </a:p>
        </p:txBody>
      </p:sp>
      <p:sp>
        <p:nvSpPr>
          <p:cNvPr id="42" name="TextBox 41"/>
          <p:cNvSpPr txBox="1"/>
          <p:nvPr/>
        </p:nvSpPr>
        <p:spPr>
          <a:xfrm>
            <a:off x="7357719" y="5513832"/>
            <a:ext cx="4157319" cy="493776"/>
          </a:xfrm>
          <a:prstGeom prst="rect">
            <a:avLst/>
          </a:prstGeom>
          <a:noFill/>
        </p:spPr>
        <p:txBody>
          <a:bodyPr wrap="square" anchor="t" lIns="0" rIns="0" tIns="0" bIns="0">
            <a:normAutofit/>
          </a:bodyPr>
          <a:lstStyle/>
          <a:p>
            <a:pPr algn="l">
              <a:lnSpc>
                <a:spcPct val="105000"/>
              </a:lnSpc>
              <a:spcBef>
                <a:spcPts val="0"/>
              </a:spcBef>
            </a:pPr>
            <a:r>
              <a:rPr sz="1000" b="0" i="0">
                <a:solidFill>
                  <a:srgbClr val="E0F7F1"/>
                </a:solidFill>
                <a:latin typeface="Calibri"/>
              </a:rPr>
              <a:t>GCC Engineer → FPT Delivery Lead → Srikumar → FPT India MD → FPT Global CxO · maximum 24hr resolution SLA for P1 issues</a:t>
            </a:r>
          </a:p>
        </p:txBody>
      </p:sp>
      <p:sp>
        <p:nvSpPr>
          <p:cNvPr id="43" name="TextBox 42"/>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FPT Software · GCC Implementation Roadmap · Jun 2026</a:t>
            </a:r>
          </a:p>
        </p:txBody>
      </p:sp>
      <p:sp>
        <p:nvSpPr>
          <p:cNvPr id="44" name="TextBox 43"/>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14 / 17</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The Commercial Arc — From Sprint to Strategic Partner in 24 Months</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Revenue Progression and FPT Proof Points</a:t>
            </a:r>
          </a:p>
        </p:txBody>
      </p:sp>
      <p:sp>
        <p:nvSpPr>
          <p:cNvPr id="7" name="Rectangle 6"/>
          <p:cNvSpPr/>
          <p:nvPr/>
        </p:nvSpPr>
        <p:spPr>
          <a:xfrm>
            <a:off x="548640" y="1572768"/>
            <a:ext cx="2194560" cy="804672"/>
          </a:xfrm>
          <a:prstGeom prst="rect">
            <a:avLst/>
          </a:prstGeom>
          <a:solidFill>
            <a:srgbClr val="0A162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1618488"/>
            <a:ext cx="2048256" cy="758952"/>
          </a:xfrm>
          <a:prstGeom prst="rect">
            <a:avLst/>
          </a:prstGeom>
          <a:noFill/>
        </p:spPr>
        <p:txBody>
          <a:bodyPr wrap="square" anchor="ctr" lIns="0" rIns="0" tIns="0" bIns="0">
            <a:normAutofit/>
          </a:bodyPr>
          <a:lstStyle/>
          <a:p>
            <a:pPr algn="l">
              <a:lnSpc>
                <a:spcPct val="105000"/>
              </a:lnSpc>
              <a:spcBef>
                <a:spcPts val="0"/>
              </a:spcBef>
            </a:pPr>
            <a:r>
              <a:rPr sz="1100" b="1" i="0">
                <a:solidFill>
                  <a:srgbClr val="FFFFFF"/>
                </a:solidFill>
                <a:latin typeface="Calibri"/>
              </a:rPr>
              <a:t>Phase</a:t>
            </a:r>
          </a:p>
        </p:txBody>
      </p:sp>
      <p:sp>
        <p:nvSpPr>
          <p:cNvPr id="9" name="Rectangle 8"/>
          <p:cNvSpPr/>
          <p:nvPr/>
        </p:nvSpPr>
        <p:spPr>
          <a:xfrm>
            <a:off x="2743200" y="1572768"/>
            <a:ext cx="1371600" cy="804672"/>
          </a:xfrm>
          <a:prstGeom prst="rect">
            <a:avLst/>
          </a:prstGeom>
          <a:solidFill>
            <a:srgbClr val="0A162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816352" y="1618488"/>
            <a:ext cx="1225296" cy="758952"/>
          </a:xfrm>
          <a:prstGeom prst="rect">
            <a:avLst/>
          </a:prstGeom>
          <a:noFill/>
        </p:spPr>
        <p:txBody>
          <a:bodyPr wrap="square" anchor="ctr" lIns="0" rIns="0" tIns="0" bIns="0">
            <a:normAutofit/>
          </a:bodyPr>
          <a:lstStyle/>
          <a:p>
            <a:pPr algn="l">
              <a:lnSpc>
                <a:spcPct val="105000"/>
              </a:lnSpc>
              <a:spcBef>
                <a:spcPts val="0"/>
              </a:spcBef>
            </a:pPr>
            <a:r>
              <a:rPr sz="1100" b="1" i="0">
                <a:solidFill>
                  <a:srgbClr val="FFFFFF"/>
                </a:solidFill>
                <a:latin typeface="Calibri"/>
              </a:rPr>
              <a:t>Timeline</a:t>
            </a:r>
          </a:p>
        </p:txBody>
      </p:sp>
      <p:sp>
        <p:nvSpPr>
          <p:cNvPr id="11" name="Rectangle 10"/>
          <p:cNvSpPr/>
          <p:nvPr/>
        </p:nvSpPr>
        <p:spPr>
          <a:xfrm>
            <a:off x="4114800" y="1572768"/>
            <a:ext cx="1645920" cy="804672"/>
          </a:xfrm>
          <a:prstGeom prst="rect">
            <a:avLst/>
          </a:prstGeom>
          <a:solidFill>
            <a:srgbClr val="0A162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87952" y="1618488"/>
            <a:ext cx="1499616" cy="758952"/>
          </a:xfrm>
          <a:prstGeom prst="rect">
            <a:avLst/>
          </a:prstGeom>
          <a:noFill/>
        </p:spPr>
        <p:txBody>
          <a:bodyPr wrap="square" anchor="ctr" lIns="0" rIns="0" tIns="0" bIns="0">
            <a:normAutofit/>
          </a:bodyPr>
          <a:lstStyle/>
          <a:p>
            <a:pPr algn="l">
              <a:lnSpc>
                <a:spcPct val="105000"/>
              </a:lnSpc>
              <a:spcBef>
                <a:spcPts val="0"/>
              </a:spcBef>
            </a:pPr>
            <a:r>
              <a:rPr sz="1100" b="1" i="0">
                <a:solidFill>
                  <a:srgbClr val="FFFFFF"/>
                </a:solidFill>
                <a:latin typeface="Calibri"/>
              </a:rPr>
              <a:t>GCC Investment</a:t>
            </a:r>
          </a:p>
        </p:txBody>
      </p:sp>
      <p:sp>
        <p:nvSpPr>
          <p:cNvPr id="13" name="Rectangle 12"/>
          <p:cNvSpPr/>
          <p:nvPr/>
        </p:nvSpPr>
        <p:spPr>
          <a:xfrm>
            <a:off x="5760720" y="1572768"/>
            <a:ext cx="3200400" cy="804672"/>
          </a:xfrm>
          <a:prstGeom prst="rect">
            <a:avLst/>
          </a:prstGeom>
          <a:solidFill>
            <a:srgbClr val="0A162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833872" y="1618488"/>
            <a:ext cx="3054096" cy="758952"/>
          </a:xfrm>
          <a:prstGeom prst="rect">
            <a:avLst/>
          </a:prstGeom>
          <a:noFill/>
        </p:spPr>
        <p:txBody>
          <a:bodyPr wrap="square" anchor="ctr" lIns="0" rIns="0" tIns="0" bIns="0">
            <a:normAutofit/>
          </a:bodyPr>
          <a:lstStyle/>
          <a:p>
            <a:pPr algn="l">
              <a:lnSpc>
                <a:spcPct val="105000"/>
              </a:lnSpc>
              <a:spcBef>
                <a:spcPts val="0"/>
              </a:spcBef>
            </a:pPr>
            <a:r>
              <a:rPr sz="1100" b="1" i="0">
                <a:solidFill>
                  <a:srgbClr val="FFFFFF"/>
                </a:solidFill>
                <a:latin typeface="Calibri"/>
              </a:rPr>
              <a:t>FPT Platforms Active</a:t>
            </a:r>
          </a:p>
        </p:txBody>
      </p:sp>
      <p:sp>
        <p:nvSpPr>
          <p:cNvPr id="15" name="Rectangle 14"/>
          <p:cNvSpPr/>
          <p:nvPr/>
        </p:nvSpPr>
        <p:spPr>
          <a:xfrm>
            <a:off x="8961120" y="1572768"/>
            <a:ext cx="2560320" cy="804672"/>
          </a:xfrm>
          <a:prstGeom prst="rect">
            <a:avLst/>
          </a:prstGeom>
          <a:solidFill>
            <a:srgbClr val="0A162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34272" y="1618488"/>
            <a:ext cx="2414016" cy="758952"/>
          </a:xfrm>
          <a:prstGeom prst="rect">
            <a:avLst/>
          </a:prstGeom>
          <a:noFill/>
        </p:spPr>
        <p:txBody>
          <a:bodyPr wrap="square" anchor="ctr" lIns="0" rIns="0" tIns="0" bIns="0">
            <a:normAutofit/>
          </a:bodyPr>
          <a:lstStyle/>
          <a:p>
            <a:pPr algn="l">
              <a:lnSpc>
                <a:spcPct val="105000"/>
              </a:lnSpc>
              <a:spcBef>
                <a:spcPts val="0"/>
              </a:spcBef>
            </a:pPr>
            <a:r>
              <a:rPr sz="1100" b="1" i="0">
                <a:solidFill>
                  <a:srgbClr val="FFFFFF"/>
                </a:solidFill>
                <a:latin typeface="Calibri"/>
              </a:rPr>
              <a:t>Proof Benchmark</a:t>
            </a:r>
          </a:p>
        </p:txBody>
      </p:sp>
      <p:sp>
        <p:nvSpPr>
          <p:cNvPr id="17" name="Rectangle 16"/>
          <p:cNvSpPr/>
          <p:nvPr/>
        </p:nvSpPr>
        <p:spPr>
          <a:xfrm>
            <a:off x="548640" y="2377440"/>
            <a:ext cx="2194560" cy="804672"/>
          </a:xfrm>
          <a:prstGeom prst="rect">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1792" y="2423160"/>
            <a:ext cx="2048256" cy="758952"/>
          </a:xfrm>
          <a:prstGeom prst="rect">
            <a:avLst/>
          </a:prstGeom>
          <a:noFill/>
        </p:spPr>
        <p:txBody>
          <a:bodyPr wrap="square" anchor="ctr" lIns="0" rIns="0" tIns="0" bIns="0">
            <a:normAutofit/>
          </a:bodyPr>
          <a:lstStyle/>
          <a:p>
            <a:pPr algn="l">
              <a:lnSpc>
                <a:spcPct val="105000"/>
              </a:lnSpc>
              <a:spcBef>
                <a:spcPts val="0"/>
              </a:spcBef>
            </a:pPr>
            <a:r>
              <a:rPr sz="1050" b="0" i="0">
                <a:solidFill>
                  <a:srgbClr val="1B2B3C"/>
                </a:solidFill>
                <a:latin typeface="Calibri"/>
              </a:rPr>
              <a:t>AI Readiness Sprint</a:t>
            </a:r>
          </a:p>
        </p:txBody>
      </p:sp>
      <p:sp>
        <p:nvSpPr>
          <p:cNvPr id="19" name="Rectangle 18"/>
          <p:cNvSpPr/>
          <p:nvPr/>
        </p:nvSpPr>
        <p:spPr>
          <a:xfrm>
            <a:off x="2743200" y="2377440"/>
            <a:ext cx="1371600" cy="804672"/>
          </a:xfrm>
          <a:prstGeom prst="rect">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816352" y="2423160"/>
            <a:ext cx="1225296" cy="758952"/>
          </a:xfrm>
          <a:prstGeom prst="rect">
            <a:avLst/>
          </a:prstGeom>
          <a:noFill/>
        </p:spPr>
        <p:txBody>
          <a:bodyPr wrap="square" anchor="ctr" lIns="0" rIns="0" tIns="0" bIns="0">
            <a:normAutofit/>
          </a:bodyPr>
          <a:lstStyle/>
          <a:p>
            <a:pPr algn="l">
              <a:lnSpc>
                <a:spcPct val="105000"/>
              </a:lnSpc>
              <a:spcBef>
                <a:spcPts val="0"/>
              </a:spcBef>
            </a:pPr>
            <a:r>
              <a:rPr sz="1050" b="0" i="0">
                <a:solidFill>
                  <a:srgbClr val="1B2B3C"/>
                </a:solidFill>
                <a:latin typeface="Calibri"/>
              </a:rPr>
              <a:t>Weeks 1–8</a:t>
            </a:r>
          </a:p>
        </p:txBody>
      </p:sp>
      <p:sp>
        <p:nvSpPr>
          <p:cNvPr id="21" name="Rectangle 20"/>
          <p:cNvSpPr/>
          <p:nvPr/>
        </p:nvSpPr>
        <p:spPr>
          <a:xfrm>
            <a:off x="4114800" y="2377440"/>
            <a:ext cx="1645920" cy="804672"/>
          </a:xfrm>
          <a:prstGeom prst="rect">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187952" y="2423160"/>
            <a:ext cx="1499616" cy="758952"/>
          </a:xfrm>
          <a:prstGeom prst="rect">
            <a:avLst/>
          </a:prstGeom>
          <a:noFill/>
        </p:spPr>
        <p:txBody>
          <a:bodyPr wrap="square" anchor="ctr" lIns="0" rIns="0" tIns="0" bIns="0">
            <a:normAutofit/>
          </a:bodyPr>
          <a:lstStyle/>
          <a:p>
            <a:pPr algn="l">
              <a:lnSpc>
                <a:spcPct val="105000"/>
              </a:lnSpc>
              <a:spcBef>
                <a:spcPts val="0"/>
              </a:spcBef>
            </a:pPr>
            <a:r>
              <a:rPr sz="1050" b="0" i="0">
                <a:solidFill>
                  <a:srgbClr val="1B2B3C"/>
                </a:solidFill>
                <a:latin typeface="Calibri"/>
              </a:rPr>
              <a:t>$150K – $250K</a:t>
            </a:r>
          </a:p>
        </p:txBody>
      </p:sp>
      <p:sp>
        <p:nvSpPr>
          <p:cNvPr id="23" name="Rectangle 22"/>
          <p:cNvSpPr/>
          <p:nvPr/>
        </p:nvSpPr>
        <p:spPr>
          <a:xfrm>
            <a:off x="5760720" y="2377440"/>
            <a:ext cx="3200400" cy="804672"/>
          </a:xfrm>
          <a:prstGeom prst="rect">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33872" y="2423160"/>
            <a:ext cx="3054096" cy="758952"/>
          </a:xfrm>
          <a:prstGeom prst="rect">
            <a:avLst/>
          </a:prstGeom>
          <a:noFill/>
        </p:spPr>
        <p:txBody>
          <a:bodyPr wrap="square" anchor="ctr" lIns="0" rIns="0" tIns="0" bIns="0">
            <a:normAutofit/>
          </a:bodyPr>
          <a:lstStyle/>
          <a:p>
            <a:pPr algn="l">
              <a:lnSpc>
                <a:spcPct val="105000"/>
              </a:lnSpc>
              <a:spcBef>
                <a:spcPts val="0"/>
              </a:spcBef>
            </a:pPr>
            <a:r>
              <a:rPr sz="1050" b="0" i="0">
                <a:solidFill>
                  <a:srgbClr val="1B2B3C"/>
                </a:solidFill>
                <a:latin typeface="Calibri"/>
              </a:rPr>
              <a:t>CASAN · FleziPT PoC · xMainframe scoping</a:t>
            </a:r>
          </a:p>
        </p:txBody>
      </p:sp>
      <p:sp>
        <p:nvSpPr>
          <p:cNvPr id="25" name="Rectangle 24"/>
          <p:cNvSpPr/>
          <p:nvPr/>
        </p:nvSpPr>
        <p:spPr>
          <a:xfrm>
            <a:off x="8961120" y="2377440"/>
            <a:ext cx="2560320" cy="804672"/>
          </a:xfrm>
          <a:prstGeom prst="rect">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34272" y="2423160"/>
            <a:ext cx="2414016" cy="758952"/>
          </a:xfrm>
          <a:prstGeom prst="rect">
            <a:avLst/>
          </a:prstGeom>
          <a:noFill/>
        </p:spPr>
        <p:txBody>
          <a:bodyPr wrap="square" anchor="ctr" lIns="0" rIns="0" tIns="0" bIns="0">
            <a:normAutofit/>
          </a:bodyPr>
          <a:lstStyle/>
          <a:p>
            <a:pPr algn="l">
              <a:lnSpc>
                <a:spcPct val="105000"/>
              </a:lnSpc>
              <a:spcBef>
                <a:spcPts val="0"/>
              </a:spcBef>
            </a:pPr>
            <a:r>
              <a:rPr sz="1050" b="0" i="0">
                <a:solidFill>
                  <a:srgbClr val="1B2B3C"/>
                </a:solidFill>
                <a:latin typeface="Calibri"/>
              </a:rPr>
              <a:t>FPT has run 1,100+ client engagements; Sprint is the validated entry model</a:t>
            </a:r>
          </a:p>
        </p:txBody>
      </p:sp>
      <p:sp>
        <p:nvSpPr>
          <p:cNvPr id="27" name="Rectangle 26"/>
          <p:cNvSpPr/>
          <p:nvPr/>
        </p:nvSpPr>
        <p:spPr>
          <a:xfrm>
            <a:off x="548640" y="3182112"/>
            <a:ext cx="2194560" cy="804672"/>
          </a:xfrm>
          <a:prstGeom prst="rect">
            <a:avLst/>
          </a:prstGeom>
          <a:solidFill>
            <a:srgbClr val="F4F7F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1792" y="3227832"/>
            <a:ext cx="2048256" cy="758952"/>
          </a:xfrm>
          <a:prstGeom prst="rect">
            <a:avLst/>
          </a:prstGeom>
          <a:noFill/>
        </p:spPr>
        <p:txBody>
          <a:bodyPr wrap="square" anchor="ctr" lIns="0" rIns="0" tIns="0" bIns="0">
            <a:normAutofit/>
          </a:bodyPr>
          <a:lstStyle/>
          <a:p>
            <a:pPr algn="l">
              <a:lnSpc>
                <a:spcPct val="105000"/>
              </a:lnSpc>
              <a:spcBef>
                <a:spcPts val="0"/>
              </a:spcBef>
            </a:pPr>
            <a:r>
              <a:rPr sz="1050" b="0" i="0">
                <a:solidFill>
                  <a:srgbClr val="1B2B3C"/>
                </a:solidFill>
                <a:latin typeface="Calibri"/>
              </a:rPr>
              <a:t>Transformation Program Yr 1</a:t>
            </a:r>
          </a:p>
        </p:txBody>
      </p:sp>
      <p:sp>
        <p:nvSpPr>
          <p:cNvPr id="29" name="Rectangle 28"/>
          <p:cNvSpPr/>
          <p:nvPr/>
        </p:nvSpPr>
        <p:spPr>
          <a:xfrm>
            <a:off x="2743200" y="3182112"/>
            <a:ext cx="1371600" cy="804672"/>
          </a:xfrm>
          <a:prstGeom prst="rect">
            <a:avLst/>
          </a:prstGeom>
          <a:solidFill>
            <a:srgbClr val="F4F7F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816352" y="3227832"/>
            <a:ext cx="1225296" cy="758952"/>
          </a:xfrm>
          <a:prstGeom prst="rect">
            <a:avLst/>
          </a:prstGeom>
          <a:noFill/>
        </p:spPr>
        <p:txBody>
          <a:bodyPr wrap="square" anchor="ctr" lIns="0" rIns="0" tIns="0" bIns="0">
            <a:normAutofit/>
          </a:bodyPr>
          <a:lstStyle/>
          <a:p>
            <a:pPr algn="l">
              <a:lnSpc>
                <a:spcPct val="105000"/>
              </a:lnSpc>
              <a:spcBef>
                <a:spcPts val="0"/>
              </a:spcBef>
            </a:pPr>
            <a:r>
              <a:rPr sz="1050" b="0" i="0">
                <a:solidFill>
                  <a:srgbClr val="1B2B3C"/>
                </a:solidFill>
                <a:latin typeface="Calibri"/>
              </a:rPr>
              <a:t>Months 3–12</a:t>
            </a:r>
          </a:p>
        </p:txBody>
      </p:sp>
      <p:sp>
        <p:nvSpPr>
          <p:cNvPr id="31" name="Rectangle 30"/>
          <p:cNvSpPr/>
          <p:nvPr/>
        </p:nvSpPr>
        <p:spPr>
          <a:xfrm>
            <a:off x="4114800" y="3182112"/>
            <a:ext cx="1645920" cy="804672"/>
          </a:xfrm>
          <a:prstGeom prst="rect">
            <a:avLst/>
          </a:prstGeom>
          <a:solidFill>
            <a:srgbClr val="F4F7F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187952" y="3227832"/>
            <a:ext cx="1499616" cy="758952"/>
          </a:xfrm>
          <a:prstGeom prst="rect">
            <a:avLst/>
          </a:prstGeom>
          <a:noFill/>
        </p:spPr>
        <p:txBody>
          <a:bodyPr wrap="square" anchor="ctr" lIns="0" rIns="0" tIns="0" bIns="0">
            <a:normAutofit/>
          </a:bodyPr>
          <a:lstStyle/>
          <a:p>
            <a:pPr algn="l">
              <a:lnSpc>
                <a:spcPct val="105000"/>
              </a:lnSpc>
              <a:spcBef>
                <a:spcPts val="0"/>
              </a:spcBef>
            </a:pPr>
            <a:r>
              <a:rPr sz="1050" b="0" i="0">
                <a:solidFill>
                  <a:srgbClr val="1B2B3C"/>
                </a:solidFill>
                <a:latin typeface="Calibri"/>
              </a:rPr>
              <a:t>$2M – $5M ARR</a:t>
            </a:r>
          </a:p>
        </p:txBody>
      </p:sp>
      <p:sp>
        <p:nvSpPr>
          <p:cNvPr id="33" name="Rectangle 32"/>
          <p:cNvSpPr/>
          <p:nvPr/>
        </p:nvSpPr>
        <p:spPr>
          <a:xfrm>
            <a:off x="5760720" y="3182112"/>
            <a:ext cx="3200400" cy="804672"/>
          </a:xfrm>
          <a:prstGeom prst="rect">
            <a:avLst/>
          </a:prstGeom>
          <a:solidFill>
            <a:srgbClr val="F4F7F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833872" y="3227832"/>
            <a:ext cx="3054096" cy="758952"/>
          </a:xfrm>
          <a:prstGeom prst="rect">
            <a:avLst/>
          </a:prstGeom>
          <a:noFill/>
        </p:spPr>
        <p:txBody>
          <a:bodyPr wrap="square" anchor="ctr" lIns="0" rIns="0" tIns="0" bIns="0">
            <a:normAutofit/>
          </a:bodyPr>
          <a:lstStyle/>
          <a:p>
            <a:pPr algn="l">
              <a:lnSpc>
                <a:spcPct val="105000"/>
              </a:lnSpc>
              <a:spcBef>
                <a:spcPts val="0"/>
              </a:spcBef>
            </a:pPr>
            <a:r>
              <a:rPr sz="1050" b="0" i="0">
                <a:solidFill>
                  <a:srgbClr val="1B2B3C"/>
                </a:solidFill>
                <a:latin typeface="Calibri"/>
              </a:rPr>
              <a:t>EMT + xMainframe + CodeVista + FleziPT + 1 vertical AI + AI Testing</a:t>
            </a:r>
          </a:p>
        </p:txBody>
      </p:sp>
      <p:sp>
        <p:nvSpPr>
          <p:cNvPr id="35" name="Rectangle 34"/>
          <p:cNvSpPr/>
          <p:nvPr/>
        </p:nvSpPr>
        <p:spPr>
          <a:xfrm>
            <a:off x="8961120" y="3182112"/>
            <a:ext cx="2560320" cy="804672"/>
          </a:xfrm>
          <a:prstGeom prst="rect">
            <a:avLst/>
          </a:prstGeom>
          <a:solidFill>
            <a:srgbClr val="F4F7F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034272" y="3227832"/>
            <a:ext cx="2414016" cy="758952"/>
          </a:xfrm>
          <a:prstGeom prst="rect">
            <a:avLst/>
          </a:prstGeom>
          <a:noFill/>
        </p:spPr>
        <p:txBody>
          <a:bodyPr wrap="square" anchor="ctr" lIns="0" rIns="0" tIns="0" bIns="0">
            <a:normAutofit/>
          </a:bodyPr>
          <a:lstStyle/>
          <a:p>
            <a:pPr algn="l">
              <a:lnSpc>
                <a:spcPct val="105000"/>
              </a:lnSpc>
              <a:spcBef>
                <a:spcPts val="0"/>
              </a:spcBef>
            </a:pPr>
            <a:r>
              <a:rPr sz="1050" b="0" i="0">
                <a:solidFill>
                  <a:srgbClr val="1B2B3C"/>
                </a:solidFill>
                <a:latin typeface="Calibri"/>
              </a:rPr>
              <a:t>xMainframe: 30% faster onboarding, 90% accuracy; CodeVista: 6,000 man-months saved</a:t>
            </a:r>
          </a:p>
        </p:txBody>
      </p:sp>
      <p:sp>
        <p:nvSpPr>
          <p:cNvPr id="37" name="Rectangle 36"/>
          <p:cNvSpPr/>
          <p:nvPr/>
        </p:nvSpPr>
        <p:spPr>
          <a:xfrm>
            <a:off x="548640" y="3986784"/>
            <a:ext cx="2194560" cy="804672"/>
          </a:xfrm>
          <a:prstGeom prst="rect">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21792" y="4032504"/>
            <a:ext cx="2048256" cy="758952"/>
          </a:xfrm>
          <a:prstGeom prst="rect">
            <a:avLst/>
          </a:prstGeom>
          <a:noFill/>
        </p:spPr>
        <p:txBody>
          <a:bodyPr wrap="square" anchor="ctr" lIns="0" rIns="0" tIns="0" bIns="0">
            <a:normAutofit/>
          </a:bodyPr>
          <a:lstStyle/>
          <a:p>
            <a:pPr algn="l">
              <a:lnSpc>
                <a:spcPct val="105000"/>
              </a:lnSpc>
              <a:spcBef>
                <a:spcPts val="0"/>
              </a:spcBef>
            </a:pPr>
            <a:r>
              <a:rPr sz="1050" b="0" i="0">
                <a:solidFill>
                  <a:srgbClr val="1B2B3C"/>
                </a:solidFill>
                <a:latin typeface="Calibri"/>
              </a:rPr>
              <a:t>Transformation Program Yr 2</a:t>
            </a:r>
          </a:p>
        </p:txBody>
      </p:sp>
      <p:sp>
        <p:nvSpPr>
          <p:cNvPr id="39" name="Rectangle 38"/>
          <p:cNvSpPr/>
          <p:nvPr/>
        </p:nvSpPr>
        <p:spPr>
          <a:xfrm>
            <a:off x="2743200" y="3986784"/>
            <a:ext cx="1371600" cy="804672"/>
          </a:xfrm>
          <a:prstGeom prst="rect">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816352" y="4032504"/>
            <a:ext cx="1225296" cy="758952"/>
          </a:xfrm>
          <a:prstGeom prst="rect">
            <a:avLst/>
          </a:prstGeom>
          <a:noFill/>
        </p:spPr>
        <p:txBody>
          <a:bodyPr wrap="square" anchor="ctr" lIns="0" rIns="0" tIns="0" bIns="0">
            <a:normAutofit/>
          </a:bodyPr>
          <a:lstStyle/>
          <a:p>
            <a:pPr algn="l">
              <a:lnSpc>
                <a:spcPct val="105000"/>
              </a:lnSpc>
              <a:spcBef>
                <a:spcPts val="0"/>
              </a:spcBef>
            </a:pPr>
            <a:r>
              <a:rPr sz="1050" b="0" i="0">
                <a:solidFill>
                  <a:srgbClr val="1B2B3C"/>
                </a:solidFill>
                <a:latin typeface="Calibri"/>
              </a:rPr>
              <a:t>Months 12–24</a:t>
            </a:r>
          </a:p>
        </p:txBody>
      </p:sp>
      <p:sp>
        <p:nvSpPr>
          <p:cNvPr id="41" name="Rectangle 40"/>
          <p:cNvSpPr/>
          <p:nvPr/>
        </p:nvSpPr>
        <p:spPr>
          <a:xfrm>
            <a:off x="4114800" y="3986784"/>
            <a:ext cx="1645920" cy="804672"/>
          </a:xfrm>
          <a:prstGeom prst="rect">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187952" y="4032504"/>
            <a:ext cx="1499616" cy="758952"/>
          </a:xfrm>
          <a:prstGeom prst="rect">
            <a:avLst/>
          </a:prstGeom>
          <a:noFill/>
        </p:spPr>
        <p:txBody>
          <a:bodyPr wrap="square" anchor="ctr" lIns="0" rIns="0" tIns="0" bIns="0">
            <a:normAutofit/>
          </a:bodyPr>
          <a:lstStyle/>
          <a:p>
            <a:pPr algn="l">
              <a:lnSpc>
                <a:spcPct val="105000"/>
              </a:lnSpc>
              <a:spcBef>
                <a:spcPts val="0"/>
              </a:spcBef>
            </a:pPr>
            <a:r>
              <a:rPr sz="1050" b="0" i="0">
                <a:solidFill>
                  <a:srgbClr val="1B2B3C"/>
                </a:solidFill>
                <a:latin typeface="Calibri"/>
              </a:rPr>
              <a:t>$5M – $10M ARR</a:t>
            </a:r>
          </a:p>
        </p:txBody>
      </p:sp>
      <p:sp>
        <p:nvSpPr>
          <p:cNvPr id="43" name="Rectangle 42"/>
          <p:cNvSpPr/>
          <p:nvPr/>
        </p:nvSpPr>
        <p:spPr>
          <a:xfrm>
            <a:off x="5760720" y="3986784"/>
            <a:ext cx="3200400" cy="804672"/>
          </a:xfrm>
          <a:prstGeom prst="rect">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833872" y="4032504"/>
            <a:ext cx="3054096" cy="758952"/>
          </a:xfrm>
          <a:prstGeom prst="rect">
            <a:avLst/>
          </a:prstGeom>
          <a:noFill/>
        </p:spPr>
        <p:txBody>
          <a:bodyPr wrap="square" anchor="ctr" lIns="0" rIns="0" tIns="0" bIns="0">
            <a:normAutofit/>
          </a:bodyPr>
          <a:lstStyle/>
          <a:p>
            <a:pPr algn="l">
              <a:lnSpc>
                <a:spcPct val="105000"/>
              </a:lnSpc>
              <a:spcBef>
                <a:spcPts val="0"/>
              </a:spcBef>
            </a:pPr>
            <a:r>
              <a:rPr sz="1050" b="0" i="0">
                <a:solidFill>
                  <a:srgbClr val="1B2B3C"/>
                </a:solidFill>
                <a:latin typeface="Calibri"/>
              </a:rPr>
              <a:t>All Yr 1 + 2nd vertical + Edge AI + DX Garage + Co-Dev</a:t>
            </a:r>
          </a:p>
        </p:txBody>
      </p:sp>
      <p:sp>
        <p:nvSpPr>
          <p:cNvPr id="45" name="Rectangle 44"/>
          <p:cNvSpPr/>
          <p:nvPr/>
        </p:nvSpPr>
        <p:spPr>
          <a:xfrm>
            <a:off x="8961120" y="3986784"/>
            <a:ext cx="2560320" cy="804672"/>
          </a:xfrm>
          <a:prstGeom prst="rect">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034272" y="4032504"/>
            <a:ext cx="2414016" cy="758952"/>
          </a:xfrm>
          <a:prstGeom prst="rect">
            <a:avLst/>
          </a:prstGeom>
          <a:noFill/>
        </p:spPr>
        <p:txBody>
          <a:bodyPr wrap="square" anchor="ctr" lIns="0" rIns="0" tIns="0" bIns="0">
            <a:normAutofit/>
          </a:bodyPr>
          <a:lstStyle/>
          <a:p>
            <a:pPr algn="l">
              <a:lnSpc>
                <a:spcPct val="105000"/>
              </a:lnSpc>
              <a:spcBef>
                <a:spcPts val="0"/>
              </a:spcBef>
            </a:pPr>
            <a:r>
              <a:rPr sz="1050" b="0" i="0">
                <a:solidFill>
                  <a:srgbClr val="1B2B3C"/>
                </a:solidFill>
                <a:latin typeface="Calibri"/>
              </a:rPr>
              <a:t>Virtual Factory: 80% cost reduction; KnowMed.ai: GE Healthcare reference</a:t>
            </a:r>
          </a:p>
        </p:txBody>
      </p:sp>
      <p:sp>
        <p:nvSpPr>
          <p:cNvPr id="47" name="Rectangle 46"/>
          <p:cNvSpPr/>
          <p:nvPr/>
        </p:nvSpPr>
        <p:spPr>
          <a:xfrm>
            <a:off x="548640" y="4791456"/>
            <a:ext cx="2194560" cy="804672"/>
          </a:xfrm>
          <a:prstGeom prst="rect">
            <a:avLst/>
          </a:prstGeom>
          <a:solidFill>
            <a:srgbClr val="F4F7F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21792" y="4837176"/>
            <a:ext cx="2048256" cy="758952"/>
          </a:xfrm>
          <a:prstGeom prst="rect">
            <a:avLst/>
          </a:prstGeom>
          <a:noFill/>
        </p:spPr>
        <p:txBody>
          <a:bodyPr wrap="square" anchor="ctr" lIns="0" rIns="0" tIns="0" bIns="0">
            <a:normAutofit/>
          </a:bodyPr>
          <a:lstStyle/>
          <a:p>
            <a:pPr algn="l">
              <a:lnSpc>
                <a:spcPct val="105000"/>
              </a:lnSpc>
              <a:spcBef>
                <a:spcPts val="0"/>
              </a:spcBef>
            </a:pPr>
            <a:r>
              <a:rPr sz="1050" b="0" i="0">
                <a:solidFill>
                  <a:srgbClr val="1B2B3C"/>
                </a:solidFill>
                <a:latin typeface="Calibri"/>
              </a:rPr>
              <a:t>Strategic AI Partnership</a:t>
            </a:r>
          </a:p>
        </p:txBody>
      </p:sp>
      <p:sp>
        <p:nvSpPr>
          <p:cNvPr id="49" name="Rectangle 48"/>
          <p:cNvSpPr/>
          <p:nvPr/>
        </p:nvSpPr>
        <p:spPr>
          <a:xfrm>
            <a:off x="2743200" y="4791456"/>
            <a:ext cx="1371600" cy="804672"/>
          </a:xfrm>
          <a:prstGeom prst="rect">
            <a:avLst/>
          </a:prstGeom>
          <a:solidFill>
            <a:srgbClr val="F4F7F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2816352" y="4837176"/>
            <a:ext cx="1225296" cy="758952"/>
          </a:xfrm>
          <a:prstGeom prst="rect">
            <a:avLst/>
          </a:prstGeom>
          <a:noFill/>
        </p:spPr>
        <p:txBody>
          <a:bodyPr wrap="square" anchor="ctr" lIns="0" rIns="0" tIns="0" bIns="0">
            <a:normAutofit/>
          </a:bodyPr>
          <a:lstStyle/>
          <a:p>
            <a:pPr algn="l">
              <a:lnSpc>
                <a:spcPct val="105000"/>
              </a:lnSpc>
              <a:spcBef>
                <a:spcPts val="0"/>
              </a:spcBef>
            </a:pPr>
            <a:r>
              <a:rPr sz="1050" b="0" i="0">
                <a:solidFill>
                  <a:srgbClr val="1B2B3C"/>
                </a:solidFill>
                <a:latin typeface="Calibri"/>
              </a:rPr>
              <a:t>Year 2+</a:t>
            </a:r>
          </a:p>
        </p:txBody>
      </p:sp>
      <p:sp>
        <p:nvSpPr>
          <p:cNvPr id="51" name="Rectangle 50"/>
          <p:cNvSpPr/>
          <p:nvPr/>
        </p:nvSpPr>
        <p:spPr>
          <a:xfrm>
            <a:off x="4114800" y="4791456"/>
            <a:ext cx="1645920" cy="804672"/>
          </a:xfrm>
          <a:prstGeom prst="rect">
            <a:avLst/>
          </a:prstGeom>
          <a:solidFill>
            <a:srgbClr val="F4F7F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4187952" y="4837176"/>
            <a:ext cx="1499616" cy="758952"/>
          </a:xfrm>
          <a:prstGeom prst="rect">
            <a:avLst/>
          </a:prstGeom>
          <a:noFill/>
        </p:spPr>
        <p:txBody>
          <a:bodyPr wrap="square" anchor="ctr" lIns="0" rIns="0" tIns="0" bIns="0">
            <a:normAutofit/>
          </a:bodyPr>
          <a:lstStyle/>
          <a:p>
            <a:pPr algn="l">
              <a:lnSpc>
                <a:spcPct val="105000"/>
              </a:lnSpc>
              <a:spcBef>
                <a:spcPts val="0"/>
              </a:spcBef>
            </a:pPr>
            <a:r>
              <a:rPr sz="1050" b="0" i="0">
                <a:solidFill>
                  <a:srgbClr val="1B2B3C"/>
                </a:solidFill>
                <a:latin typeface="Calibri"/>
              </a:rPr>
              <a:t>$10M – $30M / multi-year</a:t>
            </a:r>
          </a:p>
        </p:txBody>
      </p:sp>
      <p:sp>
        <p:nvSpPr>
          <p:cNvPr id="53" name="Rectangle 52"/>
          <p:cNvSpPr/>
          <p:nvPr/>
        </p:nvSpPr>
        <p:spPr>
          <a:xfrm>
            <a:off x="5760720" y="4791456"/>
            <a:ext cx="3200400" cy="804672"/>
          </a:xfrm>
          <a:prstGeom prst="rect">
            <a:avLst/>
          </a:prstGeom>
          <a:solidFill>
            <a:srgbClr val="F4F7F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5833872" y="4837176"/>
            <a:ext cx="3054096" cy="758952"/>
          </a:xfrm>
          <a:prstGeom prst="rect">
            <a:avLst/>
          </a:prstGeom>
          <a:noFill/>
        </p:spPr>
        <p:txBody>
          <a:bodyPr wrap="square" anchor="ctr" lIns="0" rIns="0" tIns="0" bIns="0">
            <a:normAutofit/>
          </a:bodyPr>
          <a:lstStyle/>
          <a:p>
            <a:pPr algn="l">
              <a:lnSpc>
                <a:spcPct val="105000"/>
              </a:lnSpc>
              <a:spcBef>
                <a:spcPts val="0"/>
              </a:spcBef>
            </a:pPr>
            <a:r>
              <a:rPr sz="1050" b="0" i="0">
                <a:solidFill>
                  <a:srgbClr val="1B2B3C"/>
                </a:solidFill>
                <a:latin typeface="Calibri"/>
              </a:rPr>
              <a:t>Full stack + co-development + white-label + CxO co-design</a:t>
            </a:r>
          </a:p>
        </p:txBody>
      </p:sp>
      <p:sp>
        <p:nvSpPr>
          <p:cNvPr id="55" name="Rectangle 54"/>
          <p:cNvSpPr/>
          <p:nvPr/>
        </p:nvSpPr>
        <p:spPr>
          <a:xfrm>
            <a:off x="8961120" y="4791456"/>
            <a:ext cx="2560320" cy="804672"/>
          </a:xfrm>
          <a:prstGeom prst="rect">
            <a:avLst/>
          </a:prstGeom>
          <a:solidFill>
            <a:srgbClr val="F4F7F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034272" y="4837176"/>
            <a:ext cx="2414016" cy="758952"/>
          </a:xfrm>
          <a:prstGeom prst="rect">
            <a:avLst/>
          </a:prstGeom>
          <a:noFill/>
        </p:spPr>
        <p:txBody>
          <a:bodyPr wrap="square" anchor="ctr" lIns="0" rIns="0" tIns="0" bIns="0">
            <a:normAutofit/>
          </a:bodyPr>
          <a:lstStyle/>
          <a:p>
            <a:pPr algn="l">
              <a:lnSpc>
                <a:spcPct val="105000"/>
              </a:lnSpc>
              <a:spcBef>
                <a:spcPts val="0"/>
              </a:spcBef>
            </a:pPr>
            <a:r>
              <a:rPr sz="1050" b="0" i="0">
                <a:solidFill>
                  <a:srgbClr val="1B2B3C"/>
                </a:solidFill>
                <a:latin typeface="Calibri"/>
              </a:rPr>
              <a:t>$256M largest AI contract (Asian energy group); $10M+ deals doubled YoY 2025</a:t>
            </a:r>
          </a:p>
        </p:txBody>
      </p:sp>
      <p:sp>
        <p:nvSpPr>
          <p:cNvPr id="57" name="Rounded Rectangle 56"/>
          <p:cNvSpPr/>
          <p:nvPr/>
        </p:nvSpPr>
        <p:spPr>
          <a:xfrm>
            <a:off x="548640" y="5577840"/>
            <a:ext cx="11094415" cy="502920"/>
          </a:xfrm>
          <a:prstGeom prst="roundRect">
            <a:avLst>
              <a:gd name="adj" fmla="val 3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640080" y="5650992"/>
            <a:ext cx="3560978" cy="347472"/>
          </a:xfrm>
          <a:prstGeom prst="rect">
            <a:avLst/>
          </a:prstGeom>
          <a:noFill/>
        </p:spPr>
        <p:txBody>
          <a:bodyPr wrap="square" anchor="t" lIns="0" rIns="0" tIns="0" bIns="0">
            <a:normAutofit/>
          </a:bodyPr>
          <a:lstStyle/>
          <a:p>
            <a:pPr algn="ctr">
              <a:lnSpc>
                <a:spcPct val="105000"/>
              </a:lnSpc>
              <a:spcBef>
                <a:spcPts val="0"/>
              </a:spcBef>
            </a:pPr>
            <a:r>
              <a:rPr sz="1050" b="1" i="0">
                <a:solidFill>
                  <a:srgbClr val="00C9A7"/>
                </a:solidFill>
                <a:latin typeface="Calibri"/>
              </a:rPr>
              <a:t>1,100+ global clients · 130+ Fortune 500</a:t>
            </a:r>
          </a:p>
        </p:txBody>
      </p:sp>
      <p:sp>
        <p:nvSpPr>
          <p:cNvPr id="59" name="TextBox 58"/>
          <p:cNvSpPr txBox="1"/>
          <p:nvPr/>
        </p:nvSpPr>
        <p:spPr>
          <a:xfrm>
            <a:off x="4338218" y="5650992"/>
            <a:ext cx="3560978" cy="347472"/>
          </a:xfrm>
          <a:prstGeom prst="rect">
            <a:avLst/>
          </a:prstGeom>
          <a:noFill/>
        </p:spPr>
        <p:txBody>
          <a:bodyPr wrap="square" anchor="t" lIns="0" rIns="0" tIns="0" bIns="0">
            <a:normAutofit/>
          </a:bodyPr>
          <a:lstStyle/>
          <a:p>
            <a:pPr algn="ctr">
              <a:lnSpc>
                <a:spcPct val="105000"/>
              </a:lnSpc>
              <a:spcBef>
                <a:spcPts val="0"/>
              </a:spcBef>
            </a:pPr>
            <a:r>
              <a:rPr sz="1050" b="1" i="0">
                <a:solidFill>
                  <a:srgbClr val="00C9A7"/>
                </a:solidFill>
                <a:latin typeface="Calibri"/>
              </a:rPr>
              <a:t>$256M largest AI contract · $10M+ deals doubled YoY</a:t>
            </a:r>
          </a:p>
        </p:txBody>
      </p:sp>
      <p:sp>
        <p:nvSpPr>
          <p:cNvPr id="60" name="TextBox 59"/>
          <p:cNvSpPr txBox="1"/>
          <p:nvPr/>
        </p:nvSpPr>
        <p:spPr>
          <a:xfrm>
            <a:off x="8036356" y="5650992"/>
            <a:ext cx="3560978" cy="347472"/>
          </a:xfrm>
          <a:prstGeom prst="rect">
            <a:avLst/>
          </a:prstGeom>
          <a:noFill/>
        </p:spPr>
        <p:txBody>
          <a:bodyPr wrap="square" anchor="t" lIns="0" rIns="0" tIns="0" bIns="0">
            <a:normAutofit/>
          </a:bodyPr>
          <a:lstStyle/>
          <a:p>
            <a:pPr algn="ctr">
              <a:lnSpc>
                <a:spcPct val="105000"/>
              </a:lnSpc>
              <a:spcBef>
                <a:spcPts val="0"/>
              </a:spcBef>
            </a:pPr>
            <a:r>
              <a:rPr sz="1050" b="1" i="0">
                <a:solidFill>
                  <a:srgbClr val="00C9A7"/>
                </a:solidFill>
                <a:latin typeface="Calibri"/>
              </a:rPr>
              <a:t>Microsoft Frontier Partner · AWS GenAI Competency</a:t>
            </a:r>
          </a:p>
        </p:txBody>
      </p:sp>
      <p:sp>
        <p:nvSpPr>
          <p:cNvPr id="61" name="TextBox 60"/>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FPT Software · GCC Implementation Roadmap · Jun 2026</a:t>
            </a:r>
          </a:p>
        </p:txBody>
      </p:sp>
      <p:sp>
        <p:nvSpPr>
          <p:cNvPr id="62" name="TextBox 61"/>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15 / 17</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56032"/>
            <a:ext cx="11094415" cy="475488"/>
          </a:xfrm>
          <a:prstGeom prst="rect">
            <a:avLst/>
          </a:prstGeom>
          <a:noFill/>
        </p:spPr>
        <p:txBody>
          <a:bodyPr wrap="square" anchor="t" lIns="0" rIns="0" tIns="0" bIns="0">
            <a:normAutofit/>
          </a:bodyPr>
          <a:lstStyle/>
          <a:p>
            <a:pPr algn="l">
              <a:lnSpc>
                <a:spcPct val="105000"/>
              </a:lnSpc>
              <a:spcBef>
                <a:spcPts val="0"/>
              </a:spcBef>
            </a:pPr>
            <a:r>
              <a:rPr sz="2400" b="1" i="0">
                <a:solidFill>
                  <a:srgbClr val="FFFFFF"/>
                </a:solidFill>
                <a:latin typeface="Calibri"/>
              </a:rPr>
              <a:t>Why FPT + Srikumar — The Two Things That Cannot Be Replicated</a:t>
            </a:r>
          </a:p>
        </p:txBody>
      </p:sp>
      <p:sp>
        <p:nvSpPr>
          <p:cNvPr id="5" name="Rounded Rectangle 4"/>
          <p:cNvSpPr/>
          <p:nvPr/>
        </p:nvSpPr>
        <p:spPr>
          <a:xfrm>
            <a:off x="548640" y="868680"/>
            <a:ext cx="5455767" cy="5230368"/>
          </a:xfrm>
          <a:prstGeom prst="roundRect">
            <a:avLst>
              <a:gd name="adj" fmla="val 3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868680"/>
            <a:ext cx="5455767" cy="5486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950976"/>
            <a:ext cx="5227167" cy="274320"/>
          </a:xfrm>
          <a:prstGeom prst="rect">
            <a:avLst/>
          </a:prstGeom>
          <a:noFill/>
        </p:spPr>
        <p:txBody>
          <a:bodyPr wrap="square" anchor="t" lIns="0" rIns="0" tIns="0" bIns="0">
            <a:noAutofit/>
          </a:bodyPr>
          <a:lstStyle/>
          <a:p>
            <a:pPr algn="l">
              <a:lnSpc>
                <a:spcPct val="105000"/>
              </a:lnSpc>
              <a:spcBef>
                <a:spcPts val="0"/>
              </a:spcBef>
            </a:pPr>
            <a:r>
              <a:rPr sz="1200" b="1" i="0">
                <a:solidFill>
                  <a:srgbClr val="00C9A7"/>
                </a:solidFill>
                <a:latin typeface="Calibri"/>
              </a:rPr>
              <a:t>FPT SOFTWARE — THE STACK NO ONE ELSE HAS</a:t>
            </a:r>
          </a:p>
        </p:txBody>
      </p:sp>
      <p:sp>
        <p:nvSpPr>
          <p:cNvPr id="8" name="Rounded Rectangle 7"/>
          <p:cNvSpPr/>
          <p:nvPr/>
        </p:nvSpPr>
        <p:spPr>
          <a:xfrm>
            <a:off x="685800" y="1316736"/>
            <a:ext cx="5199735" cy="594360"/>
          </a:xfrm>
          <a:prstGeom prst="roundRect">
            <a:avLst>
              <a:gd name="adj" fmla="val 2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371600"/>
            <a:ext cx="5044287" cy="502920"/>
          </a:xfrm>
          <a:prstGeom prst="rect">
            <a:avLst/>
          </a:prstGeom>
          <a:noFill/>
        </p:spPr>
        <p:txBody>
          <a:bodyPr wrap="square" anchor="t" lIns="0" rIns="0" tIns="0" bIns="0">
            <a:normAutofit/>
          </a:bodyPr>
          <a:lstStyle/>
          <a:p>
            <a:pPr algn="l">
              <a:lnSpc>
                <a:spcPct val="105000"/>
              </a:lnSpc>
              <a:spcBef>
                <a:spcPts val="0"/>
              </a:spcBef>
            </a:pPr>
            <a:r>
              <a:rPr sz="1000" b="0" i="0">
                <a:solidFill>
                  <a:srgbClr val="E0F7F1"/>
                </a:solidFill>
                <a:latin typeface="Calibri"/>
              </a:rPr>
              <a:t>End-to-end delivery: CASAN → EMT/xMainframe/CodeVista → FleziPT → KnowMed.ai / Virtual Factory → DX Garage. One partner, full lifecycle.</a:t>
            </a:r>
          </a:p>
        </p:txBody>
      </p:sp>
      <p:sp>
        <p:nvSpPr>
          <p:cNvPr id="10" name="Rounded Rectangle 9"/>
          <p:cNvSpPr/>
          <p:nvPr/>
        </p:nvSpPr>
        <p:spPr>
          <a:xfrm>
            <a:off x="685800" y="2002536"/>
            <a:ext cx="5199735" cy="594360"/>
          </a:xfrm>
          <a:prstGeom prst="roundRect">
            <a:avLst>
              <a:gd name="adj" fmla="val 2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2057400"/>
            <a:ext cx="5044287" cy="502920"/>
          </a:xfrm>
          <a:prstGeom prst="rect">
            <a:avLst/>
          </a:prstGeom>
          <a:noFill/>
        </p:spPr>
        <p:txBody>
          <a:bodyPr wrap="square" anchor="t" lIns="0" rIns="0" tIns="0" bIns="0">
            <a:normAutofit/>
          </a:bodyPr>
          <a:lstStyle/>
          <a:p>
            <a:pPr algn="l">
              <a:lnSpc>
                <a:spcPct val="105000"/>
              </a:lnSpc>
              <a:spcBef>
                <a:spcPts val="0"/>
              </a:spcBef>
            </a:pPr>
            <a:r>
              <a:rPr sz="1000" b="0" i="0">
                <a:solidFill>
                  <a:srgbClr val="E0F7F1"/>
                </a:solidFill>
                <a:latin typeface="Calibri"/>
              </a:rPr>
              <a:t>AI-native tooling — not wrapped generic models. FleziPT, EMT, xMainframe are proprietary FPT platforms built for production.</a:t>
            </a:r>
          </a:p>
        </p:txBody>
      </p:sp>
      <p:sp>
        <p:nvSpPr>
          <p:cNvPr id="12" name="Rounded Rectangle 11"/>
          <p:cNvSpPr/>
          <p:nvPr/>
        </p:nvSpPr>
        <p:spPr>
          <a:xfrm>
            <a:off x="685800" y="2688336"/>
            <a:ext cx="5199735" cy="594360"/>
          </a:xfrm>
          <a:prstGeom prst="roundRect">
            <a:avLst>
              <a:gd name="adj" fmla="val 2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2743200"/>
            <a:ext cx="5044287" cy="502920"/>
          </a:xfrm>
          <a:prstGeom prst="rect">
            <a:avLst/>
          </a:prstGeom>
          <a:noFill/>
        </p:spPr>
        <p:txBody>
          <a:bodyPr wrap="square" anchor="t" lIns="0" rIns="0" tIns="0" bIns="0">
            <a:normAutofit/>
          </a:bodyPr>
          <a:lstStyle/>
          <a:p>
            <a:pPr algn="l">
              <a:lnSpc>
                <a:spcPct val="105000"/>
              </a:lnSpc>
              <a:spcBef>
                <a:spcPts val="0"/>
              </a:spcBef>
            </a:pPr>
            <a:r>
              <a:rPr sz="1000" b="0" i="0">
                <a:solidFill>
                  <a:srgbClr val="E0F7F1"/>
                </a:solidFill>
                <a:latin typeface="Calibri"/>
              </a:rPr>
              <a:t>Industry partnerships: Microsoft Frontier Partner (1st Enterprise SI in SE Asia), AWS GenAI Competency, NVIDIA HGX GPU.</a:t>
            </a:r>
          </a:p>
        </p:txBody>
      </p:sp>
      <p:sp>
        <p:nvSpPr>
          <p:cNvPr id="14" name="Rounded Rectangle 13"/>
          <p:cNvSpPr/>
          <p:nvPr/>
        </p:nvSpPr>
        <p:spPr>
          <a:xfrm>
            <a:off x="685800" y="3374136"/>
            <a:ext cx="5199735" cy="594360"/>
          </a:xfrm>
          <a:prstGeom prst="roundRect">
            <a:avLst>
              <a:gd name="adj" fmla="val 2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3429000"/>
            <a:ext cx="5044287" cy="502920"/>
          </a:xfrm>
          <a:prstGeom prst="rect">
            <a:avLst/>
          </a:prstGeom>
          <a:noFill/>
        </p:spPr>
        <p:txBody>
          <a:bodyPr wrap="square" anchor="t" lIns="0" rIns="0" tIns="0" bIns="0">
            <a:normAutofit/>
          </a:bodyPr>
          <a:lstStyle/>
          <a:p>
            <a:pPr algn="l">
              <a:lnSpc>
                <a:spcPct val="105000"/>
              </a:lnSpc>
              <a:spcBef>
                <a:spcPts val="0"/>
              </a:spcBef>
            </a:pPr>
            <a:r>
              <a:rPr sz="1000" b="0" i="0">
                <a:solidFill>
                  <a:srgbClr val="E0F7F1"/>
                </a:solidFill>
                <a:latin typeface="Calibri"/>
              </a:rPr>
              <a:t>AI Factory: 1,100B+ tokens processed, 70+ fine-tuned models, 18,000+ engineers on platform.</a:t>
            </a:r>
          </a:p>
        </p:txBody>
      </p:sp>
      <p:sp>
        <p:nvSpPr>
          <p:cNvPr id="16" name="Rounded Rectangle 15"/>
          <p:cNvSpPr/>
          <p:nvPr/>
        </p:nvSpPr>
        <p:spPr>
          <a:xfrm>
            <a:off x="685800" y="4059936"/>
            <a:ext cx="5199735" cy="594360"/>
          </a:xfrm>
          <a:prstGeom prst="roundRect">
            <a:avLst>
              <a:gd name="adj" fmla="val 2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4114800"/>
            <a:ext cx="5044287" cy="502920"/>
          </a:xfrm>
          <a:prstGeom prst="rect">
            <a:avLst/>
          </a:prstGeom>
          <a:noFill/>
        </p:spPr>
        <p:txBody>
          <a:bodyPr wrap="square" anchor="t" lIns="0" rIns="0" tIns="0" bIns="0">
            <a:normAutofit/>
          </a:bodyPr>
          <a:lstStyle/>
          <a:p>
            <a:pPr algn="l">
              <a:lnSpc>
                <a:spcPct val="105000"/>
              </a:lnSpc>
              <a:spcBef>
                <a:spcPts val="0"/>
              </a:spcBef>
            </a:pPr>
            <a:r>
              <a:rPr sz="1000" b="0" i="0">
                <a:solidFill>
                  <a:srgbClr val="E0F7F1"/>
                </a:solidFill>
                <a:latin typeface="Calibri"/>
              </a:rPr>
              <a:t>54,000+ professionals across 30+ countries. India delivery at scale — 1,000+ technology professionals in-country.</a:t>
            </a:r>
          </a:p>
        </p:txBody>
      </p:sp>
      <p:sp>
        <p:nvSpPr>
          <p:cNvPr id="18" name="Rounded Rectangle 17"/>
          <p:cNvSpPr/>
          <p:nvPr/>
        </p:nvSpPr>
        <p:spPr>
          <a:xfrm>
            <a:off x="685800" y="4745736"/>
            <a:ext cx="5199735" cy="594360"/>
          </a:xfrm>
          <a:prstGeom prst="roundRect">
            <a:avLst>
              <a:gd name="adj" fmla="val 2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800600"/>
            <a:ext cx="5044287" cy="502920"/>
          </a:xfrm>
          <a:prstGeom prst="rect">
            <a:avLst/>
          </a:prstGeom>
          <a:noFill/>
        </p:spPr>
        <p:txBody>
          <a:bodyPr wrap="square" anchor="t" lIns="0" rIns="0" tIns="0" bIns="0">
            <a:normAutofit/>
          </a:bodyPr>
          <a:lstStyle/>
          <a:p>
            <a:pPr algn="l">
              <a:lnSpc>
                <a:spcPct val="105000"/>
              </a:lnSpc>
              <a:spcBef>
                <a:spcPts val="0"/>
              </a:spcBef>
            </a:pPr>
            <a:r>
              <a:rPr sz="1000" b="0" i="0">
                <a:solidFill>
                  <a:srgbClr val="E0F7F1"/>
                </a:solidFill>
                <a:latin typeface="Calibri"/>
              </a:rPr>
              <a:t>Track record: $256M largest AI contract, $10M+ deals doubled YoY 2025, 130+ Fortune 500 clients.</a:t>
            </a:r>
          </a:p>
        </p:txBody>
      </p:sp>
      <p:sp>
        <p:nvSpPr>
          <p:cNvPr id="20" name="Rounded Rectangle 19"/>
          <p:cNvSpPr/>
          <p:nvPr/>
        </p:nvSpPr>
        <p:spPr>
          <a:xfrm>
            <a:off x="6187287" y="868680"/>
            <a:ext cx="5455767" cy="5230368"/>
          </a:xfrm>
          <a:prstGeom prst="roundRect">
            <a:avLst>
              <a:gd name="adj" fmla="val 3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87287" y="868680"/>
            <a:ext cx="5455767" cy="54864"/>
          </a:xfrm>
          <a:prstGeom prst="rect">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24447" y="950976"/>
            <a:ext cx="5227167" cy="274320"/>
          </a:xfrm>
          <a:prstGeom prst="rect">
            <a:avLst/>
          </a:prstGeom>
          <a:noFill/>
        </p:spPr>
        <p:txBody>
          <a:bodyPr wrap="square" anchor="t" lIns="0" rIns="0" tIns="0" bIns="0">
            <a:noAutofit/>
          </a:bodyPr>
          <a:lstStyle/>
          <a:p>
            <a:pPr algn="l">
              <a:lnSpc>
                <a:spcPct val="105000"/>
              </a:lnSpc>
              <a:spcBef>
                <a:spcPts val="0"/>
              </a:spcBef>
            </a:pPr>
            <a:r>
              <a:rPr sz="1200" b="1" i="0">
                <a:solidFill>
                  <a:srgbClr val="FFB800"/>
                </a:solidFill>
                <a:latin typeface="Calibri"/>
              </a:rPr>
              <a:t>SRIKUMAR V R — THE TRUST NO ONE CAN BUY</a:t>
            </a:r>
          </a:p>
        </p:txBody>
      </p:sp>
      <p:sp>
        <p:nvSpPr>
          <p:cNvPr id="23" name="Rounded Rectangle 22"/>
          <p:cNvSpPr/>
          <p:nvPr/>
        </p:nvSpPr>
        <p:spPr>
          <a:xfrm>
            <a:off x="6324447" y="1316736"/>
            <a:ext cx="5199735" cy="594360"/>
          </a:xfrm>
          <a:prstGeom prst="roundRect">
            <a:avLst>
              <a:gd name="adj" fmla="val 2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15887" y="1371600"/>
            <a:ext cx="5044287" cy="502920"/>
          </a:xfrm>
          <a:prstGeom prst="rect">
            <a:avLst/>
          </a:prstGeom>
          <a:noFill/>
        </p:spPr>
        <p:txBody>
          <a:bodyPr wrap="square" anchor="t" lIns="0" rIns="0" tIns="0" bIns="0">
            <a:normAutofit/>
          </a:bodyPr>
          <a:lstStyle/>
          <a:p>
            <a:pPr algn="l">
              <a:lnSpc>
                <a:spcPct val="105000"/>
              </a:lnSpc>
              <a:spcBef>
                <a:spcPts val="0"/>
              </a:spcBef>
            </a:pPr>
            <a:r>
              <a:rPr sz="1000" b="0" i="0">
                <a:solidFill>
                  <a:srgbClr val="E0F7F1"/>
                </a:solidFill>
                <a:latin typeface="Calibri"/>
              </a:rPr>
              <a:t>27 years across 5 industries and 3 countries — IIT Madras B.Tech + IIM Calcutta PGDM. Peer-level credibility with GCC MDs and VPs.</a:t>
            </a:r>
          </a:p>
        </p:txBody>
      </p:sp>
      <p:sp>
        <p:nvSpPr>
          <p:cNvPr id="25" name="Rounded Rectangle 24"/>
          <p:cNvSpPr/>
          <p:nvPr/>
        </p:nvSpPr>
        <p:spPr>
          <a:xfrm>
            <a:off x="6324447" y="2002536"/>
            <a:ext cx="5199735" cy="594360"/>
          </a:xfrm>
          <a:prstGeom prst="roundRect">
            <a:avLst>
              <a:gd name="adj" fmla="val 2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15887" y="2057400"/>
            <a:ext cx="5044287" cy="502920"/>
          </a:xfrm>
          <a:prstGeom prst="rect">
            <a:avLst/>
          </a:prstGeom>
          <a:noFill/>
        </p:spPr>
        <p:txBody>
          <a:bodyPr wrap="square" anchor="t" lIns="0" rIns="0" tIns="0" bIns="0">
            <a:normAutofit/>
          </a:bodyPr>
          <a:lstStyle/>
          <a:p>
            <a:pPr algn="l">
              <a:lnSpc>
                <a:spcPct val="105000"/>
              </a:lnSpc>
              <a:spcBef>
                <a:spcPts val="0"/>
              </a:spcBef>
            </a:pPr>
            <a:r>
              <a:rPr sz="1000" b="0" i="0">
                <a:solidFill>
                  <a:srgbClr val="E0F7F1"/>
                </a:solidFill>
                <a:latin typeface="Calibri"/>
              </a:rPr>
              <a:t>3+ years building FPT GCC relationships in India — warm pipeline of 20–30 GCC contacts who know and trust him personally.</a:t>
            </a:r>
          </a:p>
        </p:txBody>
      </p:sp>
      <p:sp>
        <p:nvSpPr>
          <p:cNvPr id="27" name="Rounded Rectangle 26"/>
          <p:cNvSpPr/>
          <p:nvPr/>
        </p:nvSpPr>
        <p:spPr>
          <a:xfrm>
            <a:off x="6324447" y="2688336"/>
            <a:ext cx="5199735" cy="594360"/>
          </a:xfrm>
          <a:prstGeom prst="roundRect">
            <a:avLst>
              <a:gd name="adj" fmla="val 2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15887" y="2743200"/>
            <a:ext cx="5044287" cy="502920"/>
          </a:xfrm>
          <a:prstGeom prst="rect">
            <a:avLst/>
          </a:prstGeom>
          <a:noFill/>
        </p:spPr>
        <p:txBody>
          <a:bodyPr wrap="square" anchor="t" lIns="0" rIns="0" tIns="0" bIns="0">
            <a:normAutofit/>
          </a:bodyPr>
          <a:lstStyle/>
          <a:p>
            <a:pPr algn="l">
              <a:lnSpc>
                <a:spcPct val="105000"/>
              </a:lnSpc>
              <a:spcBef>
                <a:spcPts val="0"/>
              </a:spcBef>
            </a:pPr>
            <a:r>
              <a:rPr sz="1000" b="0" i="0">
                <a:solidFill>
                  <a:srgbClr val="E0F7F1"/>
                </a:solidFill>
                <a:latin typeface="Calibri"/>
              </a:rPr>
              <a:t>Builder, not just a BD executive: BLAAST patent (IIT Tirupati), USD 1M Malaysian government grant, 300+ agent SaaS platform.</a:t>
            </a:r>
          </a:p>
        </p:txBody>
      </p:sp>
      <p:sp>
        <p:nvSpPr>
          <p:cNvPr id="29" name="Rounded Rectangle 28"/>
          <p:cNvSpPr/>
          <p:nvPr/>
        </p:nvSpPr>
        <p:spPr>
          <a:xfrm>
            <a:off x="6324447" y="3374136"/>
            <a:ext cx="5199735" cy="594360"/>
          </a:xfrm>
          <a:prstGeom prst="roundRect">
            <a:avLst>
              <a:gd name="adj" fmla="val 2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15887" y="3429000"/>
            <a:ext cx="5044287" cy="502920"/>
          </a:xfrm>
          <a:prstGeom prst="rect">
            <a:avLst/>
          </a:prstGeom>
          <a:noFill/>
        </p:spPr>
        <p:txBody>
          <a:bodyPr wrap="square" anchor="t" lIns="0" rIns="0" tIns="0" bIns="0">
            <a:normAutofit/>
          </a:bodyPr>
          <a:lstStyle/>
          <a:p>
            <a:pPr algn="l">
              <a:lnSpc>
                <a:spcPct val="105000"/>
              </a:lnSpc>
              <a:spcBef>
                <a:spcPts val="0"/>
              </a:spcBef>
            </a:pPr>
            <a:r>
              <a:rPr sz="1000" b="0" i="0">
                <a:solidFill>
                  <a:srgbClr val="E0F7F1"/>
                </a:solidFill>
                <a:latin typeface="Calibri"/>
              </a:rPr>
              <a:t>Cross-industry pattern recognition: has seen the AI problem from life sciences, BFSI, manufacturing, aviation, energy simultaneously.</a:t>
            </a:r>
          </a:p>
        </p:txBody>
      </p:sp>
      <p:sp>
        <p:nvSpPr>
          <p:cNvPr id="31" name="Rounded Rectangle 30"/>
          <p:cNvSpPr/>
          <p:nvPr/>
        </p:nvSpPr>
        <p:spPr>
          <a:xfrm>
            <a:off x="6324447" y="4059936"/>
            <a:ext cx="5199735" cy="594360"/>
          </a:xfrm>
          <a:prstGeom prst="roundRect">
            <a:avLst>
              <a:gd name="adj" fmla="val 2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15887" y="4114800"/>
            <a:ext cx="5044287" cy="502920"/>
          </a:xfrm>
          <a:prstGeom prst="rect">
            <a:avLst/>
          </a:prstGeom>
          <a:noFill/>
        </p:spPr>
        <p:txBody>
          <a:bodyPr wrap="square" anchor="t" lIns="0" rIns="0" tIns="0" bIns="0">
            <a:normAutofit/>
          </a:bodyPr>
          <a:lstStyle/>
          <a:p>
            <a:pPr algn="l">
              <a:lnSpc>
                <a:spcPct val="105000"/>
              </a:lnSpc>
              <a:spcBef>
                <a:spcPts val="0"/>
              </a:spcBef>
            </a:pPr>
            <a:r>
              <a:rPr sz="1000" b="0" i="0">
                <a:solidFill>
                  <a:srgbClr val="E0F7F1"/>
                </a:solidFill>
                <a:latin typeface="Calibri"/>
              </a:rPr>
              <a:t>Long-cycle deal navigation: Interserve, Virinchi, FPT — multi-stakeholder, multi-quarter complexity is his natural habitat.</a:t>
            </a:r>
          </a:p>
        </p:txBody>
      </p:sp>
      <p:sp>
        <p:nvSpPr>
          <p:cNvPr id="33" name="Rounded Rectangle 32"/>
          <p:cNvSpPr/>
          <p:nvPr/>
        </p:nvSpPr>
        <p:spPr>
          <a:xfrm>
            <a:off x="6324447" y="4745736"/>
            <a:ext cx="5199735" cy="594360"/>
          </a:xfrm>
          <a:prstGeom prst="roundRect">
            <a:avLst>
              <a:gd name="adj" fmla="val 2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15887" y="4800600"/>
            <a:ext cx="5044287" cy="502920"/>
          </a:xfrm>
          <a:prstGeom prst="rect">
            <a:avLst/>
          </a:prstGeom>
          <a:noFill/>
        </p:spPr>
        <p:txBody>
          <a:bodyPr wrap="square" anchor="t" lIns="0" rIns="0" tIns="0" bIns="0">
            <a:normAutofit/>
          </a:bodyPr>
          <a:lstStyle/>
          <a:p>
            <a:pPr algn="l">
              <a:lnSpc>
                <a:spcPct val="105000"/>
              </a:lnSpc>
              <a:spcBef>
                <a:spcPts val="0"/>
              </a:spcBef>
            </a:pPr>
            <a:r>
              <a:rPr sz="1000" b="0" i="0">
                <a:solidFill>
                  <a:srgbClr val="E0F7F1"/>
                </a:solidFill>
                <a:latin typeface="Calibri"/>
              </a:rPr>
              <a:t>The Srikumar effect: one GCC win → 3–5 peer GCC introductions through his IIT Madras + IIM Calcutta alumni network in Bengaluru.</a:t>
            </a:r>
          </a:p>
        </p:txBody>
      </p:sp>
      <p:sp>
        <p:nvSpPr>
          <p:cNvPr id="35" name="TextBox 34"/>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889098"/>
                </a:solidFill>
                <a:latin typeface="Calibri"/>
              </a:rPr>
              <a:t>FPT Software · GCC Implementation Roadmap · Jun 2026</a:t>
            </a:r>
          </a:p>
        </p:txBody>
      </p:sp>
      <p:sp>
        <p:nvSpPr>
          <p:cNvPr id="36" name="TextBox 35"/>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889098"/>
                </a:solidFill>
                <a:latin typeface="Calibri"/>
              </a:rPr>
              <a:t>16 / 17</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92608"/>
            <a:ext cx="11094415" cy="621792"/>
          </a:xfrm>
          <a:prstGeom prst="rect">
            <a:avLst/>
          </a:prstGeom>
          <a:noFill/>
        </p:spPr>
        <p:txBody>
          <a:bodyPr wrap="square" anchor="t" lIns="0" rIns="0" tIns="0" bIns="0">
            <a:normAutofit/>
          </a:bodyPr>
          <a:lstStyle/>
          <a:p>
            <a:pPr algn="l">
              <a:lnSpc>
                <a:spcPct val="105000"/>
              </a:lnSpc>
              <a:spcBef>
                <a:spcPts val="0"/>
              </a:spcBef>
            </a:pPr>
            <a:r>
              <a:rPr sz="2600" b="1" i="0">
                <a:solidFill>
                  <a:srgbClr val="FFFFFF"/>
                </a:solidFill>
                <a:latin typeface="Calibri"/>
              </a:rPr>
              <a:t>The Roadmap Is Proven. The Stack Is Ready. The Relationship Is Yours to Build.</a:t>
            </a:r>
          </a:p>
        </p:txBody>
      </p:sp>
      <p:sp>
        <p:nvSpPr>
          <p:cNvPr id="5" name="Rounded Rectangle 4"/>
          <p:cNvSpPr/>
          <p:nvPr/>
        </p:nvSpPr>
        <p:spPr>
          <a:xfrm>
            <a:off x="548640" y="1051560"/>
            <a:ext cx="3606698" cy="4892040"/>
          </a:xfrm>
          <a:prstGeom prst="roundRect">
            <a:avLst>
              <a:gd name="adj" fmla="val 4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051560"/>
            <a:ext cx="3606698" cy="5486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161288"/>
            <a:ext cx="3378098" cy="594360"/>
          </a:xfrm>
          <a:prstGeom prst="rect">
            <a:avLst/>
          </a:prstGeom>
          <a:noFill/>
        </p:spPr>
        <p:txBody>
          <a:bodyPr wrap="square" anchor="t" lIns="0" rIns="0" tIns="0" bIns="0">
            <a:normAutofit/>
          </a:bodyPr>
          <a:lstStyle/>
          <a:p>
            <a:pPr algn="ctr">
              <a:lnSpc>
                <a:spcPct val="105000"/>
              </a:lnSpc>
              <a:spcBef>
                <a:spcPts val="0"/>
              </a:spcBef>
            </a:pPr>
            <a:r>
              <a:rPr sz="1400" b="1" i="0">
                <a:solidFill>
                  <a:srgbClr val="00C9A7"/>
                </a:solidFill>
                <a:latin typeface="Calibri"/>
              </a:rPr>
              <a:t>PHASE 1
START HERE</a:t>
            </a:r>
          </a:p>
        </p:txBody>
      </p:sp>
      <p:sp>
        <p:nvSpPr>
          <p:cNvPr id="8" name="Rectangle 7"/>
          <p:cNvSpPr/>
          <p:nvPr/>
        </p:nvSpPr>
        <p:spPr>
          <a:xfrm>
            <a:off x="914400" y="1801368"/>
            <a:ext cx="2920898" cy="36576"/>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947672"/>
            <a:ext cx="3378098" cy="3886200"/>
          </a:xfrm>
          <a:prstGeom prst="rect">
            <a:avLst/>
          </a:prstGeom>
          <a:noFill/>
        </p:spPr>
        <p:txBody>
          <a:bodyPr wrap="square" anchor="t" lIns="0" rIns="0" tIns="0" bIns="0">
            <a:normAutofit/>
          </a:bodyPr>
          <a:lstStyle/>
          <a:p>
            <a:pPr algn="ctr">
              <a:lnSpc>
                <a:spcPct val="105000"/>
              </a:lnSpc>
              <a:spcBef>
                <a:spcPts val="0"/>
              </a:spcBef>
            </a:pPr>
            <a:r>
              <a:rPr sz="1200" b="0" i="0">
                <a:solidFill>
                  <a:srgbClr val="E0F7F1"/>
                </a:solidFill>
                <a:latin typeface="Calibri"/>
              </a:rPr>
              <a:t>Book the AI Readiness Sprint
6–8 weeks · $150K–$250K
Scopeable within 2 weeks of introductory call
No open-ended commitment
Worst case: a board-ready AI roadmap
Best case: Transformation Program signed at Week 8</a:t>
            </a:r>
          </a:p>
        </p:txBody>
      </p:sp>
      <p:sp>
        <p:nvSpPr>
          <p:cNvPr id="10" name="Rounded Rectangle 9"/>
          <p:cNvSpPr/>
          <p:nvPr/>
        </p:nvSpPr>
        <p:spPr>
          <a:xfrm>
            <a:off x="4292498" y="1051560"/>
            <a:ext cx="3606698" cy="4892040"/>
          </a:xfrm>
          <a:prstGeom prst="roundRect">
            <a:avLst>
              <a:gd name="adj" fmla="val 4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292498" y="1051560"/>
            <a:ext cx="3606698" cy="54864"/>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29658" y="1161288"/>
            <a:ext cx="3378098" cy="594360"/>
          </a:xfrm>
          <a:prstGeom prst="rect">
            <a:avLst/>
          </a:prstGeom>
          <a:noFill/>
        </p:spPr>
        <p:txBody>
          <a:bodyPr wrap="square" anchor="t" lIns="0" rIns="0" tIns="0" bIns="0">
            <a:normAutofit/>
          </a:bodyPr>
          <a:lstStyle/>
          <a:p>
            <a:pPr algn="ctr">
              <a:lnSpc>
                <a:spcPct val="105000"/>
              </a:lnSpc>
              <a:spcBef>
                <a:spcPts val="0"/>
              </a:spcBef>
            </a:pPr>
            <a:r>
              <a:rPr sz="1400" b="1" i="0">
                <a:solidFill>
                  <a:srgbClr val="0A1628"/>
                </a:solidFill>
                <a:latin typeface="Calibri"/>
              </a:rPr>
              <a:t>WHAT SRIKUMAR
DOES NEXT</a:t>
            </a:r>
          </a:p>
        </p:txBody>
      </p:sp>
      <p:sp>
        <p:nvSpPr>
          <p:cNvPr id="13" name="Rectangle 12"/>
          <p:cNvSpPr/>
          <p:nvPr/>
        </p:nvSpPr>
        <p:spPr>
          <a:xfrm>
            <a:off x="4658258" y="1801368"/>
            <a:ext cx="2920898" cy="36576"/>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29658" y="1947672"/>
            <a:ext cx="3378098" cy="3886200"/>
          </a:xfrm>
          <a:prstGeom prst="rect">
            <a:avLst/>
          </a:prstGeom>
          <a:noFill/>
        </p:spPr>
        <p:txBody>
          <a:bodyPr wrap="square" anchor="t" lIns="0" rIns="0" tIns="0" bIns="0">
            <a:normAutofit/>
          </a:bodyPr>
          <a:lstStyle/>
          <a:p>
            <a:pPr algn="ctr">
              <a:lnSpc>
                <a:spcPct val="105000"/>
              </a:lnSpc>
              <a:spcBef>
                <a:spcPts val="0"/>
              </a:spcBef>
            </a:pPr>
            <a:r>
              <a:rPr sz="1200" b="0" i="0">
                <a:solidFill>
                  <a:srgbClr val="0A1628"/>
                </a:solidFill>
                <a:latin typeface="Calibri"/>
              </a:rPr>
              <a:t>Introductory call scheduled within 7 days from warm GCC network
Agenda: hear the GCC's AI mandate in their own words
No product pitch — 20 minutes of listening
Goal: qualify for Sprint or surface the right FPT specialist
Srikumar owns the relationship from Sprint to Partnership</a:t>
            </a:r>
          </a:p>
        </p:txBody>
      </p:sp>
      <p:sp>
        <p:nvSpPr>
          <p:cNvPr id="15" name="Rounded Rectangle 14"/>
          <p:cNvSpPr/>
          <p:nvPr/>
        </p:nvSpPr>
        <p:spPr>
          <a:xfrm>
            <a:off x="8036356" y="1051560"/>
            <a:ext cx="3606698" cy="4892040"/>
          </a:xfrm>
          <a:prstGeom prst="roundRect">
            <a:avLst>
              <a:gd name="adj" fmla="val 4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36356" y="1051560"/>
            <a:ext cx="3606698" cy="54864"/>
          </a:xfrm>
          <a:prstGeom prst="rect">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73516" y="1161288"/>
            <a:ext cx="3378098" cy="594360"/>
          </a:xfrm>
          <a:prstGeom prst="rect">
            <a:avLst/>
          </a:prstGeom>
          <a:noFill/>
        </p:spPr>
        <p:txBody>
          <a:bodyPr wrap="square" anchor="t" lIns="0" rIns="0" tIns="0" bIns="0">
            <a:normAutofit/>
          </a:bodyPr>
          <a:lstStyle/>
          <a:p>
            <a:pPr algn="ctr">
              <a:lnSpc>
                <a:spcPct val="105000"/>
              </a:lnSpc>
              <a:spcBef>
                <a:spcPts val="0"/>
              </a:spcBef>
            </a:pPr>
            <a:r>
              <a:rPr sz="1400" b="1" i="0">
                <a:solidFill>
                  <a:srgbClr val="FFB800"/>
                </a:solidFill>
                <a:latin typeface="Calibri"/>
              </a:rPr>
              <a:t>WHAT HAPPENS
AT MONTH 18</a:t>
            </a:r>
          </a:p>
        </p:txBody>
      </p:sp>
      <p:sp>
        <p:nvSpPr>
          <p:cNvPr id="18" name="Rectangle 17"/>
          <p:cNvSpPr/>
          <p:nvPr/>
        </p:nvSpPr>
        <p:spPr>
          <a:xfrm>
            <a:off x="8402116" y="1801368"/>
            <a:ext cx="2920898" cy="36576"/>
          </a:xfrm>
          <a:prstGeom prst="rect">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73516" y="1947672"/>
            <a:ext cx="3378098" cy="3886200"/>
          </a:xfrm>
          <a:prstGeom prst="rect">
            <a:avLst/>
          </a:prstGeom>
          <a:noFill/>
        </p:spPr>
        <p:txBody>
          <a:bodyPr wrap="square" anchor="t" lIns="0" rIns="0" tIns="0" bIns="0">
            <a:normAutofit/>
          </a:bodyPr>
          <a:lstStyle/>
          <a:p>
            <a:pPr algn="ctr">
              <a:lnSpc>
                <a:spcPct val="105000"/>
              </a:lnSpc>
              <a:spcBef>
                <a:spcPts val="0"/>
              </a:spcBef>
            </a:pPr>
            <a:r>
              <a:rPr sz="1200" b="0" i="0">
                <a:solidFill>
                  <a:srgbClr val="E0F7F1"/>
                </a:solidFill>
                <a:latin typeface="Calibri"/>
              </a:rPr>
              <a:t>Production AI system running
Legacy stack modernised
Vertical AI platform deployed
First co-developed AI module shipped
Global parent briefed and impressed
Strategic AI Partnership MSA signed
$10M–$30M contract · preferred partner status</a:t>
            </a:r>
          </a:p>
        </p:txBody>
      </p:sp>
      <p:sp>
        <p:nvSpPr>
          <p:cNvPr id="20" name="Rectangle 19"/>
          <p:cNvSpPr/>
          <p:nvPr/>
        </p:nvSpPr>
        <p:spPr>
          <a:xfrm>
            <a:off x="548640" y="6080760"/>
            <a:ext cx="11094415" cy="438912"/>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144768"/>
            <a:ext cx="10820095" cy="320040"/>
          </a:xfrm>
          <a:prstGeom prst="rect">
            <a:avLst/>
          </a:prstGeom>
          <a:noFill/>
        </p:spPr>
        <p:txBody>
          <a:bodyPr wrap="square" anchor="t" lIns="0" rIns="0" tIns="0" bIns="0">
            <a:normAutofit/>
          </a:bodyPr>
          <a:lstStyle/>
          <a:p>
            <a:pPr algn="ctr">
              <a:lnSpc>
                <a:spcPct val="105000"/>
              </a:lnSpc>
              <a:spcBef>
                <a:spcPts val="0"/>
              </a:spcBef>
            </a:pPr>
            <a:r>
              <a:rPr sz="1400" b="1" i="0">
                <a:solidFill>
                  <a:srgbClr val="0A1628"/>
                </a:solidFill>
                <a:latin typeface="Calibri"/>
              </a:rPr>
              <a:t>The GCC that starts the Sprint today is the Strategic AI Partner 18 months from now.</a:t>
            </a:r>
          </a:p>
        </p:txBody>
      </p:sp>
      <p:sp>
        <p:nvSpPr>
          <p:cNvPr id="22" name="TextBox 21"/>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889098"/>
                </a:solidFill>
                <a:latin typeface="Calibri"/>
              </a:rPr>
              <a:t>FPT Software · GCC Implementation Roadmap · Jun 2026</a:t>
            </a:r>
          </a:p>
        </p:txBody>
      </p:sp>
      <p:sp>
        <p:nvSpPr>
          <p:cNvPr id="23" name="TextBox 22"/>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889098"/>
                </a:solidFill>
                <a:latin typeface="Calibri"/>
              </a:rPr>
              <a:t>17 / 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