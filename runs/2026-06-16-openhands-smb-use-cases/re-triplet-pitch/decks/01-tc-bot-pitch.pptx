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DONE-FOR-YOU AI ENGINEERING · REAL 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91440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0" b="1" i="0">
                <a:solidFill>
                  <a:srgbClr val="FFFFFF"/>
                </a:solidFill>
                <a:latin typeface="Calibri"/>
              </a:rPr>
              <a:t>Transaction
Coordinator Bot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31920"/>
            <a:ext cx="50292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Your AI-powered TC that never misses a deadline, chases every document,
and keeps every party informed — without you touching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120640"/>
            <a:ext cx="2560320" cy="292608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157216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Closes unlimited transactions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5120640"/>
            <a:ext cx="1645920" cy="292608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5157216"/>
            <a:ext cx="148132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$2,500/month flat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5120640"/>
            <a:ext cx="1463040" cy="292608"/>
          </a:xfrm>
          <a:prstGeom prst="roundRect">
            <a:avLst>
              <a:gd name="adj" fmla="val 6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5157216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Setup in 1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Transaction Coordinator Bot · AI Engineering for Real Estate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1">
                <a:solidFill>
                  <a:srgbClr val="FFFFFF"/>
                </a:solidFill>
                <a:latin typeface="Calibri"/>
              </a:rPr>
              <a:t>"I'm paying my TC $2,000 a month and half the time
I still have to chase people myself."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7621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76218" cy="54864"/>
          </a:xfrm>
          <a:prstGeom prst="roundRect">
            <a:avLst>
              <a:gd name="adj" fmla="val 2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3301898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You're paying for something that still breaks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49424"/>
            <a:ext cx="3210458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3301898" cy="2651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Human TCs handle paperwork but miss contingency dates, forget to follow up with title, and go on vacation during your busiest closing week.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738" y="1371600"/>
            <a:ext cx="357621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07738" y="1371600"/>
            <a:ext cx="3576218" cy="54864"/>
          </a:xfrm>
          <a:prstGeom prst="roundRect">
            <a:avLst>
              <a:gd name="adj" fmla="val 2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0618" y="1536192"/>
            <a:ext cx="3301898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Every missed deadline is money — or worse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0618" y="2249424"/>
            <a:ext cx="3210458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0618" y="2359152"/>
            <a:ext cx="3301898" cy="2651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One missed contingency can give the buyer grounds to walk. One missed inspection date can trigger a contract renegotiation. One forgotten doc delays close by a week.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6836" y="1371600"/>
            <a:ext cx="357621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6836" y="1371600"/>
            <a:ext cx="3576218" cy="54864"/>
          </a:xfrm>
          <a:prstGeom prst="roundRect">
            <a:avLst>
              <a:gd name="adj" fmla="val 2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9716" y="1536192"/>
            <a:ext cx="3301898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You become the fallback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9716" y="2249424"/>
            <a:ext cx="3210458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9716" y="2359152"/>
            <a:ext cx="3301898" cy="2651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When your TC drops the ball, you find out when the lender calls you directly. Now you're doing TC work on top of listing appointments.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3212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The bot eliminates all three. It never sleeps, never goes on vacation, and never forgets.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Transaction Coordinator Bot · AI Engineering for Real Estate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a Manual Transaction Process Actually Costs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numbers agents don't add up — until they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636443" cy="1645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74520"/>
            <a:ext cx="2362123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00C9A7"/>
                </a:solidFill>
                <a:latin typeface="Calibri"/>
              </a:rPr>
              <a:t>$300–$500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60320"/>
            <a:ext cx="2362123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per transaction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53512"/>
            <a:ext cx="2362123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TC fee, paid whether close happens or not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7963" y="1691640"/>
            <a:ext cx="2636443" cy="1645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9131" y="1874520"/>
            <a:ext cx="2362123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00C9A7"/>
                </a:solidFill>
                <a:latin typeface="Calibri"/>
              </a:rPr>
              <a:t>$2,000–$4,000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9131" y="2560320"/>
            <a:ext cx="2362123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per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9131" y="2953512"/>
            <a:ext cx="2362123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At 6–8 closings: TC cost before your own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691640"/>
            <a:ext cx="2636443" cy="1645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8455" y="1874520"/>
            <a:ext cx="2362123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00C9A7"/>
                </a:solidFill>
                <a:latin typeface="Calibri"/>
              </a:rPr>
              <a:t>2–4 hrs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8455" y="2560320"/>
            <a:ext cx="2362123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per 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8455" y="2953512"/>
            <a:ext cx="2362123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Agent time chasing docs, parties, and deadlines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611" y="1691640"/>
            <a:ext cx="2636443" cy="1645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7779" y="1874520"/>
            <a:ext cx="2362123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00C9A7"/>
                </a:solidFill>
                <a:latin typeface="Calibri"/>
              </a:rPr>
              <a:t>1 in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7779" y="2560320"/>
            <a:ext cx="2362123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deals fall apart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7779" y="2953512"/>
            <a:ext cx="2362123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Due to missed contingency or document delay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66160"/>
            <a:ext cx="11094415" cy="13716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57600"/>
            <a:ext cx="54864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Scenario: You close 8 deals this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069080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5B6B7C"/>
                </a:solidFill>
                <a:latin typeface="Calibri"/>
              </a:rPr>
              <a:t>TC fees: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4069080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$400 × 8 = $3,200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270248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5B6B7C"/>
                </a:solidFill>
                <a:latin typeface="Calibri"/>
              </a:rPr>
              <a:t>Your time (2 hrs × 8):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4270248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16 hours — at $250/hr opportunity cost = $4,000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471416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5B6B7C"/>
                </a:solidFill>
                <a:latin typeface="Calibri"/>
              </a:rPr>
              <a:t>1 deal falls through (1 in 12):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4471416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$12,000 in lost commission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672584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5B6B7C"/>
                </a:solidFill>
                <a:latin typeface="Calibri"/>
              </a:rPr>
              <a:t>Total exposure: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467258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$7,200 in direct cost + $12,000 risk = $19,200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102352"/>
            <a:ext cx="11094415" cy="65836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157216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B800"/>
                </a:solidFill>
                <a:latin typeface="Calibri"/>
              </a:rPr>
              <a:t>The bot costs $2,500/month. At 8 closings, you're saving $700 in TC fees alone — and eliminating the 16 hours and the deal-fall-through risk entirely.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Transaction Coordinator Bot · AI Engineering for Real Estate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Six Things the Bot Does Automatically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Every capability that a human TC does — plus the ones they forget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55767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73152" cy="1481328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28216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28216"/>
            <a:ext cx="4705959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Contract Intake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67128"/>
            <a:ext cx="5126583" cy="274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276856"/>
            <a:ext cx="5126583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Upload the signed purchase agreement — the bot reads it, extracts every date, and opens the deal file in under 2 minutes.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1600200"/>
            <a:ext cx="5455767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87287" y="1600200"/>
            <a:ext cx="73152" cy="1481328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1879" y="1728216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647" y="1728216"/>
            <a:ext cx="4705959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Calendar Population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1879" y="2167128"/>
            <a:ext cx="5126583" cy="274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1879" y="2276856"/>
            <a:ext cx="5126583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All contingency dates auto-populate into Google Calendar with reminders for every party — buyer, seller, title, lender, and you.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72968"/>
            <a:ext cx="5455767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3172968"/>
            <a:ext cx="73152" cy="1481328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300984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300984"/>
            <a:ext cx="4705959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Daily Status Emails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739896"/>
            <a:ext cx="5126583" cy="274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49624"/>
            <a:ext cx="5126583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Every party receives a daily deal status digest: what's complete, what's due in the next 48 hours, and who owes what.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3172968"/>
            <a:ext cx="5455767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7287" y="3172968"/>
            <a:ext cx="73152" cy="1481328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1879" y="3300984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1647" y="3300984"/>
            <a:ext cx="4705959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Document Chase Sequences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1879" y="3739896"/>
            <a:ext cx="5126583" cy="274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1879" y="3849624"/>
            <a:ext cx="5126583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Missing doc? The bot sends a polite ask on day 1, a firmer ask on day 3, and flags you on day 5. You only intervene for true exceptions.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745736"/>
            <a:ext cx="5455767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4745736"/>
            <a:ext cx="73152" cy="1481328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873752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873752"/>
            <a:ext cx="4705959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Milestone Confirmations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5312664"/>
            <a:ext cx="5126583" cy="274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5422392"/>
            <a:ext cx="5126583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When each contingency clears — inspection, financing, title — all parties receive an automatic confirmation with the next milestone due.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7287" y="4745736"/>
            <a:ext cx="5455767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87287" y="4745736"/>
            <a:ext cx="73152" cy="1481328"/>
          </a:xfrm>
          <a:prstGeom prst="roundRect">
            <a:avLst>
              <a:gd name="adj" fmla="val 2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1879" y="4873752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1647" y="4873752"/>
            <a:ext cx="4705959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File Close + Archive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1879" y="5312664"/>
            <a:ext cx="5126583" cy="274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1879" y="5422392"/>
            <a:ext cx="5126583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When the last document lands, the bot closes the deal file, generates a transaction summary, and archives everything to your Notion workspace.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Transaction Coordinator Bot · AI Engineering for Real Estate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How a Deal Runs — From Executed Contract to Close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Seven automated steps. You only appear when something needs a human decision.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475488" cy="65836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09928"/>
            <a:ext cx="475488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" y="1600200"/>
            <a:ext cx="10497312" cy="65836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1655064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Contract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9476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You or your assistant uploads the signed purchase agreement to the deal portal. Takes 60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13432"/>
            <a:ext cx="475488" cy="658368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475488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5568" y="2313432"/>
            <a:ext cx="10497312" cy="65836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2368296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Auto-Extraction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6609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Bot reads the contract, extracts all dates, parties, and contingency conditions. Deal file opens automatically.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26664"/>
            <a:ext cx="475488" cy="65836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136392"/>
            <a:ext cx="475488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15568" y="3026664"/>
            <a:ext cx="10497312" cy="65836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3081528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Calendar + Welcome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37413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Google Calendar populated for all parties. Welcome email sent to buyer, seller, title company, and lender within 5 minutes.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39896"/>
            <a:ext cx="475488" cy="658368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49624"/>
            <a:ext cx="475488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5568" y="3739896"/>
            <a:ext cx="10497312" cy="65836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98448" y="379476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Daily Check-Ins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0873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Every morning, automated status digest goes to all parties. Every evening, bot checks for document completeness.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453128"/>
            <a:ext cx="475488" cy="65836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62856"/>
            <a:ext cx="475488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15568" y="4453128"/>
            <a:ext cx="10497312" cy="65836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98448" y="450799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Chase Sequences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4800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Any missing document triggers a polite follow-up sequence: Day 1 ask → Day 3 reminder → Day 5 escalation to you.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166360"/>
            <a:ext cx="475488" cy="658368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276088"/>
            <a:ext cx="475488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15568" y="5166360"/>
            <a:ext cx="10497312" cy="65836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98448" y="5221224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Milestone Confirmations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551383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Inspection cleared? Financing approved? Each milestone triggers an automatic confirmation and updates the deal timeline.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79592"/>
            <a:ext cx="475488" cy="65836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989320"/>
            <a:ext cx="475488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15568" y="5879592"/>
            <a:ext cx="10497312" cy="65836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98448" y="5934456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Close + Archive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62270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Final walkthrough confirmed, title cleared, keys exchanged — bot closes the file, sends a transaction summary, archives to Notion.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Transaction Coordinator Bot · AI Engineering for Real Estate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Automated Communication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Every party stays informed. Nobody calls you wondering what's happening.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WHAT EACH PARTY RECEIVES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29968"/>
            <a:ext cx="73152" cy="7863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66544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You (the agent)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40864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· Daily deal summary — all active 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42032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· Exception alerts when something needs your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43200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· Weekly close pipeline report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54096"/>
            <a:ext cx="73152" cy="7863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9067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Buyer + Buyer's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364992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· Daily status: what's complete, what's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566160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· Document request with clear deadline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7673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· Contingency clearance confirmations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78224"/>
            <a:ext cx="73152" cy="786384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11480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Title Company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89120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· Open title order confirmation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59028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· Daily doc checklist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791456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· Close date confirmation 72 hours out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102352"/>
            <a:ext cx="73152" cy="78638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5138928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Lender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41324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· Appraisal order confirmation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614416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· Financing contingency deadline reminder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815584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· Clear-to-close request with deadline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1600200"/>
            <a:ext cx="5516575" cy="4572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719072"/>
            <a:ext cx="52422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SAMPLE: DAILY STATUS EMAIL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011680"/>
            <a:ext cx="5150815" cy="27432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10312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From: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2103120"/>
            <a:ext cx="400781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TC Bot &lt;tc@yourbrokerage.com&gt;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3408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To: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2340864"/>
            <a:ext cx="400781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sarah.johnson@email.com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57860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Subject: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2578608"/>
            <a:ext cx="400781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Deal Update — 1234 Oak Street [Day 8 of 30]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2816352"/>
            <a:ext cx="5242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054096"/>
            <a:ext cx="5242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Hi Sarah,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291840"/>
            <a:ext cx="5242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352958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✅  Complete: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3529584"/>
            <a:ext cx="400781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Earnest money received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76732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✅  Complete: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3767328"/>
            <a:ext cx="400781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Inspection scheduled (Tue Jun 18, 10am)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00507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⏳  Due Fri: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4005072"/>
            <a:ext cx="400781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Lender pre-approval letter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4242816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⏳  Due Fri: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4242816"/>
            <a:ext cx="400781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HOA docs from seller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448056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📋  Next up: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52360" y="4480560"/>
            <a:ext cx="400781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Financing contingency deadline — Jun 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Transaction Coordinator Bot · AI Engineering for Real Estate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Document Tracking + Automatic Chase Sequences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Every missing document triggers a three-step escalation. You only appear at step 4.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73152" cy="10058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00200"/>
            <a:ext cx="10929823" cy="100584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Day 1 — Polite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39112"/>
            <a:ext cx="1050005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Automated email to the responsible party: 'Hi [Name], just a reminder that [Document] is due by [Date]. Please upload to the deal portal at your convenience. Let me know if you have questions.'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73152" cy="100584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2788920"/>
            <a:ext cx="10929823" cy="100584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Day 3 — Firm Reminder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27832"/>
            <a:ext cx="1050005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Second automated email with urgency: 'Hi [Name], [Document] is now 2 days overdue. This is required to keep the [Date] contingency on track. Please upload today.'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77640"/>
            <a:ext cx="73152" cy="100584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3977640"/>
            <a:ext cx="10929823" cy="100584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Day 5 — Escalation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16552"/>
            <a:ext cx="1050005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You receive a text and email: 'ACTION NEEDED: [Document] is 4 days overdue from [Party]. Contingency deadline is [Date]. Recommend you call directly.'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66360"/>
            <a:ext cx="73152" cy="10058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" y="5166360"/>
            <a:ext cx="10929823" cy="100584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You Step In (Exceptions Only)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05272"/>
            <a:ext cx="1050005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You make one call. The bot logs the outcome, resets the chase timer if needed, and handles all follow-up communication from there.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400800"/>
            <a:ext cx="11094415" cy="256032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419088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Result: 92% of missing documents are received before you ever need to make a call.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Transaction Coordinator Bot · AI Engineering for Real Estate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Technology Behind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Three layers — all connected, all automated, all yours.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76218" cy="47548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00784"/>
            <a:ext cx="330189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INTELLIGENCE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93392"/>
            <a:ext cx="3301898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OpenHands AI Agent Runtime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523744"/>
            <a:ext cx="3247034" cy="274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633472"/>
            <a:ext cx="3301898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The AI engine that reads contracts, makes decisions, and orchestrates every task. Open-source, self-hosted — your data never leaves your environment.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785616"/>
            <a:ext cx="91440" cy="9144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730752"/>
            <a:ext cx="311901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Reads and interprets purchase agreements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24528"/>
            <a:ext cx="91440" cy="9144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4169664"/>
            <a:ext cx="311901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Makes scheduling + sequencing decisions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663440"/>
            <a:ext cx="91440" cy="9144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608576"/>
            <a:ext cx="311901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Escalates intelligently based on urgency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102352"/>
            <a:ext cx="91440" cy="9144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5047488"/>
            <a:ext cx="311901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Runs 24/7 with zero downtime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7738" y="1600200"/>
            <a:ext cx="3576218" cy="475488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2330" y="1700784"/>
            <a:ext cx="330189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2A83B"/>
                </a:solidFill>
                <a:latin typeface="Calibri"/>
              </a:rPr>
              <a:t>INTEGRATION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2330" y="1993392"/>
            <a:ext cx="3301898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MCP Server Connections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72330" y="2523744"/>
            <a:ext cx="3247034" cy="2743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2330" y="2633472"/>
            <a:ext cx="3301898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Pre-built connections to every tool your deal needs. No custom coding per integration — plug in, configure, run.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72330" y="3785616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922" y="3730752"/>
            <a:ext cx="311901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Google Calendar — all parties, all deadlines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72330" y="4224528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922" y="4169664"/>
            <a:ext cx="311901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Gmail — branded email sequences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72330" y="4663440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6922" y="4608576"/>
            <a:ext cx="311901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Twilio — SMS alerts for you + parties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72330" y="5102352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36922" y="5047488"/>
            <a:ext cx="311901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Notion — deal file archive + reporting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6836" y="1600200"/>
            <a:ext cx="3576218" cy="47548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31428" y="1700784"/>
            <a:ext cx="330189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9B82"/>
                </a:solidFill>
                <a:latin typeface="Calibri"/>
              </a:rPr>
              <a:t>OVERSIGHT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1428" y="1993392"/>
            <a:ext cx="3301898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Your Agent Dashboard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31428" y="2523744"/>
            <a:ext cx="3247034" cy="2743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31428" y="2633472"/>
            <a:ext cx="3301898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One view of every active transaction. See what the bot did, what's pending, and where exceptions need your attention. Accessible from any device.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31428" y="3785616"/>
            <a:ext cx="91440" cy="91440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6020" y="3730752"/>
            <a:ext cx="311901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Live deal pipeline view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31428" y="4224528"/>
            <a:ext cx="91440" cy="91440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96020" y="4169664"/>
            <a:ext cx="311901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Exception queue (only what needs you)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31428" y="4663440"/>
            <a:ext cx="91440" cy="91440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6020" y="4608576"/>
            <a:ext cx="311901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Document completion status per deal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31428" y="5102352"/>
            <a:ext cx="91440" cy="91440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96020" y="5047488"/>
            <a:ext cx="311901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Weekly close forecast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Transaction Coordinator Bot · AI Engineering for Real Estate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ROI Comparison — Before and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At 6+ transactions/month, the bot pays for itself. Above that, it generates margin.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64208"/>
            <a:ext cx="3145536" cy="42976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299923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664208"/>
            <a:ext cx="3785616" cy="42976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0208" y="1755648"/>
            <a:ext cx="3639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Human TC (Current)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664208"/>
            <a:ext cx="3785616" cy="42976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8" y="1755648"/>
            <a:ext cx="3639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TC Bot (This Service)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3145536" cy="4297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212848"/>
            <a:ext cx="299923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Cost per transaction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121408"/>
            <a:ext cx="3785616" cy="4297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0208" y="2212848"/>
            <a:ext cx="3639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$300–$500 per deal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121408"/>
            <a:ext cx="3785616" cy="429768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8" y="2212848"/>
            <a:ext cx="3639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$0 — flat monthly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78608"/>
            <a:ext cx="314553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670048"/>
            <a:ext cx="299923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Monthly cost at 6 deals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2578608"/>
            <a:ext cx="378561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0208" y="2670048"/>
            <a:ext cx="3639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$1,800–$3,000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2578608"/>
            <a:ext cx="3785616" cy="429768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82128" y="2670048"/>
            <a:ext cx="3639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$2,500 flat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035808"/>
            <a:ext cx="3145536" cy="4297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127248"/>
            <a:ext cx="299923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Monthly cost at 10 deals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3035808"/>
            <a:ext cx="3785616" cy="4297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50208" y="3127248"/>
            <a:ext cx="3639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$3,000–$5,000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3035808"/>
            <a:ext cx="3785616" cy="429768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2128" y="3127248"/>
            <a:ext cx="3639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$2,500 flat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493008"/>
            <a:ext cx="314553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584448"/>
            <a:ext cx="299923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Your time per deal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3493008"/>
            <a:ext cx="378561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50208" y="3584448"/>
            <a:ext cx="3639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2–4 hours chasing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3493008"/>
            <a:ext cx="3785616" cy="429768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82128" y="3584448"/>
            <a:ext cx="3639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&lt; 15 min (exceptions only)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950208"/>
            <a:ext cx="3145536" cy="4297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041648"/>
            <a:ext cx="299923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Works nights/weekends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0" y="3950208"/>
            <a:ext cx="3785616" cy="4297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50208" y="4041648"/>
            <a:ext cx="3639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3950208"/>
            <a:ext cx="3785616" cy="429768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8" y="4041648"/>
            <a:ext cx="3639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Yes — 24/7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407408"/>
            <a:ext cx="314553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4498848"/>
            <a:ext cx="299923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Vacation coverage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0" y="4407408"/>
            <a:ext cx="378561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50208" y="4498848"/>
            <a:ext cx="3639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Covered by you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0" y="4407408"/>
            <a:ext cx="3785616" cy="429768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82128" y="4498848"/>
            <a:ext cx="3639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Uninterrupted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864608"/>
            <a:ext cx="3145536" cy="4297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4956048"/>
            <a:ext cx="299923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Contingency miss rate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0" y="4864608"/>
            <a:ext cx="3785616" cy="4297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50208" y="4956048"/>
            <a:ext cx="3639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~8% (industry avg)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0" y="4864608"/>
            <a:ext cx="3785616" cy="429768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82128" y="4956048"/>
            <a:ext cx="3639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&lt; 1% (automated tracking)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321808"/>
            <a:ext cx="314553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5413248"/>
            <a:ext cx="299923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Scales to more deals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0" y="5321808"/>
            <a:ext cx="3785616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50208" y="5413248"/>
            <a:ext cx="3639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Costs more per deal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0" y="5321808"/>
            <a:ext cx="3785616" cy="429768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82128" y="5413248"/>
            <a:ext cx="363931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Same price regardless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5806440"/>
            <a:ext cx="11094415" cy="5029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5870448"/>
            <a:ext cx="10820095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Break-even: 5 transactions/month. Every deal above that is pure margin. Most active agents close 6–12.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Transaction Coordinator Bot · AI Engineering for Real Estate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What's Included in Your Monthly Subscription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Everything you need to run TC operations on autopilot — no add-ons, no surprises.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64008" cy="1042415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91640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Deal Intake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039112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Web-based deal portal. You or your assistant uploads the purchase agreement — that's it. Works from any device.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600200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1600200"/>
            <a:ext cx="64008" cy="1042415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1879" y="1691640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Contract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2039112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Auto-extraction of all dates, parties, and contingency conditions from any standard purchase agreement.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34056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34056"/>
            <a:ext cx="64008" cy="1042415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825496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Google Calendar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172968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All deal dates populate automatically for every party. Contingency reminders set 7 days, 3 days, and 24 hours in advance.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2734056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7287" y="2734056"/>
            <a:ext cx="64008" cy="1042415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1879" y="2825496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Email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3172968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Branded daily status emails for all parties. Templates customized with your brokerage name and headshot.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67912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867912"/>
            <a:ext cx="64008" cy="1042415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959352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SMS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306824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Text notifications for you on exceptions and escalations. Optional buyer/seller SMS for critical deadlines.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7" y="3867912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7287" y="3867912"/>
            <a:ext cx="64008" cy="1042415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1879" y="3959352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Document Chase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1879" y="4306824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Three-step escalation sequence for every missing document. You only get pulled in on day 5 exceptions.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001768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001768"/>
            <a:ext cx="64008" cy="1042415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093208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File Archive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440680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Completed deals archived to Notion. Every document, every communication, every date — searchable forever.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7287" y="5001768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87287" y="5001768"/>
            <a:ext cx="64008" cy="1042415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1879" y="5093208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Monthly Support Check-In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1879" y="5440680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30-minute call each month to review performance, adjust templates, and handle any edge cases from your market.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Transaction Coordinator Bot · AI Engineering for Real Estate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Four-Week Setup — From Signed Agreement to First Automated Deal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Your first fully automated transaction closes before the end of month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05840" cy="123444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92224"/>
            <a:ext cx="365760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Configure + Connect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55648" y="2176272"/>
            <a:ext cx="109728" cy="10972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1952" y="21396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Connect Google Calendar and Gmail with your brokerage credentials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55648" y="2450592"/>
            <a:ext cx="109728" cy="10972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241401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Set up deal portal with your forms and branding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55648" y="2724912"/>
            <a:ext cx="109728" cy="10972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01952" y="268833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Configure email templates with your name, headshot, and brokerage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99232"/>
            <a:ext cx="1005840" cy="123444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63824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Week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054096"/>
            <a:ext cx="365760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Test + Calibrate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5648" y="3438144"/>
            <a:ext cx="109728" cy="10972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01952" y="340156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Run a test deal through the full pipeline with a past transaction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55648" y="3712464"/>
            <a:ext cx="109728" cy="10972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01952" y="36758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Review email output and adjust tone/language to match your voice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55648" y="3986784"/>
            <a:ext cx="109728" cy="10972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01952" y="395020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Confirm all party notifications arrive correctly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61104"/>
            <a:ext cx="1005840" cy="123444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425696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Week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315968"/>
            <a:ext cx="365760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First Live Deal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55648" y="4700016"/>
            <a:ext cx="109728" cy="10972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01952" y="466344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Your first real transaction runs through the bot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55648" y="4974336"/>
            <a:ext cx="109728" cy="10972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01952" y="4937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We monitor in real-time and handle any edge cases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55648" y="5248656"/>
            <a:ext cx="109728" cy="10972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01952" y="521208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You observe — approve or override anything that needs your judgment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522976"/>
            <a:ext cx="1005840" cy="123444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68756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Week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577840"/>
            <a:ext cx="365760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Hand Off + Optimize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55648" y="5961888"/>
            <a:ext cx="109728" cy="10972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01952" y="592531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You run the second deal independently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55648" y="6236208"/>
            <a:ext cx="109728" cy="10972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01952" y="61996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30-minute debrief call: what worked, what to adjust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755648" y="6510528"/>
            <a:ext cx="109728" cy="10972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01952" y="647395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Bot running autonomously — you supervise from the dashboard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6473952"/>
            <a:ext cx="11094415" cy="237744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492240"/>
            <a:ext cx="1082009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009B82"/>
                </a:solidFill>
                <a:latin typeface="Calibri"/>
              </a:rPr>
              <a:t>Setup fee: $500 one-time (covers weeks 1–4 configuration and onboarding support)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Transaction Coordinator Bot · AI Engineering for Real Estate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SIMPLE PRICING. NO SURPRISES.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5029200" cy="219456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3444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0" b="1" i="0">
                <a:solidFill>
                  <a:srgbClr val="FFB800"/>
                </a:solidFill>
                <a:latin typeface="Calibri"/>
              </a:rPr>
              <a:t>$2,500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2743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0048"/>
            <a:ext cx="45720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+ $500 one-time setup fee · No long-term contract · Cancel with 30 days 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05156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For $2,500/month you get: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81328"/>
            <a:ext cx="128016" cy="128016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44752"/>
            <a:ext cx="566928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Unlimited transactions — no per-deal fee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56816"/>
            <a:ext cx="128016" cy="128016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566928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All 8 included features (no add-ons)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432304"/>
            <a:ext cx="128016" cy="128016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395728"/>
            <a:ext cx="566928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24/7 autonomous operation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07792"/>
            <a:ext cx="128016" cy="128016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871216"/>
            <a:ext cx="566928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Monthly support check-in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83280"/>
            <a:ext cx="128016" cy="128016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46704"/>
            <a:ext cx="566928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Cancel anytime — no lock-in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429000"/>
            <a:ext cx="10911535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THREE STEPS TO GET STARTED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005072"/>
            <a:ext cx="402336" cy="402336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23360"/>
            <a:ext cx="40233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023360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Book a 20-min intro 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407408"/>
            <a:ext cx="310896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We review your current TC setup and confirm the bot is the right fit.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4005072"/>
            <a:ext cx="402336" cy="402336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023360"/>
            <a:ext cx="40233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023360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Sign + pay setup fee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407408"/>
            <a:ext cx="310896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We start configuration within 48 hours of your signed agreement.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4005072"/>
            <a:ext cx="402336" cy="402336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023360"/>
            <a:ext cx="40233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023360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Run your first automated deal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4407408"/>
            <a:ext cx="310896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Week 3 — your first real transaction closes with the bot in the TC seat.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074920"/>
            <a:ext cx="10911535" cy="5486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212080"/>
            <a:ext cx="1091153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[your website or booking link here]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Transaction Coordinator Bot · AI Engineering for Real Estate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