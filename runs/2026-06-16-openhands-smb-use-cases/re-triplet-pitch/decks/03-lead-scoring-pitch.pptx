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91440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2A83B"/>
                </a:solidFill>
                <a:latin typeface="Calibri"/>
              </a:rPr>
              <a:t>DONE-FOR-YOU AI ENGINEERING · REAL ESTATE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89888"/>
            <a:ext cx="914400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5400" b="1" i="0">
                <a:solidFill>
                  <a:srgbClr val="FFFFFF"/>
                </a:solidFill>
                <a:latin typeface="Calibri"/>
              </a:rPr>
              <a:t>Lead Scoring +
CRM Drip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931920"/>
            <a:ext cx="5029200" cy="54864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960120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E0F7F1"/>
                </a:solidFill>
                <a:latin typeface="Calibri"/>
              </a:rPr>
              <a:t>Know who in your database is ready to buy or sell — before they call someone else.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892040"/>
            <a:ext cx="2560320" cy="292608"/>
          </a:xfrm>
          <a:prstGeom prst="roundRect">
            <a:avLst>
              <a:gd name="adj" fmla="val 6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4928616"/>
            <a:ext cx="2395728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A1628"/>
                </a:solidFill>
                <a:latin typeface="Calibri"/>
              </a:rPr>
              <a:t>Scores your entire database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4892040"/>
            <a:ext cx="1645920" cy="292608"/>
          </a:xfrm>
          <a:prstGeom prst="roundRect">
            <a:avLst>
              <a:gd name="adj" fmla="val 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1568" y="4928616"/>
            <a:ext cx="1481328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A1628"/>
                </a:solidFill>
                <a:latin typeface="Calibri"/>
              </a:rPr>
              <a:t>$3,000/month flat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4892040"/>
            <a:ext cx="2377440" cy="292608"/>
          </a:xfrm>
          <a:prstGeom prst="roundRect">
            <a:avLst>
              <a:gd name="adj" fmla="val 6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30368" y="4928616"/>
            <a:ext cx="2212848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A1628"/>
                </a:solidFill>
                <a:latin typeface="Calibri"/>
              </a:rPr>
              <a:t>Finds deals you're missing now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Lead Scoring + CRM Drip System · AI Engineering for Real Estate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10972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2A83B"/>
                </a:solidFill>
                <a:latin typeface="Calibr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900" b="0" i="1">
                <a:solidFill>
                  <a:srgbClr val="FFFFFF"/>
                </a:solidFill>
                <a:latin typeface="Calibri"/>
              </a:rPr>
              <a:t>"I have 400 contacts in my phone and I have no idea
which 20 of them are ready to transact right now."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576218" cy="39319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3576218" cy="54864"/>
          </a:xfrm>
          <a:prstGeom prst="roundRect">
            <a:avLst>
              <a:gd name="adj" fmla="val 2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36192"/>
            <a:ext cx="3301898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Your database is your biggest untapped asset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304288"/>
            <a:ext cx="3210458" cy="27432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14016"/>
            <a:ext cx="3301898" cy="2596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Industry research shows 67% of buyers and sellers choose the first agent who contacts them at the right moment. Your database already has those people — you just can't see who they are.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7738" y="1371600"/>
            <a:ext cx="3576218" cy="39319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07738" y="1371600"/>
            <a:ext cx="3576218" cy="54864"/>
          </a:xfrm>
          <a:prstGeom prst="roundRect">
            <a:avLst>
              <a:gd name="adj" fmla="val 2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0618" y="1536192"/>
            <a:ext cx="3301898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You follow up by gut feeling — and miss the signal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90618" y="2304288"/>
            <a:ext cx="3210458" cy="27432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0618" y="2414016"/>
            <a:ext cx="3301898" cy="2596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You call your sphere when you have time, not when they're ready. The 5% who are ready to move this quarter go cold because your last touch was three months ago.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6836" y="1371600"/>
            <a:ext cx="3576218" cy="39319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66836" y="1371600"/>
            <a:ext cx="3576218" cy="54864"/>
          </a:xfrm>
          <a:prstGeom prst="roundRect">
            <a:avLst>
              <a:gd name="adj" fmla="val 2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9716" y="1536192"/>
            <a:ext cx="3301898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Competitors stay top-of-mind while you're busy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49716" y="2304288"/>
            <a:ext cx="3210458" cy="27432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9716" y="2414016"/>
            <a:ext cx="3301898" cy="2596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The agent who does reach out at the right moment — with the right message — wins the listing. It doesn't have to be you to lose.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532120"/>
            <a:ext cx="11094415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The Lead Scoring System reads your database and surfaces who's ready — every Monday morning.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Lead Scoring + CRM Drip System · AI Engineering for Real Estate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Your Database Is Already Worth $300K+ — You Just Can't See the Signal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deals are already in your contacts. The system finds them.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2636443" cy="16459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56232"/>
            <a:ext cx="2362123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600" b="1" i="0">
                <a:solidFill>
                  <a:srgbClr val="F2A83B"/>
                </a:solidFill>
                <a:latin typeface="Calibri"/>
              </a:rPr>
              <a:t>400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560320"/>
            <a:ext cx="2362123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average contacts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953512"/>
            <a:ext cx="2362123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E0F7F1"/>
                </a:solidFill>
                <a:latin typeface="Calibri"/>
              </a:rPr>
              <a:t>Typical active agent database size after 3+ years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7963" y="1691640"/>
            <a:ext cx="2636443" cy="16459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9131" y="1856232"/>
            <a:ext cx="2362123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600" b="1" i="0">
                <a:solidFill>
                  <a:srgbClr val="F2A83B"/>
                </a:solidFill>
                <a:latin typeface="Calibri"/>
              </a:rPr>
              <a:t>5–8%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9131" y="2560320"/>
            <a:ext cx="2362123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ready to transact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9131" y="2953512"/>
            <a:ext cx="2362123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E0F7F1"/>
                </a:solidFill>
                <a:latin typeface="Calibri"/>
              </a:rPr>
              <a:t>Industry benchmark: 20–32 of your contacts are in buying/selling mode right now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7287" y="1691640"/>
            <a:ext cx="2636443" cy="16459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8455" y="1856232"/>
            <a:ext cx="2362123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600" b="1" i="0">
                <a:solidFill>
                  <a:srgbClr val="F2A83B"/>
                </a:solidFill>
                <a:latin typeface="Calibri"/>
              </a:rPr>
              <a:t>67%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8455" y="2560320"/>
            <a:ext cx="2362123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choose first contact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8455" y="2953512"/>
            <a:ext cx="2362123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E0F7F1"/>
                </a:solidFill>
                <a:latin typeface="Calibri"/>
              </a:rPr>
              <a:t>Buyers and sellers pick the first agent who reaches out at the right moment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611" y="1691640"/>
            <a:ext cx="2636443" cy="16459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7779" y="1856232"/>
            <a:ext cx="2362123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600" b="1" i="0">
                <a:solidFill>
                  <a:srgbClr val="F2A83B"/>
                </a:solidFill>
                <a:latin typeface="Calibri"/>
              </a:rPr>
              <a:t>$240K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7779" y="2560320"/>
            <a:ext cx="2362123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in your database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7779" y="2953512"/>
            <a:ext cx="2362123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E0F7F1"/>
                </a:solidFill>
                <a:latin typeface="Calibri"/>
              </a:rPr>
              <a:t>20 contacts × 3% close rate × $400K avg price × 3% commission = $240K annual revenue potential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547872"/>
            <a:ext cx="11094415" cy="347472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602736"/>
            <a:ext cx="1082009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2A83B"/>
                </a:solidFill>
                <a:latin typeface="Calibri"/>
              </a:rPr>
              <a:t>WHAT THE SYSTEM SURFACES FROM A TYPICAL 400-CONTACT DATABASE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005072"/>
            <a:ext cx="11094415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114800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Hot (transact in 30 days):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4114800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2A83B"/>
                </a:solidFill>
                <a:latin typeface="Calibri"/>
              </a:rPr>
              <a:t>3–5 contacts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4114800"/>
            <a:ext cx="68580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Life event, recent search activity, or direct inquiry signal detected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535424"/>
            <a:ext cx="11094415" cy="4572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645152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Warm (transact in 90 days):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4645152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2A83B"/>
                </a:solidFill>
                <a:latin typeface="Calibri"/>
              </a:rPr>
              <a:t>8–12 contacts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4645152"/>
            <a:ext cx="68580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Elevated engagement — opening emails, clicking listings, referral source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065776"/>
            <a:ext cx="11094415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175504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Incubating (3–12 months):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5175504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2A83B"/>
                </a:solidFill>
                <a:latin typeface="Calibri"/>
              </a:rPr>
              <a:t>18–25 contacts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5175504"/>
            <a:ext cx="68580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Long-term nurture — periodic contact keeps you top-of-mind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596128"/>
            <a:ext cx="11094415" cy="4572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705856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Dormant (no signal):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0" y="5705856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2A83B"/>
                </a:solidFill>
                <a:latin typeface="Calibri"/>
              </a:rPr>
              <a:t>350+ contacts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640" y="5705856"/>
            <a:ext cx="68580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No action needed — bot keeps a light touch on auto-pilot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Lead Scoring + CRM Drip System · AI Engineering for Real Estate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12 Signals That Predict Transaction Readiness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system watches all 12 simultaneously — you'd never have time to track even three manually.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455767" cy="566928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54864" cy="56692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655064"/>
            <a:ext cx="256032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Recency of Last Contact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892808"/>
            <a:ext cx="519973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Days since last meaningful interaction with this contact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7287" y="1600200"/>
            <a:ext cx="5455767" cy="566928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7287" y="1600200"/>
            <a:ext cx="54864" cy="56692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3591" y="1655064"/>
            <a:ext cx="256032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Email Open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3591" y="1892808"/>
            <a:ext cx="519973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Frequency of opening your emails in the last 90 days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258568"/>
            <a:ext cx="5455767" cy="5669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258568"/>
            <a:ext cx="54864" cy="56692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2313432"/>
            <a:ext cx="256032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Listing Click Activity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2551176"/>
            <a:ext cx="519973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Did they click on listing links? How many? How recently?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7287" y="2258568"/>
            <a:ext cx="5455767" cy="5669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7287" y="2258568"/>
            <a:ext cx="54864" cy="56692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3591" y="2313432"/>
            <a:ext cx="256032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Life Event Detection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3591" y="2551176"/>
            <a:ext cx="519973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Job change, marriage, divorce, or new baby detected via LinkedIn/social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2916936"/>
            <a:ext cx="5455767" cy="566928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2916936"/>
            <a:ext cx="54864" cy="56692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2971800"/>
            <a:ext cx="256032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Neighborhood Search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" y="3209544"/>
            <a:ext cx="519973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Inquiries about specific neighborhoods — a strong buying signal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7287" y="2916936"/>
            <a:ext cx="5455767" cy="566928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87287" y="2916936"/>
            <a:ext cx="54864" cy="56692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33591" y="2971800"/>
            <a:ext cx="256032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Equity Position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3591" y="3209544"/>
            <a:ext cx="519973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How much equity does their current home have? Ready to move up?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3575304"/>
            <a:ext cx="5455767" cy="5669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3575304"/>
            <a:ext cx="54864" cy="56692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3630168"/>
            <a:ext cx="256032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Time Since Last Purchase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" y="3867912"/>
            <a:ext cx="519973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Years since they last bought — typical hold period suggests readiness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87287" y="3575304"/>
            <a:ext cx="5455767" cy="5669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87287" y="3575304"/>
            <a:ext cx="54864" cy="56692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33591" y="3630168"/>
            <a:ext cx="256032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Price Range Engagement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33591" y="3867912"/>
            <a:ext cx="519973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Which price range listings do they engage with most?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4233672"/>
            <a:ext cx="5455767" cy="566928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4233672"/>
            <a:ext cx="54864" cy="56692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4944" y="4288536"/>
            <a:ext cx="256032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Referral Source Quality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" y="4526280"/>
            <a:ext cx="519973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Contacts referred by past clients close at 3× the rate of cold leads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87287" y="4233672"/>
            <a:ext cx="5455767" cy="566928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87287" y="4233672"/>
            <a:ext cx="54864" cy="56692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33591" y="4288536"/>
            <a:ext cx="256032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Past Transaction History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33591" y="4526280"/>
            <a:ext cx="519973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How many times have they transacted? Move-up buyers vs first-timers?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4892040"/>
            <a:ext cx="5455767" cy="5669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48640" y="4892040"/>
            <a:ext cx="54864" cy="56692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4944" y="4946904"/>
            <a:ext cx="256032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Seasonal Pattern Match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4944" y="5184648"/>
            <a:ext cx="519973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Do their past transactions cluster in a season? Spring/fall buyer?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87287" y="4892040"/>
            <a:ext cx="5455767" cy="5669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187287" y="4892040"/>
            <a:ext cx="54864" cy="56692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33591" y="4946904"/>
            <a:ext cx="256032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Direct Inquiry Signal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33591" y="5184648"/>
            <a:ext cx="519973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Did they reply to an email, visit your website, or text you?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48640" y="6355080"/>
            <a:ext cx="11094415" cy="292608"/>
          </a:xfrm>
          <a:prstGeom prst="roundRect">
            <a:avLst>
              <a:gd name="adj" fmla="val 3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20" y="6382512"/>
            <a:ext cx="1082009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9B82"/>
                </a:solidFill>
                <a:latin typeface="Calibri"/>
              </a:rPr>
              <a:t>No single signal predicts readiness. The system weights all 12 together and produces a composite score — updated every 24 hours.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Lead Scoring + CRM Drip System · AI Engineering for Real Estate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Five Capabilities — From Scoring to Closing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system finds the signal, sends the right message, and alerts you when to call.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094415" cy="91440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64008" cy="914400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673352"/>
            <a:ext cx="32918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2A83B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691640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Lead Scoring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673352"/>
            <a:ext cx="6979615" cy="7680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Scores every contact daily across 12 signals. Produces a composite readiness score (1–100) that updates every 24 hours. No manual input required after setup.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06040"/>
            <a:ext cx="11094415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606040"/>
            <a:ext cx="64008" cy="914400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679192"/>
            <a:ext cx="32918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2A83B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697480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Monday Morning 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679192"/>
            <a:ext cx="6979615" cy="7680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Every Monday at 7am, you receive a ranked list of your top contacts by readiness score — with the reason they ranked high and a suggested first touchpoint.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611880"/>
            <a:ext cx="11094415" cy="91440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611880"/>
            <a:ext cx="64008" cy="914400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685032"/>
            <a:ext cx="32918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2A83B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703320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Automated Drip Sequences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685032"/>
            <a:ext cx="6979615" cy="7680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Four sequences run in the background for every contact segment: New Lead, Past Client, Long-Term Nurture, and Referred Contact — each with its own cadence and messaging.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17720"/>
            <a:ext cx="11094415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617720"/>
            <a:ext cx="64008" cy="914400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4690872"/>
            <a:ext cx="32918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2A83B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709160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Hot-Lead Alert 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690872"/>
            <a:ext cx="6979615" cy="7680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When a contact crosses a score threshold or takes a direct buying signal action (email reply, website visit, listing click), you receive an immediate SMS: 'Sarah Johnson just opened your last 4 emails. Good time to call.'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623560"/>
            <a:ext cx="11094415" cy="91440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623560"/>
            <a:ext cx="64008" cy="914400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5696712"/>
            <a:ext cx="32918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2A83B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5715000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Database Health Reports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5696712"/>
            <a:ext cx="6979615" cy="7680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Monthly report shows who's been touched, who's gone cold, who's heating up, and what the projected close pipeline looks like for the next 90 days.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Lead Scoring + CRM Drip System · AI Engineering for Real Estate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Monday Morning Report — Your Weekly Call 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Every Monday at 7am. Ranked by readiness. Reason included. Suggested action included.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094415" cy="4773168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2A83B"/>
                </a:solidFill>
                <a:latin typeface="Calibri"/>
              </a:rPr>
              <a:t>YOUR LEAD PRIORITY REPORT  ·  Week of June 16,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048256"/>
            <a:ext cx="10728655" cy="27432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03120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00C9A7"/>
                </a:solidFill>
                <a:latin typeface="Calibri"/>
              </a:rPr>
              <a:t>Rank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103120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00C9A7"/>
                </a:solidFill>
                <a:latin typeface="Calibri"/>
              </a:rPr>
              <a:t>Contact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103120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00C9A7"/>
                </a:solidFill>
                <a:latin typeface="Calibri"/>
              </a:rPr>
              <a:t>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103120"/>
            <a:ext cx="466344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00C9A7"/>
                </a:solidFill>
                <a:latin typeface="Calibri"/>
              </a:rPr>
              <a:t>Why They Ranked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34272" y="2103120"/>
            <a:ext cx="31089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00C9A7"/>
                </a:solidFill>
                <a:latin typeface="Calibri"/>
              </a:rPr>
              <a:t>Suggested Action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423160"/>
            <a:ext cx="10728655" cy="731520"/>
          </a:xfrm>
          <a:prstGeom prst="roundRect">
            <a:avLst>
              <a:gd name="adj" fmla="val 3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532888"/>
            <a:ext cx="548640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#1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478024"/>
            <a:ext cx="182880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Sarah Johnson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37560" y="2587752"/>
            <a:ext cx="548640" cy="329184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74136" y="2606040"/>
            <a:ext cx="49377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94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2478024"/>
            <a:ext cx="466344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E0F7F1"/>
                </a:solidFill>
                <a:latin typeface="Calibri"/>
              </a:rPr>
              <a:t>Opened 4 emails in 3 days + clicked listing on Oak 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272" y="2478024"/>
            <a:ext cx="310896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FFFFFF"/>
                </a:solidFill>
                <a:latin typeface="Calibri"/>
              </a:rPr>
              <a:t>Call today — high intent signal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209544"/>
            <a:ext cx="10728655" cy="731520"/>
          </a:xfrm>
          <a:prstGeom prst="roundRect">
            <a:avLst>
              <a:gd name="adj" fmla="val 3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319272"/>
            <a:ext cx="548640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2A83B"/>
                </a:solidFill>
                <a:latin typeface="Calibri"/>
              </a:rPr>
              <a:t>#2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3264408"/>
            <a:ext cx="182880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Mike &amp; Dana 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37560" y="3374136"/>
            <a:ext cx="548640" cy="329184"/>
          </a:xfrm>
          <a:prstGeom prst="roundRect">
            <a:avLst>
              <a:gd name="adj" fmla="val 4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74136" y="3392424"/>
            <a:ext cx="49377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87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3264408"/>
            <a:ext cx="466344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E0F7F1"/>
                </a:solidFill>
                <a:latin typeface="Calibri"/>
              </a:rPr>
              <a:t>8 years since last purchase — equity threshold crossed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34272" y="3264408"/>
            <a:ext cx="310896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FFFFFF"/>
                </a:solidFill>
                <a:latin typeface="Calibri"/>
              </a:rPr>
              <a:t>Send 'thinking of selling?' note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3995928"/>
            <a:ext cx="10728655" cy="731520"/>
          </a:xfrm>
          <a:prstGeom prst="roundRect">
            <a:avLst>
              <a:gd name="adj" fmla="val 3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105656"/>
            <a:ext cx="548640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#3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4050792"/>
            <a:ext cx="182880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Tom Reyes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37560" y="4160520"/>
            <a:ext cx="548640" cy="329184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74136" y="4178808"/>
            <a:ext cx="49377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81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51960" y="4050792"/>
            <a:ext cx="466344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E0F7F1"/>
                </a:solidFill>
                <a:latin typeface="Calibri"/>
              </a:rPr>
              <a:t>Referred by past client Martinez — referred leads 3× higher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34272" y="4050792"/>
            <a:ext cx="310896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FFFFFF"/>
                </a:solidFill>
                <a:latin typeface="Calibri"/>
              </a:rPr>
              <a:t>Warm intro call — mention the Martinez referral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4782312"/>
            <a:ext cx="10728655" cy="731520"/>
          </a:xfrm>
          <a:prstGeom prst="roundRect">
            <a:avLst>
              <a:gd name="adj" fmla="val 3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4892040"/>
            <a:ext cx="548640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#4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17320" y="4837176"/>
            <a:ext cx="182880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Lisa Park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37560" y="4946904"/>
            <a:ext cx="548640" cy="329184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74136" y="4965192"/>
            <a:ext cx="49377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74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51960" y="4837176"/>
            <a:ext cx="466344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E0F7F1"/>
                </a:solidFill>
                <a:latin typeface="Calibri"/>
              </a:rPr>
              <a:t>Started opening emails again after 4-month dormancy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34272" y="4837176"/>
            <a:ext cx="310896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FFFFFF"/>
                </a:solidFill>
                <a:latin typeface="Calibri"/>
              </a:rPr>
              <a:t>Re-engagement email + follow-up call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" y="5568696"/>
            <a:ext cx="10728655" cy="731520"/>
          </a:xfrm>
          <a:prstGeom prst="roundRect">
            <a:avLst>
              <a:gd name="adj" fmla="val 3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5678424"/>
            <a:ext cx="548640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2A83B"/>
                </a:solidFill>
                <a:latin typeface="Calibri"/>
              </a:rPr>
              <a:t>#5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17320" y="5623560"/>
            <a:ext cx="182880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James &amp; Ann C.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337560" y="5733288"/>
            <a:ext cx="548640" cy="329184"/>
          </a:xfrm>
          <a:prstGeom prst="roundRect">
            <a:avLst>
              <a:gd name="adj" fmla="val 4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74136" y="5751576"/>
            <a:ext cx="49377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68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51960" y="5623560"/>
            <a:ext cx="466344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E0F7F1"/>
                </a:solidFill>
                <a:latin typeface="Calibri"/>
              </a:rPr>
              <a:t>New job listing detected on LinkedIn + price range searches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34272" y="5623560"/>
            <a:ext cx="310896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FFFFFF"/>
                </a:solidFill>
                <a:latin typeface="Calibri"/>
              </a:rPr>
              <a:t>Market update email + call in 2 weeks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77240" y="6400800"/>
            <a:ext cx="10728655" cy="219456"/>
          </a:xfrm>
          <a:prstGeom prst="roundRect">
            <a:avLst>
              <a:gd name="adj" fmla="val 3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0120" y="6428232"/>
            <a:ext cx="10545775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You have 20 more contacts scored 40–67 in your full report · 350 contacts on automated nurture · Next report: Mon Jun 23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Lead Scoring + CRM Drip System · AI Engineering for Real Estate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Four Automated Drip Sequences — Running 24/7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Every contact in your database is in one of four sequences. All automated. All branded to you.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455767" cy="228600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5455767" cy="402336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673352"/>
            <a:ext cx="518144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New Lead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075688"/>
            <a:ext cx="5181447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For contacts who just entered your database — from an open house, referral, or lead form.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532888"/>
            <a:ext cx="91440" cy="91440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496312"/>
            <a:ext cx="4998567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Day 1 — Personalized welcome email (mentions how you met)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2807208"/>
            <a:ext cx="91440" cy="91440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2770632"/>
            <a:ext cx="4998567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Day 3 — Neighborhood market snapshot relevant to their search area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3081528"/>
            <a:ext cx="91440" cy="91440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3044952"/>
            <a:ext cx="4998567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Day 7 — 'Are you working with an agent?' soft check-in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3355848"/>
            <a:ext cx="91440" cy="91440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3319272"/>
            <a:ext cx="4998567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Day 14 — Curated listing suggestions based on their profile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630168"/>
            <a:ext cx="91440" cy="91440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3593592"/>
            <a:ext cx="4998567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Day 30 — Check-in call prompt sent to you if no response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7287" y="1600200"/>
            <a:ext cx="5455767" cy="228600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87287" y="1600200"/>
            <a:ext cx="5455767" cy="402336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1879" y="1673352"/>
            <a:ext cx="518144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Past Client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879" y="2075688"/>
            <a:ext cx="5181447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Your buyers and sellers from previous transactions — your highest-value segment.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1879" y="2532888"/>
            <a:ext cx="91440" cy="91440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6471" y="2496312"/>
            <a:ext cx="4998567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Quarterly — Market update for their specific neighborhood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1879" y="2807208"/>
            <a:ext cx="91440" cy="91440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6471" y="2770632"/>
            <a:ext cx="4998567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Annually — 'Happy home anniversary' email + estimated equity update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1879" y="3081528"/>
            <a:ext cx="91440" cy="91440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6471" y="3044952"/>
            <a:ext cx="4998567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Semi-annually — 'Thinking of moving up?' prompt for 3–7 year owners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51879" y="3355848"/>
            <a:ext cx="91440" cy="91440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16471" y="3319272"/>
            <a:ext cx="4998567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Event-triggered — Congrats note on LinkedIn job change or life event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51879" y="3630168"/>
            <a:ext cx="91440" cy="91440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16471" y="3593592"/>
            <a:ext cx="4998567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Referral ask — 6 months post-close: 'Know anyone thinking of moving?'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3977640"/>
            <a:ext cx="5455767" cy="228600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48640" y="3977640"/>
            <a:ext cx="5455767" cy="402336"/>
          </a:xfrm>
          <a:prstGeom prst="roundRect">
            <a:avLst>
              <a:gd name="adj" fmla="val 4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2" y="4050792"/>
            <a:ext cx="518144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Long-Term Nurture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" y="4453128"/>
            <a:ext cx="5181447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Contacts who aren't ready yet but will be — keep your name in their head.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3232" y="4910328"/>
            <a:ext cx="91440" cy="91440"/>
          </a:xfrm>
          <a:prstGeom prst="roundRect">
            <a:avLst>
              <a:gd name="adj" fmla="val 4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" y="4873752"/>
            <a:ext cx="4998567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Monthly — Market trend email (automated, data-driven)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13232" y="5184648"/>
            <a:ext cx="91440" cy="91440"/>
          </a:xfrm>
          <a:prstGeom prst="roundRect">
            <a:avLst>
              <a:gd name="adj" fmla="val 4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" y="5148072"/>
            <a:ext cx="4998567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Quarterly — Neighborhood sold report for their area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13232" y="5458968"/>
            <a:ext cx="91440" cy="91440"/>
          </a:xfrm>
          <a:prstGeom prst="roundRect">
            <a:avLst>
              <a:gd name="adj" fmla="val 4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7824" y="5422392"/>
            <a:ext cx="4998567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Bi-annually — 'Your home value has changed' equity update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13232" y="5733288"/>
            <a:ext cx="91440" cy="91440"/>
          </a:xfrm>
          <a:prstGeom prst="roundRect">
            <a:avLst>
              <a:gd name="adj" fmla="val 4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7824" y="5696712"/>
            <a:ext cx="4998567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Hot event — Immediate alert to you if engagement score spikes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13232" y="6007608"/>
            <a:ext cx="91440" cy="91440"/>
          </a:xfrm>
          <a:prstGeom prst="roundRect">
            <a:avLst>
              <a:gd name="adj" fmla="val 4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77824" y="5971032"/>
            <a:ext cx="4998567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12-month check-in — Soft 'still planning to move?' touch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87287" y="3977640"/>
            <a:ext cx="5455767" cy="228600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187287" y="3977640"/>
            <a:ext cx="5455767" cy="402336"/>
          </a:xfrm>
          <a:prstGeom prst="roundRect">
            <a:avLst>
              <a:gd name="adj" fmla="val 4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51879" y="4050792"/>
            <a:ext cx="5181447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Referred Contact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51879" y="4453128"/>
            <a:ext cx="5181447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Leads sent to you by past clients — close at 3× the rate of cold leads.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351879" y="4910328"/>
            <a:ext cx="91440" cy="91440"/>
          </a:xfrm>
          <a:prstGeom prst="roundRect">
            <a:avLst>
              <a:gd name="adj" fmla="val 4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16471" y="4873752"/>
            <a:ext cx="4998567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Day 1 — Warm intro email (mentions referrer by name)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351879" y="5184648"/>
            <a:ext cx="91440" cy="91440"/>
          </a:xfrm>
          <a:prstGeom prst="roundRect">
            <a:avLst>
              <a:gd name="adj" fmla="val 4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16471" y="5148072"/>
            <a:ext cx="4998567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Day 2 — Personal call prompt sent to you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351879" y="5458968"/>
            <a:ext cx="91440" cy="91440"/>
          </a:xfrm>
          <a:prstGeom prst="roundRect">
            <a:avLst>
              <a:gd name="adj" fmla="val 4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16471" y="5422392"/>
            <a:ext cx="4998567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Day 5 — Value-add email: market report for their target area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351879" y="5733288"/>
            <a:ext cx="91440" cy="91440"/>
          </a:xfrm>
          <a:prstGeom prst="roundRect">
            <a:avLst>
              <a:gd name="adj" fmla="val 4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16471" y="5696712"/>
            <a:ext cx="4998567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Day 10 — 'Ready to chat?' direct booking link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351879" y="6007608"/>
            <a:ext cx="91440" cy="91440"/>
          </a:xfrm>
          <a:prstGeom prst="roundRect">
            <a:avLst>
              <a:gd name="adj" fmla="val 4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16471" y="5971032"/>
            <a:ext cx="4998567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Ongoing — Elevated scoring: referred contacts rank higher in Monday report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Lead Scoring + CRM Drip System · AI Engineering for Real Estate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Hot-Lead Alerts — Know When to Call Before They Call Someone Else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system watches for buying signals 24/7. You get a text the moment one fires.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303520" cy="46634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00784"/>
            <a:ext cx="50292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2A83B"/>
                </a:solidFill>
                <a:latin typeface="Calibri"/>
              </a:rPr>
              <a:t>WHAT TRIGGERS A HOT-LEAD ALERT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48256"/>
            <a:ext cx="91440" cy="384048"/>
          </a:xfrm>
          <a:prstGeom prst="roundRect">
            <a:avLst>
              <a:gd name="adj" fmla="val 4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66544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Score Spike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286000"/>
            <a:ext cx="470916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Contact's score jumps 15+ points in 48 hours — sudden increase in engagement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60320"/>
            <a:ext cx="91440" cy="384048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578608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Direct Inquiry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798064"/>
            <a:ext cx="470916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Contact replies to any email, fills out a form, or texts you directly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72384"/>
            <a:ext cx="91440" cy="38404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090672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Listing Click Burst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3310128"/>
            <a:ext cx="470916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Contact clicks 3+ listings in a single session — active search behavior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584448"/>
            <a:ext cx="91440" cy="384048"/>
          </a:xfrm>
          <a:prstGeom prst="roundRect">
            <a:avLst>
              <a:gd name="adj" fmla="val 4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60273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Long Dormant → Active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3822192"/>
            <a:ext cx="470916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Contact who hadn't opened an email in 60+ days suddenly opens 3 in a row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096512"/>
            <a:ext cx="91440" cy="384048"/>
          </a:xfrm>
          <a:prstGeom prst="roundRect">
            <a:avLst>
              <a:gd name="adj" fmla="val 4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114800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Referral Introduction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4334256"/>
            <a:ext cx="470916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A past client introduces you to a new contact via email forward or LinkedIn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608576"/>
            <a:ext cx="91440" cy="38404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626864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Social Life Event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4846320"/>
            <a:ext cx="470916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Marriage, job change, or relocation post detected on LinkedIn or Facebook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120640"/>
            <a:ext cx="91440" cy="384048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138928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Website Visit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5358384"/>
            <a:ext cx="470916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Contact visits your website listing page or bio page directly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632704"/>
            <a:ext cx="91440" cy="384048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5650992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Equity Milestone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" y="5870448"/>
            <a:ext cx="470916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Contact's home crosses the equity threshold that typically triggers a move-up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1600200"/>
            <a:ext cx="5516575" cy="466344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1719072"/>
            <a:ext cx="524225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2A83B"/>
                </a:solidFill>
                <a:latin typeface="Calibri"/>
              </a:rPr>
              <a:t>SAMPLE HOT-LEAD ALERT (SMS)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2048256"/>
            <a:ext cx="524225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2A83B"/>
                </a:solidFill>
                <a:latin typeface="Calibri"/>
              </a:rPr>
              <a:t>🔥 HOT LEAD — Sarah Johnson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2295144"/>
            <a:ext cx="524225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2542032"/>
            <a:ext cx="524225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FFFFFF"/>
                </a:solidFill>
                <a:latin typeface="Calibri"/>
              </a:rPr>
              <a:t>Score: 82 → 94 (+12 in 24h)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2788920"/>
            <a:ext cx="524225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3035808"/>
            <a:ext cx="524225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FFFFFF"/>
                </a:solidFill>
                <a:latin typeface="Calibri"/>
              </a:rPr>
              <a:t>What happened: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3282696"/>
            <a:ext cx="524225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FFFFFF"/>
                </a:solidFill>
                <a:latin typeface="Calibri"/>
              </a:rPr>
              <a:t>· Opened your last 4 emails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3529584"/>
            <a:ext cx="524225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FFFFFF"/>
                </a:solidFill>
                <a:latin typeface="Calibri"/>
              </a:rPr>
              <a:t>· Clicked Oak St listing 3×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3776472"/>
            <a:ext cx="524225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FFFFFF"/>
                </a:solidFill>
                <a:latin typeface="Calibri"/>
              </a:rPr>
              <a:t>· Visited your website bio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4023360"/>
            <a:ext cx="524225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4270248"/>
            <a:ext cx="524225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FFFFFF"/>
                </a:solidFill>
                <a:latin typeface="Calibri"/>
              </a:rPr>
              <a:t>Best action: Call now.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4517136"/>
            <a:ext cx="524225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FFFFFF"/>
                </a:solidFill>
                <a:latin typeface="Calibri"/>
              </a:rPr>
              <a:t>Last contact: 18 days ago.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4764024"/>
            <a:ext cx="524225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FFFFFF"/>
                </a:solidFill>
                <a:latin typeface="Calibri"/>
              </a:rPr>
              <a:t>Script: 'Hi Sarah, just wanted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60" y="5010912"/>
            <a:ext cx="524225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FFFFFF"/>
                </a:solidFill>
                <a:latin typeface="Calibri"/>
              </a:rPr>
              <a:t>to check in — I noticed you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9360" y="5257800"/>
            <a:ext cx="524225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FFFFFF"/>
                </a:solidFill>
                <a:latin typeface="Calibri"/>
              </a:rPr>
              <a:t>were looking at some listings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60" y="5504688"/>
            <a:ext cx="524225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FFFFFF"/>
                </a:solidFill>
                <a:latin typeface="Calibri"/>
              </a:rPr>
              <a:t>and wanted to see if you have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60" y="5751576"/>
            <a:ext cx="524225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FFFFFF"/>
                </a:solidFill>
                <a:latin typeface="Calibri"/>
              </a:rPr>
              <a:t>any questions...'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Lead Scoring + CRM Drip System · AI Engineering for Real Estate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ROI Math — Found Commission From Your Existing Database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This system pays for itself with one additional closing per year. Most agents see it in 90 days.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2636443" cy="16459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56232"/>
            <a:ext cx="2362123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600" b="1" i="0">
                <a:solidFill>
                  <a:srgbClr val="F2A83B"/>
                </a:solidFill>
                <a:latin typeface="Calibri"/>
              </a:rPr>
              <a:t>400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560320"/>
            <a:ext cx="2362123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contacts scored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953512"/>
            <a:ext cx="2362123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E0F7F1"/>
                </a:solidFill>
                <a:latin typeface="Calibri"/>
              </a:rPr>
              <a:t>Every contact scored daily — not just your 'hot' leads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7963" y="1691640"/>
            <a:ext cx="2636443" cy="16459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9131" y="1856232"/>
            <a:ext cx="2362123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600" b="1" i="0">
                <a:solidFill>
                  <a:srgbClr val="F2A83B"/>
                </a:solidFill>
                <a:latin typeface="Calibri"/>
              </a:rPr>
              <a:t>20–32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9131" y="2560320"/>
            <a:ext cx="2362123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ready now (est.)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9131" y="2953512"/>
            <a:ext cx="2362123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E0F7F1"/>
                </a:solidFill>
                <a:latin typeface="Calibri"/>
              </a:rPr>
              <a:t>5–8% of any typical database in active buying/selling mode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7287" y="1691640"/>
            <a:ext cx="2636443" cy="16459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8455" y="1856232"/>
            <a:ext cx="2362123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600" b="1" i="0">
                <a:solidFill>
                  <a:srgbClr val="F2A83B"/>
                </a:solidFill>
                <a:latin typeface="Calibri"/>
              </a:rPr>
              <a:t>3×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8455" y="2560320"/>
            <a:ext cx="2362123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referral close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8455" y="2953512"/>
            <a:ext cx="2362123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E0F7F1"/>
                </a:solidFill>
                <a:latin typeface="Calibri"/>
              </a:rPr>
              <a:t>Referred contacts close at 3× the rate of cold leads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611" y="1691640"/>
            <a:ext cx="2636443" cy="16459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7779" y="1856232"/>
            <a:ext cx="2362123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600" b="1" i="0">
                <a:solidFill>
                  <a:srgbClr val="F2A83B"/>
                </a:solidFill>
                <a:latin typeface="Calibri"/>
              </a:rPr>
              <a:t>$3,000/mo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7779" y="2560320"/>
            <a:ext cx="2362123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system cost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7779" y="2953512"/>
            <a:ext cx="2362123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E0F7F1"/>
                </a:solidFill>
                <a:latin typeface="Calibri"/>
              </a:rPr>
              <a:t>Flat monthly rate — no per-contact or per-close fees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547872"/>
            <a:ext cx="6656649" cy="228600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639312"/>
            <a:ext cx="6382329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Found commission scenario — 400 contact database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059936"/>
            <a:ext cx="34747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Database size: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79" y="4059936"/>
            <a:ext cx="2724729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400 contacts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279392"/>
            <a:ext cx="34747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Contacts in buying/selling mode: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79" y="4279392"/>
            <a:ext cx="2724729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20–32 (5–8%)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498848"/>
            <a:ext cx="34747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System improvement in conversion: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79" y="4498848"/>
            <a:ext cx="2724729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+15–30% through timely contact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718304"/>
            <a:ext cx="34747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Additional deals per year: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79" y="4718304"/>
            <a:ext cx="2724729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3–6 additional closings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937760"/>
            <a:ext cx="34747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Average commission per deal: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79" y="4937760"/>
            <a:ext cx="2724729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$9,000 ($300K × 3%)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157216"/>
            <a:ext cx="34747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Additional annual revenue: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79" y="5157216"/>
            <a:ext cx="2724729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$27,000–$54,000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376672"/>
            <a:ext cx="34747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System annual cost: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5376672"/>
            <a:ext cx="2724729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$36,000 ($3K × 12)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596128"/>
            <a:ext cx="34747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Net return (conservative):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7679" y="5596128"/>
            <a:ext cx="2724729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Break-even at 4 deals. Positive from deal 5+.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88169" y="3547872"/>
            <a:ext cx="4254886" cy="22860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71049" y="3657600"/>
            <a:ext cx="3980566" cy="621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E0F7F1"/>
                </a:solidFill>
                <a:latin typeface="Calibri"/>
              </a:rPr>
              <a:t>Year 1 return
(conservative)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71049" y="4370832"/>
            <a:ext cx="3980566" cy="7680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800" b="1" i="0">
                <a:solidFill>
                  <a:srgbClr val="F2A83B"/>
                </a:solidFill>
                <a:latin typeface="Calibri"/>
              </a:rPr>
              <a:t>$27K–$54K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71049" y="5175504"/>
            <a:ext cx="3980566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in additional commission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5989320"/>
            <a:ext cx="11094415" cy="475488"/>
          </a:xfrm>
          <a:prstGeom prst="roundRect">
            <a:avLst>
              <a:gd name="adj" fmla="val 4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6035040"/>
            <a:ext cx="10820095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50" b="0" i="0">
                <a:solidFill>
                  <a:srgbClr val="009B82"/>
                </a:solidFill>
                <a:latin typeface="Calibri"/>
              </a:rPr>
              <a:t>Note: most agents see 2–3 additional closings within the first 90 days — from contacts already in their database who were signaling readiness and not being called.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Lead Scoring + CRM Drip System · AI Engineering for Real Estate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What's Included — Your Complete CRM Intelligence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One flat monthly fee covers everything from import to close pipeline reporting.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455767" cy="104241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64008" cy="1042415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691640"/>
            <a:ext cx="519973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✓  Contact Import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039112"/>
            <a:ext cx="5199735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We import your contacts from any source: CSV export, Google Contacts, Follow Up Boss, or a simple spreadsheet. No manual re-entry.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7287" y="1600200"/>
            <a:ext cx="5455767" cy="104241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7287" y="1600200"/>
            <a:ext cx="64008" cy="1042415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1879" y="1691640"/>
            <a:ext cx="519973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✓  12-Signal Scoring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1879" y="2039112"/>
            <a:ext cx="5199735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All 400+ contacts scored daily across 12 readiness signals. Composite score updated every 24 hours. No manual input after setup.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734056"/>
            <a:ext cx="5455767" cy="104241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734056"/>
            <a:ext cx="64008" cy="1042415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825496"/>
            <a:ext cx="519973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✓  Monday Morning Report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172968"/>
            <a:ext cx="5199735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Weekly prioritized callback list delivered by 7am every Monday — ranked, with reason and suggested action per contact.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7287" y="2734056"/>
            <a:ext cx="5455767" cy="104241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7287" y="2734056"/>
            <a:ext cx="64008" cy="1042415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1879" y="2825496"/>
            <a:ext cx="519973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✓  Four Drip Sequences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1879" y="3172968"/>
            <a:ext cx="5199735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All four automated sequences (New Lead, Past Client, Long-Term Nurture, Referred) — customized to your voice and brokerage brand.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867912"/>
            <a:ext cx="5455767" cy="104241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867912"/>
            <a:ext cx="64008" cy="1042415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3959352"/>
            <a:ext cx="519973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✓  Hot-Lead Alert 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306824"/>
            <a:ext cx="5199735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Immediate SMS to your phone when any contact crosses a readiness threshold or takes a direct buying signal action.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7287" y="3867912"/>
            <a:ext cx="5455767" cy="104241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87287" y="3867912"/>
            <a:ext cx="64008" cy="1042415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1879" y="3959352"/>
            <a:ext cx="519973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✓  Database Health 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1879" y="4306824"/>
            <a:ext cx="5199735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Monthly report: who's been touched, who's gone cold, who's heating up, and projected close pipeline for the next 90 days.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001768"/>
            <a:ext cx="5455767" cy="104241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5001768"/>
            <a:ext cx="64008" cy="1042415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5093208"/>
            <a:ext cx="519973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✓  Quarterly Recalibration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440680"/>
            <a:ext cx="5199735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Every quarter we review your scoring model against your actual closings — and adjust signal weights to improve accuracy for your specific market.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87287" y="5001768"/>
            <a:ext cx="5455767" cy="104241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87287" y="5001768"/>
            <a:ext cx="64008" cy="1042415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1879" y="5093208"/>
            <a:ext cx="519973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✓  Monthly Support Check-In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1879" y="5440680"/>
            <a:ext cx="5199735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30-minute call to review report accuracy, update sequences, and discuss any contacts you want to prioritize or remove.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Lead Scoring + CRM Drip System · AI Engineering for Real Estate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10-Day Setup — First Monday Report in Under Two Weeks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Your database is scored, your sequences are live, and your first report arrives before the end of week 2.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55648"/>
            <a:ext cx="1051560" cy="987552"/>
          </a:xfrm>
          <a:prstGeom prst="roundRect">
            <a:avLst>
              <a:gd name="adj" fmla="val 4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83664"/>
            <a:ext cx="10515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Days 1–3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91640" y="1755648"/>
            <a:ext cx="9951415" cy="98755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20" y="1810512"/>
            <a:ext cx="41148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Import + Score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74520" y="2157984"/>
            <a:ext cx="91440" cy="91440"/>
          </a:xfrm>
          <a:prstGeom prst="roundRect">
            <a:avLst>
              <a:gd name="adj" fmla="val 4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57400" y="2121408"/>
            <a:ext cx="940277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Contact import from your CRM/CSV/Google Contacts — any format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74520" y="2359152"/>
            <a:ext cx="91440" cy="91440"/>
          </a:xfrm>
          <a:prstGeom prst="roundRect">
            <a:avLst>
              <a:gd name="adj" fmla="val 4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57400" y="2322576"/>
            <a:ext cx="940277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Initial scoring run across all 12 signals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74520" y="2560320"/>
            <a:ext cx="91440" cy="91440"/>
          </a:xfrm>
          <a:prstGeom prst="roundRect">
            <a:avLst>
              <a:gd name="adj" fmla="val 4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57400" y="2523744"/>
            <a:ext cx="940277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First draft of your Monday report (internal review before delivery)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926080"/>
            <a:ext cx="1051560" cy="987552"/>
          </a:xfrm>
          <a:prstGeom prst="roundRect">
            <a:avLst>
              <a:gd name="adj" fmla="val 4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054096"/>
            <a:ext cx="10515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Days 4–6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91640" y="2926080"/>
            <a:ext cx="9951415" cy="98755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74520" y="2980944"/>
            <a:ext cx="41148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Sequence Setup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74520" y="3328416"/>
            <a:ext cx="91440" cy="91440"/>
          </a:xfrm>
          <a:prstGeom prst="roundRect">
            <a:avLst>
              <a:gd name="adj" fmla="val 4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57400" y="3291840"/>
            <a:ext cx="940277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All four drip sequences configured with your brokerage name, headshot, and tone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74520" y="3529584"/>
            <a:ext cx="91440" cy="91440"/>
          </a:xfrm>
          <a:prstGeom prst="roundRect">
            <a:avLst>
              <a:gd name="adj" fmla="val 4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57400" y="3493008"/>
            <a:ext cx="940277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Email templates reviewed with you — adjustments made to match your voice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74520" y="3730752"/>
            <a:ext cx="91440" cy="91440"/>
          </a:xfrm>
          <a:prstGeom prst="roundRect">
            <a:avLst>
              <a:gd name="adj" fmla="val 4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57400" y="3694176"/>
            <a:ext cx="940277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Hot-lead alert thresholds set based on your market and response preferences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096512"/>
            <a:ext cx="1051560" cy="987552"/>
          </a:xfrm>
          <a:prstGeom prst="roundRect">
            <a:avLst>
              <a:gd name="adj" fmla="val 4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224528"/>
            <a:ext cx="10515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Days 7–9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691640" y="4096512"/>
            <a:ext cx="9951415" cy="98755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74520" y="4151376"/>
            <a:ext cx="41148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Test + Validate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74520" y="4498848"/>
            <a:ext cx="91440" cy="91440"/>
          </a:xfrm>
          <a:prstGeom prst="roundRect">
            <a:avLst>
              <a:gd name="adj" fmla="val 4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57400" y="4462272"/>
            <a:ext cx="940277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Test Monday report reviewed together — you confirm the top-ranked contacts make sense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74520" y="4700016"/>
            <a:ext cx="91440" cy="91440"/>
          </a:xfrm>
          <a:prstGeom prst="roundRect">
            <a:avLst>
              <a:gd name="adj" fmla="val 4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57400" y="4663440"/>
            <a:ext cx="940277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One live drip sequence test email sent to your own address for review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874520" y="4901184"/>
            <a:ext cx="91440" cy="91440"/>
          </a:xfrm>
          <a:prstGeom prst="roundRect">
            <a:avLst>
              <a:gd name="adj" fmla="val 4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57400" y="4864608"/>
            <a:ext cx="940277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Hot-lead alert tested: verify SMS delivery to your number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266944"/>
            <a:ext cx="1051560" cy="987552"/>
          </a:xfrm>
          <a:prstGeom prst="roundRect">
            <a:avLst>
              <a:gd name="adj" fmla="val 4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5394960"/>
            <a:ext cx="105156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Day 10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691640" y="5266944"/>
            <a:ext cx="9951415" cy="98755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74520" y="5321808"/>
            <a:ext cx="41148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Go Live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874520" y="5669280"/>
            <a:ext cx="91440" cy="91440"/>
          </a:xfrm>
          <a:prstGeom prst="roundRect">
            <a:avLst>
              <a:gd name="adj" fmla="val 4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57400" y="5632704"/>
            <a:ext cx="940277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All contacts in active sequences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874520" y="5870448"/>
            <a:ext cx="91440" cy="91440"/>
          </a:xfrm>
          <a:prstGeom prst="roundRect">
            <a:avLst>
              <a:gd name="adj" fmla="val 4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57400" y="5833872"/>
            <a:ext cx="940277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First official Monday morning report delivered at 7am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874520" y="6071616"/>
            <a:ext cx="91440" cy="91440"/>
          </a:xfrm>
          <a:prstGeom prst="roundRect">
            <a:avLst>
              <a:gd name="adj" fmla="val 4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57400" y="6035040"/>
            <a:ext cx="940277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You're running — call your top 5 contacts this week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6483096"/>
            <a:ext cx="11094415" cy="219456"/>
          </a:xfrm>
          <a:prstGeom prst="roundRect">
            <a:avLst>
              <a:gd name="adj" fmla="val 3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6501384"/>
            <a:ext cx="10820095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009B82"/>
                </a:solidFill>
                <a:latin typeface="Calibri"/>
              </a:rPr>
              <a:t>Setup fee: $750 one-time (covers 10-day import, scoring calibration, sequence setup, and onboarding support)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Lead Scoring + CRM Drip System · AI Engineering for Real Estate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2A83B"/>
                </a:solidFill>
                <a:latin typeface="Calibri"/>
              </a:rPr>
              <a:t>FIND THE DEALS ALREADY IN YOUR DATABASE.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029200" cy="2194560"/>
          </a:xfrm>
          <a:prstGeom prst="roundRect">
            <a:avLst>
              <a:gd name="adj" fmla="val 8000"/>
            </a:avLst>
          </a:prstGeom>
          <a:solidFill>
            <a:srgbClr val="12243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80160"/>
            <a:ext cx="384048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0" b="1" i="0">
                <a:solidFill>
                  <a:srgbClr val="F2A83B"/>
                </a:solidFill>
                <a:latin typeface="Calibri"/>
              </a:rPr>
              <a:t>$3,000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12848"/>
            <a:ext cx="27432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E0F7F1"/>
                </a:solidFill>
                <a:latin typeface="Calibri"/>
              </a:rPr>
              <a:t>/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70048"/>
            <a:ext cx="457200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+ $750 one-time setup · No long-term contract · Cancel with 30 days notice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097280"/>
            <a:ext cx="59436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2A83B"/>
                </a:solidFill>
                <a:latin typeface="Calibri"/>
              </a:rPr>
              <a:t>For $3,000/month you get: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517904"/>
            <a:ext cx="128016" cy="128016"/>
          </a:xfrm>
          <a:prstGeom prst="roundRect">
            <a:avLst>
              <a:gd name="adj" fmla="val 4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481328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All 400+ contacts scored daily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938528"/>
            <a:ext cx="128016" cy="128016"/>
          </a:xfrm>
          <a:prstGeom prst="roundRect">
            <a:avLst>
              <a:gd name="adj" fmla="val 4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901952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Weekly Monday morning priority report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359152"/>
            <a:ext cx="128016" cy="128016"/>
          </a:xfrm>
          <a:prstGeom prst="roundRect">
            <a:avLst>
              <a:gd name="adj" fmla="val 4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2322576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Four automated drip sequences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2779776"/>
            <a:ext cx="128016" cy="128016"/>
          </a:xfrm>
          <a:prstGeom prst="roundRect">
            <a:avLst>
              <a:gd name="adj" fmla="val 4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2743200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Hot-lead SMS alerts — no lag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3200400"/>
            <a:ext cx="128016" cy="128016"/>
          </a:xfrm>
          <a:prstGeom prst="roundRect">
            <a:avLst>
              <a:gd name="adj" fmla="val 4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3163824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Monthly database health report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3621024"/>
            <a:ext cx="128016" cy="128016"/>
          </a:xfrm>
          <a:prstGeom prst="roundRect">
            <a:avLst>
              <a:gd name="adj" fmla="val 4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3584448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Quarterly scoring recalibration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4041648"/>
            <a:ext cx="128016" cy="128016"/>
          </a:xfrm>
          <a:prstGeom prst="roundRect">
            <a:avLst>
              <a:gd name="adj" fmla="val 4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2512" y="4005072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Cancel anytime — no lock-in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529584"/>
            <a:ext cx="11094415" cy="54864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675887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2A83B"/>
                </a:solidFill>
                <a:latin typeface="Calibri"/>
              </a:rPr>
              <a:t>THREE STEPS TO GET STARTED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059936"/>
            <a:ext cx="402336" cy="402336"/>
          </a:xfrm>
          <a:prstGeom prst="roundRect">
            <a:avLst>
              <a:gd name="adj" fmla="val 8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078224"/>
            <a:ext cx="402336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078224"/>
            <a:ext cx="310896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20-min intro call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462272"/>
            <a:ext cx="3108960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E0F7F1"/>
                </a:solidFill>
                <a:latin typeface="Calibri"/>
              </a:rPr>
              <a:t>We review your database, contact sources, and current CRM setup.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0" y="4059936"/>
            <a:ext cx="402336" cy="402336"/>
          </a:xfrm>
          <a:prstGeom prst="roundRect">
            <a:avLst>
              <a:gd name="adj" fmla="val 8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0" y="4078224"/>
            <a:ext cx="402336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0" y="4078224"/>
            <a:ext cx="310896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Sign + pay setup fee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4462272"/>
            <a:ext cx="3108960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E0F7F1"/>
                </a:solidFill>
                <a:latin typeface="Calibri"/>
              </a:rPr>
              <a:t>Import and scoring begin within 48 hours.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0" y="4059936"/>
            <a:ext cx="402336" cy="402336"/>
          </a:xfrm>
          <a:prstGeom prst="roundRect">
            <a:avLst>
              <a:gd name="adj" fmla="val 8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0" y="4078224"/>
            <a:ext cx="402336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4078224"/>
            <a:ext cx="310896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First Monday report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0" y="4462272"/>
            <a:ext cx="3108960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E0F7F1"/>
                </a:solidFill>
                <a:latin typeface="Calibri"/>
              </a:rPr>
              <a:t>Day 10 — your database is scored, sequences are live, your first report arrives.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230368"/>
            <a:ext cx="11094415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2A83B"/>
                </a:solidFill>
                <a:latin typeface="Calibri"/>
              </a:rPr>
              <a:t>[your website or booking link here]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Lead Scoring + CRM Drip System · AI Engineering for Real Estate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