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81967" y="0"/>
            <a:ext cx="109728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DONE-FOR-YOU AI ENGINEERING ·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91440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Calibri"/>
              </a:rPr>
              <a:t>Listing Description
+ MLS Auto-Post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5029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From photo shoot to live listing across every platform — in 15 minutes, not 2 hours.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3108960" cy="29260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928616"/>
            <a:ext cx="29443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MLS + Zillow + Realtor.com + Social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892040"/>
            <a:ext cx="1645920" cy="29260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8" y="4928616"/>
            <a:ext cx="1481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$2,000/month flat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892040"/>
            <a:ext cx="1463040" cy="292608"/>
          </a:xfrm>
          <a:prstGeom prst="roundRect">
            <a:avLst>
              <a:gd name="adj" fmla="val 6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79008" y="4928616"/>
            <a:ext cx="129844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Setup in 1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10972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1">
                <a:solidFill>
                  <a:srgbClr val="FFFFFF"/>
                </a:solidFill>
                <a:latin typeface="Calibri"/>
              </a:rPr>
              <a:t>"Every listing costs me 2 hours before the sign even goes in the yard."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You're a copywriter now — whether you like it or not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Every listing requires a compelling MLS description, a Zillow blurb, a Facebook post, and an Instagram caption. You write all four from scratch. Every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7738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0618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Inconsistent quality hurts your brand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90618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0618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On a busy week your descriptions are rushed and generic. On a slow week they're great. Buyers notice. Sellers definitely notice when their listing gets fewer calls.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6836" y="1371600"/>
            <a:ext cx="3576218" cy="39319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6836" y="1371600"/>
            <a:ext cx="3576218" cy="54864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9716" y="1536192"/>
            <a:ext cx="3301898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You're a data entry operator too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716" y="2304288"/>
            <a:ext cx="3210458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9716" y="2414016"/>
            <a:ext cx="3301898" cy="2596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After you write the description, you upload it to MLS. Then Zillow. Then Realtor.com. Then type it into Facebook. The same information, entered four different ways, four different times.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53212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The Listing Assistant writes, formats, and posts — so you can be at your next showing.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Hidden Cost: Slow Listings Sell for 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Time-to-market is the metric most agents never track — and it directly affects sale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95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listing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Average agent time on description + upload per NAR survey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963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6 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Typical active agent volume — 570 min/month on admin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287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1–3%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8455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Properties listed &gt;7 days after photography sell for 1–3% less on average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611" y="1691640"/>
            <a:ext cx="2636443" cy="16459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779" y="1856232"/>
            <a:ext cx="236212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$4,500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779" y="2560320"/>
            <a:ext cx="2362123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per deal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7779" y="2953512"/>
            <a:ext cx="2362123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At $300K avg price, 1.5% discount = $4,500 left on the table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47872"/>
            <a:ext cx="11094415" cy="150876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39312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Your annual exposure from slow listings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41648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Listings per year: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72 (6/month)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Time spent on description + upload: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79392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72 × 95 min = 114 hours/year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517136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At $200/hr opportunity cost: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17136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$22,800 in time lost to listing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54880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5B6B7C"/>
                </a:solidFill>
                <a:latin typeface="Calibri"/>
              </a:rPr>
              <a:t>Listings delayed 3+ days (est. 30%):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754880"/>
            <a:ext cx="713232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22 listings × 1.5% price discount × $300K avg = $99,000 in reduced sale prices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30368"/>
            <a:ext cx="11094415" cy="65836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10728655" cy="5120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FFB800"/>
                </a:solidFill>
                <a:latin typeface="Calibri"/>
              </a:rPr>
              <a:t>The Listing Assistant costs $24,000/year. It eliminates $22,800 in time cost and up to $99,000 in reduced sale prices from slow time-to-market.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Capabilities in One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Write, format, adapt, post, track, and report — all from one intake 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MLS Description Writer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167128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276856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Generates a compliant, compelling MLS description from your intake notes. Trained on high-performing listings in your price range and market.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7287" y="1600200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87287" y="1600200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1879" y="172821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647" y="1728216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Platform Copy Variants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1879" y="2167128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1879" y="2276856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Automatically writes separate copy for Zillow, Realtor.com, Facebook Marketplace, and an Instagram caption — each formatted for that platform's character limits and audience.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172968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172968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3009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300984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Photo Formatter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739896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849624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Uploads your photos, reorders them by standard sequence (exterior, living areas, kitchen, bedrooms, baths, yard), and resizes for each platform's specs.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3172968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3172968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33009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647" y="3300984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Brand Voice Matching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1879" y="3739896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3849624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Learns your writing style from your past listings. Descriptions sound like you — not a template. One round of edits per listing included.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45736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4745736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87375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873752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Scheduled Publishing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312664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422392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You approve a preview, set a go-live time, and the bot posts to all platforms simultaneously. No more manual uploads at midnight before open house.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7287" y="4745736"/>
            <a:ext cx="5455767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7287" y="4745736"/>
            <a:ext cx="73152" cy="1481328"/>
          </a:xfrm>
          <a:prstGeom prst="roundRect">
            <a:avLst>
              <a:gd name="adj" fmla="val 2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1879" y="4873752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1647" y="4873752"/>
            <a:ext cx="4705959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Listing Performance Tracker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1879" y="5312664"/>
            <a:ext cx="5126583" cy="2743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1879" y="5422392"/>
            <a:ext cx="5126583" cy="6949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Tracks views, saves, and inquiries per listing across platforms. Monthly report shows which listings generated the most interest and why.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From Photo Shoot to Live Listing — The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Seven steps. You handle two of them. The bot handles the rest.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75488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09928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5568" y="1600200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165506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Listing Intake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94767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Fill out the intake: address, key features, selling points, price, your tone notes. 10 minutes max.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" y="2313432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2368296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Photo 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6090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Drop your photos into the deal portal — any order, any device, any format. The bot sorts and formats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26664"/>
            <a:ext cx="475488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36392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15568" y="3026664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3081528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Description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374136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Bot writes the MLS description + all platform variants. Takes 2 minutes. Delivered to your preview inbox.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39896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849624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" y="3739896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3794760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Your 5-Min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08736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read the draft, request one round of edits if needed (optional), and hit approve. That's your only required action.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453128"/>
            <a:ext cx="475488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62856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5568" y="4453128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8448" y="450799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Platform Formatting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800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Bot resizes photos, formats copy for each platform's requirements, and queues everything for go-live.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166360"/>
            <a:ext cx="475488" cy="65836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76088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15568" y="5166360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98448" y="5221224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Scheduled Go-Live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5138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At your set time (or immediately on approval), bot posts to MLS, Zillow, Realtor.com, Facebook, and Instagram simultaneously.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79592"/>
            <a:ext cx="475488" cy="65836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475488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7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15568" y="5879592"/>
            <a:ext cx="10497312" cy="658368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98448" y="5934456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Performance Tracking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6227064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Listing goes live — bot monitors views, saves, and inquiry count. Weekly digest in your inbox. Monthly report at close.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 the Output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Same property — four platform-ready versions, generated in 2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82009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F7F1"/>
                </a:solidFill>
                <a:latin typeface="Calibri"/>
              </a:rPr>
              <a:t>Sample Property:  3BR / 2BA · 1,850 sq ft · $385,000 · Updated kitchen · Fenced yard · Good school district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2848"/>
            <a:ext cx="5410047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212848"/>
            <a:ext cx="5410047" cy="29260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267712"/>
            <a:ext cx="52088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A1628"/>
                </a:solidFill>
                <a:latin typeface="Calibri"/>
              </a:rPr>
              <a:t>MLS 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578608"/>
            <a:ext cx="5208879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Beautifully updated 3-bedroom, 2-bath home in a sought-after neighborhood zoned for top-rated schools. The recently renovated kitchen features quartz countertops, stainless appliances, and a breakfast bar that opens to the light-filled living area — perfect for everyday living and entertaining. A private fenced backyard with a covered patio extends your living space outdoors. Primary suite with walk-in closet and ensuite bath. Two-car garage. Minutes from shopping, dining, and major commuter routes. Move-in ready — schedule your showing today.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7" y="2212848"/>
            <a:ext cx="5410047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5847" y="2212848"/>
            <a:ext cx="5410047" cy="29260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863" y="2267712"/>
            <a:ext cx="52088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ZILLOW LISTING REMARKS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863" y="2578608"/>
            <a:ext cx="5208879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Updated 3BR/2BA · Renovated kitchen with quartz counters · Private fenced yard with covered patio · Top-rated school district · Two-car garage · Move-in ready. This home checks every box — don't miss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33088"/>
            <a:ext cx="5410047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33088"/>
            <a:ext cx="5410047" cy="292608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4187952"/>
            <a:ext cx="52088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FACEBOOK 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498848"/>
            <a:ext cx="5208879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🏡 JUST LISTED — $385,000 · 3BD / 2BA in [Neighborhood Name]
✅ Newly renovated kitchen
✅ Fenced backyard with covered patio
✅ Top school district
✅ 2-car garage
Schedule a private showing: [your link]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4133088"/>
            <a:ext cx="5410047" cy="1783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5847" y="4133088"/>
            <a:ext cx="5410047" cy="292608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863" y="4187952"/>
            <a:ext cx="52088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FFFF"/>
                </a:solidFill>
                <a:latin typeface="Calibri"/>
              </a:rPr>
              <a:t>INSTAGRAM CAPTION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3863" y="4498848"/>
            <a:ext cx="5208879" cy="1353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New listing alert 🏠✨ 3BR/2BA in [Neighborhood] just hit the market at $385K — and that kitchen renovation is 🔥 Swipe to see the backyard. Link in bio to schedule your tour. #JustListed #[YourCity]RealEstate #HomesFor Sale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Every Platform, One Submission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One intake form. Five simultaneous posts. Zero manual data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072579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072579" cy="47548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1889699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MLS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76272"/>
            <a:ext cx="1889699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Primary listing database. Auto-formatted to your local MLS character limits and required fields. Compliant copy every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279392"/>
            <a:ext cx="1853123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370832"/>
            <a:ext cx="18896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Primary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26864"/>
            <a:ext cx="1889699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Thousands of buyer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4099" y="1600200"/>
            <a:ext cx="2072579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04099" y="1600200"/>
            <a:ext cx="2072579" cy="475488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3827" y="1664208"/>
            <a:ext cx="1889699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Zillow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827" y="2176272"/>
            <a:ext cx="1889699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Custom Zillow remarks separate from MLS description. Optimized for the Zillow buyer search algorithm and mobile reading patterns.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13827" y="4279392"/>
            <a:ext cx="1853123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827" y="4370832"/>
            <a:ext cx="18896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100M+ monthly visitors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3827" y="4626864"/>
            <a:ext cx="1889699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Largest buyer audience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9558" y="1600200"/>
            <a:ext cx="2072579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59558" y="1600200"/>
            <a:ext cx="2072579" cy="475488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9286" y="1664208"/>
            <a:ext cx="1889699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Realtor.com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9286" y="2176272"/>
            <a:ext cx="1889699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Realtor.com listing remarks formatted for their platform's display requirements. Agent profile linked automatically.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9286" y="4279392"/>
            <a:ext cx="1853123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9286" y="4370832"/>
            <a:ext cx="18896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40M+ monthly visitors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9286" y="4626864"/>
            <a:ext cx="1889699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Strong luxury + move-up segment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017" y="1600200"/>
            <a:ext cx="2072579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017" y="1600200"/>
            <a:ext cx="2072579" cy="475488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745" y="1664208"/>
            <a:ext cx="1889699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Facebook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745" y="2176272"/>
            <a:ext cx="1889699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Property post with photos and CTA link. Formatted for Facebook's housing algorithm and local buyer groups.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24745" y="4279392"/>
            <a:ext cx="1853123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4745" y="4370832"/>
            <a:ext cx="18896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Social discovery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4745" y="4626864"/>
            <a:ext cx="1889699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2A83B"/>
                </a:solidFill>
                <a:latin typeface="Calibri"/>
              </a:rPr>
              <a:t>Local buyers and referral network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70476" y="1600200"/>
            <a:ext cx="2072579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70476" y="1600200"/>
            <a:ext cx="2072579" cy="475488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0204" y="1664208"/>
            <a:ext cx="1889699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0204" y="2176272"/>
            <a:ext cx="1889699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1B2B3C"/>
                </a:solidFill>
                <a:latin typeface="Calibri"/>
              </a:rPr>
              <a:t>Caption with relevant hashtags for your market. Photos formatted for square and portrait display. Optional story assets.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80204" y="4279392"/>
            <a:ext cx="1853123" cy="27432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80204" y="4370832"/>
            <a:ext cx="188969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50" b="1" i="0">
                <a:solidFill>
                  <a:srgbClr val="5B6B7C"/>
                </a:solidFill>
                <a:latin typeface="Calibri"/>
              </a:rPr>
              <a:t>Visual engagement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0204" y="4626864"/>
            <a:ext cx="1889699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1B2B3C"/>
                </a:solidFill>
                <a:latin typeface="Calibri"/>
              </a:rPr>
              <a:t>Younger buyers + referral reach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419088"/>
            <a:ext cx="11094415" cy="256032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6446520"/>
            <a:ext cx="1082009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B82"/>
                </a:solidFill>
                <a:latin typeface="Calibri"/>
              </a:rPr>
              <a:t>All five platforms post simultaneously. You approve once, the bot distributes everywhere.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Your Voice, Your Brand — Trained On Your Listings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bot learns how you write. Every description sounds like you, not a template.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46634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00784"/>
            <a:ext cx="5212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HOW BRAND VOICE TRAINING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29968"/>
            <a:ext cx="54864" cy="7863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66544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Setup (Week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49377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 feed your 5 best past listing descriptions into the training set. The system extracts your vocabulary patterns, sentence length preference, and descriptive style.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54096"/>
            <a:ext cx="54864" cy="7863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First Listing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49377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Bot generates a draft. You review and mark any phrases you'd change. We update the style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78224"/>
            <a:ext cx="54864" cy="7863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Continuous 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07408"/>
            <a:ext cx="49377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After every listing, you can flag phrases you liked or didn't. The model improves automatically — by listing 5, most agents need zero edits.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02352"/>
            <a:ext cx="54864" cy="7863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Style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31536"/>
            <a:ext cx="49377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control: formal vs. conversational, detail-heavy vs. punchy, neighborhood-name mentions, and your standard CTA phrase.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600200"/>
            <a:ext cx="5333695" cy="466344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00784"/>
            <a:ext cx="50593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B800"/>
                </a:solidFill>
                <a:latin typeface="Calibri"/>
              </a:rPr>
              <a:t>THE TECHNOLOGY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0848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20299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OpenHands AI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494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Reads intake, generates copy, orchestrates posting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5420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24871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Google Drive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7066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Photo storage and processing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29992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9443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MLS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1638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Direct submission to your local MLS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4564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34015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Zillow Bridge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6210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Zillow listing syndication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39136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8587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Realtor.com Feed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0782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Realtor.com listing push via RETS/RESO Web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43708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43159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Meta Graph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5354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Facebook Marketplace and Instagram posting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8280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7731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Twilio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9926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SMS approval notifications to your phone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28523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230368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Calibri"/>
              </a:rPr>
              <a:t>Notion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449824"/>
            <a:ext cx="4830775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E0F7F1"/>
                </a:solidFill>
                <a:latin typeface="Calibri"/>
              </a:rPr>
              <a:t>Listing archive and performance log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ROI Math — Time Recovered + Revenue Protected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Two separate returns: your time back and your commission protected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86400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TIME RECOVERY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56816"/>
            <a:ext cx="3236976" cy="37490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956816"/>
            <a:ext cx="2642616" cy="37490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2029968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Today (Manual)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9984" y="1956816"/>
            <a:ext cx="2825496" cy="37490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2029968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With Listing Assistant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59152"/>
            <a:ext cx="323697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32304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Write MLS description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2359152"/>
            <a:ext cx="264261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432304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45–60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9984" y="2359152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21424" y="2432304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10 min (approve draft)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61488"/>
            <a:ext cx="323697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834640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Format platform variants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761488"/>
            <a:ext cx="264261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834640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30–45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4" y="2761488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21424" y="2834640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0 min (automated)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163824"/>
            <a:ext cx="323697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236976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Upload photos per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3163824"/>
            <a:ext cx="264261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23360" y="3236976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20–30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9984" y="3163824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3236976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0 min (automated)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66160"/>
            <a:ext cx="323697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639312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Post to secondary sites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566160"/>
            <a:ext cx="264261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3639312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20–30 min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29984" y="3566160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3639312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0 min (automated)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68496"/>
            <a:ext cx="323697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041648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Total per listing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3968496"/>
            <a:ext cx="2642616" cy="374904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4041648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95–135 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29984" y="3968496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1424" y="4041648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10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70832"/>
            <a:ext cx="323697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443984"/>
            <a:ext cx="312724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Monthly at 6 listings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4370832"/>
            <a:ext cx="2642616" cy="374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4443984"/>
            <a:ext cx="253288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570–810 min (10–14h)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9984" y="4370832"/>
            <a:ext cx="2825496" cy="374904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21424" y="4443984"/>
            <a:ext cx="271576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9B82"/>
                </a:solidFill>
                <a:latin typeface="Calibri"/>
              </a:rPr>
              <a:t>60 min (1h)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791456"/>
            <a:ext cx="5486400" cy="34747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483717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REVENUE PROTECTION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212080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Listings delayed 3+ days: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21208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est. 30% of your volume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431536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Price discount (research avg):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5431536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1–1.5% below market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650992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At $300K avg price: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650992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= $3,000–$4,500 per delayed listing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87044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At 6 listings/month × 30%: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5870448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~2 delayed listings × $3,750 avg = $7,500/month at risk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608990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Annual exposure: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089904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$90,000 in commission at risk from slow time-to-market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09360" y="1600200"/>
            <a:ext cx="5333695" cy="46817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37960" y="1755648"/>
            <a:ext cx="510509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Bottom 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2212848"/>
            <a:ext cx="49222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Annual time cost saved: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37960" y="2487168"/>
            <a:ext cx="49222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120+ hours = $24,000+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37960" y="2889504"/>
            <a:ext cx="49222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Revenue protected: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7960" y="3163824"/>
            <a:ext cx="49222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up to $90,000/year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37960" y="3566160"/>
            <a:ext cx="49222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System cost: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3840480"/>
            <a:ext cx="49222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$24,000/year ($2,000/mo)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4242816"/>
            <a:ext cx="492221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E0F7F1"/>
                </a:solidFill>
                <a:latin typeface="Calibri"/>
              </a:rPr>
              <a:t>Net annual return: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4517136"/>
            <a:ext cx="4922215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$90,000+ protected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What's Included — Everything, No Add-Ons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One flat monthly fee. Every feature. No per-listing charges.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MLS Description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Compliant copy for your local MLS. Trained on top-performing listings. One round of edits per listing included.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1600200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7287" y="1600200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1691640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Five-Platform Copy Variants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1879" y="2039112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Separate optimized copy for MLS, Zillow, Realtor.com, Facebook Marketplace, and Instagram — every listing,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34056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Photo Processing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Upload in any format. Bot sorts, resizes, and formats photos for each platform's display specifications.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287" y="2734056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7287" y="2734056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1879" y="2825496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Brand Voice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879" y="3172968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Your writing style captured in setup. Updated automatically as you approve or edit drafts. Sounds like you by listing 5.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867912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Approval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Every listing goes to a preview link first. You approve in one click (or request one round of edits). Nothing goes live without your sign-off.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3867912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7287" y="3867912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1879" y="3959352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Scheduled Publishing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4306824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Set a go-live time or post immediately. Bot handles all simultaneous platform submissions — no manual uploads.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01768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Performance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Weekly views, saves, and inquiry count per listing. Monthly report showing which listings performed best and why.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7287" y="5001768"/>
            <a:ext cx="5455767" cy="10424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87287" y="5001768"/>
            <a:ext cx="64008" cy="1042415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1879" y="5093208"/>
            <a:ext cx="519973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A1628"/>
                </a:solidFill>
                <a:latin typeface="Calibri"/>
              </a:rPr>
              <a:t>✓  Monthly Support Call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1879" y="5440680"/>
            <a:ext cx="519973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30-minute check-in to review performance, update brand voice, and handle any edge cases from your market.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Setup Timeline — Live in Four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Your first fully automated listing posts before the end of month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55648"/>
            <a:ext cx="960120" cy="98755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755648"/>
            <a:ext cx="1004285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810512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Connect + Configure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21579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2121408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Connect MLS credentials and platform accounts (MLS, Zillow, Realtor.com, Facebook, Instagram)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83080" y="235915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322576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Upload 5 past listing descriptions for brand voice 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560320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2523744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Set up approval workflow and SMS notifications to your phone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26080"/>
            <a:ext cx="960120" cy="98755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72384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2926080"/>
            <a:ext cx="1004285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2980944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Brand Voice +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33284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3291840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System generates sample descriptions from your past listings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783080" y="35295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493008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review and flag any phrases to adjust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83080" y="3730752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5960" y="3694176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Test post to a staging environment — verify all platform formats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096512"/>
            <a:ext cx="960120" cy="98755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42816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4096512"/>
            <a:ext cx="1004285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151376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First Live Listing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44988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60" y="4462272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Your first real listing runs through the full pipeline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783080" y="47000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4663440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We monitor the submission and handle any platform-specific issues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83080" y="4901184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4864608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approve the preview and watch it go live on all 5 platforms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266944"/>
            <a:ext cx="960120" cy="987552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413248"/>
            <a:ext cx="960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Week 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00200" y="5266944"/>
            <a:ext cx="10042855" cy="987552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83080" y="5321808"/>
            <a:ext cx="4114800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Hand Off + Optimize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783080" y="5669280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5632704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You run the second listing independently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83080" y="5870448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5833872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30-minute debrief: brand voice adjustments, any platform quirks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83080" y="6071616"/>
            <a:ext cx="91440" cy="9144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5960" y="6035040"/>
            <a:ext cx="9494215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System running autonomously — you submit intake, approve, done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483096"/>
            <a:ext cx="11094415" cy="21945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501384"/>
            <a:ext cx="1082009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50" b="0" i="0">
                <a:solidFill>
                  <a:srgbClr val="009B82"/>
                </a:solidFill>
                <a:latin typeface="Calibri"/>
              </a:rPr>
              <a:t>Setup fee: $500 one-time (covers weeks 1–4 configuration, brand voice training, and platform connections)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SIMPLE PRICING. EVERY FEATURE INCLUDED.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219456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384048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200" b="1" i="0">
                <a:solidFill>
                  <a:srgbClr val="FFB800"/>
                </a:solidFill>
                <a:latin typeface="Calibri"/>
              </a:rPr>
              <a:t>$2,000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743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E0F7F1"/>
                </a:solidFill>
                <a:latin typeface="Calibri"/>
              </a:rPr>
              <a:t>/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57200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5B6B7C"/>
                </a:solidFill>
                <a:latin typeface="Calibri"/>
              </a:rPr>
              <a:t>+ $500 one-time setup · No long-term contract · Cancel with 30 days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09728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For $2,000/month you get: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179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813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MLS + 4 platform posting — every listing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751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9385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Brand voice training (sounds like you)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4323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957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Photo processing and formatting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8895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8529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Approval workflow before anything goes 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33467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3101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Performance tracking 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803904"/>
            <a:ext cx="128016" cy="128016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767328"/>
            <a:ext cx="5852160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FFFFFF"/>
                </a:solidFill>
                <a:latin typeface="Calibri"/>
              </a:rPr>
              <a:t>Cancel anytime — no lock-in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11094415" cy="54864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62102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B800"/>
                </a:solidFill>
                <a:latin typeface="Calibri"/>
              </a:rPr>
              <a:t>THREE STEPS TO GET STARTED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20-min intro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 confirm your MLS setup, platforms, and current listing volume.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Sign + pay setup fee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Configuration starts within 48 hours.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005072"/>
            <a:ext cx="402336" cy="402336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023360"/>
            <a:ext cx="4023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02336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First listing live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4407408"/>
            <a:ext cx="31089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 i="0">
                <a:solidFill>
                  <a:srgbClr val="E0F7F1"/>
                </a:solidFill>
                <a:latin typeface="Calibri"/>
              </a:rPr>
              <a:t>Week 3 — your first listing posts to all 5 platforms automatically.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30368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[your website or booking link here]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Listing Description + MLS Auto-Post · AI Engineering for Real Estate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