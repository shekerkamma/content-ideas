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362895" y="0"/>
            <a:ext cx="1828800" cy="685800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362895" y="0"/>
            <a:ext cx="91440"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8229600" cy="411480"/>
          </a:xfrm>
          <a:prstGeom prst="rect">
            <a:avLst/>
          </a:prstGeom>
          <a:noFill/>
        </p:spPr>
        <p:txBody>
          <a:bodyPr wrap="square" anchor="t" lIns="0" rIns="0" tIns="0" bIns="0">
            <a:noAutofit/>
          </a:bodyPr>
          <a:lstStyle/>
          <a:p>
            <a:pPr algn="l">
              <a:lnSpc>
                <a:spcPct val="105000"/>
              </a:lnSpc>
              <a:spcBef>
                <a:spcPts val="0"/>
              </a:spcBef>
            </a:pPr>
            <a:r>
              <a:rPr sz="1600" b="1" i="0">
                <a:solidFill>
                  <a:srgbClr val="00C9A7"/>
                </a:solidFill>
                <a:latin typeface="Calibri"/>
              </a:rPr>
              <a:t>DONE-FOR-YOU</a:t>
            </a:r>
          </a:p>
        </p:txBody>
      </p:sp>
      <p:sp>
        <p:nvSpPr>
          <p:cNvPr id="6" name="TextBox 5"/>
          <p:cNvSpPr txBox="1"/>
          <p:nvPr/>
        </p:nvSpPr>
        <p:spPr>
          <a:xfrm>
            <a:off x="548640" y="1554480"/>
            <a:ext cx="8686800" cy="1371600"/>
          </a:xfrm>
          <a:prstGeom prst="rect">
            <a:avLst/>
          </a:prstGeom>
          <a:noFill/>
        </p:spPr>
        <p:txBody>
          <a:bodyPr wrap="square" anchor="t" lIns="0" rIns="0" tIns="0" bIns="0">
            <a:normAutofit/>
          </a:bodyPr>
          <a:lstStyle/>
          <a:p>
            <a:pPr algn="l">
              <a:lnSpc>
                <a:spcPct val="105000"/>
              </a:lnSpc>
              <a:spcBef>
                <a:spcPts val="0"/>
              </a:spcBef>
            </a:pPr>
            <a:r>
              <a:rPr sz="5200" b="1" i="0">
                <a:solidFill>
                  <a:srgbClr val="FFFFFF"/>
                </a:solidFill>
                <a:latin typeface="Calibri"/>
              </a:rPr>
              <a:t>AI Engineering Team</a:t>
            </a:r>
          </a:p>
        </p:txBody>
      </p:sp>
      <p:sp>
        <p:nvSpPr>
          <p:cNvPr id="7" name="Rectangle 6"/>
          <p:cNvSpPr/>
          <p:nvPr/>
        </p:nvSpPr>
        <p:spPr>
          <a:xfrm>
            <a:off x="548640" y="3017520"/>
            <a:ext cx="3657600"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200400"/>
            <a:ext cx="8229600" cy="457200"/>
          </a:xfrm>
          <a:prstGeom prst="rect">
            <a:avLst/>
          </a:prstGeom>
          <a:noFill/>
        </p:spPr>
        <p:txBody>
          <a:bodyPr wrap="square" anchor="t" lIns="0" rIns="0" tIns="0" bIns="0">
            <a:noAutofit/>
          </a:bodyPr>
          <a:lstStyle/>
          <a:p>
            <a:pPr algn="l">
              <a:lnSpc>
                <a:spcPct val="105000"/>
              </a:lnSpc>
              <a:spcBef>
                <a:spcPts val="0"/>
              </a:spcBef>
            </a:pPr>
            <a:r>
              <a:rPr sz="1550" b="0" i="0">
                <a:solidFill>
                  <a:srgbClr val="E0F7F1"/>
                </a:solidFill>
                <a:latin typeface="Calibri"/>
              </a:rPr>
              <a:t>Top 25 SMB Use Cases · OpenHands × 131 Specialist Subagents</a:t>
            </a:r>
          </a:p>
        </p:txBody>
      </p:sp>
      <p:sp>
        <p:nvSpPr>
          <p:cNvPr id="9" name="Rounded Rectangle 8"/>
          <p:cNvSpPr/>
          <p:nvPr/>
        </p:nvSpPr>
        <p:spPr>
          <a:xfrm>
            <a:off x="548640" y="4023360"/>
            <a:ext cx="2194560" cy="292608"/>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059936"/>
            <a:ext cx="1920240" cy="237744"/>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77K+ GitHub Stars</a:t>
            </a:r>
          </a:p>
        </p:txBody>
      </p:sp>
      <p:sp>
        <p:nvSpPr>
          <p:cNvPr id="11" name="Rounded Rectangle 10"/>
          <p:cNvSpPr/>
          <p:nvPr/>
        </p:nvSpPr>
        <p:spPr>
          <a:xfrm>
            <a:off x="2880360" y="4023360"/>
            <a:ext cx="2194560" cy="292608"/>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7520" y="4059936"/>
            <a:ext cx="1920240" cy="237744"/>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$2K–$5K/Month</a:t>
            </a:r>
          </a:p>
        </p:txBody>
      </p:sp>
      <p:sp>
        <p:nvSpPr>
          <p:cNvPr id="13" name="Rounded Rectangle 12"/>
          <p:cNvSpPr/>
          <p:nvPr/>
        </p:nvSpPr>
        <p:spPr>
          <a:xfrm>
            <a:off x="5212080" y="4023360"/>
            <a:ext cx="2194560" cy="292608"/>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49240" y="4059936"/>
            <a:ext cx="1920240" cy="237744"/>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5× Cheaper Than Dev Shop</a:t>
            </a:r>
          </a:p>
        </p:txBody>
      </p:sp>
      <p:sp>
        <p:nvSpPr>
          <p:cNvPr id="15" name="TextBox 14"/>
          <p:cNvSpPr txBox="1"/>
          <p:nvPr/>
        </p:nvSpPr>
        <p:spPr>
          <a:xfrm>
            <a:off x="548640" y="4663440"/>
            <a:ext cx="2743200" cy="320040"/>
          </a:xfrm>
          <a:prstGeom prst="rect">
            <a:avLst/>
          </a:prstGeom>
          <a:noFill/>
        </p:spPr>
        <p:txBody>
          <a:bodyPr wrap="square" anchor="t" lIns="0" rIns="0" tIns="0" bIns="0">
            <a:noAutofit/>
          </a:bodyPr>
          <a:lstStyle/>
          <a:p>
            <a:pPr algn="l">
              <a:lnSpc>
                <a:spcPct val="105000"/>
              </a:lnSpc>
              <a:spcBef>
                <a:spcPts val="0"/>
              </a:spcBef>
            </a:pPr>
            <a:r>
              <a:rPr sz="1200" b="0" i="0">
                <a:solidFill>
                  <a:srgbClr val="5B6B7C"/>
                </a:solidFill>
                <a:latin typeface="Calibri"/>
              </a:rPr>
              <a:t>June 2026</a:t>
            </a:r>
          </a:p>
        </p:txBody>
      </p:sp>
      <p:sp>
        <p:nvSpPr>
          <p:cNvPr id="16" name="TextBox 1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OpenHands × SMB AI Engineering · Done-For-You · June 2026</a:t>
            </a:r>
          </a:p>
        </p:txBody>
      </p:sp>
      <p:sp>
        <p:nvSpPr>
          <p:cNvPr id="17" name="TextBox 1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 / 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65836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
            <a:ext cx="4572000" cy="27432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THE BOTTOM LINE</a:t>
            </a:r>
          </a:p>
        </p:txBody>
      </p:sp>
      <p:sp>
        <p:nvSpPr>
          <p:cNvPr id="6" name="TextBox 5"/>
          <p:cNvSpPr txBox="1"/>
          <p:nvPr/>
        </p:nvSpPr>
        <p:spPr>
          <a:xfrm>
            <a:off x="548640" y="347472"/>
            <a:ext cx="11094415" cy="365760"/>
          </a:xfrm>
          <a:prstGeom prst="rect">
            <a:avLst/>
          </a:prstGeom>
          <a:noFill/>
        </p:spPr>
        <p:txBody>
          <a:bodyPr wrap="square" anchor="t" lIns="0" rIns="0" tIns="0" bIns="0">
            <a:normAutofit/>
          </a:bodyPr>
          <a:lstStyle/>
          <a:p>
            <a:pPr algn="l">
              <a:lnSpc>
                <a:spcPct val="105000"/>
              </a:lnSpc>
              <a:spcBef>
                <a:spcPts val="0"/>
              </a:spcBef>
            </a:pPr>
            <a:r>
              <a:rPr sz="1400" b="1" i="0">
                <a:solidFill>
                  <a:srgbClr val="FFFFFF"/>
                </a:solidFill>
                <a:latin typeface="Calibri"/>
              </a:rPr>
              <a:t>One person + OpenHands + a niche = a $50K/mo AI engineering agency. Open source is the new wholesale.</a:t>
            </a:r>
          </a:p>
        </p:txBody>
      </p:sp>
      <p:sp>
        <p:nvSpPr>
          <p:cNvPr id="7" name="Rounded Rectangle 6"/>
          <p:cNvSpPr/>
          <p:nvPr/>
        </p:nvSpPr>
        <p:spPr>
          <a:xfrm>
            <a:off x="548640" y="868680"/>
            <a:ext cx="3637178" cy="5623560"/>
          </a:xfrm>
          <a:prstGeom prst="roundRect">
            <a:avLst>
              <a:gd name="adj" fmla="val 4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960120"/>
            <a:ext cx="3362858" cy="274320"/>
          </a:xfrm>
          <a:prstGeom prst="rect">
            <a:avLst/>
          </a:prstGeom>
          <a:noFill/>
        </p:spPr>
        <p:txBody>
          <a:bodyPr wrap="square" anchor="t" lIns="0" rIns="0" tIns="0" bIns="0">
            <a:noAutofit/>
          </a:bodyPr>
          <a:lstStyle/>
          <a:p>
            <a:pPr algn="l">
              <a:lnSpc>
                <a:spcPct val="105000"/>
              </a:lnSpc>
              <a:spcBef>
                <a:spcPts val="0"/>
              </a:spcBef>
            </a:pPr>
            <a:r>
              <a:rPr sz="1000" b="1" i="0">
                <a:solidFill>
                  <a:srgbClr val="FFFFFF"/>
                </a:solidFill>
                <a:latin typeface="Calibri"/>
              </a:rPr>
              <a:t>SITUATION</a:t>
            </a:r>
          </a:p>
        </p:txBody>
      </p:sp>
      <p:sp>
        <p:nvSpPr>
          <p:cNvPr id="9" name="Rectangle 8"/>
          <p:cNvSpPr/>
          <p:nvPr/>
        </p:nvSpPr>
        <p:spPr>
          <a:xfrm>
            <a:off x="731520" y="1298448"/>
            <a:ext cx="3271418" cy="27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17320"/>
            <a:ext cx="3317138" cy="960120"/>
          </a:xfrm>
          <a:prstGeom prst="rect">
            <a:avLst/>
          </a:prstGeom>
          <a:noFill/>
        </p:spPr>
        <p:txBody>
          <a:bodyPr wrap="square" anchor="t" lIns="0" rIns="0" tIns="0" bIns="0">
            <a:normAutofit/>
          </a:bodyPr>
          <a:lstStyle/>
          <a:p>
            <a:pPr algn="l">
              <a:lnSpc>
                <a:spcPct val="120000"/>
              </a:lnSpc>
              <a:spcBef>
                <a:spcPts val="0"/>
              </a:spcBef>
            </a:pPr>
            <a:r>
              <a:rPr sz="1050" b="0" i="0">
                <a:solidFill>
                  <a:srgbClr val="E0F7F1"/>
                </a:solidFill>
                <a:latin typeface="Calibri"/>
              </a:rPr>
              <a:t>77K-star open-source agent runtime (OpenHands) reads code, edits files, opens PRs, and deploys apps autonomously.</a:t>
            </a:r>
          </a:p>
        </p:txBody>
      </p:sp>
      <p:sp>
        <p:nvSpPr>
          <p:cNvPr id="11" name="TextBox 10"/>
          <p:cNvSpPr txBox="1"/>
          <p:nvPr/>
        </p:nvSpPr>
        <p:spPr>
          <a:xfrm>
            <a:off x="731520" y="2441448"/>
            <a:ext cx="3317138" cy="960120"/>
          </a:xfrm>
          <a:prstGeom prst="rect">
            <a:avLst/>
          </a:prstGeom>
          <a:noFill/>
        </p:spPr>
        <p:txBody>
          <a:bodyPr wrap="square" anchor="t" lIns="0" rIns="0" tIns="0" bIns="0">
            <a:normAutofit/>
          </a:bodyPr>
          <a:lstStyle/>
          <a:p>
            <a:pPr algn="l">
              <a:lnSpc>
                <a:spcPct val="120000"/>
              </a:lnSpc>
              <a:spcBef>
                <a:spcPts val="0"/>
              </a:spcBef>
            </a:pPr>
            <a:r>
              <a:rPr sz="1050" b="0" i="0">
                <a:solidFill>
                  <a:srgbClr val="E0F7F1"/>
                </a:solidFill>
                <a:latin typeface="Calibri"/>
              </a:rPr>
              <a:t>131 free specialist subagents via VoltAgent — CRM, HIPAA, document automation, and more.</a:t>
            </a:r>
          </a:p>
        </p:txBody>
      </p:sp>
      <p:sp>
        <p:nvSpPr>
          <p:cNvPr id="12" name="TextBox 11"/>
          <p:cNvSpPr txBox="1"/>
          <p:nvPr/>
        </p:nvSpPr>
        <p:spPr>
          <a:xfrm>
            <a:off x="731520" y="3465576"/>
            <a:ext cx="3317138" cy="960120"/>
          </a:xfrm>
          <a:prstGeom prst="rect">
            <a:avLst/>
          </a:prstGeom>
          <a:noFill/>
        </p:spPr>
        <p:txBody>
          <a:bodyPr wrap="square" anchor="t" lIns="0" rIns="0" tIns="0" bIns="0">
            <a:normAutofit/>
          </a:bodyPr>
          <a:lstStyle/>
          <a:p>
            <a:pPr algn="l">
              <a:lnSpc>
                <a:spcPct val="120000"/>
              </a:lnSpc>
              <a:spcBef>
                <a:spcPts val="0"/>
              </a:spcBef>
            </a:pPr>
            <a:r>
              <a:rPr sz="1050" b="0" i="0">
                <a:solidFill>
                  <a:srgbClr val="E0F7F1"/>
                </a:solidFill>
                <a:latin typeface="Calibri"/>
              </a:rPr>
              <a:t>14,000+ MCP servers provide turnkey integrations to GitHub, Stripe, Twilio, Calendly, Postgres.</a:t>
            </a:r>
          </a:p>
        </p:txBody>
      </p:sp>
      <p:sp>
        <p:nvSpPr>
          <p:cNvPr id="13" name="TextBox 12"/>
          <p:cNvSpPr txBox="1"/>
          <p:nvPr/>
        </p:nvSpPr>
        <p:spPr>
          <a:xfrm>
            <a:off x="731520" y="4489704"/>
            <a:ext cx="3317138" cy="960120"/>
          </a:xfrm>
          <a:prstGeom prst="rect">
            <a:avLst/>
          </a:prstGeom>
          <a:noFill/>
        </p:spPr>
        <p:txBody>
          <a:bodyPr wrap="square" anchor="t" lIns="0" rIns="0" tIns="0" bIns="0">
            <a:normAutofit/>
          </a:bodyPr>
          <a:lstStyle/>
          <a:p>
            <a:pPr algn="l">
              <a:lnSpc>
                <a:spcPct val="120000"/>
              </a:lnSpc>
              <a:spcBef>
                <a:spcPts val="0"/>
              </a:spcBef>
            </a:pPr>
            <a:r>
              <a:rPr sz="1050" b="0" i="0">
                <a:solidFill>
                  <a:srgbClr val="E0F7F1"/>
                </a:solidFill>
                <a:latin typeface="Calibri"/>
              </a:rPr>
              <a:t>Self-hosted on a $20/mo VPS. Setup time: one afternoon.</a:t>
            </a:r>
          </a:p>
        </p:txBody>
      </p:sp>
      <p:sp>
        <p:nvSpPr>
          <p:cNvPr id="14" name="Rounded Rectangle 13"/>
          <p:cNvSpPr/>
          <p:nvPr/>
        </p:nvSpPr>
        <p:spPr>
          <a:xfrm>
            <a:off x="4277258" y="868680"/>
            <a:ext cx="3637178" cy="5623560"/>
          </a:xfrm>
          <a:prstGeom prst="roundRect">
            <a:avLst>
              <a:gd name="adj" fmla="val 4000"/>
            </a:avLst>
          </a:prstGeom>
          <a:solidFill>
            <a:srgbClr val="00C9A7"/>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0138" y="960120"/>
            <a:ext cx="3362858" cy="27432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INSIGHT</a:t>
            </a:r>
          </a:p>
        </p:txBody>
      </p:sp>
      <p:sp>
        <p:nvSpPr>
          <p:cNvPr id="16" name="Rectangle 15"/>
          <p:cNvSpPr/>
          <p:nvPr/>
        </p:nvSpPr>
        <p:spPr>
          <a:xfrm>
            <a:off x="4460138" y="1298448"/>
            <a:ext cx="3271418" cy="27432"/>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60138" y="1417320"/>
            <a:ext cx="3317138" cy="960120"/>
          </a:xfrm>
          <a:prstGeom prst="rect">
            <a:avLst/>
          </a:prstGeom>
          <a:noFill/>
        </p:spPr>
        <p:txBody>
          <a:bodyPr wrap="square" anchor="t" lIns="0" rIns="0" tIns="0" bIns="0">
            <a:normAutofit/>
          </a:bodyPr>
          <a:lstStyle/>
          <a:p>
            <a:pPr algn="l">
              <a:lnSpc>
                <a:spcPct val="120000"/>
              </a:lnSpc>
              <a:spcBef>
                <a:spcPts val="0"/>
              </a:spcBef>
            </a:pPr>
            <a:r>
              <a:rPr sz="1050" b="0" i="0">
                <a:solidFill>
                  <a:srgbClr val="0A1628"/>
                </a:solidFill>
                <a:latin typeface="Calibri"/>
              </a:rPr>
              <a:t>SMBs need custom software and can't afford a $15K/mo dev shop or $25K/mo junior hire.</a:t>
            </a:r>
          </a:p>
        </p:txBody>
      </p:sp>
      <p:sp>
        <p:nvSpPr>
          <p:cNvPr id="18" name="TextBox 17"/>
          <p:cNvSpPr txBox="1"/>
          <p:nvPr/>
        </p:nvSpPr>
        <p:spPr>
          <a:xfrm>
            <a:off x="4460138" y="2441448"/>
            <a:ext cx="3317138" cy="960120"/>
          </a:xfrm>
          <a:prstGeom prst="rect">
            <a:avLst/>
          </a:prstGeom>
          <a:noFill/>
        </p:spPr>
        <p:txBody>
          <a:bodyPr wrap="square" anchor="t" lIns="0" rIns="0" tIns="0" bIns="0">
            <a:normAutofit/>
          </a:bodyPr>
          <a:lstStyle/>
          <a:p>
            <a:pPr algn="l">
              <a:lnSpc>
                <a:spcPct val="120000"/>
              </a:lnSpc>
              <a:spcBef>
                <a:spcPts val="0"/>
              </a:spcBef>
            </a:pPr>
            <a:r>
              <a:rPr sz="1050" b="0" i="0">
                <a:solidFill>
                  <a:srgbClr val="0A1628"/>
                </a:solidFill>
                <a:latin typeface="Calibri"/>
              </a:rPr>
              <a:t>They already Google 'outsource my software development'. You're the answer.</a:t>
            </a:r>
          </a:p>
        </p:txBody>
      </p:sp>
      <p:sp>
        <p:nvSpPr>
          <p:cNvPr id="19" name="TextBox 18"/>
          <p:cNvSpPr txBox="1"/>
          <p:nvPr/>
        </p:nvSpPr>
        <p:spPr>
          <a:xfrm>
            <a:off x="4460138" y="3465576"/>
            <a:ext cx="3317138" cy="960120"/>
          </a:xfrm>
          <a:prstGeom prst="rect">
            <a:avLst/>
          </a:prstGeom>
          <a:noFill/>
        </p:spPr>
        <p:txBody>
          <a:bodyPr wrap="square" anchor="t" lIns="0" rIns="0" tIns="0" bIns="0">
            <a:normAutofit/>
          </a:bodyPr>
          <a:lstStyle/>
          <a:p>
            <a:pPr algn="l">
              <a:lnSpc>
                <a:spcPct val="120000"/>
              </a:lnSpc>
              <a:spcBef>
                <a:spcPts val="0"/>
              </a:spcBef>
            </a:pPr>
            <a:r>
              <a:rPr sz="1050" b="0" i="0">
                <a:solidFill>
                  <a:srgbClr val="0A1628"/>
                </a:solidFill>
                <a:latin typeface="Calibri"/>
              </a:rPr>
              <a:t>The code is free. The orchestration, the niche positioning, and the AGENTS.md setup is where the margin lives.</a:t>
            </a:r>
          </a:p>
        </p:txBody>
      </p:sp>
      <p:sp>
        <p:nvSpPr>
          <p:cNvPr id="20" name="TextBox 19"/>
          <p:cNvSpPr txBox="1"/>
          <p:nvPr/>
        </p:nvSpPr>
        <p:spPr>
          <a:xfrm>
            <a:off x="4460138" y="4489704"/>
            <a:ext cx="3317138" cy="960120"/>
          </a:xfrm>
          <a:prstGeom prst="rect">
            <a:avLst/>
          </a:prstGeom>
          <a:noFill/>
        </p:spPr>
        <p:txBody>
          <a:bodyPr wrap="square" anchor="t" lIns="0" rIns="0" tIns="0" bIns="0">
            <a:normAutofit/>
          </a:bodyPr>
          <a:lstStyle/>
          <a:p>
            <a:pPr algn="l">
              <a:lnSpc>
                <a:spcPct val="120000"/>
              </a:lnSpc>
              <a:spcBef>
                <a:spcPts val="0"/>
              </a:spcBef>
            </a:pPr>
            <a:r>
              <a:rPr sz="1050" b="0" i="0">
                <a:solidFill>
                  <a:srgbClr val="0A1628"/>
                </a:solidFill>
                <a:latin typeface="Calibri"/>
              </a:rPr>
              <a:t>Vertical specialization = moat. 'AI team for dental practices' is defensible. 'AI automation' is not.</a:t>
            </a:r>
          </a:p>
        </p:txBody>
      </p:sp>
      <p:sp>
        <p:nvSpPr>
          <p:cNvPr id="21" name="Rounded Rectangle 20"/>
          <p:cNvSpPr/>
          <p:nvPr/>
        </p:nvSpPr>
        <p:spPr>
          <a:xfrm>
            <a:off x="8005876" y="868680"/>
            <a:ext cx="3637178" cy="5623560"/>
          </a:xfrm>
          <a:prstGeom prst="roundRect">
            <a:avLst>
              <a:gd name="adj" fmla="val 4000"/>
            </a:avLst>
          </a:prstGeom>
          <a:solidFill>
            <a:srgbClr val="FFB800"/>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8756" y="960120"/>
            <a:ext cx="3362858" cy="27432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RECOMMENDATION</a:t>
            </a:r>
          </a:p>
        </p:txBody>
      </p:sp>
      <p:sp>
        <p:nvSpPr>
          <p:cNvPr id="23" name="Rectangle 22"/>
          <p:cNvSpPr/>
          <p:nvPr/>
        </p:nvSpPr>
        <p:spPr>
          <a:xfrm>
            <a:off x="8188756" y="1298448"/>
            <a:ext cx="3271418" cy="27432"/>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8756" y="1417320"/>
            <a:ext cx="3317138" cy="960120"/>
          </a:xfrm>
          <a:prstGeom prst="rect">
            <a:avLst/>
          </a:prstGeom>
          <a:noFill/>
        </p:spPr>
        <p:txBody>
          <a:bodyPr wrap="square" anchor="t" lIns="0" rIns="0" tIns="0" bIns="0">
            <a:normAutofit/>
          </a:bodyPr>
          <a:lstStyle/>
          <a:p>
            <a:pPr algn="l">
              <a:lnSpc>
                <a:spcPct val="120000"/>
              </a:lnSpc>
              <a:spcBef>
                <a:spcPts val="0"/>
              </a:spcBef>
            </a:pPr>
            <a:r>
              <a:rPr sz="1050" b="0" i="0">
                <a:solidFill>
                  <a:srgbClr val="0A1628"/>
                </a:solidFill>
                <a:latin typeface="Calibri"/>
              </a:rPr>
              <a:t>Start with Real Estate (33/35 vertical score). No HIPAA, clear ROI link to commission.</a:t>
            </a:r>
          </a:p>
        </p:txBody>
      </p:sp>
      <p:sp>
        <p:nvSpPr>
          <p:cNvPr id="25" name="TextBox 24"/>
          <p:cNvSpPr txBox="1"/>
          <p:nvPr/>
        </p:nvSpPr>
        <p:spPr>
          <a:xfrm>
            <a:off x="8188756" y="2441448"/>
            <a:ext cx="3317138" cy="960120"/>
          </a:xfrm>
          <a:prstGeom prst="rect">
            <a:avLst/>
          </a:prstGeom>
          <a:noFill/>
        </p:spPr>
        <p:txBody>
          <a:bodyPr wrap="square" anchor="t" lIns="0" rIns="0" tIns="0" bIns="0">
            <a:normAutofit/>
          </a:bodyPr>
          <a:lstStyle/>
          <a:p>
            <a:pPr algn="l">
              <a:lnSpc>
                <a:spcPct val="120000"/>
              </a:lnSpc>
              <a:spcBef>
                <a:spcPts val="0"/>
              </a:spcBef>
            </a:pPr>
            <a:r>
              <a:rPr sz="1050" b="0" i="0">
                <a:solidFill>
                  <a:srgbClr val="0A1628"/>
                </a:solidFill>
                <a:latin typeface="Calibri"/>
              </a:rPr>
              <a:t>Charge $2K–$5K/month per client. Build one AGENTS.md per vertical. The rest is supervision.</a:t>
            </a:r>
          </a:p>
        </p:txBody>
      </p:sp>
      <p:sp>
        <p:nvSpPr>
          <p:cNvPr id="26" name="TextBox 25"/>
          <p:cNvSpPr txBox="1"/>
          <p:nvPr/>
        </p:nvSpPr>
        <p:spPr>
          <a:xfrm>
            <a:off x="8188756" y="3465576"/>
            <a:ext cx="3317138" cy="960120"/>
          </a:xfrm>
          <a:prstGeom prst="rect">
            <a:avLst/>
          </a:prstGeom>
          <a:noFill/>
        </p:spPr>
        <p:txBody>
          <a:bodyPr wrap="square" anchor="t" lIns="0" rIns="0" tIns="0" bIns="0">
            <a:normAutofit/>
          </a:bodyPr>
          <a:lstStyle/>
          <a:p>
            <a:pPr algn="l">
              <a:lnSpc>
                <a:spcPct val="120000"/>
              </a:lnSpc>
              <a:spcBef>
                <a:spcPts val="0"/>
              </a:spcBef>
            </a:pPr>
            <a:r>
              <a:rPr sz="1050" b="0" i="0">
                <a:solidFill>
                  <a:srgbClr val="0A1628"/>
                </a:solidFill>
                <a:latin typeface="Calibri"/>
              </a:rPr>
              <a:t>Publish what your agents shipped this week. Case studies sell themselves.</a:t>
            </a:r>
          </a:p>
        </p:txBody>
      </p:sp>
      <p:sp>
        <p:nvSpPr>
          <p:cNvPr id="27" name="TextBox 26"/>
          <p:cNvSpPr txBox="1"/>
          <p:nvPr/>
        </p:nvSpPr>
        <p:spPr>
          <a:xfrm>
            <a:off x="8188756" y="4489704"/>
            <a:ext cx="3317138" cy="960120"/>
          </a:xfrm>
          <a:prstGeom prst="rect">
            <a:avLst/>
          </a:prstGeom>
          <a:noFill/>
        </p:spPr>
        <p:txBody>
          <a:bodyPr wrap="square" anchor="t" lIns="0" rIns="0" tIns="0" bIns="0">
            <a:normAutofit/>
          </a:bodyPr>
          <a:lstStyle/>
          <a:p>
            <a:pPr algn="l">
              <a:lnSpc>
                <a:spcPct val="120000"/>
              </a:lnSpc>
              <a:spcBef>
                <a:spcPts val="0"/>
              </a:spcBef>
            </a:pPr>
            <a:r>
              <a:rPr sz="1050" b="0" i="0">
                <a:solidFill>
                  <a:srgbClr val="0A1628"/>
                </a:solidFill>
                <a:latin typeface="Calibri"/>
              </a:rPr>
              <a:t>Reinvest in vertical-specific subagents. Niche moat compounds month over month.</a:t>
            </a:r>
          </a:p>
        </p:txBody>
      </p:sp>
      <p:sp>
        <p:nvSpPr>
          <p:cNvPr id="28" name="TextBox 2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29" name="TextBox 2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 /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9-Step Business Model</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From $20/mo VPS to $50K/mo AI engineering agency</a:t>
            </a:r>
          </a:p>
        </p:txBody>
      </p:sp>
      <p:sp>
        <p:nvSpPr>
          <p:cNvPr id="7" name="Rounded Rectangle 6"/>
          <p:cNvSpPr/>
          <p:nvPr/>
        </p:nvSpPr>
        <p:spPr>
          <a:xfrm>
            <a:off x="548640" y="1554480"/>
            <a:ext cx="3606698" cy="141732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554480"/>
            <a:ext cx="73152" cy="141732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64208"/>
            <a:ext cx="292608" cy="292608"/>
          </a:xfrm>
          <a:prstGeom prst="rect">
            <a:avLst/>
          </a:prstGeom>
          <a:noFill/>
        </p:spPr>
        <p:txBody>
          <a:bodyPr wrap="square" anchor="t" lIns="0" rIns="0" tIns="0" bIns="0">
            <a:noAutofit/>
          </a:bodyPr>
          <a:lstStyle/>
          <a:p>
            <a:pPr algn="l">
              <a:lnSpc>
                <a:spcPct val="105000"/>
              </a:lnSpc>
              <a:spcBef>
                <a:spcPts val="0"/>
              </a:spcBef>
            </a:pPr>
            <a:r>
              <a:rPr sz="1600" b="1" i="0">
                <a:solidFill>
                  <a:srgbClr val="00C9A7"/>
                </a:solidFill>
                <a:latin typeface="Calibri"/>
              </a:rPr>
              <a:t>1</a:t>
            </a:r>
          </a:p>
        </p:txBody>
      </p:sp>
      <p:sp>
        <p:nvSpPr>
          <p:cNvPr id="10" name="TextBox 9"/>
          <p:cNvSpPr txBox="1"/>
          <p:nvPr/>
        </p:nvSpPr>
        <p:spPr>
          <a:xfrm>
            <a:off x="685800" y="1956816"/>
            <a:ext cx="3378098" cy="365760"/>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Self-host OpenHands on a $20/mo VPS</a:t>
            </a:r>
          </a:p>
        </p:txBody>
      </p:sp>
      <p:sp>
        <p:nvSpPr>
          <p:cNvPr id="11" name="TextBox 10"/>
          <p:cNvSpPr txBox="1"/>
          <p:nvPr/>
        </p:nvSpPr>
        <p:spPr>
          <a:xfrm>
            <a:off x="685800" y="2359152"/>
            <a:ext cx="3378098" cy="548640"/>
          </a:xfrm>
          <a:prstGeom prst="rect">
            <a:avLst/>
          </a:prstGeom>
          <a:noFill/>
        </p:spPr>
        <p:txBody>
          <a:bodyPr wrap="square" anchor="t" lIns="0" rIns="0" tIns="0" bIns="0">
            <a:normAutofit/>
          </a:bodyPr>
          <a:lstStyle/>
          <a:p>
            <a:pPr algn="l">
              <a:lnSpc>
                <a:spcPct val="115000"/>
              </a:lnSpc>
              <a:spcBef>
                <a:spcPts val="0"/>
              </a:spcBef>
            </a:pPr>
            <a:r>
              <a:rPr sz="950" b="0" i="0">
                <a:solidFill>
                  <a:srgbClr val="1B2B3C"/>
                </a:solidFill>
                <a:latin typeface="Calibri"/>
              </a:rPr>
              <a:t>Claude Code walks you through setup in one afternoon. No devops degree required.</a:t>
            </a:r>
          </a:p>
        </p:txBody>
      </p:sp>
      <p:sp>
        <p:nvSpPr>
          <p:cNvPr id="12" name="Rounded Rectangle 11"/>
          <p:cNvSpPr/>
          <p:nvPr/>
        </p:nvSpPr>
        <p:spPr>
          <a:xfrm>
            <a:off x="4292498" y="1554480"/>
            <a:ext cx="3606698" cy="141732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92498" y="1554480"/>
            <a:ext cx="73152" cy="141732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664208"/>
            <a:ext cx="292608" cy="292608"/>
          </a:xfrm>
          <a:prstGeom prst="rect">
            <a:avLst/>
          </a:prstGeom>
          <a:noFill/>
        </p:spPr>
        <p:txBody>
          <a:bodyPr wrap="square" anchor="t" lIns="0" rIns="0" tIns="0" bIns="0">
            <a:noAutofit/>
          </a:bodyPr>
          <a:lstStyle/>
          <a:p>
            <a:pPr algn="l">
              <a:lnSpc>
                <a:spcPct val="105000"/>
              </a:lnSpc>
              <a:spcBef>
                <a:spcPts val="0"/>
              </a:spcBef>
            </a:pPr>
            <a:r>
              <a:rPr sz="1600" b="1" i="0">
                <a:solidFill>
                  <a:srgbClr val="00C9A7"/>
                </a:solidFill>
                <a:latin typeface="Calibri"/>
              </a:rPr>
              <a:t>2</a:t>
            </a:r>
          </a:p>
        </p:txBody>
      </p:sp>
      <p:sp>
        <p:nvSpPr>
          <p:cNvPr id="15" name="TextBox 14"/>
          <p:cNvSpPr txBox="1"/>
          <p:nvPr/>
        </p:nvSpPr>
        <p:spPr>
          <a:xfrm>
            <a:off x="4429658" y="1956816"/>
            <a:ext cx="3378098" cy="365760"/>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Pick one niche</a:t>
            </a:r>
          </a:p>
        </p:txBody>
      </p:sp>
      <p:sp>
        <p:nvSpPr>
          <p:cNvPr id="16" name="TextBox 15"/>
          <p:cNvSpPr txBox="1"/>
          <p:nvPr/>
        </p:nvSpPr>
        <p:spPr>
          <a:xfrm>
            <a:off x="4429658" y="2359152"/>
            <a:ext cx="3378098" cy="548640"/>
          </a:xfrm>
          <a:prstGeom prst="rect">
            <a:avLst/>
          </a:prstGeom>
          <a:noFill/>
        </p:spPr>
        <p:txBody>
          <a:bodyPr wrap="square" anchor="t" lIns="0" rIns="0" tIns="0" bIns="0">
            <a:normAutofit/>
          </a:bodyPr>
          <a:lstStyle/>
          <a:p>
            <a:pPr algn="l">
              <a:lnSpc>
                <a:spcPct val="115000"/>
              </a:lnSpc>
              <a:spcBef>
                <a:spcPts val="0"/>
              </a:spcBef>
            </a:pPr>
            <a:r>
              <a:rPr sz="950" b="0" i="0">
                <a:solidFill>
                  <a:srgbClr val="1B2B3C"/>
                </a:solidFill>
                <a:latin typeface="Calibri"/>
              </a:rPr>
              <a:t>Real estate, dental, law, HVAC. SMBs that need custom software but can't afford a developer.</a:t>
            </a:r>
          </a:p>
        </p:txBody>
      </p:sp>
      <p:sp>
        <p:nvSpPr>
          <p:cNvPr id="17" name="Rounded Rectangle 16"/>
          <p:cNvSpPr/>
          <p:nvPr/>
        </p:nvSpPr>
        <p:spPr>
          <a:xfrm>
            <a:off x="8036356" y="1554480"/>
            <a:ext cx="3606698" cy="141732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36356" y="1554480"/>
            <a:ext cx="73152" cy="141732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3516" y="1664208"/>
            <a:ext cx="292608" cy="292608"/>
          </a:xfrm>
          <a:prstGeom prst="rect">
            <a:avLst/>
          </a:prstGeom>
          <a:noFill/>
        </p:spPr>
        <p:txBody>
          <a:bodyPr wrap="square" anchor="t" lIns="0" rIns="0" tIns="0" bIns="0">
            <a:noAutofit/>
          </a:bodyPr>
          <a:lstStyle/>
          <a:p>
            <a:pPr algn="l">
              <a:lnSpc>
                <a:spcPct val="105000"/>
              </a:lnSpc>
              <a:spcBef>
                <a:spcPts val="0"/>
              </a:spcBef>
            </a:pPr>
            <a:r>
              <a:rPr sz="1600" b="1" i="0">
                <a:solidFill>
                  <a:srgbClr val="00C9A7"/>
                </a:solidFill>
                <a:latin typeface="Calibri"/>
              </a:rPr>
              <a:t>3</a:t>
            </a:r>
          </a:p>
        </p:txBody>
      </p:sp>
      <p:sp>
        <p:nvSpPr>
          <p:cNvPr id="20" name="TextBox 19"/>
          <p:cNvSpPr txBox="1"/>
          <p:nvPr/>
        </p:nvSpPr>
        <p:spPr>
          <a:xfrm>
            <a:off x="8173516" y="1956816"/>
            <a:ext cx="3378098" cy="365760"/>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Wrap it in their language</a:t>
            </a:r>
          </a:p>
        </p:txBody>
      </p:sp>
      <p:sp>
        <p:nvSpPr>
          <p:cNvPr id="21" name="TextBox 20"/>
          <p:cNvSpPr txBox="1"/>
          <p:nvPr/>
        </p:nvSpPr>
        <p:spPr>
          <a:xfrm>
            <a:off x="8173516" y="2359152"/>
            <a:ext cx="3378098" cy="548640"/>
          </a:xfrm>
          <a:prstGeom prst="rect">
            <a:avLst/>
          </a:prstGeom>
          <a:noFill/>
        </p:spPr>
        <p:txBody>
          <a:bodyPr wrap="square" anchor="t" lIns="0" rIns="0" tIns="0" bIns="0">
            <a:normAutofit/>
          </a:bodyPr>
          <a:lstStyle/>
          <a:p>
            <a:pPr algn="l">
              <a:lnSpc>
                <a:spcPct val="115000"/>
              </a:lnSpc>
              <a:spcBef>
                <a:spcPts val="0"/>
              </a:spcBef>
            </a:pPr>
            <a:r>
              <a:rPr sz="950" b="0" i="0">
                <a:solidFill>
                  <a:srgbClr val="1B2B3C"/>
                </a:solidFill>
                <a:latin typeface="Calibri"/>
              </a:rPr>
              <a:t>'Your AI engineering team for dental practices' — not 'OpenHands with 131 subagents'.</a:t>
            </a:r>
          </a:p>
        </p:txBody>
      </p:sp>
      <p:sp>
        <p:nvSpPr>
          <p:cNvPr id="22" name="Rounded Rectangle 21"/>
          <p:cNvSpPr/>
          <p:nvPr/>
        </p:nvSpPr>
        <p:spPr>
          <a:xfrm>
            <a:off x="548640" y="3081528"/>
            <a:ext cx="3606698" cy="141732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48640" y="3081528"/>
            <a:ext cx="73152" cy="141732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191256"/>
            <a:ext cx="292608" cy="292608"/>
          </a:xfrm>
          <a:prstGeom prst="rect">
            <a:avLst/>
          </a:prstGeom>
          <a:noFill/>
        </p:spPr>
        <p:txBody>
          <a:bodyPr wrap="square" anchor="t" lIns="0" rIns="0" tIns="0" bIns="0">
            <a:noAutofit/>
          </a:bodyPr>
          <a:lstStyle/>
          <a:p>
            <a:pPr algn="l">
              <a:lnSpc>
                <a:spcPct val="105000"/>
              </a:lnSpc>
              <a:spcBef>
                <a:spcPts val="0"/>
              </a:spcBef>
            </a:pPr>
            <a:r>
              <a:rPr sz="1600" b="1" i="0">
                <a:solidFill>
                  <a:srgbClr val="00C9A7"/>
                </a:solidFill>
                <a:latin typeface="Calibri"/>
              </a:rPr>
              <a:t>4</a:t>
            </a:r>
          </a:p>
        </p:txBody>
      </p:sp>
      <p:sp>
        <p:nvSpPr>
          <p:cNvPr id="25" name="TextBox 24"/>
          <p:cNvSpPr txBox="1"/>
          <p:nvPr/>
        </p:nvSpPr>
        <p:spPr>
          <a:xfrm>
            <a:off x="685800" y="3483864"/>
            <a:ext cx="3378098" cy="365760"/>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Install specialist subagents</a:t>
            </a:r>
          </a:p>
        </p:txBody>
      </p:sp>
      <p:sp>
        <p:nvSpPr>
          <p:cNvPr id="26" name="TextBox 25"/>
          <p:cNvSpPr txBox="1"/>
          <p:nvPr/>
        </p:nvSpPr>
        <p:spPr>
          <a:xfrm>
            <a:off x="685800" y="3886200"/>
            <a:ext cx="3378098" cy="548640"/>
          </a:xfrm>
          <a:prstGeom prst="rect">
            <a:avLst/>
          </a:prstGeom>
          <a:noFill/>
        </p:spPr>
        <p:txBody>
          <a:bodyPr wrap="square" anchor="t" lIns="0" rIns="0" tIns="0" bIns="0">
            <a:normAutofit/>
          </a:bodyPr>
          <a:lstStyle/>
          <a:p>
            <a:pPr algn="l">
              <a:lnSpc>
                <a:spcPct val="115000"/>
              </a:lnSpc>
              <a:spcBef>
                <a:spcPts val="0"/>
              </a:spcBef>
            </a:pPr>
            <a:r>
              <a:rPr sz="950" b="0" i="0">
                <a:solidFill>
                  <a:srgbClr val="1B2B3C"/>
                </a:solidFill>
                <a:latin typeface="Calibri"/>
              </a:rPr>
              <a:t>CRM-specialist for RE, HIPAA-auditor for healthcare, document-automation for law firms.</a:t>
            </a:r>
          </a:p>
        </p:txBody>
      </p:sp>
      <p:sp>
        <p:nvSpPr>
          <p:cNvPr id="27" name="Rounded Rectangle 26"/>
          <p:cNvSpPr/>
          <p:nvPr/>
        </p:nvSpPr>
        <p:spPr>
          <a:xfrm>
            <a:off x="4292498" y="3081528"/>
            <a:ext cx="3606698" cy="141732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292498" y="3081528"/>
            <a:ext cx="73152" cy="141732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29658" y="3191256"/>
            <a:ext cx="292608" cy="292608"/>
          </a:xfrm>
          <a:prstGeom prst="rect">
            <a:avLst/>
          </a:prstGeom>
          <a:noFill/>
        </p:spPr>
        <p:txBody>
          <a:bodyPr wrap="square" anchor="t" lIns="0" rIns="0" tIns="0" bIns="0">
            <a:noAutofit/>
          </a:bodyPr>
          <a:lstStyle/>
          <a:p>
            <a:pPr algn="l">
              <a:lnSpc>
                <a:spcPct val="105000"/>
              </a:lnSpc>
              <a:spcBef>
                <a:spcPts val="0"/>
              </a:spcBef>
            </a:pPr>
            <a:r>
              <a:rPr sz="1600" b="1" i="0">
                <a:solidFill>
                  <a:srgbClr val="00C9A7"/>
                </a:solidFill>
                <a:latin typeface="Calibri"/>
              </a:rPr>
              <a:t>5</a:t>
            </a:r>
          </a:p>
        </p:txBody>
      </p:sp>
      <p:sp>
        <p:nvSpPr>
          <p:cNvPr id="30" name="TextBox 29"/>
          <p:cNvSpPr txBox="1"/>
          <p:nvPr/>
        </p:nvSpPr>
        <p:spPr>
          <a:xfrm>
            <a:off x="4429658" y="3483864"/>
            <a:ext cx="3378098" cy="365760"/>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Plug in MCP servers</a:t>
            </a:r>
          </a:p>
        </p:txBody>
      </p:sp>
      <p:sp>
        <p:nvSpPr>
          <p:cNvPr id="31" name="TextBox 30"/>
          <p:cNvSpPr txBox="1"/>
          <p:nvPr/>
        </p:nvSpPr>
        <p:spPr>
          <a:xfrm>
            <a:off x="4429658" y="3886200"/>
            <a:ext cx="3378098" cy="548640"/>
          </a:xfrm>
          <a:prstGeom prst="rect">
            <a:avLst/>
          </a:prstGeom>
          <a:noFill/>
        </p:spPr>
        <p:txBody>
          <a:bodyPr wrap="square" anchor="t" lIns="0" rIns="0" tIns="0" bIns="0">
            <a:normAutofit/>
          </a:bodyPr>
          <a:lstStyle/>
          <a:p>
            <a:pPr algn="l">
              <a:lnSpc>
                <a:spcPct val="115000"/>
              </a:lnSpc>
              <a:spcBef>
                <a:spcPts val="0"/>
              </a:spcBef>
            </a:pPr>
            <a:r>
              <a:rPr sz="950" b="0" i="0">
                <a:solidFill>
                  <a:srgbClr val="1B2B3C"/>
                </a:solidFill>
                <a:latin typeface="Calibri"/>
              </a:rPr>
              <a:t>GitHub, Stripe, Twilio, Postgres, Calendly — your AI team ships, deploys, integrates, and notifies.</a:t>
            </a:r>
          </a:p>
        </p:txBody>
      </p:sp>
      <p:sp>
        <p:nvSpPr>
          <p:cNvPr id="32" name="Rounded Rectangle 31"/>
          <p:cNvSpPr/>
          <p:nvPr/>
        </p:nvSpPr>
        <p:spPr>
          <a:xfrm>
            <a:off x="8036356" y="3081528"/>
            <a:ext cx="3606698" cy="141732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036356" y="3081528"/>
            <a:ext cx="73152" cy="141732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3516" y="3191256"/>
            <a:ext cx="292608" cy="292608"/>
          </a:xfrm>
          <a:prstGeom prst="rect">
            <a:avLst/>
          </a:prstGeom>
          <a:noFill/>
        </p:spPr>
        <p:txBody>
          <a:bodyPr wrap="square" anchor="t" lIns="0" rIns="0" tIns="0" bIns="0">
            <a:noAutofit/>
          </a:bodyPr>
          <a:lstStyle/>
          <a:p>
            <a:pPr algn="l">
              <a:lnSpc>
                <a:spcPct val="105000"/>
              </a:lnSpc>
              <a:spcBef>
                <a:spcPts val="0"/>
              </a:spcBef>
            </a:pPr>
            <a:r>
              <a:rPr sz="1600" b="1" i="0">
                <a:solidFill>
                  <a:srgbClr val="00C9A7"/>
                </a:solidFill>
                <a:latin typeface="Calibri"/>
              </a:rPr>
              <a:t>6</a:t>
            </a:r>
          </a:p>
        </p:txBody>
      </p:sp>
      <p:sp>
        <p:nvSpPr>
          <p:cNvPr id="35" name="TextBox 34"/>
          <p:cNvSpPr txBox="1"/>
          <p:nvPr/>
        </p:nvSpPr>
        <p:spPr>
          <a:xfrm>
            <a:off x="8173516" y="3483864"/>
            <a:ext cx="3378098" cy="365760"/>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Charge $2K–$5K/month</a:t>
            </a:r>
          </a:p>
        </p:txBody>
      </p:sp>
      <p:sp>
        <p:nvSpPr>
          <p:cNvPr id="36" name="TextBox 35"/>
          <p:cNvSpPr txBox="1"/>
          <p:nvPr/>
        </p:nvSpPr>
        <p:spPr>
          <a:xfrm>
            <a:off x="8173516" y="3886200"/>
            <a:ext cx="3378098" cy="548640"/>
          </a:xfrm>
          <a:prstGeom prst="rect">
            <a:avLst/>
          </a:prstGeom>
          <a:noFill/>
        </p:spPr>
        <p:txBody>
          <a:bodyPr wrap="square" anchor="t" lIns="0" rIns="0" tIns="0" bIns="0">
            <a:normAutofit/>
          </a:bodyPr>
          <a:lstStyle/>
          <a:p>
            <a:pPr algn="l">
              <a:lnSpc>
                <a:spcPct val="115000"/>
              </a:lnSpc>
              <a:spcBef>
                <a:spcPts val="0"/>
              </a:spcBef>
            </a:pPr>
            <a:r>
              <a:rPr sz="950" b="0" i="0">
                <a:solidFill>
                  <a:srgbClr val="1B2B3C"/>
                </a:solidFill>
                <a:latin typeface="Calibri"/>
              </a:rPr>
              <a:t>Nothing vs. a $15K/mo dev shop or $25K/mo junior hire. You're 5× cheaper and never sleep.</a:t>
            </a:r>
          </a:p>
        </p:txBody>
      </p:sp>
      <p:sp>
        <p:nvSpPr>
          <p:cNvPr id="37" name="Rounded Rectangle 36"/>
          <p:cNvSpPr/>
          <p:nvPr/>
        </p:nvSpPr>
        <p:spPr>
          <a:xfrm>
            <a:off x="548640" y="4608576"/>
            <a:ext cx="3606698" cy="141732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48640" y="4608576"/>
            <a:ext cx="73152" cy="141732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4718304"/>
            <a:ext cx="292608" cy="292608"/>
          </a:xfrm>
          <a:prstGeom prst="rect">
            <a:avLst/>
          </a:prstGeom>
          <a:noFill/>
        </p:spPr>
        <p:txBody>
          <a:bodyPr wrap="square" anchor="t" lIns="0" rIns="0" tIns="0" bIns="0">
            <a:noAutofit/>
          </a:bodyPr>
          <a:lstStyle/>
          <a:p>
            <a:pPr algn="l">
              <a:lnSpc>
                <a:spcPct val="105000"/>
              </a:lnSpc>
              <a:spcBef>
                <a:spcPts val="0"/>
              </a:spcBef>
            </a:pPr>
            <a:r>
              <a:rPr sz="1600" b="1" i="0">
                <a:solidFill>
                  <a:srgbClr val="00C9A7"/>
                </a:solidFill>
                <a:latin typeface="Calibri"/>
              </a:rPr>
              <a:t>7</a:t>
            </a:r>
          </a:p>
        </p:txBody>
      </p:sp>
      <p:sp>
        <p:nvSpPr>
          <p:cNvPr id="40" name="TextBox 39"/>
          <p:cNvSpPr txBox="1"/>
          <p:nvPr/>
        </p:nvSpPr>
        <p:spPr>
          <a:xfrm>
            <a:off x="685800" y="5010912"/>
            <a:ext cx="3378098" cy="365760"/>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Build once, sell many</a:t>
            </a:r>
          </a:p>
        </p:txBody>
      </p:sp>
      <p:sp>
        <p:nvSpPr>
          <p:cNvPr id="41" name="TextBox 40"/>
          <p:cNvSpPr txBox="1"/>
          <p:nvPr/>
        </p:nvSpPr>
        <p:spPr>
          <a:xfrm>
            <a:off x="685800" y="5413248"/>
            <a:ext cx="3378098" cy="548640"/>
          </a:xfrm>
          <a:prstGeom prst="rect">
            <a:avLst/>
          </a:prstGeom>
          <a:noFill/>
        </p:spPr>
        <p:txBody>
          <a:bodyPr wrap="square" anchor="t" lIns="0" rIns="0" tIns="0" bIns="0">
            <a:normAutofit/>
          </a:bodyPr>
          <a:lstStyle/>
          <a:p>
            <a:pPr algn="l">
              <a:lnSpc>
                <a:spcPct val="115000"/>
              </a:lnSpc>
              <a:spcBef>
                <a:spcPts val="0"/>
              </a:spcBef>
            </a:pPr>
            <a:r>
              <a:rPr sz="950" b="0" i="0">
                <a:solidFill>
                  <a:srgbClr val="1B2B3C"/>
                </a:solidFill>
                <a:latin typeface="Calibri"/>
              </a:rPr>
              <a:t>One landing page. One onboarding call. Record the AGENTS.md setup once. The rest is supervision.</a:t>
            </a:r>
          </a:p>
        </p:txBody>
      </p:sp>
      <p:sp>
        <p:nvSpPr>
          <p:cNvPr id="42" name="Rounded Rectangle 41"/>
          <p:cNvSpPr/>
          <p:nvPr/>
        </p:nvSpPr>
        <p:spPr>
          <a:xfrm>
            <a:off x="4292498" y="4608576"/>
            <a:ext cx="3606698" cy="141732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292498" y="4608576"/>
            <a:ext cx="73152" cy="141732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29658" y="4718304"/>
            <a:ext cx="292608" cy="292608"/>
          </a:xfrm>
          <a:prstGeom prst="rect">
            <a:avLst/>
          </a:prstGeom>
          <a:noFill/>
        </p:spPr>
        <p:txBody>
          <a:bodyPr wrap="square" anchor="t" lIns="0" rIns="0" tIns="0" bIns="0">
            <a:noAutofit/>
          </a:bodyPr>
          <a:lstStyle/>
          <a:p>
            <a:pPr algn="l">
              <a:lnSpc>
                <a:spcPct val="105000"/>
              </a:lnSpc>
              <a:spcBef>
                <a:spcPts val="0"/>
              </a:spcBef>
            </a:pPr>
            <a:r>
              <a:rPr sz="1600" b="1" i="0">
                <a:solidFill>
                  <a:srgbClr val="00C9A7"/>
                </a:solidFill>
                <a:latin typeface="Calibri"/>
              </a:rPr>
              <a:t>8</a:t>
            </a:r>
          </a:p>
        </p:txBody>
      </p:sp>
      <p:sp>
        <p:nvSpPr>
          <p:cNvPr id="45" name="TextBox 44"/>
          <p:cNvSpPr txBox="1"/>
          <p:nvPr/>
        </p:nvSpPr>
        <p:spPr>
          <a:xfrm>
            <a:off x="4429658" y="5010912"/>
            <a:ext cx="3378098" cy="365760"/>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Become 'the AI team for [niche]'</a:t>
            </a:r>
          </a:p>
        </p:txBody>
      </p:sp>
      <p:sp>
        <p:nvSpPr>
          <p:cNvPr id="46" name="TextBox 45"/>
          <p:cNvSpPr txBox="1"/>
          <p:nvPr/>
        </p:nvSpPr>
        <p:spPr>
          <a:xfrm>
            <a:off x="4429658" y="5413248"/>
            <a:ext cx="3378098" cy="548640"/>
          </a:xfrm>
          <a:prstGeom prst="rect">
            <a:avLst/>
          </a:prstGeom>
          <a:noFill/>
        </p:spPr>
        <p:txBody>
          <a:bodyPr wrap="square" anchor="t" lIns="0" rIns="0" tIns="0" bIns="0">
            <a:normAutofit/>
          </a:bodyPr>
          <a:lstStyle/>
          <a:p>
            <a:pPr algn="l">
              <a:lnSpc>
                <a:spcPct val="115000"/>
              </a:lnSpc>
              <a:spcBef>
                <a:spcPts val="0"/>
              </a:spcBef>
            </a:pPr>
            <a:r>
              <a:rPr sz="950" b="0" i="0">
                <a:solidFill>
                  <a:srgbClr val="1B2B3C"/>
                </a:solidFill>
                <a:latin typeface="Calibri"/>
              </a:rPr>
              <a:t>Share what your agents shipped this week on X, LinkedIn, YouTube. Case studies sell themselves.</a:t>
            </a:r>
          </a:p>
        </p:txBody>
      </p:sp>
      <p:sp>
        <p:nvSpPr>
          <p:cNvPr id="47" name="Rounded Rectangle 46"/>
          <p:cNvSpPr/>
          <p:nvPr/>
        </p:nvSpPr>
        <p:spPr>
          <a:xfrm>
            <a:off x="8036356" y="4608576"/>
            <a:ext cx="3606698" cy="1417320"/>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036356" y="4608576"/>
            <a:ext cx="73152" cy="1417320"/>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173516" y="4718304"/>
            <a:ext cx="292608" cy="292608"/>
          </a:xfrm>
          <a:prstGeom prst="rect">
            <a:avLst/>
          </a:prstGeom>
          <a:noFill/>
        </p:spPr>
        <p:txBody>
          <a:bodyPr wrap="square" anchor="t" lIns="0" rIns="0" tIns="0" bIns="0">
            <a:noAutofit/>
          </a:bodyPr>
          <a:lstStyle/>
          <a:p>
            <a:pPr algn="l">
              <a:lnSpc>
                <a:spcPct val="105000"/>
              </a:lnSpc>
              <a:spcBef>
                <a:spcPts val="0"/>
              </a:spcBef>
            </a:pPr>
            <a:r>
              <a:rPr sz="1600" b="1" i="0">
                <a:solidFill>
                  <a:srgbClr val="00C9A7"/>
                </a:solidFill>
                <a:latin typeface="Calibri"/>
              </a:rPr>
              <a:t>9</a:t>
            </a:r>
          </a:p>
        </p:txBody>
      </p:sp>
      <p:sp>
        <p:nvSpPr>
          <p:cNvPr id="50" name="TextBox 49"/>
          <p:cNvSpPr txBox="1"/>
          <p:nvPr/>
        </p:nvSpPr>
        <p:spPr>
          <a:xfrm>
            <a:off x="8173516" y="5010912"/>
            <a:ext cx="3378098" cy="365760"/>
          </a:xfrm>
          <a:prstGeom prst="rect">
            <a:avLst/>
          </a:prstGeom>
          <a:noFill/>
        </p:spPr>
        <p:txBody>
          <a:bodyPr wrap="square" anchor="t" lIns="0" rIns="0" tIns="0" bIns="0">
            <a:normAutofit/>
          </a:bodyPr>
          <a:lstStyle/>
          <a:p>
            <a:pPr algn="l">
              <a:lnSpc>
                <a:spcPct val="105000"/>
              </a:lnSpc>
              <a:spcBef>
                <a:spcPts val="0"/>
              </a:spcBef>
            </a:pPr>
            <a:r>
              <a:rPr sz="1100" b="1" i="0">
                <a:solidFill>
                  <a:srgbClr val="0A1628"/>
                </a:solidFill>
                <a:latin typeface="Calibri"/>
              </a:rPr>
              <a:t>Reinvest in vertical-specific agents</a:t>
            </a:r>
          </a:p>
        </p:txBody>
      </p:sp>
      <p:sp>
        <p:nvSpPr>
          <p:cNvPr id="51" name="TextBox 50"/>
          <p:cNvSpPr txBox="1"/>
          <p:nvPr/>
        </p:nvSpPr>
        <p:spPr>
          <a:xfrm>
            <a:off x="8173516" y="5413248"/>
            <a:ext cx="3378098" cy="548640"/>
          </a:xfrm>
          <a:prstGeom prst="rect">
            <a:avLst/>
          </a:prstGeom>
          <a:noFill/>
        </p:spPr>
        <p:txBody>
          <a:bodyPr wrap="square" anchor="t" lIns="0" rIns="0" tIns="0" bIns="0">
            <a:normAutofit/>
          </a:bodyPr>
          <a:lstStyle/>
          <a:p>
            <a:pPr algn="l">
              <a:lnSpc>
                <a:spcPct val="115000"/>
              </a:lnSpc>
              <a:spcBef>
                <a:spcPts val="0"/>
              </a:spcBef>
            </a:pPr>
            <a:r>
              <a:rPr sz="950" b="0" i="0">
                <a:solidFill>
                  <a:srgbClr val="1B2B3C"/>
                </a:solidFill>
                <a:latin typeface="Calibri"/>
              </a:rPr>
              <a:t>Patient-intake-automator for dental. Lease-document-generator for RE. You own the vertical.</a:t>
            </a:r>
          </a:p>
        </p:txBody>
      </p:sp>
      <p:sp>
        <p:nvSpPr>
          <p:cNvPr id="52" name="TextBox 5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53" name="TextBox 5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 /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Why Now — The Market Is Ready</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Last 30 days signals from Reddit, HN, GitHub, and web sources</a:t>
            </a:r>
          </a:p>
        </p:txBody>
      </p:sp>
      <p:sp>
        <p:nvSpPr>
          <p:cNvPr id="7" name="Rounded Rectangle 6"/>
          <p:cNvSpPr/>
          <p:nvPr/>
        </p:nvSpPr>
        <p:spPr>
          <a:xfrm>
            <a:off x="548640" y="1691640"/>
            <a:ext cx="3576218" cy="192024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47672"/>
            <a:ext cx="3301898" cy="749808"/>
          </a:xfrm>
          <a:prstGeom prst="rect">
            <a:avLst/>
          </a:prstGeom>
          <a:noFill/>
        </p:spPr>
        <p:txBody>
          <a:bodyPr wrap="square" anchor="t" lIns="0" rIns="0" tIns="0" bIns="0">
            <a:normAutofit/>
          </a:bodyPr>
          <a:lstStyle/>
          <a:p>
            <a:pPr algn="l">
              <a:lnSpc>
                <a:spcPct val="105000"/>
              </a:lnSpc>
              <a:spcBef>
                <a:spcPts val="0"/>
              </a:spcBef>
            </a:pPr>
            <a:r>
              <a:rPr sz="3800" b="1" i="0">
                <a:solidFill>
                  <a:srgbClr val="FFB800"/>
                </a:solidFill>
                <a:latin typeface="Calibri"/>
              </a:rPr>
              <a:t>77K</a:t>
            </a:r>
          </a:p>
        </p:txBody>
      </p:sp>
      <p:sp>
        <p:nvSpPr>
          <p:cNvPr id="9" name="TextBox 8"/>
          <p:cNvSpPr txBox="1"/>
          <p:nvPr/>
        </p:nvSpPr>
        <p:spPr>
          <a:xfrm>
            <a:off x="731520" y="2715768"/>
            <a:ext cx="3301898" cy="457200"/>
          </a:xfrm>
          <a:prstGeom prst="rect">
            <a:avLst/>
          </a:prstGeom>
          <a:noFill/>
        </p:spPr>
        <p:txBody>
          <a:bodyPr wrap="square" anchor="t" lIns="0" rIns="0" tIns="0" bIns="0">
            <a:normAutofit/>
          </a:bodyPr>
          <a:lstStyle/>
          <a:p>
            <a:pPr algn="l">
              <a:lnSpc>
                <a:spcPct val="105000"/>
              </a:lnSpc>
              <a:spcBef>
                <a:spcPts val="0"/>
              </a:spcBef>
            </a:pPr>
            <a:r>
              <a:rPr sz="1200" b="1" i="0">
                <a:solidFill>
                  <a:srgbClr val="FFFFFF"/>
                </a:solidFill>
                <a:latin typeface="Calibri"/>
              </a:rPr>
              <a:t>OpenHands GitHub Stars</a:t>
            </a:r>
          </a:p>
        </p:txBody>
      </p:sp>
      <p:sp>
        <p:nvSpPr>
          <p:cNvPr id="10" name="TextBox 9"/>
          <p:cNvSpPr txBox="1"/>
          <p:nvPr/>
        </p:nvSpPr>
        <p:spPr>
          <a:xfrm>
            <a:off x="731520" y="3191256"/>
            <a:ext cx="3301898" cy="365760"/>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Jun 2026 (up from 75K in Apr)</a:t>
            </a:r>
          </a:p>
        </p:txBody>
      </p:sp>
      <p:sp>
        <p:nvSpPr>
          <p:cNvPr id="11" name="Rounded Rectangle 10"/>
          <p:cNvSpPr/>
          <p:nvPr/>
        </p:nvSpPr>
        <p:spPr>
          <a:xfrm>
            <a:off x="4307738" y="1691640"/>
            <a:ext cx="3576218" cy="192024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0618" y="1947672"/>
            <a:ext cx="3301898" cy="749808"/>
          </a:xfrm>
          <a:prstGeom prst="rect">
            <a:avLst/>
          </a:prstGeom>
          <a:noFill/>
        </p:spPr>
        <p:txBody>
          <a:bodyPr wrap="square" anchor="t" lIns="0" rIns="0" tIns="0" bIns="0">
            <a:normAutofit/>
          </a:bodyPr>
          <a:lstStyle/>
          <a:p>
            <a:pPr algn="l">
              <a:lnSpc>
                <a:spcPct val="105000"/>
              </a:lnSpc>
              <a:spcBef>
                <a:spcPts val="0"/>
              </a:spcBef>
            </a:pPr>
            <a:r>
              <a:rPr sz="3800" b="1" i="0">
                <a:solidFill>
                  <a:srgbClr val="FFB800"/>
                </a:solidFill>
                <a:latin typeface="Calibri"/>
              </a:rPr>
              <a:t>131</a:t>
            </a:r>
          </a:p>
        </p:txBody>
      </p:sp>
      <p:sp>
        <p:nvSpPr>
          <p:cNvPr id="13" name="TextBox 12"/>
          <p:cNvSpPr txBox="1"/>
          <p:nvPr/>
        </p:nvSpPr>
        <p:spPr>
          <a:xfrm>
            <a:off x="4490618" y="2715768"/>
            <a:ext cx="3301898" cy="457200"/>
          </a:xfrm>
          <a:prstGeom prst="rect">
            <a:avLst/>
          </a:prstGeom>
          <a:noFill/>
        </p:spPr>
        <p:txBody>
          <a:bodyPr wrap="square" anchor="t" lIns="0" rIns="0" tIns="0" bIns="0">
            <a:normAutofit/>
          </a:bodyPr>
          <a:lstStyle/>
          <a:p>
            <a:pPr algn="l">
              <a:lnSpc>
                <a:spcPct val="105000"/>
              </a:lnSpc>
              <a:spcBef>
                <a:spcPts val="0"/>
              </a:spcBef>
            </a:pPr>
            <a:r>
              <a:rPr sz="1200" b="1" i="0">
                <a:solidFill>
                  <a:srgbClr val="FFFFFF"/>
                </a:solidFill>
                <a:latin typeface="Calibri"/>
              </a:rPr>
              <a:t>Free Specialist Subagents</a:t>
            </a:r>
          </a:p>
        </p:txBody>
      </p:sp>
      <p:sp>
        <p:nvSpPr>
          <p:cNvPr id="14" name="TextBox 13"/>
          <p:cNvSpPr txBox="1"/>
          <p:nvPr/>
        </p:nvSpPr>
        <p:spPr>
          <a:xfrm>
            <a:off x="4490618" y="3191256"/>
            <a:ext cx="3301898" cy="365760"/>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VoltAgent marketplace — CRM, HIPAA, legal, e-comm</a:t>
            </a:r>
          </a:p>
        </p:txBody>
      </p:sp>
      <p:sp>
        <p:nvSpPr>
          <p:cNvPr id="15" name="Rounded Rectangle 14"/>
          <p:cNvSpPr/>
          <p:nvPr/>
        </p:nvSpPr>
        <p:spPr>
          <a:xfrm>
            <a:off x="8066836" y="1691640"/>
            <a:ext cx="3576218" cy="192024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9716" y="1947672"/>
            <a:ext cx="3301898" cy="749808"/>
          </a:xfrm>
          <a:prstGeom prst="rect">
            <a:avLst/>
          </a:prstGeom>
          <a:noFill/>
        </p:spPr>
        <p:txBody>
          <a:bodyPr wrap="square" anchor="t" lIns="0" rIns="0" tIns="0" bIns="0">
            <a:normAutofit/>
          </a:bodyPr>
          <a:lstStyle/>
          <a:p>
            <a:pPr algn="l">
              <a:lnSpc>
                <a:spcPct val="105000"/>
              </a:lnSpc>
              <a:spcBef>
                <a:spcPts val="0"/>
              </a:spcBef>
            </a:pPr>
            <a:r>
              <a:rPr sz="3800" b="1" i="0">
                <a:solidFill>
                  <a:srgbClr val="FFB800"/>
                </a:solidFill>
                <a:latin typeface="Calibri"/>
              </a:rPr>
              <a:t>14,000+</a:t>
            </a:r>
          </a:p>
        </p:txBody>
      </p:sp>
      <p:sp>
        <p:nvSpPr>
          <p:cNvPr id="17" name="TextBox 16"/>
          <p:cNvSpPr txBox="1"/>
          <p:nvPr/>
        </p:nvSpPr>
        <p:spPr>
          <a:xfrm>
            <a:off x="8249716" y="2715768"/>
            <a:ext cx="3301898" cy="457200"/>
          </a:xfrm>
          <a:prstGeom prst="rect">
            <a:avLst/>
          </a:prstGeom>
          <a:noFill/>
        </p:spPr>
        <p:txBody>
          <a:bodyPr wrap="square" anchor="t" lIns="0" rIns="0" tIns="0" bIns="0">
            <a:normAutofit/>
          </a:bodyPr>
          <a:lstStyle/>
          <a:p>
            <a:pPr algn="l">
              <a:lnSpc>
                <a:spcPct val="105000"/>
              </a:lnSpc>
              <a:spcBef>
                <a:spcPts val="0"/>
              </a:spcBef>
            </a:pPr>
            <a:r>
              <a:rPr sz="1200" b="1" i="0">
                <a:solidFill>
                  <a:srgbClr val="FFFFFF"/>
                </a:solidFill>
                <a:latin typeface="Calibri"/>
              </a:rPr>
              <a:t>MCP Server Integrations</a:t>
            </a:r>
          </a:p>
        </p:txBody>
      </p:sp>
      <p:sp>
        <p:nvSpPr>
          <p:cNvPr id="18" name="TextBox 17"/>
          <p:cNvSpPr txBox="1"/>
          <p:nvPr/>
        </p:nvSpPr>
        <p:spPr>
          <a:xfrm>
            <a:off x="8249716" y="3191256"/>
            <a:ext cx="3301898" cy="365760"/>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GitHub, Stripe, Twilio, Calendly, Postgres, more</a:t>
            </a:r>
          </a:p>
        </p:txBody>
      </p:sp>
      <p:sp>
        <p:nvSpPr>
          <p:cNvPr id="19" name="Rounded Rectangle 18"/>
          <p:cNvSpPr/>
          <p:nvPr/>
        </p:nvSpPr>
        <p:spPr>
          <a:xfrm>
            <a:off x="548640" y="3840480"/>
            <a:ext cx="3576218" cy="192024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096512"/>
            <a:ext cx="3301898" cy="749808"/>
          </a:xfrm>
          <a:prstGeom prst="rect">
            <a:avLst/>
          </a:prstGeom>
          <a:noFill/>
        </p:spPr>
        <p:txBody>
          <a:bodyPr wrap="square" anchor="t" lIns="0" rIns="0" tIns="0" bIns="0">
            <a:normAutofit/>
          </a:bodyPr>
          <a:lstStyle/>
          <a:p>
            <a:pPr algn="l">
              <a:lnSpc>
                <a:spcPct val="105000"/>
              </a:lnSpc>
              <a:spcBef>
                <a:spcPts val="0"/>
              </a:spcBef>
            </a:pPr>
            <a:r>
              <a:rPr sz="3800" b="1" i="0">
                <a:solidFill>
                  <a:srgbClr val="FFB800"/>
                </a:solidFill>
                <a:latin typeface="Calibri"/>
              </a:rPr>
              <a:t>58%</a:t>
            </a:r>
          </a:p>
        </p:txBody>
      </p:sp>
      <p:sp>
        <p:nvSpPr>
          <p:cNvPr id="21" name="TextBox 20"/>
          <p:cNvSpPr txBox="1"/>
          <p:nvPr/>
        </p:nvSpPr>
        <p:spPr>
          <a:xfrm>
            <a:off x="731520" y="4864608"/>
            <a:ext cx="3301898" cy="457200"/>
          </a:xfrm>
          <a:prstGeom prst="rect">
            <a:avLst/>
          </a:prstGeom>
          <a:noFill/>
        </p:spPr>
        <p:txBody>
          <a:bodyPr wrap="square" anchor="t" lIns="0" rIns="0" tIns="0" bIns="0">
            <a:normAutofit/>
          </a:bodyPr>
          <a:lstStyle/>
          <a:p>
            <a:pPr algn="l">
              <a:lnSpc>
                <a:spcPct val="105000"/>
              </a:lnSpc>
              <a:spcBef>
                <a:spcPts val="0"/>
              </a:spcBef>
            </a:pPr>
            <a:r>
              <a:rPr sz="1200" b="1" i="0">
                <a:solidFill>
                  <a:srgbClr val="FFFFFF"/>
                </a:solidFill>
                <a:latin typeface="Calibri"/>
              </a:rPr>
              <a:t>SMBs Using AI Daily</a:t>
            </a:r>
          </a:p>
        </p:txBody>
      </p:sp>
      <p:sp>
        <p:nvSpPr>
          <p:cNvPr id="22" name="TextBox 21"/>
          <p:cNvSpPr txBox="1"/>
          <p:nvPr/>
        </p:nvSpPr>
        <p:spPr>
          <a:xfrm>
            <a:off x="731520" y="5340096"/>
            <a:ext cx="3301898" cy="365760"/>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Thryv 2026 survey; 58% save 20+ hrs/month</a:t>
            </a:r>
          </a:p>
        </p:txBody>
      </p:sp>
      <p:sp>
        <p:nvSpPr>
          <p:cNvPr id="23" name="Rounded Rectangle 22"/>
          <p:cNvSpPr/>
          <p:nvPr/>
        </p:nvSpPr>
        <p:spPr>
          <a:xfrm>
            <a:off x="4307738" y="3840480"/>
            <a:ext cx="3576218" cy="192024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0618" y="4096512"/>
            <a:ext cx="3301898" cy="749808"/>
          </a:xfrm>
          <a:prstGeom prst="rect">
            <a:avLst/>
          </a:prstGeom>
          <a:noFill/>
        </p:spPr>
        <p:txBody>
          <a:bodyPr wrap="square" anchor="t" lIns="0" rIns="0" tIns="0" bIns="0">
            <a:normAutofit/>
          </a:bodyPr>
          <a:lstStyle/>
          <a:p>
            <a:pPr algn="l">
              <a:lnSpc>
                <a:spcPct val="105000"/>
              </a:lnSpc>
              <a:spcBef>
                <a:spcPts val="0"/>
              </a:spcBef>
            </a:pPr>
            <a:r>
              <a:rPr sz="3800" b="1" i="0">
                <a:solidFill>
                  <a:srgbClr val="FFB800"/>
                </a:solidFill>
                <a:latin typeface="Calibri"/>
              </a:rPr>
              <a:t>$2K–$5K</a:t>
            </a:r>
          </a:p>
        </p:txBody>
      </p:sp>
      <p:sp>
        <p:nvSpPr>
          <p:cNvPr id="25" name="TextBox 24"/>
          <p:cNvSpPr txBox="1"/>
          <p:nvPr/>
        </p:nvSpPr>
        <p:spPr>
          <a:xfrm>
            <a:off x="4490618" y="4864608"/>
            <a:ext cx="3301898" cy="457200"/>
          </a:xfrm>
          <a:prstGeom prst="rect">
            <a:avLst/>
          </a:prstGeom>
          <a:noFill/>
        </p:spPr>
        <p:txBody>
          <a:bodyPr wrap="square" anchor="t" lIns="0" rIns="0" tIns="0" bIns="0">
            <a:normAutofit/>
          </a:bodyPr>
          <a:lstStyle/>
          <a:p>
            <a:pPr algn="l">
              <a:lnSpc>
                <a:spcPct val="105000"/>
              </a:lnSpc>
              <a:spcBef>
                <a:spcPts val="0"/>
              </a:spcBef>
            </a:pPr>
            <a:r>
              <a:rPr sz="1200" b="1" i="0">
                <a:solidFill>
                  <a:srgbClr val="FFFFFF"/>
                </a:solidFill>
                <a:latin typeface="Calibri"/>
              </a:rPr>
              <a:t>Validated Price Point</a:t>
            </a:r>
          </a:p>
        </p:txBody>
      </p:sp>
      <p:sp>
        <p:nvSpPr>
          <p:cNvPr id="26" name="TextBox 25"/>
          <p:cNvSpPr txBox="1"/>
          <p:nvPr/>
        </p:nvSpPr>
        <p:spPr>
          <a:xfrm>
            <a:off x="4490618" y="5340096"/>
            <a:ext cx="3301898" cy="365760"/>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SMBs already pay $1.5K–$5K for single custom agents</a:t>
            </a:r>
          </a:p>
        </p:txBody>
      </p:sp>
      <p:sp>
        <p:nvSpPr>
          <p:cNvPr id="27" name="Rounded Rectangle 26"/>
          <p:cNvSpPr/>
          <p:nvPr/>
        </p:nvSpPr>
        <p:spPr>
          <a:xfrm>
            <a:off x="8066836" y="3840480"/>
            <a:ext cx="3576218" cy="192024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49716" y="4096512"/>
            <a:ext cx="3301898" cy="749808"/>
          </a:xfrm>
          <a:prstGeom prst="rect">
            <a:avLst/>
          </a:prstGeom>
          <a:noFill/>
        </p:spPr>
        <p:txBody>
          <a:bodyPr wrap="square" anchor="t" lIns="0" rIns="0" tIns="0" bIns="0">
            <a:normAutofit/>
          </a:bodyPr>
          <a:lstStyle/>
          <a:p>
            <a:pPr algn="l">
              <a:lnSpc>
                <a:spcPct val="105000"/>
              </a:lnSpc>
              <a:spcBef>
                <a:spcPts val="0"/>
              </a:spcBef>
            </a:pPr>
            <a:r>
              <a:rPr sz="3800" b="1" i="0">
                <a:solidFill>
                  <a:srgbClr val="FFB800"/>
                </a:solidFill>
                <a:latin typeface="Calibri"/>
              </a:rPr>
              <a:t>$0</a:t>
            </a:r>
          </a:p>
        </p:txBody>
      </p:sp>
      <p:sp>
        <p:nvSpPr>
          <p:cNvPr id="29" name="TextBox 28"/>
          <p:cNvSpPr txBox="1"/>
          <p:nvPr/>
        </p:nvSpPr>
        <p:spPr>
          <a:xfrm>
            <a:off x="8249716" y="4864608"/>
            <a:ext cx="3301898" cy="457200"/>
          </a:xfrm>
          <a:prstGeom prst="rect">
            <a:avLst/>
          </a:prstGeom>
          <a:noFill/>
        </p:spPr>
        <p:txBody>
          <a:bodyPr wrap="square" anchor="t" lIns="0" rIns="0" tIns="0" bIns="0">
            <a:normAutofit/>
          </a:bodyPr>
          <a:lstStyle/>
          <a:p>
            <a:pPr algn="l">
              <a:lnSpc>
                <a:spcPct val="105000"/>
              </a:lnSpc>
              <a:spcBef>
                <a:spcPts val="0"/>
              </a:spcBef>
            </a:pPr>
            <a:r>
              <a:rPr sz="1200" b="1" i="0">
                <a:solidFill>
                  <a:srgbClr val="FFFFFF"/>
                </a:solidFill>
                <a:latin typeface="Calibri"/>
              </a:rPr>
              <a:t>Runtime Cost</a:t>
            </a:r>
          </a:p>
        </p:txBody>
      </p:sp>
      <p:sp>
        <p:nvSpPr>
          <p:cNvPr id="30" name="TextBox 29"/>
          <p:cNvSpPr txBox="1"/>
          <p:nvPr/>
        </p:nvSpPr>
        <p:spPr>
          <a:xfrm>
            <a:off x="8249716" y="5340096"/>
            <a:ext cx="3301898" cy="365760"/>
          </a:xfrm>
          <a:prstGeom prst="rect">
            <a:avLst/>
          </a:prstGeom>
          <a:noFill/>
        </p:spPr>
        <p:txBody>
          <a:bodyPr wrap="square" anchor="t" lIns="0" rIns="0" tIns="0" bIns="0">
            <a:normAutofit/>
          </a:bodyPr>
          <a:lstStyle/>
          <a:p>
            <a:pPr algn="l">
              <a:lnSpc>
                <a:spcPct val="105000"/>
              </a:lnSpc>
              <a:spcBef>
                <a:spcPts val="0"/>
              </a:spcBef>
            </a:pPr>
            <a:r>
              <a:rPr sz="950" b="0" i="0">
                <a:solidFill>
                  <a:srgbClr val="E0F7F1"/>
                </a:solidFill>
                <a:latin typeface="Calibri"/>
              </a:rPr>
              <a:t>Self-host on $20/mo VPS; no per-seat AI license</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 /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Vertical Priority Scorecard — Start With Real Estate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7-dimension score across 8 SMB niches · GO = 30–35 · CONDITIONAL = 24–29</a:t>
            </a:r>
          </a:p>
        </p:txBody>
      </p:sp>
      <p:sp>
        <p:nvSpPr>
          <p:cNvPr id="7" name="TextBox 6"/>
          <p:cNvSpPr txBox="1"/>
          <p:nvPr/>
        </p:nvSpPr>
        <p:spPr>
          <a:xfrm>
            <a:off x="548640" y="1673352"/>
            <a:ext cx="2286000" cy="45720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Real Estate</a:t>
            </a:r>
          </a:p>
        </p:txBody>
      </p:sp>
      <p:sp>
        <p:nvSpPr>
          <p:cNvPr id="8" name="Rectangle 7"/>
          <p:cNvSpPr/>
          <p:nvPr/>
        </p:nvSpPr>
        <p:spPr>
          <a:xfrm>
            <a:off x="2926080" y="1673352"/>
            <a:ext cx="6858000" cy="402336"/>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26080" y="1673352"/>
            <a:ext cx="6466114" cy="402336"/>
          </a:xfrm>
          <a:prstGeom prst="roundRect">
            <a:avLst>
              <a:gd name="adj" fmla="val 2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1922" y="1691640"/>
            <a:ext cx="731520" cy="402336"/>
          </a:xfrm>
          <a:prstGeom prst="rect">
            <a:avLst/>
          </a:prstGeom>
          <a:noFill/>
        </p:spPr>
        <p:txBody>
          <a:bodyPr wrap="square" anchor="t" lIns="0" rIns="0" tIns="0" bIns="0">
            <a:noAutofit/>
          </a:bodyPr>
          <a:lstStyle/>
          <a:p>
            <a:pPr algn="l">
              <a:lnSpc>
                <a:spcPct val="105000"/>
              </a:lnSpc>
              <a:spcBef>
                <a:spcPts val="0"/>
              </a:spcBef>
            </a:pPr>
            <a:r>
              <a:rPr sz="1100" b="1" i="0">
                <a:solidFill>
                  <a:srgbClr val="1B2B3C"/>
                </a:solidFill>
                <a:latin typeface="Calibri"/>
              </a:rPr>
              <a:t>33/35</a:t>
            </a:r>
          </a:p>
        </p:txBody>
      </p:sp>
      <p:sp>
        <p:nvSpPr>
          <p:cNvPr id="11" name="Rounded Rectangle 10"/>
          <p:cNvSpPr/>
          <p:nvPr/>
        </p:nvSpPr>
        <p:spPr>
          <a:xfrm>
            <a:off x="10698480" y="1691640"/>
            <a:ext cx="1188720" cy="292608"/>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0" y="1700784"/>
            <a:ext cx="1188720" cy="274320"/>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GO</a:t>
            </a:r>
          </a:p>
        </p:txBody>
      </p:sp>
      <p:sp>
        <p:nvSpPr>
          <p:cNvPr id="13" name="TextBox 12"/>
          <p:cNvSpPr txBox="1"/>
          <p:nvPr/>
        </p:nvSpPr>
        <p:spPr>
          <a:xfrm>
            <a:off x="548640" y="2240280"/>
            <a:ext cx="2286000" cy="457200"/>
          </a:xfrm>
          <a:prstGeom prst="rect">
            <a:avLst/>
          </a:prstGeom>
          <a:noFill/>
        </p:spPr>
        <p:txBody>
          <a:bodyPr wrap="square" anchor="t" lIns="0" rIns="0" tIns="0" bIns="0">
            <a:noAutofit/>
          </a:bodyPr>
          <a:lstStyle/>
          <a:p>
            <a:pPr algn="l">
              <a:lnSpc>
                <a:spcPct val="105000"/>
              </a:lnSpc>
              <a:spcBef>
                <a:spcPts val="0"/>
              </a:spcBef>
            </a:pPr>
            <a:r>
              <a:rPr sz="1150" b="0" i="0">
                <a:solidFill>
                  <a:srgbClr val="0A1628"/>
                </a:solidFill>
                <a:latin typeface="Calibri"/>
              </a:rPr>
              <a:t>E-Commerce</a:t>
            </a:r>
          </a:p>
        </p:txBody>
      </p:sp>
      <p:sp>
        <p:nvSpPr>
          <p:cNvPr id="14" name="Rectangle 13"/>
          <p:cNvSpPr/>
          <p:nvPr/>
        </p:nvSpPr>
        <p:spPr>
          <a:xfrm>
            <a:off x="2926080" y="2240280"/>
            <a:ext cx="6858000" cy="402336"/>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926080" y="2240280"/>
            <a:ext cx="5682342" cy="402336"/>
          </a:xfrm>
          <a:prstGeom prst="roundRect">
            <a:avLst>
              <a:gd name="adj" fmla="val 2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18150" y="2258568"/>
            <a:ext cx="731520" cy="402336"/>
          </a:xfrm>
          <a:prstGeom prst="rect">
            <a:avLst/>
          </a:prstGeom>
          <a:noFill/>
        </p:spPr>
        <p:txBody>
          <a:bodyPr wrap="square" anchor="t" lIns="0" rIns="0" tIns="0" bIns="0">
            <a:noAutofit/>
          </a:bodyPr>
          <a:lstStyle/>
          <a:p>
            <a:pPr algn="l">
              <a:lnSpc>
                <a:spcPct val="105000"/>
              </a:lnSpc>
              <a:spcBef>
                <a:spcPts val="0"/>
              </a:spcBef>
            </a:pPr>
            <a:r>
              <a:rPr sz="1100" b="1" i="0">
                <a:solidFill>
                  <a:srgbClr val="1B2B3C"/>
                </a:solidFill>
                <a:latin typeface="Calibri"/>
              </a:rPr>
              <a:t>29/35</a:t>
            </a:r>
          </a:p>
        </p:txBody>
      </p:sp>
      <p:sp>
        <p:nvSpPr>
          <p:cNvPr id="17" name="Rounded Rectangle 16"/>
          <p:cNvSpPr/>
          <p:nvPr/>
        </p:nvSpPr>
        <p:spPr>
          <a:xfrm>
            <a:off x="10698480" y="2258568"/>
            <a:ext cx="1188720" cy="292608"/>
          </a:xfrm>
          <a:prstGeom prst="roundRect">
            <a:avLst>
              <a:gd name="adj" fmla="val 5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98480" y="2267712"/>
            <a:ext cx="1188720" cy="274320"/>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CONDITIONAL</a:t>
            </a:r>
          </a:p>
        </p:txBody>
      </p:sp>
      <p:sp>
        <p:nvSpPr>
          <p:cNvPr id="19" name="TextBox 18"/>
          <p:cNvSpPr txBox="1"/>
          <p:nvPr/>
        </p:nvSpPr>
        <p:spPr>
          <a:xfrm>
            <a:off x="548640" y="2807208"/>
            <a:ext cx="2286000" cy="457200"/>
          </a:xfrm>
          <a:prstGeom prst="rect">
            <a:avLst/>
          </a:prstGeom>
          <a:noFill/>
        </p:spPr>
        <p:txBody>
          <a:bodyPr wrap="square" anchor="t" lIns="0" rIns="0" tIns="0" bIns="0">
            <a:noAutofit/>
          </a:bodyPr>
          <a:lstStyle/>
          <a:p>
            <a:pPr algn="l">
              <a:lnSpc>
                <a:spcPct val="105000"/>
              </a:lnSpc>
              <a:spcBef>
                <a:spcPts val="0"/>
              </a:spcBef>
            </a:pPr>
            <a:r>
              <a:rPr sz="1150" b="0" i="0">
                <a:solidFill>
                  <a:srgbClr val="0A1628"/>
                </a:solidFill>
                <a:latin typeface="Calibri"/>
              </a:rPr>
              <a:t>Accounting</a:t>
            </a:r>
          </a:p>
        </p:txBody>
      </p:sp>
      <p:sp>
        <p:nvSpPr>
          <p:cNvPr id="20" name="Rectangle 19"/>
          <p:cNvSpPr/>
          <p:nvPr/>
        </p:nvSpPr>
        <p:spPr>
          <a:xfrm>
            <a:off x="2926080" y="2807208"/>
            <a:ext cx="6858000" cy="402336"/>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26080" y="2807208"/>
            <a:ext cx="5290457" cy="402336"/>
          </a:xfrm>
          <a:prstGeom prst="roundRect">
            <a:avLst>
              <a:gd name="adj" fmla="val 2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6265" y="2825496"/>
            <a:ext cx="731520" cy="402336"/>
          </a:xfrm>
          <a:prstGeom prst="rect">
            <a:avLst/>
          </a:prstGeom>
          <a:noFill/>
        </p:spPr>
        <p:txBody>
          <a:bodyPr wrap="square" anchor="t" lIns="0" rIns="0" tIns="0" bIns="0">
            <a:noAutofit/>
          </a:bodyPr>
          <a:lstStyle/>
          <a:p>
            <a:pPr algn="l">
              <a:lnSpc>
                <a:spcPct val="105000"/>
              </a:lnSpc>
              <a:spcBef>
                <a:spcPts val="0"/>
              </a:spcBef>
            </a:pPr>
            <a:r>
              <a:rPr sz="1100" b="1" i="0">
                <a:solidFill>
                  <a:srgbClr val="1B2B3C"/>
                </a:solidFill>
                <a:latin typeface="Calibri"/>
              </a:rPr>
              <a:t>27/35</a:t>
            </a:r>
          </a:p>
        </p:txBody>
      </p:sp>
      <p:sp>
        <p:nvSpPr>
          <p:cNvPr id="23" name="Rounded Rectangle 22"/>
          <p:cNvSpPr/>
          <p:nvPr/>
        </p:nvSpPr>
        <p:spPr>
          <a:xfrm>
            <a:off x="10698480" y="2825496"/>
            <a:ext cx="1188720" cy="292608"/>
          </a:xfrm>
          <a:prstGeom prst="roundRect">
            <a:avLst>
              <a:gd name="adj" fmla="val 5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98480" y="2834640"/>
            <a:ext cx="1188720" cy="274320"/>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CONDITIONAL</a:t>
            </a:r>
          </a:p>
        </p:txBody>
      </p:sp>
      <p:sp>
        <p:nvSpPr>
          <p:cNvPr id="25" name="TextBox 24"/>
          <p:cNvSpPr txBox="1"/>
          <p:nvPr/>
        </p:nvSpPr>
        <p:spPr>
          <a:xfrm>
            <a:off x="548640" y="3374136"/>
            <a:ext cx="2286000" cy="457200"/>
          </a:xfrm>
          <a:prstGeom prst="rect">
            <a:avLst/>
          </a:prstGeom>
          <a:noFill/>
        </p:spPr>
        <p:txBody>
          <a:bodyPr wrap="square" anchor="t" lIns="0" rIns="0" tIns="0" bIns="0">
            <a:noAutofit/>
          </a:bodyPr>
          <a:lstStyle/>
          <a:p>
            <a:pPr algn="l">
              <a:lnSpc>
                <a:spcPct val="105000"/>
              </a:lnSpc>
              <a:spcBef>
                <a:spcPts val="0"/>
              </a:spcBef>
            </a:pPr>
            <a:r>
              <a:rPr sz="1150" b="0" i="0">
                <a:solidFill>
                  <a:srgbClr val="0A1628"/>
                </a:solidFill>
                <a:latin typeface="Calibri"/>
              </a:rPr>
              <a:t>Mktg Agencies</a:t>
            </a:r>
          </a:p>
        </p:txBody>
      </p:sp>
      <p:sp>
        <p:nvSpPr>
          <p:cNvPr id="26" name="Rectangle 25"/>
          <p:cNvSpPr/>
          <p:nvPr/>
        </p:nvSpPr>
        <p:spPr>
          <a:xfrm>
            <a:off x="2926080" y="3374136"/>
            <a:ext cx="6858000" cy="402336"/>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926080" y="3374136"/>
            <a:ext cx="5290457" cy="402336"/>
          </a:xfrm>
          <a:prstGeom prst="roundRect">
            <a:avLst>
              <a:gd name="adj" fmla="val 2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6265" y="3392424"/>
            <a:ext cx="731520" cy="402336"/>
          </a:xfrm>
          <a:prstGeom prst="rect">
            <a:avLst/>
          </a:prstGeom>
          <a:noFill/>
        </p:spPr>
        <p:txBody>
          <a:bodyPr wrap="square" anchor="t" lIns="0" rIns="0" tIns="0" bIns="0">
            <a:noAutofit/>
          </a:bodyPr>
          <a:lstStyle/>
          <a:p>
            <a:pPr algn="l">
              <a:lnSpc>
                <a:spcPct val="105000"/>
              </a:lnSpc>
              <a:spcBef>
                <a:spcPts val="0"/>
              </a:spcBef>
            </a:pPr>
            <a:r>
              <a:rPr sz="1100" b="1" i="0">
                <a:solidFill>
                  <a:srgbClr val="1B2B3C"/>
                </a:solidFill>
                <a:latin typeface="Calibri"/>
              </a:rPr>
              <a:t>27/35</a:t>
            </a:r>
          </a:p>
        </p:txBody>
      </p:sp>
      <p:sp>
        <p:nvSpPr>
          <p:cNvPr id="29" name="Rounded Rectangle 28"/>
          <p:cNvSpPr/>
          <p:nvPr/>
        </p:nvSpPr>
        <p:spPr>
          <a:xfrm>
            <a:off x="10698480" y="3392424"/>
            <a:ext cx="1188720" cy="292608"/>
          </a:xfrm>
          <a:prstGeom prst="roundRect">
            <a:avLst>
              <a:gd name="adj" fmla="val 5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698480" y="3401568"/>
            <a:ext cx="1188720" cy="274320"/>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CONDITIONAL</a:t>
            </a:r>
          </a:p>
        </p:txBody>
      </p:sp>
      <p:sp>
        <p:nvSpPr>
          <p:cNvPr id="31" name="TextBox 30"/>
          <p:cNvSpPr txBox="1"/>
          <p:nvPr/>
        </p:nvSpPr>
        <p:spPr>
          <a:xfrm>
            <a:off x="548640" y="3941064"/>
            <a:ext cx="2286000" cy="457200"/>
          </a:xfrm>
          <a:prstGeom prst="rect">
            <a:avLst/>
          </a:prstGeom>
          <a:noFill/>
        </p:spPr>
        <p:txBody>
          <a:bodyPr wrap="square" anchor="t" lIns="0" rIns="0" tIns="0" bIns="0">
            <a:noAutofit/>
          </a:bodyPr>
          <a:lstStyle/>
          <a:p>
            <a:pPr algn="l">
              <a:lnSpc>
                <a:spcPct val="105000"/>
              </a:lnSpc>
              <a:spcBef>
                <a:spcPts val="0"/>
              </a:spcBef>
            </a:pPr>
            <a:r>
              <a:rPr sz="1150" b="0" i="0">
                <a:solidFill>
                  <a:srgbClr val="0A1628"/>
                </a:solidFill>
                <a:latin typeface="Calibri"/>
              </a:rPr>
              <a:t>Dental</a:t>
            </a:r>
          </a:p>
        </p:txBody>
      </p:sp>
      <p:sp>
        <p:nvSpPr>
          <p:cNvPr id="32" name="Rectangle 31"/>
          <p:cNvSpPr/>
          <p:nvPr/>
        </p:nvSpPr>
        <p:spPr>
          <a:xfrm>
            <a:off x="2926080" y="3941064"/>
            <a:ext cx="6858000" cy="402336"/>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926080" y="3941064"/>
            <a:ext cx="5094514" cy="402336"/>
          </a:xfrm>
          <a:prstGeom prst="roundRect">
            <a:avLst>
              <a:gd name="adj" fmla="val 2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30322" y="3959352"/>
            <a:ext cx="731520" cy="402336"/>
          </a:xfrm>
          <a:prstGeom prst="rect">
            <a:avLst/>
          </a:prstGeom>
          <a:noFill/>
        </p:spPr>
        <p:txBody>
          <a:bodyPr wrap="square" anchor="t" lIns="0" rIns="0" tIns="0" bIns="0">
            <a:noAutofit/>
          </a:bodyPr>
          <a:lstStyle/>
          <a:p>
            <a:pPr algn="l">
              <a:lnSpc>
                <a:spcPct val="105000"/>
              </a:lnSpc>
              <a:spcBef>
                <a:spcPts val="0"/>
              </a:spcBef>
            </a:pPr>
            <a:r>
              <a:rPr sz="1100" b="1" i="0">
                <a:solidFill>
                  <a:srgbClr val="1B2B3C"/>
                </a:solidFill>
                <a:latin typeface="Calibri"/>
              </a:rPr>
              <a:t>26/35</a:t>
            </a:r>
          </a:p>
        </p:txBody>
      </p:sp>
      <p:sp>
        <p:nvSpPr>
          <p:cNvPr id="35" name="Rounded Rectangle 34"/>
          <p:cNvSpPr/>
          <p:nvPr/>
        </p:nvSpPr>
        <p:spPr>
          <a:xfrm>
            <a:off x="10698480" y="3959352"/>
            <a:ext cx="1188720" cy="292608"/>
          </a:xfrm>
          <a:prstGeom prst="roundRect">
            <a:avLst>
              <a:gd name="adj" fmla="val 5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698480" y="3968496"/>
            <a:ext cx="1188720" cy="274320"/>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CONDITIONAL</a:t>
            </a:r>
          </a:p>
        </p:txBody>
      </p:sp>
      <p:sp>
        <p:nvSpPr>
          <p:cNvPr id="37" name="TextBox 36"/>
          <p:cNvSpPr txBox="1"/>
          <p:nvPr/>
        </p:nvSpPr>
        <p:spPr>
          <a:xfrm>
            <a:off x="548640" y="4507992"/>
            <a:ext cx="2286000" cy="457200"/>
          </a:xfrm>
          <a:prstGeom prst="rect">
            <a:avLst/>
          </a:prstGeom>
          <a:noFill/>
        </p:spPr>
        <p:txBody>
          <a:bodyPr wrap="square" anchor="t" lIns="0" rIns="0" tIns="0" bIns="0">
            <a:noAutofit/>
          </a:bodyPr>
          <a:lstStyle/>
          <a:p>
            <a:pPr algn="l">
              <a:lnSpc>
                <a:spcPct val="105000"/>
              </a:lnSpc>
              <a:spcBef>
                <a:spcPts val="0"/>
              </a:spcBef>
            </a:pPr>
            <a:r>
              <a:rPr sz="1150" b="0" i="0">
                <a:solidFill>
                  <a:srgbClr val="0A1628"/>
                </a:solidFill>
                <a:latin typeface="Calibri"/>
              </a:rPr>
              <a:t>Law Firms</a:t>
            </a:r>
          </a:p>
        </p:txBody>
      </p:sp>
      <p:sp>
        <p:nvSpPr>
          <p:cNvPr id="38" name="Rectangle 37"/>
          <p:cNvSpPr/>
          <p:nvPr/>
        </p:nvSpPr>
        <p:spPr>
          <a:xfrm>
            <a:off x="2926080" y="4507992"/>
            <a:ext cx="6858000" cy="402336"/>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926080" y="4507992"/>
            <a:ext cx="5094514" cy="402336"/>
          </a:xfrm>
          <a:prstGeom prst="roundRect">
            <a:avLst>
              <a:gd name="adj" fmla="val 2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30322" y="4526280"/>
            <a:ext cx="731520" cy="402336"/>
          </a:xfrm>
          <a:prstGeom prst="rect">
            <a:avLst/>
          </a:prstGeom>
          <a:noFill/>
        </p:spPr>
        <p:txBody>
          <a:bodyPr wrap="square" anchor="t" lIns="0" rIns="0" tIns="0" bIns="0">
            <a:noAutofit/>
          </a:bodyPr>
          <a:lstStyle/>
          <a:p>
            <a:pPr algn="l">
              <a:lnSpc>
                <a:spcPct val="105000"/>
              </a:lnSpc>
              <a:spcBef>
                <a:spcPts val="0"/>
              </a:spcBef>
            </a:pPr>
            <a:r>
              <a:rPr sz="1100" b="1" i="0">
                <a:solidFill>
                  <a:srgbClr val="1B2B3C"/>
                </a:solidFill>
                <a:latin typeface="Calibri"/>
              </a:rPr>
              <a:t>26/35</a:t>
            </a:r>
          </a:p>
        </p:txBody>
      </p:sp>
      <p:sp>
        <p:nvSpPr>
          <p:cNvPr id="41" name="Rounded Rectangle 40"/>
          <p:cNvSpPr/>
          <p:nvPr/>
        </p:nvSpPr>
        <p:spPr>
          <a:xfrm>
            <a:off x="10698480" y="4526280"/>
            <a:ext cx="1188720" cy="292608"/>
          </a:xfrm>
          <a:prstGeom prst="roundRect">
            <a:avLst>
              <a:gd name="adj" fmla="val 5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698480" y="4535424"/>
            <a:ext cx="1188720" cy="274320"/>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CONDITIONAL</a:t>
            </a:r>
          </a:p>
        </p:txBody>
      </p:sp>
      <p:sp>
        <p:nvSpPr>
          <p:cNvPr id="43" name="TextBox 42"/>
          <p:cNvSpPr txBox="1"/>
          <p:nvPr/>
        </p:nvSpPr>
        <p:spPr>
          <a:xfrm>
            <a:off x="548640" y="5074920"/>
            <a:ext cx="2286000" cy="457200"/>
          </a:xfrm>
          <a:prstGeom prst="rect">
            <a:avLst/>
          </a:prstGeom>
          <a:noFill/>
        </p:spPr>
        <p:txBody>
          <a:bodyPr wrap="square" anchor="t" lIns="0" rIns="0" tIns="0" bIns="0">
            <a:noAutofit/>
          </a:bodyPr>
          <a:lstStyle/>
          <a:p>
            <a:pPr algn="l">
              <a:lnSpc>
                <a:spcPct val="105000"/>
              </a:lnSpc>
              <a:spcBef>
                <a:spcPts val="0"/>
              </a:spcBef>
            </a:pPr>
            <a:r>
              <a:rPr sz="1150" b="0" i="0">
                <a:solidFill>
                  <a:srgbClr val="0A1628"/>
                </a:solidFill>
                <a:latin typeface="Calibri"/>
              </a:rPr>
              <a:t>Med Spa</a:t>
            </a:r>
          </a:p>
        </p:txBody>
      </p:sp>
      <p:sp>
        <p:nvSpPr>
          <p:cNvPr id="44" name="Rectangle 43"/>
          <p:cNvSpPr/>
          <p:nvPr/>
        </p:nvSpPr>
        <p:spPr>
          <a:xfrm>
            <a:off x="2926080" y="5074920"/>
            <a:ext cx="6858000" cy="402336"/>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2926080" y="5074920"/>
            <a:ext cx="5094514" cy="402336"/>
          </a:xfrm>
          <a:prstGeom prst="roundRect">
            <a:avLst>
              <a:gd name="adj" fmla="val 2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30322" y="5093208"/>
            <a:ext cx="731520" cy="402336"/>
          </a:xfrm>
          <a:prstGeom prst="rect">
            <a:avLst/>
          </a:prstGeom>
          <a:noFill/>
        </p:spPr>
        <p:txBody>
          <a:bodyPr wrap="square" anchor="t" lIns="0" rIns="0" tIns="0" bIns="0">
            <a:noAutofit/>
          </a:bodyPr>
          <a:lstStyle/>
          <a:p>
            <a:pPr algn="l">
              <a:lnSpc>
                <a:spcPct val="105000"/>
              </a:lnSpc>
              <a:spcBef>
                <a:spcPts val="0"/>
              </a:spcBef>
            </a:pPr>
            <a:r>
              <a:rPr sz="1100" b="1" i="0">
                <a:solidFill>
                  <a:srgbClr val="1B2B3C"/>
                </a:solidFill>
                <a:latin typeface="Calibri"/>
              </a:rPr>
              <a:t>26/35</a:t>
            </a:r>
          </a:p>
        </p:txBody>
      </p:sp>
      <p:sp>
        <p:nvSpPr>
          <p:cNvPr id="47" name="Rounded Rectangle 46"/>
          <p:cNvSpPr/>
          <p:nvPr/>
        </p:nvSpPr>
        <p:spPr>
          <a:xfrm>
            <a:off x="10698480" y="5093208"/>
            <a:ext cx="1188720" cy="292608"/>
          </a:xfrm>
          <a:prstGeom prst="roundRect">
            <a:avLst>
              <a:gd name="adj" fmla="val 5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98480" y="5102352"/>
            <a:ext cx="1188720" cy="274320"/>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CONDITIONAL</a:t>
            </a:r>
          </a:p>
        </p:txBody>
      </p:sp>
      <p:sp>
        <p:nvSpPr>
          <p:cNvPr id="49" name="TextBox 48"/>
          <p:cNvSpPr txBox="1"/>
          <p:nvPr/>
        </p:nvSpPr>
        <p:spPr>
          <a:xfrm>
            <a:off x="548640" y="5641848"/>
            <a:ext cx="2286000" cy="457200"/>
          </a:xfrm>
          <a:prstGeom prst="rect">
            <a:avLst/>
          </a:prstGeom>
          <a:noFill/>
        </p:spPr>
        <p:txBody>
          <a:bodyPr wrap="square" anchor="t" lIns="0" rIns="0" tIns="0" bIns="0">
            <a:noAutofit/>
          </a:bodyPr>
          <a:lstStyle/>
          <a:p>
            <a:pPr algn="l">
              <a:lnSpc>
                <a:spcPct val="105000"/>
              </a:lnSpc>
              <a:spcBef>
                <a:spcPts val="0"/>
              </a:spcBef>
            </a:pPr>
            <a:r>
              <a:rPr sz="1150" b="0" i="0">
                <a:solidFill>
                  <a:srgbClr val="0A1628"/>
                </a:solidFill>
                <a:latin typeface="Calibri"/>
              </a:rPr>
              <a:t>HVAC/Plumbing</a:t>
            </a:r>
          </a:p>
        </p:txBody>
      </p:sp>
      <p:sp>
        <p:nvSpPr>
          <p:cNvPr id="50" name="Rectangle 49"/>
          <p:cNvSpPr/>
          <p:nvPr/>
        </p:nvSpPr>
        <p:spPr>
          <a:xfrm>
            <a:off x="2926080" y="5641848"/>
            <a:ext cx="6858000" cy="402336"/>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2926080" y="5641848"/>
            <a:ext cx="4702628" cy="402336"/>
          </a:xfrm>
          <a:prstGeom prst="roundRect">
            <a:avLst>
              <a:gd name="adj" fmla="val 2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38436" y="5660136"/>
            <a:ext cx="731520" cy="402336"/>
          </a:xfrm>
          <a:prstGeom prst="rect">
            <a:avLst/>
          </a:prstGeom>
          <a:noFill/>
        </p:spPr>
        <p:txBody>
          <a:bodyPr wrap="square" anchor="t" lIns="0" rIns="0" tIns="0" bIns="0">
            <a:noAutofit/>
          </a:bodyPr>
          <a:lstStyle/>
          <a:p>
            <a:pPr algn="l">
              <a:lnSpc>
                <a:spcPct val="105000"/>
              </a:lnSpc>
              <a:spcBef>
                <a:spcPts val="0"/>
              </a:spcBef>
            </a:pPr>
            <a:r>
              <a:rPr sz="1100" b="1" i="0">
                <a:solidFill>
                  <a:srgbClr val="1B2B3C"/>
                </a:solidFill>
                <a:latin typeface="Calibri"/>
              </a:rPr>
              <a:t>24/35</a:t>
            </a:r>
          </a:p>
        </p:txBody>
      </p:sp>
      <p:sp>
        <p:nvSpPr>
          <p:cNvPr id="53" name="Rounded Rectangle 52"/>
          <p:cNvSpPr/>
          <p:nvPr/>
        </p:nvSpPr>
        <p:spPr>
          <a:xfrm>
            <a:off x="10698480" y="5660136"/>
            <a:ext cx="1188720" cy="292608"/>
          </a:xfrm>
          <a:prstGeom prst="roundRect">
            <a:avLst>
              <a:gd name="adj" fmla="val 5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698480" y="5669280"/>
            <a:ext cx="1188720" cy="274320"/>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CONDITIONAL</a:t>
            </a:r>
          </a:p>
        </p:txBody>
      </p:sp>
      <p:sp>
        <p:nvSpPr>
          <p:cNvPr id="55" name="TextBox 5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56" name="TextBox 5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 /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828800"/>
            <a:ext cx="7315200"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SECTION 01</a:t>
            </a:r>
          </a:p>
        </p:txBody>
      </p:sp>
      <p:sp>
        <p:nvSpPr>
          <p:cNvPr id="5" name="TextBox 4"/>
          <p:cNvSpPr txBox="1"/>
          <p:nvPr/>
        </p:nvSpPr>
        <p:spPr>
          <a:xfrm>
            <a:off x="411480" y="2331720"/>
            <a:ext cx="9144000" cy="1097280"/>
          </a:xfrm>
          <a:prstGeom prst="rect">
            <a:avLst/>
          </a:prstGeom>
          <a:noFill/>
        </p:spPr>
        <p:txBody>
          <a:bodyPr wrap="square" anchor="t" lIns="0" rIns="0" tIns="0" bIns="0">
            <a:normAutofit/>
          </a:bodyPr>
          <a:lstStyle/>
          <a:p>
            <a:pPr algn="l">
              <a:lnSpc>
                <a:spcPct val="105000"/>
              </a:lnSpc>
              <a:spcBef>
                <a:spcPts val="0"/>
              </a:spcBef>
            </a:pPr>
            <a:r>
              <a:rPr sz="4400" b="1" i="0">
                <a:solidFill>
                  <a:srgbClr val="FFFFFF"/>
                </a:solidFill>
                <a:latin typeface="Calibri"/>
              </a:rPr>
              <a:t>Real Estate Brokerages</a:t>
            </a:r>
          </a:p>
        </p:txBody>
      </p:sp>
      <p:sp>
        <p:nvSpPr>
          <p:cNvPr id="6" name="Rectangle 5"/>
          <p:cNvSpPr/>
          <p:nvPr/>
        </p:nvSpPr>
        <p:spPr>
          <a:xfrm>
            <a:off x="411480" y="3520440"/>
            <a:ext cx="32004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3657600"/>
            <a:ext cx="9144000" cy="457200"/>
          </a:xfrm>
          <a:prstGeom prst="rect">
            <a:avLst/>
          </a:prstGeom>
          <a:noFill/>
        </p:spPr>
        <p:txBody>
          <a:bodyPr wrap="square" anchor="t" lIns="0" rIns="0" tIns="0" bIns="0">
            <a:noAutofit/>
          </a:bodyPr>
          <a:lstStyle/>
          <a:p>
            <a:pPr algn="l">
              <a:lnSpc>
                <a:spcPct val="105000"/>
              </a:lnSpc>
              <a:spcBef>
                <a:spcPts val="0"/>
              </a:spcBef>
            </a:pPr>
            <a:r>
              <a:rPr sz="1600" b="0" i="0">
                <a:solidFill>
                  <a:srgbClr val="E0F7F1"/>
                </a:solidFill>
                <a:latin typeface="Calibri"/>
              </a:rPr>
              <a:t>8 use cases · 33/35 score · GO verdict · No HIPAA ceiling · Starts at #1</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OpenHands × SMB AI Engineering · Done-For-You · June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6 /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Real Estate — Core Use Cases (Wave 1)</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All four justify $2K–$5K/month on their own ROI math</a:t>
            </a:r>
          </a:p>
        </p:txBody>
      </p:sp>
      <p:sp>
        <p:nvSpPr>
          <p:cNvPr id="7" name="Rounded Rectangle 6"/>
          <p:cNvSpPr/>
          <p:nvPr/>
        </p:nvSpPr>
        <p:spPr>
          <a:xfrm>
            <a:off x="548640" y="16002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 y="17373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7556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#1</a:t>
            </a:r>
          </a:p>
        </p:txBody>
      </p:sp>
      <p:sp>
        <p:nvSpPr>
          <p:cNvPr id="10" name="Rounded Rectangle 9"/>
          <p:cNvSpPr/>
          <p:nvPr/>
        </p:nvSpPr>
        <p:spPr>
          <a:xfrm>
            <a:off x="5181447" y="1746504"/>
            <a:ext cx="658368" cy="237744"/>
          </a:xfrm>
          <a:prstGeom prst="roundRect">
            <a:avLst>
              <a:gd name="adj" fmla="val 8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81447" y="17465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9/10</a:t>
            </a:r>
          </a:p>
        </p:txBody>
      </p:sp>
      <p:sp>
        <p:nvSpPr>
          <p:cNvPr id="12" name="TextBox 11"/>
          <p:cNvSpPr txBox="1"/>
          <p:nvPr/>
        </p:nvSpPr>
        <p:spPr>
          <a:xfrm>
            <a:off x="1207008" y="17282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Transaction Coordinator Bot</a:t>
            </a:r>
          </a:p>
        </p:txBody>
      </p:sp>
      <p:sp>
        <p:nvSpPr>
          <p:cNvPr id="13" name="Rectangle 12"/>
          <p:cNvSpPr/>
          <p:nvPr/>
        </p:nvSpPr>
        <p:spPr>
          <a:xfrm>
            <a:off x="713232" y="22585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3317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Agents pay $300–$500/transaction to a human TC who still misses contingency dates.</a:t>
            </a:r>
          </a:p>
        </p:txBody>
      </p:sp>
      <p:sp>
        <p:nvSpPr>
          <p:cNvPr id="15" name="Rounded Rectangle 14"/>
          <p:cNvSpPr/>
          <p:nvPr/>
        </p:nvSpPr>
        <p:spPr>
          <a:xfrm>
            <a:off x="548640" y="35935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6118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$1,500–$4,000/month saved (TC fees eliminated)</a:t>
            </a:r>
          </a:p>
        </p:txBody>
      </p:sp>
      <p:sp>
        <p:nvSpPr>
          <p:cNvPr id="17" name="Rounded Rectangle 16"/>
          <p:cNvSpPr/>
          <p:nvPr/>
        </p:nvSpPr>
        <p:spPr>
          <a:xfrm>
            <a:off x="6187287" y="16002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51879" y="17373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17556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#2</a:t>
            </a:r>
          </a:p>
        </p:txBody>
      </p:sp>
      <p:sp>
        <p:nvSpPr>
          <p:cNvPr id="20" name="Rounded Rectangle 19"/>
          <p:cNvSpPr/>
          <p:nvPr/>
        </p:nvSpPr>
        <p:spPr>
          <a:xfrm>
            <a:off x="10820095" y="1746504"/>
            <a:ext cx="658368" cy="237744"/>
          </a:xfrm>
          <a:prstGeom prst="roundRect">
            <a:avLst>
              <a:gd name="adj" fmla="val 8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20095" y="17465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9/10</a:t>
            </a:r>
          </a:p>
        </p:txBody>
      </p:sp>
      <p:sp>
        <p:nvSpPr>
          <p:cNvPr id="22" name="TextBox 21"/>
          <p:cNvSpPr txBox="1"/>
          <p:nvPr/>
        </p:nvSpPr>
        <p:spPr>
          <a:xfrm>
            <a:off x="6845655" y="17282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Listing Description + MLS Auto-Post</a:t>
            </a:r>
          </a:p>
        </p:txBody>
      </p:sp>
      <p:sp>
        <p:nvSpPr>
          <p:cNvPr id="23" name="Rectangle 22"/>
          <p:cNvSpPr/>
          <p:nvPr/>
        </p:nvSpPr>
        <p:spPr>
          <a:xfrm>
            <a:off x="6351879" y="22585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1879" y="23317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Agents spend 45–90 min per listing writing descriptions and manually uploading to MLS + Zillow.</a:t>
            </a:r>
          </a:p>
        </p:txBody>
      </p:sp>
      <p:sp>
        <p:nvSpPr>
          <p:cNvPr id="25" name="Rounded Rectangle 24"/>
          <p:cNvSpPr/>
          <p:nvPr/>
        </p:nvSpPr>
        <p:spPr>
          <a:xfrm>
            <a:off x="6187287" y="35935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1879" y="36118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8–15 hours/month recovered; faster listings = more closings</a:t>
            </a:r>
          </a:p>
        </p:txBody>
      </p:sp>
      <p:sp>
        <p:nvSpPr>
          <p:cNvPr id="27" name="Rounded Rectangle 26"/>
          <p:cNvSpPr/>
          <p:nvPr/>
        </p:nvSpPr>
        <p:spPr>
          <a:xfrm>
            <a:off x="548640" y="41148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3232" y="42519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42702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#3</a:t>
            </a:r>
          </a:p>
        </p:txBody>
      </p:sp>
      <p:sp>
        <p:nvSpPr>
          <p:cNvPr id="30" name="Rounded Rectangle 29"/>
          <p:cNvSpPr/>
          <p:nvPr/>
        </p:nvSpPr>
        <p:spPr>
          <a:xfrm>
            <a:off x="5181447" y="4261104"/>
            <a:ext cx="658368" cy="237744"/>
          </a:xfrm>
          <a:prstGeom prst="roundRect">
            <a:avLst>
              <a:gd name="adj" fmla="val 8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81447" y="42611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9/10</a:t>
            </a:r>
          </a:p>
        </p:txBody>
      </p:sp>
      <p:sp>
        <p:nvSpPr>
          <p:cNvPr id="32" name="TextBox 31"/>
          <p:cNvSpPr txBox="1"/>
          <p:nvPr/>
        </p:nvSpPr>
        <p:spPr>
          <a:xfrm>
            <a:off x="1207008" y="42428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Lead Scoring + CRM Drip System</a:t>
            </a:r>
          </a:p>
        </p:txBody>
      </p:sp>
      <p:sp>
        <p:nvSpPr>
          <p:cNvPr id="33" name="Rectangle 32"/>
          <p:cNvSpPr/>
          <p:nvPr/>
        </p:nvSpPr>
        <p:spPr>
          <a:xfrm>
            <a:off x="713232" y="47731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8463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200–500 contacts in a spreadsheet, no scoring — agents call everyone randomly and miss the 5% ready to transact.</a:t>
            </a:r>
          </a:p>
        </p:txBody>
      </p:sp>
      <p:sp>
        <p:nvSpPr>
          <p:cNvPr id="35" name="Rounded Rectangle 34"/>
          <p:cNvSpPr/>
          <p:nvPr/>
        </p:nvSpPr>
        <p:spPr>
          <a:xfrm>
            <a:off x="548640" y="61081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61264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1–3 additional closed deals/year = $6K–$18K commission</a:t>
            </a:r>
          </a:p>
        </p:txBody>
      </p:sp>
      <p:sp>
        <p:nvSpPr>
          <p:cNvPr id="37" name="Rounded Rectangle 36"/>
          <p:cNvSpPr/>
          <p:nvPr/>
        </p:nvSpPr>
        <p:spPr>
          <a:xfrm>
            <a:off x="6187287" y="41148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351879" y="42519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1879" y="42702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#4</a:t>
            </a:r>
          </a:p>
        </p:txBody>
      </p:sp>
      <p:sp>
        <p:nvSpPr>
          <p:cNvPr id="40" name="Rounded Rectangle 39"/>
          <p:cNvSpPr/>
          <p:nvPr/>
        </p:nvSpPr>
        <p:spPr>
          <a:xfrm>
            <a:off x="10820095" y="4261104"/>
            <a:ext cx="658368" cy="237744"/>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20095" y="42611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8/10</a:t>
            </a:r>
          </a:p>
        </p:txBody>
      </p:sp>
      <p:sp>
        <p:nvSpPr>
          <p:cNvPr id="42" name="TextBox 41"/>
          <p:cNvSpPr txBox="1"/>
          <p:nvPr/>
        </p:nvSpPr>
        <p:spPr>
          <a:xfrm>
            <a:off x="6845655" y="42428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CMA Generator</a:t>
            </a:r>
          </a:p>
        </p:txBody>
      </p:sp>
      <p:sp>
        <p:nvSpPr>
          <p:cNvPr id="43" name="Rectangle 42"/>
          <p:cNvSpPr/>
          <p:nvPr/>
        </p:nvSpPr>
        <p:spPr>
          <a:xfrm>
            <a:off x="6351879" y="47731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51879" y="48463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Agents spend 2–3 hours per CMA manually pulling comps and formatting in PowerPoint before every listing appt.</a:t>
            </a:r>
          </a:p>
        </p:txBody>
      </p:sp>
      <p:sp>
        <p:nvSpPr>
          <p:cNvPr id="45" name="Rounded Rectangle 44"/>
          <p:cNvSpPr/>
          <p:nvPr/>
        </p:nvSpPr>
        <p:spPr>
          <a:xfrm>
            <a:off x="6187287" y="61081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1879" y="61264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10–20 hours/month recovered; faster listing appts</a:t>
            </a:r>
          </a:p>
        </p:txBody>
      </p:sp>
      <p:sp>
        <p:nvSpPr>
          <p:cNvPr id="47" name="TextBox 4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48" name="TextBox 4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 /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4114800" cy="676656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1440"/>
            <a:ext cx="91440" cy="67665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201168"/>
            <a:ext cx="3794760" cy="292608"/>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#1  ·  REAL ESTATE</a:t>
            </a:r>
          </a:p>
        </p:txBody>
      </p:sp>
      <p:sp>
        <p:nvSpPr>
          <p:cNvPr id="7" name="TextBox 6"/>
          <p:cNvSpPr txBox="1"/>
          <p:nvPr/>
        </p:nvSpPr>
        <p:spPr>
          <a:xfrm>
            <a:off x="228600" y="530352"/>
            <a:ext cx="3794760" cy="914400"/>
          </a:xfrm>
          <a:prstGeom prst="rect">
            <a:avLst/>
          </a:prstGeom>
          <a:noFill/>
        </p:spPr>
        <p:txBody>
          <a:bodyPr wrap="square" anchor="t" lIns="0" rIns="0" tIns="0" bIns="0">
            <a:normAutofit/>
          </a:bodyPr>
          <a:lstStyle/>
          <a:p>
            <a:pPr algn="l">
              <a:lnSpc>
                <a:spcPct val="105000"/>
              </a:lnSpc>
              <a:spcBef>
                <a:spcPts val="0"/>
              </a:spcBef>
            </a:pPr>
            <a:r>
              <a:rPr sz="2200" b="1" i="0">
                <a:solidFill>
                  <a:srgbClr val="FFFFFF"/>
                </a:solidFill>
                <a:latin typeface="Calibri"/>
              </a:rPr>
              <a:t>Transaction Coordinator Bot</a:t>
            </a:r>
          </a:p>
        </p:txBody>
      </p:sp>
      <p:sp>
        <p:nvSpPr>
          <p:cNvPr id="8" name="Rectangle 7"/>
          <p:cNvSpPr/>
          <p:nvPr/>
        </p:nvSpPr>
        <p:spPr>
          <a:xfrm>
            <a:off x="228600" y="1536192"/>
            <a:ext cx="18288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64208"/>
            <a:ext cx="3794760" cy="256032"/>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THE PAIN</a:t>
            </a:r>
          </a:p>
        </p:txBody>
      </p:sp>
      <p:sp>
        <p:nvSpPr>
          <p:cNvPr id="10" name="TextBox 9"/>
          <p:cNvSpPr txBox="1"/>
          <p:nvPr/>
        </p:nvSpPr>
        <p:spPr>
          <a:xfrm>
            <a:off x="228600" y="1938528"/>
            <a:ext cx="3794760" cy="914400"/>
          </a:xfrm>
          <a:prstGeom prst="rect">
            <a:avLst/>
          </a:prstGeom>
          <a:noFill/>
        </p:spPr>
        <p:txBody>
          <a:bodyPr wrap="square" anchor="t" lIns="0" rIns="0" tIns="0" bIns="0">
            <a:normAutofit/>
          </a:bodyPr>
          <a:lstStyle/>
          <a:p>
            <a:pPr algn="l">
              <a:lnSpc>
                <a:spcPct val="120000"/>
              </a:lnSpc>
              <a:spcBef>
                <a:spcPts val="0"/>
              </a:spcBef>
            </a:pPr>
            <a:r>
              <a:rPr sz="1100" b="0" i="0">
                <a:solidFill>
                  <a:srgbClr val="E0F7F1"/>
                </a:solidFill>
                <a:latin typeface="Calibri"/>
              </a:rPr>
              <a:t>Agents pay $300–$500 per transaction to a human TC who manually tracks deadlines, chases documents, and emails all parties — and still misses contingency dates.</a:t>
            </a:r>
          </a:p>
        </p:txBody>
      </p:sp>
      <p:sp>
        <p:nvSpPr>
          <p:cNvPr id="11" name="TextBox 10"/>
          <p:cNvSpPr txBox="1"/>
          <p:nvPr/>
        </p:nvSpPr>
        <p:spPr>
          <a:xfrm>
            <a:off x="228600" y="2944368"/>
            <a:ext cx="3794760" cy="256032"/>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HOW IT WORKS</a:t>
            </a:r>
          </a:p>
        </p:txBody>
      </p:sp>
      <p:sp>
        <p:nvSpPr>
          <p:cNvPr id="12" name="Rounded Rectangle 11"/>
          <p:cNvSpPr/>
          <p:nvPr/>
        </p:nvSpPr>
        <p:spPr>
          <a:xfrm>
            <a:off x="228600" y="3246120"/>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 y="3246120"/>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1</a:t>
            </a:r>
          </a:p>
        </p:txBody>
      </p:sp>
      <p:sp>
        <p:nvSpPr>
          <p:cNvPr id="14" name="TextBox 13"/>
          <p:cNvSpPr txBox="1"/>
          <p:nvPr/>
        </p:nvSpPr>
        <p:spPr>
          <a:xfrm>
            <a:off x="594360" y="3282696"/>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Ingest purchase agreement PDF, extract all deadline dates</a:t>
            </a:r>
          </a:p>
        </p:txBody>
      </p:sp>
      <p:sp>
        <p:nvSpPr>
          <p:cNvPr id="15" name="Rounded Rectangle 14"/>
          <p:cNvSpPr/>
          <p:nvPr/>
        </p:nvSpPr>
        <p:spPr>
          <a:xfrm>
            <a:off x="228600" y="3721608"/>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600" y="3721608"/>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2</a:t>
            </a:r>
          </a:p>
        </p:txBody>
      </p:sp>
      <p:sp>
        <p:nvSpPr>
          <p:cNvPr id="17" name="TextBox 16"/>
          <p:cNvSpPr txBox="1"/>
          <p:nvPr/>
        </p:nvSpPr>
        <p:spPr>
          <a:xfrm>
            <a:off x="594360" y="3758184"/>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Populate Google Calendar with contingency reminders for all parties</a:t>
            </a:r>
          </a:p>
        </p:txBody>
      </p:sp>
      <p:sp>
        <p:nvSpPr>
          <p:cNvPr id="18" name="Rounded Rectangle 17"/>
          <p:cNvSpPr/>
          <p:nvPr/>
        </p:nvSpPr>
        <p:spPr>
          <a:xfrm>
            <a:off x="228600" y="4197096"/>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8600" y="4197096"/>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3</a:t>
            </a:r>
          </a:p>
        </p:txBody>
      </p:sp>
      <p:sp>
        <p:nvSpPr>
          <p:cNvPr id="20" name="TextBox 19"/>
          <p:cNvSpPr txBox="1"/>
          <p:nvPr/>
        </p:nvSpPr>
        <p:spPr>
          <a:xfrm>
            <a:off x="594360" y="4233672"/>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Auto-send daily status digest via Gmail + Twilio SMS</a:t>
            </a:r>
          </a:p>
        </p:txBody>
      </p:sp>
      <p:sp>
        <p:nvSpPr>
          <p:cNvPr id="21" name="Rounded Rectangle 20"/>
          <p:cNvSpPr/>
          <p:nvPr/>
        </p:nvSpPr>
        <p:spPr>
          <a:xfrm>
            <a:off x="228600" y="4672584"/>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8600" y="4672584"/>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4</a:t>
            </a:r>
          </a:p>
        </p:txBody>
      </p:sp>
      <p:sp>
        <p:nvSpPr>
          <p:cNvPr id="23" name="TextBox 22"/>
          <p:cNvSpPr txBox="1"/>
          <p:nvPr/>
        </p:nvSpPr>
        <p:spPr>
          <a:xfrm>
            <a:off x="594360" y="4709160"/>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Flag missing docs; close file when complete → invoice via Stripe</a:t>
            </a:r>
          </a:p>
        </p:txBody>
      </p:sp>
      <p:sp>
        <p:nvSpPr>
          <p:cNvPr id="24" name="Rounded Rectangle 23"/>
          <p:cNvSpPr/>
          <p:nvPr/>
        </p:nvSpPr>
        <p:spPr>
          <a:xfrm>
            <a:off x="137160" y="5806440"/>
            <a:ext cx="3886200" cy="77724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00" y="5833872"/>
            <a:ext cx="3749040" cy="722376"/>
          </a:xfrm>
          <a:prstGeom prst="rect">
            <a:avLst/>
          </a:prstGeom>
          <a:noFill/>
        </p:spPr>
        <p:txBody>
          <a:bodyPr wrap="square" anchor="t" lIns="0" rIns="0" tIns="0" bIns="0">
            <a:normAutofit/>
          </a:bodyPr>
          <a:lstStyle/>
          <a:p>
            <a:pPr algn="l">
              <a:lnSpc>
                <a:spcPct val="105000"/>
              </a:lnSpc>
              <a:spcBef>
                <a:spcPts val="0"/>
              </a:spcBef>
            </a:pPr>
            <a:r>
              <a:rPr sz="1000" b="0" i="1">
                <a:solidFill>
                  <a:srgbClr val="F2A83B"/>
                </a:solidFill>
                <a:latin typeface="Calibri"/>
              </a:rPr>
              <a:t>"I'm paying my TC $2,000 a month and half the time I still have to chase people myself."</a:t>
            </a:r>
          </a:p>
        </p:txBody>
      </p:sp>
      <p:sp>
        <p:nvSpPr>
          <p:cNvPr id="26" name="Rounded Rectangle 25"/>
          <p:cNvSpPr/>
          <p:nvPr/>
        </p:nvSpPr>
        <p:spPr>
          <a:xfrm>
            <a:off x="4526280" y="201168"/>
            <a:ext cx="1371600" cy="292608"/>
          </a:xfrm>
          <a:prstGeom prst="roundRect">
            <a:avLst>
              <a:gd name="adj" fmla="val 6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6280" y="219456"/>
            <a:ext cx="1371600" cy="256032"/>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Urgency 9/10</a:t>
            </a:r>
          </a:p>
        </p:txBody>
      </p:sp>
      <p:sp>
        <p:nvSpPr>
          <p:cNvPr id="28" name="Rounded Rectangle 27"/>
          <p:cNvSpPr/>
          <p:nvPr/>
        </p:nvSpPr>
        <p:spPr>
          <a:xfrm>
            <a:off x="5989320" y="201168"/>
            <a:ext cx="1097280" cy="292608"/>
          </a:xfrm>
          <a:prstGeom prst="roundRect">
            <a:avLst>
              <a:gd name="adj" fmla="val 6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89320" y="219456"/>
            <a:ext cx="1097280" cy="256032"/>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Wave 1</a:t>
            </a:r>
          </a:p>
        </p:txBody>
      </p:sp>
      <p:sp>
        <p:nvSpPr>
          <p:cNvPr id="30" name="TextBox 29"/>
          <p:cNvSpPr txBox="1"/>
          <p:nvPr/>
        </p:nvSpPr>
        <p:spPr>
          <a:xfrm>
            <a:off x="4526280" y="658368"/>
            <a:ext cx="7573975" cy="256032"/>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THE BUILD</a:t>
            </a:r>
          </a:p>
        </p:txBody>
      </p:sp>
      <p:sp>
        <p:nvSpPr>
          <p:cNvPr id="31" name="TextBox 30"/>
          <p:cNvSpPr txBox="1"/>
          <p:nvPr/>
        </p:nvSpPr>
        <p:spPr>
          <a:xfrm>
            <a:off x="4526280" y="950976"/>
            <a:ext cx="7573975" cy="1234440"/>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OpenHands builds a TC automation app: ingests purchase agreement, auto-extracts all deadline dates into Google Calendar, sends daily status emails to all parties (buyer, seller, title, lender), flags missing documents, and closes the deal file when all docs are collected.</a:t>
            </a:r>
          </a:p>
        </p:txBody>
      </p:sp>
      <p:sp>
        <p:nvSpPr>
          <p:cNvPr id="32" name="Rounded Rectangle 31"/>
          <p:cNvSpPr/>
          <p:nvPr/>
        </p:nvSpPr>
        <p:spPr>
          <a:xfrm>
            <a:off x="4526280" y="2286000"/>
            <a:ext cx="7573975"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09160" y="2340864"/>
            <a:ext cx="7299655" cy="219456"/>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MONTHLY VALUE TO CLIENT</a:t>
            </a:r>
          </a:p>
        </p:txBody>
      </p:sp>
      <p:sp>
        <p:nvSpPr>
          <p:cNvPr id="34" name="TextBox 33"/>
          <p:cNvSpPr txBox="1"/>
          <p:nvPr/>
        </p:nvSpPr>
        <p:spPr>
          <a:xfrm>
            <a:off x="4709160" y="2560320"/>
            <a:ext cx="7299655" cy="237744"/>
          </a:xfrm>
          <a:prstGeom prst="rect">
            <a:avLst/>
          </a:prstGeom>
          <a:noFill/>
        </p:spPr>
        <p:txBody>
          <a:bodyPr wrap="square" anchor="t" lIns="0" rIns="0" tIns="0" bIns="0">
            <a:normAutofit/>
          </a:bodyPr>
          <a:lstStyle/>
          <a:p>
            <a:pPr algn="l">
              <a:lnSpc>
                <a:spcPct val="105000"/>
              </a:lnSpc>
              <a:spcBef>
                <a:spcPts val="0"/>
              </a:spcBef>
            </a:pPr>
            <a:r>
              <a:rPr sz="1200" b="1" i="0">
                <a:solidFill>
                  <a:srgbClr val="FFB800"/>
                </a:solidFill>
                <a:latin typeface="Calibri"/>
              </a:rPr>
              <a:t>$1,500–$4,000 saved per month (3–8 transactions × $300–$500 TC fee eliminated)</a:t>
            </a:r>
          </a:p>
        </p:txBody>
      </p:sp>
      <p:sp>
        <p:nvSpPr>
          <p:cNvPr id="35" name="Rectangle 34"/>
          <p:cNvSpPr/>
          <p:nvPr/>
        </p:nvSpPr>
        <p:spPr>
          <a:xfrm>
            <a:off x="4526280" y="2962656"/>
            <a:ext cx="7573975" cy="2377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3440" y="2980944"/>
            <a:ext cx="1371600" cy="201168"/>
          </a:xfrm>
          <a:prstGeom prst="rect">
            <a:avLst/>
          </a:prstGeom>
          <a:noFill/>
        </p:spPr>
        <p:txBody>
          <a:bodyPr wrap="square" anchor="t" lIns="0" rIns="0" tIns="0" bIns="0">
            <a:noAutofit/>
          </a:bodyPr>
          <a:lstStyle/>
          <a:p>
            <a:pPr algn="l">
              <a:lnSpc>
                <a:spcPct val="105000"/>
              </a:lnSpc>
              <a:spcBef>
                <a:spcPts val="0"/>
              </a:spcBef>
            </a:pPr>
            <a:r>
              <a:rPr sz="850" b="1" i="0">
                <a:solidFill>
                  <a:srgbClr val="5B6B7C"/>
                </a:solidFill>
                <a:latin typeface="Calibri"/>
              </a:rPr>
              <a:t>MCP SERVERS</a:t>
            </a:r>
          </a:p>
        </p:txBody>
      </p:sp>
      <p:sp>
        <p:nvSpPr>
          <p:cNvPr id="37" name="TextBox 36"/>
          <p:cNvSpPr txBox="1"/>
          <p:nvPr/>
        </p:nvSpPr>
        <p:spPr>
          <a:xfrm>
            <a:off x="6080760" y="2980944"/>
            <a:ext cx="5882335" cy="201168"/>
          </a:xfrm>
          <a:prstGeom prst="rect">
            <a:avLst/>
          </a:prstGeom>
          <a:noFill/>
        </p:spPr>
        <p:txBody>
          <a:bodyPr wrap="square" anchor="t" lIns="0" rIns="0" tIns="0" bIns="0">
            <a:normAutofit/>
          </a:bodyPr>
          <a:lstStyle/>
          <a:p>
            <a:pPr algn="l">
              <a:lnSpc>
                <a:spcPct val="105000"/>
              </a:lnSpc>
              <a:spcBef>
                <a:spcPts val="0"/>
              </a:spcBef>
            </a:pPr>
            <a:r>
              <a:rPr sz="900" b="0" i="0">
                <a:solidFill>
                  <a:srgbClr val="1B2B3C"/>
                </a:solidFill>
                <a:latin typeface="Calibri"/>
              </a:rPr>
              <a:t>GitHub, Google Calendar, Gmail, Stripe, Notion, Twilio</a:t>
            </a:r>
          </a:p>
        </p:txBody>
      </p:sp>
      <p:sp>
        <p:nvSpPr>
          <p:cNvPr id="38" name="Rectangle 37"/>
          <p:cNvSpPr/>
          <p:nvPr/>
        </p:nvSpPr>
        <p:spPr>
          <a:xfrm>
            <a:off x="4526280" y="3291840"/>
            <a:ext cx="7573975" cy="2377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63440" y="3310128"/>
            <a:ext cx="1371600" cy="201168"/>
          </a:xfrm>
          <a:prstGeom prst="rect">
            <a:avLst/>
          </a:prstGeom>
          <a:noFill/>
        </p:spPr>
        <p:txBody>
          <a:bodyPr wrap="square" anchor="t" lIns="0" rIns="0" tIns="0" bIns="0">
            <a:noAutofit/>
          </a:bodyPr>
          <a:lstStyle/>
          <a:p>
            <a:pPr algn="l">
              <a:lnSpc>
                <a:spcPct val="105000"/>
              </a:lnSpc>
              <a:spcBef>
                <a:spcPts val="0"/>
              </a:spcBef>
            </a:pPr>
            <a:r>
              <a:rPr sz="850" b="1" i="0">
                <a:solidFill>
                  <a:srgbClr val="5B6B7C"/>
                </a:solidFill>
                <a:latin typeface="Calibri"/>
              </a:rPr>
              <a:t>SUBAGENT</a:t>
            </a:r>
          </a:p>
        </p:txBody>
      </p:sp>
      <p:sp>
        <p:nvSpPr>
          <p:cNvPr id="40" name="TextBox 39"/>
          <p:cNvSpPr txBox="1"/>
          <p:nvPr/>
        </p:nvSpPr>
        <p:spPr>
          <a:xfrm>
            <a:off x="6080760" y="3310128"/>
            <a:ext cx="5882335" cy="201168"/>
          </a:xfrm>
          <a:prstGeom prst="rect">
            <a:avLst/>
          </a:prstGeom>
          <a:noFill/>
        </p:spPr>
        <p:txBody>
          <a:bodyPr wrap="square" anchor="t" lIns="0" rIns="0" tIns="0" bIns="0">
            <a:normAutofit/>
          </a:bodyPr>
          <a:lstStyle/>
          <a:p>
            <a:pPr algn="l">
              <a:lnSpc>
                <a:spcPct val="105000"/>
              </a:lnSpc>
              <a:spcBef>
                <a:spcPts val="0"/>
              </a:spcBef>
            </a:pPr>
            <a:r>
              <a:rPr sz="900" b="0" i="0">
                <a:solidFill>
                  <a:srgbClr val="1B2B3C"/>
                </a:solidFill>
                <a:latin typeface="Calibri"/>
              </a:rPr>
              <a:t>document-automation, crm-specialist</a:t>
            </a:r>
          </a:p>
        </p:txBody>
      </p:sp>
      <p:sp>
        <p:nvSpPr>
          <p:cNvPr id="41" name="TextBox 4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42" name="TextBox 4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8 /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Real Estate — Wave 2 Expansion Use Cases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Add these once the Wave 1 triplet is proven and delivering ROI</a:t>
            </a:r>
          </a:p>
        </p:txBody>
      </p:sp>
      <p:sp>
        <p:nvSpPr>
          <p:cNvPr id="7" name="Rounded Rectangle 6"/>
          <p:cNvSpPr/>
          <p:nvPr/>
        </p:nvSpPr>
        <p:spPr>
          <a:xfrm>
            <a:off x="548640" y="1691640"/>
            <a:ext cx="3576218" cy="292608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 y="182880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4708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#13</a:t>
            </a:r>
          </a:p>
        </p:txBody>
      </p:sp>
      <p:sp>
        <p:nvSpPr>
          <p:cNvPr id="10" name="Rounded Rectangle 9"/>
          <p:cNvSpPr/>
          <p:nvPr/>
        </p:nvSpPr>
        <p:spPr>
          <a:xfrm>
            <a:off x="3301898" y="1837944"/>
            <a:ext cx="658368" cy="237744"/>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01898" y="183794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8/10</a:t>
            </a:r>
          </a:p>
        </p:txBody>
      </p:sp>
      <p:sp>
        <p:nvSpPr>
          <p:cNvPr id="12" name="TextBox 11"/>
          <p:cNvSpPr txBox="1"/>
          <p:nvPr/>
        </p:nvSpPr>
        <p:spPr>
          <a:xfrm>
            <a:off x="1207008" y="1819656"/>
            <a:ext cx="2707538"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Buyer/Seller Matching + Tour Scheduler</a:t>
            </a:r>
          </a:p>
        </p:txBody>
      </p:sp>
      <p:sp>
        <p:nvSpPr>
          <p:cNvPr id="13" name="Rectangle 12"/>
          <p:cNvSpPr/>
          <p:nvPr/>
        </p:nvSpPr>
        <p:spPr>
          <a:xfrm>
            <a:off x="713232" y="2350008"/>
            <a:ext cx="3247034"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423160"/>
            <a:ext cx="3247034"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Agents manually cross-reference active listings against buyer criteria in their head or a spreadsheet.</a:t>
            </a:r>
          </a:p>
        </p:txBody>
      </p:sp>
      <p:sp>
        <p:nvSpPr>
          <p:cNvPr id="15" name="Rounded Rectangle 14"/>
          <p:cNvSpPr/>
          <p:nvPr/>
        </p:nvSpPr>
        <p:spPr>
          <a:xfrm>
            <a:off x="548640" y="4233672"/>
            <a:ext cx="3576218"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4251960"/>
            <a:ext cx="3247034"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Faster deal close; buyers stay engaged; fewer lost to competing agents</a:t>
            </a:r>
          </a:p>
        </p:txBody>
      </p:sp>
      <p:sp>
        <p:nvSpPr>
          <p:cNvPr id="17" name="Rounded Rectangle 16"/>
          <p:cNvSpPr/>
          <p:nvPr/>
        </p:nvSpPr>
        <p:spPr>
          <a:xfrm>
            <a:off x="4307738" y="1691640"/>
            <a:ext cx="3576218" cy="292608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72330" y="182880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72330" y="184708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#21</a:t>
            </a:r>
          </a:p>
        </p:txBody>
      </p:sp>
      <p:sp>
        <p:nvSpPr>
          <p:cNvPr id="20" name="Rounded Rectangle 19"/>
          <p:cNvSpPr/>
          <p:nvPr/>
        </p:nvSpPr>
        <p:spPr>
          <a:xfrm>
            <a:off x="7060996" y="1837944"/>
            <a:ext cx="658368" cy="237744"/>
          </a:xfrm>
          <a:prstGeom prst="roundRect">
            <a:avLst>
              <a:gd name="adj" fmla="val 8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60996" y="183794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6/10</a:t>
            </a:r>
          </a:p>
        </p:txBody>
      </p:sp>
      <p:sp>
        <p:nvSpPr>
          <p:cNvPr id="22" name="TextBox 21"/>
          <p:cNvSpPr txBox="1"/>
          <p:nvPr/>
        </p:nvSpPr>
        <p:spPr>
          <a:xfrm>
            <a:off x="4966106" y="1819656"/>
            <a:ext cx="2707538"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Commission Tracking Dashboard</a:t>
            </a:r>
          </a:p>
        </p:txBody>
      </p:sp>
      <p:sp>
        <p:nvSpPr>
          <p:cNvPr id="23" name="Rectangle 22"/>
          <p:cNvSpPr/>
          <p:nvPr/>
        </p:nvSpPr>
        <p:spPr>
          <a:xfrm>
            <a:off x="4472330" y="2350008"/>
            <a:ext cx="3247034"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72330" y="2423160"/>
            <a:ext cx="3247034"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Broker tracks agent splits in a spreadsheet — calculating caps and paying out takes 5–8 hrs at month-end.</a:t>
            </a:r>
          </a:p>
        </p:txBody>
      </p:sp>
      <p:sp>
        <p:nvSpPr>
          <p:cNvPr id="25" name="Rounded Rectangle 24"/>
          <p:cNvSpPr/>
          <p:nvPr/>
        </p:nvSpPr>
        <p:spPr>
          <a:xfrm>
            <a:off x="4307738" y="4233672"/>
            <a:ext cx="3576218"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251960"/>
            <a:ext cx="3247034"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5–8 hours/month recovered; fewer commission disputes</a:t>
            </a:r>
          </a:p>
        </p:txBody>
      </p:sp>
      <p:sp>
        <p:nvSpPr>
          <p:cNvPr id="27" name="Rounded Rectangle 26"/>
          <p:cNvSpPr/>
          <p:nvPr/>
        </p:nvSpPr>
        <p:spPr>
          <a:xfrm>
            <a:off x="8066836" y="1691640"/>
            <a:ext cx="3576218" cy="292608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31428" y="182880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31428" y="184708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#23</a:t>
            </a:r>
          </a:p>
        </p:txBody>
      </p:sp>
      <p:sp>
        <p:nvSpPr>
          <p:cNvPr id="30" name="Rounded Rectangle 29"/>
          <p:cNvSpPr/>
          <p:nvPr/>
        </p:nvSpPr>
        <p:spPr>
          <a:xfrm>
            <a:off x="10820095" y="1837944"/>
            <a:ext cx="658368" cy="237744"/>
          </a:xfrm>
          <a:prstGeom prst="roundRect">
            <a:avLst>
              <a:gd name="adj" fmla="val 8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820095" y="183794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6/10</a:t>
            </a:r>
          </a:p>
        </p:txBody>
      </p:sp>
      <p:sp>
        <p:nvSpPr>
          <p:cNvPr id="32" name="TextBox 31"/>
          <p:cNvSpPr txBox="1"/>
          <p:nvPr/>
        </p:nvSpPr>
        <p:spPr>
          <a:xfrm>
            <a:off x="8725204" y="1819656"/>
            <a:ext cx="2707538"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Social Media Content Calendar</a:t>
            </a:r>
          </a:p>
        </p:txBody>
      </p:sp>
      <p:sp>
        <p:nvSpPr>
          <p:cNvPr id="33" name="Rectangle 32"/>
          <p:cNvSpPr/>
          <p:nvPr/>
        </p:nvSpPr>
        <p:spPr>
          <a:xfrm>
            <a:off x="8231428" y="2350008"/>
            <a:ext cx="3247034"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31428" y="2423160"/>
            <a:ext cx="3247034"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Agents know they should post consistently but creating content is time-consuming and they never know what to say.</a:t>
            </a:r>
          </a:p>
        </p:txBody>
      </p:sp>
      <p:sp>
        <p:nvSpPr>
          <p:cNvPr id="35" name="Rounded Rectangle 34"/>
          <p:cNvSpPr/>
          <p:nvPr/>
        </p:nvSpPr>
        <p:spPr>
          <a:xfrm>
            <a:off x="8066836" y="4233672"/>
            <a:ext cx="3576218"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31428" y="4251960"/>
            <a:ext cx="3247034"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5–10 hours/month saved; consistent posting builds inbound leads</a:t>
            </a:r>
          </a:p>
        </p:txBody>
      </p:sp>
      <p:sp>
        <p:nvSpPr>
          <p:cNvPr id="37" name="Rounded Rectangle 36"/>
          <p:cNvSpPr/>
          <p:nvPr/>
        </p:nvSpPr>
        <p:spPr>
          <a:xfrm>
            <a:off x="548640" y="4754880"/>
            <a:ext cx="11094415" cy="502920"/>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4800600"/>
            <a:ext cx="10820095"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9B82"/>
                </a:solidFill>
                <a:latin typeface="Calibri"/>
              </a:rPr>
              <a:t>Wave 2 note: these require MLS API access or QuickBooks integration. Sequence after Wave 1 pays for setup cost.</a:t>
            </a:r>
          </a:p>
        </p:txBody>
      </p:sp>
      <p:sp>
        <p:nvSpPr>
          <p:cNvPr id="39" name="TextBox 3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9 /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828800"/>
            <a:ext cx="7315200"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SECTION 02</a:t>
            </a:r>
          </a:p>
        </p:txBody>
      </p:sp>
      <p:sp>
        <p:nvSpPr>
          <p:cNvPr id="5" name="TextBox 4"/>
          <p:cNvSpPr txBox="1"/>
          <p:nvPr/>
        </p:nvSpPr>
        <p:spPr>
          <a:xfrm>
            <a:off x="411480" y="2331720"/>
            <a:ext cx="9144000" cy="1097280"/>
          </a:xfrm>
          <a:prstGeom prst="rect">
            <a:avLst/>
          </a:prstGeom>
          <a:noFill/>
        </p:spPr>
        <p:txBody>
          <a:bodyPr wrap="square" anchor="t" lIns="0" rIns="0" tIns="0" bIns="0">
            <a:normAutofit/>
          </a:bodyPr>
          <a:lstStyle/>
          <a:p>
            <a:pPr algn="l">
              <a:lnSpc>
                <a:spcPct val="105000"/>
              </a:lnSpc>
              <a:spcBef>
                <a:spcPts val="0"/>
              </a:spcBef>
            </a:pPr>
            <a:r>
              <a:rPr sz="4400" b="1" i="0">
                <a:solidFill>
                  <a:srgbClr val="FFFFFF"/>
                </a:solidFill>
                <a:latin typeface="Calibri"/>
              </a:rPr>
              <a:t>Dental Practices</a:t>
            </a:r>
          </a:p>
        </p:txBody>
      </p:sp>
      <p:sp>
        <p:nvSpPr>
          <p:cNvPr id="6" name="Rectangle 5"/>
          <p:cNvSpPr/>
          <p:nvPr/>
        </p:nvSpPr>
        <p:spPr>
          <a:xfrm>
            <a:off x="411480" y="3520440"/>
            <a:ext cx="32004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3657600"/>
            <a:ext cx="9144000" cy="457200"/>
          </a:xfrm>
          <a:prstGeom prst="rect">
            <a:avLst/>
          </a:prstGeom>
          <a:noFill/>
        </p:spPr>
        <p:txBody>
          <a:bodyPr wrap="square" anchor="t" lIns="0" rIns="0" tIns="0" bIns="0">
            <a:noAutofit/>
          </a:bodyPr>
          <a:lstStyle/>
          <a:p>
            <a:pPr algn="l">
              <a:lnSpc>
                <a:spcPct val="105000"/>
              </a:lnSpc>
              <a:spcBef>
                <a:spcPts val="0"/>
              </a:spcBef>
            </a:pPr>
            <a:r>
              <a:rPr sz="1600" b="0" i="0">
                <a:solidFill>
                  <a:srgbClr val="E0F7F1"/>
                </a:solidFill>
                <a:latin typeface="Calibri"/>
              </a:rPr>
              <a:t>4 use cases · 26/35 score · CONDITIONAL · HIPAA-required · Directly books chairs</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OpenHands × SMB AI Engineering · Done-For-You · June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10 /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Dental — Use Cases (2 Wave 1, 2 Wave 1)</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All four are Wave 1. Patient Recall and Insurance Pre-Auth are urgency 10/10.</a:t>
            </a:r>
          </a:p>
        </p:txBody>
      </p:sp>
      <p:sp>
        <p:nvSpPr>
          <p:cNvPr id="7" name="Rounded Rectangle 6"/>
          <p:cNvSpPr/>
          <p:nvPr/>
        </p:nvSpPr>
        <p:spPr>
          <a:xfrm>
            <a:off x="548640" y="16002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 y="17373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7556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#5</a:t>
            </a:r>
          </a:p>
        </p:txBody>
      </p:sp>
      <p:sp>
        <p:nvSpPr>
          <p:cNvPr id="10" name="Rounded Rectangle 9"/>
          <p:cNvSpPr/>
          <p:nvPr/>
        </p:nvSpPr>
        <p:spPr>
          <a:xfrm>
            <a:off x="5181447" y="1746504"/>
            <a:ext cx="658368" cy="237744"/>
          </a:xfrm>
          <a:prstGeom prst="roundRect">
            <a:avLst>
              <a:gd name="adj" fmla="val 8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81447" y="17465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10/10</a:t>
            </a:r>
          </a:p>
        </p:txBody>
      </p:sp>
      <p:sp>
        <p:nvSpPr>
          <p:cNvPr id="12" name="TextBox 11"/>
          <p:cNvSpPr txBox="1"/>
          <p:nvPr/>
        </p:nvSpPr>
        <p:spPr>
          <a:xfrm>
            <a:off x="1207008" y="17282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Patient Recall + Appointment System</a:t>
            </a:r>
          </a:p>
        </p:txBody>
      </p:sp>
      <p:sp>
        <p:nvSpPr>
          <p:cNvPr id="13" name="Rectangle 12"/>
          <p:cNvSpPr/>
          <p:nvPr/>
        </p:nvSpPr>
        <p:spPr>
          <a:xfrm>
            <a:off x="713232" y="22585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3317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Dental offices lose $50K–$200K/year in unscheduled recall patients — staff reaches maybe 20% calling manually.</a:t>
            </a:r>
          </a:p>
        </p:txBody>
      </p:sp>
      <p:sp>
        <p:nvSpPr>
          <p:cNvPr id="15" name="Rounded Rectangle 14"/>
          <p:cNvSpPr/>
          <p:nvPr/>
        </p:nvSpPr>
        <p:spPr>
          <a:xfrm>
            <a:off x="548640" y="35935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6118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15–40 additional hygiene appts/month = $3K–$8K production</a:t>
            </a:r>
          </a:p>
        </p:txBody>
      </p:sp>
      <p:sp>
        <p:nvSpPr>
          <p:cNvPr id="17" name="Rounded Rectangle 16"/>
          <p:cNvSpPr/>
          <p:nvPr/>
        </p:nvSpPr>
        <p:spPr>
          <a:xfrm>
            <a:off x="6187287" y="16002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51879" y="17373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17556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#6</a:t>
            </a:r>
          </a:p>
        </p:txBody>
      </p:sp>
      <p:sp>
        <p:nvSpPr>
          <p:cNvPr id="20" name="Rounded Rectangle 19"/>
          <p:cNvSpPr/>
          <p:nvPr/>
        </p:nvSpPr>
        <p:spPr>
          <a:xfrm>
            <a:off x="10820095" y="1746504"/>
            <a:ext cx="658368" cy="237744"/>
          </a:xfrm>
          <a:prstGeom prst="roundRect">
            <a:avLst>
              <a:gd name="adj" fmla="val 8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20095" y="17465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10/10</a:t>
            </a:r>
          </a:p>
        </p:txBody>
      </p:sp>
      <p:sp>
        <p:nvSpPr>
          <p:cNvPr id="22" name="TextBox 21"/>
          <p:cNvSpPr txBox="1"/>
          <p:nvPr/>
        </p:nvSpPr>
        <p:spPr>
          <a:xfrm>
            <a:off x="6845655" y="17282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Insurance Pre-Auth + Verification Bot</a:t>
            </a:r>
          </a:p>
        </p:txBody>
      </p:sp>
      <p:sp>
        <p:nvSpPr>
          <p:cNvPr id="23" name="Rectangle 22"/>
          <p:cNvSpPr/>
          <p:nvPr/>
        </p:nvSpPr>
        <p:spPr>
          <a:xfrm>
            <a:off x="6351879" y="22585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1879" y="23317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Front desk spends 2–4 hours/day on hold with insurance companies — delays treatment and frustrates patients.</a:t>
            </a:r>
          </a:p>
        </p:txBody>
      </p:sp>
      <p:sp>
        <p:nvSpPr>
          <p:cNvPr id="25" name="Rounded Rectangle 24"/>
          <p:cNvSpPr/>
          <p:nvPr/>
        </p:nvSpPr>
        <p:spPr>
          <a:xfrm>
            <a:off x="6187287" y="35935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1879" y="36118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8–15 staff hours/month recovered; $2K–$5K fewer claim denials</a:t>
            </a:r>
          </a:p>
        </p:txBody>
      </p:sp>
      <p:sp>
        <p:nvSpPr>
          <p:cNvPr id="27" name="Rounded Rectangle 26"/>
          <p:cNvSpPr/>
          <p:nvPr/>
        </p:nvSpPr>
        <p:spPr>
          <a:xfrm>
            <a:off x="548640" y="41148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3232" y="42519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42702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#12</a:t>
            </a:r>
          </a:p>
        </p:txBody>
      </p:sp>
      <p:sp>
        <p:nvSpPr>
          <p:cNvPr id="30" name="Rounded Rectangle 29"/>
          <p:cNvSpPr/>
          <p:nvPr/>
        </p:nvSpPr>
        <p:spPr>
          <a:xfrm>
            <a:off x="5181447" y="4261104"/>
            <a:ext cx="658368" cy="237744"/>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81447" y="42611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8/10</a:t>
            </a:r>
          </a:p>
        </p:txBody>
      </p:sp>
      <p:sp>
        <p:nvSpPr>
          <p:cNvPr id="32" name="TextBox 31"/>
          <p:cNvSpPr txBox="1"/>
          <p:nvPr/>
        </p:nvSpPr>
        <p:spPr>
          <a:xfrm>
            <a:off x="1207008" y="42428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New Patient Intake Automation</a:t>
            </a:r>
          </a:p>
        </p:txBody>
      </p:sp>
      <p:sp>
        <p:nvSpPr>
          <p:cNvPr id="33" name="Rectangle 32"/>
          <p:cNvSpPr/>
          <p:nvPr/>
        </p:nvSpPr>
        <p:spPr>
          <a:xfrm>
            <a:off x="713232" y="47731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8463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Patients fill out paper forms in the waiting room, causing delays and incomplete medical histories at check-in.</a:t>
            </a:r>
          </a:p>
        </p:txBody>
      </p:sp>
      <p:sp>
        <p:nvSpPr>
          <p:cNvPr id="35" name="Rounded Rectangle 34"/>
          <p:cNvSpPr/>
          <p:nvPr/>
        </p:nvSpPr>
        <p:spPr>
          <a:xfrm>
            <a:off x="548640" y="61081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61264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5–10 min saved per new patient; better intake data improves case acceptance</a:t>
            </a:r>
          </a:p>
        </p:txBody>
      </p:sp>
      <p:sp>
        <p:nvSpPr>
          <p:cNvPr id="37" name="Rounded Rectangle 36"/>
          <p:cNvSpPr/>
          <p:nvPr/>
        </p:nvSpPr>
        <p:spPr>
          <a:xfrm>
            <a:off x="6187287" y="41148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351879" y="42519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1879" y="42702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#14</a:t>
            </a:r>
          </a:p>
        </p:txBody>
      </p:sp>
      <p:sp>
        <p:nvSpPr>
          <p:cNvPr id="40" name="Rounded Rectangle 39"/>
          <p:cNvSpPr/>
          <p:nvPr/>
        </p:nvSpPr>
        <p:spPr>
          <a:xfrm>
            <a:off x="10820095" y="4261104"/>
            <a:ext cx="658368" cy="237744"/>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20095" y="42611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7/10</a:t>
            </a:r>
          </a:p>
        </p:txBody>
      </p:sp>
      <p:sp>
        <p:nvSpPr>
          <p:cNvPr id="42" name="TextBox 41"/>
          <p:cNvSpPr txBox="1"/>
          <p:nvPr/>
        </p:nvSpPr>
        <p:spPr>
          <a:xfrm>
            <a:off x="6845655" y="42428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Review Generation + Reputation Bot</a:t>
            </a:r>
          </a:p>
        </p:txBody>
      </p:sp>
      <p:sp>
        <p:nvSpPr>
          <p:cNvPr id="43" name="Rectangle 42"/>
          <p:cNvSpPr/>
          <p:nvPr/>
        </p:nvSpPr>
        <p:spPr>
          <a:xfrm>
            <a:off x="6351879" y="47731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51879" y="48463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Office gets 3–5 Google reviews/month while competitors get 20–30 — because no one asks at the right moment.</a:t>
            </a:r>
          </a:p>
        </p:txBody>
      </p:sp>
      <p:sp>
        <p:nvSpPr>
          <p:cNvPr id="45" name="Rounded Rectangle 44"/>
          <p:cNvSpPr/>
          <p:nvPr/>
        </p:nvSpPr>
        <p:spPr>
          <a:xfrm>
            <a:off x="6187287" y="61081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1879" y="61264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15–30 additional reviews/month = better ranking = more new patients</a:t>
            </a:r>
          </a:p>
        </p:txBody>
      </p:sp>
      <p:sp>
        <p:nvSpPr>
          <p:cNvPr id="47" name="TextBox 4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48" name="TextBox 4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11 /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4114800" cy="676656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1440"/>
            <a:ext cx="91440" cy="67665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201168"/>
            <a:ext cx="3794760" cy="292608"/>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#5  ·  DENTAL PRACTICES</a:t>
            </a:r>
          </a:p>
        </p:txBody>
      </p:sp>
      <p:sp>
        <p:nvSpPr>
          <p:cNvPr id="7" name="TextBox 6"/>
          <p:cNvSpPr txBox="1"/>
          <p:nvPr/>
        </p:nvSpPr>
        <p:spPr>
          <a:xfrm>
            <a:off x="228600" y="530352"/>
            <a:ext cx="3794760" cy="914400"/>
          </a:xfrm>
          <a:prstGeom prst="rect">
            <a:avLst/>
          </a:prstGeom>
          <a:noFill/>
        </p:spPr>
        <p:txBody>
          <a:bodyPr wrap="square" anchor="t" lIns="0" rIns="0" tIns="0" bIns="0">
            <a:normAutofit/>
          </a:bodyPr>
          <a:lstStyle/>
          <a:p>
            <a:pPr algn="l">
              <a:lnSpc>
                <a:spcPct val="105000"/>
              </a:lnSpc>
              <a:spcBef>
                <a:spcPts val="0"/>
              </a:spcBef>
            </a:pPr>
            <a:r>
              <a:rPr sz="2200" b="1" i="0">
                <a:solidFill>
                  <a:srgbClr val="FFFFFF"/>
                </a:solidFill>
                <a:latin typeface="Calibri"/>
              </a:rPr>
              <a:t>Patient Recall + Appointment System</a:t>
            </a:r>
          </a:p>
        </p:txBody>
      </p:sp>
      <p:sp>
        <p:nvSpPr>
          <p:cNvPr id="8" name="Rectangle 7"/>
          <p:cNvSpPr/>
          <p:nvPr/>
        </p:nvSpPr>
        <p:spPr>
          <a:xfrm>
            <a:off x="228600" y="1536192"/>
            <a:ext cx="18288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64208"/>
            <a:ext cx="3794760" cy="256032"/>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THE PAIN</a:t>
            </a:r>
          </a:p>
        </p:txBody>
      </p:sp>
      <p:sp>
        <p:nvSpPr>
          <p:cNvPr id="10" name="TextBox 9"/>
          <p:cNvSpPr txBox="1"/>
          <p:nvPr/>
        </p:nvSpPr>
        <p:spPr>
          <a:xfrm>
            <a:off x="228600" y="1938528"/>
            <a:ext cx="3794760" cy="914400"/>
          </a:xfrm>
          <a:prstGeom prst="rect">
            <a:avLst/>
          </a:prstGeom>
          <a:noFill/>
        </p:spPr>
        <p:txBody>
          <a:bodyPr wrap="square" anchor="t" lIns="0" rIns="0" tIns="0" bIns="0">
            <a:normAutofit/>
          </a:bodyPr>
          <a:lstStyle/>
          <a:p>
            <a:pPr algn="l">
              <a:lnSpc>
                <a:spcPct val="120000"/>
              </a:lnSpc>
              <a:spcBef>
                <a:spcPts val="0"/>
              </a:spcBef>
            </a:pPr>
            <a:r>
              <a:rPr sz="1100" b="0" i="0">
                <a:solidFill>
                  <a:srgbClr val="E0F7F1"/>
                </a:solidFill>
                <a:latin typeface="Calibri"/>
              </a:rPr>
              <a:t>Dental offices lose $50K–$200K/year in unscheduled recall patients who fell off the hygiene schedule. Staff manually calls from a list and reaches maybe 20% of them.</a:t>
            </a:r>
          </a:p>
        </p:txBody>
      </p:sp>
      <p:sp>
        <p:nvSpPr>
          <p:cNvPr id="11" name="TextBox 10"/>
          <p:cNvSpPr txBox="1"/>
          <p:nvPr/>
        </p:nvSpPr>
        <p:spPr>
          <a:xfrm>
            <a:off x="228600" y="2944368"/>
            <a:ext cx="3794760" cy="256032"/>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HOW IT WORKS</a:t>
            </a:r>
          </a:p>
        </p:txBody>
      </p:sp>
      <p:sp>
        <p:nvSpPr>
          <p:cNvPr id="12" name="Rounded Rectangle 11"/>
          <p:cNvSpPr/>
          <p:nvPr/>
        </p:nvSpPr>
        <p:spPr>
          <a:xfrm>
            <a:off x="228600" y="3246120"/>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 y="3246120"/>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1</a:t>
            </a:r>
          </a:p>
        </p:txBody>
      </p:sp>
      <p:sp>
        <p:nvSpPr>
          <p:cNvPr id="14" name="TextBox 13"/>
          <p:cNvSpPr txBox="1"/>
          <p:nvPr/>
        </p:nvSpPr>
        <p:spPr>
          <a:xfrm>
            <a:off x="594360" y="3282696"/>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Pull overdue recall patients from Dentrix/Eaglesoft API</a:t>
            </a:r>
          </a:p>
        </p:txBody>
      </p:sp>
      <p:sp>
        <p:nvSpPr>
          <p:cNvPr id="15" name="Rounded Rectangle 14"/>
          <p:cNvSpPr/>
          <p:nvPr/>
        </p:nvSpPr>
        <p:spPr>
          <a:xfrm>
            <a:off x="228600" y="3721608"/>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600" y="3721608"/>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2</a:t>
            </a:r>
          </a:p>
        </p:txBody>
      </p:sp>
      <p:sp>
        <p:nvSpPr>
          <p:cNvPr id="17" name="TextBox 16"/>
          <p:cNvSpPr txBox="1"/>
          <p:nvPr/>
        </p:nvSpPr>
        <p:spPr>
          <a:xfrm>
            <a:off x="594360" y="3758184"/>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Send personalized SMS + email with online scheduling link</a:t>
            </a:r>
          </a:p>
        </p:txBody>
      </p:sp>
      <p:sp>
        <p:nvSpPr>
          <p:cNvPr id="18" name="Rounded Rectangle 17"/>
          <p:cNvSpPr/>
          <p:nvPr/>
        </p:nvSpPr>
        <p:spPr>
          <a:xfrm>
            <a:off x="228600" y="4197096"/>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8600" y="4197096"/>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3</a:t>
            </a:r>
          </a:p>
        </p:txBody>
      </p:sp>
      <p:sp>
        <p:nvSpPr>
          <p:cNvPr id="20" name="TextBox 19"/>
          <p:cNvSpPr txBox="1"/>
          <p:nvPr/>
        </p:nvSpPr>
        <p:spPr>
          <a:xfrm>
            <a:off x="594360" y="4233672"/>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Auto-confirm booking; send 48h + day-of reminders via Twilio</a:t>
            </a:r>
          </a:p>
        </p:txBody>
      </p:sp>
      <p:sp>
        <p:nvSpPr>
          <p:cNvPr id="21" name="Rounded Rectangle 20"/>
          <p:cNvSpPr/>
          <p:nvPr/>
        </p:nvSpPr>
        <p:spPr>
          <a:xfrm>
            <a:off x="228600" y="4672584"/>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8600" y="4672584"/>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4</a:t>
            </a:r>
          </a:p>
        </p:txBody>
      </p:sp>
      <p:sp>
        <p:nvSpPr>
          <p:cNvPr id="23" name="TextBox 22"/>
          <p:cNvSpPr txBox="1"/>
          <p:nvPr/>
        </p:nvSpPr>
        <p:spPr>
          <a:xfrm>
            <a:off x="594360" y="4709160"/>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Flag no-shows for immediate rebooking; log all activity in HIPAA Postgres</a:t>
            </a:r>
          </a:p>
        </p:txBody>
      </p:sp>
      <p:sp>
        <p:nvSpPr>
          <p:cNvPr id="24" name="Rounded Rectangle 23"/>
          <p:cNvSpPr/>
          <p:nvPr/>
        </p:nvSpPr>
        <p:spPr>
          <a:xfrm>
            <a:off x="137160" y="5806440"/>
            <a:ext cx="3886200" cy="77724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00" y="5833872"/>
            <a:ext cx="3749040" cy="722376"/>
          </a:xfrm>
          <a:prstGeom prst="rect">
            <a:avLst/>
          </a:prstGeom>
          <a:noFill/>
        </p:spPr>
        <p:txBody>
          <a:bodyPr wrap="square" anchor="t" lIns="0" rIns="0" tIns="0" bIns="0">
            <a:normAutofit/>
          </a:bodyPr>
          <a:lstStyle/>
          <a:p>
            <a:pPr algn="l">
              <a:lnSpc>
                <a:spcPct val="105000"/>
              </a:lnSpc>
              <a:spcBef>
                <a:spcPts val="0"/>
              </a:spcBef>
            </a:pPr>
            <a:r>
              <a:rPr sz="1000" b="0" i="1">
                <a:solidFill>
                  <a:srgbClr val="F2A83B"/>
                </a:solidFill>
                <a:latin typeface="Calibri"/>
              </a:rPr>
              <a:t>"I have 400 patients who are 6 months overdue and my front desk doesn't have time to call all of them."</a:t>
            </a:r>
          </a:p>
        </p:txBody>
      </p:sp>
      <p:sp>
        <p:nvSpPr>
          <p:cNvPr id="26" name="Rounded Rectangle 25"/>
          <p:cNvSpPr/>
          <p:nvPr/>
        </p:nvSpPr>
        <p:spPr>
          <a:xfrm>
            <a:off x="4526280" y="201168"/>
            <a:ext cx="1371600" cy="292608"/>
          </a:xfrm>
          <a:prstGeom prst="roundRect">
            <a:avLst>
              <a:gd name="adj" fmla="val 6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6280" y="219456"/>
            <a:ext cx="1371600" cy="256032"/>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Urgency 10/10</a:t>
            </a:r>
          </a:p>
        </p:txBody>
      </p:sp>
      <p:sp>
        <p:nvSpPr>
          <p:cNvPr id="28" name="Rounded Rectangle 27"/>
          <p:cNvSpPr/>
          <p:nvPr/>
        </p:nvSpPr>
        <p:spPr>
          <a:xfrm>
            <a:off x="5989320" y="201168"/>
            <a:ext cx="1097280" cy="292608"/>
          </a:xfrm>
          <a:prstGeom prst="roundRect">
            <a:avLst>
              <a:gd name="adj" fmla="val 6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89320" y="219456"/>
            <a:ext cx="1097280" cy="256032"/>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Wave 1</a:t>
            </a:r>
          </a:p>
        </p:txBody>
      </p:sp>
      <p:sp>
        <p:nvSpPr>
          <p:cNvPr id="30" name="TextBox 29"/>
          <p:cNvSpPr txBox="1"/>
          <p:nvPr/>
        </p:nvSpPr>
        <p:spPr>
          <a:xfrm>
            <a:off x="4526280" y="658368"/>
            <a:ext cx="7573975" cy="256032"/>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THE BUILD</a:t>
            </a:r>
          </a:p>
        </p:txBody>
      </p:sp>
      <p:sp>
        <p:nvSpPr>
          <p:cNvPr id="31" name="TextBox 30"/>
          <p:cNvSpPr txBox="1"/>
          <p:nvPr/>
        </p:nvSpPr>
        <p:spPr>
          <a:xfrm>
            <a:off x="4526280" y="950976"/>
            <a:ext cx="7573975" cy="1234440"/>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OpenHands builds a HIPAA-compliant recall automation: pulls overdue recall patients from Dentrix/Eaglesoft via API, sends personalized SMS + email sequences with online scheduling link, auto-confirms appointments, sends 48h + day-of reminders, flags no-shows for rebooking.</a:t>
            </a:r>
          </a:p>
        </p:txBody>
      </p:sp>
      <p:sp>
        <p:nvSpPr>
          <p:cNvPr id="32" name="Rounded Rectangle 31"/>
          <p:cNvSpPr/>
          <p:nvPr/>
        </p:nvSpPr>
        <p:spPr>
          <a:xfrm>
            <a:off x="4526280" y="2286000"/>
            <a:ext cx="7573975"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09160" y="2340864"/>
            <a:ext cx="7299655" cy="219456"/>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MONTHLY VALUE TO CLIENT</a:t>
            </a:r>
          </a:p>
        </p:txBody>
      </p:sp>
      <p:sp>
        <p:nvSpPr>
          <p:cNvPr id="34" name="TextBox 33"/>
          <p:cNvSpPr txBox="1"/>
          <p:nvPr/>
        </p:nvSpPr>
        <p:spPr>
          <a:xfrm>
            <a:off x="4709160" y="2560320"/>
            <a:ext cx="7299655" cy="237744"/>
          </a:xfrm>
          <a:prstGeom prst="rect">
            <a:avLst/>
          </a:prstGeom>
          <a:noFill/>
        </p:spPr>
        <p:txBody>
          <a:bodyPr wrap="square" anchor="t" lIns="0" rIns="0" tIns="0" bIns="0">
            <a:normAutofit/>
          </a:bodyPr>
          <a:lstStyle/>
          <a:p>
            <a:pPr algn="l">
              <a:lnSpc>
                <a:spcPct val="105000"/>
              </a:lnSpc>
              <a:spcBef>
                <a:spcPts val="0"/>
              </a:spcBef>
            </a:pPr>
            <a:r>
              <a:rPr sz="1200" b="1" i="0">
                <a:solidFill>
                  <a:srgbClr val="FFB800"/>
                </a:solidFill>
                <a:latin typeface="Calibri"/>
              </a:rPr>
              <a:t>15–40 additional hygiene appointments/month = $3,000–$8,000 in production</a:t>
            </a:r>
          </a:p>
        </p:txBody>
      </p:sp>
      <p:sp>
        <p:nvSpPr>
          <p:cNvPr id="35" name="Rectangle 34"/>
          <p:cNvSpPr/>
          <p:nvPr/>
        </p:nvSpPr>
        <p:spPr>
          <a:xfrm>
            <a:off x="4526280" y="2962656"/>
            <a:ext cx="7573975" cy="2377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3440" y="2980944"/>
            <a:ext cx="1371600" cy="201168"/>
          </a:xfrm>
          <a:prstGeom prst="rect">
            <a:avLst/>
          </a:prstGeom>
          <a:noFill/>
        </p:spPr>
        <p:txBody>
          <a:bodyPr wrap="square" anchor="t" lIns="0" rIns="0" tIns="0" bIns="0">
            <a:noAutofit/>
          </a:bodyPr>
          <a:lstStyle/>
          <a:p>
            <a:pPr algn="l">
              <a:lnSpc>
                <a:spcPct val="105000"/>
              </a:lnSpc>
              <a:spcBef>
                <a:spcPts val="0"/>
              </a:spcBef>
            </a:pPr>
            <a:r>
              <a:rPr sz="850" b="1" i="0">
                <a:solidFill>
                  <a:srgbClr val="5B6B7C"/>
                </a:solidFill>
                <a:latin typeface="Calibri"/>
              </a:rPr>
              <a:t>MCP SERVERS</a:t>
            </a:r>
          </a:p>
        </p:txBody>
      </p:sp>
      <p:sp>
        <p:nvSpPr>
          <p:cNvPr id="37" name="TextBox 36"/>
          <p:cNvSpPr txBox="1"/>
          <p:nvPr/>
        </p:nvSpPr>
        <p:spPr>
          <a:xfrm>
            <a:off x="6080760" y="2980944"/>
            <a:ext cx="5882335" cy="201168"/>
          </a:xfrm>
          <a:prstGeom prst="rect">
            <a:avLst/>
          </a:prstGeom>
          <a:noFill/>
        </p:spPr>
        <p:txBody>
          <a:bodyPr wrap="square" anchor="t" lIns="0" rIns="0" tIns="0" bIns="0">
            <a:normAutofit/>
          </a:bodyPr>
          <a:lstStyle/>
          <a:p>
            <a:pPr algn="l">
              <a:lnSpc>
                <a:spcPct val="105000"/>
              </a:lnSpc>
              <a:spcBef>
                <a:spcPts val="0"/>
              </a:spcBef>
            </a:pPr>
            <a:r>
              <a:rPr sz="900" b="0" i="0">
                <a:solidFill>
                  <a:srgbClr val="1B2B3C"/>
                </a:solidFill>
                <a:latin typeface="Calibri"/>
              </a:rPr>
              <a:t>GitHub, Twilio, Calendly/Acuity, Postgres (HIPAA), SendGrid</a:t>
            </a:r>
          </a:p>
        </p:txBody>
      </p:sp>
      <p:sp>
        <p:nvSpPr>
          <p:cNvPr id="38" name="Rectangle 37"/>
          <p:cNvSpPr/>
          <p:nvPr/>
        </p:nvSpPr>
        <p:spPr>
          <a:xfrm>
            <a:off x="4526280" y="3291840"/>
            <a:ext cx="7573975" cy="2377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63440" y="3310128"/>
            <a:ext cx="1371600" cy="201168"/>
          </a:xfrm>
          <a:prstGeom prst="rect">
            <a:avLst/>
          </a:prstGeom>
          <a:noFill/>
        </p:spPr>
        <p:txBody>
          <a:bodyPr wrap="square" anchor="t" lIns="0" rIns="0" tIns="0" bIns="0">
            <a:noAutofit/>
          </a:bodyPr>
          <a:lstStyle/>
          <a:p>
            <a:pPr algn="l">
              <a:lnSpc>
                <a:spcPct val="105000"/>
              </a:lnSpc>
              <a:spcBef>
                <a:spcPts val="0"/>
              </a:spcBef>
            </a:pPr>
            <a:r>
              <a:rPr sz="850" b="1" i="0">
                <a:solidFill>
                  <a:srgbClr val="5B6B7C"/>
                </a:solidFill>
                <a:latin typeface="Calibri"/>
              </a:rPr>
              <a:t>SUBAGENT</a:t>
            </a:r>
          </a:p>
        </p:txBody>
      </p:sp>
      <p:sp>
        <p:nvSpPr>
          <p:cNvPr id="40" name="TextBox 39"/>
          <p:cNvSpPr txBox="1"/>
          <p:nvPr/>
        </p:nvSpPr>
        <p:spPr>
          <a:xfrm>
            <a:off x="6080760" y="3310128"/>
            <a:ext cx="5882335" cy="201168"/>
          </a:xfrm>
          <a:prstGeom prst="rect">
            <a:avLst/>
          </a:prstGeom>
          <a:noFill/>
        </p:spPr>
        <p:txBody>
          <a:bodyPr wrap="square" anchor="t" lIns="0" rIns="0" tIns="0" bIns="0">
            <a:normAutofit/>
          </a:bodyPr>
          <a:lstStyle/>
          <a:p>
            <a:pPr algn="l">
              <a:lnSpc>
                <a:spcPct val="105000"/>
              </a:lnSpc>
              <a:spcBef>
                <a:spcPts val="0"/>
              </a:spcBef>
            </a:pPr>
            <a:r>
              <a:rPr sz="900" b="0" i="0">
                <a:solidFill>
                  <a:srgbClr val="1B2B3C"/>
                </a:solidFill>
                <a:latin typeface="Calibri"/>
              </a:rPr>
              <a:t>hipaa-auditor, patient-communication-specialist</a:t>
            </a:r>
          </a:p>
        </p:txBody>
      </p:sp>
      <p:sp>
        <p:nvSpPr>
          <p:cNvPr id="41" name="TextBox 4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42" name="TextBox 4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12 /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828800"/>
            <a:ext cx="7315200"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SECTION 03</a:t>
            </a:r>
          </a:p>
        </p:txBody>
      </p:sp>
      <p:sp>
        <p:nvSpPr>
          <p:cNvPr id="5" name="TextBox 4"/>
          <p:cNvSpPr txBox="1"/>
          <p:nvPr/>
        </p:nvSpPr>
        <p:spPr>
          <a:xfrm>
            <a:off x="411480" y="2331720"/>
            <a:ext cx="9144000" cy="1097280"/>
          </a:xfrm>
          <a:prstGeom prst="rect">
            <a:avLst/>
          </a:prstGeom>
          <a:noFill/>
        </p:spPr>
        <p:txBody>
          <a:bodyPr wrap="square" anchor="t" lIns="0" rIns="0" tIns="0" bIns="0">
            <a:normAutofit/>
          </a:bodyPr>
          <a:lstStyle/>
          <a:p>
            <a:pPr algn="l">
              <a:lnSpc>
                <a:spcPct val="105000"/>
              </a:lnSpc>
              <a:spcBef>
                <a:spcPts val="0"/>
              </a:spcBef>
            </a:pPr>
            <a:r>
              <a:rPr sz="4400" b="1" i="0">
                <a:solidFill>
                  <a:srgbClr val="FFFFFF"/>
                </a:solidFill>
                <a:latin typeface="Calibri"/>
              </a:rPr>
              <a:t>Law Firms (Solo + Small)</a:t>
            </a:r>
          </a:p>
        </p:txBody>
      </p:sp>
      <p:sp>
        <p:nvSpPr>
          <p:cNvPr id="6" name="Rectangle 5"/>
          <p:cNvSpPr/>
          <p:nvPr/>
        </p:nvSpPr>
        <p:spPr>
          <a:xfrm>
            <a:off x="411480" y="3520440"/>
            <a:ext cx="32004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3657600"/>
            <a:ext cx="9144000" cy="457200"/>
          </a:xfrm>
          <a:prstGeom prst="rect">
            <a:avLst/>
          </a:prstGeom>
          <a:noFill/>
        </p:spPr>
        <p:txBody>
          <a:bodyPr wrap="square" anchor="t" lIns="0" rIns="0" tIns="0" bIns="0">
            <a:noAutofit/>
          </a:bodyPr>
          <a:lstStyle/>
          <a:p>
            <a:pPr algn="l">
              <a:lnSpc>
                <a:spcPct val="105000"/>
              </a:lnSpc>
              <a:spcBef>
                <a:spcPts val="0"/>
              </a:spcBef>
            </a:pPr>
            <a:r>
              <a:rPr sz="1600" b="0" i="0">
                <a:solidFill>
                  <a:srgbClr val="E0F7F1"/>
                </a:solidFill>
                <a:latin typeface="Calibri"/>
              </a:rPr>
              <a:t>4 use cases · 26/35 score · CONDITIONAL · Document automation below UPL line</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OpenHands × SMB AI Engineering · Done-For-You · June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13 /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Law Firms — Use Cases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Frame as 'document automation', not 'AI lawyer'. Stays well below UPL risk.</a:t>
            </a:r>
          </a:p>
        </p:txBody>
      </p:sp>
      <p:sp>
        <p:nvSpPr>
          <p:cNvPr id="7" name="Rounded Rectangle 6"/>
          <p:cNvSpPr/>
          <p:nvPr/>
        </p:nvSpPr>
        <p:spPr>
          <a:xfrm>
            <a:off x="548640" y="16002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 y="17373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7556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#7</a:t>
            </a:r>
          </a:p>
        </p:txBody>
      </p:sp>
      <p:sp>
        <p:nvSpPr>
          <p:cNvPr id="10" name="Rounded Rectangle 9"/>
          <p:cNvSpPr/>
          <p:nvPr/>
        </p:nvSpPr>
        <p:spPr>
          <a:xfrm>
            <a:off x="5181447" y="1746504"/>
            <a:ext cx="658368" cy="237744"/>
          </a:xfrm>
          <a:prstGeom prst="roundRect">
            <a:avLst>
              <a:gd name="adj" fmla="val 8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81447" y="17465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9/10</a:t>
            </a:r>
          </a:p>
        </p:txBody>
      </p:sp>
      <p:sp>
        <p:nvSpPr>
          <p:cNvPr id="12" name="TextBox 11"/>
          <p:cNvSpPr txBox="1"/>
          <p:nvPr/>
        </p:nvSpPr>
        <p:spPr>
          <a:xfrm>
            <a:off x="1207008" y="17282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Contract Generation + E-Sign</a:t>
            </a:r>
          </a:p>
        </p:txBody>
      </p:sp>
      <p:sp>
        <p:nvSpPr>
          <p:cNvPr id="13" name="Rectangle 12"/>
          <p:cNvSpPr/>
          <p:nvPr/>
        </p:nvSpPr>
        <p:spPr>
          <a:xfrm>
            <a:off x="713232" y="22585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3317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Attorneys spend 30–90 min drafting standard engagement letters and NDAs from scratch — then chase clients for wet signatures via email.</a:t>
            </a:r>
          </a:p>
        </p:txBody>
      </p:sp>
      <p:sp>
        <p:nvSpPr>
          <p:cNvPr id="15" name="Rounded Rectangle 14"/>
          <p:cNvSpPr/>
          <p:nvPr/>
        </p:nvSpPr>
        <p:spPr>
          <a:xfrm>
            <a:off x="548640" y="35935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6118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10–20 hours/month recovered at $300–$500/hr billable rate</a:t>
            </a:r>
          </a:p>
        </p:txBody>
      </p:sp>
      <p:sp>
        <p:nvSpPr>
          <p:cNvPr id="17" name="Rounded Rectangle 16"/>
          <p:cNvSpPr/>
          <p:nvPr/>
        </p:nvSpPr>
        <p:spPr>
          <a:xfrm>
            <a:off x="6187287" y="16002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51879" y="17373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17556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#8</a:t>
            </a:r>
          </a:p>
        </p:txBody>
      </p:sp>
      <p:sp>
        <p:nvSpPr>
          <p:cNvPr id="20" name="Rounded Rectangle 19"/>
          <p:cNvSpPr/>
          <p:nvPr/>
        </p:nvSpPr>
        <p:spPr>
          <a:xfrm>
            <a:off x="10820095" y="1746504"/>
            <a:ext cx="658368" cy="237744"/>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20095" y="17465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8/10</a:t>
            </a:r>
          </a:p>
        </p:txBody>
      </p:sp>
      <p:sp>
        <p:nvSpPr>
          <p:cNvPr id="22" name="TextBox 21"/>
          <p:cNvSpPr txBox="1"/>
          <p:nvPr/>
        </p:nvSpPr>
        <p:spPr>
          <a:xfrm>
            <a:off x="6845655" y="17282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Client Intake Portal + Conflict Check</a:t>
            </a:r>
          </a:p>
        </p:txBody>
      </p:sp>
      <p:sp>
        <p:nvSpPr>
          <p:cNvPr id="23" name="Rectangle 22"/>
          <p:cNvSpPr/>
          <p:nvPr/>
        </p:nvSpPr>
        <p:spPr>
          <a:xfrm>
            <a:off x="6351879" y="22585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1879" y="23317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New client intake is done over phone with a legal pad — no structured data, no conflict check, prospects fall through.</a:t>
            </a:r>
          </a:p>
        </p:txBody>
      </p:sp>
      <p:sp>
        <p:nvSpPr>
          <p:cNvPr id="25" name="Rounded Rectangle 24"/>
          <p:cNvSpPr/>
          <p:nvPr/>
        </p:nvSpPr>
        <p:spPr>
          <a:xfrm>
            <a:off x="6187287" y="35935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1879" y="36118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2–5 additional retained clients/month who would have fallen off</a:t>
            </a:r>
          </a:p>
        </p:txBody>
      </p:sp>
      <p:sp>
        <p:nvSpPr>
          <p:cNvPr id="27" name="Rounded Rectangle 26"/>
          <p:cNvSpPr/>
          <p:nvPr/>
        </p:nvSpPr>
        <p:spPr>
          <a:xfrm>
            <a:off x="548640" y="41148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3232" y="42519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42702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#16</a:t>
            </a:r>
          </a:p>
        </p:txBody>
      </p:sp>
      <p:sp>
        <p:nvSpPr>
          <p:cNvPr id="30" name="Rounded Rectangle 29"/>
          <p:cNvSpPr/>
          <p:nvPr/>
        </p:nvSpPr>
        <p:spPr>
          <a:xfrm>
            <a:off x="5181447" y="4261104"/>
            <a:ext cx="658368" cy="237744"/>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81447" y="42611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8/10</a:t>
            </a:r>
          </a:p>
        </p:txBody>
      </p:sp>
      <p:sp>
        <p:nvSpPr>
          <p:cNvPr id="32" name="TextBox 31"/>
          <p:cNvSpPr txBox="1"/>
          <p:nvPr/>
        </p:nvSpPr>
        <p:spPr>
          <a:xfrm>
            <a:off x="1207008" y="42428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Billing Narrative Automation</a:t>
            </a:r>
          </a:p>
        </p:txBody>
      </p:sp>
      <p:sp>
        <p:nvSpPr>
          <p:cNvPr id="33" name="Rectangle 32"/>
          <p:cNvSpPr/>
          <p:nvPr/>
        </p:nvSpPr>
        <p:spPr>
          <a:xfrm>
            <a:off x="713232" y="47731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8463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Attorneys lose 10–20% of billable time to poor time entry — vague descriptions, forgotten timers, and reduced bills.</a:t>
            </a:r>
          </a:p>
        </p:txBody>
      </p:sp>
      <p:sp>
        <p:nvSpPr>
          <p:cNvPr id="35" name="Rounded Rectangle 34"/>
          <p:cNvSpPr/>
          <p:nvPr/>
        </p:nvSpPr>
        <p:spPr>
          <a:xfrm>
            <a:off x="548640" y="61081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61264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$2K–$8K/month in recovered billable time and reduced write-downs</a:t>
            </a:r>
          </a:p>
        </p:txBody>
      </p:sp>
      <p:sp>
        <p:nvSpPr>
          <p:cNvPr id="37" name="Rounded Rectangle 36"/>
          <p:cNvSpPr/>
          <p:nvPr/>
        </p:nvSpPr>
        <p:spPr>
          <a:xfrm>
            <a:off x="6187287" y="41148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351879" y="42519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1879" y="42702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#15</a:t>
            </a:r>
          </a:p>
        </p:txBody>
      </p:sp>
      <p:sp>
        <p:nvSpPr>
          <p:cNvPr id="40" name="Rounded Rectangle 39"/>
          <p:cNvSpPr/>
          <p:nvPr/>
        </p:nvSpPr>
        <p:spPr>
          <a:xfrm>
            <a:off x="10820095" y="4261104"/>
            <a:ext cx="658368" cy="237744"/>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20095" y="42611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8/10</a:t>
            </a:r>
          </a:p>
        </p:txBody>
      </p:sp>
      <p:sp>
        <p:nvSpPr>
          <p:cNvPr id="42" name="TextBox 41"/>
          <p:cNvSpPr txBox="1"/>
          <p:nvPr/>
        </p:nvSpPr>
        <p:spPr>
          <a:xfrm>
            <a:off x="6845655" y="42428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Discovery Document Review + Summary</a:t>
            </a:r>
          </a:p>
        </p:txBody>
      </p:sp>
      <p:sp>
        <p:nvSpPr>
          <p:cNvPr id="43" name="Rectangle 42"/>
          <p:cNvSpPr/>
          <p:nvPr/>
        </p:nvSpPr>
        <p:spPr>
          <a:xfrm>
            <a:off x="6351879" y="47731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51879" y="48463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Associates spend 40–80 hours reviewing document productions in discovery at $200–$400/hr — no strategic value.</a:t>
            </a:r>
          </a:p>
        </p:txBody>
      </p:sp>
      <p:sp>
        <p:nvSpPr>
          <p:cNvPr id="45" name="Rounded Rectangle 44"/>
          <p:cNvSpPr/>
          <p:nvPr/>
        </p:nvSpPr>
        <p:spPr>
          <a:xfrm>
            <a:off x="6187287" y="61081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1879" y="61264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$5K–$20K in associate time saved per discovery production</a:t>
            </a:r>
          </a:p>
        </p:txBody>
      </p:sp>
      <p:sp>
        <p:nvSpPr>
          <p:cNvPr id="47" name="TextBox 4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48" name="TextBox 4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14 /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4114800" cy="676656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1440"/>
            <a:ext cx="91440" cy="67665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201168"/>
            <a:ext cx="3794760" cy="292608"/>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#7  ·  LAW FIRMS (SOLO + SMALL)</a:t>
            </a:r>
          </a:p>
        </p:txBody>
      </p:sp>
      <p:sp>
        <p:nvSpPr>
          <p:cNvPr id="7" name="TextBox 6"/>
          <p:cNvSpPr txBox="1"/>
          <p:nvPr/>
        </p:nvSpPr>
        <p:spPr>
          <a:xfrm>
            <a:off x="228600" y="530352"/>
            <a:ext cx="3794760" cy="914400"/>
          </a:xfrm>
          <a:prstGeom prst="rect">
            <a:avLst/>
          </a:prstGeom>
          <a:noFill/>
        </p:spPr>
        <p:txBody>
          <a:bodyPr wrap="square" anchor="t" lIns="0" rIns="0" tIns="0" bIns="0">
            <a:normAutofit/>
          </a:bodyPr>
          <a:lstStyle/>
          <a:p>
            <a:pPr algn="l">
              <a:lnSpc>
                <a:spcPct val="105000"/>
              </a:lnSpc>
              <a:spcBef>
                <a:spcPts val="0"/>
              </a:spcBef>
            </a:pPr>
            <a:r>
              <a:rPr sz="2200" b="1" i="0">
                <a:solidFill>
                  <a:srgbClr val="FFFFFF"/>
                </a:solidFill>
                <a:latin typeface="Calibri"/>
              </a:rPr>
              <a:t>Contract Generation + E-Signature Automation</a:t>
            </a:r>
          </a:p>
        </p:txBody>
      </p:sp>
      <p:sp>
        <p:nvSpPr>
          <p:cNvPr id="8" name="Rectangle 7"/>
          <p:cNvSpPr/>
          <p:nvPr/>
        </p:nvSpPr>
        <p:spPr>
          <a:xfrm>
            <a:off x="228600" y="1536192"/>
            <a:ext cx="18288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64208"/>
            <a:ext cx="3794760" cy="256032"/>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THE PAIN</a:t>
            </a:r>
          </a:p>
        </p:txBody>
      </p:sp>
      <p:sp>
        <p:nvSpPr>
          <p:cNvPr id="10" name="TextBox 9"/>
          <p:cNvSpPr txBox="1"/>
          <p:nvPr/>
        </p:nvSpPr>
        <p:spPr>
          <a:xfrm>
            <a:off x="228600" y="1938528"/>
            <a:ext cx="3794760" cy="914400"/>
          </a:xfrm>
          <a:prstGeom prst="rect">
            <a:avLst/>
          </a:prstGeom>
          <a:noFill/>
        </p:spPr>
        <p:txBody>
          <a:bodyPr wrap="square" anchor="t" lIns="0" rIns="0" tIns="0" bIns="0">
            <a:normAutofit/>
          </a:bodyPr>
          <a:lstStyle/>
          <a:p>
            <a:pPr algn="l">
              <a:lnSpc>
                <a:spcPct val="120000"/>
              </a:lnSpc>
              <a:spcBef>
                <a:spcPts val="0"/>
              </a:spcBef>
            </a:pPr>
            <a:r>
              <a:rPr sz="1100" b="0" i="0">
                <a:solidFill>
                  <a:srgbClr val="E0F7F1"/>
                </a:solidFill>
                <a:latin typeface="Calibri"/>
              </a:rPr>
              <a:t>Attorneys spend 30–90 minutes per client drafting standard engagement letters, NDAs, and boilerplate contracts from scratch in Word — and then chase clients for wet signatures via email.</a:t>
            </a:r>
          </a:p>
        </p:txBody>
      </p:sp>
      <p:sp>
        <p:nvSpPr>
          <p:cNvPr id="11" name="TextBox 10"/>
          <p:cNvSpPr txBox="1"/>
          <p:nvPr/>
        </p:nvSpPr>
        <p:spPr>
          <a:xfrm>
            <a:off x="228600" y="2944368"/>
            <a:ext cx="3794760" cy="256032"/>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HOW IT WORKS</a:t>
            </a:r>
          </a:p>
        </p:txBody>
      </p:sp>
      <p:sp>
        <p:nvSpPr>
          <p:cNvPr id="12" name="Rounded Rectangle 11"/>
          <p:cNvSpPr/>
          <p:nvPr/>
        </p:nvSpPr>
        <p:spPr>
          <a:xfrm>
            <a:off x="228600" y="3246120"/>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 y="3246120"/>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1</a:t>
            </a:r>
          </a:p>
        </p:txBody>
      </p:sp>
      <p:sp>
        <p:nvSpPr>
          <p:cNvPr id="14" name="TextBox 13"/>
          <p:cNvSpPr txBox="1"/>
          <p:nvPr/>
        </p:nvSpPr>
        <p:spPr>
          <a:xfrm>
            <a:off x="594360" y="3282696"/>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Attorney inputs client name + matter type via simple form</a:t>
            </a:r>
          </a:p>
        </p:txBody>
      </p:sp>
      <p:sp>
        <p:nvSpPr>
          <p:cNvPr id="15" name="Rounded Rectangle 14"/>
          <p:cNvSpPr/>
          <p:nvPr/>
        </p:nvSpPr>
        <p:spPr>
          <a:xfrm>
            <a:off x="228600" y="3721608"/>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600" y="3721608"/>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2</a:t>
            </a:r>
          </a:p>
        </p:txBody>
      </p:sp>
      <p:sp>
        <p:nvSpPr>
          <p:cNvPr id="17" name="TextBox 16"/>
          <p:cNvSpPr txBox="1"/>
          <p:nvPr/>
        </p:nvSpPr>
        <p:spPr>
          <a:xfrm>
            <a:off x="594360" y="3758184"/>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Agent selects correct template from firm library, customizes all fields</a:t>
            </a:r>
          </a:p>
        </p:txBody>
      </p:sp>
      <p:sp>
        <p:nvSpPr>
          <p:cNvPr id="18" name="Rounded Rectangle 17"/>
          <p:cNvSpPr/>
          <p:nvPr/>
        </p:nvSpPr>
        <p:spPr>
          <a:xfrm>
            <a:off x="228600" y="4197096"/>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8600" y="4197096"/>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3</a:t>
            </a:r>
          </a:p>
        </p:txBody>
      </p:sp>
      <p:sp>
        <p:nvSpPr>
          <p:cNvPr id="20" name="TextBox 19"/>
          <p:cNvSpPr txBox="1"/>
          <p:nvPr/>
        </p:nvSpPr>
        <p:spPr>
          <a:xfrm>
            <a:off x="594360" y="4233672"/>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Generates branded PDF; fires DocuSign e-signature request automatically</a:t>
            </a:r>
          </a:p>
        </p:txBody>
      </p:sp>
      <p:sp>
        <p:nvSpPr>
          <p:cNvPr id="21" name="Rounded Rectangle 20"/>
          <p:cNvSpPr/>
          <p:nvPr/>
        </p:nvSpPr>
        <p:spPr>
          <a:xfrm>
            <a:off x="228600" y="4672584"/>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8600" y="4672584"/>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4</a:t>
            </a:r>
          </a:p>
        </p:txBody>
      </p:sp>
      <p:sp>
        <p:nvSpPr>
          <p:cNvPr id="23" name="TextBox 22"/>
          <p:cNvSpPr txBox="1"/>
          <p:nvPr/>
        </p:nvSpPr>
        <p:spPr>
          <a:xfrm>
            <a:off x="594360" y="4709160"/>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Logs countersigned document to Clio; invoices retainer via Stripe</a:t>
            </a:r>
          </a:p>
        </p:txBody>
      </p:sp>
      <p:sp>
        <p:nvSpPr>
          <p:cNvPr id="24" name="Rounded Rectangle 23"/>
          <p:cNvSpPr/>
          <p:nvPr/>
        </p:nvSpPr>
        <p:spPr>
          <a:xfrm>
            <a:off x="137160" y="5806440"/>
            <a:ext cx="3886200" cy="77724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00" y="5833872"/>
            <a:ext cx="3749040" cy="722376"/>
          </a:xfrm>
          <a:prstGeom prst="rect">
            <a:avLst/>
          </a:prstGeom>
          <a:noFill/>
        </p:spPr>
        <p:txBody>
          <a:bodyPr wrap="square" anchor="t" lIns="0" rIns="0" tIns="0" bIns="0">
            <a:normAutofit/>
          </a:bodyPr>
          <a:lstStyle/>
          <a:p>
            <a:pPr algn="l">
              <a:lnSpc>
                <a:spcPct val="105000"/>
              </a:lnSpc>
              <a:spcBef>
                <a:spcPts val="0"/>
              </a:spcBef>
            </a:pPr>
            <a:r>
              <a:rPr sz="1000" b="0" i="1">
                <a:solidFill>
                  <a:srgbClr val="F2A83B"/>
                </a:solidFill>
                <a:latin typeface="Calibri"/>
              </a:rPr>
              <a:t>"I spend an hour drafting an NDA I've drafted 200 times before. That's an hour I'm not billing."</a:t>
            </a:r>
          </a:p>
        </p:txBody>
      </p:sp>
      <p:sp>
        <p:nvSpPr>
          <p:cNvPr id="26" name="Rounded Rectangle 25"/>
          <p:cNvSpPr/>
          <p:nvPr/>
        </p:nvSpPr>
        <p:spPr>
          <a:xfrm>
            <a:off x="4526280" y="201168"/>
            <a:ext cx="1371600" cy="292608"/>
          </a:xfrm>
          <a:prstGeom prst="roundRect">
            <a:avLst>
              <a:gd name="adj" fmla="val 6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6280" y="219456"/>
            <a:ext cx="1371600" cy="256032"/>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Urgency 9/10</a:t>
            </a:r>
          </a:p>
        </p:txBody>
      </p:sp>
      <p:sp>
        <p:nvSpPr>
          <p:cNvPr id="28" name="Rounded Rectangle 27"/>
          <p:cNvSpPr/>
          <p:nvPr/>
        </p:nvSpPr>
        <p:spPr>
          <a:xfrm>
            <a:off x="5989320" y="201168"/>
            <a:ext cx="1097280" cy="292608"/>
          </a:xfrm>
          <a:prstGeom prst="roundRect">
            <a:avLst>
              <a:gd name="adj" fmla="val 6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89320" y="219456"/>
            <a:ext cx="1097280" cy="256032"/>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Wave 1</a:t>
            </a:r>
          </a:p>
        </p:txBody>
      </p:sp>
      <p:sp>
        <p:nvSpPr>
          <p:cNvPr id="30" name="TextBox 29"/>
          <p:cNvSpPr txBox="1"/>
          <p:nvPr/>
        </p:nvSpPr>
        <p:spPr>
          <a:xfrm>
            <a:off x="4526280" y="658368"/>
            <a:ext cx="7573975" cy="256032"/>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THE BUILD</a:t>
            </a:r>
          </a:p>
        </p:txBody>
      </p:sp>
      <p:sp>
        <p:nvSpPr>
          <p:cNvPr id="31" name="TextBox 30"/>
          <p:cNvSpPr txBox="1"/>
          <p:nvPr/>
        </p:nvSpPr>
        <p:spPr>
          <a:xfrm>
            <a:off x="4526280" y="950976"/>
            <a:ext cx="7573975" cy="1234440"/>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OpenHands builds a contract factory: attorney inputs client details + matter type → agent selects the right template → customizes with client/matter specifics → generates PDF → sends DocuSign link → logs signed version to Clio/case file automatically.</a:t>
            </a:r>
          </a:p>
        </p:txBody>
      </p:sp>
      <p:sp>
        <p:nvSpPr>
          <p:cNvPr id="32" name="Rounded Rectangle 31"/>
          <p:cNvSpPr/>
          <p:nvPr/>
        </p:nvSpPr>
        <p:spPr>
          <a:xfrm>
            <a:off x="4526280" y="2286000"/>
            <a:ext cx="7573975"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09160" y="2340864"/>
            <a:ext cx="7299655" cy="219456"/>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MONTHLY VALUE TO CLIENT</a:t>
            </a:r>
          </a:p>
        </p:txBody>
      </p:sp>
      <p:sp>
        <p:nvSpPr>
          <p:cNvPr id="34" name="TextBox 33"/>
          <p:cNvSpPr txBox="1"/>
          <p:nvPr/>
        </p:nvSpPr>
        <p:spPr>
          <a:xfrm>
            <a:off x="4709160" y="2560320"/>
            <a:ext cx="7299655" cy="237744"/>
          </a:xfrm>
          <a:prstGeom prst="rect">
            <a:avLst/>
          </a:prstGeom>
          <a:noFill/>
        </p:spPr>
        <p:txBody>
          <a:bodyPr wrap="square" anchor="t" lIns="0" rIns="0" tIns="0" bIns="0">
            <a:normAutofit/>
          </a:bodyPr>
          <a:lstStyle/>
          <a:p>
            <a:pPr algn="l">
              <a:lnSpc>
                <a:spcPct val="105000"/>
              </a:lnSpc>
              <a:spcBef>
                <a:spcPts val="0"/>
              </a:spcBef>
            </a:pPr>
            <a:r>
              <a:rPr sz="1200" b="1" i="0">
                <a:solidFill>
                  <a:srgbClr val="FFB800"/>
                </a:solidFill>
                <a:latin typeface="Calibri"/>
              </a:rPr>
              <a:t>10–20 hours/month recovered at $300–$500/hr = $3,000–$10,000 in recovered time</a:t>
            </a:r>
          </a:p>
        </p:txBody>
      </p:sp>
      <p:sp>
        <p:nvSpPr>
          <p:cNvPr id="35" name="Rectangle 34"/>
          <p:cNvSpPr/>
          <p:nvPr/>
        </p:nvSpPr>
        <p:spPr>
          <a:xfrm>
            <a:off x="4526280" y="2962656"/>
            <a:ext cx="7573975" cy="2377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3440" y="2980944"/>
            <a:ext cx="1371600" cy="201168"/>
          </a:xfrm>
          <a:prstGeom prst="rect">
            <a:avLst/>
          </a:prstGeom>
          <a:noFill/>
        </p:spPr>
        <p:txBody>
          <a:bodyPr wrap="square" anchor="t" lIns="0" rIns="0" tIns="0" bIns="0">
            <a:noAutofit/>
          </a:bodyPr>
          <a:lstStyle/>
          <a:p>
            <a:pPr algn="l">
              <a:lnSpc>
                <a:spcPct val="105000"/>
              </a:lnSpc>
              <a:spcBef>
                <a:spcPts val="0"/>
              </a:spcBef>
            </a:pPr>
            <a:r>
              <a:rPr sz="850" b="1" i="0">
                <a:solidFill>
                  <a:srgbClr val="5B6B7C"/>
                </a:solidFill>
                <a:latin typeface="Calibri"/>
              </a:rPr>
              <a:t>MCP SERVERS</a:t>
            </a:r>
          </a:p>
        </p:txBody>
      </p:sp>
      <p:sp>
        <p:nvSpPr>
          <p:cNvPr id="37" name="TextBox 36"/>
          <p:cNvSpPr txBox="1"/>
          <p:nvPr/>
        </p:nvSpPr>
        <p:spPr>
          <a:xfrm>
            <a:off x="6080760" y="2980944"/>
            <a:ext cx="5882335" cy="201168"/>
          </a:xfrm>
          <a:prstGeom prst="rect">
            <a:avLst/>
          </a:prstGeom>
          <a:noFill/>
        </p:spPr>
        <p:txBody>
          <a:bodyPr wrap="square" anchor="t" lIns="0" rIns="0" tIns="0" bIns="0">
            <a:normAutofit/>
          </a:bodyPr>
          <a:lstStyle/>
          <a:p>
            <a:pPr algn="l">
              <a:lnSpc>
                <a:spcPct val="105000"/>
              </a:lnSpc>
              <a:spcBef>
                <a:spcPts val="0"/>
              </a:spcBef>
            </a:pPr>
            <a:r>
              <a:rPr sz="900" b="0" i="0">
                <a:solidFill>
                  <a:srgbClr val="1B2B3C"/>
                </a:solidFill>
                <a:latin typeface="Calibri"/>
              </a:rPr>
              <a:t>GitHub, DocuSign API, Clio API, Google Drive, Stripe</a:t>
            </a:r>
          </a:p>
        </p:txBody>
      </p:sp>
      <p:sp>
        <p:nvSpPr>
          <p:cNvPr id="38" name="Rectangle 37"/>
          <p:cNvSpPr/>
          <p:nvPr/>
        </p:nvSpPr>
        <p:spPr>
          <a:xfrm>
            <a:off x="4526280" y="3291840"/>
            <a:ext cx="7573975" cy="2377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63440" y="3310128"/>
            <a:ext cx="1371600" cy="201168"/>
          </a:xfrm>
          <a:prstGeom prst="rect">
            <a:avLst/>
          </a:prstGeom>
          <a:noFill/>
        </p:spPr>
        <p:txBody>
          <a:bodyPr wrap="square" anchor="t" lIns="0" rIns="0" tIns="0" bIns="0">
            <a:noAutofit/>
          </a:bodyPr>
          <a:lstStyle/>
          <a:p>
            <a:pPr algn="l">
              <a:lnSpc>
                <a:spcPct val="105000"/>
              </a:lnSpc>
              <a:spcBef>
                <a:spcPts val="0"/>
              </a:spcBef>
            </a:pPr>
            <a:r>
              <a:rPr sz="850" b="1" i="0">
                <a:solidFill>
                  <a:srgbClr val="5B6B7C"/>
                </a:solidFill>
                <a:latin typeface="Calibri"/>
              </a:rPr>
              <a:t>SUBAGENT</a:t>
            </a:r>
          </a:p>
        </p:txBody>
      </p:sp>
      <p:sp>
        <p:nvSpPr>
          <p:cNvPr id="40" name="TextBox 39"/>
          <p:cNvSpPr txBox="1"/>
          <p:nvPr/>
        </p:nvSpPr>
        <p:spPr>
          <a:xfrm>
            <a:off x="6080760" y="3310128"/>
            <a:ext cx="5882335" cy="201168"/>
          </a:xfrm>
          <a:prstGeom prst="rect">
            <a:avLst/>
          </a:prstGeom>
          <a:noFill/>
        </p:spPr>
        <p:txBody>
          <a:bodyPr wrap="square" anchor="t" lIns="0" rIns="0" tIns="0" bIns="0">
            <a:normAutofit/>
          </a:bodyPr>
          <a:lstStyle/>
          <a:p>
            <a:pPr algn="l">
              <a:lnSpc>
                <a:spcPct val="105000"/>
              </a:lnSpc>
              <a:spcBef>
                <a:spcPts val="0"/>
              </a:spcBef>
            </a:pPr>
            <a:r>
              <a:rPr sz="900" b="0" i="0">
                <a:solidFill>
                  <a:srgbClr val="1B2B3C"/>
                </a:solidFill>
                <a:latin typeface="Calibri"/>
              </a:rPr>
              <a:t>document-automation, legal-workflow-specialist</a:t>
            </a:r>
          </a:p>
        </p:txBody>
      </p:sp>
      <p:sp>
        <p:nvSpPr>
          <p:cNvPr id="41" name="TextBox 4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42" name="TextBox 4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15 /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828800"/>
            <a:ext cx="7315200"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SECTION 04</a:t>
            </a:r>
          </a:p>
        </p:txBody>
      </p:sp>
      <p:sp>
        <p:nvSpPr>
          <p:cNvPr id="5" name="TextBox 4"/>
          <p:cNvSpPr txBox="1"/>
          <p:nvPr/>
        </p:nvSpPr>
        <p:spPr>
          <a:xfrm>
            <a:off x="411480" y="2331720"/>
            <a:ext cx="9144000" cy="1097280"/>
          </a:xfrm>
          <a:prstGeom prst="rect">
            <a:avLst/>
          </a:prstGeom>
          <a:noFill/>
        </p:spPr>
        <p:txBody>
          <a:bodyPr wrap="square" anchor="t" lIns="0" rIns="0" tIns="0" bIns="0">
            <a:normAutofit/>
          </a:bodyPr>
          <a:lstStyle/>
          <a:p>
            <a:pPr algn="l">
              <a:lnSpc>
                <a:spcPct val="105000"/>
              </a:lnSpc>
              <a:spcBef>
                <a:spcPts val="0"/>
              </a:spcBef>
            </a:pPr>
            <a:r>
              <a:rPr sz="4400" b="1" i="0">
                <a:solidFill>
                  <a:srgbClr val="FFFFFF"/>
                </a:solidFill>
                <a:latin typeface="Calibri"/>
              </a:rPr>
              <a:t>E-Commerce Brands</a:t>
            </a:r>
          </a:p>
        </p:txBody>
      </p:sp>
      <p:sp>
        <p:nvSpPr>
          <p:cNvPr id="6" name="Rectangle 5"/>
          <p:cNvSpPr/>
          <p:nvPr/>
        </p:nvSpPr>
        <p:spPr>
          <a:xfrm>
            <a:off x="411480" y="3520440"/>
            <a:ext cx="32004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3657600"/>
            <a:ext cx="9144000" cy="457200"/>
          </a:xfrm>
          <a:prstGeom prst="rect">
            <a:avLst/>
          </a:prstGeom>
          <a:noFill/>
        </p:spPr>
        <p:txBody>
          <a:bodyPr wrap="square" anchor="t" lIns="0" rIns="0" tIns="0" bIns="0">
            <a:noAutofit/>
          </a:bodyPr>
          <a:lstStyle/>
          <a:p>
            <a:pPr algn="l">
              <a:lnSpc>
                <a:spcPct val="105000"/>
              </a:lnSpc>
              <a:spcBef>
                <a:spcPts val="0"/>
              </a:spcBef>
            </a:pPr>
            <a:r>
              <a:rPr sz="1600" b="0" i="0">
                <a:solidFill>
                  <a:srgbClr val="E0F7F1"/>
                </a:solidFill>
                <a:latin typeface="Calibri"/>
              </a:rPr>
              <a:t>4 use cases · 29/35 score · CONDITIONAL · Shopify-first · Direct revenue recovery</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OpenHands × SMB AI Engineering · Done-For-You · June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16 /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E-Commerce — Use Cases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Shopify-native. Founder gets their mornings back. Revenue impact visible in week 1.</a:t>
            </a:r>
          </a:p>
        </p:txBody>
      </p:sp>
      <p:sp>
        <p:nvSpPr>
          <p:cNvPr id="7" name="Rounded Rectangle 6"/>
          <p:cNvSpPr/>
          <p:nvPr/>
        </p:nvSpPr>
        <p:spPr>
          <a:xfrm>
            <a:off x="548640" y="16002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 y="17373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7556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#10</a:t>
            </a:r>
          </a:p>
        </p:txBody>
      </p:sp>
      <p:sp>
        <p:nvSpPr>
          <p:cNvPr id="10" name="Rounded Rectangle 9"/>
          <p:cNvSpPr/>
          <p:nvPr/>
        </p:nvSpPr>
        <p:spPr>
          <a:xfrm>
            <a:off x="5181447" y="1746504"/>
            <a:ext cx="658368" cy="237744"/>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81447" y="17465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8/10</a:t>
            </a:r>
          </a:p>
        </p:txBody>
      </p:sp>
      <p:sp>
        <p:nvSpPr>
          <p:cNvPr id="12" name="TextBox 11"/>
          <p:cNvSpPr txBox="1"/>
          <p:nvPr/>
        </p:nvSpPr>
        <p:spPr>
          <a:xfrm>
            <a:off x="1207008" y="17282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Product Description Factory</a:t>
            </a:r>
          </a:p>
        </p:txBody>
      </p:sp>
      <p:sp>
        <p:nvSpPr>
          <p:cNvPr id="13" name="Rectangle 12"/>
          <p:cNvSpPr/>
          <p:nvPr/>
        </p:nvSpPr>
        <p:spPr>
          <a:xfrm>
            <a:off x="713232" y="22585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3317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Store owners manually write descriptions for every SKU — for a 500-product catalog, this is weeks of work and descriptions go stale.</a:t>
            </a:r>
          </a:p>
        </p:txBody>
      </p:sp>
      <p:sp>
        <p:nvSpPr>
          <p:cNvPr id="15" name="Rounded Rectangle 14"/>
          <p:cNvSpPr/>
          <p:nvPr/>
        </p:nvSpPr>
        <p:spPr>
          <a:xfrm>
            <a:off x="548640" y="35935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6118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40–200 hours of copywriting saved; better SEO = organic traffic gains</a:t>
            </a:r>
          </a:p>
        </p:txBody>
      </p:sp>
      <p:sp>
        <p:nvSpPr>
          <p:cNvPr id="17" name="Rounded Rectangle 16"/>
          <p:cNvSpPr/>
          <p:nvPr/>
        </p:nvSpPr>
        <p:spPr>
          <a:xfrm>
            <a:off x="6187287" y="16002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51879" y="17373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17556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#11</a:t>
            </a:r>
          </a:p>
        </p:txBody>
      </p:sp>
      <p:sp>
        <p:nvSpPr>
          <p:cNvPr id="20" name="Rounded Rectangle 19"/>
          <p:cNvSpPr/>
          <p:nvPr/>
        </p:nvSpPr>
        <p:spPr>
          <a:xfrm>
            <a:off x="10820095" y="1746504"/>
            <a:ext cx="658368" cy="237744"/>
          </a:xfrm>
          <a:prstGeom prst="roundRect">
            <a:avLst>
              <a:gd name="adj" fmla="val 8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20095" y="17465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9/10</a:t>
            </a:r>
          </a:p>
        </p:txBody>
      </p:sp>
      <p:sp>
        <p:nvSpPr>
          <p:cNvPr id="22" name="TextBox 21"/>
          <p:cNvSpPr txBox="1"/>
          <p:nvPr/>
        </p:nvSpPr>
        <p:spPr>
          <a:xfrm>
            <a:off x="6845655" y="17282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Abandoned Cart Recovery System</a:t>
            </a:r>
          </a:p>
        </p:txBody>
      </p:sp>
      <p:sp>
        <p:nvSpPr>
          <p:cNvPr id="23" name="Rectangle 22"/>
          <p:cNvSpPr/>
          <p:nvPr/>
        </p:nvSpPr>
        <p:spPr>
          <a:xfrm>
            <a:off x="6351879" y="22585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1879" y="23317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70% of carts are abandoned. Basic Klaviyo 3-email sequence is generic — not tailored to what the customer actually browsed.</a:t>
            </a:r>
          </a:p>
        </p:txBody>
      </p:sp>
      <p:sp>
        <p:nvSpPr>
          <p:cNvPr id="25" name="Rounded Rectangle 24"/>
          <p:cNvSpPr/>
          <p:nvPr/>
        </p:nvSpPr>
        <p:spPr>
          <a:xfrm>
            <a:off x="6187287" y="35935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1879" y="36118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10–25% cart recovery rate = $2K–$10K/month in recovered sales</a:t>
            </a:r>
          </a:p>
        </p:txBody>
      </p:sp>
      <p:sp>
        <p:nvSpPr>
          <p:cNvPr id="27" name="Rounded Rectangle 26"/>
          <p:cNvSpPr/>
          <p:nvPr/>
        </p:nvSpPr>
        <p:spPr>
          <a:xfrm>
            <a:off x="548640" y="41148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3232" y="42519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42702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#19</a:t>
            </a:r>
          </a:p>
        </p:txBody>
      </p:sp>
      <p:sp>
        <p:nvSpPr>
          <p:cNvPr id="30" name="Rounded Rectangle 29"/>
          <p:cNvSpPr/>
          <p:nvPr/>
        </p:nvSpPr>
        <p:spPr>
          <a:xfrm>
            <a:off x="5181447" y="4261104"/>
            <a:ext cx="658368" cy="237744"/>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81447" y="42611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8/10</a:t>
            </a:r>
          </a:p>
        </p:txBody>
      </p:sp>
      <p:sp>
        <p:nvSpPr>
          <p:cNvPr id="32" name="TextBox 31"/>
          <p:cNvSpPr txBox="1"/>
          <p:nvPr/>
        </p:nvSpPr>
        <p:spPr>
          <a:xfrm>
            <a:off x="1207008" y="42428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Customer Service Response Automation</a:t>
            </a:r>
          </a:p>
        </p:txBody>
      </p:sp>
      <p:sp>
        <p:nvSpPr>
          <p:cNvPr id="33" name="Rectangle 32"/>
          <p:cNvSpPr/>
          <p:nvPr/>
        </p:nvSpPr>
        <p:spPr>
          <a:xfrm>
            <a:off x="713232" y="47731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8463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DTC founder with 500+ monthly orders receives 50–100 CS emails/day (WISMO, returns, questions) — loses 3–4 hours daily.</a:t>
            </a:r>
          </a:p>
        </p:txBody>
      </p:sp>
      <p:sp>
        <p:nvSpPr>
          <p:cNvPr id="35" name="Rounded Rectangle 34"/>
          <p:cNvSpPr/>
          <p:nvPr/>
        </p:nvSpPr>
        <p:spPr>
          <a:xfrm>
            <a:off x="548640" y="61081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61264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3–4 hours/day recovered; 90% of CS volume automated</a:t>
            </a:r>
          </a:p>
        </p:txBody>
      </p:sp>
      <p:sp>
        <p:nvSpPr>
          <p:cNvPr id="37" name="Rounded Rectangle 36"/>
          <p:cNvSpPr/>
          <p:nvPr/>
        </p:nvSpPr>
        <p:spPr>
          <a:xfrm>
            <a:off x="6187287" y="41148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351879" y="42519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1879" y="42702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#20</a:t>
            </a:r>
          </a:p>
        </p:txBody>
      </p:sp>
      <p:sp>
        <p:nvSpPr>
          <p:cNvPr id="40" name="Rounded Rectangle 39"/>
          <p:cNvSpPr/>
          <p:nvPr/>
        </p:nvSpPr>
        <p:spPr>
          <a:xfrm>
            <a:off x="10820095" y="4261104"/>
            <a:ext cx="658368" cy="237744"/>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20095" y="42611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7/10</a:t>
            </a:r>
          </a:p>
        </p:txBody>
      </p:sp>
      <p:sp>
        <p:nvSpPr>
          <p:cNvPr id="42" name="TextBox 41"/>
          <p:cNvSpPr txBox="1"/>
          <p:nvPr/>
        </p:nvSpPr>
        <p:spPr>
          <a:xfrm>
            <a:off x="6845655" y="42428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Inventory Reorder Trigger System</a:t>
            </a:r>
          </a:p>
        </p:txBody>
      </p:sp>
      <p:sp>
        <p:nvSpPr>
          <p:cNvPr id="43" name="Rectangle 42"/>
          <p:cNvSpPr/>
          <p:nvPr/>
        </p:nvSpPr>
        <p:spPr>
          <a:xfrm>
            <a:off x="6351879" y="47731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51879" y="48463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Owners stockout on bestsellers because they're monitoring inventory in a spreadsheet and reorder 2 weeks too late.</a:t>
            </a:r>
          </a:p>
        </p:txBody>
      </p:sp>
      <p:sp>
        <p:nvSpPr>
          <p:cNvPr id="45" name="Rounded Rectangle 44"/>
          <p:cNvSpPr/>
          <p:nvPr/>
        </p:nvSpPr>
        <p:spPr>
          <a:xfrm>
            <a:off x="6187287" y="61081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1879" y="61264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Eliminates 2–4 stockout events/year = $10K–$80K in recovered sales</a:t>
            </a:r>
          </a:p>
        </p:txBody>
      </p:sp>
      <p:sp>
        <p:nvSpPr>
          <p:cNvPr id="47" name="TextBox 4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48" name="TextBox 4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17 /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4114800" cy="676656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1440"/>
            <a:ext cx="91440" cy="67665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201168"/>
            <a:ext cx="3794760" cy="292608"/>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#11  ·  E-COMMERCE (SHOPIFY)</a:t>
            </a:r>
          </a:p>
        </p:txBody>
      </p:sp>
      <p:sp>
        <p:nvSpPr>
          <p:cNvPr id="7" name="TextBox 6"/>
          <p:cNvSpPr txBox="1"/>
          <p:nvPr/>
        </p:nvSpPr>
        <p:spPr>
          <a:xfrm>
            <a:off x="228600" y="530352"/>
            <a:ext cx="3794760" cy="914400"/>
          </a:xfrm>
          <a:prstGeom prst="rect">
            <a:avLst/>
          </a:prstGeom>
          <a:noFill/>
        </p:spPr>
        <p:txBody>
          <a:bodyPr wrap="square" anchor="t" lIns="0" rIns="0" tIns="0" bIns="0">
            <a:normAutofit/>
          </a:bodyPr>
          <a:lstStyle/>
          <a:p>
            <a:pPr algn="l">
              <a:lnSpc>
                <a:spcPct val="105000"/>
              </a:lnSpc>
              <a:spcBef>
                <a:spcPts val="0"/>
              </a:spcBef>
            </a:pPr>
            <a:r>
              <a:rPr sz="2200" b="1" i="0">
                <a:solidFill>
                  <a:srgbClr val="FFFFFF"/>
                </a:solidFill>
                <a:latin typeface="Calibri"/>
              </a:rPr>
              <a:t>Abandoned Cart Recovery System</a:t>
            </a:r>
          </a:p>
        </p:txBody>
      </p:sp>
      <p:sp>
        <p:nvSpPr>
          <p:cNvPr id="8" name="Rectangle 7"/>
          <p:cNvSpPr/>
          <p:nvPr/>
        </p:nvSpPr>
        <p:spPr>
          <a:xfrm>
            <a:off x="228600" y="1536192"/>
            <a:ext cx="18288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64208"/>
            <a:ext cx="3794760" cy="256032"/>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THE PAIN</a:t>
            </a:r>
          </a:p>
        </p:txBody>
      </p:sp>
      <p:sp>
        <p:nvSpPr>
          <p:cNvPr id="10" name="TextBox 9"/>
          <p:cNvSpPr txBox="1"/>
          <p:nvPr/>
        </p:nvSpPr>
        <p:spPr>
          <a:xfrm>
            <a:off x="228600" y="1938528"/>
            <a:ext cx="3794760" cy="914400"/>
          </a:xfrm>
          <a:prstGeom prst="rect">
            <a:avLst/>
          </a:prstGeom>
          <a:noFill/>
        </p:spPr>
        <p:txBody>
          <a:bodyPr wrap="square" anchor="t" lIns="0" rIns="0" tIns="0" bIns="0">
            <a:normAutofit/>
          </a:bodyPr>
          <a:lstStyle/>
          <a:p>
            <a:pPr algn="l">
              <a:lnSpc>
                <a:spcPct val="120000"/>
              </a:lnSpc>
              <a:spcBef>
                <a:spcPts val="0"/>
              </a:spcBef>
            </a:pPr>
            <a:r>
              <a:rPr sz="1100" b="0" i="0">
                <a:solidFill>
                  <a:srgbClr val="E0F7F1"/>
                </a:solidFill>
                <a:latin typeface="Calibri"/>
              </a:rPr>
              <a:t>70% of shopping carts are abandoned. Most stores use Klaviyo's basic 3-email sequence — generic and untailored to what the customer was actually looking at or their purchase history.</a:t>
            </a:r>
          </a:p>
        </p:txBody>
      </p:sp>
      <p:sp>
        <p:nvSpPr>
          <p:cNvPr id="11" name="TextBox 10"/>
          <p:cNvSpPr txBox="1"/>
          <p:nvPr/>
        </p:nvSpPr>
        <p:spPr>
          <a:xfrm>
            <a:off x="228600" y="2944368"/>
            <a:ext cx="3794760" cy="256032"/>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HOW IT WORKS</a:t>
            </a:r>
          </a:p>
        </p:txBody>
      </p:sp>
      <p:sp>
        <p:nvSpPr>
          <p:cNvPr id="12" name="Rounded Rectangle 11"/>
          <p:cNvSpPr/>
          <p:nvPr/>
        </p:nvSpPr>
        <p:spPr>
          <a:xfrm>
            <a:off x="228600" y="3246120"/>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 y="3246120"/>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1</a:t>
            </a:r>
          </a:p>
        </p:txBody>
      </p:sp>
      <p:sp>
        <p:nvSpPr>
          <p:cNvPr id="14" name="TextBox 13"/>
          <p:cNvSpPr txBox="1"/>
          <p:nvPr/>
        </p:nvSpPr>
        <p:spPr>
          <a:xfrm>
            <a:off x="594360" y="3282696"/>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Shopify webhook fires on cart abandonment → log session data</a:t>
            </a:r>
          </a:p>
        </p:txBody>
      </p:sp>
      <p:sp>
        <p:nvSpPr>
          <p:cNvPr id="15" name="Rounded Rectangle 14"/>
          <p:cNvSpPr/>
          <p:nvPr/>
        </p:nvSpPr>
        <p:spPr>
          <a:xfrm>
            <a:off x="228600" y="3721608"/>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600" y="3721608"/>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2</a:t>
            </a:r>
          </a:p>
        </p:txBody>
      </p:sp>
      <p:sp>
        <p:nvSpPr>
          <p:cNvPr id="17" name="TextBox 16"/>
          <p:cNvSpPr txBox="1"/>
          <p:nvPr/>
        </p:nvSpPr>
        <p:spPr>
          <a:xfrm>
            <a:off x="594360" y="3758184"/>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Enrich with customer history from Klaviyo; personalize message per cart contents</a:t>
            </a:r>
          </a:p>
        </p:txBody>
      </p:sp>
      <p:sp>
        <p:nvSpPr>
          <p:cNvPr id="18" name="Rounded Rectangle 17"/>
          <p:cNvSpPr/>
          <p:nvPr/>
        </p:nvSpPr>
        <p:spPr>
          <a:xfrm>
            <a:off x="228600" y="4197096"/>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8600" y="4197096"/>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3</a:t>
            </a:r>
          </a:p>
        </p:txBody>
      </p:sp>
      <p:sp>
        <p:nvSpPr>
          <p:cNvPr id="20" name="TextBox 19"/>
          <p:cNvSpPr txBox="1"/>
          <p:nvPr/>
        </p:nvSpPr>
        <p:spPr>
          <a:xfrm>
            <a:off x="594360" y="4233672"/>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Send 5-step email + SMS sequence (Day 0, Day 1, Day 3, Day 5, Day 7)</a:t>
            </a:r>
          </a:p>
        </p:txBody>
      </p:sp>
      <p:sp>
        <p:nvSpPr>
          <p:cNvPr id="21" name="Rounded Rectangle 20"/>
          <p:cNvSpPr/>
          <p:nvPr/>
        </p:nvSpPr>
        <p:spPr>
          <a:xfrm>
            <a:off x="228600" y="4672584"/>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8600" y="4672584"/>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4</a:t>
            </a:r>
          </a:p>
        </p:txBody>
      </p:sp>
      <p:sp>
        <p:nvSpPr>
          <p:cNvPr id="23" name="TextBox 22"/>
          <p:cNvSpPr txBox="1"/>
          <p:nvPr/>
        </p:nvSpPr>
        <p:spPr>
          <a:xfrm>
            <a:off x="594360" y="4709160"/>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A/B test subject lines; report recovered revenue weekly to Stripe dashboard</a:t>
            </a:r>
          </a:p>
        </p:txBody>
      </p:sp>
      <p:sp>
        <p:nvSpPr>
          <p:cNvPr id="24" name="Rounded Rectangle 23"/>
          <p:cNvSpPr/>
          <p:nvPr/>
        </p:nvSpPr>
        <p:spPr>
          <a:xfrm>
            <a:off x="137160" y="5806440"/>
            <a:ext cx="3886200" cy="77724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00" y="5833872"/>
            <a:ext cx="3749040" cy="722376"/>
          </a:xfrm>
          <a:prstGeom prst="rect">
            <a:avLst/>
          </a:prstGeom>
          <a:noFill/>
        </p:spPr>
        <p:txBody>
          <a:bodyPr wrap="square" anchor="t" lIns="0" rIns="0" tIns="0" bIns="0">
            <a:normAutofit/>
          </a:bodyPr>
          <a:lstStyle/>
          <a:p>
            <a:pPr algn="l">
              <a:lnSpc>
                <a:spcPct val="105000"/>
              </a:lnSpc>
              <a:spcBef>
                <a:spcPts val="0"/>
              </a:spcBef>
            </a:pPr>
            <a:r>
              <a:rPr sz="1000" b="0" i="1">
                <a:solidFill>
                  <a:srgbClr val="F2A83B"/>
                </a:solidFill>
                <a:latin typeface="Calibri"/>
              </a:rPr>
              <a:t>"I know people put things in their cart and leave. I just don't have a system to bring them back."</a:t>
            </a:r>
          </a:p>
        </p:txBody>
      </p:sp>
      <p:sp>
        <p:nvSpPr>
          <p:cNvPr id="26" name="Rounded Rectangle 25"/>
          <p:cNvSpPr/>
          <p:nvPr/>
        </p:nvSpPr>
        <p:spPr>
          <a:xfrm>
            <a:off x="4526280" y="201168"/>
            <a:ext cx="1371600" cy="292608"/>
          </a:xfrm>
          <a:prstGeom prst="roundRect">
            <a:avLst>
              <a:gd name="adj" fmla="val 6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6280" y="219456"/>
            <a:ext cx="1371600" cy="256032"/>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Urgency 9/10</a:t>
            </a:r>
          </a:p>
        </p:txBody>
      </p:sp>
      <p:sp>
        <p:nvSpPr>
          <p:cNvPr id="28" name="Rounded Rectangle 27"/>
          <p:cNvSpPr/>
          <p:nvPr/>
        </p:nvSpPr>
        <p:spPr>
          <a:xfrm>
            <a:off x="5989320" y="201168"/>
            <a:ext cx="1097280" cy="292608"/>
          </a:xfrm>
          <a:prstGeom prst="roundRect">
            <a:avLst>
              <a:gd name="adj" fmla="val 6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89320" y="219456"/>
            <a:ext cx="1097280" cy="256032"/>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Wave 1</a:t>
            </a:r>
          </a:p>
        </p:txBody>
      </p:sp>
      <p:sp>
        <p:nvSpPr>
          <p:cNvPr id="30" name="TextBox 29"/>
          <p:cNvSpPr txBox="1"/>
          <p:nvPr/>
        </p:nvSpPr>
        <p:spPr>
          <a:xfrm>
            <a:off x="4526280" y="658368"/>
            <a:ext cx="7573975" cy="256032"/>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THE BUILD</a:t>
            </a:r>
          </a:p>
        </p:txBody>
      </p:sp>
      <p:sp>
        <p:nvSpPr>
          <p:cNvPr id="31" name="TextBox 30"/>
          <p:cNvSpPr txBox="1"/>
          <p:nvPr/>
        </p:nvSpPr>
        <p:spPr>
          <a:xfrm>
            <a:off x="4526280" y="950976"/>
            <a:ext cx="7573975" cy="1234440"/>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OpenHands builds a personalized recovery system: monitors cart abandonment via Shopify webhook → triggers a custom 5-step sequence (email + SMS) personalized to cart contents, customer history, and abandonment timing → A/B tests subject lines → reports recovered revenue weekly.</a:t>
            </a:r>
          </a:p>
        </p:txBody>
      </p:sp>
      <p:sp>
        <p:nvSpPr>
          <p:cNvPr id="32" name="Rounded Rectangle 31"/>
          <p:cNvSpPr/>
          <p:nvPr/>
        </p:nvSpPr>
        <p:spPr>
          <a:xfrm>
            <a:off x="4526280" y="2286000"/>
            <a:ext cx="7573975"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09160" y="2340864"/>
            <a:ext cx="7299655" cy="219456"/>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MONTHLY VALUE TO CLIENT</a:t>
            </a:r>
          </a:p>
        </p:txBody>
      </p:sp>
      <p:sp>
        <p:nvSpPr>
          <p:cNvPr id="34" name="TextBox 33"/>
          <p:cNvSpPr txBox="1"/>
          <p:nvPr/>
        </p:nvSpPr>
        <p:spPr>
          <a:xfrm>
            <a:off x="4709160" y="2560320"/>
            <a:ext cx="7299655" cy="237744"/>
          </a:xfrm>
          <a:prstGeom prst="rect">
            <a:avLst/>
          </a:prstGeom>
          <a:noFill/>
        </p:spPr>
        <p:txBody>
          <a:bodyPr wrap="square" anchor="t" lIns="0" rIns="0" tIns="0" bIns="0">
            <a:normAutofit/>
          </a:bodyPr>
          <a:lstStyle/>
          <a:p>
            <a:pPr algn="l">
              <a:lnSpc>
                <a:spcPct val="105000"/>
              </a:lnSpc>
              <a:spcBef>
                <a:spcPts val="0"/>
              </a:spcBef>
            </a:pPr>
            <a:r>
              <a:rPr sz="1200" b="1" i="0">
                <a:solidFill>
                  <a:srgbClr val="FFB800"/>
                </a:solidFill>
                <a:latin typeface="Calibri"/>
              </a:rPr>
              <a:t>10–25% cart recovery rate on abandoned revenue = $2,000–$10,000/month in recovered sales</a:t>
            </a:r>
          </a:p>
        </p:txBody>
      </p:sp>
      <p:sp>
        <p:nvSpPr>
          <p:cNvPr id="35" name="Rectangle 34"/>
          <p:cNvSpPr/>
          <p:nvPr/>
        </p:nvSpPr>
        <p:spPr>
          <a:xfrm>
            <a:off x="4526280" y="2962656"/>
            <a:ext cx="7573975" cy="2377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3440" y="2980944"/>
            <a:ext cx="1371600" cy="201168"/>
          </a:xfrm>
          <a:prstGeom prst="rect">
            <a:avLst/>
          </a:prstGeom>
          <a:noFill/>
        </p:spPr>
        <p:txBody>
          <a:bodyPr wrap="square" anchor="t" lIns="0" rIns="0" tIns="0" bIns="0">
            <a:noAutofit/>
          </a:bodyPr>
          <a:lstStyle/>
          <a:p>
            <a:pPr algn="l">
              <a:lnSpc>
                <a:spcPct val="105000"/>
              </a:lnSpc>
              <a:spcBef>
                <a:spcPts val="0"/>
              </a:spcBef>
            </a:pPr>
            <a:r>
              <a:rPr sz="850" b="1" i="0">
                <a:solidFill>
                  <a:srgbClr val="5B6B7C"/>
                </a:solidFill>
                <a:latin typeface="Calibri"/>
              </a:rPr>
              <a:t>MCP SERVERS</a:t>
            </a:r>
          </a:p>
        </p:txBody>
      </p:sp>
      <p:sp>
        <p:nvSpPr>
          <p:cNvPr id="37" name="TextBox 36"/>
          <p:cNvSpPr txBox="1"/>
          <p:nvPr/>
        </p:nvSpPr>
        <p:spPr>
          <a:xfrm>
            <a:off x="6080760" y="2980944"/>
            <a:ext cx="5882335" cy="201168"/>
          </a:xfrm>
          <a:prstGeom prst="rect">
            <a:avLst/>
          </a:prstGeom>
          <a:noFill/>
        </p:spPr>
        <p:txBody>
          <a:bodyPr wrap="square" anchor="t" lIns="0" rIns="0" tIns="0" bIns="0">
            <a:normAutofit/>
          </a:bodyPr>
          <a:lstStyle/>
          <a:p>
            <a:pPr algn="l">
              <a:lnSpc>
                <a:spcPct val="105000"/>
              </a:lnSpc>
              <a:spcBef>
                <a:spcPts val="0"/>
              </a:spcBef>
            </a:pPr>
            <a:r>
              <a:rPr sz="900" b="0" i="0">
                <a:solidFill>
                  <a:srgbClr val="1B2B3C"/>
                </a:solidFill>
                <a:latin typeface="Calibri"/>
              </a:rPr>
              <a:t>GitHub, Shopify API, Klaviyo API, Twilio, Stripe</a:t>
            </a:r>
          </a:p>
        </p:txBody>
      </p:sp>
      <p:sp>
        <p:nvSpPr>
          <p:cNvPr id="38" name="Rectangle 37"/>
          <p:cNvSpPr/>
          <p:nvPr/>
        </p:nvSpPr>
        <p:spPr>
          <a:xfrm>
            <a:off x="4526280" y="3291840"/>
            <a:ext cx="7573975" cy="2377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63440" y="3310128"/>
            <a:ext cx="1371600" cy="201168"/>
          </a:xfrm>
          <a:prstGeom prst="rect">
            <a:avLst/>
          </a:prstGeom>
          <a:noFill/>
        </p:spPr>
        <p:txBody>
          <a:bodyPr wrap="square" anchor="t" lIns="0" rIns="0" tIns="0" bIns="0">
            <a:noAutofit/>
          </a:bodyPr>
          <a:lstStyle/>
          <a:p>
            <a:pPr algn="l">
              <a:lnSpc>
                <a:spcPct val="105000"/>
              </a:lnSpc>
              <a:spcBef>
                <a:spcPts val="0"/>
              </a:spcBef>
            </a:pPr>
            <a:r>
              <a:rPr sz="850" b="1" i="0">
                <a:solidFill>
                  <a:srgbClr val="5B6B7C"/>
                </a:solidFill>
                <a:latin typeface="Calibri"/>
              </a:rPr>
              <a:t>SUBAGENT</a:t>
            </a:r>
          </a:p>
        </p:txBody>
      </p:sp>
      <p:sp>
        <p:nvSpPr>
          <p:cNvPr id="40" name="TextBox 39"/>
          <p:cNvSpPr txBox="1"/>
          <p:nvPr/>
        </p:nvSpPr>
        <p:spPr>
          <a:xfrm>
            <a:off x="6080760" y="3310128"/>
            <a:ext cx="5882335" cy="201168"/>
          </a:xfrm>
          <a:prstGeom prst="rect">
            <a:avLst/>
          </a:prstGeom>
          <a:noFill/>
        </p:spPr>
        <p:txBody>
          <a:bodyPr wrap="square" anchor="t" lIns="0" rIns="0" tIns="0" bIns="0">
            <a:normAutofit/>
          </a:bodyPr>
          <a:lstStyle/>
          <a:p>
            <a:pPr algn="l">
              <a:lnSpc>
                <a:spcPct val="105000"/>
              </a:lnSpc>
              <a:spcBef>
                <a:spcPts val="0"/>
              </a:spcBef>
            </a:pPr>
            <a:r>
              <a:rPr sz="900" b="0" i="0">
                <a:solidFill>
                  <a:srgbClr val="1B2B3C"/>
                </a:solidFill>
                <a:latin typeface="Calibri"/>
              </a:rPr>
              <a:t>ecommerce-specialist, email-campaign-agent</a:t>
            </a:r>
          </a:p>
        </p:txBody>
      </p:sp>
      <p:sp>
        <p:nvSpPr>
          <p:cNvPr id="41" name="TextBox 4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42" name="TextBox 4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18 /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828800"/>
            <a:ext cx="7315200"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SECTION 05</a:t>
            </a:r>
          </a:p>
        </p:txBody>
      </p:sp>
      <p:sp>
        <p:nvSpPr>
          <p:cNvPr id="5" name="TextBox 4"/>
          <p:cNvSpPr txBox="1"/>
          <p:nvPr/>
        </p:nvSpPr>
        <p:spPr>
          <a:xfrm>
            <a:off x="411480" y="2331720"/>
            <a:ext cx="9144000" cy="1097280"/>
          </a:xfrm>
          <a:prstGeom prst="rect">
            <a:avLst/>
          </a:prstGeom>
          <a:noFill/>
        </p:spPr>
        <p:txBody>
          <a:bodyPr wrap="square" anchor="t" lIns="0" rIns="0" tIns="0" bIns="0">
            <a:normAutofit/>
          </a:bodyPr>
          <a:lstStyle/>
          <a:p>
            <a:pPr algn="l">
              <a:lnSpc>
                <a:spcPct val="105000"/>
              </a:lnSpc>
              <a:spcBef>
                <a:spcPts val="0"/>
              </a:spcBef>
            </a:pPr>
            <a:r>
              <a:rPr sz="4400" b="1" i="0">
                <a:solidFill>
                  <a:srgbClr val="FFFFFF"/>
                </a:solidFill>
                <a:latin typeface="Calibri"/>
              </a:rPr>
              <a:t>Accounting / Bookkeeping</a:t>
            </a:r>
          </a:p>
        </p:txBody>
      </p:sp>
      <p:sp>
        <p:nvSpPr>
          <p:cNvPr id="6" name="Rectangle 5"/>
          <p:cNvSpPr/>
          <p:nvPr/>
        </p:nvSpPr>
        <p:spPr>
          <a:xfrm>
            <a:off x="411480" y="3520440"/>
            <a:ext cx="32004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3657600"/>
            <a:ext cx="9144000" cy="457200"/>
          </a:xfrm>
          <a:prstGeom prst="rect">
            <a:avLst/>
          </a:prstGeom>
          <a:noFill/>
        </p:spPr>
        <p:txBody>
          <a:bodyPr wrap="square" anchor="t" lIns="0" rIns="0" tIns="0" bIns="0">
            <a:noAutofit/>
          </a:bodyPr>
          <a:lstStyle/>
          <a:p>
            <a:pPr algn="l">
              <a:lnSpc>
                <a:spcPct val="105000"/>
              </a:lnSpc>
              <a:spcBef>
                <a:spcPts val="0"/>
              </a:spcBef>
            </a:pPr>
            <a:r>
              <a:rPr sz="1600" b="0" i="0">
                <a:solidFill>
                  <a:srgbClr val="E0F7F1"/>
                </a:solidFill>
                <a:latin typeface="Calibri"/>
              </a:rPr>
              <a:t>4 use cases · 27/35 score · CONDITIONAL · QuickBooks-first · Tax season ROI is acute</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OpenHands × SMB AI Engineering · Done-For-You · June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19 /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Accounting — Use Cases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Frame around 'monthly close' and 'tax season survival' — these are their highest-pain moments</a:t>
            </a:r>
          </a:p>
        </p:txBody>
      </p:sp>
      <p:sp>
        <p:nvSpPr>
          <p:cNvPr id="7" name="Rounded Rectangle 6"/>
          <p:cNvSpPr/>
          <p:nvPr/>
        </p:nvSpPr>
        <p:spPr>
          <a:xfrm>
            <a:off x="548640" y="16002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 y="17373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7556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#9</a:t>
            </a:r>
          </a:p>
        </p:txBody>
      </p:sp>
      <p:sp>
        <p:nvSpPr>
          <p:cNvPr id="10" name="Rounded Rectangle 9"/>
          <p:cNvSpPr/>
          <p:nvPr/>
        </p:nvSpPr>
        <p:spPr>
          <a:xfrm>
            <a:off x="5181447" y="1746504"/>
            <a:ext cx="658368" cy="237744"/>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81447" y="17465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8/10</a:t>
            </a:r>
          </a:p>
        </p:txBody>
      </p:sp>
      <p:sp>
        <p:nvSpPr>
          <p:cNvPr id="12" name="TextBox 11"/>
          <p:cNvSpPr txBox="1"/>
          <p:nvPr/>
        </p:nvSpPr>
        <p:spPr>
          <a:xfrm>
            <a:off x="1207008" y="17282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Monthly Close + Client Reporting</a:t>
            </a:r>
          </a:p>
        </p:txBody>
      </p:sp>
      <p:sp>
        <p:nvSpPr>
          <p:cNvPr id="13" name="Rectangle 12"/>
          <p:cNvSpPr/>
          <p:nvPr/>
        </p:nvSpPr>
        <p:spPr>
          <a:xfrm>
            <a:off x="713232" y="22585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3317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Bookkeepers spend 3–5 days per month per client doing manual reconciliation, then 2–3 hours building P&amp;L summaries in Excel.</a:t>
            </a:r>
          </a:p>
        </p:txBody>
      </p:sp>
      <p:sp>
        <p:nvSpPr>
          <p:cNvPr id="15" name="Rounded Rectangle 14"/>
          <p:cNvSpPr/>
          <p:nvPr/>
        </p:nvSpPr>
        <p:spPr>
          <a:xfrm>
            <a:off x="548640" y="35935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6118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20–40 hours/month recovered; can serve 2× more clients at same staff level</a:t>
            </a:r>
          </a:p>
        </p:txBody>
      </p:sp>
      <p:sp>
        <p:nvSpPr>
          <p:cNvPr id="17" name="Rounded Rectangle 16"/>
          <p:cNvSpPr/>
          <p:nvPr/>
        </p:nvSpPr>
        <p:spPr>
          <a:xfrm>
            <a:off x="6187287" y="16002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51879" y="17373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17556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#18</a:t>
            </a:r>
          </a:p>
        </p:txBody>
      </p:sp>
      <p:sp>
        <p:nvSpPr>
          <p:cNvPr id="20" name="Rounded Rectangle 19"/>
          <p:cNvSpPr/>
          <p:nvPr/>
        </p:nvSpPr>
        <p:spPr>
          <a:xfrm>
            <a:off x="10820095" y="1746504"/>
            <a:ext cx="658368" cy="237744"/>
          </a:xfrm>
          <a:prstGeom prst="roundRect">
            <a:avLst>
              <a:gd name="adj" fmla="val 8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20095" y="17465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9/10</a:t>
            </a:r>
          </a:p>
        </p:txBody>
      </p:sp>
      <p:sp>
        <p:nvSpPr>
          <p:cNvPr id="22" name="TextBox 21"/>
          <p:cNvSpPr txBox="1"/>
          <p:nvPr/>
        </p:nvSpPr>
        <p:spPr>
          <a:xfrm>
            <a:off x="6845655" y="17282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Tax Document Collection + Organizer</a:t>
            </a:r>
          </a:p>
        </p:txBody>
      </p:sp>
      <p:sp>
        <p:nvSpPr>
          <p:cNvPr id="23" name="Rectangle 22"/>
          <p:cNvSpPr/>
          <p:nvPr/>
        </p:nvSpPr>
        <p:spPr>
          <a:xfrm>
            <a:off x="6351879" y="22585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1879" y="23317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Each Jan–Mar: accountants spend 40% of time chasing clients for W-2s, 1099s, and docs that arrive in different formats and batches.</a:t>
            </a:r>
          </a:p>
        </p:txBody>
      </p:sp>
      <p:sp>
        <p:nvSpPr>
          <p:cNvPr id="25" name="Rounded Rectangle 24"/>
          <p:cNvSpPr/>
          <p:nvPr/>
        </p:nvSpPr>
        <p:spPr>
          <a:xfrm>
            <a:off x="6187287" y="35935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1879" y="36118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20–40 hours recovered in tax season; capacity for 30% more clients</a:t>
            </a:r>
          </a:p>
        </p:txBody>
      </p:sp>
      <p:sp>
        <p:nvSpPr>
          <p:cNvPr id="27" name="Rounded Rectangle 26"/>
          <p:cNvSpPr/>
          <p:nvPr/>
        </p:nvSpPr>
        <p:spPr>
          <a:xfrm>
            <a:off x="548640" y="41148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3232" y="42519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42702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#17</a:t>
            </a:r>
          </a:p>
        </p:txBody>
      </p:sp>
      <p:sp>
        <p:nvSpPr>
          <p:cNvPr id="30" name="Rounded Rectangle 29"/>
          <p:cNvSpPr/>
          <p:nvPr/>
        </p:nvSpPr>
        <p:spPr>
          <a:xfrm>
            <a:off x="5181447" y="4261104"/>
            <a:ext cx="658368" cy="237744"/>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81447" y="42611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7/10</a:t>
            </a:r>
          </a:p>
        </p:txBody>
      </p:sp>
      <p:sp>
        <p:nvSpPr>
          <p:cNvPr id="32" name="TextBox 31"/>
          <p:cNvSpPr txBox="1"/>
          <p:nvPr/>
        </p:nvSpPr>
        <p:spPr>
          <a:xfrm>
            <a:off x="1207008" y="42428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AP Processing + Vendor Management</a:t>
            </a:r>
          </a:p>
        </p:txBody>
      </p:sp>
      <p:sp>
        <p:nvSpPr>
          <p:cNvPr id="33" name="Rectangle 32"/>
          <p:cNvSpPr/>
          <p:nvPr/>
        </p:nvSpPr>
        <p:spPr>
          <a:xfrm>
            <a:off x="713232" y="47731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48463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AP staff manually enter vendor invoices from email attachments into QuickBooks — tedious, error-prone, risks double payments.</a:t>
            </a:r>
          </a:p>
        </p:txBody>
      </p:sp>
      <p:sp>
        <p:nvSpPr>
          <p:cNvPr id="35" name="Rounded Rectangle 34"/>
          <p:cNvSpPr/>
          <p:nvPr/>
        </p:nvSpPr>
        <p:spPr>
          <a:xfrm>
            <a:off x="548640" y="61081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61264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5–15 hours/month recovered per AP person; fewer errors and duplicate payments</a:t>
            </a:r>
          </a:p>
        </p:txBody>
      </p:sp>
      <p:sp>
        <p:nvSpPr>
          <p:cNvPr id="37" name="Rounded Rectangle 36"/>
          <p:cNvSpPr/>
          <p:nvPr/>
        </p:nvSpPr>
        <p:spPr>
          <a:xfrm>
            <a:off x="6187287" y="4114800"/>
            <a:ext cx="5455767" cy="2377440"/>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351879" y="4251960"/>
            <a:ext cx="384048" cy="384048"/>
          </a:xfrm>
          <a:prstGeom prst="roundRect">
            <a:avLst>
              <a:gd name="adj" fmla="val 10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1879" y="4270248"/>
            <a:ext cx="384048" cy="347472"/>
          </a:xfrm>
          <a:prstGeom prst="rect">
            <a:avLst/>
          </a:prstGeom>
          <a:noFill/>
        </p:spPr>
        <p:txBody>
          <a:bodyPr wrap="square" anchor="t" lIns="0" rIns="0" tIns="0" bIns="0">
            <a:noAutofit/>
          </a:bodyPr>
          <a:lstStyle/>
          <a:p>
            <a:pPr algn="ctr">
              <a:lnSpc>
                <a:spcPct val="105000"/>
              </a:lnSpc>
              <a:spcBef>
                <a:spcPts val="0"/>
              </a:spcBef>
            </a:pPr>
            <a:r>
              <a:rPr sz="1100" b="1" i="0">
                <a:solidFill>
                  <a:srgbClr val="00C9A7"/>
                </a:solidFill>
                <a:latin typeface="Calibri"/>
              </a:rPr>
              <a:t>#22</a:t>
            </a:r>
          </a:p>
        </p:txBody>
      </p:sp>
      <p:sp>
        <p:nvSpPr>
          <p:cNvPr id="40" name="Rounded Rectangle 39"/>
          <p:cNvSpPr/>
          <p:nvPr/>
        </p:nvSpPr>
        <p:spPr>
          <a:xfrm>
            <a:off x="10820095" y="4261104"/>
            <a:ext cx="658368" cy="237744"/>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20095" y="4261104"/>
            <a:ext cx="658368" cy="237744"/>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  7/10</a:t>
            </a:r>
          </a:p>
        </p:txBody>
      </p:sp>
      <p:sp>
        <p:nvSpPr>
          <p:cNvPr id="42" name="TextBox 41"/>
          <p:cNvSpPr txBox="1"/>
          <p:nvPr/>
        </p:nvSpPr>
        <p:spPr>
          <a:xfrm>
            <a:off x="6845655" y="4242816"/>
            <a:ext cx="4587087" cy="475488"/>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Client Advisory Digest</a:t>
            </a:r>
          </a:p>
        </p:txBody>
      </p:sp>
      <p:sp>
        <p:nvSpPr>
          <p:cNvPr id="43" name="Rectangle 42"/>
          <p:cNvSpPr/>
          <p:nvPr/>
        </p:nvSpPr>
        <p:spPr>
          <a:xfrm>
            <a:off x="6351879" y="4773168"/>
            <a:ext cx="5126583" cy="228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51879" y="4846320"/>
            <a:ext cx="5126583" cy="1097280"/>
          </a:xfrm>
          <a:prstGeom prst="rect">
            <a:avLst/>
          </a:prstGeom>
          <a:noFill/>
        </p:spPr>
        <p:txBody>
          <a:bodyPr wrap="square" anchor="t" lIns="0" rIns="0" tIns="0" bIns="0">
            <a:normAutofit/>
          </a:bodyPr>
          <a:lstStyle/>
          <a:p>
            <a:pPr algn="l">
              <a:lnSpc>
                <a:spcPct val="115000"/>
              </a:lnSpc>
              <a:spcBef>
                <a:spcPts val="0"/>
              </a:spcBef>
            </a:pPr>
            <a:r>
              <a:rPr sz="1100" b="0" i="0">
                <a:solidFill>
                  <a:srgbClr val="1B2B3C"/>
                </a:solidFill>
                <a:latin typeface="Calibri"/>
              </a:rPr>
              <a:t>Accountants only talk to clients during tax season — missing anomalies, cash flow issues, and advisory upsell opportunities year-round.</a:t>
            </a:r>
          </a:p>
        </p:txBody>
      </p:sp>
      <p:sp>
        <p:nvSpPr>
          <p:cNvPr id="45" name="Rounded Rectangle 44"/>
          <p:cNvSpPr/>
          <p:nvPr/>
        </p:nvSpPr>
        <p:spPr>
          <a:xfrm>
            <a:off x="6187287" y="6108192"/>
            <a:ext cx="5455767" cy="384048"/>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1879" y="6126480"/>
            <a:ext cx="5126583" cy="347472"/>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Upgrades clients to advisory engagements at $500–$2K/month vs. $100/month bookkeeping</a:t>
            </a:r>
          </a:p>
        </p:txBody>
      </p:sp>
      <p:sp>
        <p:nvSpPr>
          <p:cNvPr id="47" name="TextBox 4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48" name="TextBox 4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20 /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4114800" cy="676656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1440"/>
            <a:ext cx="91440" cy="67665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201168"/>
            <a:ext cx="3794760" cy="292608"/>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#9  ·  ACCOUNTING / BOOKKEEPING FIRMS</a:t>
            </a:r>
          </a:p>
        </p:txBody>
      </p:sp>
      <p:sp>
        <p:nvSpPr>
          <p:cNvPr id="7" name="TextBox 6"/>
          <p:cNvSpPr txBox="1"/>
          <p:nvPr/>
        </p:nvSpPr>
        <p:spPr>
          <a:xfrm>
            <a:off x="228600" y="530352"/>
            <a:ext cx="3794760" cy="914400"/>
          </a:xfrm>
          <a:prstGeom prst="rect">
            <a:avLst/>
          </a:prstGeom>
          <a:noFill/>
        </p:spPr>
        <p:txBody>
          <a:bodyPr wrap="square" anchor="t" lIns="0" rIns="0" tIns="0" bIns="0">
            <a:normAutofit/>
          </a:bodyPr>
          <a:lstStyle/>
          <a:p>
            <a:pPr algn="l">
              <a:lnSpc>
                <a:spcPct val="105000"/>
              </a:lnSpc>
              <a:spcBef>
                <a:spcPts val="0"/>
              </a:spcBef>
            </a:pPr>
            <a:r>
              <a:rPr sz="2200" b="1" i="0">
                <a:solidFill>
                  <a:srgbClr val="FFFFFF"/>
                </a:solidFill>
                <a:latin typeface="Calibri"/>
              </a:rPr>
              <a:t>Monthly Close + Client Reporting Automation</a:t>
            </a:r>
          </a:p>
        </p:txBody>
      </p:sp>
      <p:sp>
        <p:nvSpPr>
          <p:cNvPr id="8" name="Rectangle 7"/>
          <p:cNvSpPr/>
          <p:nvPr/>
        </p:nvSpPr>
        <p:spPr>
          <a:xfrm>
            <a:off x="228600" y="1536192"/>
            <a:ext cx="18288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664208"/>
            <a:ext cx="3794760" cy="256032"/>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THE PAIN</a:t>
            </a:r>
          </a:p>
        </p:txBody>
      </p:sp>
      <p:sp>
        <p:nvSpPr>
          <p:cNvPr id="10" name="TextBox 9"/>
          <p:cNvSpPr txBox="1"/>
          <p:nvPr/>
        </p:nvSpPr>
        <p:spPr>
          <a:xfrm>
            <a:off x="228600" y="1938528"/>
            <a:ext cx="3794760" cy="914400"/>
          </a:xfrm>
          <a:prstGeom prst="rect">
            <a:avLst/>
          </a:prstGeom>
          <a:noFill/>
        </p:spPr>
        <p:txBody>
          <a:bodyPr wrap="square" anchor="t" lIns="0" rIns="0" tIns="0" bIns="0">
            <a:normAutofit/>
          </a:bodyPr>
          <a:lstStyle/>
          <a:p>
            <a:pPr algn="l">
              <a:lnSpc>
                <a:spcPct val="120000"/>
              </a:lnSpc>
              <a:spcBef>
                <a:spcPts val="0"/>
              </a:spcBef>
            </a:pPr>
            <a:r>
              <a:rPr sz="1100" b="0" i="0">
                <a:solidFill>
                  <a:srgbClr val="E0F7F1"/>
                </a:solidFill>
                <a:latin typeface="Calibri"/>
              </a:rPr>
              <a:t>Bookkeepers spend 3–5 days per month per client doing manual reconciliation in QuickBooks, then another 2–3 hours building a client-facing P&amp;L summary in Excel or PowerPoint.</a:t>
            </a:r>
          </a:p>
        </p:txBody>
      </p:sp>
      <p:sp>
        <p:nvSpPr>
          <p:cNvPr id="11" name="TextBox 10"/>
          <p:cNvSpPr txBox="1"/>
          <p:nvPr/>
        </p:nvSpPr>
        <p:spPr>
          <a:xfrm>
            <a:off x="228600" y="2944368"/>
            <a:ext cx="3794760" cy="256032"/>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HOW IT WORKS</a:t>
            </a:r>
          </a:p>
        </p:txBody>
      </p:sp>
      <p:sp>
        <p:nvSpPr>
          <p:cNvPr id="12" name="Rounded Rectangle 11"/>
          <p:cNvSpPr/>
          <p:nvPr/>
        </p:nvSpPr>
        <p:spPr>
          <a:xfrm>
            <a:off x="228600" y="3246120"/>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 y="3246120"/>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1</a:t>
            </a:r>
          </a:p>
        </p:txBody>
      </p:sp>
      <p:sp>
        <p:nvSpPr>
          <p:cNvPr id="14" name="TextBox 13"/>
          <p:cNvSpPr txBox="1"/>
          <p:nvPr/>
        </p:nvSpPr>
        <p:spPr>
          <a:xfrm>
            <a:off x="594360" y="3282696"/>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Pull all transactions from QuickBooks/Xero API for the close period</a:t>
            </a:r>
          </a:p>
        </p:txBody>
      </p:sp>
      <p:sp>
        <p:nvSpPr>
          <p:cNvPr id="15" name="Rounded Rectangle 14"/>
          <p:cNvSpPr/>
          <p:nvPr/>
        </p:nvSpPr>
        <p:spPr>
          <a:xfrm>
            <a:off x="228600" y="3721608"/>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600" y="3721608"/>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2</a:t>
            </a:r>
          </a:p>
        </p:txBody>
      </p:sp>
      <p:sp>
        <p:nvSpPr>
          <p:cNvPr id="17" name="TextBox 16"/>
          <p:cNvSpPr txBox="1"/>
          <p:nvPr/>
        </p:nvSpPr>
        <p:spPr>
          <a:xfrm>
            <a:off x="594360" y="3758184"/>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Auto-categorize + flag anomalies for accountant review</a:t>
            </a:r>
          </a:p>
        </p:txBody>
      </p:sp>
      <p:sp>
        <p:nvSpPr>
          <p:cNvPr id="18" name="Rounded Rectangle 17"/>
          <p:cNvSpPr/>
          <p:nvPr/>
        </p:nvSpPr>
        <p:spPr>
          <a:xfrm>
            <a:off x="228600" y="4197096"/>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8600" y="4197096"/>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3</a:t>
            </a:r>
          </a:p>
        </p:txBody>
      </p:sp>
      <p:sp>
        <p:nvSpPr>
          <p:cNvPr id="20" name="TextBox 19"/>
          <p:cNvSpPr txBox="1"/>
          <p:nvPr/>
        </p:nvSpPr>
        <p:spPr>
          <a:xfrm>
            <a:off x="594360" y="4233672"/>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Generate branded PDF: P&amp;L, cash flow, key ratios, plain-English narrative</a:t>
            </a:r>
          </a:p>
        </p:txBody>
      </p:sp>
      <p:sp>
        <p:nvSpPr>
          <p:cNvPr id="21" name="Rounded Rectangle 20"/>
          <p:cNvSpPr/>
          <p:nvPr/>
        </p:nvSpPr>
        <p:spPr>
          <a:xfrm>
            <a:off x="228600" y="4672584"/>
            <a:ext cx="292608" cy="292608"/>
          </a:xfrm>
          <a:prstGeom prst="roundRect">
            <a:avLst>
              <a:gd name="adj" fmla="val 8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8600" y="4672584"/>
            <a:ext cx="292608" cy="292608"/>
          </a:xfrm>
          <a:prstGeom prst="rect">
            <a:avLst/>
          </a:prstGeom>
          <a:noFill/>
        </p:spPr>
        <p:txBody>
          <a:bodyPr wrap="square" anchor="t" lIns="0" rIns="0" tIns="0" bIns="0">
            <a:noAutofit/>
          </a:bodyPr>
          <a:lstStyle/>
          <a:p>
            <a:pPr algn="ctr">
              <a:lnSpc>
                <a:spcPct val="105000"/>
              </a:lnSpc>
              <a:spcBef>
                <a:spcPts val="0"/>
              </a:spcBef>
            </a:pPr>
            <a:r>
              <a:rPr sz="900" b="1" i="0">
                <a:solidFill>
                  <a:srgbClr val="0A1628"/>
                </a:solidFill>
                <a:latin typeface="Calibri"/>
              </a:rPr>
              <a:t>4</a:t>
            </a:r>
          </a:p>
        </p:txBody>
      </p:sp>
      <p:sp>
        <p:nvSpPr>
          <p:cNvPr id="23" name="TextBox 22"/>
          <p:cNvSpPr txBox="1"/>
          <p:nvPr/>
        </p:nvSpPr>
        <p:spPr>
          <a:xfrm>
            <a:off x="594360" y="4709160"/>
            <a:ext cx="3383280" cy="402336"/>
          </a:xfrm>
          <a:prstGeom prst="rect">
            <a:avLst/>
          </a:prstGeom>
          <a:noFill/>
        </p:spPr>
        <p:txBody>
          <a:bodyPr wrap="square" anchor="t" lIns="0" rIns="0" tIns="0" bIns="0">
            <a:normAutofit/>
          </a:bodyPr>
          <a:lstStyle/>
          <a:p>
            <a:pPr algn="l">
              <a:lnSpc>
                <a:spcPct val="105000"/>
              </a:lnSpc>
              <a:spcBef>
                <a:spcPts val="0"/>
              </a:spcBef>
            </a:pPr>
            <a:r>
              <a:rPr sz="1000" b="0" i="0">
                <a:solidFill>
                  <a:srgbClr val="FFFFFF"/>
                </a:solidFill>
                <a:latin typeface="Calibri"/>
              </a:rPr>
              <a:t>Deliver via client portal link; log delivery timestamp; auto-archive to Google Drive</a:t>
            </a:r>
          </a:p>
        </p:txBody>
      </p:sp>
      <p:sp>
        <p:nvSpPr>
          <p:cNvPr id="24" name="Rounded Rectangle 23"/>
          <p:cNvSpPr/>
          <p:nvPr/>
        </p:nvSpPr>
        <p:spPr>
          <a:xfrm>
            <a:off x="137160" y="5806440"/>
            <a:ext cx="3886200" cy="77724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00" y="5833872"/>
            <a:ext cx="3749040" cy="722376"/>
          </a:xfrm>
          <a:prstGeom prst="rect">
            <a:avLst/>
          </a:prstGeom>
          <a:noFill/>
        </p:spPr>
        <p:txBody>
          <a:bodyPr wrap="square" anchor="t" lIns="0" rIns="0" tIns="0" bIns="0">
            <a:normAutofit/>
          </a:bodyPr>
          <a:lstStyle/>
          <a:p>
            <a:pPr algn="l">
              <a:lnSpc>
                <a:spcPct val="105000"/>
              </a:lnSpc>
              <a:spcBef>
                <a:spcPts val="0"/>
              </a:spcBef>
            </a:pPr>
            <a:r>
              <a:rPr sz="1000" b="0" i="1">
                <a:solidFill>
                  <a:srgbClr val="F2A83B"/>
                </a:solidFill>
                <a:latin typeface="Calibri"/>
              </a:rPr>
              <a:t>"Close week is a nightmare. I'm manually pulling the same numbers from QuickBooks every month for every client."</a:t>
            </a:r>
          </a:p>
        </p:txBody>
      </p:sp>
      <p:sp>
        <p:nvSpPr>
          <p:cNvPr id="26" name="Rounded Rectangle 25"/>
          <p:cNvSpPr/>
          <p:nvPr/>
        </p:nvSpPr>
        <p:spPr>
          <a:xfrm>
            <a:off x="4526280" y="201168"/>
            <a:ext cx="1371600" cy="292608"/>
          </a:xfrm>
          <a:prstGeom prst="roundRect">
            <a:avLst>
              <a:gd name="adj" fmla="val 6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6280" y="219456"/>
            <a:ext cx="1371600" cy="256032"/>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Urgency 8/10</a:t>
            </a:r>
          </a:p>
        </p:txBody>
      </p:sp>
      <p:sp>
        <p:nvSpPr>
          <p:cNvPr id="28" name="Rounded Rectangle 27"/>
          <p:cNvSpPr/>
          <p:nvPr/>
        </p:nvSpPr>
        <p:spPr>
          <a:xfrm>
            <a:off x="5989320" y="201168"/>
            <a:ext cx="1097280" cy="292608"/>
          </a:xfrm>
          <a:prstGeom prst="roundRect">
            <a:avLst>
              <a:gd name="adj" fmla="val 6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89320" y="219456"/>
            <a:ext cx="1097280" cy="256032"/>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Wave 1</a:t>
            </a:r>
          </a:p>
        </p:txBody>
      </p:sp>
      <p:sp>
        <p:nvSpPr>
          <p:cNvPr id="30" name="TextBox 29"/>
          <p:cNvSpPr txBox="1"/>
          <p:nvPr/>
        </p:nvSpPr>
        <p:spPr>
          <a:xfrm>
            <a:off x="4526280" y="658368"/>
            <a:ext cx="7573975" cy="256032"/>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THE BUILD</a:t>
            </a:r>
          </a:p>
        </p:txBody>
      </p:sp>
      <p:sp>
        <p:nvSpPr>
          <p:cNvPr id="31" name="TextBox 30"/>
          <p:cNvSpPr txBox="1"/>
          <p:nvPr/>
        </p:nvSpPr>
        <p:spPr>
          <a:xfrm>
            <a:off x="4526280" y="950976"/>
            <a:ext cx="7573975" cy="1234440"/>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OpenHands builds a monthly close pipeline: pulls transactions from QuickBooks/Xero API → auto-categorizes → flags anomalies → generates a branded PDF client report with P&amp;L, cash flow statement, key ratios, and a plain-English narrative → delivers via client portal.</a:t>
            </a:r>
          </a:p>
        </p:txBody>
      </p:sp>
      <p:sp>
        <p:nvSpPr>
          <p:cNvPr id="32" name="Rounded Rectangle 31"/>
          <p:cNvSpPr/>
          <p:nvPr/>
        </p:nvSpPr>
        <p:spPr>
          <a:xfrm>
            <a:off x="4526280" y="2286000"/>
            <a:ext cx="7573975"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09160" y="2340864"/>
            <a:ext cx="7299655" cy="219456"/>
          </a:xfrm>
          <a:prstGeom prst="rect">
            <a:avLst/>
          </a:prstGeom>
          <a:noFill/>
        </p:spPr>
        <p:txBody>
          <a:bodyPr wrap="square" anchor="t" lIns="0" rIns="0" tIns="0" bIns="0">
            <a:noAutofit/>
          </a:bodyPr>
          <a:lstStyle/>
          <a:p>
            <a:pPr algn="l">
              <a:lnSpc>
                <a:spcPct val="105000"/>
              </a:lnSpc>
              <a:spcBef>
                <a:spcPts val="0"/>
              </a:spcBef>
            </a:pPr>
            <a:r>
              <a:rPr sz="850" b="1" i="0">
                <a:solidFill>
                  <a:srgbClr val="00C9A7"/>
                </a:solidFill>
                <a:latin typeface="Calibri"/>
              </a:rPr>
              <a:t>MONTHLY VALUE TO CLIENT</a:t>
            </a:r>
          </a:p>
        </p:txBody>
      </p:sp>
      <p:sp>
        <p:nvSpPr>
          <p:cNvPr id="34" name="TextBox 33"/>
          <p:cNvSpPr txBox="1"/>
          <p:nvPr/>
        </p:nvSpPr>
        <p:spPr>
          <a:xfrm>
            <a:off x="4709160" y="2560320"/>
            <a:ext cx="7299655" cy="237744"/>
          </a:xfrm>
          <a:prstGeom prst="rect">
            <a:avLst/>
          </a:prstGeom>
          <a:noFill/>
        </p:spPr>
        <p:txBody>
          <a:bodyPr wrap="square" anchor="t" lIns="0" rIns="0" tIns="0" bIns="0">
            <a:normAutofit/>
          </a:bodyPr>
          <a:lstStyle/>
          <a:p>
            <a:pPr algn="l">
              <a:lnSpc>
                <a:spcPct val="105000"/>
              </a:lnSpc>
              <a:spcBef>
                <a:spcPts val="0"/>
              </a:spcBef>
            </a:pPr>
            <a:r>
              <a:rPr sz="1200" b="1" i="0">
                <a:solidFill>
                  <a:srgbClr val="FFB800"/>
                </a:solidFill>
                <a:latin typeface="Calibri"/>
              </a:rPr>
              <a:t>20–40 hours/month recovered per client → serve 2× more clients at same staff level</a:t>
            </a:r>
          </a:p>
        </p:txBody>
      </p:sp>
      <p:sp>
        <p:nvSpPr>
          <p:cNvPr id="35" name="Rectangle 34"/>
          <p:cNvSpPr/>
          <p:nvPr/>
        </p:nvSpPr>
        <p:spPr>
          <a:xfrm>
            <a:off x="4526280" y="2962656"/>
            <a:ext cx="7573975" cy="2377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3440" y="2980944"/>
            <a:ext cx="1371600" cy="201168"/>
          </a:xfrm>
          <a:prstGeom prst="rect">
            <a:avLst/>
          </a:prstGeom>
          <a:noFill/>
        </p:spPr>
        <p:txBody>
          <a:bodyPr wrap="square" anchor="t" lIns="0" rIns="0" tIns="0" bIns="0">
            <a:noAutofit/>
          </a:bodyPr>
          <a:lstStyle/>
          <a:p>
            <a:pPr algn="l">
              <a:lnSpc>
                <a:spcPct val="105000"/>
              </a:lnSpc>
              <a:spcBef>
                <a:spcPts val="0"/>
              </a:spcBef>
            </a:pPr>
            <a:r>
              <a:rPr sz="850" b="1" i="0">
                <a:solidFill>
                  <a:srgbClr val="5B6B7C"/>
                </a:solidFill>
                <a:latin typeface="Calibri"/>
              </a:rPr>
              <a:t>MCP SERVERS</a:t>
            </a:r>
          </a:p>
        </p:txBody>
      </p:sp>
      <p:sp>
        <p:nvSpPr>
          <p:cNvPr id="37" name="TextBox 36"/>
          <p:cNvSpPr txBox="1"/>
          <p:nvPr/>
        </p:nvSpPr>
        <p:spPr>
          <a:xfrm>
            <a:off x="6080760" y="2980944"/>
            <a:ext cx="5882335" cy="201168"/>
          </a:xfrm>
          <a:prstGeom prst="rect">
            <a:avLst/>
          </a:prstGeom>
          <a:noFill/>
        </p:spPr>
        <p:txBody>
          <a:bodyPr wrap="square" anchor="t" lIns="0" rIns="0" tIns="0" bIns="0">
            <a:normAutofit/>
          </a:bodyPr>
          <a:lstStyle/>
          <a:p>
            <a:pPr algn="l">
              <a:lnSpc>
                <a:spcPct val="105000"/>
              </a:lnSpc>
              <a:spcBef>
                <a:spcPts val="0"/>
              </a:spcBef>
            </a:pPr>
            <a:r>
              <a:rPr sz="900" b="0" i="0">
                <a:solidFill>
                  <a:srgbClr val="1B2B3C"/>
                </a:solidFill>
                <a:latin typeface="Calibri"/>
              </a:rPr>
              <a:t>GitHub, QuickBooks API, Xero API, Stripe, Google Drive, SendGrid</a:t>
            </a:r>
          </a:p>
        </p:txBody>
      </p:sp>
      <p:sp>
        <p:nvSpPr>
          <p:cNvPr id="38" name="Rectangle 37"/>
          <p:cNvSpPr/>
          <p:nvPr/>
        </p:nvSpPr>
        <p:spPr>
          <a:xfrm>
            <a:off x="4526280" y="3291840"/>
            <a:ext cx="7573975" cy="2377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63440" y="3310128"/>
            <a:ext cx="1371600" cy="201168"/>
          </a:xfrm>
          <a:prstGeom prst="rect">
            <a:avLst/>
          </a:prstGeom>
          <a:noFill/>
        </p:spPr>
        <p:txBody>
          <a:bodyPr wrap="square" anchor="t" lIns="0" rIns="0" tIns="0" bIns="0">
            <a:noAutofit/>
          </a:bodyPr>
          <a:lstStyle/>
          <a:p>
            <a:pPr algn="l">
              <a:lnSpc>
                <a:spcPct val="105000"/>
              </a:lnSpc>
              <a:spcBef>
                <a:spcPts val="0"/>
              </a:spcBef>
            </a:pPr>
            <a:r>
              <a:rPr sz="850" b="1" i="0">
                <a:solidFill>
                  <a:srgbClr val="5B6B7C"/>
                </a:solidFill>
                <a:latin typeface="Calibri"/>
              </a:rPr>
              <a:t>SUBAGENT</a:t>
            </a:r>
          </a:p>
        </p:txBody>
      </p:sp>
      <p:sp>
        <p:nvSpPr>
          <p:cNvPr id="40" name="TextBox 39"/>
          <p:cNvSpPr txBox="1"/>
          <p:nvPr/>
        </p:nvSpPr>
        <p:spPr>
          <a:xfrm>
            <a:off x="6080760" y="3310128"/>
            <a:ext cx="5882335" cy="201168"/>
          </a:xfrm>
          <a:prstGeom prst="rect">
            <a:avLst/>
          </a:prstGeom>
          <a:noFill/>
        </p:spPr>
        <p:txBody>
          <a:bodyPr wrap="square" anchor="t" lIns="0" rIns="0" tIns="0" bIns="0">
            <a:normAutofit/>
          </a:bodyPr>
          <a:lstStyle/>
          <a:p>
            <a:pPr algn="l">
              <a:lnSpc>
                <a:spcPct val="105000"/>
              </a:lnSpc>
              <a:spcBef>
                <a:spcPts val="0"/>
              </a:spcBef>
            </a:pPr>
            <a:r>
              <a:rPr sz="900" b="0" i="0">
                <a:solidFill>
                  <a:srgbClr val="1B2B3C"/>
                </a:solidFill>
                <a:latin typeface="Calibri"/>
              </a:rPr>
              <a:t>financial-analyst, document-automation</a:t>
            </a:r>
          </a:p>
        </p:txBody>
      </p:sp>
      <p:sp>
        <p:nvSpPr>
          <p:cNvPr id="41" name="TextBox 4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42" name="TextBox 4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21 /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Expansion Verticals — Month 5+ (Med Spa + HVAC)</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Add these once the core 5 verticals are proven. Same OpenHands runtime, new AGENTS.md.</a:t>
            </a:r>
          </a:p>
        </p:txBody>
      </p:sp>
      <p:sp>
        <p:nvSpPr>
          <p:cNvPr id="7" name="Rounded Rectangle 6"/>
          <p:cNvSpPr/>
          <p:nvPr/>
        </p:nvSpPr>
        <p:spPr>
          <a:xfrm>
            <a:off x="548640" y="1600200"/>
            <a:ext cx="5455767" cy="4114800"/>
          </a:xfrm>
          <a:prstGeom prst="roundRect">
            <a:avLst>
              <a:gd name="adj" fmla="val 6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600200"/>
            <a:ext cx="73152" cy="4114800"/>
          </a:xfrm>
          <a:prstGeom prst="roundRect">
            <a:avLst>
              <a:gd name="adj" fmla="val 2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709928"/>
            <a:ext cx="548640" cy="411480"/>
          </a:xfrm>
          <a:prstGeom prst="rect">
            <a:avLst/>
          </a:prstGeom>
          <a:noFill/>
        </p:spPr>
        <p:txBody>
          <a:bodyPr wrap="square" anchor="t" lIns="0" rIns="0" tIns="0" bIns="0">
            <a:noAutofit/>
          </a:bodyPr>
          <a:lstStyle/>
          <a:p>
            <a:pPr algn="l">
              <a:lnSpc>
                <a:spcPct val="105000"/>
              </a:lnSpc>
              <a:spcBef>
                <a:spcPts val="0"/>
              </a:spcBef>
            </a:pPr>
            <a:r>
              <a:rPr sz="1800" b="1" i="0">
                <a:solidFill>
                  <a:srgbClr val="F2A83B"/>
                </a:solidFill>
                <a:latin typeface="Calibri"/>
              </a:rPr>
              <a:t>#24</a:t>
            </a:r>
          </a:p>
        </p:txBody>
      </p:sp>
      <p:sp>
        <p:nvSpPr>
          <p:cNvPr id="10" name="Rounded Rectangle 9"/>
          <p:cNvSpPr/>
          <p:nvPr/>
        </p:nvSpPr>
        <p:spPr>
          <a:xfrm>
            <a:off x="5044287" y="1709928"/>
            <a:ext cx="795528" cy="274320"/>
          </a:xfrm>
          <a:prstGeom prst="roundRect">
            <a:avLst>
              <a:gd name="adj" fmla="val 6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44287" y="1719072"/>
            <a:ext cx="795528" cy="256032"/>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7/10</a:t>
            </a:r>
          </a:p>
        </p:txBody>
      </p:sp>
      <p:sp>
        <p:nvSpPr>
          <p:cNvPr id="12" name="TextBox 11"/>
          <p:cNvSpPr txBox="1"/>
          <p:nvPr/>
        </p:nvSpPr>
        <p:spPr>
          <a:xfrm>
            <a:off x="749808" y="2176272"/>
            <a:ext cx="5135727" cy="548640"/>
          </a:xfrm>
          <a:prstGeom prst="rect">
            <a:avLst/>
          </a:prstGeom>
          <a:noFill/>
        </p:spPr>
        <p:txBody>
          <a:bodyPr wrap="square" anchor="t" lIns="0" rIns="0" tIns="0" bIns="0">
            <a:normAutofit/>
          </a:bodyPr>
          <a:lstStyle/>
          <a:p>
            <a:pPr algn="l">
              <a:lnSpc>
                <a:spcPct val="105000"/>
              </a:lnSpc>
              <a:spcBef>
                <a:spcPts val="0"/>
              </a:spcBef>
            </a:pPr>
            <a:r>
              <a:rPr sz="1500" b="1" i="0">
                <a:solidFill>
                  <a:srgbClr val="0A1628"/>
                </a:solidFill>
                <a:latin typeface="Calibri"/>
              </a:rPr>
              <a:t>Med Spa Retail Upsell Automation</a:t>
            </a:r>
          </a:p>
        </p:txBody>
      </p:sp>
      <p:sp>
        <p:nvSpPr>
          <p:cNvPr id="13" name="TextBox 12"/>
          <p:cNvSpPr txBox="1"/>
          <p:nvPr/>
        </p:nvSpPr>
        <p:spPr>
          <a:xfrm>
            <a:off x="749808" y="2798064"/>
            <a:ext cx="5135727" cy="228600"/>
          </a:xfrm>
          <a:prstGeom prst="rect">
            <a:avLst/>
          </a:prstGeom>
          <a:noFill/>
        </p:spPr>
        <p:txBody>
          <a:bodyPr wrap="square" anchor="t" lIns="0" rIns="0" tIns="0" bIns="0">
            <a:noAutofit/>
          </a:bodyPr>
          <a:lstStyle/>
          <a:p>
            <a:pPr algn="l">
              <a:lnSpc>
                <a:spcPct val="105000"/>
              </a:lnSpc>
              <a:spcBef>
                <a:spcPts val="0"/>
              </a:spcBef>
            </a:pPr>
            <a:r>
              <a:rPr sz="900" b="1" i="0">
                <a:solidFill>
                  <a:srgbClr val="5B6B7C"/>
                </a:solidFill>
                <a:latin typeface="Calibri"/>
              </a:rPr>
              <a:t>MED SPAS / AESTHETIC CLINICS</a:t>
            </a:r>
          </a:p>
        </p:txBody>
      </p:sp>
      <p:sp>
        <p:nvSpPr>
          <p:cNvPr id="14" name="Rectangle 13"/>
          <p:cNvSpPr/>
          <p:nvPr/>
        </p:nvSpPr>
        <p:spPr>
          <a:xfrm>
            <a:off x="749808" y="3072384"/>
            <a:ext cx="5053431" cy="27432"/>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3182112"/>
            <a:ext cx="5135727" cy="1298448"/>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Med spa owners know clients should buy retail skincare between treatments but staff forget to recommend — $500–$2K/month in retail revenue left on the table.</a:t>
            </a:r>
          </a:p>
        </p:txBody>
      </p:sp>
      <p:sp>
        <p:nvSpPr>
          <p:cNvPr id="16" name="Rounded Rectangle 15"/>
          <p:cNvSpPr/>
          <p:nvPr/>
        </p:nvSpPr>
        <p:spPr>
          <a:xfrm>
            <a:off x="548640" y="5303520"/>
            <a:ext cx="5455767" cy="411480"/>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340096"/>
            <a:ext cx="5181447" cy="338328"/>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$500–$2,000/month in incremental retail revenue; improved client retention</a:t>
            </a:r>
          </a:p>
        </p:txBody>
      </p:sp>
      <p:sp>
        <p:nvSpPr>
          <p:cNvPr id="18" name="Rounded Rectangle 17"/>
          <p:cNvSpPr/>
          <p:nvPr/>
        </p:nvSpPr>
        <p:spPr>
          <a:xfrm>
            <a:off x="6187287" y="1600200"/>
            <a:ext cx="5455767" cy="4114800"/>
          </a:xfrm>
          <a:prstGeom prst="roundRect">
            <a:avLst>
              <a:gd name="adj" fmla="val 6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87287" y="1600200"/>
            <a:ext cx="73152" cy="4114800"/>
          </a:xfrm>
          <a:prstGeom prst="roundRect">
            <a:avLst>
              <a:gd name="adj" fmla="val 2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8455" y="1709928"/>
            <a:ext cx="548640" cy="411480"/>
          </a:xfrm>
          <a:prstGeom prst="rect">
            <a:avLst/>
          </a:prstGeom>
          <a:noFill/>
        </p:spPr>
        <p:txBody>
          <a:bodyPr wrap="square" anchor="t" lIns="0" rIns="0" tIns="0" bIns="0">
            <a:noAutofit/>
          </a:bodyPr>
          <a:lstStyle/>
          <a:p>
            <a:pPr algn="l">
              <a:lnSpc>
                <a:spcPct val="105000"/>
              </a:lnSpc>
              <a:spcBef>
                <a:spcPts val="0"/>
              </a:spcBef>
            </a:pPr>
            <a:r>
              <a:rPr sz="1800" b="1" i="0">
                <a:solidFill>
                  <a:srgbClr val="F2A83B"/>
                </a:solidFill>
                <a:latin typeface="Calibri"/>
              </a:rPr>
              <a:t>#25</a:t>
            </a:r>
          </a:p>
        </p:txBody>
      </p:sp>
      <p:sp>
        <p:nvSpPr>
          <p:cNvPr id="21" name="Rounded Rectangle 20"/>
          <p:cNvSpPr/>
          <p:nvPr/>
        </p:nvSpPr>
        <p:spPr>
          <a:xfrm>
            <a:off x="10682935" y="1709928"/>
            <a:ext cx="795528" cy="274320"/>
          </a:xfrm>
          <a:prstGeom prst="roundRect">
            <a:avLst>
              <a:gd name="adj" fmla="val 6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82935" y="1719072"/>
            <a:ext cx="795528" cy="256032"/>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6/10</a:t>
            </a:r>
          </a:p>
        </p:txBody>
      </p:sp>
      <p:sp>
        <p:nvSpPr>
          <p:cNvPr id="23" name="TextBox 22"/>
          <p:cNvSpPr txBox="1"/>
          <p:nvPr/>
        </p:nvSpPr>
        <p:spPr>
          <a:xfrm>
            <a:off x="6388455" y="2176272"/>
            <a:ext cx="5135727" cy="548640"/>
          </a:xfrm>
          <a:prstGeom prst="rect">
            <a:avLst/>
          </a:prstGeom>
          <a:noFill/>
        </p:spPr>
        <p:txBody>
          <a:bodyPr wrap="square" anchor="t" lIns="0" rIns="0" tIns="0" bIns="0">
            <a:normAutofit/>
          </a:bodyPr>
          <a:lstStyle/>
          <a:p>
            <a:pPr algn="l">
              <a:lnSpc>
                <a:spcPct val="105000"/>
              </a:lnSpc>
              <a:spcBef>
                <a:spcPts val="0"/>
              </a:spcBef>
            </a:pPr>
            <a:r>
              <a:rPr sz="1500" b="1" i="0">
                <a:solidFill>
                  <a:srgbClr val="0A1628"/>
                </a:solidFill>
                <a:latin typeface="Calibri"/>
              </a:rPr>
              <a:t>HVAC Quote Follow-Up + Review Automation</a:t>
            </a:r>
          </a:p>
        </p:txBody>
      </p:sp>
      <p:sp>
        <p:nvSpPr>
          <p:cNvPr id="24" name="TextBox 23"/>
          <p:cNvSpPr txBox="1"/>
          <p:nvPr/>
        </p:nvSpPr>
        <p:spPr>
          <a:xfrm>
            <a:off x="6388455" y="2798064"/>
            <a:ext cx="5135727" cy="228600"/>
          </a:xfrm>
          <a:prstGeom prst="rect">
            <a:avLst/>
          </a:prstGeom>
          <a:noFill/>
        </p:spPr>
        <p:txBody>
          <a:bodyPr wrap="square" anchor="t" lIns="0" rIns="0" tIns="0" bIns="0">
            <a:noAutofit/>
          </a:bodyPr>
          <a:lstStyle/>
          <a:p>
            <a:pPr algn="l">
              <a:lnSpc>
                <a:spcPct val="105000"/>
              </a:lnSpc>
              <a:spcBef>
                <a:spcPts val="0"/>
              </a:spcBef>
            </a:pPr>
            <a:r>
              <a:rPr sz="900" b="1" i="0">
                <a:solidFill>
                  <a:srgbClr val="5B6B7C"/>
                </a:solidFill>
                <a:latin typeface="Calibri"/>
              </a:rPr>
              <a:t>HVAC / PLUMBING CONTRACTORS</a:t>
            </a:r>
          </a:p>
        </p:txBody>
      </p:sp>
      <p:sp>
        <p:nvSpPr>
          <p:cNvPr id="25" name="Rectangle 24"/>
          <p:cNvSpPr/>
          <p:nvPr/>
        </p:nvSpPr>
        <p:spPr>
          <a:xfrm>
            <a:off x="6388455" y="3072384"/>
            <a:ext cx="5053431" cy="27432"/>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88455" y="3182112"/>
            <a:ext cx="5135727" cy="1298448"/>
          </a:xfrm>
          <a:prstGeom prst="rect">
            <a:avLst/>
          </a:prstGeom>
          <a:noFill/>
        </p:spPr>
        <p:txBody>
          <a:bodyPr wrap="square" anchor="t" lIns="0" rIns="0" tIns="0" bIns="0">
            <a:normAutofit/>
          </a:bodyPr>
          <a:lstStyle/>
          <a:p>
            <a:pPr algn="l">
              <a:lnSpc>
                <a:spcPct val="120000"/>
              </a:lnSpc>
              <a:spcBef>
                <a:spcPts val="0"/>
              </a:spcBef>
            </a:pPr>
            <a:r>
              <a:rPr sz="1100" b="0" i="0">
                <a:solidFill>
                  <a:srgbClr val="1B2B3C"/>
                </a:solidFill>
                <a:latin typeface="Calibri"/>
              </a:rPr>
              <a:t>Contractors send 30–50 quotes/month and follow up on maybe 20% — the other 80% go cold and they never know which jobs they lost or why.</a:t>
            </a:r>
          </a:p>
        </p:txBody>
      </p:sp>
      <p:sp>
        <p:nvSpPr>
          <p:cNvPr id="27" name="Rounded Rectangle 26"/>
          <p:cNvSpPr/>
          <p:nvPr/>
        </p:nvSpPr>
        <p:spPr>
          <a:xfrm>
            <a:off x="6187287" y="5303520"/>
            <a:ext cx="5455767" cy="411480"/>
          </a:xfrm>
          <a:prstGeom prst="roundRect">
            <a:avLst>
              <a:gd name="adj" fmla="val 4000"/>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0167" y="5340096"/>
            <a:ext cx="5181447" cy="338328"/>
          </a:xfrm>
          <a:prstGeom prst="rect">
            <a:avLst/>
          </a:prstGeom>
          <a:noFill/>
        </p:spPr>
        <p:txBody>
          <a:bodyPr wrap="square" anchor="t" lIns="0" rIns="0" tIns="0" bIns="0">
            <a:normAutofit/>
          </a:bodyPr>
          <a:lstStyle/>
          <a:p>
            <a:pPr algn="l">
              <a:lnSpc>
                <a:spcPct val="105000"/>
              </a:lnSpc>
              <a:spcBef>
                <a:spcPts val="0"/>
              </a:spcBef>
            </a:pPr>
            <a:r>
              <a:rPr sz="1000" b="1" i="0">
                <a:solidFill>
                  <a:srgbClr val="009B82"/>
                </a:solidFill>
                <a:latin typeface="Calibri"/>
              </a:rPr>
              <a:t>Value: 10–20% more quotes converted = 2–4 additional jobs/month at $500–$2K each</a:t>
            </a:r>
          </a:p>
        </p:txBody>
      </p:sp>
      <p:sp>
        <p:nvSpPr>
          <p:cNvPr id="29" name="TextBox 2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30" name="TextBox 2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22 /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Portfolio Wave Map — 16 Quick Wins, 9 Strategic Bets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Value × Feasibility · Wave 1 = ship in 0–4 weeks · Wave 2 = 4–12 weeks</a:t>
            </a:r>
          </a:p>
        </p:txBody>
      </p:sp>
      <p:sp>
        <p:nvSpPr>
          <p:cNvPr id="7" name="Rounded Rectangle 6"/>
          <p:cNvSpPr/>
          <p:nvPr/>
        </p:nvSpPr>
        <p:spPr>
          <a:xfrm>
            <a:off x="548640" y="1572768"/>
            <a:ext cx="7132320" cy="452628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572768"/>
            <a:ext cx="7132320" cy="365760"/>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591056"/>
            <a:ext cx="6766560" cy="329184"/>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WAVE 1 — QUICK WINS  (0–4 weeks, show ROI in 30 days)</a:t>
            </a:r>
          </a:p>
        </p:txBody>
      </p:sp>
      <p:sp>
        <p:nvSpPr>
          <p:cNvPr id="10" name="Rounded Rectangle 9"/>
          <p:cNvSpPr/>
          <p:nvPr/>
        </p:nvSpPr>
        <p:spPr>
          <a:xfrm>
            <a:off x="731520" y="2066543"/>
            <a:ext cx="1600200" cy="402336"/>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139695"/>
            <a:ext cx="141732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#1 TC Bot</a:t>
            </a:r>
          </a:p>
        </p:txBody>
      </p:sp>
      <p:sp>
        <p:nvSpPr>
          <p:cNvPr id="12" name="Rounded Rectangle 11"/>
          <p:cNvSpPr/>
          <p:nvPr/>
        </p:nvSpPr>
        <p:spPr>
          <a:xfrm>
            <a:off x="2450592" y="2066543"/>
            <a:ext cx="1600200" cy="402336"/>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42032" y="2139695"/>
            <a:ext cx="141732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#2 Listing Desc.</a:t>
            </a:r>
          </a:p>
        </p:txBody>
      </p:sp>
      <p:sp>
        <p:nvSpPr>
          <p:cNvPr id="14" name="Rounded Rectangle 13"/>
          <p:cNvSpPr/>
          <p:nvPr/>
        </p:nvSpPr>
        <p:spPr>
          <a:xfrm>
            <a:off x="4169664" y="2066543"/>
            <a:ext cx="1600200" cy="402336"/>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61104" y="2139695"/>
            <a:ext cx="141732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#3 Lead Scoring</a:t>
            </a:r>
          </a:p>
        </p:txBody>
      </p:sp>
      <p:sp>
        <p:nvSpPr>
          <p:cNvPr id="16" name="Rounded Rectangle 15"/>
          <p:cNvSpPr/>
          <p:nvPr/>
        </p:nvSpPr>
        <p:spPr>
          <a:xfrm>
            <a:off x="5888736" y="2066543"/>
            <a:ext cx="1600200" cy="402336"/>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0176" y="2139695"/>
            <a:ext cx="141732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#4 CMA Gen.</a:t>
            </a:r>
          </a:p>
        </p:txBody>
      </p:sp>
      <p:sp>
        <p:nvSpPr>
          <p:cNvPr id="18" name="Rounded Rectangle 17"/>
          <p:cNvSpPr/>
          <p:nvPr/>
        </p:nvSpPr>
        <p:spPr>
          <a:xfrm>
            <a:off x="731520" y="2596895"/>
            <a:ext cx="1600200" cy="402336"/>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2670047"/>
            <a:ext cx="141732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#5 Patient Recall</a:t>
            </a:r>
          </a:p>
        </p:txBody>
      </p:sp>
      <p:sp>
        <p:nvSpPr>
          <p:cNvPr id="20" name="Rounded Rectangle 19"/>
          <p:cNvSpPr/>
          <p:nvPr/>
        </p:nvSpPr>
        <p:spPr>
          <a:xfrm>
            <a:off x="2450592" y="2596895"/>
            <a:ext cx="1600200" cy="402336"/>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42032" y="2670047"/>
            <a:ext cx="141732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#6 Insurance Pre-Auth</a:t>
            </a:r>
          </a:p>
        </p:txBody>
      </p:sp>
      <p:sp>
        <p:nvSpPr>
          <p:cNvPr id="22" name="Rounded Rectangle 21"/>
          <p:cNvSpPr/>
          <p:nvPr/>
        </p:nvSpPr>
        <p:spPr>
          <a:xfrm>
            <a:off x="4169664" y="2596895"/>
            <a:ext cx="1600200" cy="402336"/>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61104" y="2670047"/>
            <a:ext cx="141732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#7 Contract Gen.</a:t>
            </a:r>
          </a:p>
        </p:txBody>
      </p:sp>
      <p:sp>
        <p:nvSpPr>
          <p:cNvPr id="24" name="Rounded Rectangle 23"/>
          <p:cNvSpPr/>
          <p:nvPr/>
        </p:nvSpPr>
        <p:spPr>
          <a:xfrm>
            <a:off x="5888736" y="2596895"/>
            <a:ext cx="1600200" cy="402336"/>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80176" y="2670047"/>
            <a:ext cx="141732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#8 Client Intake</a:t>
            </a:r>
          </a:p>
        </p:txBody>
      </p:sp>
      <p:sp>
        <p:nvSpPr>
          <p:cNvPr id="26" name="Rounded Rectangle 25"/>
          <p:cNvSpPr/>
          <p:nvPr/>
        </p:nvSpPr>
        <p:spPr>
          <a:xfrm>
            <a:off x="731520" y="3127247"/>
            <a:ext cx="1600200" cy="402336"/>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3200399"/>
            <a:ext cx="141732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#9 Monthly Close</a:t>
            </a:r>
          </a:p>
        </p:txBody>
      </p:sp>
      <p:sp>
        <p:nvSpPr>
          <p:cNvPr id="28" name="Rounded Rectangle 27"/>
          <p:cNvSpPr/>
          <p:nvPr/>
        </p:nvSpPr>
        <p:spPr>
          <a:xfrm>
            <a:off x="2450592" y="3127247"/>
            <a:ext cx="1600200" cy="402336"/>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42032" y="3200399"/>
            <a:ext cx="141732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#10 Product Desc.</a:t>
            </a:r>
          </a:p>
        </p:txBody>
      </p:sp>
      <p:sp>
        <p:nvSpPr>
          <p:cNvPr id="30" name="Rounded Rectangle 29"/>
          <p:cNvSpPr/>
          <p:nvPr/>
        </p:nvSpPr>
        <p:spPr>
          <a:xfrm>
            <a:off x="4169664" y="3127247"/>
            <a:ext cx="1600200" cy="402336"/>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61104" y="3200399"/>
            <a:ext cx="141732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#11 Cart Recovery</a:t>
            </a:r>
          </a:p>
        </p:txBody>
      </p:sp>
      <p:sp>
        <p:nvSpPr>
          <p:cNvPr id="32" name="Rounded Rectangle 31"/>
          <p:cNvSpPr/>
          <p:nvPr/>
        </p:nvSpPr>
        <p:spPr>
          <a:xfrm>
            <a:off x="5888736" y="3127247"/>
            <a:ext cx="1600200" cy="402336"/>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80176" y="3200399"/>
            <a:ext cx="141732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#12 New Patient Intake</a:t>
            </a:r>
          </a:p>
        </p:txBody>
      </p:sp>
      <p:sp>
        <p:nvSpPr>
          <p:cNvPr id="34" name="Rounded Rectangle 33"/>
          <p:cNvSpPr/>
          <p:nvPr/>
        </p:nvSpPr>
        <p:spPr>
          <a:xfrm>
            <a:off x="731520" y="3657599"/>
            <a:ext cx="1600200" cy="402336"/>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3730751"/>
            <a:ext cx="141732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#14 Review Bot</a:t>
            </a:r>
          </a:p>
        </p:txBody>
      </p:sp>
      <p:sp>
        <p:nvSpPr>
          <p:cNvPr id="36" name="Rounded Rectangle 35"/>
          <p:cNvSpPr/>
          <p:nvPr/>
        </p:nvSpPr>
        <p:spPr>
          <a:xfrm>
            <a:off x="2450592" y="3657599"/>
            <a:ext cx="1600200" cy="402336"/>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42032" y="3730751"/>
            <a:ext cx="141732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#16 Billing Narrative</a:t>
            </a:r>
          </a:p>
        </p:txBody>
      </p:sp>
      <p:sp>
        <p:nvSpPr>
          <p:cNvPr id="38" name="Rounded Rectangle 37"/>
          <p:cNvSpPr/>
          <p:nvPr/>
        </p:nvSpPr>
        <p:spPr>
          <a:xfrm>
            <a:off x="4169664" y="3657599"/>
            <a:ext cx="1600200" cy="402336"/>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61104" y="3730751"/>
            <a:ext cx="141732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#18 Tax Doc Collect.</a:t>
            </a:r>
          </a:p>
        </p:txBody>
      </p:sp>
      <p:sp>
        <p:nvSpPr>
          <p:cNvPr id="40" name="Rounded Rectangle 39"/>
          <p:cNvSpPr/>
          <p:nvPr/>
        </p:nvSpPr>
        <p:spPr>
          <a:xfrm>
            <a:off x="5888736" y="3657599"/>
            <a:ext cx="1600200" cy="402336"/>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80176" y="3730751"/>
            <a:ext cx="141732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#19 CS Response</a:t>
            </a:r>
          </a:p>
        </p:txBody>
      </p:sp>
      <p:sp>
        <p:nvSpPr>
          <p:cNvPr id="42" name="Rounded Rectangle 41"/>
          <p:cNvSpPr/>
          <p:nvPr/>
        </p:nvSpPr>
        <p:spPr>
          <a:xfrm>
            <a:off x="7863840" y="1572768"/>
            <a:ext cx="4160520" cy="452628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863840" y="1572768"/>
            <a:ext cx="4160520" cy="365760"/>
          </a:xfrm>
          <a:prstGeom prst="roundRect">
            <a:avLst>
              <a:gd name="adj" fmla="val 4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6719" y="1591056"/>
            <a:ext cx="3749039" cy="329184"/>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WAVE 2 — STRATEGIC BETS  (4–12 weeks)</a:t>
            </a:r>
          </a:p>
        </p:txBody>
      </p:sp>
      <p:sp>
        <p:nvSpPr>
          <p:cNvPr id="45" name="Rounded Rectangle 44"/>
          <p:cNvSpPr/>
          <p:nvPr/>
        </p:nvSpPr>
        <p:spPr>
          <a:xfrm>
            <a:off x="8046719" y="2066543"/>
            <a:ext cx="3749039" cy="384048"/>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0" y="2139695"/>
            <a:ext cx="338328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#13 Buyer/Seller Match</a:t>
            </a:r>
          </a:p>
        </p:txBody>
      </p:sp>
      <p:sp>
        <p:nvSpPr>
          <p:cNvPr id="47" name="Rounded Rectangle 46"/>
          <p:cNvSpPr/>
          <p:nvPr/>
        </p:nvSpPr>
        <p:spPr>
          <a:xfrm>
            <a:off x="8046719" y="2542031"/>
            <a:ext cx="3749039" cy="384048"/>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0" y="2615183"/>
            <a:ext cx="338328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#15 Discovery Review</a:t>
            </a:r>
          </a:p>
        </p:txBody>
      </p:sp>
      <p:sp>
        <p:nvSpPr>
          <p:cNvPr id="49" name="Rounded Rectangle 48"/>
          <p:cNvSpPr/>
          <p:nvPr/>
        </p:nvSpPr>
        <p:spPr>
          <a:xfrm>
            <a:off x="8046719" y="3017519"/>
            <a:ext cx="3749039" cy="384048"/>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29600" y="3090671"/>
            <a:ext cx="338328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#17 AP Processing</a:t>
            </a:r>
          </a:p>
        </p:txBody>
      </p:sp>
      <p:sp>
        <p:nvSpPr>
          <p:cNvPr id="51" name="Rounded Rectangle 50"/>
          <p:cNvSpPr/>
          <p:nvPr/>
        </p:nvSpPr>
        <p:spPr>
          <a:xfrm>
            <a:off x="8046719" y="3493007"/>
            <a:ext cx="3749039" cy="384048"/>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0" y="3566159"/>
            <a:ext cx="338328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#20 Inventory Reorder</a:t>
            </a:r>
          </a:p>
        </p:txBody>
      </p:sp>
      <p:sp>
        <p:nvSpPr>
          <p:cNvPr id="53" name="Rounded Rectangle 52"/>
          <p:cNvSpPr/>
          <p:nvPr/>
        </p:nvSpPr>
        <p:spPr>
          <a:xfrm>
            <a:off x="8046719" y="3968495"/>
            <a:ext cx="3749039" cy="384048"/>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29600" y="4041647"/>
            <a:ext cx="338328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#21 Commission Dash</a:t>
            </a:r>
          </a:p>
        </p:txBody>
      </p:sp>
      <p:sp>
        <p:nvSpPr>
          <p:cNvPr id="55" name="Rounded Rectangle 54"/>
          <p:cNvSpPr/>
          <p:nvPr/>
        </p:nvSpPr>
        <p:spPr>
          <a:xfrm>
            <a:off x="8046719" y="4443983"/>
            <a:ext cx="3749039" cy="384048"/>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229600" y="4517135"/>
            <a:ext cx="338328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#22 Advisory Digest</a:t>
            </a:r>
          </a:p>
        </p:txBody>
      </p:sp>
      <p:sp>
        <p:nvSpPr>
          <p:cNvPr id="57" name="Rounded Rectangle 56"/>
          <p:cNvSpPr/>
          <p:nvPr/>
        </p:nvSpPr>
        <p:spPr>
          <a:xfrm>
            <a:off x="8046719" y="4919471"/>
            <a:ext cx="3749039" cy="384048"/>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29600" y="4992623"/>
            <a:ext cx="338328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#23 Social Calendar</a:t>
            </a:r>
          </a:p>
        </p:txBody>
      </p:sp>
      <p:sp>
        <p:nvSpPr>
          <p:cNvPr id="59" name="Rounded Rectangle 58"/>
          <p:cNvSpPr/>
          <p:nvPr/>
        </p:nvSpPr>
        <p:spPr>
          <a:xfrm>
            <a:off x="8046719" y="5394959"/>
            <a:ext cx="3749039" cy="384048"/>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29600" y="5468111"/>
            <a:ext cx="338328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#24 MedSpa Upsell</a:t>
            </a:r>
          </a:p>
        </p:txBody>
      </p:sp>
      <p:sp>
        <p:nvSpPr>
          <p:cNvPr id="61" name="Rounded Rectangle 60"/>
          <p:cNvSpPr/>
          <p:nvPr/>
        </p:nvSpPr>
        <p:spPr>
          <a:xfrm>
            <a:off x="8046719" y="5870447"/>
            <a:ext cx="3749039" cy="384048"/>
          </a:xfrm>
          <a:prstGeom prst="roundRect">
            <a:avLst>
              <a:gd name="adj" fmla="val 4000"/>
            </a:avLst>
          </a:prstGeom>
          <a:solidFill>
            <a:srgbClr val="FFFFFF"/>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29600" y="5943599"/>
            <a:ext cx="3383280" cy="274320"/>
          </a:xfrm>
          <a:prstGeom prst="rect">
            <a:avLst/>
          </a:prstGeom>
          <a:noFill/>
        </p:spPr>
        <p:txBody>
          <a:bodyPr wrap="square" anchor="t" lIns="0" rIns="0" tIns="0" bIns="0">
            <a:normAutofit/>
          </a:bodyPr>
          <a:lstStyle/>
          <a:p>
            <a:pPr algn="l">
              <a:lnSpc>
                <a:spcPct val="105000"/>
              </a:lnSpc>
              <a:spcBef>
                <a:spcPts val="0"/>
              </a:spcBef>
            </a:pPr>
            <a:r>
              <a:rPr sz="950" b="1" i="0">
                <a:solidFill>
                  <a:srgbClr val="0A1628"/>
                </a:solidFill>
                <a:latin typeface="Calibri"/>
              </a:rPr>
              <a:t>#25 HVAC Quotes</a:t>
            </a:r>
          </a:p>
        </p:txBody>
      </p:sp>
      <p:sp>
        <p:nvSpPr>
          <p:cNvPr id="63" name="TextBox 6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64" name="TextBox 6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23 /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6-Month Execution Roadmap</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Start narrow. Prove the model. Expand vertically. Compound the moat.</a:t>
            </a:r>
          </a:p>
        </p:txBody>
      </p:sp>
      <p:sp>
        <p:nvSpPr>
          <p:cNvPr id="7" name="Rounded Rectangle 6"/>
          <p:cNvSpPr/>
          <p:nvPr/>
        </p:nvSpPr>
        <p:spPr>
          <a:xfrm>
            <a:off x="548640" y="1572768"/>
            <a:ext cx="1772869" cy="4526280"/>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572768"/>
            <a:ext cx="1772869" cy="411480"/>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00200"/>
            <a:ext cx="1635709" cy="365760"/>
          </a:xfrm>
          <a:prstGeom prst="rect">
            <a:avLst/>
          </a:prstGeom>
          <a:noFill/>
        </p:spPr>
        <p:txBody>
          <a:bodyPr wrap="square" anchor="t" lIns="0" rIns="0" tIns="0" bIns="0">
            <a:normAutofit/>
          </a:bodyPr>
          <a:lstStyle/>
          <a:p>
            <a:pPr algn="ctr">
              <a:lnSpc>
                <a:spcPct val="105000"/>
              </a:lnSpc>
              <a:spcBef>
                <a:spcPts val="0"/>
              </a:spcBef>
            </a:pPr>
            <a:r>
              <a:rPr sz="1000" b="1" i="0">
                <a:solidFill>
                  <a:srgbClr val="0A1628"/>
                </a:solidFill>
                <a:latin typeface="Calibri"/>
              </a:rPr>
              <a:t>Month 1</a:t>
            </a:r>
          </a:p>
        </p:txBody>
      </p:sp>
      <p:sp>
        <p:nvSpPr>
          <p:cNvPr id="10" name="TextBox 9"/>
          <p:cNvSpPr txBox="1"/>
          <p:nvPr/>
        </p:nvSpPr>
        <p:spPr>
          <a:xfrm>
            <a:off x="640080" y="2066543"/>
            <a:ext cx="1635709" cy="347472"/>
          </a:xfrm>
          <a:prstGeom prst="rect">
            <a:avLst/>
          </a:prstGeom>
          <a:noFill/>
        </p:spPr>
        <p:txBody>
          <a:bodyPr wrap="square" anchor="t" lIns="0" rIns="0" tIns="0" bIns="0">
            <a:normAutofit/>
          </a:bodyPr>
          <a:lstStyle/>
          <a:p>
            <a:pPr algn="l">
              <a:lnSpc>
                <a:spcPct val="105000"/>
              </a:lnSpc>
              <a:spcBef>
                <a:spcPts val="0"/>
              </a:spcBef>
            </a:pPr>
            <a:r>
              <a:rPr sz="1050" b="1" i="0">
                <a:solidFill>
                  <a:srgbClr val="0A1628"/>
                </a:solidFill>
                <a:latin typeface="Calibri"/>
              </a:rPr>
              <a:t>Real Estate</a:t>
            </a:r>
          </a:p>
        </p:txBody>
      </p:sp>
      <p:sp>
        <p:nvSpPr>
          <p:cNvPr id="11" name="TextBox 10"/>
          <p:cNvSpPr txBox="1"/>
          <p:nvPr/>
        </p:nvSpPr>
        <p:spPr>
          <a:xfrm>
            <a:off x="640080" y="2523744"/>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Deploy TC Bot (#1)</a:t>
            </a:r>
          </a:p>
        </p:txBody>
      </p:sp>
      <p:sp>
        <p:nvSpPr>
          <p:cNvPr id="12" name="TextBox 11"/>
          <p:cNvSpPr txBox="1"/>
          <p:nvPr/>
        </p:nvSpPr>
        <p:spPr>
          <a:xfrm>
            <a:off x="640080" y="3273552"/>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Listing Description system (#2)</a:t>
            </a:r>
          </a:p>
        </p:txBody>
      </p:sp>
      <p:sp>
        <p:nvSpPr>
          <p:cNvPr id="13" name="TextBox 12"/>
          <p:cNvSpPr txBox="1"/>
          <p:nvPr/>
        </p:nvSpPr>
        <p:spPr>
          <a:xfrm>
            <a:off x="640080" y="4023360"/>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Lead Scoring CRM (#3)</a:t>
            </a:r>
          </a:p>
        </p:txBody>
      </p:sp>
      <p:sp>
        <p:nvSpPr>
          <p:cNvPr id="14" name="TextBox 13"/>
          <p:cNvSpPr txBox="1"/>
          <p:nvPr/>
        </p:nvSpPr>
        <p:spPr>
          <a:xfrm>
            <a:off x="640080" y="4773168"/>
            <a:ext cx="1608277" cy="713232"/>
          </a:xfrm>
          <a:prstGeom prst="rect">
            <a:avLst/>
          </a:prstGeom>
          <a:noFill/>
        </p:spPr>
        <p:txBody>
          <a:bodyPr wrap="square" anchor="t" lIns="0" rIns="0" tIns="0" bIns="0">
            <a:normAutofit/>
          </a:bodyPr>
          <a:lstStyle/>
          <a:p>
            <a:pPr algn="l">
              <a:lnSpc>
                <a:spcPct val="115000"/>
              </a:lnSpc>
              <a:spcBef>
                <a:spcPts val="0"/>
              </a:spcBef>
            </a:pPr>
            <a:r>
              <a:rPr sz="900" b="1" i="0">
                <a:solidFill>
                  <a:srgbClr val="FFB800"/>
                </a:solidFill>
                <a:latin typeface="Calibri"/>
              </a:rPr>
              <a:t>Target: 2 paying clients @ $3K/mo = $6K MRR</a:t>
            </a:r>
          </a:p>
        </p:txBody>
      </p:sp>
      <p:sp>
        <p:nvSpPr>
          <p:cNvPr id="15" name="Rounded Rectangle 14"/>
          <p:cNvSpPr/>
          <p:nvPr/>
        </p:nvSpPr>
        <p:spPr>
          <a:xfrm>
            <a:off x="2412949" y="1572768"/>
            <a:ext cx="1772869" cy="4526280"/>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412949" y="1572768"/>
            <a:ext cx="1772869" cy="411480"/>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04389" y="1600200"/>
            <a:ext cx="1635709" cy="365760"/>
          </a:xfrm>
          <a:prstGeom prst="rect">
            <a:avLst/>
          </a:prstGeom>
          <a:noFill/>
        </p:spPr>
        <p:txBody>
          <a:bodyPr wrap="square" anchor="t" lIns="0" rIns="0" tIns="0" bIns="0">
            <a:normAutofit/>
          </a:bodyPr>
          <a:lstStyle/>
          <a:p>
            <a:pPr algn="ctr">
              <a:lnSpc>
                <a:spcPct val="105000"/>
              </a:lnSpc>
              <a:spcBef>
                <a:spcPts val="0"/>
              </a:spcBef>
            </a:pPr>
            <a:r>
              <a:rPr sz="1000" b="1" i="0">
                <a:solidFill>
                  <a:srgbClr val="0A1628"/>
                </a:solidFill>
                <a:latin typeface="Calibri"/>
              </a:rPr>
              <a:t>Month 2</a:t>
            </a:r>
          </a:p>
        </p:txBody>
      </p:sp>
      <p:sp>
        <p:nvSpPr>
          <p:cNvPr id="18" name="TextBox 17"/>
          <p:cNvSpPr txBox="1"/>
          <p:nvPr/>
        </p:nvSpPr>
        <p:spPr>
          <a:xfrm>
            <a:off x="2504389" y="2066543"/>
            <a:ext cx="1635709" cy="347472"/>
          </a:xfrm>
          <a:prstGeom prst="rect">
            <a:avLst/>
          </a:prstGeom>
          <a:noFill/>
        </p:spPr>
        <p:txBody>
          <a:bodyPr wrap="square" anchor="t" lIns="0" rIns="0" tIns="0" bIns="0">
            <a:normAutofit/>
          </a:bodyPr>
          <a:lstStyle/>
          <a:p>
            <a:pPr algn="l">
              <a:lnSpc>
                <a:spcPct val="105000"/>
              </a:lnSpc>
              <a:spcBef>
                <a:spcPts val="0"/>
              </a:spcBef>
            </a:pPr>
            <a:r>
              <a:rPr sz="1050" b="1" i="0">
                <a:solidFill>
                  <a:srgbClr val="0A1628"/>
                </a:solidFill>
                <a:latin typeface="Calibri"/>
              </a:rPr>
              <a:t>Add Dental</a:t>
            </a:r>
          </a:p>
        </p:txBody>
      </p:sp>
      <p:sp>
        <p:nvSpPr>
          <p:cNvPr id="19" name="TextBox 18"/>
          <p:cNvSpPr txBox="1"/>
          <p:nvPr/>
        </p:nvSpPr>
        <p:spPr>
          <a:xfrm>
            <a:off x="2504389" y="2523744"/>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Patient Recall system (#5)</a:t>
            </a:r>
          </a:p>
        </p:txBody>
      </p:sp>
      <p:sp>
        <p:nvSpPr>
          <p:cNvPr id="20" name="TextBox 19"/>
          <p:cNvSpPr txBox="1"/>
          <p:nvPr/>
        </p:nvSpPr>
        <p:spPr>
          <a:xfrm>
            <a:off x="2504389" y="3273552"/>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Insurance Pre-Auth Bot (#6)</a:t>
            </a:r>
          </a:p>
        </p:txBody>
      </p:sp>
      <p:sp>
        <p:nvSpPr>
          <p:cNvPr id="21" name="TextBox 20"/>
          <p:cNvSpPr txBox="1"/>
          <p:nvPr/>
        </p:nvSpPr>
        <p:spPr>
          <a:xfrm>
            <a:off x="2504389" y="4023360"/>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New Patient Intake (#12)</a:t>
            </a:r>
          </a:p>
        </p:txBody>
      </p:sp>
      <p:sp>
        <p:nvSpPr>
          <p:cNvPr id="22" name="TextBox 21"/>
          <p:cNvSpPr txBox="1"/>
          <p:nvPr/>
        </p:nvSpPr>
        <p:spPr>
          <a:xfrm>
            <a:off x="2504389" y="4773168"/>
            <a:ext cx="1608277" cy="713232"/>
          </a:xfrm>
          <a:prstGeom prst="rect">
            <a:avLst/>
          </a:prstGeom>
          <a:noFill/>
        </p:spPr>
        <p:txBody>
          <a:bodyPr wrap="square" anchor="t" lIns="0" rIns="0" tIns="0" bIns="0">
            <a:normAutofit/>
          </a:bodyPr>
          <a:lstStyle/>
          <a:p>
            <a:pPr algn="l">
              <a:lnSpc>
                <a:spcPct val="115000"/>
              </a:lnSpc>
              <a:spcBef>
                <a:spcPts val="0"/>
              </a:spcBef>
            </a:pPr>
            <a:r>
              <a:rPr sz="900" b="1" i="0">
                <a:solidFill>
                  <a:srgbClr val="FFB800"/>
                </a:solidFill>
                <a:latin typeface="Calibri"/>
              </a:rPr>
              <a:t>Target: +2 dental clients @ $3K/mo = $12K MRR</a:t>
            </a:r>
          </a:p>
        </p:txBody>
      </p:sp>
      <p:sp>
        <p:nvSpPr>
          <p:cNvPr id="23" name="Rounded Rectangle 22"/>
          <p:cNvSpPr/>
          <p:nvPr/>
        </p:nvSpPr>
        <p:spPr>
          <a:xfrm>
            <a:off x="4277258" y="1572768"/>
            <a:ext cx="1772869" cy="4526280"/>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277258" y="1572768"/>
            <a:ext cx="1772869" cy="411480"/>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68698" y="1600200"/>
            <a:ext cx="1635709" cy="365760"/>
          </a:xfrm>
          <a:prstGeom prst="rect">
            <a:avLst/>
          </a:prstGeom>
          <a:noFill/>
        </p:spPr>
        <p:txBody>
          <a:bodyPr wrap="square" anchor="t" lIns="0" rIns="0" tIns="0" bIns="0">
            <a:normAutofit/>
          </a:bodyPr>
          <a:lstStyle/>
          <a:p>
            <a:pPr algn="ctr">
              <a:lnSpc>
                <a:spcPct val="105000"/>
              </a:lnSpc>
              <a:spcBef>
                <a:spcPts val="0"/>
              </a:spcBef>
            </a:pPr>
            <a:r>
              <a:rPr sz="1000" b="1" i="0">
                <a:solidFill>
                  <a:srgbClr val="0A1628"/>
                </a:solidFill>
                <a:latin typeface="Calibri"/>
              </a:rPr>
              <a:t>Month 3</a:t>
            </a:r>
          </a:p>
        </p:txBody>
      </p:sp>
      <p:sp>
        <p:nvSpPr>
          <p:cNvPr id="26" name="TextBox 25"/>
          <p:cNvSpPr txBox="1"/>
          <p:nvPr/>
        </p:nvSpPr>
        <p:spPr>
          <a:xfrm>
            <a:off x="4368698" y="2066543"/>
            <a:ext cx="1635709" cy="347472"/>
          </a:xfrm>
          <a:prstGeom prst="rect">
            <a:avLst/>
          </a:prstGeom>
          <a:noFill/>
        </p:spPr>
        <p:txBody>
          <a:bodyPr wrap="square" anchor="t" lIns="0" rIns="0" tIns="0" bIns="0">
            <a:normAutofit/>
          </a:bodyPr>
          <a:lstStyle/>
          <a:p>
            <a:pPr algn="l">
              <a:lnSpc>
                <a:spcPct val="105000"/>
              </a:lnSpc>
              <a:spcBef>
                <a:spcPts val="0"/>
              </a:spcBef>
            </a:pPr>
            <a:r>
              <a:rPr sz="1050" b="1" i="0">
                <a:solidFill>
                  <a:srgbClr val="0A1628"/>
                </a:solidFill>
                <a:latin typeface="Calibri"/>
              </a:rPr>
              <a:t>Add Law</a:t>
            </a:r>
          </a:p>
        </p:txBody>
      </p:sp>
      <p:sp>
        <p:nvSpPr>
          <p:cNvPr id="27" name="TextBox 26"/>
          <p:cNvSpPr txBox="1"/>
          <p:nvPr/>
        </p:nvSpPr>
        <p:spPr>
          <a:xfrm>
            <a:off x="4368698" y="2523744"/>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Contract Generation (#7)</a:t>
            </a:r>
          </a:p>
        </p:txBody>
      </p:sp>
      <p:sp>
        <p:nvSpPr>
          <p:cNvPr id="28" name="TextBox 27"/>
          <p:cNvSpPr txBox="1"/>
          <p:nvPr/>
        </p:nvSpPr>
        <p:spPr>
          <a:xfrm>
            <a:off x="4368698" y="3273552"/>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Client Intake Portal (#8)</a:t>
            </a:r>
          </a:p>
        </p:txBody>
      </p:sp>
      <p:sp>
        <p:nvSpPr>
          <p:cNvPr id="29" name="TextBox 28"/>
          <p:cNvSpPr txBox="1"/>
          <p:nvPr/>
        </p:nvSpPr>
        <p:spPr>
          <a:xfrm>
            <a:off x="4368698" y="4023360"/>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Billing Narrative (#16)</a:t>
            </a:r>
          </a:p>
        </p:txBody>
      </p:sp>
      <p:sp>
        <p:nvSpPr>
          <p:cNvPr id="30" name="TextBox 29"/>
          <p:cNvSpPr txBox="1"/>
          <p:nvPr/>
        </p:nvSpPr>
        <p:spPr>
          <a:xfrm>
            <a:off x="4368698" y="4773168"/>
            <a:ext cx="1608277" cy="713232"/>
          </a:xfrm>
          <a:prstGeom prst="rect">
            <a:avLst/>
          </a:prstGeom>
          <a:noFill/>
        </p:spPr>
        <p:txBody>
          <a:bodyPr wrap="square" anchor="t" lIns="0" rIns="0" tIns="0" bIns="0">
            <a:normAutofit/>
          </a:bodyPr>
          <a:lstStyle/>
          <a:p>
            <a:pPr algn="l">
              <a:lnSpc>
                <a:spcPct val="115000"/>
              </a:lnSpc>
              <a:spcBef>
                <a:spcPts val="0"/>
              </a:spcBef>
            </a:pPr>
            <a:r>
              <a:rPr sz="900" b="1" i="0">
                <a:solidFill>
                  <a:srgbClr val="FFB800"/>
                </a:solidFill>
                <a:latin typeface="Calibri"/>
              </a:rPr>
              <a:t>Target: +2 law firm clients = $18K MRR</a:t>
            </a:r>
          </a:p>
        </p:txBody>
      </p:sp>
      <p:sp>
        <p:nvSpPr>
          <p:cNvPr id="31" name="Rounded Rectangle 30"/>
          <p:cNvSpPr/>
          <p:nvPr/>
        </p:nvSpPr>
        <p:spPr>
          <a:xfrm>
            <a:off x="6141567" y="1572768"/>
            <a:ext cx="1772869" cy="4526280"/>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41567" y="1572768"/>
            <a:ext cx="1772869" cy="411480"/>
          </a:xfrm>
          <a:prstGeom prst="roundRect">
            <a:avLst>
              <a:gd name="adj" fmla="val 4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33007" y="1600200"/>
            <a:ext cx="1635709" cy="365760"/>
          </a:xfrm>
          <a:prstGeom prst="rect">
            <a:avLst/>
          </a:prstGeom>
          <a:noFill/>
        </p:spPr>
        <p:txBody>
          <a:bodyPr wrap="square" anchor="t" lIns="0" rIns="0" tIns="0" bIns="0">
            <a:normAutofit/>
          </a:bodyPr>
          <a:lstStyle/>
          <a:p>
            <a:pPr algn="ctr">
              <a:lnSpc>
                <a:spcPct val="105000"/>
              </a:lnSpc>
              <a:spcBef>
                <a:spcPts val="0"/>
              </a:spcBef>
            </a:pPr>
            <a:r>
              <a:rPr sz="1000" b="1" i="0">
                <a:solidFill>
                  <a:srgbClr val="0A1628"/>
                </a:solidFill>
                <a:latin typeface="Calibri"/>
              </a:rPr>
              <a:t>Month 4</a:t>
            </a:r>
          </a:p>
        </p:txBody>
      </p:sp>
      <p:sp>
        <p:nvSpPr>
          <p:cNvPr id="34" name="TextBox 33"/>
          <p:cNvSpPr txBox="1"/>
          <p:nvPr/>
        </p:nvSpPr>
        <p:spPr>
          <a:xfrm>
            <a:off x="6233007" y="2066543"/>
            <a:ext cx="1635709" cy="347472"/>
          </a:xfrm>
          <a:prstGeom prst="rect">
            <a:avLst/>
          </a:prstGeom>
          <a:noFill/>
        </p:spPr>
        <p:txBody>
          <a:bodyPr wrap="square" anchor="t" lIns="0" rIns="0" tIns="0" bIns="0">
            <a:normAutofit/>
          </a:bodyPr>
          <a:lstStyle/>
          <a:p>
            <a:pPr algn="l">
              <a:lnSpc>
                <a:spcPct val="105000"/>
              </a:lnSpc>
              <a:spcBef>
                <a:spcPts val="0"/>
              </a:spcBef>
            </a:pPr>
            <a:r>
              <a:rPr sz="1050" b="1" i="0">
                <a:solidFill>
                  <a:srgbClr val="1B2B3C"/>
                </a:solidFill>
                <a:latin typeface="Calibri"/>
              </a:rPr>
              <a:t>Add E-Commerce</a:t>
            </a:r>
          </a:p>
        </p:txBody>
      </p:sp>
      <p:sp>
        <p:nvSpPr>
          <p:cNvPr id="35" name="TextBox 34"/>
          <p:cNvSpPr txBox="1"/>
          <p:nvPr/>
        </p:nvSpPr>
        <p:spPr>
          <a:xfrm>
            <a:off x="6233007" y="2523744"/>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Product Description Factory (#10)</a:t>
            </a:r>
          </a:p>
        </p:txBody>
      </p:sp>
      <p:sp>
        <p:nvSpPr>
          <p:cNvPr id="36" name="TextBox 35"/>
          <p:cNvSpPr txBox="1"/>
          <p:nvPr/>
        </p:nvSpPr>
        <p:spPr>
          <a:xfrm>
            <a:off x="6233007" y="3273552"/>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Cart Recovery (#11)</a:t>
            </a:r>
          </a:p>
        </p:txBody>
      </p:sp>
      <p:sp>
        <p:nvSpPr>
          <p:cNvPr id="37" name="TextBox 36"/>
          <p:cNvSpPr txBox="1"/>
          <p:nvPr/>
        </p:nvSpPr>
        <p:spPr>
          <a:xfrm>
            <a:off x="6233007" y="4023360"/>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CS Response Automation (#19)</a:t>
            </a:r>
          </a:p>
        </p:txBody>
      </p:sp>
      <p:sp>
        <p:nvSpPr>
          <p:cNvPr id="38" name="TextBox 37"/>
          <p:cNvSpPr txBox="1"/>
          <p:nvPr/>
        </p:nvSpPr>
        <p:spPr>
          <a:xfrm>
            <a:off x="6233007" y="4773168"/>
            <a:ext cx="1608277" cy="713232"/>
          </a:xfrm>
          <a:prstGeom prst="rect">
            <a:avLst/>
          </a:prstGeom>
          <a:noFill/>
        </p:spPr>
        <p:txBody>
          <a:bodyPr wrap="square" anchor="t" lIns="0" rIns="0" tIns="0" bIns="0">
            <a:normAutofit/>
          </a:bodyPr>
          <a:lstStyle/>
          <a:p>
            <a:pPr algn="l">
              <a:lnSpc>
                <a:spcPct val="115000"/>
              </a:lnSpc>
              <a:spcBef>
                <a:spcPts val="0"/>
              </a:spcBef>
            </a:pPr>
            <a:r>
              <a:rPr sz="900" b="1" i="0">
                <a:solidFill>
                  <a:srgbClr val="FFB800"/>
                </a:solidFill>
                <a:latin typeface="Calibri"/>
              </a:rPr>
              <a:t>Target: +3 e-comm clients = $27K MRR</a:t>
            </a:r>
          </a:p>
        </p:txBody>
      </p:sp>
      <p:sp>
        <p:nvSpPr>
          <p:cNvPr id="39" name="Rounded Rectangle 38"/>
          <p:cNvSpPr/>
          <p:nvPr/>
        </p:nvSpPr>
        <p:spPr>
          <a:xfrm>
            <a:off x="8005876" y="1572768"/>
            <a:ext cx="1772869" cy="4526280"/>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005876" y="1572768"/>
            <a:ext cx="1772869" cy="411480"/>
          </a:xfrm>
          <a:prstGeom prst="roundRect">
            <a:avLst>
              <a:gd name="adj" fmla="val 4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97316" y="1600200"/>
            <a:ext cx="1635709" cy="365760"/>
          </a:xfrm>
          <a:prstGeom prst="rect">
            <a:avLst/>
          </a:prstGeom>
          <a:noFill/>
        </p:spPr>
        <p:txBody>
          <a:bodyPr wrap="square" anchor="t" lIns="0" rIns="0" tIns="0" bIns="0">
            <a:normAutofit/>
          </a:bodyPr>
          <a:lstStyle/>
          <a:p>
            <a:pPr algn="ctr">
              <a:lnSpc>
                <a:spcPct val="105000"/>
              </a:lnSpc>
              <a:spcBef>
                <a:spcPts val="0"/>
              </a:spcBef>
            </a:pPr>
            <a:r>
              <a:rPr sz="1000" b="1" i="0">
                <a:solidFill>
                  <a:srgbClr val="0A1628"/>
                </a:solidFill>
                <a:latin typeface="Calibri"/>
              </a:rPr>
              <a:t>Month 5</a:t>
            </a:r>
          </a:p>
        </p:txBody>
      </p:sp>
      <p:sp>
        <p:nvSpPr>
          <p:cNvPr id="42" name="TextBox 41"/>
          <p:cNvSpPr txBox="1"/>
          <p:nvPr/>
        </p:nvSpPr>
        <p:spPr>
          <a:xfrm>
            <a:off x="8097316" y="2066543"/>
            <a:ext cx="1635709" cy="347472"/>
          </a:xfrm>
          <a:prstGeom prst="rect">
            <a:avLst/>
          </a:prstGeom>
          <a:noFill/>
        </p:spPr>
        <p:txBody>
          <a:bodyPr wrap="square" anchor="t" lIns="0" rIns="0" tIns="0" bIns="0">
            <a:normAutofit/>
          </a:bodyPr>
          <a:lstStyle/>
          <a:p>
            <a:pPr algn="l">
              <a:lnSpc>
                <a:spcPct val="105000"/>
              </a:lnSpc>
              <a:spcBef>
                <a:spcPts val="0"/>
              </a:spcBef>
            </a:pPr>
            <a:r>
              <a:rPr sz="1050" b="1" i="0">
                <a:solidFill>
                  <a:srgbClr val="1B2B3C"/>
                </a:solidFill>
                <a:latin typeface="Calibri"/>
              </a:rPr>
              <a:t>Add Accounting</a:t>
            </a:r>
          </a:p>
        </p:txBody>
      </p:sp>
      <p:sp>
        <p:nvSpPr>
          <p:cNvPr id="43" name="TextBox 42"/>
          <p:cNvSpPr txBox="1"/>
          <p:nvPr/>
        </p:nvSpPr>
        <p:spPr>
          <a:xfrm>
            <a:off x="8097316" y="2523744"/>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Monthly Close + Reporting (#9)</a:t>
            </a:r>
          </a:p>
        </p:txBody>
      </p:sp>
      <p:sp>
        <p:nvSpPr>
          <p:cNvPr id="44" name="TextBox 43"/>
          <p:cNvSpPr txBox="1"/>
          <p:nvPr/>
        </p:nvSpPr>
        <p:spPr>
          <a:xfrm>
            <a:off x="8097316" y="3273552"/>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Tax Doc Collection (#18)</a:t>
            </a:r>
          </a:p>
        </p:txBody>
      </p:sp>
      <p:sp>
        <p:nvSpPr>
          <p:cNvPr id="45" name="TextBox 44"/>
          <p:cNvSpPr txBox="1"/>
          <p:nvPr/>
        </p:nvSpPr>
        <p:spPr>
          <a:xfrm>
            <a:off x="8097316" y="4023360"/>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AP Processing (#17)</a:t>
            </a:r>
          </a:p>
        </p:txBody>
      </p:sp>
      <p:sp>
        <p:nvSpPr>
          <p:cNvPr id="46" name="TextBox 45"/>
          <p:cNvSpPr txBox="1"/>
          <p:nvPr/>
        </p:nvSpPr>
        <p:spPr>
          <a:xfrm>
            <a:off x="8097316" y="4773168"/>
            <a:ext cx="1608277" cy="713232"/>
          </a:xfrm>
          <a:prstGeom prst="rect">
            <a:avLst/>
          </a:prstGeom>
          <a:noFill/>
        </p:spPr>
        <p:txBody>
          <a:bodyPr wrap="square" anchor="t" lIns="0" rIns="0" tIns="0" bIns="0">
            <a:normAutofit/>
          </a:bodyPr>
          <a:lstStyle/>
          <a:p>
            <a:pPr algn="l">
              <a:lnSpc>
                <a:spcPct val="115000"/>
              </a:lnSpc>
              <a:spcBef>
                <a:spcPts val="0"/>
              </a:spcBef>
            </a:pPr>
            <a:r>
              <a:rPr sz="900" b="1" i="0">
                <a:solidFill>
                  <a:srgbClr val="FFB800"/>
                </a:solidFill>
                <a:latin typeface="Calibri"/>
              </a:rPr>
              <a:t>Target: +2 accounting clients = $33K MRR</a:t>
            </a:r>
          </a:p>
        </p:txBody>
      </p:sp>
      <p:sp>
        <p:nvSpPr>
          <p:cNvPr id="47" name="Rounded Rectangle 46"/>
          <p:cNvSpPr/>
          <p:nvPr/>
        </p:nvSpPr>
        <p:spPr>
          <a:xfrm>
            <a:off x="9870185" y="1572768"/>
            <a:ext cx="1772869" cy="4526280"/>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9870185" y="1572768"/>
            <a:ext cx="1772869" cy="411480"/>
          </a:xfrm>
          <a:prstGeom prst="roundRect">
            <a:avLst>
              <a:gd name="adj" fmla="val 4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61625" y="1600200"/>
            <a:ext cx="1635709" cy="365760"/>
          </a:xfrm>
          <a:prstGeom prst="rect">
            <a:avLst/>
          </a:prstGeom>
          <a:noFill/>
        </p:spPr>
        <p:txBody>
          <a:bodyPr wrap="square" anchor="t" lIns="0" rIns="0" tIns="0" bIns="0">
            <a:normAutofit/>
          </a:bodyPr>
          <a:lstStyle/>
          <a:p>
            <a:pPr algn="ctr">
              <a:lnSpc>
                <a:spcPct val="105000"/>
              </a:lnSpc>
              <a:spcBef>
                <a:spcPts val="0"/>
              </a:spcBef>
            </a:pPr>
            <a:r>
              <a:rPr sz="1000" b="1" i="0">
                <a:solidFill>
                  <a:srgbClr val="0A1628"/>
                </a:solidFill>
                <a:latin typeface="Calibri"/>
              </a:rPr>
              <a:t>Month 6</a:t>
            </a:r>
          </a:p>
        </p:txBody>
      </p:sp>
      <p:sp>
        <p:nvSpPr>
          <p:cNvPr id="50" name="TextBox 49"/>
          <p:cNvSpPr txBox="1"/>
          <p:nvPr/>
        </p:nvSpPr>
        <p:spPr>
          <a:xfrm>
            <a:off x="9961625" y="2066543"/>
            <a:ext cx="1635709" cy="347472"/>
          </a:xfrm>
          <a:prstGeom prst="rect">
            <a:avLst/>
          </a:prstGeom>
          <a:noFill/>
        </p:spPr>
        <p:txBody>
          <a:bodyPr wrap="square" anchor="t" lIns="0" rIns="0" tIns="0" bIns="0">
            <a:normAutofit/>
          </a:bodyPr>
          <a:lstStyle/>
          <a:p>
            <a:pPr algn="l">
              <a:lnSpc>
                <a:spcPct val="105000"/>
              </a:lnSpc>
              <a:spcBef>
                <a:spcPts val="0"/>
              </a:spcBef>
            </a:pPr>
            <a:r>
              <a:rPr sz="1050" b="1" i="0">
                <a:solidFill>
                  <a:srgbClr val="1B2B3C"/>
                </a:solidFill>
                <a:latin typeface="Calibri"/>
              </a:rPr>
              <a:t>Wave 2 + Expansion</a:t>
            </a:r>
          </a:p>
        </p:txBody>
      </p:sp>
      <p:sp>
        <p:nvSpPr>
          <p:cNvPr id="51" name="TextBox 50"/>
          <p:cNvSpPr txBox="1"/>
          <p:nvPr/>
        </p:nvSpPr>
        <p:spPr>
          <a:xfrm>
            <a:off x="9961625" y="2523744"/>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Wave 2 builds per vertical (deeper moat)</a:t>
            </a:r>
          </a:p>
        </p:txBody>
      </p:sp>
      <p:sp>
        <p:nvSpPr>
          <p:cNvPr id="52" name="TextBox 51"/>
          <p:cNvSpPr txBox="1"/>
          <p:nvPr/>
        </p:nvSpPr>
        <p:spPr>
          <a:xfrm>
            <a:off x="9961625" y="3273552"/>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Med Spa &amp; HVAC pilots</a:t>
            </a:r>
          </a:p>
        </p:txBody>
      </p:sp>
      <p:sp>
        <p:nvSpPr>
          <p:cNvPr id="53" name="TextBox 52"/>
          <p:cNvSpPr txBox="1"/>
          <p:nvPr/>
        </p:nvSpPr>
        <p:spPr>
          <a:xfrm>
            <a:off x="9961625" y="4023360"/>
            <a:ext cx="1608277" cy="713232"/>
          </a:xfrm>
          <a:prstGeom prst="rect">
            <a:avLst/>
          </a:prstGeom>
          <a:noFill/>
        </p:spPr>
        <p:txBody>
          <a:bodyPr wrap="square" anchor="t" lIns="0" rIns="0" tIns="0" bIns="0">
            <a:normAutofit/>
          </a:bodyPr>
          <a:lstStyle/>
          <a:p>
            <a:pPr algn="l">
              <a:lnSpc>
                <a:spcPct val="115000"/>
              </a:lnSpc>
              <a:spcBef>
                <a:spcPts val="0"/>
              </a:spcBef>
            </a:pPr>
            <a:r>
              <a:rPr sz="900" b="0" i="0">
                <a:solidFill>
                  <a:srgbClr val="1B2B3C"/>
                </a:solidFill>
                <a:latin typeface="Calibri"/>
              </a:rPr>
              <a:t>Vertical-specific subagent development</a:t>
            </a:r>
          </a:p>
        </p:txBody>
      </p:sp>
      <p:sp>
        <p:nvSpPr>
          <p:cNvPr id="54" name="TextBox 53"/>
          <p:cNvSpPr txBox="1"/>
          <p:nvPr/>
        </p:nvSpPr>
        <p:spPr>
          <a:xfrm>
            <a:off x="9961625" y="4773168"/>
            <a:ext cx="1608277" cy="713232"/>
          </a:xfrm>
          <a:prstGeom prst="rect">
            <a:avLst/>
          </a:prstGeom>
          <a:noFill/>
        </p:spPr>
        <p:txBody>
          <a:bodyPr wrap="square" anchor="t" lIns="0" rIns="0" tIns="0" bIns="0">
            <a:normAutofit/>
          </a:bodyPr>
          <a:lstStyle/>
          <a:p>
            <a:pPr algn="l">
              <a:lnSpc>
                <a:spcPct val="115000"/>
              </a:lnSpc>
              <a:spcBef>
                <a:spcPts val="0"/>
              </a:spcBef>
            </a:pPr>
            <a:r>
              <a:rPr sz="900" b="1" i="0">
                <a:solidFill>
                  <a:srgbClr val="FFB800"/>
                </a:solidFill>
                <a:latin typeface="Calibri"/>
              </a:rPr>
              <a:t>Target: $40K–$50K MRR + niche content machine live</a:t>
            </a:r>
          </a:p>
        </p:txBody>
      </p:sp>
      <p:sp>
        <p:nvSpPr>
          <p:cNvPr id="55" name="TextBox 5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56" name="TextBox 5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24 /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How It Works — The Technical Stack</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Three layers: runtime, specialists, integrations. You manage the orchestration.</a:t>
            </a:r>
          </a:p>
        </p:txBody>
      </p:sp>
      <p:sp>
        <p:nvSpPr>
          <p:cNvPr id="7" name="Rounded Rectangle 6"/>
          <p:cNvSpPr/>
          <p:nvPr/>
        </p:nvSpPr>
        <p:spPr>
          <a:xfrm>
            <a:off x="548640" y="1572768"/>
            <a:ext cx="3576218" cy="457200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64208"/>
            <a:ext cx="3301898" cy="256032"/>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RUNTIME LAYER</a:t>
            </a:r>
          </a:p>
        </p:txBody>
      </p:sp>
      <p:sp>
        <p:nvSpPr>
          <p:cNvPr id="9" name="TextBox 8"/>
          <p:cNvSpPr txBox="1"/>
          <p:nvPr/>
        </p:nvSpPr>
        <p:spPr>
          <a:xfrm>
            <a:off x="731520" y="1956816"/>
            <a:ext cx="3301898" cy="457200"/>
          </a:xfrm>
          <a:prstGeom prst="rect">
            <a:avLst/>
          </a:prstGeom>
          <a:noFill/>
        </p:spPr>
        <p:txBody>
          <a:bodyPr wrap="square" anchor="t" lIns="0" rIns="0" tIns="0" bIns="0">
            <a:normAutofit/>
          </a:bodyPr>
          <a:lstStyle/>
          <a:p>
            <a:pPr algn="l">
              <a:lnSpc>
                <a:spcPct val="105000"/>
              </a:lnSpc>
              <a:spcBef>
                <a:spcPts val="0"/>
              </a:spcBef>
            </a:pPr>
            <a:r>
              <a:rPr sz="1350" b="1" i="0">
                <a:solidFill>
                  <a:srgbClr val="FFFFFF"/>
                </a:solidFill>
                <a:latin typeface="Calibri"/>
              </a:rPr>
              <a:t>OpenHands (77K stars · All-Hands-AI)</a:t>
            </a:r>
          </a:p>
        </p:txBody>
      </p:sp>
      <p:sp>
        <p:nvSpPr>
          <p:cNvPr id="10" name="Rectangle 9"/>
          <p:cNvSpPr/>
          <p:nvPr/>
        </p:nvSpPr>
        <p:spPr>
          <a:xfrm>
            <a:off x="731520" y="2487168"/>
            <a:ext cx="3210458" cy="27432"/>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96896"/>
            <a:ext cx="3301898" cy="960120"/>
          </a:xfrm>
          <a:prstGeom prst="rect">
            <a:avLst/>
          </a:prstGeom>
          <a:noFill/>
        </p:spPr>
        <p:txBody>
          <a:bodyPr wrap="square" anchor="t" lIns="0" rIns="0" tIns="0" bIns="0">
            <a:normAutofit/>
          </a:bodyPr>
          <a:lstStyle/>
          <a:p>
            <a:pPr algn="l">
              <a:lnSpc>
                <a:spcPct val="120000"/>
              </a:lnSpc>
              <a:spcBef>
                <a:spcPts val="0"/>
              </a:spcBef>
            </a:pPr>
            <a:r>
              <a:rPr sz="1000" b="0" i="0">
                <a:solidFill>
                  <a:srgbClr val="FFFFFF"/>
                </a:solidFill>
                <a:latin typeface="Calibri"/>
              </a:rPr>
              <a:t>Self-hosted on $20/mo VPS. Reads codebases, edits files, runs tests, opens PRs, deploys apps. Model-agnostic — runs Claude, GPT-4o, Gemini. CLI: pip install openhands-ai.</a:t>
            </a:r>
          </a:p>
        </p:txBody>
      </p:sp>
      <p:sp>
        <p:nvSpPr>
          <p:cNvPr id="12" name="Rounded Rectangle 11"/>
          <p:cNvSpPr/>
          <p:nvPr/>
        </p:nvSpPr>
        <p:spPr>
          <a:xfrm>
            <a:off x="731520" y="3712464"/>
            <a:ext cx="91440" cy="914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657600"/>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Autonomous file editing</a:t>
            </a:r>
          </a:p>
        </p:txBody>
      </p:sp>
      <p:sp>
        <p:nvSpPr>
          <p:cNvPr id="14" name="Rounded Rectangle 13"/>
          <p:cNvSpPr/>
          <p:nvPr/>
        </p:nvSpPr>
        <p:spPr>
          <a:xfrm>
            <a:off x="731520" y="4114800"/>
            <a:ext cx="91440" cy="914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059936"/>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Test runner + CI integration</a:t>
            </a:r>
          </a:p>
        </p:txBody>
      </p:sp>
      <p:sp>
        <p:nvSpPr>
          <p:cNvPr id="16" name="Rounded Rectangle 15"/>
          <p:cNvSpPr/>
          <p:nvPr/>
        </p:nvSpPr>
        <p:spPr>
          <a:xfrm>
            <a:off x="731520" y="4517136"/>
            <a:ext cx="91440" cy="914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462272"/>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Git + PR workflow</a:t>
            </a:r>
          </a:p>
        </p:txBody>
      </p:sp>
      <p:sp>
        <p:nvSpPr>
          <p:cNvPr id="18" name="Rounded Rectangle 17"/>
          <p:cNvSpPr/>
          <p:nvPr/>
        </p:nvSpPr>
        <p:spPr>
          <a:xfrm>
            <a:off x="731520" y="4919472"/>
            <a:ext cx="91440" cy="914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864608"/>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Sub-agent delegation (v1 SDK)</a:t>
            </a:r>
          </a:p>
        </p:txBody>
      </p:sp>
      <p:sp>
        <p:nvSpPr>
          <p:cNvPr id="20" name="Rounded Rectangle 19"/>
          <p:cNvSpPr/>
          <p:nvPr/>
        </p:nvSpPr>
        <p:spPr>
          <a:xfrm>
            <a:off x="731520" y="5321808"/>
            <a:ext cx="91440" cy="914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266944"/>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MCP-native integration layer</a:t>
            </a:r>
          </a:p>
        </p:txBody>
      </p:sp>
      <p:sp>
        <p:nvSpPr>
          <p:cNvPr id="22" name="Rounded Rectangle 21"/>
          <p:cNvSpPr/>
          <p:nvPr/>
        </p:nvSpPr>
        <p:spPr>
          <a:xfrm>
            <a:off x="4307738" y="1572768"/>
            <a:ext cx="3576218" cy="4572000"/>
          </a:xfrm>
          <a:prstGeom prst="roundRect">
            <a:avLst>
              <a:gd name="adj" fmla="val 6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90618" y="1664208"/>
            <a:ext cx="3301898" cy="256032"/>
          </a:xfrm>
          <a:prstGeom prst="rect">
            <a:avLst/>
          </a:prstGeom>
          <a:noFill/>
        </p:spPr>
        <p:txBody>
          <a:bodyPr wrap="square" anchor="t" lIns="0" rIns="0" tIns="0" bIns="0">
            <a:noAutofit/>
          </a:bodyPr>
          <a:lstStyle/>
          <a:p>
            <a:pPr algn="l">
              <a:lnSpc>
                <a:spcPct val="105000"/>
              </a:lnSpc>
              <a:spcBef>
                <a:spcPts val="0"/>
              </a:spcBef>
            </a:pPr>
            <a:r>
              <a:rPr sz="900" b="1" i="0">
                <a:solidFill>
                  <a:srgbClr val="F2A83B"/>
                </a:solidFill>
                <a:latin typeface="Calibri"/>
              </a:rPr>
              <a:t>SPECIALIST LAYER</a:t>
            </a:r>
          </a:p>
        </p:txBody>
      </p:sp>
      <p:sp>
        <p:nvSpPr>
          <p:cNvPr id="24" name="TextBox 23"/>
          <p:cNvSpPr txBox="1"/>
          <p:nvPr/>
        </p:nvSpPr>
        <p:spPr>
          <a:xfrm>
            <a:off x="4490618" y="1956816"/>
            <a:ext cx="3301898" cy="457200"/>
          </a:xfrm>
          <a:prstGeom prst="rect">
            <a:avLst/>
          </a:prstGeom>
          <a:noFill/>
        </p:spPr>
        <p:txBody>
          <a:bodyPr wrap="square" anchor="t" lIns="0" rIns="0" tIns="0" bIns="0">
            <a:normAutofit/>
          </a:bodyPr>
          <a:lstStyle/>
          <a:p>
            <a:pPr algn="l">
              <a:lnSpc>
                <a:spcPct val="105000"/>
              </a:lnSpc>
              <a:spcBef>
                <a:spcPts val="0"/>
              </a:spcBef>
            </a:pPr>
            <a:r>
              <a:rPr sz="1350" b="1" i="0">
                <a:solidFill>
                  <a:srgbClr val="FFFFFF"/>
                </a:solidFill>
                <a:latin typeface="Calibri"/>
              </a:rPr>
              <a:t>131 Subagents (VoltAgent)</a:t>
            </a:r>
          </a:p>
        </p:txBody>
      </p:sp>
      <p:sp>
        <p:nvSpPr>
          <p:cNvPr id="25" name="Rectangle 24"/>
          <p:cNvSpPr/>
          <p:nvPr/>
        </p:nvSpPr>
        <p:spPr>
          <a:xfrm>
            <a:off x="4490618" y="2487168"/>
            <a:ext cx="3210458" cy="27432"/>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0618" y="2596896"/>
            <a:ext cx="3301898" cy="960120"/>
          </a:xfrm>
          <a:prstGeom prst="rect">
            <a:avLst/>
          </a:prstGeom>
          <a:noFill/>
        </p:spPr>
        <p:txBody>
          <a:bodyPr wrap="square" anchor="t" lIns="0" rIns="0" tIns="0" bIns="0">
            <a:normAutofit/>
          </a:bodyPr>
          <a:lstStyle/>
          <a:p>
            <a:pPr algn="l">
              <a:lnSpc>
                <a:spcPct val="120000"/>
              </a:lnSpc>
              <a:spcBef>
                <a:spcPts val="0"/>
              </a:spcBef>
            </a:pPr>
            <a:r>
              <a:rPr sz="1000" b="0" i="0">
                <a:solidFill>
                  <a:srgbClr val="FFFFFF"/>
                </a:solidFill>
                <a:latin typeface="Calibri"/>
              </a:rPr>
              <a:t>Specialist agents installed per vertical. Each inherits parent LLM and shares workspace with independent EventLog. Spawn by name with custom prompts.</a:t>
            </a:r>
          </a:p>
        </p:txBody>
      </p:sp>
      <p:sp>
        <p:nvSpPr>
          <p:cNvPr id="27" name="Rounded Rectangle 26"/>
          <p:cNvSpPr/>
          <p:nvPr/>
        </p:nvSpPr>
        <p:spPr>
          <a:xfrm>
            <a:off x="4490618" y="3712464"/>
            <a:ext cx="91440" cy="91440"/>
          </a:xfrm>
          <a:prstGeom prst="roundRect">
            <a:avLst>
              <a:gd name="adj" fmla="val 5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55210" y="3657600"/>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crm-specialist</a:t>
            </a:r>
          </a:p>
        </p:txBody>
      </p:sp>
      <p:sp>
        <p:nvSpPr>
          <p:cNvPr id="29" name="Rounded Rectangle 28"/>
          <p:cNvSpPr/>
          <p:nvPr/>
        </p:nvSpPr>
        <p:spPr>
          <a:xfrm>
            <a:off x="4490618" y="4114800"/>
            <a:ext cx="91440" cy="91440"/>
          </a:xfrm>
          <a:prstGeom prst="roundRect">
            <a:avLst>
              <a:gd name="adj" fmla="val 5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55210" y="4059936"/>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hipaa-auditor</a:t>
            </a:r>
          </a:p>
        </p:txBody>
      </p:sp>
      <p:sp>
        <p:nvSpPr>
          <p:cNvPr id="31" name="Rounded Rectangle 30"/>
          <p:cNvSpPr/>
          <p:nvPr/>
        </p:nvSpPr>
        <p:spPr>
          <a:xfrm>
            <a:off x="4490618" y="4517136"/>
            <a:ext cx="91440" cy="91440"/>
          </a:xfrm>
          <a:prstGeom prst="roundRect">
            <a:avLst>
              <a:gd name="adj" fmla="val 5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55210" y="4462272"/>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document-automation</a:t>
            </a:r>
          </a:p>
        </p:txBody>
      </p:sp>
      <p:sp>
        <p:nvSpPr>
          <p:cNvPr id="33" name="Rounded Rectangle 32"/>
          <p:cNvSpPr/>
          <p:nvPr/>
        </p:nvSpPr>
        <p:spPr>
          <a:xfrm>
            <a:off x="4490618" y="4919472"/>
            <a:ext cx="91440" cy="91440"/>
          </a:xfrm>
          <a:prstGeom prst="roundRect">
            <a:avLst>
              <a:gd name="adj" fmla="val 5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55210" y="4864608"/>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legal-workflow</a:t>
            </a:r>
          </a:p>
        </p:txBody>
      </p:sp>
      <p:sp>
        <p:nvSpPr>
          <p:cNvPr id="35" name="Rounded Rectangle 34"/>
          <p:cNvSpPr/>
          <p:nvPr/>
        </p:nvSpPr>
        <p:spPr>
          <a:xfrm>
            <a:off x="4490618" y="5321808"/>
            <a:ext cx="91440" cy="91440"/>
          </a:xfrm>
          <a:prstGeom prst="roundRect">
            <a:avLst>
              <a:gd name="adj" fmla="val 5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55210" y="5266944"/>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ecommerce-specialist</a:t>
            </a:r>
          </a:p>
        </p:txBody>
      </p:sp>
      <p:sp>
        <p:nvSpPr>
          <p:cNvPr id="37" name="Rounded Rectangle 36"/>
          <p:cNvSpPr/>
          <p:nvPr/>
        </p:nvSpPr>
        <p:spPr>
          <a:xfrm>
            <a:off x="4490618" y="5724144"/>
            <a:ext cx="91440" cy="91440"/>
          </a:xfrm>
          <a:prstGeom prst="roundRect">
            <a:avLst>
              <a:gd name="adj" fmla="val 5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55210" y="5669280"/>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financial-analyst</a:t>
            </a:r>
          </a:p>
        </p:txBody>
      </p:sp>
      <p:sp>
        <p:nvSpPr>
          <p:cNvPr id="39" name="Rounded Rectangle 38"/>
          <p:cNvSpPr/>
          <p:nvPr/>
        </p:nvSpPr>
        <p:spPr>
          <a:xfrm>
            <a:off x="8066836" y="1572768"/>
            <a:ext cx="3576218" cy="4572000"/>
          </a:xfrm>
          <a:prstGeom prst="roundRect">
            <a:avLst>
              <a:gd name="adj" fmla="val 6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49716" y="1664208"/>
            <a:ext cx="3301898" cy="256032"/>
          </a:xfrm>
          <a:prstGeom prst="rect">
            <a:avLst/>
          </a:prstGeom>
          <a:noFill/>
        </p:spPr>
        <p:txBody>
          <a:bodyPr wrap="square" anchor="t" lIns="0" rIns="0" tIns="0" bIns="0">
            <a:noAutofit/>
          </a:bodyPr>
          <a:lstStyle/>
          <a:p>
            <a:pPr algn="l">
              <a:lnSpc>
                <a:spcPct val="105000"/>
              </a:lnSpc>
              <a:spcBef>
                <a:spcPts val="0"/>
              </a:spcBef>
            </a:pPr>
            <a:r>
              <a:rPr sz="900" b="1" i="0">
                <a:solidFill>
                  <a:srgbClr val="009B82"/>
                </a:solidFill>
                <a:latin typeface="Calibri"/>
              </a:rPr>
              <a:t>INTEGRATION LAYER</a:t>
            </a:r>
          </a:p>
        </p:txBody>
      </p:sp>
      <p:sp>
        <p:nvSpPr>
          <p:cNvPr id="41" name="TextBox 40"/>
          <p:cNvSpPr txBox="1"/>
          <p:nvPr/>
        </p:nvSpPr>
        <p:spPr>
          <a:xfrm>
            <a:off x="8249716" y="1956816"/>
            <a:ext cx="3301898" cy="457200"/>
          </a:xfrm>
          <a:prstGeom prst="rect">
            <a:avLst/>
          </a:prstGeom>
          <a:noFill/>
        </p:spPr>
        <p:txBody>
          <a:bodyPr wrap="square" anchor="t" lIns="0" rIns="0" tIns="0" bIns="0">
            <a:normAutofit/>
          </a:bodyPr>
          <a:lstStyle/>
          <a:p>
            <a:pPr algn="l">
              <a:lnSpc>
                <a:spcPct val="105000"/>
              </a:lnSpc>
              <a:spcBef>
                <a:spcPts val="0"/>
              </a:spcBef>
            </a:pPr>
            <a:r>
              <a:rPr sz="1350" b="1" i="0">
                <a:solidFill>
                  <a:srgbClr val="0A1628"/>
                </a:solidFill>
                <a:latin typeface="Calibri"/>
              </a:rPr>
              <a:t>14,000+ MCP Servers</a:t>
            </a:r>
          </a:p>
        </p:txBody>
      </p:sp>
      <p:sp>
        <p:nvSpPr>
          <p:cNvPr id="42" name="Rectangle 41"/>
          <p:cNvSpPr/>
          <p:nvPr/>
        </p:nvSpPr>
        <p:spPr>
          <a:xfrm>
            <a:off x="8249716" y="2487168"/>
            <a:ext cx="3210458" cy="27432"/>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49716" y="2596896"/>
            <a:ext cx="3301898" cy="960120"/>
          </a:xfrm>
          <a:prstGeom prst="rect">
            <a:avLst/>
          </a:prstGeom>
          <a:noFill/>
        </p:spPr>
        <p:txBody>
          <a:bodyPr wrap="square" anchor="t" lIns="0" rIns="0" tIns="0" bIns="0">
            <a:normAutofit/>
          </a:bodyPr>
          <a:lstStyle/>
          <a:p>
            <a:pPr algn="l">
              <a:lnSpc>
                <a:spcPct val="120000"/>
              </a:lnSpc>
              <a:spcBef>
                <a:spcPts val="0"/>
              </a:spcBef>
            </a:pPr>
            <a:r>
              <a:rPr sz="1000" b="0" i="0">
                <a:solidFill>
                  <a:srgbClr val="1B2B3C"/>
                </a:solidFill>
                <a:latin typeface="Calibri"/>
              </a:rPr>
              <a:t>Turnkey integrations to every business system an SMB uses. Tavily MCP already proxied through OpenHands app server for enterprise deployments.</a:t>
            </a:r>
          </a:p>
        </p:txBody>
      </p:sp>
      <p:sp>
        <p:nvSpPr>
          <p:cNvPr id="44" name="Rounded Rectangle 43"/>
          <p:cNvSpPr/>
          <p:nvPr/>
        </p:nvSpPr>
        <p:spPr>
          <a:xfrm>
            <a:off x="8249716" y="3712464"/>
            <a:ext cx="91440" cy="91440"/>
          </a:xfrm>
          <a:prstGeom prst="roundRect">
            <a:avLst>
              <a:gd name="adj" fmla="val 5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4308" y="3657600"/>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GitHub · Stripe · Twilio · SendGrid</a:t>
            </a:r>
          </a:p>
        </p:txBody>
      </p:sp>
      <p:sp>
        <p:nvSpPr>
          <p:cNvPr id="46" name="Rounded Rectangle 45"/>
          <p:cNvSpPr/>
          <p:nvPr/>
        </p:nvSpPr>
        <p:spPr>
          <a:xfrm>
            <a:off x="8249716" y="4114800"/>
            <a:ext cx="91440" cy="91440"/>
          </a:xfrm>
          <a:prstGeom prst="roundRect">
            <a:avLst>
              <a:gd name="adj" fmla="val 5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14308" y="4059936"/>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QuickBooks · Xero · Postgres</a:t>
            </a:r>
          </a:p>
        </p:txBody>
      </p:sp>
      <p:sp>
        <p:nvSpPr>
          <p:cNvPr id="48" name="Rounded Rectangle 47"/>
          <p:cNvSpPr/>
          <p:nvPr/>
        </p:nvSpPr>
        <p:spPr>
          <a:xfrm>
            <a:off x="8249716" y="4517136"/>
            <a:ext cx="91440" cy="91440"/>
          </a:xfrm>
          <a:prstGeom prst="roundRect">
            <a:avLst>
              <a:gd name="adj" fmla="val 5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14308" y="4462272"/>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Shopify · Klaviyo · Gorgias</a:t>
            </a:r>
          </a:p>
        </p:txBody>
      </p:sp>
      <p:sp>
        <p:nvSpPr>
          <p:cNvPr id="50" name="Rounded Rectangle 49"/>
          <p:cNvSpPr/>
          <p:nvPr/>
        </p:nvSpPr>
        <p:spPr>
          <a:xfrm>
            <a:off x="8249716" y="4919472"/>
            <a:ext cx="91440" cy="91440"/>
          </a:xfrm>
          <a:prstGeom prst="roundRect">
            <a:avLst>
              <a:gd name="adj" fmla="val 5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14308" y="4864608"/>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DocuSign · Clio · Follow Up Boss</a:t>
            </a:r>
          </a:p>
        </p:txBody>
      </p:sp>
      <p:sp>
        <p:nvSpPr>
          <p:cNvPr id="52" name="Rounded Rectangle 51"/>
          <p:cNvSpPr/>
          <p:nvPr/>
        </p:nvSpPr>
        <p:spPr>
          <a:xfrm>
            <a:off x="8249716" y="5321808"/>
            <a:ext cx="91440" cy="91440"/>
          </a:xfrm>
          <a:prstGeom prst="roundRect">
            <a:avLst>
              <a:gd name="adj" fmla="val 5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4308" y="5266944"/>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Google Calendar · Drive · Gmail</a:t>
            </a:r>
          </a:p>
        </p:txBody>
      </p:sp>
      <p:sp>
        <p:nvSpPr>
          <p:cNvPr id="54" name="Rounded Rectangle 53"/>
          <p:cNvSpPr/>
          <p:nvPr/>
        </p:nvSpPr>
        <p:spPr>
          <a:xfrm>
            <a:off x="8249716" y="5724144"/>
            <a:ext cx="91440" cy="91440"/>
          </a:xfrm>
          <a:prstGeom prst="roundRect">
            <a:avLst>
              <a:gd name="adj" fmla="val 5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14308" y="5669280"/>
            <a:ext cx="3119018" cy="347472"/>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Calendly · Notion · Slack</a:t>
            </a:r>
          </a:p>
        </p:txBody>
      </p:sp>
      <p:sp>
        <p:nvSpPr>
          <p:cNvPr id="56" name="TextBox 5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57" name="TextBox 5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25 /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Why $2K–$5K/Month Works — The Unit Economics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You're 5× cheaper than a dev shop and 10× faster to deliver value</a:t>
            </a:r>
          </a:p>
        </p:txBody>
      </p:sp>
      <p:sp>
        <p:nvSpPr>
          <p:cNvPr id="7" name="Rectangle 6"/>
          <p:cNvSpPr/>
          <p:nvPr/>
        </p:nvSpPr>
        <p:spPr>
          <a:xfrm>
            <a:off x="548640" y="1572768"/>
            <a:ext cx="2331720" cy="466344"/>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664208"/>
            <a:ext cx="2194560" cy="384048"/>
          </a:xfrm>
          <a:prstGeom prst="rect">
            <a:avLst/>
          </a:prstGeom>
          <a:noFill/>
        </p:spPr>
        <p:txBody>
          <a:bodyPr wrap="square" anchor="t" lIns="0" rIns="0" tIns="0" bIns="0">
            <a:normAutofit/>
          </a:bodyPr>
          <a:lstStyle/>
          <a:p>
            <a:pPr algn="l">
              <a:lnSpc>
                <a:spcPct val="105000"/>
              </a:lnSpc>
              <a:spcBef>
                <a:spcPts val="0"/>
              </a:spcBef>
            </a:pPr>
            <a:r>
              <a:rPr sz="1000" b="1" i="0">
                <a:solidFill>
                  <a:srgbClr val="FFFFFF"/>
                </a:solidFill>
                <a:latin typeface="Calibri"/>
              </a:rPr>
              <a:t>Metric</a:t>
            </a:r>
          </a:p>
        </p:txBody>
      </p:sp>
      <p:sp>
        <p:nvSpPr>
          <p:cNvPr id="9" name="Rectangle 8"/>
          <p:cNvSpPr/>
          <p:nvPr/>
        </p:nvSpPr>
        <p:spPr>
          <a:xfrm>
            <a:off x="3017520" y="1572768"/>
            <a:ext cx="2423160" cy="466344"/>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27248" y="1664208"/>
            <a:ext cx="2286000" cy="384048"/>
          </a:xfrm>
          <a:prstGeom prst="rect">
            <a:avLst/>
          </a:prstGeom>
          <a:noFill/>
        </p:spPr>
        <p:txBody>
          <a:bodyPr wrap="square" anchor="t" lIns="0" rIns="0" tIns="0" bIns="0">
            <a:normAutofit/>
          </a:bodyPr>
          <a:lstStyle/>
          <a:p>
            <a:pPr algn="l">
              <a:lnSpc>
                <a:spcPct val="105000"/>
              </a:lnSpc>
              <a:spcBef>
                <a:spcPts val="0"/>
              </a:spcBef>
            </a:pPr>
            <a:r>
              <a:rPr sz="1000" b="1" i="0">
                <a:solidFill>
                  <a:srgbClr val="FFFFFF"/>
                </a:solidFill>
                <a:latin typeface="Calibri"/>
              </a:rPr>
              <a:t>Junior Developer</a:t>
            </a:r>
          </a:p>
        </p:txBody>
      </p:sp>
      <p:sp>
        <p:nvSpPr>
          <p:cNvPr id="11" name="Rectangle 10"/>
          <p:cNvSpPr/>
          <p:nvPr/>
        </p:nvSpPr>
        <p:spPr>
          <a:xfrm>
            <a:off x="5577840" y="1572768"/>
            <a:ext cx="2423160" cy="466344"/>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87568" y="1664208"/>
            <a:ext cx="2286000" cy="384048"/>
          </a:xfrm>
          <a:prstGeom prst="rect">
            <a:avLst/>
          </a:prstGeom>
          <a:noFill/>
        </p:spPr>
        <p:txBody>
          <a:bodyPr wrap="square" anchor="t" lIns="0" rIns="0" tIns="0" bIns="0">
            <a:normAutofit/>
          </a:bodyPr>
          <a:lstStyle/>
          <a:p>
            <a:pPr algn="l">
              <a:lnSpc>
                <a:spcPct val="105000"/>
              </a:lnSpc>
              <a:spcBef>
                <a:spcPts val="0"/>
              </a:spcBef>
            </a:pPr>
            <a:r>
              <a:rPr sz="1000" b="1" i="0">
                <a:solidFill>
                  <a:srgbClr val="FFFFFF"/>
                </a:solidFill>
                <a:latin typeface="Calibri"/>
              </a:rPr>
              <a:t>Dev Shop / Agency</a:t>
            </a:r>
          </a:p>
        </p:txBody>
      </p:sp>
      <p:sp>
        <p:nvSpPr>
          <p:cNvPr id="13" name="Rectangle 12"/>
          <p:cNvSpPr/>
          <p:nvPr/>
        </p:nvSpPr>
        <p:spPr>
          <a:xfrm>
            <a:off x="8138160" y="1572768"/>
            <a:ext cx="2606040" cy="466344"/>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7888" y="1664208"/>
            <a:ext cx="2468880" cy="384048"/>
          </a:xfrm>
          <a:prstGeom prst="rect">
            <a:avLst/>
          </a:prstGeom>
          <a:noFill/>
        </p:spPr>
        <p:txBody>
          <a:bodyPr wrap="square" anchor="t" lIns="0" rIns="0" tIns="0" bIns="0">
            <a:normAutofit/>
          </a:bodyPr>
          <a:lstStyle/>
          <a:p>
            <a:pPr algn="l">
              <a:lnSpc>
                <a:spcPct val="105000"/>
              </a:lnSpc>
              <a:spcBef>
                <a:spcPts val="0"/>
              </a:spcBef>
            </a:pPr>
            <a:r>
              <a:rPr sz="1000" b="1" i="0">
                <a:solidFill>
                  <a:srgbClr val="FFFFFF"/>
                </a:solidFill>
                <a:latin typeface="Calibri"/>
              </a:rPr>
              <a:t>Your AI Team</a:t>
            </a:r>
          </a:p>
        </p:txBody>
      </p:sp>
      <p:sp>
        <p:nvSpPr>
          <p:cNvPr id="15" name="Rectangle 14"/>
          <p:cNvSpPr/>
          <p:nvPr/>
        </p:nvSpPr>
        <p:spPr>
          <a:xfrm>
            <a:off x="548640" y="2066544"/>
            <a:ext cx="2331720" cy="4663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157984"/>
            <a:ext cx="219456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Monthly cost</a:t>
            </a:r>
          </a:p>
        </p:txBody>
      </p:sp>
      <p:sp>
        <p:nvSpPr>
          <p:cNvPr id="17" name="Rectangle 16"/>
          <p:cNvSpPr/>
          <p:nvPr/>
        </p:nvSpPr>
        <p:spPr>
          <a:xfrm>
            <a:off x="3017520" y="2066544"/>
            <a:ext cx="2423160" cy="4663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27248" y="2157984"/>
            <a:ext cx="22860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$6,000–$10,000</a:t>
            </a:r>
          </a:p>
        </p:txBody>
      </p:sp>
      <p:sp>
        <p:nvSpPr>
          <p:cNvPr id="19" name="Rectangle 18"/>
          <p:cNvSpPr/>
          <p:nvPr/>
        </p:nvSpPr>
        <p:spPr>
          <a:xfrm>
            <a:off x="5577840" y="2066544"/>
            <a:ext cx="2423160" cy="4663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87568" y="2157984"/>
            <a:ext cx="22860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$10,000–$25,000</a:t>
            </a:r>
          </a:p>
        </p:txBody>
      </p:sp>
      <p:sp>
        <p:nvSpPr>
          <p:cNvPr id="21" name="Rectangle 20"/>
          <p:cNvSpPr/>
          <p:nvPr/>
        </p:nvSpPr>
        <p:spPr>
          <a:xfrm>
            <a:off x="8138160" y="2066544"/>
            <a:ext cx="2606040" cy="4663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47888" y="2157984"/>
            <a:ext cx="2468880" cy="384048"/>
          </a:xfrm>
          <a:prstGeom prst="rect">
            <a:avLst/>
          </a:prstGeom>
          <a:noFill/>
        </p:spPr>
        <p:txBody>
          <a:bodyPr wrap="square" anchor="t" lIns="0" rIns="0" tIns="0" bIns="0">
            <a:normAutofit/>
          </a:bodyPr>
          <a:lstStyle/>
          <a:p>
            <a:pPr algn="l">
              <a:lnSpc>
                <a:spcPct val="105000"/>
              </a:lnSpc>
              <a:spcBef>
                <a:spcPts val="0"/>
              </a:spcBef>
            </a:pPr>
            <a:r>
              <a:rPr sz="1050" b="1" i="0">
                <a:solidFill>
                  <a:srgbClr val="0A1628"/>
                </a:solidFill>
                <a:latin typeface="Calibri"/>
              </a:rPr>
              <a:t>$2,000–$5,000</a:t>
            </a:r>
          </a:p>
        </p:txBody>
      </p:sp>
      <p:sp>
        <p:nvSpPr>
          <p:cNvPr id="23" name="Rectangle 22"/>
          <p:cNvSpPr/>
          <p:nvPr/>
        </p:nvSpPr>
        <p:spPr>
          <a:xfrm>
            <a:off x="548640" y="2560320"/>
            <a:ext cx="233172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2651760"/>
            <a:ext cx="219456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Setup time</a:t>
            </a:r>
          </a:p>
        </p:txBody>
      </p:sp>
      <p:sp>
        <p:nvSpPr>
          <p:cNvPr id="25" name="Rectangle 24"/>
          <p:cNvSpPr/>
          <p:nvPr/>
        </p:nvSpPr>
        <p:spPr>
          <a:xfrm>
            <a:off x="3017520" y="2560320"/>
            <a:ext cx="242316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27248" y="2651760"/>
            <a:ext cx="22860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2–4 weeks to hire</a:t>
            </a:r>
          </a:p>
        </p:txBody>
      </p:sp>
      <p:sp>
        <p:nvSpPr>
          <p:cNvPr id="27" name="Rectangle 26"/>
          <p:cNvSpPr/>
          <p:nvPr/>
        </p:nvSpPr>
        <p:spPr>
          <a:xfrm>
            <a:off x="5577840" y="2560320"/>
            <a:ext cx="242316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87568" y="2651760"/>
            <a:ext cx="22860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4–8 weeks onboarding</a:t>
            </a:r>
          </a:p>
        </p:txBody>
      </p:sp>
      <p:sp>
        <p:nvSpPr>
          <p:cNvPr id="29" name="Rectangle 28"/>
          <p:cNvSpPr/>
          <p:nvPr/>
        </p:nvSpPr>
        <p:spPr>
          <a:xfrm>
            <a:off x="8138160" y="2560320"/>
            <a:ext cx="2606040" cy="4663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7888" y="2651760"/>
            <a:ext cx="2468880" cy="384048"/>
          </a:xfrm>
          <a:prstGeom prst="rect">
            <a:avLst/>
          </a:prstGeom>
          <a:noFill/>
        </p:spPr>
        <p:txBody>
          <a:bodyPr wrap="square" anchor="t" lIns="0" rIns="0" tIns="0" bIns="0">
            <a:normAutofit/>
          </a:bodyPr>
          <a:lstStyle/>
          <a:p>
            <a:pPr algn="l">
              <a:lnSpc>
                <a:spcPct val="105000"/>
              </a:lnSpc>
              <a:spcBef>
                <a:spcPts val="0"/>
              </a:spcBef>
            </a:pPr>
            <a:r>
              <a:rPr sz="1050" b="1" i="0">
                <a:solidFill>
                  <a:srgbClr val="0A1628"/>
                </a:solidFill>
                <a:latin typeface="Calibri"/>
              </a:rPr>
              <a:t>1 week (AGENTS.md)</a:t>
            </a:r>
          </a:p>
        </p:txBody>
      </p:sp>
      <p:sp>
        <p:nvSpPr>
          <p:cNvPr id="31" name="Rectangle 30"/>
          <p:cNvSpPr/>
          <p:nvPr/>
        </p:nvSpPr>
        <p:spPr>
          <a:xfrm>
            <a:off x="548640" y="3054096"/>
            <a:ext cx="2331720" cy="4663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3145536"/>
            <a:ext cx="219456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Works nights/wknds</a:t>
            </a:r>
          </a:p>
        </p:txBody>
      </p:sp>
      <p:sp>
        <p:nvSpPr>
          <p:cNvPr id="33" name="Rectangle 32"/>
          <p:cNvSpPr/>
          <p:nvPr/>
        </p:nvSpPr>
        <p:spPr>
          <a:xfrm>
            <a:off x="3017520" y="3054096"/>
            <a:ext cx="2423160" cy="4663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27248" y="3145536"/>
            <a:ext cx="22860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No</a:t>
            </a:r>
          </a:p>
        </p:txBody>
      </p:sp>
      <p:sp>
        <p:nvSpPr>
          <p:cNvPr id="35" name="Rectangle 34"/>
          <p:cNvSpPr/>
          <p:nvPr/>
        </p:nvSpPr>
        <p:spPr>
          <a:xfrm>
            <a:off x="5577840" y="3054096"/>
            <a:ext cx="2423160" cy="4663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87568" y="3145536"/>
            <a:ext cx="22860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No</a:t>
            </a:r>
          </a:p>
        </p:txBody>
      </p:sp>
      <p:sp>
        <p:nvSpPr>
          <p:cNvPr id="37" name="Rectangle 36"/>
          <p:cNvSpPr/>
          <p:nvPr/>
        </p:nvSpPr>
        <p:spPr>
          <a:xfrm>
            <a:off x="8138160" y="3054096"/>
            <a:ext cx="2606040" cy="4663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47888" y="3145536"/>
            <a:ext cx="2468880" cy="384048"/>
          </a:xfrm>
          <a:prstGeom prst="rect">
            <a:avLst/>
          </a:prstGeom>
          <a:noFill/>
        </p:spPr>
        <p:txBody>
          <a:bodyPr wrap="square" anchor="t" lIns="0" rIns="0" tIns="0" bIns="0">
            <a:normAutofit/>
          </a:bodyPr>
          <a:lstStyle/>
          <a:p>
            <a:pPr algn="l">
              <a:lnSpc>
                <a:spcPct val="105000"/>
              </a:lnSpc>
              <a:spcBef>
                <a:spcPts val="0"/>
              </a:spcBef>
            </a:pPr>
            <a:r>
              <a:rPr sz="1050" b="1" i="0">
                <a:solidFill>
                  <a:srgbClr val="0A1628"/>
                </a:solidFill>
                <a:latin typeface="Calibri"/>
              </a:rPr>
              <a:t>Yes — 24/7</a:t>
            </a:r>
          </a:p>
        </p:txBody>
      </p:sp>
      <p:sp>
        <p:nvSpPr>
          <p:cNvPr id="39" name="Rectangle 38"/>
          <p:cNvSpPr/>
          <p:nvPr/>
        </p:nvSpPr>
        <p:spPr>
          <a:xfrm>
            <a:off x="548640" y="3547872"/>
            <a:ext cx="233172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3639312"/>
            <a:ext cx="219456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Vertical expertise</a:t>
            </a:r>
          </a:p>
        </p:txBody>
      </p:sp>
      <p:sp>
        <p:nvSpPr>
          <p:cNvPr id="41" name="Rectangle 40"/>
          <p:cNvSpPr/>
          <p:nvPr/>
        </p:nvSpPr>
        <p:spPr>
          <a:xfrm>
            <a:off x="3017520" y="3547872"/>
            <a:ext cx="242316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127248" y="3639312"/>
            <a:ext cx="22860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Generic</a:t>
            </a:r>
          </a:p>
        </p:txBody>
      </p:sp>
      <p:sp>
        <p:nvSpPr>
          <p:cNvPr id="43" name="Rectangle 42"/>
          <p:cNvSpPr/>
          <p:nvPr/>
        </p:nvSpPr>
        <p:spPr>
          <a:xfrm>
            <a:off x="5577840" y="3547872"/>
            <a:ext cx="242316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87568" y="3639312"/>
            <a:ext cx="22860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Generic</a:t>
            </a:r>
          </a:p>
        </p:txBody>
      </p:sp>
      <p:sp>
        <p:nvSpPr>
          <p:cNvPr id="45" name="Rectangle 44"/>
          <p:cNvSpPr/>
          <p:nvPr/>
        </p:nvSpPr>
        <p:spPr>
          <a:xfrm>
            <a:off x="8138160" y="3547872"/>
            <a:ext cx="2606040" cy="4663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47888" y="3639312"/>
            <a:ext cx="2468880" cy="384048"/>
          </a:xfrm>
          <a:prstGeom prst="rect">
            <a:avLst/>
          </a:prstGeom>
          <a:noFill/>
        </p:spPr>
        <p:txBody>
          <a:bodyPr wrap="square" anchor="t" lIns="0" rIns="0" tIns="0" bIns="0">
            <a:normAutofit/>
          </a:bodyPr>
          <a:lstStyle/>
          <a:p>
            <a:pPr algn="l">
              <a:lnSpc>
                <a:spcPct val="105000"/>
              </a:lnSpc>
              <a:spcBef>
                <a:spcPts val="0"/>
              </a:spcBef>
            </a:pPr>
            <a:r>
              <a:rPr sz="1050" b="1" i="0">
                <a:solidFill>
                  <a:srgbClr val="0A1628"/>
                </a:solidFill>
                <a:latin typeface="Calibri"/>
              </a:rPr>
              <a:t>Niche-specific subagents</a:t>
            </a:r>
          </a:p>
        </p:txBody>
      </p:sp>
      <p:sp>
        <p:nvSpPr>
          <p:cNvPr id="47" name="Rectangle 46"/>
          <p:cNvSpPr/>
          <p:nvPr/>
        </p:nvSpPr>
        <p:spPr>
          <a:xfrm>
            <a:off x="548640" y="4041648"/>
            <a:ext cx="2331720" cy="4663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368" y="4133088"/>
            <a:ext cx="219456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Scales to N clients</a:t>
            </a:r>
          </a:p>
        </p:txBody>
      </p:sp>
      <p:sp>
        <p:nvSpPr>
          <p:cNvPr id="49" name="Rectangle 48"/>
          <p:cNvSpPr/>
          <p:nvPr/>
        </p:nvSpPr>
        <p:spPr>
          <a:xfrm>
            <a:off x="3017520" y="4041648"/>
            <a:ext cx="2423160" cy="4663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27248" y="4133088"/>
            <a:ext cx="22860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No — 1 client only</a:t>
            </a:r>
          </a:p>
        </p:txBody>
      </p:sp>
      <p:sp>
        <p:nvSpPr>
          <p:cNvPr id="51" name="Rectangle 50"/>
          <p:cNvSpPr/>
          <p:nvPr/>
        </p:nvSpPr>
        <p:spPr>
          <a:xfrm>
            <a:off x="5577840" y="4041648"/>
            <a:ext cx="2423160" cy="46634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687568" y="4133088"/>
            <a:ext cx="22860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Sometimes</a:t>
            </a:r>
          </a:p>
        </p:txBody>
      </p:sp>
      <p:sp>
        <p:nvSpPr>
          <p:cNvPr id="53" name="Rectangle 52"/>
          <p:cNvSpPr/>
          <p:nvPr/>
        </p:nvSpPr>
        <p:spPr>
          <a:xfrm>
            <a:off x="8138160" y="4041648"/>
            <a:ext cx="2606040" cy="4663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47888" y="4133088"/>
            <a:ext cx="2468880" cy="384048"/>
          </a:xfrm>
          <a:prstGeom prst="rect">
            <a:avLst/>
          </a:prstGeom>
          <a:noFill/>
        </p:spPr>
        <p:txBody>
          <a:bodyPr wrap="square" anchor="t" lIns="0" rIns="0" tIns="0" bIns="0">
            <a:normAutofit/>
          </a:bodyPr>
          <a:lstStyle/>
          <a:p>
            <a:pPr algn="l">
              <a:lnSpc>
                <a:spcPct val="105000"/>
              </a:lnSpc>
              <a:spcBef>
                <a:spcPts val="0"/>
              </a:spcBef>
            </a:pPr>
            <a:r>
              <a:rPr sz="1050" b="1" i="0">
                <a:solidFill>
                  <a:srgbClr val="0A1628"/>
                </a:solidFill>
                <a:latin typeface="Calibri"/>
              </a:rPr>
              <a:t>Yes — same runtime</a:t>
            </a:r>
          </a:p>
        </p:txBody>
      </p:sp>
      <p:sp>
        <p:nvSpPr>
          <p:cNvPr id="55" name="Rectangle 54"/>
          <p:cNvSpPr/>
          <p:nvPr/>
        </p:nvSpPr>
        <p:spPr>
          <a:xfrm>
            <a:off x="548640" y="4535424"/>
            <a:ext cx="233172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8368" y="4626864"/>
            <a:ext cx="219456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Your margin</a:t>
            </a:r>
          </a:p>
        </p:txBody>
      </p:sp>
      <p:sp>
        <p:nvSpPr>
          <p:cNvPr id="57" name="Rectangle 56"/>
          <p:cNvSpPr/>
          <p:nvPr/>
        </p:nvSpPr>
        <p:spPr>
          <a:xfrm>
            <a:off x="3017520" y="4535424"/>
            <a:ext cx="242316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127248" y="4626864"/>
            <a:ext cx="22860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N/A</a:t>
            </a:r>
          </a:p>
        </p:txBody>
      </p:sp>
      <p:sp>
        <p:nvSpPr>
          <p:cNvPr id="59" name="Rectangle 58"/>
          <p:cNvSpPr/>
          <p:nvPr/>
        </p:nvSpPr>
        <p:spPr>
          <a:xfrm>
            <a:off x="5577840" y="4535424"/>
            <a:ext cx="242316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687568" y="4626864"/>
            <a:ext cx="22860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N/A</a:t>
            </a:r>
          </a:p>
        </p:txBody>
      </p:sp>
      <p:sp>
        <p:nvSpPr>
          <p:cNvPr id="61" name="Rectangle 60"/>
          <p:cNvSpPr/>
          <p:nvPr/>
        </p:nvSpPr>
        <p:spPr>
          <a:xfrm>
            <a:off x="8138160" y="4535424"/>
            <a:ext cx="2606040" cy="466344"/>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47888" y="4626864"/>
            <a:ext cx="2468880" cy="384048"/>
          </a:xfrm>
          <a:prstGeom prst="rect">
            <a:avLst/>
          </a:prstGeom>
          <a:noFill/>
        </p:spPr>
        <p:txBody>
          <a:bodyPr wrap="square" anchor="t" lIns="0" rIns="0" tIns="0" bIns="0">
            <a:normAutofit/>
          </a:bodyPr>
          <a:lstStyle/>
          <a:p>
            <a:pPr algn="l">
              <a:lnSpc>
                <a:spcPct val="105000"/>
              </a:lnSpc>
              <a:spcBef>
                <a:spcPts val="0"/>
              </a:spcBef>
            </a:pPr>
            <a:r>
              <a:rPr sz="1050" b="1" i="0">
                <a:solidFill>
                  <a:srgbClr val="0A1628"/>
                </a:solidFill>
                <a:latin typeface="Calibri"/>
              </a:rPr>
              <a:t>~70–80% gross</a:t>
            </a:r>
          </a:p>
        </p:txBody>
      </p:sp>
      <p:sp>
        <p:nvSpPr>
          <p:cNvPr id="63" name="Rounded Rectangle 62"/>
          <p:cNvSpPr/>
          <p:nvPr/>
        </p:nvSpPr>
        <p:spPr>
          <a:xfrm>
            <a:off x="548640" y="5303520"/>
            <a:ext cx="11094415" cy="603504"/>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77240" y="5376672"/>
            <a:ext cx="10728655" cy="457200"/>
          </a:xfrm>
          <a:prstGeom prst="rect">
            <a:avLst/>
          </a:prstGeom>
          <a:noFill/>
        </p:spPr>
        <p:txBody>
          <a:bodyPr wrap="square" anchor="t" lIns="0" rIns="0" tIns="0" bIns="0">
            <a:normAutofit/>
          </a:bodyPr>
          <a:lstStyle/>
          <a:p>
            <a:pPr algn="l">
              <a:lnSpc>
                <a:spcPct val="105000"/>
              </a:lnSpc>
              <a:spcBef>
                <a:spcPts val="0"/>
              </a:spcBef>
            </a:pPr>
            <a:r>
              <a:rPr sz="1250" b="1" i="0">
                <a:solidFill>
                  <a:srgbClr val="FFB800"/>
                </a:solidFill>
                <a:latin typeface="Calibri"/>
              </a:rPr>
              <a:t>At $3K/mo × 10 clients = $30K MRR. At $4K/mo × 15 clients = $60K MRR. Two-person team. No office. No investors.</a:t>
            </a:r>
          </a:p>
        </p:txBody>
      </p:sp>
      <p:sp>
        <p:nvSpPr>
          <p:cNvPr id="65" name="TextBox 6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 SMB AI Engineering · Done-For-You · June 2026</a:t>
            </a:r>
          </a:p>
        </p:txBody>
      </p:sp>
      <p:sp>
        <p:nvSpPr>
          <p:cNvPr id="66" name="TextBox 6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26 /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188720"/>
            <a:ext cx="9144000" cy="411480"/>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THE ASK</a:t>
            </a:r>
          </a:p>
        </p:txBody>
      </p:sp>
      <p:sp>
        <p:nvSpPr>
          <p:cNvPr id="5" name="TextBox 4"/>
          <p:cNvSpPr txBox="1"/>
          <p:nvPr/>
        </p:nvSpPr>
        <p:spPr>
          <a:xfrm>
            <a:off x="411480" y="1664208"/>
            <a:ext cx="9144000" cy="91440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Start with Real Estate. Ship 3 use cases. Land 2 clients.</a:t>
            </a:r>
          </a:p>
        </p:txBody>
      </p:sp>
      <p:sp>
        <p:nvSpPr>
          <p:cNvPr id="6" name="Rectangle 5"/>
          <p:cNvSpPr/>
          <p:nvPr/>
        </p:nvSpPr>
        <p:spPr>
          <a:xfrm>
            <a:off x="411480" y="2688336"/>
            <a:ext cx="411480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2907792"/>
            <a:ext cx="1005840" cy="420624"/>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2971800"/>
            <a:ext cx="1005840" cy="320040"/>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Week 1</a:t>
            </a:r>
          </a:p>
        </p:txBody>
      </p:sp>
      <p:sp>
        <p:nvSpPr>
          <p:cNvPr id="9" name="TextBox 8"/>
          <p:cNvSpPr txBox="1"/>
          <p:nvPr/>
        </p:nvSpPr>
        <p:spPr>
          <a:xfrm>
            <a:off x="1554480" y="2971800"/>
            <a:ext cx="96012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E0F7F1"/>
                </a:solidFill>
                <a:latin typeface="Calibri"/>
              </a:rPr>
              <a:t>Self-host OpenHands on a $20/mo VPS. Record the setup once as a video.</a:t>
            </a:r>
          </a:p>
        </p:txBody>
      </p:sp>
      <p:sp>
        <p:nvSpPr>
          <p:cNvPr id="10" name="Rounded Rectangle 9"/>
          <p:cNvSpPr/>
          <p:nvPr/>
        </p:nvSpPr>
        <p:spPr>
          <a:xfrm>
            <a:off x="411480" y="3493008"/>
            <a:ext cx="1005840" cy="420624"/>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3557016"/>
            <a:ext cx="1005840" cy="320040"/>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Week 2</a:t>
            </a:r>
          </a:p>
        </p:txBody>
      </p:sp>
      <p:sp>
        <p:nvSpPr>
          <p:cNvPr id="12" name="TextBox 11"/>
          <p:cNvSpPr txBox="1"/>
          <p:nvPr/>
        </p:nvSpPr>
        <p:spPr>
          <a:xfrm>
            <a:off x="1554480" y="3557016"/>
            <a:ext cx="96012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E0F7F1"/>
                </a:solidFill>
                <a:latin typeface="Calibri"/>
              </a:rPr>
              <a:t>Build TC Bot + Listing Description system for Real Estate. Time: ~1 week with OpenHands.</a:t>
            </a:r>
          </a:p>
        </p:txBody>
      </p:sp>
      <p:sp>
        <p:nvSpPr>
          <p:cNvPr id="13" name="Rounded Rectangle 12"/>
          <p:cNvSpPr/>
          <p:nvPr/>
        </p:nvSpPr>
        <p:spPr>
          <a:xfrm>
            <a:off x="411480" y="4078224"/>
            <a:ext cx="1005840" cy="420624"/>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4142232"/>
            <a:ext cx="1005840" cy="320040"/>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Week 3</a:t>
            </a:r>
          </a:p>
        </p:txBody>
      </p:sp>
      <p:sp>
        <p:nvSpPr>
          <p:cNvPr id="15" name="TextBox 14"/>
          <p:cNvSpPr txBox="1"/>
          <p:nvPr/>
        </p:nvSpPr>
        <p:spPr>
          <a:xfrm>
            <a:off x="1554480" y="4142232"/>
            <a:ext cx="96012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E0F7F1"/>
                </a:solidFill>
                <a:latin typeface="Calibri"/>
              </a:rPr>
              <a:t>Find 2 real estate agents via LinkedIn. Offer a 30-day pilot at $500. Show the TC Bot live.</a:t>
            </a:r>
          </a:p>
        </p:txBody>
      </p:sp>
      <p:sp>
        <p:nvSpPr>
          <p:cNvPr id="16" name="Rounded Rectangle 15"/>
          <p:cNvSpPr/>
          <p:nvPr/>
        </p:nvSpPr>
        <p:spPr>
          <a:xfrm>
            <a:off x="411480" y="4663440"/>
            <a:ext cx="1005840" cy="420624"/>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4727448"/>
            <a:ext cx="1005840" cy="320040"/>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Week 4</a:t>
            </a:r>
          </a:p>
        </p:txBody>
      </p:sp>
      <p:sp>
        <p:nvSpPr>
          <p:cNvPr id="18" name="TextBox 17"/>
          <p:cNvSpPr txBox="1"/>
          <p:nvPr/>
        </p:nvSpPr>
        <p:spPr>
          <a:xfrm>
            <a:off x="1554480" y="4727448"/>
            <a:ext cx="96012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E0F7F1"/>
                </a:solidFill>
                <a:latin typeface="Calibri"/>
              </a:rPr>
              <a:t>Convert pilots to $2K–$3K/month retainers. Document everything as a case study. Publish on LinkedIn.</a:t>
            </a:r>
          </a:p>
        </p:txBody>
      </p:sp>
      <p:sp>
        <p:nvSpPr>
          <p:cNvPr id="19" name="Rounded Rectangle 18"/>
          <p:cNvSpPr/>
          <p:nvPr/>
        </p:nvSpPr>
        <p:spPr>
          <a:xfrm>
            <a:off x="411480" y="5248656"/>
            <a:ext cx="1005840" cy="420624"/>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5312664"/>
            <a:ext cx="1005840" cy="320040"/>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Month 2</a:t>
            </a:r>
          </a:p>
        </p:txBody>
      </p:sp>
      <p:sp>
        <p:nvSpPr>
          <p:cNvPr id="21" name="TextBox 20"/>
          <p:cNvSpPr txBox="1"/>
          <p:nvPr/>
        </p:nvSpPr>
        <p:spPr>
          <a:xfrm>
            <a:off x="1554480" y="5312664"/>
            <a:ext cx="96012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E0F7F1"/>
                </a:solidFill>
                <a:latin typeface="Calibri"/>
              </a:rPr>
              <a:t>Add Dental (Patient Recall system). Repeat the playbook. AGENTS.md is already written.</a:t>
            </a:r>
          </a:p>
        </p:txBody>
      </p:sp>
      <p:sp>
        <p:nvSpPr>
          <p:cNvPr id="22" name="Rounded Rectangle 21"/>
          <p:cNvSpPr/>
          <p:nvPr/>
        </p:nvSpPr>
        <p:spPr>
          <a:xfrm>
            <a:off x="411480" y="5833872"/>
            <a:ext cx="1005840" cy="420624"/>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5897880"/>
            <a:ext cx="1005840" cy="320040"/>
          </a:xfrm>
          <a:prstGeom prst="rect">
            <a:avLst/>
          </a:prstGeom>
          <a:noFill/>
        </p:spPr>
        <p:txBody>
          <a:bodyPr wrap="square" anchor="t" lIns="0" rIns="0" tIns="0" bIns="0">
            <a:noAutofit/>
          </a:bodyPr>
          <a:lstStyle/>
          <a:p>
            <a:pPr algn="ctr">
              <a:lnSpc>
                <a:spcPct val="105000"/>
              </a:lnSpc>
              <a:spcBef>
                <a:spcPts val="0"/>
              </a:spcBef>
            </a:pPr>
            <a:r>
              <a:rPr sz="1000" b="1" i="0">
                <a:solidFill>
                  <a:srgbClr val="0A1628"/>
                </a:solidFill>
                <a:latin typeface="Calibri"/>
              </a:rPr>
              <a:t>Month 6</a:t>
            </a:r>
          </a:p>
        </p:txBody>
      </p:sp>
      <p:sp>
        <p:nvSpPr>
          <p:cNvPr id="24" name="TextBox 23"/>
          <p:cNvSpPr txBox="1"/>
          <p:nvPr/>
        </p:nvSpPr>
        <p:spPr>
          <a:xfrm>
            <a:off x="1554480" y="5897880"/>
            <a:ext cx="9601200" cy="384048"/>
          </a:xfrm>
          <a:prstGeom prst="rect">
            <a:avLst/>
          </a:prstGeom>
          <a:noFill/>
        </p:spPr>
        <p:txBody>
          <a:bodyPr wrap="square" anchor="t" lIns="0" rIns="0" tIns="0" bIns="0">
            <a:normAutofit/>
          </a:bodyPr>
          <a:lstStyle/>
          <a:p>
            <a:pPr algn="l">
              <a:lnSpc>
                <a:spcPct val="105000"/>
              </a:lnSpc>
              <a:spcBef>
                <a:spcPts val="0"/>
              </a:spcBef>
            </a:pPr>
            <a:r>
              <a:rPr sz="1050" b="0" i="0">
                <a:solidFill>
                  <a:srgbClr val="E0F7F1"/>
                </a:solidFill>
                <a:latin typeface="Calibri"/>
              </a:rPr>
              <a:t>10 clients × $3K = $30K MRR. Hire one person to do onboarding calls. You do product.</a:t>
            </a:r>
          </a:p>
        </p:txBody>
      </p:sp>
      <p:sp>
        <p:nvSpPr>
          <p:cNvPr id="25" name="Rectangle 24"/>
          <p:cNvSpPr/>
          <p:nvPr/>
        </p:nvSpPr>
        <p:spPr>
          <a:xfrm>
            <a:off x="411480" y="6400800"/>
            <a:ext cx="11155680" cy="27432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437376"/>
            <a:ext cx="10972800" cy="22860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OpenHands: github.com/All-Hands-AI/OpenHands  ·  77K stars  ·  MIT license  ·  pip install openhands-ai</a:t>
            </a:r>
          </a:p>
        </p:txBody>
      </p:sp>
      <p:sp>
        <p:nvSpPr>
          <p:cNvPr id="27" name="TextBox 2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OpenHands × SMB AI Engineering · Done-For-You · June 2026</a:t>
            </a:r>
          </a:p>
        </p:txBody>
      </p:sp>
      <p:sp>
        <p:nvSpPr>
          <p:cNvPr id="28" name="TextBox 2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27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