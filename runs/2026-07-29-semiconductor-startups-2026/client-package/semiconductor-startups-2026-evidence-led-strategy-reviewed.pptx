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Where partner value can compound across compute, inference, and interconnect</a:t>
            </a:r>
          </a:p>
          <a:p/>
          <a:p>
            <a:r>
              <a:t>Visible citation: Based on CRN’s July 15, 2026 cohort; research updated through July 29, 2026.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Public evidence can prioritize validation questions by partner archetype without claiming organization-specific right-to-win.</a:t>
            </a:r>
          </a:p>
          <a:p/>
          <a:p>
            <a:r>
              <a:t>Visible citation: CRN; Gartner; company announcements.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staged portfolio prevents early technical promise from being mistaken for execution-ready partnership.</a:t>
            </a:r>
          </a:p>
          <a:p/>
          <a:p>
            <a:r>
              <a:t>Visible citation: Candidate public-evidence posture; requires Phase 0 calibration.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most plausible adoption paths complement existing infrastructure before displacing it.</a:t>
            </a:r>
          </a:p>
          <a:p/>
          <a:p>
            <a:r>
              <a:t>Visible citation: Tenstorrent; d-Matrix; Cornelis; Lightmatter; Xsight Labs.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https://www.cornelis.com/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ten companies address edge deployment, compute architecture, inference economics, or scale-out connectivity.</a:t>
            </a:r>
          </a:p>
          <a:p/>
          <a:p>
            <a:r>
              <a:t>Visible citation: CRN; company product pages.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primary ICPs are hyperscalers/frontier labs, HPC institutions, sovereign and enterprise AI operators, and edge OEMs.</a:t>
            </a:r>
          </a:p>
          <a:p/>
          <a:p>
            <a:r>
              <a:t>Visible citation: ICP synthesis from company-stated target workloads and deployment models.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most credible GTM sequence is lighthouse validation, design-in, reference deployment, and ecosystem replication.</a:t>
            </a:r>
          </a:p>
          <a:p/>
          <a:p>
            <a:r>
              <a:t>Visible citation: GTM synthesis from company availability, partner, and deployment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Partners can create value through workload validation, system integration, deployment, and managed operations.</a:t>
            </a:r>
          </a:p>
          <a:p/>
          <a:p>
            <a:r>
              <a:t>Visible citation: Implications derived from company go-to-market and product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evidence ledger contains 83 sourced claims, with uneven company coverage and limited independent proof.</a:t>
            </a:r>
          </a:p>
          <a:p/>
          <a:p>
            <a:r>
              <a:t>Visible citation: Evidence ledger and data-quality report; retrieved through Jul. 29, 2026.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ten companies differ more by insertion point and readiness evidence than by a single accelerator-versus-GPU frame.</a:t>
            </a:r>
          </a:p>
          <a:p/>
          <a:p>
            <a:r>
              <a:t>Visible citation: CRN; official company product and financing announcements.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compute cohort spans broad programmable platforms and highly specialized inference systems.</a:t>
            </a:r>
          </a:p>
          <a:p/>
          <a:p>
            <a:r>
              <a:t>Visible citation: CRN cohort taxonomy.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Axelera’s differentiator combines edge-focused acceleration with an explicit partner network and more than $250 million of new funding.</a:t>
            </a:r>
          </a:p>
          <a:p/>
          <a:p>
            <a:r>
              <a:t>Visible citation: Axelera AI, Feb. 24, 2026.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https://axelera.ai/news/axelera-ai-secures-more-than-250-million-funding-on-global-ai-demand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Tenstorrent’s TT-Ascalon S expands its open compute strategy into branch-heavy agentic workloads.</a:t>
            </a:r>
          </a:p>
          <a:p/>
          <a:p>
            <a:r>
              <a:t>Visible citation: Tenstorrent, Jun. 30, 2026; CRN.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https://tenstorrent.com/vision/tenstorrent-announces-availability-of-tt-ascalon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NextSilicon says Maverick-2 uses runtime-reconfigurable dataflow and was available in product volumes in Q4 2025.</a:t>
            </a:r>
          </a:p>
          <a:p/>
          <a:p>
            <a:r>
              <a:t>Visible citation: NextSilicon, Oct. 22, 2025. Performance figures are vendor claims.</a:t>
            </a:r>
          </a:p>
          <a:p/>
          <a:p>
            <a:r>
              <a:t>Evidence URLs:</a:t>
            </a:r>
          </a:p>
          <a:p>
            <a:r>
              <a:t>- https://www.nextsilicon.com/insights/nextsilicon-breakthrough/</a:t>
            </a:r>
          </a:p>
          <a:p>
            <a:r>
              <a:t>- https://www.nextsilicon.com/press-releases/maverick-2-powers-hpc-ai-breakthroughs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Fractile raised $220 million to accelerate its path toward first chips and systems for frontier-model inference.</a:t>
            </a:r>
          </a:p>
          <a:p/>
          <a:p>
            <a:r>
              <a:t>Visible citation: Fractile, 2026.</a:t>
            </a:r>
          </a:p>
          <a:p/>
          <a:p>
            <a:r>
              <a:t>Evidence URLs: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https://www.fractile.ai/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Etched’s Sohu strategy is an extreme specialization bet on transformers remaining the dominant AI architecture.</a:t>
            </a:r>
          </a:p>
          <a:p/>
          <a:p>
            <a:r>
              <a:t>Visible citation: Etched product and progress pages, accessed Jul. 29, 2026.</a:t>
            </a:r>
          </a:p>
          <a:p/>
          <a:p>
            <a:r>
              <a:t>Evidence URLs:</a:t>
            </a:r>
          </a:p>
          <a:p>
            <a:r>
              <a:t>- https://www.etched.com/progress</a:t>
            </a:r>
          </a:p>
          <a:p>
            <a:r>
              <a:t>- https://www.etched.com/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d-Matrix announced Corsair full production in June 2026 after raising a $275 million Series C in late 2025.</a:t>
            </a:r>
          </a:p>
          <a:p/>
          <a:p>
            <a:r>
              <a:t>Visible citation: d-Matrix, Nov. 12, 2025 and Jun. 9, 2026.</a:t>
            </a:r>
          </a:p>
          <a:p/>
          <a:p>
            <a:r>
              <a:t>Evidence URLs: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https://www.d-matrix.ai/d-matrix-corsair-ai-inference-platform-enters-full-production/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MatX raised a $500 million Series B to finish development and scale manufacturing, with tape-out planned in under a year.</a:t>
            </a:r>
          </a:p>
          <a:p/>
          <a:p>
            <a:r>
              <a:t>Visible citation: MatX, Feb. 24, 2026. Performance statements are vendor claims.</a:t>
            </a:r>
          </a:p>
          <a:p/>
          <a:p>
            <a:r>
              <a:t>Evidence URLs:</a:t>
            </a:r>
          </a:p>
          <a:p>
            <a:r>
              <a:t>- https://matx.com/research/series_b</a:t>
            </a:r>
          </a:p>
          <a:p>
            <a:r>
              <a:t>- https://matx.com/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Compute startups occupy different positions on workload breadth, programmability, and commercialization maturity.</a:t>
            </a:r>
          </a:p>
          <a:p/>
          <a:p>
            <a:r>
              <a:t>Visible citation: Company announcements; maturity is an analytical assessment.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https://matx.com/research/series_b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interconnect cohort competes on congestion, bandwidth density, power, and programmability.</a:t>
            </a:r>
          </a:p>
          <a:p/>
          <a:p>
            <a:r>
              <a:t>Visible citation: Cornelis; Lightmatter; Xsight Labs.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Cornelis positions CN5000 Omni-Path as a lossless, interoperable fabric for AI and HPC workloads.</a:t>
            </a:r>
          </a:p>
          <a:p/>
          <a:p>
            <a:r>
              <a:t>Visible citation: Cornelis Networks product page and Series B announcement.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https://www.cornelisnetworks.com/stories/cornelis-cn5000-launches-rewiring-ai-and-hpc-networking-at-scale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Lightmatter says the Passage M1000 reference platform provides 114 Tbps of total optical bandwidth.</a:t>
            </a:r>
          </a:p>
          <a:p/>
          <a:p>
            <a:r>
              <a:t>Visible citation: Lightmatter product and funding announcements. Bandwidth is a vendor specification.</a:t>
            </a:r>
          </a:p>
          <a:p/>
          <a:p>
            <a:r>
              <a:t>Evidence URLs: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https://lightmatter.co/blog/seeing-is-believing-a-technical-deep-dive-into-lightmatters-hardware/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Xsight announced X2 sampling as a fully programmable, low-power data-center switch for AI-factory networks.</a:t>
            </a:r>
          </a:p>
          <a:p/>
          <a:p>
            <a:r>
              <a:t>Visible citation: Xsight Labs X2 announcement.</a:t>
            </a:r>
          </a:p>
          <a:p/>
          <a:p>
            <a:r>
              <a:t>Evidence URLs: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  <a:p>
            <a:r>
              <a:t>- https://xsightlabs.com/switches/x2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Cornelis focuses on cluster fabric, Lightmatter on optical chip/package links, and Xsight on programmable switching silicon.</a:t>
            </a:r>
          </a:p>
          <a:p/>
          <a:p>
            <a:r>
              <a:t>Visible citation: Company product announcements.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Commercial readiness requires evidence across workload proof, software, supply, reference customers, partners, and economics.</a:t>
            </a:r>
          </a:p>
          <a:p/>
          <a:p>
            <a:r>
              <a:t>Visible citation: Research-team diligence framework.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Distribution fit rises with product packaging, supply visibility, enablement, and support clarity.</a:t>
            </a:r>
          </a:p>
          <a:p/>
          <a:p>
            <a:r>
              <a:t>Visible citation: Directional research judgment from public product, availability, and partner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SI fit rises when the startup exposes a deployable integration boundary and a repeatable customer outcome.</a:t>
            </a:r>
          </a:p>
          <a:p/>
          <a:p>
            <a:r>
              <a:t>Visible citation: Directional research judgment from public product and deployment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Orchestrator fit rises when partner coordination is essential to the product’s adoption and scale.</a:t>
            </a:r>
          </a:p>
          <a:p/>
          <a:p>
            <a:r>
              <a:t>Visible citation: Directional research judgment from public platform and partner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Partner readiness varies by role and must be displayed with the next validation question.</a:t>
            </a:r>
          </a:p>
          <a:p/>
          <a:p>
            <a:r>
              <a:t>Visible citation: Public-evidence posture; candidate model, not calibrated organization-specific scoring.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Business models with reusable software or IP leverage can scale differently from bespoke system and design-in models.</a:t>
            </a:r>
          </a:p>
          <a:p/>
          <a:p>
            <a:r>
              <a:t>Visible citation: Directional business-model assessment; no company financial forecasts implied.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three-company pilot with independent raters should precede organization-specific recommendations.</a:t>
            </a:r>
          </a:p>
          <a:p/>
          <a:p>
            <a:r>
              <a:t>Visible citation: Phase 0 operating recommendation; public evidence defines hypotheses, not final selections.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https://www.etched.com/progress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first 90 days should reduce uncertainty through bounded tests rather than make execution claims.</a:t>
            </a:r>
          </a:p>
          <a:p/>
          <a:p>
            <a:r>
              <a:t>Visible citation: Recommended validation sequence; no named-partner commitment implied.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most decision-relevant next events are tape-outs, volume ramps, production benchmarks, design wins, and ecosystem expansion.</a:t>
            </a:r>
          </a:p>
          <a:p/>
          <a:p>
            <a:r>
              <a:t>Visible citation: Forward watchpoints inferred from publicly stated product stages.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Software, supply, independent benchmarks, customer concentration, and architecture durability are the central diligence risks.</a:t>
            </a:r>
          </a:p>
          <a:p/>
          <a:p>
            <a:r>
              <a:t>Visible citation: Research-team risk synthesis from public company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useful ledger links each company to its strongest anchor, decisive gap, and next validation action.</a:t>
            </a:r>
          </a:p>
          <a:p/>
          <a:p>
            <a:r>
              <a:t>Visible citation: Illustrative public-evidence snapshot; not the authoritative scorecard.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bottleneck-first watchlist is more useful than treating all ten companies as direct accelerator competitors.</a:t>
            </a:r>
          </a:p>
          <a:p/>
          <a:p>
            <a:r>
              <a:t>Visible citation: Conclusion based on the CRN cohort and primary-source review.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SEMICONDUCTOR STARTUP LANDSCAPE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6035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Semiconductor Startups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70048"/>
            <a:ext cx="580644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E0F7F1"/>
                </a:solidFill>
                <a:latin typeface="Calibri"/>
              </a:rPr>
              <a:t>Where partner value can compound across compute, inference, and interconnect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931920"/>
            <a:ext cx="1298448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279392"/>
            <a:ext cx="580644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10 companies  ·  4 infrastructure wedges  ·  3 partner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530352"/>
            <a:ext cx="2240280" cy="23957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ver-axelera-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585215"/>
            <a:ext cx="2130552" cy="1975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2642616"/>
            <a:ext cx="20208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AXELERA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45168" y="530352"/>
            <a:ext cx="2240280" cy="23957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ver-d-matrix-corsai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585215"/>
            <a:ext cx="2130552" cy="19751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54896" y="2642616"/>
            <a:ext cx="20208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D-MATRIX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9712" y="3200400"/>
            <a:ext cx="2240280" cy="23957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ver-lightmatter-hardware-proo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3255264"/>
            <a:ext cx="2130552" cy="19751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5312664"/>
            <a:ext cx="20208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LIGHTMATTER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3200400"/>
            <a:ext cx="2240280" cy="23957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ver-cornelis-cn50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3255264"/>
            <a:ext cx="2130552" cy="19751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454896" y="5312664"/>
            <a:ext cx="20208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CORNELIS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Based on CRN’s July 15, 2026 cohort; research updated through July 29,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Three moves emerge: activate deployable offers, validate complex wedges, monitor pre-scale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decision is a portfolio of bounded actions—not a universal winner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40156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3401568" cy="493776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0723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ACTIVATE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889504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Axelera AI · d-Matrix · Cornelis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3703320"/>
            <a:ext cx="276148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023360"/>
            <a:ext cx="285292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Package a bounded offer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874519"/>
            <a:ext cx="340156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0248" y="1874519"/>
            <a:ext cx="3401568" cy="493776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0723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2889504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Tenstorrent · NextSilicon · Lightmatter · Xsight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3703320"/>
            <a:ext cx="276148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4023360"/>
            <a:ext cx="285292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Buy missing workload and partner proof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7" y="1874519"/>
            <a:ext cx="3401568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3567" y="1874519"/>
            <a:ext cx="3401568" cy="493776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9" y="2011680"/>
            <a:ext cx="30723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651760"/>
            <a:ext cx="2889504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Fractile · Etched · MatX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93607" y="3703320"/>
            <a:ext cx="276148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023360"/>
            <a:ext cx="285292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Track silicon and commercialization triggers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Gartner; company announcements.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PORTFOLIO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Deployment evidence—not architectural novelty—drives the action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Commercial stage and partner boundaries determine what can be tested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29968"/>
            <a:ext cx="1874519" cy="932688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22576"/>
            <a:ext cx="15819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ACT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139696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Axelera AI · d-Matrix · Cornelis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39696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Deployable offer + visible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3969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5B6B7C"/>
                </a:solidFill>
                <a:latin typeface="Calibri"/>
              </a:rPr>
              <a:t>Partner economics and repeatability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72968"/>
            <a:ext cx="1874519" cy="93268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65576"/>
            <a:ext cx="15819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VALIDATE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282696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Tenstorrent · NextSilicon · Lightmatter · Xsight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282696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Strong wedge; motion-specific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28269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5B6B7C"/>
                </a:solidFill>
                <a:latin typeface="Calibri"/>
              </a:rPr>
              <a:t>Software, design-in, and operating proof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15968"/>
            <a:ext cx="1874519" cy="932688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608576"/>
            <a:ext cx="158191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4425696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Fractile · Etched · MatX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425696"/>
            <a:ext cx="254203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High potential; earlier commercialization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442569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5B6B7C"/>
                </a:solidFill>
                <a:latin typeface="Calibri"/>
              </a:rPr>
              <a:t>Tape-out, availability, 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1792224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1792224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CANDIDATES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92224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WHY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1792224"/>
            <a:ext cx="27432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PROOF BEFORE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Candidate public-evidence posture; requires Phase 0 calibration.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Market expansion creates room for new architectures—but fragmentation creates the channel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opportunity is to make heterogeneous infrastructure adoptable, supportable, and repeatable.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Solve one painful workload or link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Coexist with GPUs, CPUs, fabrics, and cloud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Broaden the system footprint after software and supply prove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90288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00600"/>
            <a:ext cx="103327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This favors partners that can provide integration, validation, deployment, and customer access—not just component resale.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Tenstorrent; d-Matrix; Cornelis; Lightmatter; Xsight Labs.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MARKET +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Four bottlenecks—and four commercialization models—shape the cohort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Insertion point determines the buyer, sales clock, and partner value pool.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810512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1810512"/>
            <a:ext cx="2880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PRIMARY ICP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608" y="181051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GTM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84831"/>
            <a:ext cx="2148840" cy="65836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31136"/>
            <a:ext cx="192938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EDGE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084831"/>
            <a:ext cx="224027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231136"/>
            <a:ext cx="202082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Chip +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1808" y="2084831"/>
            <a:ext cx="27889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2231136"/>
            <a:ext cx="256946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Edge OEM / solution builder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93608" y="2084831"/>
            <a:ext cx="32004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231136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Partner-led deployment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907791"/>
            <a:ext cx="2148840" cy="658368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054096"/>
            <a:ext cx="192938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ADAPTABLE COMPUTE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98648" y="2907791"/>
            <a:ext cx="224027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376" y="3054096"/>
            <a:ext cx="202082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Systems + IP / accelerator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21808" y="2907791"/>
            <a:ext cx="27889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3054096"/>
            <a:ext cx="256946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Sovereign AI / HPC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2907791"/>
            <a:ext cx="32004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3054096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Direct + design-in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730752"/>
            <a:ext cx="2148840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877056"/>
            <a:ext cx="192938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INFERENCE SPECIALISTS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98648" y="3730752"/>
            <a:ext cx="224027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8376" y="3877056"/>
            <a:ext cx="202082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Chips + rack systems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21808" y="3730752"/>
            <a:ext cx="27889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3877056"/>
            <a:ext cx="256946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Frontier labs / neoclouds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93608" y="3730752"/>
            <a:ext cx="32004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6" y="3877056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Lighthouse + co-design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553712"/>
            <a:ext cx="2148840" cy="658368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700016"/>
            <a:ext cx="192938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INTERCONNECT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4553712"/>
            <a:ext cx="2240279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08376" y="4700016"/>
            <a:ext cx="202082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Components + systems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21808" y="4553712"/>
            <a:ext cx="278892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1536" y="4700016"/>
            <a:ext cx="256946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Hyperscalers / clusters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93608" y="4553712"/>
            <a:ext cx="320040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03336" y="4700016"/>
            <a:ext cx="298094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A1628"/>
                </a:solidFill>
                <a:latin typeface="Calibri"/>
              </a:rPr>
              <a:t>Long-cycle ecosystem design-in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company product pages.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BUYING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Buyer pain—not firmographics—determines the ideal customer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Each workload has a distinct proof threshold and route to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1810512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TRIGGER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1810512"/>
            <a:ext cx="26060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PROOF TO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10512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PRIMARY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84831"/>
            <a:ext cx="2148840" cy="66751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21991"/>
            <a:ext cx="19293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FFFFFF"/>
                </a:solidFill>
                <a:latin typeface="Calibri"/>
              </a:rPr>
              <a:t>HYPERSCALERS + LABS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2084831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2221991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Token economics, density, custom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7568" y="2084831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7296" y="2221991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Rack-scale proof + capacity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8" y="2084831"/>
            <a:ext cx="2743200" cy="6675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2221991"/>
            <a:ext cx="25237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Co-design / design-in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907791"/>
            <a:ext cx="2148840" cy="66751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044951"/>
            <a:ext cx="19293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FFFFFF"/>
                </a:solidFill>
                <a:latin typeface="Calibri"/>
              </a:rPr>
              <a:t>HPC + RESEARCH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4368" y="2907791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54096" y="3044951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Irregular workloads, fabric behavior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87568" y="2907791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7296" y="3044951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Real applications + migration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0768" y="2907791"/>
            <a:ext cx="2743200" cy="6675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3044951"/>
            <a:ext cx="25237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Early access / integration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730752"/>
            <a:ext cx="2148840" cy="66751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867912"/>
            <a:ext cx="19293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FFFFFF"/>
                </a:solidFill>
                <a:latin typeface="Calibri"/>
              </a:rPr>
              <a:t>SOVEREIGN + ENTERPRISE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44368" y="3730752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3867912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Control, programmability, SLAs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87568" y="3730752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7296" y="3867912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Named-model TCO + 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0768" y="3730752"/>
            <a:ext cx="2743200" cy="6675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867912"/>
            <a:ext cx="25237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Reference platform / SI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553712"/>
            <a:ext cx="2148840" cy="66751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690872"/>
            <a:ext cx="19293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FFFFFF"/>
                </a:solidFill>
                <a:latin typeface="Calibri"/>
              </a:rPr>
              <a:t>EDGE OEMs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44368" y="4553712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54096" y="4690872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Power, thermals, form factor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87568" y="4553712"/>
            <a:ext cx="2514600" cy="6675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97296" y="4690872"/>
            <a:ext cx="22951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Time-to-production + SDK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30768" y="4553712"/>
            <a:ext cx="2743200" cy="667512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0496" y="4690872"/>
            <a:ext cx="252374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30" b="0" i="0">
                <a:solidFill>
                  <a:srgbClr val="1B2B3C"/>
                </a:solidFill>
                <a:latin typeface="Calibri"/>
              </a:rPr>
              <a:t>Module / distributor / ISV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ICP synthesis from company-stated target workloads and deployment models.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winning GTM motion converts lighthouse proof into an ecosystem repeat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Benchmark credibility must become a reference offer, operating model, and replication channel.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1168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30428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69464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0156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LIGHTHOUSE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840480"/>
            <a:ext cx="1929384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Prove one painful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3840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201168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78808" y="230428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2569464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40156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DESIGN-IN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840480"/>
            <a:ext cx="1929384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Integrate software, system, and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971800"/>
            <a:ext cx="3840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201168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86016" y="230428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2569464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40156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3840480"/>
            <a:ext cx="1929384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Publish repeatable architecture and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2971800"/>
            <a:ext cx="3840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01168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93224" y="2304288"/>
            <a:ext cx="841248" cy="841248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93224" y="2569464"/>
            <a:ext cx="84124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40156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REPLICATE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3840480"/>
            <a:ext cx="1929384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Scale through OEM, cloud, SI, and ISV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4937760"/>
            <a:ext cx="964692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5102352"/>
            <a:ext cx="900684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flywheel only compounds when proof, support, and commercial ownership survive each handoff.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GTM synthesis from company availability, partner, and deployment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PARTNER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Partner value compounds where integration risk is highest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08176"/>
            <a:ext cx="106984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The partner earns control by reducing risk across proof, packaging, deployment, and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76272"/>
            <a:ext cx="2450592" cy="233172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8716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35808"/>
            <a:ext cx="1975104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Workload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986784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F7F1"/>
                </a:solidFill>
                <a:latin typeface="Calibri"/>
              </a:rPr>
              <a:t>REDUCES  TECHNICAL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2176272"/>
            <a:ext cx="2450592" cy="233172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248716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035808"/>
            <a:ext cx="1975104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System + software offer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986784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F7F1"/>
                </a:solidFill>
                <a:latin typeface="Calibri"/>
              </a:rPr>
              <a:t>REDUCES  INTEGRATION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2176272"/>
            <a:ext cx="2450592" cy="233172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9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48716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B82"/>
                </a:solidFill>
                <a:latin typeface="Calibri"/>
              </a:rP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3035808"/>
            <a:ext cx="1975104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Reference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86784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F7F1"/>
                </a:solidFill>
                <a:latin typeface="Calibri"/>
              </a:rPr>
              <a:t>REDUCES  EXECUTION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2176272"/>
            <a:ext cx="2450592" cy="233172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E0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05A6B"/>
                </a:solidFill>
                <a:latin typeface="Calibri"/>
              </a:rPr>
              <a:t>OPERATE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3035808"/>
            <a:ext cx="1975104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Support +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3986784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F7F1"/>
                </a:solidFill>
                <a:latin typeface="Calibri"/>
              </a:rPr>
              <a:t>REDUCES  ADOPTION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82896"/>
            <a:ext cx="10872216" cy="621792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65776"/>
            <a:ext cx="102412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highest-leverage partner converts technical advantage into a repeatable production outcome.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Implications derived from company go-to-market and product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EVIDENCE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evidence is broad enough to screen—and too vendor-led to declare winners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Coverage supports directional portfolio choices; independent customer, benchmark, and economics proof remains sparse.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71323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0C9A7"/>
                </a:solidFill>
                <a:latin typeface="Calibri"/>
              </a:rPr>
              <a:t>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SOURCED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04288"/>
            <a:ext cx="13441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Complete closed-cohort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82696" y="182880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029968"/>
            <a:ext cx="71323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B800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993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NUMERIC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304288"/>
            <a:ext cx="13441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Funding, stage, and specifications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8464" y="182880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2029968"/>
            <a:ext cx="71323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09B82"/>
                </a:solidFill>
                <a:latin typeface="Calibr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1993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HIGH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2304288"/>
            <a:ext cx="13441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Specific attributable disclosures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828800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78824" y="2029968"/>
            <a:ext cx="71323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E05A6B"/>
                </a:solidFill>
                <a:latin typeface="Calibri"/>
              </a:rPr>
              <a:t>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3" y="1993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MEDIUM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063" y="2304288"/>
            <a:ext cx="134416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Directional or vendor-led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337560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364991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11680" y="3364991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3328416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758184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3785616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11680" y="3785616"/>
            <a:ext cx="2037001" cy="14630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749040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178808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Cornelis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4206240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011680" y="4206240"/>
            <a:ext cx="1782376" cy="14630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4169664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599432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4626864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011680" y="4626864"/>
            <a:ext cx="1273126" cy="14630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4590288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020056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5047488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011680" y="5047488"/>
            <a:ext cx="1273126" cy="146304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5010912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337560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16367" y="3364991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516367" y="3364991"/>
            <a:ext cx="1273126" cy="146304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45367" y="3328416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758184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16367" y="3785616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16367" y="3785616"/>
            <a:ext cx="1273126" cy="146304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45367" y="3749040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178808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16367" y="4206240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516367" y="4206240"/>
            <a:ext cx="1273126" cy="146304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45367" y="4169664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4599432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16367" y="4626864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516367" y="4626864"/>
            <a:ext cx="1273126" cy="146304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45367" y="4590288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020056"/>
            <a:ext cx="120700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0A1628"/>
                </a:solidFill>
                <a:latin typeface="Calibri"/>
              </a:rPr>
              <a:t>Xsight Labs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16367" y="5047488"/>
            <a:ext cx="3310128" cy="146304"/>
          </a:xfrm>
          <a:prstGeom prst="roundRect">
            <a:avLst>
              <a:gd name="adj" fmla="val 8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516367" y="5047488"/>
            <a:ext cx="1273126" cy="146304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45367" y="5010912"/>
            <a:ext cx="34747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Evidence ledger and data-quality report; retrieved through Jul. 29, 2026.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COMMERCIAL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Commercial maturity separates actionable platforms from architectural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cohort spans shipping systems, design-in components, samples, and pre-scale architectures.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WEDGE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STAGE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LIKELY ENTRY MOTION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deployment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Shipping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Partner-led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Open compute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Products +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Direct + licensing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Adaptive dataflow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Product-volume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design-in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Lighthouse co-development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 ASIC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Hyperscale design-in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In-memory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 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 validation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 accelerator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Frontier-lab co-design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Cluster fabric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integration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Photonic I/O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Reference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Ethernet silicon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Customer sampling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NOS/OEM design-in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official company product and financing announcements.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SECTION 01 ·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9921240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Compute challengers split between programmable breadth and workload-specific conviction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90672"/>
            <a:ext cx="1600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56432"/>
            <a:ext cx="9555480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The partner question is whether software and supply can make the architecture deployable.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CRN cohort taxonomy.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AXELERA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Axelera turns edge acceleration into a deployment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Efficient AI hardware is paired with software, systems, and a partner-led route 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EDGE +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xelera-ai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AXELERA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Purpose-built inference for computer vision and generative AI from edge systems toward data centers.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Chip + edge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Edge OEMs and solution builders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Partner-led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Build a vertical reference offer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Repeat deployments + supply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Axelera AI, Feb. 24,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TENSTORRENT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Tenstorrent attacks lock-in with a programmable system and licensable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Its portfolio spans AI processors, Galaxy systems, Tensix cores, and high-performance RISC-V.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OPEN 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nstorrent-tt-ascalon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TENSTORRENT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Open, programmable AI compute plus RISC-V CPU IP rather than a closed accelerator-only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Systems + licensable 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Sovereign AI, enterprise, developers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Direct systems + licensing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Choose the system or IP motion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Software adoption + support ownership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Tenstorrent, Jun. 30, 2026; CRN.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NEXTSILICON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NextSilicon makes the accelerator adapt to code at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Maverick-2 targets irregular HPC and AI workloads without forcing application rewrites.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ADAPTIVE DATAFLOW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extsilicon-maverick-2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NEXTSILICON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 software-learning Intelligent Compute Architecture dynamically configures dataflow hardware.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Accelerator + design-in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HPC and research institutions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Application-led design-in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Prove porting effort and supply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Independent workload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NextSilicon, Oct. 22, 2025. Performance figures are vendor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FRACTILE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Fractile is designing the full stack around exploding inference token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UK startup argues that reasoning workloads require a new cost-versus-latency curve.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FRONTIER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actile-thumbnail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FRACTILE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Co-design from AI research and compiler behavior through microarchitecture and foundry process.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Chip + full-stack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Frontier labs and high-token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Lighthouse co-development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Secure a benchmarkable workload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Tape-out + software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Fractile,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Etched trades generality for a transformer-only performance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Sohu hardwires the dominant model architecture into chips, racks, and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TRANSFORMER ASIC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tched-sohu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ETCHED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 transformer ASIC designed for throughput and interactivity rather than broad model coverage.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Transformer ASIC + racks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Hyperscalers and frontier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Strategic design-in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Test workload durability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MEDIUM /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Model-architecture durability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Etched product and progress pages, accessed Jul. 29,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D-MATRIX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d-Matrix moves inference compute closer to memory—and into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Corsair integrates accelerators, networking, and software for latency-sensitive data-center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IN-MEMORY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-matrix-corsai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D-MATRIX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Digital in-memory compute reduces data movement for high-throughput, low-latency inference.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Inference platform +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Hyperscalers, neoclouds, enterprise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System validation + replication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Validate TCO and support boundary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Volume ramp + customer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d-Matrix, Nov. 12, 2025 and Jun. 9,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MATX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MatX designs the chip around LLM throughput and latency from first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MatX One combines SRAM-first latency with HBM support for long contexts.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LLM-SPECIFIC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x-cov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MATX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An LLM-specific architecture balancing high throughput, low latency, and long-context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LLM accelerator +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Frontier labs and model builders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Co-design before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Wait for accessible silicon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Tape-out + real-system benchmarks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MatX, Feb. 24, 2026. Performance statements are vendor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COMPUTE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Specialization narrows the ICP while increasing the proof burden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Broad platforms carry software complexity; narrow platforms carry workload-durability risk.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WORKLOAD SCOPE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 PHILOSOPHY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2026 STAGE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+ inference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Platform + partners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Shipping / scaling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AI + CPU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+ licensable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+ irregular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Runtime-adaptive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 volumes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specialist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Fixed-function ASIC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Early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Data-center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In-memory + full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 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 workloads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Purpose-built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Company announcements; maturity is an analytical assessment.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SECTION 02 ·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9921240" cy="1481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Interconnect challengers create partner control points without replacing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90672"/>
            <a:ext cx="1600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56432"/>
            <a:ext cx="9555480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Fabric, photonics, and programmable Ethernet enter at different layers of the AI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Cornelis; Lightmatter; Xsight Labs.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CORNELIS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Cornelis reopens a scale-out fabric alternative for AI and HPC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CN5000 extends Omni-Path into modern training, inference, and technical-computing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SCALE-OUT FABRIC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nelis-cn5000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CORNELIS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Purpose-built scale-out networking focused on predictable throughput and congestion control.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Fabric silicon +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HPC and AI-cluster 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Cluster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Package migration services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Channel coverage + migration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Cornelis Networks product page and Series B announcement.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LIGHTMATTER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Lightmatter uses photonics to break the electrical I/O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Passage integrates optical connectivity across large AI packages and rack-scale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PHOTONIC I/O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matter-hardware-proof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LIGHTMATTER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3D-stacked photonic interposers move data where electrical chip-edge I/O becomes limiting.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Photonic component + design-in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Hyperscalers, packaging ecosystems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Long-cycle ecosystem design-in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Map the orchestrator control 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Qualification + design wins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Lightmatter product and funding announcements. Bandwidth is a vendor specification.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XSIGHT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740664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Xsight makes programmable Ethernet silicon an AI-factory control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X2 targets hyperscale, edge, and private data centers with 100G SerDes and 800G fabric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8592" y="256032"/>
            <a:ext cx="2212848" cy="402336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38328"/>
            <a:ext cx="1993392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PROGRAMMABLE ETHERNET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54112" y="1755648"/>
            <a:ext cx="379476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xsight-site-icon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828800"/>
            <a:ext cx="3648456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27264" y="4846319"/>
            <a:ext cx="3648456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956047"/>
            <a:ext cx="34290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XSIGHT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874519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STRATEGIC WEDGE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67512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Programmable switching silicon with a documented hardware/software interface.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66751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BUSINESS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Ethernet silicon + 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3227832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PRIMARY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3483863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Hyperscalers, OEMs, network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GTM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NOS/OEM design-in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9936" y="4142231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PARTNER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6" y="439826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Validate tooling and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6675120" cy="43891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7608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5B6B7C"/>
                </a:solidFill>
                <a:latin typeface="Calibri"/>
              </a:rPr>
              <a:t>EVIDENCE /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5239512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HIGH / 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5276088"/>
            <a:ext cx="6858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05A6B"/>
                </a:solidFill>
                <a:latin typeface="Calibri"/>
              </a:rPr>
              <a:t>RISK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5239512"/>
            <a:ext cx="2487168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NOS/OEM support maturity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Xsight Labs X2 announcement.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INTERCONNECT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three interconnect plays solve different layers of the same scaling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Control shifts from cluster fabric to package-level I/O to programmable Ethernet.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PRIMARY LAYER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CORE PROMISE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ADOPTION DEPENDENCY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Cluster fabric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Predictable lossless scale-out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Fabric ecosystem + operations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Package / scale-up I/O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Bandwidth density + energy efficiency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Packaging + design partners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Xsight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Switch 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Programmability + lower-power Ethernet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NOS/tooling + hyperscaler adoption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Company product announcements.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PARTNER ENTRY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Six hard gates determine whether a partner motion is credible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A strong architecture cannot compensate for missing product, support, or operating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Packaged offer, supply visibility, support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APIs, software maturity, reference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CO-SELL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Named ICP, repeatable proof, commercial 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DESIGN-IN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Roadmap alignment, qualification, capacity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Transparent benchmark method and workload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1616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Telemetry, lifecycle support, SLA accountability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diligence framework.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DISTRIBUTOR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Distributor fit favors packageable offers with bounded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Qualitative labels are provisional public-evidence judgments; validate locally before partner selection.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 network + edge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channel economics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Systems and developer products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Clarify support ownership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Product-volume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Confirm SKU + supply path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product availability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 ambition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production offer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Full-production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repeatable packaging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Track launch milestones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fabric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geographic coverage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Design-in component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Distributor role may be limited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Sampling switch silicon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Confirm OEM/NOS support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product, availability, and partner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SYSTEMS-INTEGRATOR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SI fit favors deployable systems with reusable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Systems integrators create value when reference architecture and operating accountability are both real.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solution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Build vertical reference offer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programmable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software operations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application compatibility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Prove porting effort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thesis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Secure lighthouse workload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Rack-scale specialization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workload durability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Production inference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TCO + SLA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 architecture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accessible 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Cluster fabric integration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Package migration services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Packaging-level insertion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Clarify SI control point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Ethernet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NOS/tooling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product and deployment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ECOSYSTEM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Ecosystem fit favors platforms that coordinate scarce complements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strongest orchestration candidates can align OEMs, software, cloud, packaging, or network partners.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Explicit partner network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Measure partner-sourced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IP + systems + open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governance and overlap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Code compatibility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Expand software proof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co-design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foundry + system partners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Transformer-specific stack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model ecosystem risk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Heterogeneous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cloud/OEM replication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LLM-specific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launch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Interoperable fabric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ecosystem breadth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 + foundry dependency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Coordinate design partners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switch interface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Align NOS + OEM roadmap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platform and partner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ROLE-SPECIFIC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One heatmap shows the role-specific portfolio—not a universal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same company can merit a different next move for a distributor, SI, or ecosystem orchestrator.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572768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737360"/>
            <a:ext cx="1618488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1847088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DISTRIBUTOR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737360"/>
            <a:ext cx="1344168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3" y="1847088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737360"/>
            <a:ext cx="1618488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847088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737360"/>
            <a:ext cx="3749039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4" y="1847088"/>
            <a:ext cx="3639311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NEXT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39696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212848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139696"/>
            <a:ext cx="161848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6584" y="2212848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139696"/>
            <a:ext cx="1344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5383" y="2212848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139696"/>
            <a:ext cx="161848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9864" y="2212848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2139696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212848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Validate economics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487168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560320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2487168"/>
            <a:ext cx="161848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6584" y="2560320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487168"/>
            <a:ext cx="134416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15383" y="2560320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2487168"/>
            <a:ext cx="161848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9864" y="2560320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2487168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98664" y="2560320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Choose motion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2834639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2907791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2834639"/>
            <a:ext cx="161848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6584" y="2907791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2834639"/>
            <a:ext cx="134416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15383" y="2907791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2834639"/>
            <a:ext cx="161848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9864" y="2907791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800" y="2834639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98664" y="2907791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Prove porting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182112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255264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31720" y="3182112"/>
            <a:ext cx="1618488" cy="292608"/>
          </a:xfrm>
          <a:prstGeom prst="rect">
            <a:avLst/>
          </a:prstGeom>
          <a:solidFill>
            <a:srgbClr val="E05A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86584" y="3255264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3182112"/>
            <a:ext cx="134416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15383" y="3255264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15000" y="3182112"/>
            <a:ext cx="161848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9864" y="3255264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43800" y="3182112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8664" y="3255264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Secure lighthouse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529584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3602736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31720" y="3529584"/>
            <a:ext cx="1618488" cy="292608"/>
          </a:xfrm>
          <a:prstGeom prst="rect">
            <a:avLst/>
          </a:prstGeom>
          <a:solidFill>
            <a:srgbClr val="E05A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86584" y="3602736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3529584"/>
            <a:ext cx="134416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15383" y="3602736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15000" y="3529584"/>
            <a:ext cx="161848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9864" y="3602736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3529584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98664" y="3602736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Test workload durability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877056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3950208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31720" y="3877056"/>
            <a:ext cx="161848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86584" y="3950208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60520" y="3877056"/>
            <a:ext cx="1344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15383" y="3950208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15000" y="3877056"/>
            <a:ext cx="161848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9864" y="3950208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877056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98664" y="3950208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Validate TCO + SLA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4224528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" y="4297680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31720" y="4224528"/>
            <a:ext cx="1618488" cy="292608"/>
          </a:xfrm>
          <a:prstGeom prst="rect">
            <a:avLst/>
          </a:prstGeom>
          <a:solidFill>
            <a:srgbClr val="E05A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86584" y="4297680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60520" y="4224528"/>
            <a:ext cx="1344168" cy="292608"/>
          </a:xfrm>
          <a:prstGeom prst="rect">
            <a:avLst/>
          </a:prstGeom>
          <a:solidFill>
            <a:srgbClr val="E05A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15383" y="4297680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15000" y="4224528"/>
            <a:ext cx="161848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9864" y="4297680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43800" y="4224528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98664" y="4297680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Wait for silicon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6928" y="4572000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1792" y="4645152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Cornelis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331720" y="4572000"/>
            <a:ext cx="161848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386584" y="4645152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60520" y="4572000"/>
            <a:ext cx="134416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15383" y="4645152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715000" y="4572000"/>
            <a:ext cx="161848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69864" y="4645152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43800" y="4572000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98664" y="4645152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Package migration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6928" y="4919472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1792" y="4992624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31720" y="4919472"/>
            <a:ext cx="161848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386584" y="4992624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60520" y="4919472"/>
            <a:ext cx="134416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15383" y="4992624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715000" y="4919472"/>
            <a:ext cx="1618488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769864" y="4992624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STRONG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543800" y="4919472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98664" y="4992624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Map control point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6928" y="5266944"/>
            <a:ext cx="1572768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1792" y="5340096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Xsight Labs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331720" y="5266944"/>
            <a:ext cx="1618488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86584" y="5340096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VALIDATE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60520" y="5266944"/>
            <a:ext cx="134416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15383" y="5340096"/>
            <a:ext cx="123444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15000" y="5266944"/>
            <a:ext cx="1618488" cy="292608"/>
          </a:xfrm>
          <a:prstGeom prst="rect">
            <a:avLst/>
          </a:prstGeom>
          <a:solidFill>
            <a:srgbClr val="E0F7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69864" y="5340096"/>
            <a:ext cx="15087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EMERGING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43800" y="5266944"/>
            <a:ext cx="3749039" cy="292608"/>
          </a:xfrm>
          <a:prstGeom prst="rect">
            <a:avLst/>
          </a:prstGeom>
          <a:solidFill>
            <a:srgbClr val="F4F7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98664" y="5340096"/>
            <a:ext cx="3639311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9" b="0" i="0">
                <a:solidFill>
                  <a:srgbClr val="0A1628"/>
                </a:solidFill>
                <a:latin typeface="Calibri"/>
              </a:rPr>
              <a:t>Validate NOS/tooling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Public-evidence posture; candidate model, not calibrated organization-specific scoring.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DISTRIBUTOR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Unit economics differ by where the partner controls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Inventory, design-in, software, and ecosystem motions create distinct margin and support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93392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SYSTEM 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656" y="196596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High initial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Inventory, support, and supply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96896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43200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SILICON DESIGN-IN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7157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Sticky volume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71576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Long qualification and concentration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46704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93008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IP 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46557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Asset-light 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65576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Customer implementation and royalty timing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42816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SOFTWARE +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421538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Recurring control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215384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Requires developer adoption and model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46320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92624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PARTNER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496519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Distribution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965192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Enablement cost and channel conflict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business-model assessment; no company financial forecasts implied.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PHASE 0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Calibrate the model on three deliberately different archetypes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Axelera AI, Etched, and Lightmatter test deployment, specialization, and ecosystem-design-in assumptions.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3383280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30540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96896"/>
            <a:ext cx="28712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DEPLOYMENT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60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Can partners replicate a vertical edge offer with bounded support?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89120"/>
            <a:ext cx="2688336" cy="3657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6634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PRIMARY LENS  ·  Distributor + 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47088"/>
            <a:ext cx="3383280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61104" y="1847088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984248"/>
            <a:ext cx="30540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ETCHED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96896"/>
            <a:ext cx="28712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E05A6B"/>
                </a:solidFill>
                <a:latin typeface="Calibri"/>
              </a:rPr>
              <a:t>SPECIALIZATION BET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108960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Does transformer-only advantage survive workload and roadmap scrutiny?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08576" y="4389120"/>
            <a:ext cx="2688336" cy="3657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46634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PRIMARY LENS  ·  SI + lighthouse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1847088"/>
            <a:ext cx="3383280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1847088"/>
            <a:ext cx="3383280" cy="47548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1984248"/>
            <a:ext cx="30540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2596896"/>
            <a:ext cx="287121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B800"/>
                </a:solidFill>
                <a:latin typeface="Calibri"/>
              </a:rPr>
              <a:t>DESIGN-IN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3108960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Who owns qualification, packaging coordination, and commercial pull?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2752" y="4389120"/>
            <a:ext cx="2688336" cy="36576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46634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PRIMARY LENS  ·  Orchestrator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Phase 0 operating recommendation; public evidence defines hypotheses, not final selections.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90-DAY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789920" cy="9326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first 90 days should buy evidence, not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Each stage resolves a specific uncertainty and ends in an explicit advance, redesign, or stop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39696"/>
            <a:ext cx="3310128" cy="256032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50592"/>
            <a:ext cx="287121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0–30 DAYS ·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999232"/>
            <a:ext cx="2688336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Confirm offer, stage, ICP, partner boundary, and evidence owner for six shortlisted motions.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2139696"/>
            <a:ext cx="3310128" cy="256032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450592"/>
            <a:ext cx="287121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31–60 DAYS ·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3" y="2999232"/>
            <a:ext cx="2688336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Run workload, integration, support, and commercial discovery with named hypotheses.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139696"/>
            <a:ext cx="3310128" cy="256032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E0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450592"/>
            <a:ext cx="287121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E05A6B"/>
                </a:solidFill>
                <a:latin typeface="Calibri"/>
              </a:rPr>
              <a:t>61–90 DAYS · 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2999232"/>
            <a:ext cx="2688336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Advance, redesign, or stop each motion based on proof-package completion.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010912"/>
            <a:ext cx="10881360" cy="566928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75504"/>
            <a:ext cx="102778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One evidence ledger, one archetype decision, and one next-action brief per shortlisted company.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Recommended validation sequence; no named-partner commitment implied.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12-MONTH WATCHLIST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Quarterly triggers—not narrative momentum—should change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Commercial milestones are the control system for the portfolio.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1517904" cy="141732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350008"/>
            <a:ext cx="12618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PRE-SILICON / PRE-SCALE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2157984"/>
            <a:ext cx="31455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Fractile · MatX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2660904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Tape-out, first silicon, compiler readiness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901952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71616" y="1901952"/>
            <a:ext cx="1517904" cy="14173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2350008"/>
            <a:ext cx="12618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EARLY SYSTEMS /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3" y="2157984"/>
            <a:ext cx="31455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Etched · Lightmatter · Xsight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3" y="2660904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Customer qualification, production benchmarks, design wins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2102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621024"/>
            <a:ext cx="1517904" cy="14173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069080"/>
            <a:ext cx="12618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PRODUCT / VOLUME RAMP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3877056"/>
            <a:ext cx="31455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Axelera · NextSilicon · d-Matrix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2576" y="4379976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Shipment growth, repeat deployments, supply execution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71616" y="362102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71616" y="3621024"/>
            <a:ext cx="1517904" cy="141732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4069080"/>
            <a:ext cx="1261872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PORTFOLIO /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3" y="3877056"/>
            <a:ext cx="314553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0A1628"/>
                </a:solidFill>
                <a:latin typeface="Calibri"/>
              </a:rPr>
              <a:t>Tenstorrent · Cornelis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9976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Partner replication, software depth, installed-base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Forward watchpoints inferred from publicly stated product stages.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Five kill criteria stop technically impressive but non-deployable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Software, silicon, proof, customers, and workload durability are non-negotiable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938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92807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7451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Compiler maturity, frameworks, model coverage, and developer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2359151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79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660903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42615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Tape-out, yield, packaging, memory availability, and manufacturing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127247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65575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28999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1071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Independent benchmarks, production workloads, and total-cost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3895344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1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197095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78807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Design-win conversion, concentration, support burden, and renewal economics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1872" y="4663440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01767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965191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DURABILITY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946903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Whether the targeted workload or interconnect standard remains strategically important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1872" y="5431536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risk synthesis from public company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EVIDENCE BUYING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evidence ledger exposes exactly what must be learned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Every priority has a strongest anchor, a decisive gap, and a next question.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 / GROUP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STRONGEST ANCHOR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DECISIVE GAP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QUESTION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 ecosystem + funding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Partner-sourced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distributor/SI economics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Production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Independent TCO + references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repeatable SI offer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fabric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Channel coverage + migration proof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Package integration motion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products +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Support ownership + adoption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Choose licensing vs systems motion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Reference photonic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Qualification + design wins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orchestrator role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 / Etched / MatX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Capital + architecture thesis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Availability + customer proof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 milestone triggers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Illustrative public-evidence snapshot; not the authoritative scorecard.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Select validation priorities now—and reserve partnership decisions for calibrated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The portfolio is actionable when posture, confidence, and the next proof purchase travel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51760"/>
            <a:ext cx="3310128" cy="124358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898648"/>
            <a:ext cx="287121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PUBLIC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9272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Prioritizes what to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2651760"/>
            <a:ext cx="3310128" cy="124358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898648"/>
            <a:ext cx="287121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19272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Calibrates the rubric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651760"/>
            <a:ext cx="3310128" cy="1243584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E0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898648"/>
            <a:ext cx="287121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LOCAL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319272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Determines who to partner with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89120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1027785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Use the cohort to choose what to test next—not to declare a market winner.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Conclusion based on the CRN cohort and primary-source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Startups 2026 · Evidence-Led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