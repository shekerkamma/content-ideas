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 public-evidence screen for channel, alliance, and ecosystem validation priorities</a:t>
            </a:r>
          </a:p>
          <a:p/>
          <a:p>
            <a:r>
              <a:t>Visible citation: Based on CRN’s July 15, 2026 cohort; research updated through July 29, 2026.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Public evidence can prioritize validation questions by partner archetype without claiming organization-specific right-to-win.</a:t>
            </a:r>
          </a:p>
          <a:p/>
          <a:p>
            <a:r>
              <a:t>Visible citation: CRN; Gartner; company announcements.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cohort’s most plausible adoption paths complement existing infrastructure before displacing it.</a:t>
            </a:r>
          </a:p>
          <a:p/>
          <a:p>
            <a:r>
              <a:t>Visible citation: Tenstorrent; d-Matrix; Cornelis; Lightmatter; Xsight Labs.</a:t>
            </a:r>
          </a:p>
          <a:p/>
          <a:p>
            <a:r>
              <a:t>Evidence URLs: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https://www.cornelis.com/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Partners can create value through workload validation, system integration, deployment, and managed operations.</a:t>
            </a:r>
          </a:p>
          <a:p/>
          <a:p>
            <a:r>
              <a:t>Visible citation: Implications derived from company go-to-market and product evidence.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ten companies address edge deployment, compute architecture, inference economics, or scale-out connectivity.</a:t>
            </a:r>
          </a:p>
          <a:p/>
          <a:p>
            <a:r>
              <a:t>Visible citation: CRN; company product pages.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cohort monetizes through chips and systems, licensable IP, infrastructure components, or partner-enabled platforms.</a:t>
            </a:r>
          </a:p>
          <a:p/>
          <a:p>
            <a:r>
              <a:t>Visible citation: Business-model synthesis from company product and partner evidence.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cohort’s primary ICPs are hyperscalers/frontier labs, HPC institutions, sovereign and enterprise AI operators, and edge OEMs.</a:t>
            </a:r>
          </a:p>
          <a:p/>
          <a:p>
            <a:r>
              <a:t>Visible citation: ICP synthesis from company-stated target workloads and deployment models.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most credible GTM sequence is lighthouse validation, design-in, reference deployment, and ecosystem replication.</a:t>
            </a:r>
          </a:p>
          <a:p/>
          <a:p>
            <a:r>
              <a:t>Visible citation: GTM synthesis from company availability, partner, and deployment evidence.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cohort’s most plausible adoption paths complement existing infrastructure before displacing it.</a:t>
            </a:r>
          </a:p>
          <a:p/>
          <a:p>
            <a:r>
              <a:t>Visible citation: Tenstorrent; d-Matrix; Cornelis; Lightmatter; Xsight Labs.</a:t>
            </a:r>
          </a:p>
          <a:p/>
          <a:p>
            <a:r>
              <a:t>Evidence URLs: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https://www.cornelis.com/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ten companies differ more by insertion point and readiness evidence than by a single accelerator-versus-GPU frame.</a:t>
            </a:r>
          </a:p>
          <a:p/>
          <a:p>
            <a:r>
              <a:t>Visible citation: CRN; official company product and financing announcements.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compute cohort spans broad programmable platforms and highly specialized inference systems.</a:t>
            </a:r>
          </a:p>
          <a:p/>
          <a:p>
            <a:r>
              <a:t>Visible citation: CRN cohort taxonomy.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Axelera’s differentiator combines edge-focused acceleration with an explicit partner network and more than $250 million of new funding.</a:t>
            </a:r>
          </a:p>
          <a:p/>
          <a:p>
            <a:r>
              <a:t>Visible citation: Axelera AI, Feb. 24, 2026.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https://axelera.ai/news/axelera-ai-secures-more-than-250-million-funding-on-global-ai-demand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Tenstorrent’s TT-Ascalon S expands its open compute strategy into branch-heavy agentic workloads.</a:t>
            </a:r>
          </a:p>
          <a:p/>
          <a:p>
            <a:r>
              <a:t>Visible citation: Tenstorrent, Jun. 30, 2026; CRN.</a:t>
            </a:r>
          </a:p>
          <a:p/>
          <a:p>
            <a:r>
              <a:t>Evidence URLs: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https://tenstorrent.com/vision/tenstorrent-announces-availability-of-tt-ascalon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NextSilicon says Maverick-2 uses runtime-reconfigurable dataflow and was available in product volumes in Q4 2025.</a:t>
            </a:r>
          </a:p>
          <a:p/>
          <a:p>
            <a:r>
              <a:t>Visible citation: NextSilicon, Oct. 22, 2025. Performance figures are vendor claims.</a:t>
            </a:r>
          </a:p>
          <a:p/>
          <a:p>
            <a:r>
              <a:t>Evidence URLs:</a:t>
            </a:r>
          </a:p>
          <a:p>
            <a:r>
              <a:t>- https://www.nextsilicon.com/insights/nextsilicon-breakthrough/</a:t>
            </a:r>
          </a:p>
          <a:p>
            <a:r>
              <a:t>- https://www.nextsilicon.com/press-releases/maverick-2-powers-hpc-ai-breakthroughs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Fractile raised $220 million to accelerate its path toward first chips and systems for frontier-model inference.</a:t>
            </a:r>
          </a:p>
          <a:p/>
          <a:p>
            <a:r>
              <a:t>Visible citation: Fractile, 2026.</a:t>
            </a:r>
          </a:p>
          <a:p/>
          <a:p>
            <a:r>
              <a:t>Evidence URLs: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https://www.fractile.ai/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Etched’s Sohu strategy is an extreme specialization bet on transformers remaining the dominant AI architecture.</a:t>
            </a:r>
          </a:p>
          <a:p/>
          <a:p>
            <a:r>
              <a:t>Visible citation: Etched product and progress pages, accessed Jul. 29, 2026.</a:t>
            </a:r>
          </a:p>
          <a:p/>
          <a:p>
            <a:r>
              <a:t>Evidence URLs:</a:t>
            </a:r>
          </a:p>
          <a:p>
            <a:r>
              <a:t>- https://www.etched.com/progress</a:t>
            </a:r>
          </a:p>
          <a:p>
            <a:r>
              <a:t>- https://www.etched.com/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d-Matrix announced Corsair full production in June 2026 after raising a $275 million Series C in late 2025.</a:t>
            </a:r>
          </a:p>
          <a:p/>
          <a:p>
            <a:r>
              <a:t>Visible citation: d-Matrix, Nov. 12, 2025 and Jun. 9, 2026.</a:t>
            </a:r>
          </a:p>
          <a:p/>
          <a:p>
            <a:r>
              <a:t>Evidence URLs: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https://www.d-matrix.ai/d-matrix-corsair-ai-inference-platform-enters-full-production/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MatX raised a $500 million Series B to finish development and scale manufacturing, with tape-out planned in under a year.</a:t>
            </a:r>
          </a:p>
          <a:p/>
          <a:p>
            <a:r>
              <a:t>Visible citation: MatX, Feb. 24, 2026. Performance statements are vendor claims.</a:t>
            </a:r>
          </a:p>
          <a:p/>
          <a:p>
            <a:r>
              <a:t>Evidence URLs:</a:t>
            </a:r>
          </a:p>
          <a:p>
            <a:r>
              <a:t>- https://matx.com/research/series_b</a:t>
            </a:r>
          </a:p>
          <a:p>
            <a:r>
              <a:t>- https://matx.com/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Compute startups occupy different positions on workload breadth, programmability, and commercialization maturity.</a:t>
            </a:r>
          </a:p>
          <a:p/>
          <a:p>
            <a:r>
              <a:t>Visible citation: Company announcements; maturity is an analytical assessment.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https://matx.com/research/series_b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interconnect cohort competes on congestion, bandwidth density, power, and programmability.</a:t>
            </a:r>
          </a:p>
          <a:p/>
          <a:p>
            <a:r>
              <a:t>Visible citation: Cornelis; Lightmatter; Xsight Labs.</a:t>
            </a:r>
          </a:p>
          <a:p/>
          <a:p>
            <a:r>
              <a:t>Evidence URLs: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Cornelis positions CN5000 Omni-Path as a lossless, interoperable fabric for AI and HPC workloads.</a:t>
            </a:r>
          </a:p>
          <a:p/>
          <a:p>
            <a:r>
              <a:t>Visible citation: Cornelis Networks product page and Series B announcement.</a:t>
            </a:r>
          </a:p>
          <a:p/>
          <a:p>
            <a:r>
              <a:t>Evidence URLs: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https://www.cornelisnetworks.com/stories/cornelis-cn5000-launches-rewiring-ai-and-hpc-networking-at-scale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Lightmatter says the Passage M1000 reference platform provides 114 Tbps of total optical bandwidth.</a:t>
            </a:r>
          </a:p>
          <a:p/>
          <a:p>
            <a:r>
              <a:t>Visible citation: Lightmatter product and funding announcements. Bandwidth is a vendor specification.</a:t>
            </a:r>
          </a:p>
          <a:p/>
          <a:p>
            <a:r>
              <a:t>Evidence URLs: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https://lightmatter.co/blog/seeing-is-believing-a-technical-deep-dive-into-lightmatters-hardware/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Xsight announced X2 sampling as a fully programmable, low-power data-center switch for AI-factory networks.</a:t>
            </a:r>
          </a:p>
          <a:p/>
          <a:p>
            <a:r>
              <a:t>Visible citation: Xsight Labs X2 announcement.</a:t>
            </a:r>
          </a:p>
          <a:p/>
          <a:p>
            <a:r>
              <a:t>Evidence URLs: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  <a:p>
            <a:r>
              <a:t>- https://xsightlabs.com/switches/x2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Cornelis focuses on cluster fabric, Lightmatter on optical chip/package links, and Xsight on programmable switching silicon.</a:t>
            </a:r>
          </a:p>
          <a:p/>
          <a:p>
            <a:r>
              <a:t>Visible citation: Company product announcements.</a:t>
            </a:r>
          </a:p>
          <a:p/>
          <a:p>
            <a:r>
              <a:t>Evidence URLs: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Commercial readiness requires evidence across workload proof, software, supply, reference customers, partners, and economics.</a:t>
            </a:r>
          </a:p>
          <a:p/>
          <a:p>
            <a:r>
              <a:t>Visible citation: Research-team diligence framework.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Distribution fit rises with product packaging, supply visibility, enablement, and support clarity.</a:t>
            </a:r>
          </a:p>
          <a:p/>
          <a:p>
            <a:r>
              <a:t>Visible citation: Directional research judgment from public product, availability, and partner evidence.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SI fit rises when the startup exposes a deployable integration boundary and a repeatable customer outcome.</a:t>
            </a:r>
          </a:p>
          <a:p/>
          <a:p>
            <a:r>
              <a:t>Visible citation: Directional research judgment from public product and deployment evidence.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Orchestrator fit rises when partner coordination is essential to the product’s adoption and scale.</a:t>
            </a:r>
          </a:p>
          <a:p/>
          <a:p>
            <a:r>
              <a:t>Visible citation: Directional research judgment from public platform and partner evidence.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More specialized architectures can promise stronger economics while carrying greater workload and execution concentration.</a:t>
            </a:r>
          </a:p>
          <a:p/>
          <a:p>
            <a:r>
              <a:t>Visible citation: Research-team assessment from public product and funding evidence.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Business models with reusable software or IP leverage can scale differently from bespoke system and design-in models.</a:t>
            </a:r>
          </a:p>
          <a:p/>
          <a:p>
            <a:r>
              <a:t>Visible citation: Directional business-model assessment; no company financial forecasts implied.</a:t>
            </a:r>
          </a:p>
          <a:p/>
          <a:p>
            <a:r>
              <a:t>Evidence URLs: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GTM effectiveness improves when technical proof, commercial offer, and partner role are tailored to the buyer’s deployment context.</a:t>
            </a:r>
          </a:p>
          <a:p/>
          <a:p>
            <a:r>
              <a:t>Visible citation: Engagement recommendations derived from company target markets.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Ecosystem value grows when coordination removes adoption risk across multiple complements.</a:t>
            </a:r>
          </a:p>
          <a:p/>
          <a:p>
            <a:r>
              <a:t>Visible citation: Strategic synthesis from the ten-company public-evidence set.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 staged portfolio prevents early technical promise from being mistaken for execution-ready partnership.</a:t>
            </a:r>
          </a:p>
          <a:p/>
          <a:p>
            <a:r>
              <a:t>Visible citation: Candidate public-evidence posture; requires Phase 0 calibration.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first 90 days should reduce uncertainty through bounded tests rather than make execution claims.</a:t>
            </a:r>
          </a:p>
          <a:p/>
          <a:p>
            <a:r>
              <a:t>Visible citation: Recommended validation sequence; no named-partner commitment implied.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most decision-relevant next events are tape-outs, volume ramps, production benchmarks, design wins, and ecosystem expansion.</a:t>
            </a:r>
          </a:p>
          <a:p/>
          <a:p>
            <a:r>
              <a:t>Visible citation: Forward watchpoints inferred from publicly stated product stages.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Recommendation strength should reflect evidence coverage, source independence, and hard-gate robustness.</a:t>
            </a:r>
          </a:p>
          <a:p/>
          <a:p>
            <a:r>
              <a:t>Visible citation: Candidate model logic from the CEO-reviewed implementation plan.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GTM effectiveness improves when technical proof, commercial offer, and partner role are tailored to the buyer’s deployment context.</a:t>
            </a:r>
          </a:p>
          <a:p/>
          <a:p>
            <a:r>
              <a:t>Visible citation: Engagement recommendations derived from company target markets.</a:t>
            </a:r>
          </a:p>
          <a:p/>
          <a:p>
            <a:r>
              <a:t>Evidence URLs: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https://www.cornelis.com/</a:t>
            </a:r>
          </a:p>
          <a:p>
            <a:r>
              <a:t>- https://lightmatter.co/press-release/lightmatter-unveils-passage-m1000-photonic-superchip-worlds-fastest-ai-interconnect/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Software, supply, independent benchmarks, customer concentration, and architecture durability are the central diligence risks.</a:t>
            </a:r>
          </a:p>
          <a:p/>
          <a:p>
            <a:r>
              <a:t>Visible citation: Research-team risk synthesis from public company evidence.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 bottleneck-first watchlist is more useful than treating all ten companies as direct accelerator competitors.</a:t>
            </a:r>
          </a:p>
          <a:p/>
          <a:p>
            <a:r>
              <a:t>Visible citation: Conclusion based on the CRN cohort and primary-source review.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research used CRN’s July 2026 list, Gartner market context, and official company announcements retrieved through Level 2 livecrawl.</a:t>
            </a:r>
          </a:p>
          <a:p/>
          <a:p>
            <a:r>
              <a:t>Visible citation: CRN; Gartner; official company announcements. Accessed Jul. 29, 2026.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The evidence base combines one cohort source, one market source, and current primary company disclosures.</a:t>
            </a:r>
          </a:p>
          <a:p/>
          <a:p>
            <a:r>
              <a:t>Visible citation: Full URLs and access context are embedded in speaker notes.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Commercial readiness requires evidence across workload proof, software, supply, reference customers, partners, and economics.</a:t>
            </a:r>
          </a:p>
          <a:p/>
          <a:p>
            <a:r>
              <a:t>Visible citation: Candidate default weights from the CEO-reviewed plan; hard gates override weighted posture.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https://www.nextsilicon.com/insights/nextsilicon-breakthrough/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A useful ledger links each company to its strongest anchor, decisive gap, and next validation action.</a:t>
            </a:r>
          </a:p>
          <a:p/>
          <a:p>
            <a:r>
              <a:t>Visible citation: Illustrative public-evidence snapshot; not the authoritative scorecard.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implication: Calibration requires independent ratings, documented disagreement, and evidence-led adjudication.</a:t>
            </a:r>
          </a:p>
          <a:p/>
          <a:p>
            <a:r>
              <a:t>Visible citation: Phase 0 protocol from the CEO-reviewed implementation plan.</a:t>
            </a:r>
          </a:p>
          <a:p/>
          <a:p>
            <a:r>
              <a:t>Evidence URLs:</a:t>
            </a:r>
          </a:p>
          <a:p>
            <a:r>
              <a:t>- https://www.crn.com/news/computing/2026/the-10-coolest-semiconductor-startups-of-2026-so-far</a:t>
            </a:r>
          </a:p>
          <a:p>
            <a:r>
              <a:t>- https://www.gartner.com/en/newsroom/press-releases/2026-04-08-gartner-forecasts-worldwide-semiconductor-revenue-to-exceed-us-dollars-one-point-3-trillion-in-2026</a:t>
            </a:r>
          </a:p>
          <a:p>
            <a:r>
              <a:t>- https://axelera.ai/news/axelera-ai-secures-more-than-250-million-funding-on-global-commercial-growth</a:t>
            </a:r>
          </a:p>
          <a:p>
            <a:r>
              <a:t>- https://tenstorrent.com/newsroom/tenstorrent-sets-new-performance-records-launches-tt--ascalon-s</a:t>
            </a:r>
          </a:p>
          <a:p>
            <a:r>
              <a:t>- https://www.nextsilicon.com/insights/nextsilicon-breakthrough/</a:t>
            </a:r>
          </a:p>
          <a:p>
            <a:r>
              <a:t>- https://www.fractile.ai/news/fractile-raises-220m-to-build-the-next-generation-of-inference-hardware</a:t>
            </a:r>
          </a:p>
          <a:p>
            <a:r>
              <a:t>- https://www.etched.com/progress</a:t>
            </a:r>
          </a:p>
          <a:p>
            <a:r>
              <a:t>- https://www.d-matrix.ai/announcements/d-matrix-corsair-ai-inference-platform-enters-full-production-to-meet-customer-demand/</a:t>
            </a:r>
          </a:p>
          <a:p>
            <a:r>
              <a:t>- https://www.d-matrix.ai/announcements/d-matrix-raises-275-million-to-power-the-age-of-ai-inference/</a:t>
            </a:r>
          </a:p>
          <a:p>
            <a:r>
              <a:t>- https://www.cornelis.com/</a:t>
            </a:r>
          </a:p>
          <a:p>
            <a:r>
              <a:t>- https://www.cornelis.com/stories/cornelis-networks-announces-29m-series-b-funding-round</a:t>
            </a:r>
          </a:p>
          <a:p>
            <a:r>
              <a:t>- https://lightmatter.co/press-release/lightmatter-unveils-passage-m1000-photonic-superchip-worlds-fastest-ai-interconnect/</a:t>
            </a:r>
          </a:p>
          <a:p>
            <a:r>
              <a:t>- https://lightmatter.co/press-release/lightmatter-raises-400m-series-d-quadruples-valuation-to-4-4b-as-photonics-leader-for-next-gen-ai-data-centers/</a:t>
            </a:r>
          </a:p>
          <a:p>
            <a:r>
              <a:t>- https://matx.com/research/series_b</a:t>
            </a:r>
          </a:p>
          <a:p>
            <a:r>
              <a:t>- https://xsightlabs.com/newsroom/announcements/xsight-labs-announces-x2-programmable-sdn-ethernet-switches-for-hyperscale-and-edge-data-centers-optimized-for-the-ai-factory-era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46920" y="0"/>
            <a:ext cx="254203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55480" y="0"/>
            <a:ext cx="91440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49840" y="960120"/>
            <a:ext cx="310896" cy="4023360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643616" y="1362456"/>
            <a:ext cx="310896" cy="3520440"/>
          </a:xfrm>
          <a:prstGeom prst="roundRect">
            <a:avLst>
              <a:gd name="adj" fmla="val 8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37392" y="1764792"/>
            <a:ext cx="310896" cy="3017520"/>
          </a:xfrm>
          <a:prstGeom prst="roundRect">
            <a:avLst>
              <a:gd name="adj" fmla="val 8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804672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SEMICONDUCTOR STARTUP LANDSCAPE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8138160" cy="1417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10 Coolest Semiconductor Startups of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35808"/>
            <a:ext cx="141732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10128"/>
            <a:ext cx="8046720" cy="9875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0" i="0">
                <a:solidFill>
                  <a:srgbClr val="E0F7F1"/>
                </a:solidFill>
                <a:latin typeface="Calibri"/>
              </a:rPr>
              <a:t>A public-evidence screen for channel, alliance, and ecosystem validation priorities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804672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10 companies  ·  3 partner lenses  ·  44-slide decision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A9B4C0"/>
                </a:solidFill>
                <a:latin typeface="Calibri"/>
              </a:rPr>
              <a:t>Based on CRN’s July 15, 2026 cohort; research updated through July 29, 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Public evidence supports a validation portfolio—not a named-partner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 CRN-selected cohort reveals partnerable wedges, but organization-specific fit still requires calibration.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01952"/>
            <a:ext cx="3273552" cy="2596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01952"/>
            <a:ext cx="64008" cy="259689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57400"/>
            <a:ext cx="28895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ACT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95728"/>
            <a:ext cx="2889504" cy="19568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Validate production-ready offers where software, supply, and deployment evidence are already visible.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8808" y="1901952"/>
            <a:ext cx="3273552" cy="2596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78808" y="1901952"/>
            <a:ext cx="64008" cy="2596896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2057400"/>
            <a:ext cx="28895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VALIDATE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395728"/>
            <a:ext cx="2889504" cy="19568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Test technically compelling platforms whose partner motion depends on workload or ecosystem proof.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0688" y="1901952"/>
            <a:ext cx="3273552" cy="2596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90688" y="1901952"/>
            <a:ext cx="64008" cy="2596896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6" y="2057400"/>
            <a:ext cx="2889504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1856" y="2395728"/>
            <a:ext cx="2889504" cy="19568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Track pre-scale bets until tape-out, availability, and reference-customer evidence improve.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3168"/>
            <a:ext cx="10863072" cy="82296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37760"/>
            <a:ext cx="123444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BOTTOM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873752"/>
            <a:ext cx="8988552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Scope: CRN’s ten-company closed cohort; candidate archetype-readiness judgments, not an exhaustive market ranking.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CRN; Gartner; company announcements.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STRATEGIC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partner opportunity sits in heterogeneous infrastructure—not wholesale GPU replacement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Most wedges can enter beside incumbent accelerators, networks, or software stacks.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Solve one painful workload or link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2724912"/>
            <a:ext cx="3474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INTEGRATE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Coexist with GPUs, CPUs, fabrics, and cloud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2724912"/>
            <a:ext cx="3474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EXPAND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Broaden the system footprint after software and supply prove 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590288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00600"/>
            <a:ext cx="103327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This favors partners that can provide integration, validation, deployment, and customer access—not just component resale.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Tenstorrent; d-Matrix; Cornelis; Lightmatter; Xsight Labs.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PARTNER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Adoption barriers create the partner value pool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 harder the integration, qualification, and operating transition, the more valuable a capable ecosystem becomes.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Benchmark target workloads with transparent methods and incumbent baselines.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INTEGRATE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Package silicon with servers, networking, software, orchestration, and support.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Build repeatable reference architectures for edge, inference, HPC, and AI fabrics.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OPERATE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Provide observability, lifecycle management, and workload migration services.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Implications derived from company go-to-market and product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COHORT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Four bottlenecks define the closed-cohort market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 strategic question is where each company inserts into the stack.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1"/>
            <a:ext cx="2286000" cy="749808"/>
          </a:xfrm>
          <a:prstGeom prst="roundRect">
            <a:avLst>
              <a:gd name="adj" fmla="val 6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048255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EDGE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856231"/>
            <a:ext cx="3749039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55264" y="2039112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Axelera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002536"/>
            <a:ext cx="4069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Efficient inference + partner ecosystem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3784"/>
            <a:ext cx="2286000" cy="749808"/>
          </a:xfrm>
          <a:prstGeom prst="roundRect">
            <a:avLst>
              <a:gd name="adj" fmla="val 6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035808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ADAPTABLE COMPUTE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843784"/>
            <a:ext cx="3749039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55264" y="3026664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Tenstorrent · NextSilicon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990088"/>
            <a:ext cx="4069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RISC-V/IP and runtime-reconfigurable dataflow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831335"/>
            <a:ext cx="2286000" cy="749808"/>
          </a:xfrm>
          <a:prstGeom prst="roundRect">
            <a:avLst>
              <a:gd name="adj" fmla="val 6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023359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INFERENCE SPECIALISTS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3831335"/>
            <a:ext cx="3749039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55264" y="4014215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Fractile · Etched · d-Matrix · MatX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977639"/>
            <a:ext cx="4069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Workload-specific latency, throughput, and memory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818888"/>
            <a:ext cx="2286000" cy="749808"/>
          </a:xfrm>
          <a:prstGeom prst="roundRect">
            <a:avLst>
              <a:gd name="adj" fmla="val 6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5010912"/>
            <a:ext cx="1874519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INTERCONNECT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4818888"/>
            <a:ext cx="3749039" cy="7498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55264" y="5001768"/>
            <a:ext cx="32918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Cornelis · Lightmatter · Xsight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965192"/>
            <a:ext cx="4069080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Scale-out fabrics, photonics, and programmable Ethernet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CRN; company product pages.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BUSINESS MODEL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Four commercialization models translate architecture into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 silicon is only one layer of the offer; control of software, systems, and distribution shapes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CHIPS +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Fractile · Etched · d-Matrix · MatX
Capture value through accelerator cards, racks, and software optimized for a narrow workload.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IP +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Tenstorrent
License CPU and AI cores while also selling complete developer and infrastructure systems.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COMPONENT + DESIGN-IN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Lightmatter · Xsight · Cornelis
Win sockets inside packages, switches, and fabrics through long design and qualification cycles.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PARTNER-LED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Axelera AI · ecosystem-capable peers
Use OEMs, integrators, software vendors, and solution partners to reduce adoption friction.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Business-model synthesis from company product and partner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IDEAL CUSTOMER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addressable buyer is defined by workload pain—not company size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Each ICP has a different proof threshold, buying center, and adoption clock.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HYPERSCALERS + FRONTIER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d-Matrix · Etched · MatX · Lightmatter · Xsight
Inference economics, bandwidth density, custom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HPC +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NextSilicon · Cornelis · Tenstorrent
Irregular workloads, predictable fabrics, energy efficiency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SOVEREIGN + ENTERPRISE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Tenstorrent · d-Matrix · Axelera
Control, programmability, deployment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EDGE OEMs + SOLUTION BUILDERS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Axelera AI · selected Tenstorrent systems
Low power, compact form factor, fast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ICP synthesis from company-stated target workloads and deployment models.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GO-TO-MARKET 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Semiconductor GTM progresses from design influence to repeatable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Revenue arrives after technical validation, software integration, and supply assurance—not after a strong benchmark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01  LIGHTHOUSE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Co-develop on a painful workload with a technically credible buyer.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02  DESIGN-IN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Secure software, board, package, network, and supply-chain integration.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03  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Publish repeatable architecture, benchmark method, and operating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04  REPLICATE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Scale through OEM, cloud, integrator, and software ecosystem partners.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GTM synthesis from company availability, partner, and deployment evidence.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PARTNER 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Partners compound value from workload proof through lifecycle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Each stage reduces a distinct adoption risk for the startup and the buyer.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Benchmark a named workload with transparent baselines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2724912"/>
            <a:ext cx="3474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7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Integrate silicon, systems, software, networking, and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2724912"/>
            <a:ext cx="34747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9B82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2084831"/>
            <a:ext cx="3246120" cy="2084831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2331720"/>
            <a:ext cx="27614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REPLICATE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834640"/>
            <a:ext cx="265176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Deploy reference architectures and operate them repeatedly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590288"/>
            <a:ext cx="10881360" cy="84124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800600"/>
            <a:ext cx="10332720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Calibri"/>
              </a:rPr>
              <a:t>The highest-leverage partner is the one that converts technical advantage into a repeatable production outcome.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Tenstorrent; d-Matrix; Cornelis; Lightmatter; Xsight Labs.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9 / 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COHORT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ten startups span four wedges and uneven commercialization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 overview is a navigation aid—not a risk-adjusted ranking.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WEDGE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PUBLIC STAGE SIGNAL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LIKELY ENTRY MOTION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Edge deployment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Shipping platform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Partner-led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Open compute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Products + IP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Direct + licensing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Adaptive dataflow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Product-volume claim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HPC design-in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Frontier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Lighthouse co-development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Transformer ASIC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Hyperscale design-in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In-memory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 production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System validation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LLM accelerator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Pre-tape-out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Frontier-lab co-design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Cluster fabric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Commercial portfolio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HPC integration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Photonic I/O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Reference platform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Packaging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Xsight Labs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Ethernet silicon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Customer sampling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NOS/OEM design-in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CRN; official company product and financing announcements.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44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SECTION 01 ·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72768"/>
            <a:ext cx="987552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Seven companies are redesigning where and how AI computation happens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80944"/>
            <a:ext cx="1600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E0F7F1"/>
                </a:solidFill>
                <a:latin typeface="Calibri"/>
              </a:rPr>
              <a:t>From efficient edge inference to transformer-only and memory-centric accelerators.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A9B4C0"/>
                </a:solidFill>
                <a:latin typeface="Calibri"/>
              </a:rPr>
              <a:t>CRN cohort taxonomy.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11 / 44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AXELERA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73252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Axelera turns edge acceleration into a deployment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Efficient AI hardware is paired with software, systems, and a partner-led route to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EDGE + ECOSYSTEM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xelera-ai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AXELERA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Purpose-built inference for computer vision and generative AI from edge systems toward data centers.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More than $250M raised in 2026; Metis platform shipping and broader manufacturing scale planned.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Partner Accelerator Network links software vendors, model makers, integrators, and solution providers.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Must translate funding and partner breadth into repeatable deployments and supply scale.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Axelera AI, Feb. 24,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TENSTORRENT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73252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Tenstorrent attacks lock-in with a programmable system and licensable 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Its portfolio spans AI processors, Galaxy systems, Tensix cores, and high-performance RISC-V.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OPEN COMPUTE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enstorrent-tt-ascalon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TENSTORRENT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Open, programmable AI compute plus RISC-V CPU IP rather than a closed accelerator-only product.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TT-Ascalon S launched in June 2026; CRN reports more than $1B raised and global operations.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Sell systems, license CPU/AI cores, or deploy beside GPUs in sovereign and enterprise infrastructure.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Software maturity and ecosystem adoption must keep pace with a broad hardware portfolio.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Tenstorrent, Jun. 30, 2026; CRN.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NEXTSILICON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73252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NextSilicon makes the accelerator adapt to code at runtime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Maverick-2 targets irregular HPC and AI workloads without forcing application rewrites.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ADAPTIVE DATAFLOW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extsilicon-maverick-2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NEXTSILICON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A software-learning Intelligent Compute Architecture dynamically configures dataflow hardware.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$303M reported funding; product-volume availability and partner deployments announced.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Algorithmically complex HPC, AI, and vector workloads using existing C++, Python, or Fortran code.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Bold performance-per-watt claims need broad independent workload validation.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NextSilicon, Oct. 22, 2025. Performance figures are vendor claims.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44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FRACTILE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73252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Fractile is designing the full stack around exploding inference token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 UK startup argues that reasoning workloads require a new cost-versus-latency curve.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FRONTIER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ractile-thumbnail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FRACTILE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Co-design from AI research and compiler behavior through microarchitecture and foundry process.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$220M financing led by Accel, Factorial Funds, and Founders Fund.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High-token reasoning and frontier-model inference where latency and cost compound quickly.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Pre-scale execution: tape-out, software readiness, manufacturing, and customer validation remain ahead.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Fractile,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44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ETCHED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73252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Etched trades generality for a transformer-only performance ceiling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Sohu hardwires the dominant model architecture into chips, racks, and software.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TRANSFORMER ASIC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tched-sohu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ETCHED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A transformer ASIC designed for throughput and interactivity rather than broad model coverage.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Company progress page reports a $300M financing milestone at a $10.3B valuation.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Large-scale inference systems where transformer workloads dominate utilization.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Architectural concentration creates upside if transformers persist—and exposure if model structures shift.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Etched product and progress pages, accessed Jul. 29,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D-MATRIX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73252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d-Matrix moves inference compute closer to memory—and into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Corsair integrates accelerators, networking, and software for latency-sensitive data-center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IN-MEMORY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-matrix-corsair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D-MATRIX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Digital in-memory compute reduces data movement for high-throughput, low-latency inference.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Corsair in full production; $450M total funding and a $2B valuation reported by the company.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Hyperscalers, neoclouds, and frontier labs; can pair with GPUs for heterogeneous inference.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Volume ramp, model coverage, and repeatable customer economics must prove beyond early priority accounts.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d-Matrix, Nov. 12, 2025 and Jun. 9,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MATX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73252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MatX designs the chip around LLM throughput and latency from first principles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MatX One combines SRAM-first latency with HBM support for long contexts.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LLM-SPECIFIC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tx-cover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MATX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An LLM-specific architecture balancing high throughput, low latency, and long-context memory.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$500M Series B led by Jane Street and Situational Awareness LP.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Large-model training and inference where a narrow workload justifies custom silicon.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Tape-out and manufacturing scale are still ahead; software and real-system benchmarks must follow.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MatX, Feb. 24, 2026. Performance statements are vendor claims.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COMPUTE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compute challengers differentiate most clearly by breadth versus specialization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 broader the workload scope, the heavier the software and ecosystem burden.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WORKLOAD SCOPE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DESIGN PHILOSOPHY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2026 STAGE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Edge + inference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Platform + partners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Shipping / scaling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Broad AI + CPU IP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Programmable + licensable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Commercial portfolio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HPC + irregular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Runtime-adaptive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 volumes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Frontier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Full-stack specialist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Transformers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Fixed-function ASIC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Early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Data-center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In-memory + full stack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 production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LLM workloads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Purpose-built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Pre-tape-out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Company announcements; maturity is an analytical assessment.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44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SECTION 02 ·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72768"/>
            <a:ext cx="9875520" cy="11704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Three companies treat data movement as the next AI scaling frontier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80944"/>
            <a:ext cx="1600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E0F7F1"/>
                </a:solidFill>
                <a:latin typeface="Calibri"/>
              </a:rPr>
              <a:t>Network fabrics, photonic links, and programmable Ethernet can unlock value without replacing compute.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A9B4C0"/>
                </a:solidFill>
                <a:latin typeface="Calibri"/>
              </a:rPr>
              <a:t>Cornelis; Lightmatter; Xsight Labs.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20 / 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CORNELIS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73252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Cornelis reopens a scale-out fabric alternative for AI and HPC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CN5000 extends Omni-Path into modern training, inference, and technical-computing clusters.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SCALE-OUT FABRIC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rnelis-cn5000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CORNELIS NETWORKS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Purpose-built scale-out networking focused on predictable throughput and congestion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Commercial CN5000 portfolio; $29M Series B disclosed to fund product expansion.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AI training, inference, and HPC clusters seeking an alternative fabric.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Must win ecosystem support and operational trust against entrenched Ethernet and InfiniBand choices.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Cornelis Networks product page and Series B announcement.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44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LIGHTMATTER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73252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Lightmatter uses photonics to break the electrical I/O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Passage integrates optical connectivity across large AI packages and rack-scale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PHOTONIC I/O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ghtmatter-hardware-proof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LIGHTMATTER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3D-stacked photonic interposers move data where electrical chip-edge I/O becomes limiting.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M1000 reference platform; $400M Series D and $850M total capital reported in 2024.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Hyperscaler and accelerator designs requiring high-bandwidth, energy-efficient scale-up links.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Packaging, manufacturing yield, standards, and partner integration determine time to volume.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Lightmatter product and funding announcements. Bandwidth is a vendor specification.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22 / 44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XSIGHT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73252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Xsight makes programmable Ethernet silicon an AI-factory control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X2 targets hyperscale, edge, and private data centers with 100G SerDes and 800G fabric links.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19488" y="256032"/>
            <a:ext cx="1993392" cy="420624"/>
          </a:xfrm>
          <a:prstGeom prst="roundRect">
            <a:avLst>
              <a:gd name="adj" fmla="val 1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0928" y="338328"/>
            <a:ext cx="1810512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PROGRAMMABLE ETHERNET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3675887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xsight-site-icon-prof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529583" cy="316382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084063"/>
            <a:ext cx="3529583" cy="36576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193791"/>
            <a:ext cx="3310127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OFFICIAL SITE VISUAL  ·  XSIGHT LABS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62272" y="1847088"/>
            <a:ext cx="64008" cy="16642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WEDGE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Programmable switching silicon with a documented hardware/software interface.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1847088"/>
            <a:ext cx="64008" cy="166420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002536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40864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Second-generation X2 family sampling to customers; end-to-end connectivity roadmap.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2272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62272" y="3749039"/>
            <a:ext cx="64008" cy="166420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ICP +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Hyperscale IaaS, AI fabrics, edge networks, and private data centers.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3749039"/>
            <a:ext cx="3346704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28431" y="3749039"/>
            <a:ext cx="64008" cy="166420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904487"/>
            <a:ext cx="296265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42816"/>
            <a:ext cx="2962656" cy="10241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20" b="0" i="0">
                <a:solidFill>
                  <a:srgbClr val="1B2B3C"/>
                </a:solidFill>
                <a:latin typeface="Calibri"/>
              </a:rPr>
              <a:t>Customer concentration, software tooling, and fast-moving Ethernet standards raise execution demands.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Xsight Labs X2 announcement.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INTERCONNECT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three connectivity plays solve different layers of the same scaling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They are complements in some architectures and substitutes in others.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PRIMARY LAYER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CORE PROMISE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ADOPTION DEPENDENCY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Cluster fabric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Predictable lossless scale-out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Fabric ecosystem + operations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Package / scale-up I/O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Bandwidth density + energy efficiency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Packaging + design partners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Xsight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Switch 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Programmability + lower-power Ethernet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NOS/tooling + hyperscaler adoption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Company product announcements.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24 / 44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SIX PARTNER MOTIONS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Six entry criteria determine which partner motion is credible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A motion is eligible only when the relevant technical and commercial gates have public or validated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9339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86537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DISTRIBUTE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17627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Packaged offer, supply visibility, support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71616" y="199339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2864" y="186537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INTEGRATE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864" y="217627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APIs, software maturity, reference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0896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27355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14553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CO-SELL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45643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Named ICP, repeatable proof, commercial ownership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10896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327355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314553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DESIGN-IN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345643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Roadmap alignment, qualification, capacity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3891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5537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42569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473659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Transparent benchmark method and workload access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1616" y="43891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1616" y="45537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442569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OPERATE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2864" y="473659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Telemetry, lifecycle support, SLA accountability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Research-team diligence framework.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44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DISTRIBUTOR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Distributor readiness is strongest where offers are packageable and supportable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Qualitative labels are provisional public-evidence judgments; validate locally before partner selection.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CANDIDATE FIT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PUBLIC SIGNAL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NEXT VALIDATION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Partner network + edge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channel economics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Systems and developer products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Clarify support ownership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Product-volume claim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Confirm SKU + supply path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 platform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Wait for product availability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System ambition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Wait for production offer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Full-production platform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repeatable packaging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Pre-tape-out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Track launch milestones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Commercial fabric portfolio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geographic coverage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Design-in component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Distributor role may be limited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Xsight Labs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Sampling switch silicon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Confirm OEM/NOS support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Directional research judgment from public product, availability, and partner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44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SYSTEMS-INTEGRATOR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SI readiness concentrates where integration complexity meets deployable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Systems integrators create value when reference architecture and operating accountability are both real.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CANDIDATE FIT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PUBLIC SIGNAL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NEXT VALIDATION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Edge solution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Build vertical reference offer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Broad programmable stack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software operations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HPC application compatibility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Prove porting effort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Full-stack thesis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Secure lighthouse workload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Rack-scale specialization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workload durability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Production inference platform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TCO + SLA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Pre-scale architecture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Wait for accessible 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Cluster fabric integration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Package migration services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Packaging-level insertion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Clarify SI control point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Xsight Labs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Programmable Ethernet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NOS/tooling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Directional research judgment from public product and deployment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27 / 44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ECOSYSTEM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Ecosystem-orchestrator readiness follows leverage across multiple complements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The strongest orchestration candidates can align OEMs, software, cloud, packaging, or network partners.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CANDIDATE FIT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PUBLIC SIGNAL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NEXT VALIDATION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Explicit partner network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Measure partner-sourced pipeline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IP + systems + open stack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governance and overlap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NextSilicon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Code compatibility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Expand software proof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Full-stack co-design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Map foundry + system partners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Etched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Transformer-specific stack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model ecosystem risk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Heterogeneous inference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Map cloud/OEM replication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LLM-specific platform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launch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Interoperable fabric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Test ecosystem breadth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Packaging + foundry dependency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Coordinate design partners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823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Xsight Labs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Programmable switch interface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Align NOS + OEM roadmap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Directional research judgment from public platform and partner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28 / 44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PORTFOLIO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Product maturity and partner readiness are related—but not interchangeable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A mature product can still lack a repeatable partner motion; an early product can merit targeted validation.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874519"/>
            <a:ext cx="9784080" cy="370332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89320" y="1874519"/>
            <a:ext cx="22860" cy="370332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3726179"/>
            <a:ext cx="9784080" cy="2286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874519"/>
            <a:ext cx="4892040" cy="1851660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562356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MORE COMMERCIAL EVIDENCE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" y="3072384"/>
            <a:ext cx="841248" cy="6217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5B6B7C"/>
                </a:solidFill>
                <a:latin typeface="Calibri"/>
              </a:rPr>
              <a:t>MORE SPECIALIZED 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5044" y="3690518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4420" y="3946550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Axelera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2089" y="4283049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6017" y="4557369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Tenstorrent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3681" y="3431285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3057" y="3687318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NextSilicon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27094" y="257952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3982" y="2853842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Fractile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01184" y="1986991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243023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Etched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0497" y="2579522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89873" y="2442362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d-Matrix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5731" y="2135123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02459" y="1997963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MatX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23452" y="4171949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70340" y="4034789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Cornelis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62318" y="2283256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1694" y="2539288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Lightmatter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49363" y="3468319"/>
            <a:ext cx="219456" cy="219456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8739" y="3331159"/>
            <a:ext cx="1060704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Xsight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Research-team assessment from public product and funding evidence.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29 / 44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DISTRIBUTOR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Distributor economics require packageability, margin room, and bounded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A compelling chip is not channel-ready if every sale demands bespoke engineering.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93392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SYSTEM SALE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2656" y="1965960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High initial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965960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Inventory, support, and supply exposure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596896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743200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SILICON DESIGN-IN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271576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Sticky volume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715768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Long qualification and concentration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346704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93008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IP LICENSE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62656" y="3465576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Asset-light leverage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465576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Customer implementation and royalty timing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96512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242816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SOFTWARE +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62656" y="4215384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Recurring control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215384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Requires developer adoption and model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846320"/>
            <a:ext cx="2148840" cy="566928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992624"/>
            <a:ext cx="17830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PARTNER ECOSYSTEM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4965192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Distribution leverage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965192"/>
            <a:ext cx="498348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Enablement cost and channel conflict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Directional business-model assessment; no company financial forecasts implied.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30 / 44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SI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SI economics improve when reusable integration exceeds one-off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Prioritize offers that can become repeatable architectures, migration services, and managed operations.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ICP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REQUIRED PROOF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COMMERCIAL OFFER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PARTNER ROLE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HYPERSCALER / LAB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Rack-scale throughput, latency, power, reliability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Co-design + reserved capacity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Packaging, foundry,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HPC / RESEARCH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Real application benchmarks and fabric behavior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Reference cluster / early access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HPC integrator + software porting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ENTERPRISE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TCO on named models and SLAs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Integrated appliance / managed capacity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Cloud, OEM, SI, MLOps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EDGE OEM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Power, thermals, form factor, time-to-production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Module + SDK + certification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Distributor, ISV, embedded OEM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Engagement recommendations derived from company target markets.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31 / 44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ECOSYSTEM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Ecosystem leverage comes from coordinating scarce complements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Orchestrators should focus where no single startup can complete the adoption path alone.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COMPUTE +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Align models, compilers, runtimes, orchestration, and developer tooling.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SYSTEM + SUPPLY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Coordinate boards, memory, packaging, manufacturing, and service readiness.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NETWORK +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Integrate fabrics, NOS, telemetry, security, and lifecycle management.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CUSTOMER +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Secure lighthouse workloads and publish repeatable evidence packages.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Strategic synthesis from the ten-company public-evidence 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32 / 44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PORTFOLIO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portfolio should separate action from validation and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Buckets represent the next diligence posture, not a company-quality ranking.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POSTURE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CANDIDATES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VALIDATE BEFORE CHANGE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ACT NOW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Axelera AI · d-Matrix · Cornelis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Deployable offer + visible ecosystem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Partner economics and repeatability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VALIDATE NEXT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Tenstorrent · NextSilicon · Lightmatter · Xsight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Strong wedge; motion-specific gaps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Software, design-in, and operating proof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10401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Fractile · Etched · MatX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High potential; earlier commercialization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Tape-out, availability, references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Candidate public-evidence posture; requires Phase 0 calibration.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33 / 44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90-DAY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A 90-day plan should buy evidence—not commit the portfolio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Run bounded validation actions with explicit outputs and stop conditions.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0–30 DAYS ·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Confirm offer, stage, ICP, partner boundary, and evidence owner for six shortlisted motions.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31–60 DAYS ·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Run workload, integration, support, and commercial discovery with named hypotheses.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61–90 DAYS · 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Advance, redesign, or stop each motion based on proof-package completion.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One evidence ledger, one archetype decision, and one next-action brief per shortlisted company.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Recommended validation sequence; no named-partner commitment implied.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34 / 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12-MONTH WATCHLIST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Quarterly activation triggers should change posture only when evidence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Monitor stage transitions rather than treating funding announcements as progress by themselves.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2331720" cy="713232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39112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PRE-SILICON / PRE-SCALE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2112" y="195681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Fractile · MatX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956816"/>
            <a:ext cx="4681728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5B6B7C"/>
                </a:solidFill>
                <a:latin typeface="Calibri"/>
              </a:rPr>
              <a:t>Tape-out, first silicon, compiler readiness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79776"/>
            <a:ext cx="2331720" cy="713232"/>
          </a:xfrm>
          <a:prstGeom prst="roundRect">
            <a:avLst>
              <a:gd name="adj" fmla="val 5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971800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Calibri"/>
              </a:rPr>
              <a:t>EARLY SYSTEMS / SAMPLES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88950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Etched · Lightmatter · Xsight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889504"/>
            <a:ext cx="4681728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5B6B7C"/>
                </a:solidFill>
                <a:latin typeface="Calibri"/>
              </a:rPr>
              <a:t>Customer qualification, production benchmarks, design wins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12464"/>
            <a:ext cx="2331720" cy="713232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904488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PRODUCT / VOLUME RAMP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82112" y="382219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Axelera · NextSilicon · d-Matrix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822192"/>
            <a:ext cx="4681728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5B6B7C"/>
                </a:solidFill>
                <a:latin typeface="Calibri"/>
              </a:rPr>
              <a:t>Shipment growth, repeat deployments, supply execution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645152"/>
            <a:ext cx="2331720" cy="713232"/>
          </a:xfrm>
          <a:prstGeom prst="roundRect">
            <a:avLst>
              <a:gd name="adj" fmla="val 5000"/>
            </a:avLst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837176"/>
            <a:ext cx="19659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PORTFOLIO / ECOSYSTEM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2112" y="47548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Tenstorrent · Cornelis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4681728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80" b="0" i="0">
                <a:solidFill>
                  <a:srgbClr val="5B6B7C"/>
                </a:solidFill>
                <a:latin typeface="Calibri"/>
              </a:rPr>
              <a:t>Partner replication, software depth, installed-base 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Forward watchpoints inferred from publicly stated product stages.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35 / 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CONFIDENCE &amp;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Confidence—not false precision—should govern recommendation strength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Withdrawn evidence or failed hard gates can reverse a candidate posture even when the technical wedge remains compelling.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COVERAGE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Public evidence is uneven across supply, customers, support, economics, and partner-sourced traction.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INDEPENDENCE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Many performance and availability claims originate with vendors and need third-party or customer corroboration.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SENSITIVITY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Distributor, SI, and ecosystem lenses can produce different next actions for the same company.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REVERSAL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A failed supply, production, security, or support gate overrides an otherwise attractive motion.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Candidate model logic from the CEO-reviewed implementation plan.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36 / 44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PROOF PACKAGES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Each partner motion needs a different proof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Proof should answer the buyer’s adoption decision—not merely showcase a peak benchmark.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ICP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REQUIRED PROOF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COMMERCIAL OFFER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PARTNER ROLE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HYPERSCALER / LAB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Rack-scale throughput, latency, power, reliability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Co-design + reserved capacity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Packaging, foundry,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HPC / RESEARCH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Real application benchmarks and fabric behavior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Reference cluster / early access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HPC integrator + software porting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ENTERPRISE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TCO on named models and SLAs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Integrated appliance / managed capacity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Cloud, OEM, SI, MLOps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EDGE OEM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Power, thermals, form factor, time-to-production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Module + SDK + certification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Distributor, ISV, embedded OEM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Engagement recommendations derived from company target markets.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37 / 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WHAT TO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Kill criteria protect the portfolio from impressive but non-deployable silicon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Stop or redesign a motion when critical evidence cannot be produced within the validation window.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9384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892807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74519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Compiler maturity, frameworks, model coverage, and developer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61872" y="2359151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79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660903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SILICON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42615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Tape-out, yield, packaging, memory availability, and manufacturing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127247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65575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428999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410711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Independent benchmarks, production workloads, and total-cost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1872" y="3895344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33671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197095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178807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Design-win conversion, concentration, support burden, and renewal economics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61872" y="4663440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01767"/>
            <a:ext cx="4572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B800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965191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DURABILITY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946903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Whether the targeted workload or interconnect standard remains strategically important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61872" y="5431536"/>
            <a:ext cx="9802368" cy="16459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Research-team risk synthesis from public company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38 / 44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789920" cy="8595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Use the deck to select validation priorities—not to declare winners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241280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The output is decision support for the next evidence-buying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14600"/>
            <a:ext cx="3310128" cy="135331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724912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PUBLIC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36392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Supports candidate archetype-readiness and focused questions.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7" y="2514600"/>
            <a:ext cx="3310128" cy="135331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FFB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2724912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PHASE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1" y="3136392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Calibrates the rubric with independent raters and historical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2514600"/>
            <a:ext cx="3310128" cy="1353312"/>
          </a:xfrm>
          <a:prstGeom prst="roundRect">
            <a:avLst>
              <a:gd name="adj" fmla="val 6000"/>
            </a:avLst>
          </a:prstGeom>
          <a:solidFill>
            <a:srgbClr val="12243A"/>
          </a:solidFill>
          <a:ln w="12700">
            <a:solidFill>
              <a:srgbClr val="E05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2724912"/>
            <a:ext cx="285292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LOCAL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3136392"/>
            <a:ext cx="281635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Required before named-partner fit or organization-specific right-to-win.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370832"/>
            <a:ext cx="10881360" cy="859536"/>
          </a:xfrm>
          <a:prstGeom prst="roundRect">
            <a:avLst>
              <a:gd name="adj" fmla="val 5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608576"/>
            <a:ext cx="102870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600" b="1" i="0">
                <a:solidFill>
                  <a:srgbClr val="0A1628"/>
                </a:solidFill>
                <a:latin typeface="Calibri"/>
              </a:rPr>
              <a:t>The decision is which uncertainty to reduce next—and which partner motion deserves that effort.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A9B4C0"/>
                </a:solidFill>
                <a:latin typeface="Calibri"/>
              </a:rPr>
              <a:t>Conclusion based on the CRN cohort and primary-source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39 / 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METHODOLOGY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method is a closed-cohort public-evidence screen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CRN selected the ten companies; the analysis does not claim exhaustive market coverage.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475488" cy="475488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874519"/>
            <a:ext cx="98298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Cohort: the ten companies named by CRN on July 15, 2026.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42032"/>
            <a:ext cx="475488" cy="475488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587752"/>
            <a:ext cx="98298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Evidence: official product, availability, financing, and partner announcements retrieved through Level 2 livecrawl.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55264"/>
            <a:ext cx="475488" cy="475488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64992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00984"/>
            <a:ext cx="98298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Judgments: qualitative partner-fit labels are provisional and retain explicit evidence gaps.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68496"/>
            <a:ext cx="475488" cy="475488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78224"/>
            <a:ext cx="475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4014215"/>
            <a:ext cx="982980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0" i="0">
                <a:solidFill>
                  <a:srgbClr val="1B2B3C"/>
                </a:solidFill>
                <a:latin typeface="Calibri"/>
              </a:rPr>
              <a:t>Boundary: no investment recommendation, named-partner selection, or organization-specific right-to-win.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46320"/>
            <a:ext cx="10607040" cy="64008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038344"/>
            <a:ext cx="1014984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5B6B7C"/>
                </a:solidFill>
                <a:latin typeface="Calibri"/>
              </a:rPr>
              <a:t>Primary domains: crn.com · gartner.com · axelera.ai · tenstorrent.com · nextsilicon.com · fractile.ai · etched.com · d-matrix.ai · cornelis.com · lightmatter.co · matx.com · xsightlabs.com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CRN; Gartner; official company announcements. Accessed Jul. 29,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40 / 44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SOURCES &amp; FRESHNESS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Fifteen current sources anchor cohort, market, product, and financing claims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Official company sources are used for company-specific facts; vendor claims remain labeled as such.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EVIDENCE GROUP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PRIMARY SOURCE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FRESHNESS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CRN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Jul. 15, 2026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Ten-company selection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Gartner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Apr. 8, 2026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2026 semiconductor revenue context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COMPUTE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7 official company sources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2025–2026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Products, funding, availability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CONNECTIVITY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3 official company sources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2024–2026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Fabrics, photonics, switching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B3C"/>
                          </a:solidFill>
                          <a:latin typeface="Calibri"/>
                        </a:rPr>
                        <a:t>VISUALS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10 official company sites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Accessed Jul. 29, 2026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B2B3C"/>
                          </a:solidFill>
                          <a:latin typeface="Calibri"/>
                        </a:rPr>
                        <a:t>Product and brand assets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Full URLs and access context are embedded in speaker notes.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41 / 44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SCORING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rubric weights readiness evidence and applies hard gates before posture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Weights are candidate defaults; Phase 0 calibration precedes organization-specific use.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9339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186537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PRODUCT 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217627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Availability, qualification, roadmap credibility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2880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71616" y="199339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2864" y="186537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SOFTWARE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864" y="217627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Frameworks, tools, deployment,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10896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27355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14553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CUSTOMER 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45643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Named proof, conversion, expansion, references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10896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327355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314553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ECOSYSTEM 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345643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OEM, ISV, cloud, foundry, packaging leverage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3891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5537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42569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ECONOMICS 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473659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TCO, margin room, support burden, recurring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71616" y="4389120"/>
            <a:ext cx="640080" cy="640080"/>
          </a:xfrm>
          <a:prstGeom prst="roundRect">
            <a:avLst>
              <a:gd name="adj" fmla="val 4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71616" y="4553712"/>
            <a:ext cx="640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4425696"/>
            <a:ext cx="1874519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SUPPLY 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2864" y="4736592"/>
            <a:ext cx="4224528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Yield, capacity, packaging, memory, delivery assurance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Candidate default weights from the CEO-reviewed plan; hard gates override weighted posture.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42 / 44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EVIDENCE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evidence ledger makes every posture traceable to a gap and next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This snapshot shows the operating grain; the full ledger should be maintained outside PowerPoint.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6423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2205"/>
                <a:gridCol w="2876702"/>
                <a:gridCol w="3097987"/>
                <a:gridCol w="2987344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COMPANY / GROUP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STRONGEST ANCHOR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DECISIVE GAP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NEXT QUESTION</a:t>
                      </a:r>
                    </a:p>
                  </a:txBody>
                  <a:tcPr marL="73152" marR="73152" marT="36576" marB="36576" anchor="ctr">
                    <a:solidFill>
                      <a:srgbClr val="0A162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Axelera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Partner ecosystem + funding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Partner-sourced pipeline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distributor/SI economics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d-Matrix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Production platform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Independent TCO + references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Validate repeatable SI offer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Cornelis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Commercial fabric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Channel coverage + migration proof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Package integration motion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Tenstorrent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Broad products + IP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Support ownership + adoption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Choose licensing vs systems motion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Lightmatter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Reference photonic platform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Qualification + design wins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Map orchestrator role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2B3C"/>
                          </a:solidFill>
                          <a:latin typeface="Calibri"/>
                        </a:rPr>
                        <a:t>Fractile / Etched / MatX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Capital + architecture thesis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Availability + customer proof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B3C"/>
                          </a:solidFill>
                          <a:latin typeface="Calibri"/>
                        </a:rPr>
                        <a:t>Monitor milestone triggers</a:t>
                      </a:r>
                    </a:p>
                  </a:txBody>
                  <a:tcPr marL="73152" marR="73152" marT="36576" marB="36576" anchor="ctr">
                    <a:solidFill>
                      <a:srgbClr val="F4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Illustrative public-evidence snapshot; not the authoritative scorecard.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43 / 44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0350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INTERVIEW &amp;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0A1628"/>
                </a:solidFill>
                <a:latin typeface="Calibri"/>
              </a:rPr>
              <a:t>The interview protocol tests evidence, repeatability, and partner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43000" cy="4114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60" b="0" i="0">
                <a:solidFill>
                  <a:srgbClr val="5B6B7C"/>
                </a:solidFill>
                <a:latin typeface="Calibri"/>
              </a:rPr>
              <a:t>Use two independent raters per lens before the candidate model is treated as calibrated.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64008" cy="170078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PRODUCT +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What is shipping, supported, observable, and repeatable on a named workload today?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847088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71616" y="1847088"/>
            <a:ext cx="64008" cy="170078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002536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CUSTOMER +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340864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Which paid deployments converted, expanded, and met TCO or SLA expectations?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22191"/>
            <a:ext cx="64008" cy="1700784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PARTNER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What must a distributor, SI, or orchestrator own—and what remains with the startup?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3822191"/>
            <a:ext cx="5212080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71616" y="3822191"/>
            <a:ext cx="64008" cy="170078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3" y="3977639"/>
            <a:ext cx="4828032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ADJUDICATION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3" y="4315968"/>
            <a:ext cx="4828032" cy="10607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320" b="0" i="0">
                <a:solidFill>
                  <a:srgbClr val="1B2B3C"/>
                </a:solidFill>
                <a:latin typeface="Calibri"/>
              </a:rPr>
              <a:t>Where do raters disagree, what evidence would resolve it, and which hard gate controls posture?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53912"/>
            <a:ext cx="101955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1">
                <a:solidFill>
                  <a:srgbClr val="5B6B7C"/>
                </a:solidFill>
                <a:latin typeface="Calibri"/>
              </a:rPr>
              <a:t>Phase 0 protocol from the CEO-reviewed implementation plan.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Semiconductor Startup Landscape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44 / 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