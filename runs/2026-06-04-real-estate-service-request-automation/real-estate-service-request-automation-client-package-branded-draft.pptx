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8495" y="0"/>
            <a:ext cx="2743200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48495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CLIENT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694944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Service Request
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1460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20" b="0" i="0">
                <a:solidFill>
                  <a:srgbClr val="FFFFFF"/>
                </a:solidFill>
                <a:latin typeface="Calibri"/>
              </a:rPr>
              <a:t>A branded strategy and presales package built from the real-estate use-case family and validated with current AppFolio, Buildium, Yardi, and OpenHands signals.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DETAILED USE CASE · EXECUTIVE SUMMARY · ARCHITECTURE · SCORECARD · ROADMAP · ACCOUNT 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Service-ops AI works best when it improves response speed and lowers property-team friction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Executive summary built from the source PDF, AppFolio, Buildium, Yardi,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Property teams face constant service volume across channels and after-hours workflows.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Incumbents now frame maintenance coordination as automation-ready.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Resident satisfaction and staff stress are both shaped by response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best wedge is intake, triage, and routing plus resident updates.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The workflow strengthens when vendors, staff, and residents stay synchronized.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OpenHands fits as the internal orchestration layer for reusable service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00200"/>
            <a:ext cx="3584448" cy="3154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2186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218688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Start with one maintenance queue or after-hours workflow.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Measure response time, queue aging, and update consistency.</a:t>
            </a:r>
          </a:p>
          <a:p>
            <a:pPr algn="l">
              <a:lnSpc>
                <a:spcPct val="105000"/>
              </a:lnSpc>
              <a:spcBef>
                <a:spcPts val="700"/>
              </a:spcBef>
            </a:pPr>
            <a:r>
              <a:rPr sz="1200" b="0" i="0">
                <a:solidFill>
                  <a:srgbClr val="E0F7F1"/>
                </a:solidFill>
                <a:latin typeface="Calibri"/>
              </a:rPr>
              <a:t>•  Expand into vendor coordination and broader service operations after trust is earned.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7492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93792"/>
            <a:ext cx="10637215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THE ASK: approve a pilot for one service queue to improve response time and maintenance workflow visibility.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2440" y="0"/>
            <a:ext cx="5486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7178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USE CASE 04  · 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7178040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Service Request &amp; Maintenance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Requests get delayed across calls, portals, and email.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Dispatch and resident updates drift across disconnected flows.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Teams need speed and visibility without more staff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6804" y="1143000"/>
            <a:ext cx="3396996" cy="1499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1396" y="1280160"/>
            <a:ext cx="306781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27048"/>
            <a:ext cx="3104388" cy="960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Triage requests and route the right next action.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Automate vendor coordination and resident updates.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" b="0" i="0">
                <a:solidFill>
                  <a:srgbClr val="1B2B3C"/>
                </a:solidFill>
                <a:latin typeface="Calibri"/>
              </a:rPr>
              <a:t>•  Keep managers in control of escalations and exceptions.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After-hours service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35224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4952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84%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Users citing time savings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1808" y="2724912"/>
            <a:ext cx="2221992" cy="786384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2798064"/>
            <a:ext cx="200253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A1628"/>
                </a:solidFill>
                <a:latin typeface="Calibri"/>
              </a:rPr>
              <a:t>3x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3108960"/>
            <a:ext cx="200253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A1628"/>
                </a:solidFill>
                <a:latin typeface="Calibri"/>
              </a:rPr>
              <a:t>Higher recommend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103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HOW IT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Ingest requests from channels into one workflow layer.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Classify urgency, create tasks, and route vendors or staff.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51376"/>
            <a:ext cx="21945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3913632"/>
            <a:ext cx="214884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4688" y="3986784"/>
            <a:ext cx="31089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3950208"/>
            <a:ext cx="1581912" cy="4937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810" b="0" i="0">
                <a:solidFill>
                  <a:srgbClr val="1B2B3C"/>
                </a:solidFill>
                <a:latin typeface="Calibri"/>
              </a:rPr>
              <a:t>Track queue health, response time, and service quality.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800600"/>
            <a:ext cx="6995160" cy="8686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91032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SOLUTION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Service inbox + mobile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97430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ORCHESTRATION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97430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OpenHands service workflow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81628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1628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Property, resident, vendor, work-order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5826" y="5111496"/>
            <a:ext cx="151104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80" b="1" i="0">
                <a:solidFill>
                  <a:srgbClr val="00C9A7"/>
                </a:solidFill>
                <a:latin typeface="Calibri"/>
              </a:rPr>
              <a:t>ACTUATION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5826" y="5276088"/>
            <a:ext cx="151104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760" b="0" i="0">
                <a:solidFill>
                  <a:srgbClr val="FFFFFF"/>
                </a:solidFill>
                <a:latin typeface="Calibri"/>
              </a:rPr>
              <a:t>Tasks, dispatch, updates, escalations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80" b="1" i="0">
                <a:solidFill>
                  <a:srgbClr val="FFFFFF"/>
                </a:solidFill>
                <a:latin typeface="Calibri"/>
              </a:rPr>
              <a:t>SYSTEMS: Maintenance · Resident App · Vendor Net · Email/SMS · Accounting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7660" y="5897880"/>
            <a:ext cx="3406140" cy="329184"/>
          </a:xfrm>
          <a:prstGeom prst="roundRect">
            <a:avLst>
              <a:gd name="adj" fmla="val 4000"/>
            </a:avLst>
          </a:prstGeom>
          <a:solidFill>
            <a:srgbClr val="008F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4820" y="5897880"/>
            <a:ext cx="31318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690" b="1" i="0">
                <a:solidFill>
                  <a:srgbClr val="FFFFFF"/>
                </a:solidFill>
                <a:latin typeface="Calibri"/>
              </a:rPr>
              <a:t>USERS: prop mgr · maint coord · vendor mgr · resident svc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11480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ORGANIZATIONS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658368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DELIVERING / BUYING THIS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987552"/>
            <a:ext cx="914400" cy="3657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11704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AppFolio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14081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Proof point for agentic maintenance workflows.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20848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Buildium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3225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Proof point for maintenance intake and 24/7 support.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29992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Yardi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32369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Resident and maintenance workflow context.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66760" y="3913632"/>
            <a:ext cx="364205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Mid-market operator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4151376"/>
            <a:ext cx="359633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Buyer needing faster service without added headcount.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category is real because maintenance automation is already entering property-management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proof slide with incumbent evidence, workflow value, and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Incumbent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AppFolio now explicitly positions agentic maintenance coordination.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Buildium supports maintenance request management and 24/7 contact-center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Yardi supports maintenance requests and resident-service workflows.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Business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The core value is faster response, fewer missed requests, and lower coordination burden.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Resident satisfaction and retention are influenced by maintenance quality.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•  Vendor and service visibility create a credible phase-two expansion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627632"/>
            <a:ext cx="3611880" cy="33375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83080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084831"/>
            <a:ext cx="3227832" cy="2514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The market is shifting from task management to agentic service workflows.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Teams still carry after-hours and multichannel coordination burden.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•  That creates room for implementation-led workflow packaging.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reference architecture is maintenance-native and OpenHands-orchestrated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stack slide grounded in AppFolio, Buildium, Yardi, and verified OpenHands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30352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49377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ORCHESTRATION AND INTEGRATION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4901184" cy="3063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OpenHands SDK agents orchestrate intake, triage, dispatch, and resident updates.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OpenHands skills hold service policies, urgency rules, and escalation logic.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CLI and headless execution support repeatable queue processing and follow-up runs.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Maintenance, resident, vendor, and messaging systems feed the workflow layer.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FFFFFF"/>
                </a:solidFill>
                <a:latin typeface="Calibri"/>
              </a:rPr>
              <a:t>•  The property-operations stack remains the system of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00200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4650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Systems of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Maintenance software, resident apps, vendor tools, communication channels, and accounting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538728"/>
            <a:ext cx="5486400" cy="1810512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6850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Deployment 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9959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9" b="0" i="0">
                <a:solidFill>
                  <a:srgbClr val="1B2B3C"/>
                </a:solidFill>
                <a:latin typeface="Calibri"/>
              </a:rPr>
              <a:t>OpenHands is the internal execution layer; property teams remain in control of service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The lane is attractive, but service-quality guardrails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score-and-risk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749039" cy="40233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33832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VERTICAL SCORECARD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91840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Intelligence Ratio: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Outsourcing Readiness: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TAM Accessibility: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Data Moat Potential: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Regulatory Friction: 3/5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Incumbent Vulnerability: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Mirage PMF Risk: 4/5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Composite: 26/35 — 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7040880" cy="40233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084831"/>
            <a:ext cx="6492240" cy="2606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Bad urgency routing creates resident dissatisfaction — keep sensitive escalations human-controlled.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Vendor responsiveness can still bottleneck outcomes — track and surface vendor performance.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Policy variance across properties can sprawl — encode explicit service rules.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E0F7F1"/>
                </a:solidFill>
                <a:latin typeface="Calibri"/>
              </a:rPr>
              <a:t>•  Teams may distrust opaque automation — keep the workflow and audit trail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A focused service-queue pilot makes the offer commercially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4358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5B6B7C"/>
                </a:solidFill>
                <a:latin typeface="Calibri"/>
              </a:rPr>
              <a:t>Structured execution and account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577840" cy="41605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90-DAY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512064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1-15: map request channels, urgency rules, vendor paths, and escalation controls.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16-35: configure OpenHands workflow logic, integrations, and service dashboards.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36-60: launch triage and routing for one queue or after-hours workflow.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90" b="0" i="0">
                <a:solidFill>
                  <a:srgbClr val="1B2B3C"/>
                </a:solidFill>
                <a:latin typeface="Calibri"/>
              </a:rPr>
              <a:t>•  Days 61-90: measure response speed, refine rules, and scope broader service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257800" cy="41605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8308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PROPERTY OPS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084831"/>
            <a:ext cx="4800600" cy="3108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Service queues are painful enough to justify a narrow pilot quickly.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The next value is coordinated workflow execution, not another resident-facing bot.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Pitch OpenHands as the internal layer for reusable intake and dispatch skills.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070" b="0" i="0">
                <a:solidFill>
                  <a:srgbClr val="E0F7F1"/>
                </a:solidFill>
                <a:latin typeface="Calibri"/>
              </a:rPr>
              <a:t>•  Recommended next step: choose one queue and one measurable response-time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Service-request and maintenance automation is a client-ready AI engineering offer when it improves response quality inside the current property-operations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08813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maintenance and resident-service systems as the systems of action.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Use OpenHands internally for orchestration, skills, and repeatable service workflows.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•  Start with one queue, one ops team, and one measurable response-time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349240"/>
            <a:ext cx="5623560" cy="658368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513832"/>
            <a:ext cx="10332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Suggested next step: approve a pilot for one service queue or after-hours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Real Estate Service Request Automation | Client Package | June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