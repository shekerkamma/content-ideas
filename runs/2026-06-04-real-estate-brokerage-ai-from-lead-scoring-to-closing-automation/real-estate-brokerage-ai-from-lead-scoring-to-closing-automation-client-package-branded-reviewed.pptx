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448495" y="0"/>
            <a:ext cx="2743200" cy="6858000"/>
          </a:xfrm>
          <a:prstGeom prst="rect">
            <a:avLst/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448495" y="0"/>
            <a:ext cx="54864" cy="6858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0C9A7"/>
                </a:solidFill>
                <a:latin typeface="Calibri"/>
              </a:rPr>
              <a:t>CLIENT PACKAGE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7132320" cy="11521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FFFFFF"/>
                </a:solidFill>
                <a:latin typeface="Calibri"/>
              </a:rPr>
              <a:t>Real Estate Brokerage AI
Lead Scoring to Closing Automation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514600"/>
            <a:ext cx="1463040" cy="5486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788920"/>
            <a:ext cx="7132320" cy="9144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0" i="0">
                <a:solidFill>
                  <a:srgbClr val="FFFFFF"/>
                </a:solidFill>
                <a:latin typeface="Calibri"/>
              </a:rPr>
              <a:t>A branded Stage 1 test package built from the June 4, 2026 strategy feed, repo-local GBrain recall reuse, and feed-grounded content-research artifacts.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257800"/>
            <a:ext cx="786384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B800"/>
                </a:solidFill>
                <a:latin typeface="Calibri"/>
              </a:rPr>
              <a:t>USE CASE REALIZATION · MARKET PROOF · ARCHITECTURE · RISKS · ROADMAP · NEXT STEP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Real Estate Brokerage AI | Client Package | June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1 / 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7132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000" b="1" i="0">
                <a:solidFill>
                  <a:srgbClr val="0A1628"/>
                </a:solidFill>
                <a:latin typeface="Calibri"/>
              </a:rPr>
              <a:t>Brokerage AI is strongest when it improves conversion inside the tools agents already trust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43584"/>
            <a:ext cx="11094415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0" i="0">
                <a:solidFill>
                  <a:srgbClr val="5B6B7C"/>
                </a:solidFill>
                <a:latin typeface="Calibri"/>
              </a:rPr>
              <a:t>Stage 1 skill-chain test: pipeline-runner content research plus visible GBrain chaining on the June 4, 2026 real-estate feed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3584448" cy="283464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764792"/>
            <a:ext cx="3218688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What changed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103120"/>
            <a:ext cx="3218688" cy="1920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940" b="0" i="0">
                <a:solidFill>
                  <a:srgbClr val="1B2B3C"/>
                </a:solidFill>
                <a:latin typeface="Calibri"/>
              </a:rPr>
              <a:t>•  Brokerage AI is moving into CRM, routing, transaction, and CMA workflows.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940" b="0" i="0">
                <a:solidFill>
                  <a:srgbClr val="1B2B3C"/>
                </a:solidFill>
                <a:latin typeface="Calibri"/>
              </a:rPr>
              <a:t>•  The feed points to lead scoring, transaction coordination, and pricing intelligence.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4256" y="1600200"/>
            <a:ext cx="3584448" cy="283464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35424" y="1764792"/>
            <a:ext cx="3218688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What matters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35424" y="2103120"/>
            <a:ext cx="3218688" cy="1920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940" b="0" i="0">
                <a:solidFill>
                  <a:srgbClr val="1B2B3C"/>
                </a:solidFill>
                <a:latin typeface="Calibri"/>
              </a:rPr>
              <a:t>•  The strongest wedge is speed-to-lead plus workflow automation.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940" b="0" i="0">
                <a:solidFill>
                  <a:srgbClr val="1B2B3C"/>
                </a:solidFill>
                <a:latin typeface="Calibri"/>
              </a:rPr>
              <a:t>•  The buyer wants conversion lift and less transaction drag, not another AI front-end.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19872" y="1600200"/>
            <a:ext cx="3584448" cy="283464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1764792"/>
            <a:ext cx="3218688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0C9A7"/>
                </a:solidFill>
                <a:latin typeface="Calibri"/>
              </a:rPr>
              <a:t>What to 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2103120"/>
            <a:ext cx="3218688" cy="1920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940" b="0" i="0">
                <a:solidFill>
                  <a:srgbClr val="E0F7F1"/>
                </a:solidFill>
                <a:latin typeface="Calibri"/>
              </a:rPr>
              <a:t>•  Start with one brokerage workflow: lead scoring and handoff.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940" b="0" i="0">
                <a:solidFill>
                  <a:srgbClr val="E0F7F1"/>
                </a:solidFill>
                <a:latin typeface="Calibri"/>
              </a:rPr>
              <a:t>•  Keep OpenHands and workflow orchestration behind the scenes, not as the customer-facing pitch.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5074920"/>
            <a:ext cx="11094415" cy="566928"/>
          </a:xfrm>
          <a:prstGeom prst="roundRect">
            <a:avLst>
              <a:gd name="adj" fmla="val 5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5193792"/>
            <a:ext cx="10637215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80" b="1" i="0">
                <a:solidFill>
                  <a:srgbClr val="0A1628"/>
                </a:solidFill>
                <a:latin typeface="Calibri"/>
              </a:rPr>
              <a:t>THE ASK: approve a brokerage pilot around lead scoring and transaction coordination in the current CRM stack.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Real Estate Brokerage AI | Client Package | June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2 / 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092440" y="0"/>
            <a:ext cx="409925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092440" y="0"/>
            <a:ext cx="54864" cy="685800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56032"/>
            <a:ext cx="71780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USE CASE 04  · VERTICAL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12064"/>
            <a:ext cx="7178040" cy="6217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000" b="1" i="0">
                <a:solidFill>
                  <a:srgbClr val="FFFFFF"/>
                </a:solidFill>
                <a:latin typeface="Calibri"/>
              </a:rPr>
              <a:t>Brokerage AI: Lead Scoring to Close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143000"/>
            <a:ext cx="3396996" cy="14813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280160"/>
            <a:ext cx="3067812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CHALLENGE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527048"/>
            <a:ext cx="3104388" cy="8412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200"/>
              </a:spcBef>
            </a:pPr>
            <a:r>
              <a:rPr sz="800" b="0" i="0">
                <a:solidFill>
                  <a:srgbClr val="1B2B3C"/>
                </a:solidFill>
                <a:latin typeface="Calibri"/>
              </a:rPr>
              <a:t>•  Too much agent time is wasted on weak leads and manual prioritization.</a:t>
            </a:r>
          </a:p>
          <a:p>
            <a:pPr algn="l">
              <a:lnSpc>
                <a:spcPct val="98000"/>
              </a:lnSpc>
              <a:spcBef>
                <a:spcPts val="200"/>
              </a:spcBef>
            </a:pPr>
            <a:r>
              <a:rPr sz="800" b="0" i="0">
                <a:solidFill>
                  <a:srgbClr val="1B2B3C"/>
                </a:solidFill>
                <a:latin typeface="Calibri"/>
              </a:rPr>
              <a:t>•  Transaction work is spread across CRM, docs, title, and lender tools.</a:t>
            </a:r>
          </a:p>
          <a:p>
            <a:pPr algn="l">
              <a:lnSpc>
                <a:spcPct val="98000"/>
              </a:lnSpc>
              <a:spcBef>
                <a:spcPts val="200"/>
              </a:spcBef>
            </a:pPr>
            <a:r>
              <a:rPr sz="800" b="0" i="0">
                <a:solidFill>
                  <a:srgbClr val="1B2B3C"/>
                </a:solidFill>
                <a:latin typeface="Calibri"/>
              </a:rPr>
              <a:t>•  Pricing analysis is still slow and manual for many listings.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46804" y="1143000"/>
            <a:ext cx="3396996" cy="14813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11396" y="1280160"/>
            <a:ext cx="3067812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SOLUTION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11396" y="1527048"/>
            <a:ext cx="3104388" cy="8412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200"/>
              </a:spcBef>
            </a:pPr>
            <a:r>
              <a:rPr sz="800" b="0" i="0">
                <a:solidFill>
                  <a:srgbClr val="1B2B3C"/>
                </a:solidFill>
                <a:latin typeface="Calibri"/>
              </a:rPr>
              <a:t>•  Score and route leads based on behavior and CRM context.</a:t>
            </a:r>
          </a:p>
          <a:p>
            <a:pPr algn="l">
              <a:lnSpc>
                <a:spcPct val="98000"/>
              </a:lnSpc>
              <a:spcBef>
                <a:spcPts val="200"/>
              </a:spcBef>
            </a:pPr>
            <a:r>
              <a:rPr sz="800" b="0" i="0">
                <a:solidFill>
                  <a:srgbClr val="1B2B3C"/>
                </a:solidFill>
                <a:latin typeface="Calibri"/>
              </a:rPr>
              <a:t>•  Automate transaction coordination, deadlines, and document handoffs.</a:t>
            </a:r>
          </a:p>
          <a:p>
            <a:pPr algn="l">
              <a:lnSpc>
                <a:spcPct val="98000"/>
              </a:lnSpc>
              <a:spcBef>
                <a:spcPts val="200"/>
              </a:spcBef>
            </a:pPr>
            <a:r>
              <a:rPr sz="800" b="0" i="0">
                <a:solidFill>
                  <a:srgbClr val="1B2B3C"/>
                </a:solidFill>
                <a:latin typeface="Calibri"/>
              </a:rPr>
              <a:t>•  Generate CMA output faster with live comps and pricing logic.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788920"/>
            <a:ext cx="2221992" cy="841248"/>
          </a:xfrm>
          <a:prstGeom prst="roundRect">
            <a:avLst>
              <a:gd name="adj" fmla="val 5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2862072"/>
            <a:ext cx="2002536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0A1628"/>
                </a:solidFill>
                <a:latin typeface="Calibri"/>
              </a:rPr>
              <a:t>$404.9B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3172968"/>
            <a:ext cx="2002536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80" b="1" i="0">
                <a:solidFill>
                  <a:srgbClr val="0A1628"/>
                </a:solidFill>
                <a:latin typeface="Calibri"/>
              </a:rPr>
              <a:t>AI real-estate market size in 2026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935224" y="2788920"/>
            <a:ext cx="2221992" cy="841248"/>
          </a:xfrm>
          <a:prstGeom prst="roundRect">
            <a:avLst>
              <a:gd name="adj" fmla="val 5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44952" y="2862072"/>
            <a:ext cx="2002536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0A1628"/>
                </a:solidFill>
                <a:latin typeface="Calibri"/>
              </a:rPr>
              <a:t>25-40%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44952" y="3172968"/>
            <a:ext cx="2002536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80" b="1" i="0">
                <a:solidFill>
                  <a:srgbClr val="0A1628"/>
                </a:solidFill>
                <a:latin typeface="Calibri"/>
              </a:rPr>
              <a:t>lead-to-close lift with AI scoring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321808" y="2788920"/>
            <a:ext cx="2221992" cy="841248"/>
          </a:xfrm>
          <a:prstGeom prst="roundRect">
            <a:avLst>
              <a:gd name="adj" fmla="val 5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31536" y="2862072"/>
            <a:ext cx="2002536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0A1628"/>
                </a:solidFill>
                <a:latin typeface="Calibri"/>
              </a:rPr>
              <a:t>97%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31536" y="3172968"/>
            <a:ext cx="2002536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80" b="1" i="0">
                <a:solidFill>
                  <a:srgbClr val="0A1628"/>
                </a:solidFill>
                <a:latin typeface="Calibri"/>
              </a:rPr>
              <a:t>agent AI-tool adoption signal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3767328"/>
            <a:ext cx="21031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HOW IT WORKS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023360"/>
            <a:ext cx="2148840" cy="87782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4096512"/>
            <a:ext cx="310896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FFB800"/>
                </a:solidFill>
                <a:latin typeface="Calibri"/>
              </a:rPr>
              <a:t>01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4128" y="4059936"/>
            <a:ext cx="1581912" cy="5303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720" b="0" i="0">
                <a:solidFill>
                  <a:srgbClr val="1B2B3C"/>
                </a:solidFill>
                <a:latin typeface="Calibri"/>
              </a:rPr>
              <a:t>Lead enters CRM, gets scored, and is routed or nurtured.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0" y="4261104"/>
            <a:ext cx="219456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971800" y="4023360"/>
            <a:ext cx="2148840" cy="87782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81528" y="4096512"/>
            <a:ext cx="310896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FFB800"/>
                </a:solidFill>
                <a:latin typeface="Calibri"/>
              </a:rPr>
              <a:t>02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47288" y="4059936"/>
            <a:ext cx="1581912" cy="5303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720" b="0" i="0">
                <a:solidFill>
                  <a:srgbClr val="1B2B3C"/>
                </a:solidFill>
                <a:latin typeface="Calibri"/>
              </a:rPr>
              <a:t>Accepted deal triggers transaction coordination across systems.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66360" y="4261104"/>
            <a:ext cx="219456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394960" y="4023360"/>
            <a:ext cx="2148840" cy="87782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504688" y="4096512"/>
            <a:ext cx="310896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FFB800"/>
                </a:solidFill>
                <a:latin typeface="Calibri"/>
              </a:rPr>
              <a:t>03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70448" y="4059936"/>
            <a:ext cx="1581912" cy="5303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720" b="0" i="0">
                <a:solidFill>
                  <a:srgbClr val="1B2B3C"/>
                </a:solidFill>
                <a:latin typeface="Calibri"/>
              </a:rPr>
              <a:t>Agent requests CMA and receives a client-ready pricing pack.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4956048"/>
            <a:ext cx="6995160" cy="896112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3232" y="5065776"/>
            <a:ext cx="18288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B800"/>
                </a:solidFill>
                <a:latin typeface="Calibri"/>
              </a:rPr>
              <a:t>SOLUTION STACK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3232" y="5266944"/>
            <a:ext cx="1511046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80" b="1" i="0">
                <a:solidFill>
                  <a:srgbClr val="00C9A7"/>
                </a:solidFill>
                <a:latin typeface="Calibri"/>
              </a:rPr>
              <a:t>EXPERIENCE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3232" y="5431536"/>
            <a:ext cx="1511046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620" b="0" i="0">
                <a:solidFill>
                  <a:srgbClr val="FFFFFF"/>
                </a:solidFill>
                <a:latin typeface="Calibri"/>
              </a:rPr>
              <a:t>Dashboard · portal · CMA reports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97430" y="5266944"/>
            <a:ext cx="1511046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80" b="1" i="0">
                <a:solidFill>
                  <a:srgbClr val="00C9A7"/>
                </a:solidFill>
                <a:latin typeface="Calibri"/>
              </a:rPr>
              <a:t>ORCHESTRATION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97430" y="5431536"/>
            <a:ext cx="1511046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620" b="0" i="0">
                <a:solidFill>
                  <a:srgbClr val="FFFFFF"/>
                </a:solidFill>
                <a:latin typeface="Calibri"/>
              </a:rPr>
              <a:t>Lead, transaction, and CMA agents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881628" y="5266944"/>
            <a:ext cx="1511046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80" b="1" i="0">
                <a:solidFill>
                  <a:srgbClr val="00C9A7"/>
                </a:solidFill>
                <a:latin typeface="Calibri"/>
              </a:rPr>
              <a:t>CONTEXT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881628" y="5431536"/>
            <a:ext cx="1511046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620" b="0" i="0">
                <a:solidFill>
                  <a:srgbClr val="FFFFFF"/>
                </a:solidFill>
                <a:latin typeface="Calibri"/>
              </a:rPr>
              <a:t>MLS/IDX · CRM · public records · doc status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65826" y="5266944"/>
            <a:ext cx="1511046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80" b="1" i="0">
                <a:solidFill>
                  <a:srgbClr val="00C9A7"/>
                </a:solidFill>
                <a:latin typeface="Calibri"/>
              </a:rPr>
              <a:t>ACTUATION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65826" y="5431536"/>
            <a:ext cx="1511046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620" b="0" i="0">
                <a:solidFill>
                  <a:srgbClr val="FFFFFF"/>
                </a:solidFill>
                <a:latin typeface="Calibri"/>
              </a:rPr>
              <a:t>CRM write-back · docs · nurture · scheduling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48640" y="5925312"/>
            <a:ext cx="3406140" cy="329184"/>
          </a:xfrm>
          <a:prstGeom prst="roundRect">
            <a:avLst>
              <a:gd name="adj" fmla="val 4000"/>
            </a:avLst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85800" y="5925312"/>
            <a:ext cx="3131820" cy="32918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20" b="1" i="0">
                <a:solidFill>
                  <a:srgbClr val="FFFFFF"/>
                </a:solidFill>
                <a:latin typeface="Calibri"/>
              </a:rPr>
              <a:t>SYSTEMS: MLS/IDX · CRM · DocuSign · Title/Escrow · Lender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137660" y="5925312"/>
            <a:ext cx="3406140" cy="329184"/>
          </a:xfrm>
          <a:prstGeom prst="roundRect">
            <a:avLst>
              <a:gd name="adj" fmla="val 4000"/>
            </a:avLst>
          </a:prstGeom>
          <a:solidFill>
            <a:srgbClr val="008F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274820" y="5925312"/>
            <a:ext cx="3131820" cy="32918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20" b="1" i="0">
                <a:solidFill>
                  <a:srgbClr val="FFFFFF"/>
                </a:solidFill>
                <a:latin typeface="Calibri"/>
              </a:rPr>
              <a:t>USERS: owner · lead · agent · coordinator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66760" y="411480"/>
            <a:ext cx="3642055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C9A7"/>
                </a:solidFill>
                <a:latin typeface="Calibri"/>
              </a:rPr>
              <a:t>ORGANIZATIONS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66760" y="658368"/>
            <a:ext cx="3642055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C9A7"/>
                </a:solidFill>
                <a:latin typeface="Calibri"/>
              </a:rPr>
              <a:t>IN THE CURRENT LANE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366760" y="987552"/>
            <a:ext cx="914400" cy="36576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366760" y="1170432"/>
            <a:ext cx="3642055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60" b="1" i="0">
                <a:solidFill>
                  <a:srgbClr val="FFFFFF"/>
                </a:solidFill>
                <a:latin typeface="Calibri"/>
              </a:rPr>
              <a:t>Rechat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66760" y="1408176"/>
            <a:ext cx="3596335" cy="5303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720" b="0" i="0">
                <a:solidFill>
                  <a:srgbClr val="E0F7F1"/>
                </a:solidFill>
                <a:latin typeface="Calibri"/>
              </a:rPr>
              <a:t>AI-native real-estate operating system.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366760" y="2084832"/>
            <a:ext cx="3642055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60" b="1" i="0">
                <a:solidFill>
                  <a:srgbClr val="FFFFFF"/>
                </a:solidFill>
                <a:latin typeface="Calibri"/>
              </a:rPr>
              <a:t>Breezy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66760" y="2322576"/>
            <a:ext cx="3596335" cy="5303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720" b="0" i="0">
                <a:solidFill>
                  <a:srgbClr val="E0F7F1"/>
                </a:solidFill>
                <a:latin typeface="Calibri"/>
              </a:rPr>
              <a:t>Workflow-heavy brokerage automation platform.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66760" y="2999232"/>
            <a:ext cx="3642055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60" b="1" i="0">
                <a:solidFill>
                  <a:srgbClr val="FFFFFF"/>
                </a:solidFill>
                <a:latin typeface="Calibri"/>
              </a:rPr>
              <a:t>Compass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366760" y="3236976"/>
            <a:ext cx="3596335" cy="5303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720" b="0" i="0">
                <a:solidFill>
                  <a:srgbClr val="E0F7F1"/>
                </a:solidFill>
                <a:latin typeface="Calibri"/>
              </a:rPr>
              <a:t>Large brokerage investing in agent productivity AI.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366760" y="3913632"/>
            <a:ext cx="3642055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60" b="1" i="0">
                <a:solidFill>
                  <a:srgbClr val="FFFFFF"/>
                </a:solidFill>
                <a:latin typeface="Calibri"/>
              </a:rPr>
              <a:t>Bedrock Robotics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366760" y="4151376"/>
            <a:ext cx="3596335" cy="5303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720" b="0" i="0">
                <a:solidFill>
                  <a:srgbClr val="E0F7F1"/>
                </a:solidFill>
                <a:latin typeface="Calibri"/>
              </a:rPr>
              <a:t>Signal that property-intelligence funding is strong.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Real Estate Brokerage AI | Client Package | June 2026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3 /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7132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000" b="1" i="0">
                <a:solidFill>
                  <a:srgbClr val="0A1628"/>
                </a:solidFill>
                <a:latin typeface="Calibri"/>
              </a:rPr>
              <a:t>The real-estate AI lane is funded, adopted, and tied to measurable brokerage outcomes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43584"/>
            <a:ext cx="11094415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0" i="0">
                <a:solidFill>
                  <a:srgbClr val="5B6B7C"/>
                </a:solidFill>
                <a:latin typeface="Calibri"/>
              </a:rPr>
              <a:t>Market proof built directly from the current strategy feed signals and Stage 1 content-research output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27632"/>
            <a:ext cx="3611880" cy="347472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783080"/>
            <a:ext cx="324612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Market size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084831"/>
            <a:ext cx="3227832" cy="2697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080" b="0" i="0">
                <a:solidFill>
                  <a:srgbClr val="1B2B3C"/>
                </a:solidFill>
                <a:latin typeface="Calibri"/>
              </a:rPr>
              <a:t>•  AI in real estate market $404.9B in 2026, CAGR 34.3%, projected $1.3T by 2030. Property management and valuation segments lead adoption.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080" b="0" i="0">
                <a:solidFill>
                  <a:srgbClr val="1B2B3C"/>
                </a:solidFill>
                <a:latin typeface="Calibri"/>
              </a:rPr>
              <a:t>•  This is large enough to support a real services and workflow-software wedge.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080" b="0" i="0">
                <a:solidFill>
                  <a:srgbClr val="1B2B3C"/>
                </a:solidFill>
                <a:latin typeface="Calibri"/>
              </a:rPr>
              <a:t>•  The signal is useful because it frames the category as durable, not a novelty feature.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1688" y="1627632"/>
            <a:ext cx="3611880" cy="347472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44568" y="1783080"/>
            <a:ext cx="324612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Adoption + conversion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62856" y="2084831"/>
            <a:ext cx="3227832" cy="2697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080" b="0" i="0">
                <a:solidFill>
                  <a:srgbClr val="1B2B3C"/>
                </a:solidFill>
                <a:latin typeface="Calibri"/>
              </a:rPr>
              <a:t>•  97% of real estate agents using AI tools in 2026. 89% of top-producing agents use AI-enhanced CRMs. AI-powered lead scoring delivers 25-40% improvement in lead-to-close conversion.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080" b="0" i="0">
                <a:solidFill>
                  <a:srgbClr val="1B2B3C"/>
                </a:solidFill>
                <a:latin typeface="Calibri"/>
              </a:rPr>
              <a:t>•  The story is not generic AI adoption. It is conversion lift inside revenue workflows.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080" b="0" i="0">
                <a:solidFill>
                  <a:srgbClr val="1B2B3C"/>
                </a:solidFill>
                <a:latin typeface="Calibri"/>
              </a:rPr>
              <a:t>•  That makes the first pilot easy to frame around lead quality and speed-to-lead.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74736" y="1627632"/>
            <a:ext cx="3611880" cy="347472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57616" y="1783080"/>
            <a:ext cx="324612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0C9A7"/>
                </a:solidFill>
                <a:latin typeface="Calibri"/>
              </a:rPr>
              <a:t>Competitive signal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75904" y="2084831"/>
            <a:ext cx="3227832" cy="2697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080" b="0" i="0">
                <a:solidFill>
                  <a:srgbClr val="E0F7F1"/>
                </a:solidFill>
                <a:latin typeface="Calibri"/>
              </a:rPr>
              <a:t>•  Rechat and Compass show that the operating-system layer is where workflow value compounds.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080" b="0" i="0">
                <a:solidFill>
                  <a:srgbClr val="E0F7F1"/>
                </a:solidFill>
                <a:latin typeface="Calibri"/>
              </a:rPr>
              <a:t>•  Brokerages want CRM-native action, not another standalone AI console.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080" b="0" i="0">
                <a:solidFill>
                  <a:srgbClr val="E0F7F1"/>
                </a:solidFill>
                <a:latin typeface="Calibri"/>
              </a:rPr>
              <a:t>•  The offer wins when it removes admin drag and preserves agent workflow continuity.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Real Estate Brokerage AI | Client Package | June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4 / 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7132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000" b="1" i="0">
                <a:solidFill>
                  <a:srgbClr val="0A1628"/>
                </a:solidFill>
                <a:latin typeface="Calibri"/>
              </a:rPr>
              <a:t>The winning implementation is CRM-native on the surface and orchestrated behind the scenes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43584"/>
            <a:ext cx="11094415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0" i="0">
                <a:solidFill>
                  <a:srgbClr val="5B6B7C"/>
                </a:solidFill>
                <a:latin typeface="Calibri"/>
              </a:rPr>
              <a:t>Architecture slide grounded in the current use case stack and prior GBrain brokerage memory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5303520" cy="402336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783080"/>
            <a:ext cx="493776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0C9A7"/>
                </a:solidFill>
                <a:latin typeface="Calibri"/>
              </a:rPr>
              <a:t>ORCHESTRATION AND DATA 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084831"/>
            <a:ext cx="4901184" cy="3063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090" b="0" i="0">
                <a:solidFill>
                  <a:srgbClr val="FFFFFF"/>
                </a:solidFill>
                <a:latin typeface="Calibri"/>
              </a:rPr>
              <a:t>•  Lead scoring agent evaluates behavior, CRM history, and listing signals before routing or nurture.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090" b="0" i="0">
                <a:solidFill>
                  <a:srgbClr val="FFFFFF"/>
                </a:solidFill>
                <a:latin typeface="Calibri"/>
              </a:rPr>
              <a:t>•  Transaction agent handles documents, deadlines, compliance checks, and stakeholder coordination.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090" b="0" i="0">
                <a:solidFill>
                  <a:srgbClr val="FFFFFF"/>
                </a:solidFill>
                <a:latin typeface="Calibri"/>
              </a:rPr>
              <a:t>•  CMA agent assembles comps, pricing ranges, and client-ready recommendation output.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090" b="0" i="0">
                <a:solidFill>
                  <a:srgbClr val="FFFFFF"/>
                </a:solidFill>
                <a:latin typeface="Calibri"/>
              </a:rPr>
              <a:t>•  CRM, MLS, DocuSign, title, and lender systems remain the systems of record.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090" b="0" i="0">
                <a:solidFill>
                  <a:srgbClr val="FFFFFF"/>
                </a:solidFill>
                <a:latin typeface="Calibri"/>
              </a:rPr>
              <a:t>•  Workflow orchestration stays internal; agents and brokers work inside the brokerage stack they already know.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600200"/>
            <a:ext cx="5486400" cy="1810512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746504"/>
            <a:ext cx="512064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Why the architecture is credible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057400"/>
            <a:ext cx="5120640" cy="10789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40" b="0" i="0">
                <a:solidFill>
                  <a:srgbClr val="1B2B3C"/>
                </a:solidFill>
                <a:latin typeface="Calibri"/>
              </a:rPr>
              <a:t>The use case already specifies experience, orchestration, context, and actuation layers rather than a vague AI wrapper.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3538728"/>
            <a:ext cx="5486400" cy="1810512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3685032"/>
            <a:ext cx="512064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What GBrain contributed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3995928"/>
            <a:ext cx="5120640" cy="10789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40" b="0" i="0">
                <a:solidFill>
                  <a:srgbClr val="1B2B3C"/>
                </a:solidFill>
                <a:latin typeface="Calibri"/>
              </a:rPr>
              <a:t>The reused brokerage recall artifact reinforced the prior workflow spine: lead routing, lease/document support, marketing automation, and MCP-style integrations.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Real Estate Brokerage AI | Client Package | June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5 / 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7132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000" b="1" i="0">
                <a:solidFill>
                  <a:srgbClr val="0A1628"/>
                </a:solidFill>
                <a:latin typeface="Calibri"/>
              </a:rPr>
              <a:t>The lane is commercially strong, but adoption depends on workflow fit and governance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43584"/>
            <a:ext cx="11094415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0" i="0">
                <a:solidFill>
                  <a:srgbClr val="5B6B7C"/>
                </a:solidFill>
                <a:latin typeface="Calibri"/>
              </a:rPr>
              <a:t>Structured risks, controls, and 90-day plan for a first brokerage pilot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5577840" cy="416052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783080"/>
            <a:ext cx="22860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RISKS AND CONTROLS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084831"/>
            <a:ext cx="5074920" cy="3108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090" b="0" i="0">
                <a:solidFill>
                  <a:srgbClr val="1B2B3C"/>
                </a:solidFill>
                <a:latin typeface="Calibri"/>
              </a:rPr>
              <a:t>•  Agent trust risk: keep AI assistive first and preserve human override on routing and customer-facing actions.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090" b="0" i="0">
                <a:solidFill>
                  <a:srgbClr val="1B2B3C"/>
                </a:solidFill>
                <a:latin typeface="Calibri"/>
              </a:rPr>
              <a:t>•  Data quality risk: poor CRM hygiene weakens lead scoring and downstream workflow logic.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090" b="0" i="0">
                <a:solidFill>
                  <a:srgbClr val="1B2B3C"/>
                </a:solidFill>
                <a:latin typeface="Calibri"/>
              </a:rPr>
              <a:t>•  Compliance risk: document, disclosure, and fair-housing controls must be explicit in automated steps.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090" b="0" i="0">
                <a:solidFill>
                  <a:srgbClr val="1B2B3C"/>
                </a:solidFill>
                <a:latin typeface="Calibri"/>
              </a:rPr>
              <a:t>•  Change-management risk: launch inside one office or team before broad workflow rollout.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600200"/>
            <a:ext cx="5257800" cy="416052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56248" y="1783080"/>
            <a:ext cx="2743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0C9A7"/>
                </a:solidFill>
                <a:latin typeface="Calibri"/>
              </a:rPr>
              <a:t>90-DAY ROADMAP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56248" y="2084831"/>
            <a:ext cx="4800600" cy="3108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070" b="0" i="0">
                <a:solidFill>
                  <a:srgbClr val="E0F7F1"/>
                </a:solidFill>
                <a:latin typeface="Calibri"/>
              </a:rPr>
              <a:t>•  Days 1-15: map lead sources, CRM fields, routing rules, and transaction checkpoints.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070" b="0" i="0">
                <a:solidFill>
                  <a:srgbClr val="E0F7F1"/>
                </a:solidFill>
                <a:latin typeface="Calibri"/>
              </a:rPr>
              <a:t>•  Days 16-35: configure the scoring, routing, and workflow logic for one brokerage stack.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070" b="0" i="0">
                <a:solidFill>
                  <a:srgbClr val="E0F7F1"/>
                </a:solidFill>
                <a:latin typeface="Calibri"/>
              </a:rPr>
              <a:t>•  Days 36-60: launch for one team and track response speed, lead quality, and manual touchpoint reduction.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070" b="0" i="0">
                <a:solidFill>
                  <a:srgbClr val="E0F7F1"/>
                </a:solidFill>
                <a:latin typeface="Calibri"/>
              </a:rPr>
              <a:t>•  Days 61-90: refine rules and scope expansion into transaction coordination and CMA generation.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Real Estate Brokerage AI | Client Package | June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6 /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0C9A7"/>
                </a:solidFill>
                <a:latin typeface="Calibri"/>
              </a:rPr>
              <a:t>BOTTOM 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0607040" cy="11887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200" b="1" i="0">
                <a:solidFill>
                  <a:srgbClr val="FFFFFF"/>
                </a:solidFill>
                <a:latin typeface="Calibri"/>
              </a:rPr>
              <a:t>The tested real-estate pipeline produced a credible brokerage workflow story: capture better leads, move transactions faster, and keep the user inside the brokerage stack.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880360"/>
            <a:ext cx="10881360" cy="54864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3154680"/>
            <a:ext cx="9966960" cy="1737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1000"/>
              </a:spcBef>
            </a:pPr>
            <a:r>
              <a:rPr sz="1500" b="0" i="0">
                <a:solidFill>
                  <a:srgbClr val="E0F7F1"/>
                </a:solidFill>
                <a:latin typeface="Calibri"/>
              </a:rPr>
              <a:t>•  The Stage 1 chain is now reproducible from `/content-ideas` feed to local run artifacts.</a:t>
            </a:r>
          </a:p>
          <a:p>
            <a:pPr algn="l">
              <a:lnSpc>
                <a:spcPct val="105000"/>
              </a:lnSpc>
              <a:spcBef>
                <a:spcPts val="1000"/>
              </a:spcBef>
            </a:pPr>
            <a:r>
              <a:rPr sz="1500" b="0" i="0">
                <a:solidFill>
                  <a:srgbClr val="E0F7F1"/>
                </a:solidFill>
                <a:latin typeface="Calibri"/>
              </a:rPr>
              <a:t>•  GBrain recall is visibly part of the chain even when the host falls back to prior repo-local memory.</a:t>
            </a:r>
          </a:p>
          <a:p>
            <a:pPr algn="l">
              <a:lnSpc>
                <a:spcPct val="105000"/>
              </a:lnSpc>
              <a:spcBef>
                <a:spcPts val="1000"/>
              </a:spcBef>
            </a:pPr>
            <a:r>
              <a:rPr sz="1500" b="0" i="0">
                <a:solidFill>
                  <a:srgbClr val="E0F7F1"/>
                </a:solidFill>
                <a:latin typeface="Calibri"/>
              </a:rPr>
              <a:t>•  The next skill-chain step is vertical scoring, then a fuller strategy and account-specific deck branch if the lane remains a GO.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5440680"/>
            <a:ext cx="10881360" cy="658368"/>
          </a:xfrm>
          <a:prstGeom prst="roundRect">
            <a:avLst>
              <a:gd name="adj" fmla="val 5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5559552"/>
            <a:ext cx="10332720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80" b="1" i="0">
                <a:solidFill>
                  <a:srgbClr val="0A1628"/>
                </a:solidFill>
                <a:latin typeface="Calibri"/>
              </a:rPr>
              <a:t>Suggested next step: keep this deck as the Stage 1 real-estate brokerage test artifact, then decide whether to continue the skill chain into vertical scoring and full strategy.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Real Estate Brokerage AI | Client Package | June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7 /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