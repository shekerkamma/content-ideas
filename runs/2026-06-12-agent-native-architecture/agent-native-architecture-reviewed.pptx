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title slide frames the opportunity as an architecture problem: the user, context, tools, and surface must all line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explain the inversion and the strategic implication.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left side is the old pattern. The right side is the agent-native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ARCHITECTURE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2179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0A1628"/>
                </a:solidFill>
                <a:latin typeface="Calibri"/>
              </a:rPr>
              <a:t>Agent-Native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Software designed for the user's own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463040" cy="54864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Cursor + Codex + shared context + tool access</a:t>
            </a:r>
          </a:p>
        </p:txBody>
      </p:sp>
      <p:pic>
        <p:nvPicPr>
          <p:cNvPr id="9" name="Picture 8" descr="hero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0"/>
            <a:ext cx="4572000" cy="24860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Build for the user's agent, not just the user.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workflow changes when the agent owns the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34381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Old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9968"/>
            <a:ext cx="3438144" cy="16642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App embeds a chatbot. The model sees only local app context, so it can answer questions but cannot finish the job.
Result: the user still does the hard part outside the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572768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627632"/>
            <a:ext cx="34381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New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29968"/>
            <a:ext cx="3438144" cy="16642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The user's agent owns the context and uses the app as one surface among many.
Result: the app becomes a place where work actually gets done, with the user's broader memory attached.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72768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572768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627632"/>
            <a:ext cx="34381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029968"/>
            <a:ext cx="3438144" cy="16642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Moat shifts to shared context, tool access, workflow design, and persistent memory.
If those four pieces are weak, the model layer is just decoration.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60520"/>
            <a:ext cx="11094415" cy="640080"/>
          </a:xfrm>
          <a:prstGeom prst="roundRect">
            <a:avLst>
              <a:gd name="adj" fmla="val 3000"/>
            </a:avLst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315968"/>
            <a:ext cx="1097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FFFFFF"/>
                </a:solidFill>
                <a:latin typeface="Calibri"/>
              </a:rPr>
              <a:t>If the app is not usable by the user's agent, it is only partially agent-native.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architecture is a loop, not a router.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Model inversion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App with an agent vs. agent with an app</a:t>
            </a:r>
          </a:p>
        </p:txBody>
      </p:sp>
      <p:pic>
        <p:nvPicPr>
          <p:cNvPr id="7" name="Picture 6" descr="invers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94415" cy="46763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413248"/>
            <a:ext cx="11094415" cy="475488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522976"/>
            <a:ext cx="110185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Old model: the app contains the agent. New model: the agent contains the app surface and brings its own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Five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checklist that separates real agent-native systems from AI-colored software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011680" cy="292608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011680" cy="38404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47088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828800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Anything the user can do in UI, the agent can do through tools.
If parity is missing, the agent is only a suggestion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783080"/>
            <a:ext cx="2011680" cy="292608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783080"/>
            <a:ext cx="2011680" cy="38404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847088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Granularity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286000"/>
            <a:ext cx="1828800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Tools are atomic primitives. Features come from prompt-defined outcomes.
Keep the actions small so agents can combine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783080"/>
            <a:ext cx="2011680" cy="292608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783080"/>
            <a:ext cx="2011680" cy="38404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1847088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Composability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286000"/>
            <a:ext cx="1828800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New capabilities come from new prompt + tool combinations.
The product gets smarter when the same pieces work in new sequences.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783080"/>
            <a:ext cx="2011680" cy="292608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783080"/>
            <a:ext cx="2011680" cy="38404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1847088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Emergent capability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286000"/>
            <a:ext cx="1828800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system should handle requests you did not pre-script.
That is the difference between automation and a real agent surface.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1783080"/>
            <a:ext cx="2011680" cy="292608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1783080"/>
            <a:ext cx="2011680" cy="38404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5792" y="1847088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Improvement over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286000"/>
            <a:ext cx="1828800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Context and memory should make the system better with use.
If it does not learn from the workspace, it will not compound value.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If the product cannot satisfy these five checks, it is still too constrained.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Reference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Context → agent loop → shared surface → outcome → memory</a:t>
            </a:r>
          </a:p>
        </p:txBody>
      </p:sp>
      <p:pic>
        <p:nvPicPr>
          <p:cNvPr id="7" name="Picture 6" descr="referenc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4752"/>
            <a:ext cx="11094415" cy="50152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413248"/>
            <a:ext cx="11094415" cy="475488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522976"/>
            <a:ext cx="110185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Read left to right: context feeds the agent, tools move it into the app, and write-back turns output into future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Tool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MCP, CLI, API, and browser access are the unlock</a:t>
            </a:r>
          </a:p>
        </p:txBody>
      </p:sp>
      <p:pic>
        <p:nvPicPr>
          <p:cNvPr id="7" name="Picture 6" descr="tool-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6263640" cy="34932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691640"/>
            <a:ext cx="4754880" cy="109728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0" y="1691640"/>
            <a:ext cx="47548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746504"/>
            <a:ext cx="45354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148840"/>
            <a:ext cx="4535424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If a user can do it, the agent needs a path to do it too.
Without that path, the feature is just a demo.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926080"/>
            <a:ext cx="475488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0" y="2926080"/>
            <a:ext cx="47548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2980944"/>
            <a:ext cx="45354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Granularity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383280"/>
            <a:ext cx="4535424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Expose primitives; keep domain logic in the agent loop.
That is what lets any agent chain actions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4160520"/>
            <a:ext cx="4754880" cy="109728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0" y="4160520"/>
            <a:ext cx="47548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4215384"/>
            <a:ext cx="45354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CRUD completeness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617720"/>
            <a:ext cx="4535424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Every entity needs create, read, update, and delete.
If delete is missing, the agent cannot safely clean up its own 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Tool access is a product decision, not an implementation detail.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Context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Local files, project memory, and workspace state compound over time</a:t>
            </a:r>
          </a:p>
        </p:txBody>
      </p:sp>
      <p:pic>
        <p:nvPicPr>
          <p:cNvPr id="7" name="Picture 6" descr="context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309360" cy="344729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600200"/>
            <a:ext cx="470916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1600200"/>
            <a:ext cx="470916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1655064"/>
            <a:ext cx="44897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Shared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057400"/>
            <a:ext cx="448970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The agent and user work in the same files and see the same state.
That shared state is what makes collaboration legible.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880360"/>
            <a:ext cx="47091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2880360"/>
            <a:ext cx="470916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2935224"/>
            <a:ext cx="44897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context.md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3337560"/>
            <a:ext cx="448970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Write accumulated knowledge into files the agent can re-read.
Examples: brand rules, architecture notes, prior decisions, and approved defaults.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160520"/>
            <a:ext cx="470916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0" y="4160520"/>
            <a:ext cx="470916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4215384"/>
            <a:ext cx="44897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Improvement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4617720"/>
            <a:ext cx="448970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Better memory makes the system smarter without shipping code.
The product improves because the workspace remembers what good looks like.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Context is the moat. It compounds.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Anti-patterns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common ways teams build something that is not actually agent-native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73152" cy="658368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1965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Agent as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19656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agent only chooses which fixed function to call.
That means it can route work, but it cannot reason through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73152" cy="658368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3405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Workflow-shaped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34056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 single tool hides judgment and prevents composability.
You want primitives, not a black box with a nicer prompt.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73152" cy="658368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64845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Sandbox split-brain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648456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Agent output goes to a separate workspace the user doesn't see.
If the user cannot verify state, trust breaks down fast.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0560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73152" cy="658368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56285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Silent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562856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State changes do not show up in the UI immediately.
Visible feedback is how humans know the agent did the right 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94960"/>
            <a:ext cx="73152" cy="658368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47725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Heuristic completion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477256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system guesses the task is done instead of signaling it.
Completion needs explicit status, not vibes.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If the code already solved the interesting part, the agent is just a caller.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Where the opportunity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Surfaces that already carry context are best positioned</a:t>
            </a:r>
          </a:p>
        </p:txBody>
      </p:sp>
      <p:pic>
        <p:nvPicPr>
          <p:cNvPr id="7" name="Picture 6" descr="opportunity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4208"/>
            <a:ext cx="6400800" cy="36927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737360"/>
            <a:ext cx="457200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1737360"/>
            <a:ext cx="45720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1792224"/>
            <a:ext cx="43525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Miro / canvas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194560"/>
            <a:ext cx="43525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Shared boards can hold markdown, diagrams, and prototypes.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063240"/>
            <a:ext cx="4572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3063240"/>
            <a:ext cx="45720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3118104"/>
            <a:ext cx="43525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Notion / docs / 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3520440"/>
            <a:ext cx="43525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Knowledge bases and structured tables are easy to connect.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389120"/>
            <a:ext cx="457200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0" y="4389120"/>
            <a:ext cx="45720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4443984"/>
            <a:ext cx="43525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Adobe-class suites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4846320"/>
            <a:ext cx="43525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Large incumbents still have room for agent-native workflows.
They already own expensive, repeatable work where better context matters.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28032"/>
            <a:ext cx="11094415" cy="384048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919472"/>
            <a:ext cx="110185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Best first wedges: canvas tools, docs, sheets, CRM/ops work, and design workflows.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surface is the product. The agent only makes it useful.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Three shifts make agent-native software viable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6616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83664"/>
            <a:ext cx="33467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User agents are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3346704" cy="10698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People are already working inside Cursor, Codex, and similar hosts.
OpenAI's Codex CLI can read, change, and run code locally.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1828800"/>
            <a:ext cx="356616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1883664"/>
            <a:ext cx="33467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Apps expose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2286000"/>
            <a:ext cx="3346704" cy="10698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MCP, CLI, API, and browser access make external action practical.
Notion MCP can read and write workspace content with permissions.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18" y="1828800"/>
            <a:ext cx="356616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6" y="1883664"/>
            <a:ext cx="33467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Context is portable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6" y="2286000"/>
            <a:ext cx="3346704" cy="10698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Files, docs, assets, and memory can live outside a single product.
Codex's in-app browser gives a shared view of rendered pages.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77639"/>
            <a:ext cx="11094415" cy="84124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160520"/>
            <a:ext cx="109728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category opens when the agent can bring its own context into an app, not just consume the app's 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1">
                <a:solidFill>
                  <a:srgbClr val="5B6B7C"/>
                </a:solidFill>
                <a:latin typeface="Calibri"/>
              </a:rPr>
              <a:t>Evidence: OpenAI Codex CLI, OpenAI Codex app browser, and Notion MCP show the workflow is already 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opportunity is a workspace designed for the user's agent.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Five steps to find and ship an agent-native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0" cy="65836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10512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1. Pick the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81051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Define the outcome the user and agent achieve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87168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87168"/>
            <a:ext cx="548640" cy="65836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78608"/>
            <a:ext cx="54864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56032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2. Define the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56032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Choose the canvas or workspace both can work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36976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548640" cy="65836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28416"/>
            <a:ext cx="54864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10128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3. Build for BYO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31012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Make the app useful inside Cursor/Codex-style hosts.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86784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86784"/>
            <a:ext cx="548640" cy="65836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78224"/>
            <a:ext cx="54864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59936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4. Start from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059936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Choose a domain you already know deeply.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36592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36592"/>
            <a:ext cx="548640" cy="65836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28032"/>
            <a:ext cx="54864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09744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5. Plan tools early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809744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Scope MCP / CLI / API access on day one.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product changes when you start with the shared surface and the tool surface together.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Step 1. Pick the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Start with one outcome the user and agent should achieve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4754880" cy="256032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64208"/>
            <a:ext cx="47548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19072"/>
            <a:ext cx="45354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Job to be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21408"/>
            <a:ext cx="4535424" cy="2029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A good wedge is narrow enough to evaluate and broad enough to repeat.
Examples:
• design a page
• update a CRM record
• reconcile a 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664208"/>
            <a:ext cx="2834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2120" y="1664208"/>
            <a:ext cx="283464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1848" y="1719072"/>
            <a:ext cx="26151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Success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1848" y="2121408"/>
            <a:ext cx="261518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The user can see the result, approve it, and correct it quickly.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2926080"/>
            <a:ext cx="283464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32120" y="2926080"/>
            <a:ext cx="283464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2980944"/>
            <a:ext cx="26151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the agent needs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48" y="3383280"/>
            <a:ext cx="261518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Inputs, permissions, and a visible surface that matches the task.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4187952"/>
            <a:ext cx="2834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32120" y="4187952"/>
            <a:ext cx="283464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1848" y="4242816"/>
            <a:ext cx="26151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Failure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1848" y="4645152"/>
            <a:ext cx="261518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If the agent cannot complete the work end-to-end, the job is too large.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1664208"/>
            <a:ext cx="3246120" cy="3666744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49640" y="1664208"/>
            <a:ext cx="324612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9368" y="1719072"/>
            <a:ext cx="302666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8" y="2121408"/>
            <a:ext cx="3026664" cy="3136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Choose a job that already lives in a tool-rich workflow.
The best jobs are repeated, visible, and easy to verify.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 not start with a model feature. Start with a repeated job.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Step 2. Define the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Pick the shared workspace both sides can edit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26974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9383"/>
            <a:ext cx="24780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19"/>
            <a:ext cx="2478024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Use when the task is visual or spatial.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74519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874519"/>
            <a:ext cx="26974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929383"/>
            <a:ext cx="24780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Doc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331719"/>
            <a:ext cx="2478024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Use when the task is narrative or collaborative.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874519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874519"/>
            <a:ext cx="26974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929383"/>
            <a:ext cx="24780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331719"/>
            <a:ext cx="2478024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Use when the task is structured and tabular.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874519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15400" y="1874519"/>
            <a:ext cx="26974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929383"/>
            <a:ext cx="24780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2331719"/>
            <a:ext cx="2478024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Use when the task needs live app interaction.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11094415" cy="841248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07408"/>
            <a:ext cx="109728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shared surface is where the user watches the agent work, not where the model hides the 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surface should make the collaboration obvious.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Step 3. Build for BYO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Design for external agents first, not an embedded chatbot</a:t>
            </a:r>
          </a:p>
        </p:txBody>
      </p:sp>
      <p:pic>
        <p:nvPicPr>
          <p:cNvPr id="7" name="Picture 6" descr="invers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6400800" cy="26979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691640"/>
            <a:ext cx="452628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69480" y="1691640"/>
            <a:ext cx="45262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9208" y="1746504"/>
            <a:ext cx="43068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 lock-in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2148840"/>
            <a:ext cx="430682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Do not depend on a proprietary agent living inside the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971800"/>
            <a:ext cx="4526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69480" y="2971800"/>
            <a:ext cx="45262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3026664"/>
            <a:ext cx="43068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Tool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3429000"/>
            <a:ext cx="430682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Expose actions through MCP, CLI, API, and browser 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251960"/>
            <a:ext cx="452628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4251960"/>
            <a:ext cx="45262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4306824"/>
            <a:ext cx="43068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Shared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4709160"/>
            <a:ext cx="430682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Let the agent inherit local files, notes, and memory.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app should be the place the agent works, not the place it gets trapped.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Step 4. Start from expertise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a domain you understand deeply enough to judge output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880360" cy="288036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88036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46504"/>
            <a:ext cx="26609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Your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48840"/>
            <a:ext cx="2660904" cy="2350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You know the workflow, the failure cases, the language, and the acceptable tradeoffs.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91640"/>
            <a:ext cx="3337560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1691640"/>
            <a:ext cx="333756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746504"/>
            <a:ext cx="31181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Good wedges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2148840"/>
            <a:ext cx="3118104" cy="2350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Product design
Operations
Marketing
Finance
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91640"/>
            <a:ext cx="4023360" cy="288036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1691640"/>
            <a:ext cx="402336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1746504"/>
            <a:ext cx="38039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to avoid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2148840"/>
            <a:ext cx="3803904" cy="2350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A generic productivity app with no domain truth.
If you cannot tell good from bad output, the feedback loop will be weak.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Expertise is what lets you define the right shape for the agent.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Step 5. Plan tools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Scope MCP / CLI / API before you build the UI around them</a:t>
            </a:r>
          </a:p>
        </p:txBody>
      </p:sp>
      <p:pic>
        <p:nvPicPr>
          <p:cNvPr id="7" name="Picture 6" descr="tool-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34677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664208"/>
            <a:ext cx="4754880" cy="11155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0" y="1664208"/>
            <a:ext cx="47548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719072"/>
            <a:ext cx="45354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121408"/>
            <a:ext cx="4535424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Best when the product needs structured tool access across clients.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907792"/>
            <a:ext cx="4754880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0" y="2907792"/>
            <a:ext cx="47548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2962656"/>
            <a:ext cx="45354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364992"/>
            <a:ext cx="4535424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Best when local agents need a simple command-line control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4151376"/>
            <a:ext cx="4754880" cy="11155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0" y="4151376"/>
            <a:ext cx="475488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4206240"/>
            <a:ext cx="45354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API /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608576"/>
            <a:ext cx="4535424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Best when the agent must operate inside the same surface as the human.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If you cannot draw the tool map on day one, the product is still under-scoped.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collaboration loop is part of the product</a:t>
            </a:r>
          </a:p>
        </p:txBody>
      </p:sp>
      <p:pic>
        <p:nvPicPr>
          <p:cNvPr id="7" name="Picture 6" descr="workflow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309360" cy="33027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691640"/>
            <a:ext cx="457200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45720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1746504"/>
            <a:ext cx="43525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148840"/>
            <a:ext cx="43525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The user sees what the agent is doing in real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971800"/>
            <a:ext cx="4572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2971800"/>
            <a:ext cx="45720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3026664"/>
            <a:ext cx="43525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3429000"/>
            <a:ext cx="43525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The user can steer the outcome before the work is locked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251960"/>
            <a:ext cx="457200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0" y="4251960"/>
            <a:ext cx="45720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4306824"/>
            <a:ext cx="43525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4709160"/>
            <a:ext cx="43525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Corrections become context the agent can reuse on the next run.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Visible feedback is what turns automation into collaboration.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Examples worth studying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strongest candidates already have shared context and shared surfaces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4290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32095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3209544" cy="22128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Canvas-first workspaces can hold diagrams, markdown, and prototypes.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3736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34290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792224"/>
            <a:ext cx="32095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194560"/>
            <a:ext cx="3209544" cy="22128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Docs plus MCP make it easy to move between knowledge and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73736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1737360"/>
            <a:ext cx="3429000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1792224"/>
            <a:ext cx="32095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Sheets / Adobe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194560"/>
            <a:ext cx="3209544" cy="22128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Structured tables and design suites already have rich user workflows.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best opportunities sit where the surface already has meaning.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Launch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this before you commit to the wedge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804672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94415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Can the user work here today?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If not, you are asking for behavior change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33472"/>
            <a:ext cx="11094415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11094415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88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Can the agent reach the tools?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9067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There must be a real tool path, not a prompt illusion.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9584"/>
            <a:ext cx="11094415" cy="804672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529584"/>
            <a:ext cx="11094415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584448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Can both see the same state?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8678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Shared surface means shared visibility.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25696"/>
            <a:ext cx="11094415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425696"/>
            <a:ext cx="11094415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480560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Can the system improve with use?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88289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If context cannot compound, the product will stall.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If any answer is no, the idea needs more architecture before it needs more code.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Go / no-go 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founder checklist for this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94415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User already works here?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If no one works in this surface today, you may be creating behavior from scratch.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7004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70048"/>
            <a:ext cx="11094415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24912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Context exists outside the app?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27248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Agent-native wins when the real project context is broader than one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02736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415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657600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Can the agent reach tools?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59936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MCP, CLI, API, or browser access should be explicit.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35424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535424"/>
            <a:ext cx="11094415" cy="347472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590288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Can humans watch/correct?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92624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The visible feedback loop must be part of the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If you cannot answer yes to all four, the wedge is probably not ready.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Bottom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best new AI opportunity is software redesigned for the user's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4415" cy="914400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72865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Build for the user's agent, not just the user.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Design a shared surface, expose the tools, and let the agent improve with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456432"/>
            <a:ext cx="106070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The opportunity is not another chatbot.
It is software that becomes useful to an external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3429000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81728"/>
            <a:ext cx="324612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Choose a domain you know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4572000"/>
            <a:ext cx="3429000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4681728"/>
            <a:ext cx="324612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Map the shared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4572000"/>
            <a:ext cx="3429000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4681728"/>
            <a:ext cx="324612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Expose the tools early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309360"/>
            <a:ext cx="110944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Agent-native apps are the next wedge because they compound context, not just clicks.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Agent-Native Apps | Architecture Brief |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