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__bg__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7200"/>
            <a:ext cx="12188952" cy="508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9748A"/>
                </a:solidFill>
                <a:latin typeface="Courier New"/>
              </a:rPr>
              <a:t>OPENKB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2872" y="228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9748A"/>
                </a:solidFill>
                <a:latin typeface="Courier New"/>
              </a:rPr>
              <a:t>AI Retrieval Paradigms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D4BF"/>
                </a:solidFill>
                <a:latin typeface="Courier New"/>
              </a:rPr>
              <a:t>KNOWLEDGE RETRIEVAL  ·  ENTERPRISE AI  ·  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9144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2DD4BF"/>
                </a:solidFill>
              </a:rPr>
              <a:t>RAG Has an</a:t>
            </a:r>
          </a:p>
          <a:p>
            <a:r>
              <a:rPr sz="5400" b="1">
                <a:solidFill>
                  <a:srgbClr val="2DD4BF"/>
                </a:solidFill>
              </a:rPr>
              <a:t>Amnesia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72000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EB8C7"/>
                </a:solidFill>
              </a:rPr>
              <a:t>Why compilation-based retrieval outperforms vector similarity search for enterprise knowledge management
— and when knowledge graphs win instead.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9748A"/>
                </a:solidFill>
                <a:latin typeface="Courier New"/>
              </a:rPr>
              <a:t>1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8632" y="64922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9748A"/>
                </a:solidFill>
                <a:latin typeface="Courier New"/>
              </a:rPr>
              <a:t>AI Retrieval Paradigms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__bg__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7200"/>
            <a:ext cx="12188952" cy="508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9748A"/>
                </a:solidFill>
                <a:latin typeface="Courier New"/>
              </a:rP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2872" y="228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9748A"/>
                </a:solidFill>
                <a:latin typeface="Courier New"/>
              </a:rPr>
              <a:t>AI Retrieval Paradigms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00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EF2F7"/>
                </a:solidFill>
              </a:rPr>
              <a:t>Three ways to answer a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EF2F7"/>
                </a:solidFill>
              </a:rPr>
              <a:t>Enterprise AI retrieval has converged on three paradigms. Each bets on a different moment to pay the cost of understanding — at query time, at schema time, or at ingest time. The moment you choose determines everything about faithfulness, speed, and auditability.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108960"/>
            <a:ext cx="3291840" cy="384048"/>
          </a:xfrm>
          <a:prstGeom prst="rect">
            <a:avLst/>
          </a:prstGeom>
          <a:solidFill>
            <a:srgbClr val="1A0D1A"/>
          </a:solidFill>
          <a:ln w="9525">
            <a:solidFill>
              <a:srgbClr val="E879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172460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79F9"/>
                </a:solidFill>
                <a:latin typeface="Courier New"/>
              </a:rPr>
              <a:t>VECTOR RAG — FAST, SHALLOW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639312"/>
            <a:ext cx="3291840" cy="384048"/>
          </a:xfrm>
          <a:prstGeom prst="rect">
            <a:avLst/>
          </a:prstGeom>
          <a:solidFill>
            <a:srgbClr val="0A141F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702812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8BDF8"/>
                </a:solidFill>
                <a:latin typeface="Courier New"/>
              </a:rPr>
              <a:t>KNOWLEDGE GRAPHS — DEEP, COSTLY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69664"/>
            <a:ext cx="3291840" cy="384048"/>
          </a:xfrm>
          <a:prstGeom prst="rect">
            <a:avLst/>
          </a:prstGeom>
          <a:solidFill>
            <a:srgbClr val="071816"/>
          </a:solidFill>
          <a:ln w="9525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233164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D4BF"/>
                </a:solidFill>
                <a:latin typeface="Courier New"/>
              </a:rPr>
              <a:t>COMPILATION — HOLISTIC, AUDITABLE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9748A"/>
                </a:solidFill>
                <a:latin typeface="Courier New"/>
              </a:rPr>
              <a:t>2 / 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28632" y="64922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9748A"/>
                </a:solidFill>
                <a:latin typeface="Courier New"/>
              </a:rPr>
              <a:t>AI Retrieval Paradigms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__bg__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7200"/>
            <a:ext cx="12188952" cy="508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9748A"/>
                </a:solidFill>
                <a:latin typeface="Courier New"/>
              </a:rP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2872" y="228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9748A"/>
                </a:solidFill>
                <a:latin typeface="Courier New"/>
              </a:rPr>
              <a:t>AI Retrieval Paradigms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EF2F7"/>
                </a:solidFill>
              </a:rPr>
              <a:t>Vector RAG vs Compilation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5394960" cy="4846320"/>
          </a:xfrm>
          <a:prstGeom prst="rect">
            <a:avLst/>
          </a:prstGeom>
          <a:solidFill>
            <a:srgbClr val="0F141D"/>
          </a:solidFill>
          <a:ln w="6350">
            <a:solidFill>
              <a:srgbClr val="1E2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D4BF"/>
                </a:solidFill>
                <a:latin typeface="Courier New"/>
              </a:rPr>
              <a:t>TRADITIONAL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EF2F7"/>
                </a:solidFill>
              </a:rPr>
              <a:t>Vector RAG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50292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E879F9"/>
                </a:solidFill>
                <a:latin typeface="Courier New"/>
              </a:rPr>
              <a:t>✕  </a:t>
            </a:r>
            <a:r>
              <a:rPr sz="1100">
                <a:solidFill>
                  <a:srgbClr val="EEF2F7"/>
                </a:solidFill>
              </a:rPr>
              <a:t>Retrieves isolated K-nearest chunks at query time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E879F9"/>
                </a:solidFill>
                <a:latin typeface="Courier New"/>
              </a:rPr>
              <a:t>✕  </a:t>
            </a:r>
            <a:r>
              <a:rPr sz="1100">
                <a:solidFill>
                  <a:srgbClr val="EEF2F7"/>
                </a:solidFill>
              </a:rPr>
              <a:t>No cross-document memory between queries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E879F9"/>
                </a:solidFill>
                <a:latin typeface="Courier New"/>
              </a:rPr>
              <a:t>✕  </a:t>
            </a:r>
            <a:r>
              <a:rPr sz="1100">
                <a:solidFill>
                  <a:srgbClr val="EEF2F7"/>
                </a:solidFill>
              </a:rPr>
              <a:t>Contradictions in source material undetected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E879F9"/>
                </a:solidFill>
                <a:latin typeface="Courier New"/>
              </a:rPr>
              <a:t>✕  </a:t>
            </a:r>
            <a:r>
              <a:rPr sz="1100">
                <a:solidFill>
                  <a:srgbClr val="EEF2F7"/>
                </a:solidFill>
              </a:rPr>
              <a:t>Synthesis is whatever the chunks happen to contain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760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79F9"/>
                </a:solidFill>
                <a:latin typeface="Courier New"/>
              </a:rPr>
              <a:t>AMNESIA PROBLEM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97880" y="1508760"/>
            <a:ext cx="25400" cy="448056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89320" y="1325880"/>
            <a:ext cx="5394960" cy="4846320"/>
          </a:xfrm>
          <a:prstGeom prst="rect">
            <a:avLst/>
          </a:prstGeom>
          <a:solidFill>
            <a:srgbClr val="0F141D"/>
          </a:solidFill>
          <a:ln w="6350">
            <a:solidFill>
              <a:srgbClr val="1E2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508760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D4BF"/>
                </a:solidFill>
                <a:latin typeface="Courier New"/>
              </a:rPr>
              <a:t>COMPILATION-BASED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7830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EF2F7"/>
                </a:solidFill>
              </a:rPr>
              <a:t>OpenKB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240280"/>
            <a:ext cx="50292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2DD4BF"/>
                </a:solidFill>
                <a:latin typeface="Courier New"/>
              </a:rPr>
              <a:t>✓  </a:t>
            </a:r>
            <a:r>
              <a:rPr sz="1100">
                <a:solidFill>
                  <a:srgbClr val="EEF2F7"/>
                </a:solidFill>
              </a:rPr>
              <a:t>LLM synthesises full corpus at ingest — once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2DD4BF"/>
                </a:solidFill>
                <a:latin typeface="Courier New"/>
              </a:rPr>
              <a:t>✓  </a:t>
            </a:r>
            <a:r>
              <a:rPr sz="1100">
                <a:solidFill>
                  <a:srgbClr val="EEF2F7"/>
                </a:solidFill>
              </a:rPr>
              <a:t>Concepts, entities, cross-references baked in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2DD4BF"/>
                </a:solidFill>
                <a:latin typeface="Courier New"/>
              </a:rPr>
              <a:t>✓  </a:t>
            </a:r>
            <a:r>
              <a:rPr sz="1100">
                <a:solidFill>
                  <a:srgbClr val="EEF2F7"/>
                </a:solidFill>
              </a:rPr>
              <a:t>Contradictions flagged at compile time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2DD4BF"/>
                </a:solidFill>
                <a:latin typeface="Courier New"/>
              </a:rPr>
              <a:t>✓  </a:t>
            </a:r>
            <a:r>
              <a:rPr sz="1100">
                <a:solidFill>
                  <a:srgbClr val="EEF2F7"/>
                </a:solidFill>
              </a:rPr>
              <a:t>Human-readable, diffable, auditable wiki artifact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5760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D4BF"/>
                </a:solidFill>
                <a:latin typeface="Courier New"/>
              </a:rPr>
              <a:t>BUILD-STEP RETRIEVAL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9748A"/>
                </a:solidFill>
                <a:latin typeface="Courier New"/>
              </a:rPr>
              <a:t>3 / 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28632" y="64922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9748A"/>
                </a:solidFill>
                <a:latin typeface="Courier New"/>
              </a:rPr>
              <a:t>AI Retrieval Paradigms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__bg__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7200"/>
            <a:ext cx="12188952" cy="508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9748A"/>
                </a:solidFill>
                <a:latin typeface="Courier New"/>
              </a:rP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2872" y="228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9748A"/>
                </a:solidFill>
                <a:latin typeface="Courier New"/>
              </a:rPr>
              <a:t>AI Retrieval Paradigms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09728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9748A"/>
                </a:solidFill>
                <a:latin typeface="Courier New"/>
              </a:rPr>
              <a:t>CROSS-REFERENCES BUILT BY TRADITIONAL 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463040"/>
            <a:ext cx="6675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0" b="1" i="0">
                <a:solidFill>
                  <a:srgbClr val="2DD4BF"/>
                </a:solidFill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434340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DD4BF"/>
                </a:solidFill>
                <a:latin typeface="Courier New"/>
              </a:rPr>
              <a:t>EVERY QUERY STARTS COLD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4754880"/>
            <a:ext cx="8138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EF2F7"/>
                </a:solidFill>
              </a:rPr>
              <a:t>K-nearest chunk retrieval returns passages, not understanding. No memory of how concepts connect across documents, no contradiction detection, no synthesis that spans the full corpus. Each query is an island.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9748A"/>
                </a:solidFill>
                <a:latin typeface="Courier New"/>
              </a:rPr>
              <a:t>4 /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8632" y="64922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9748A"/>
                </a:solidFill>
                <a:latin typeface="Courier New"/>
              </a:rPr>
              <a:t>AI Retrieval Paradigms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__bg__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7200"/>
            <a:ext cx="12188952" cy="508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9748A"/>
                </a:solidFill>
                <a:latin typeface="Courier New"/>
              </a:rPr>
              <a:t>OPENKB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2872" y="228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9748A"/>
                </a:solidFill>
                <a:latin typeface="Courier New"/>
              </a:rPr>
              <a:t>AI Retrieval Paradigms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80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9748A"/>
                </a:solidFill>
                <a:latin typeface="Courier New"/>
              </a:rPr>
              <a:t>CHAPTER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0" b="1" i="0">
                <a:solidFill>
                  <a:srgbClr val="2DD4BF"/>
                </a:solidFill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862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EEF2F7"/>
                </a:solidFill>
              </a:rPr>
              <a:t>Knowledge Graphs
vs Vector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9748A"/>
                </a:solidFill>
                <a:latin typeface="Courier New"/>
              </a:rPr>
              <a:t>5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8632" y="64922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9748A"/>
                </a:solidFill>
                <a:latin typeface="Courier New"/>
              </a:rPr>
              <a:t>AI Retrieval Paradigms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__bg__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7200"/>
            <a:ext cx="12188952" cy="508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9748A"/>
                </a:solidFill>
                <a:latin typeface="Courier New"/>
              </a:rPr>
              <a:t>CHAPTER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2872" y="228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9748A"/>
                </a:solidFill>
                <a:latin typeface="Courier New"/>
              </a:rPr>
              <a:t>AI Retrieval Paradigms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EF2F7"/>
                </a:solidFill>
              </a:rPr>
              <a:t>Knowledge Graphs vs Vector Search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5394960" cy="4846320"/>
          </a:xfrm>
          <a:prstGeom prst="rect">
            <a:avLst/>
          </a:prstGeom>
          <a:solidFill>
            <a:srgbClr val="0F141D"/>
          </a:solidFill>
          <a:ln w="6350">
            <a:solidFill>
              <a:srgbClr val="1E2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D4BF"/>
                </a:solidFill>
                <a:latin typeface="Courier New"/>
              </a:rPr>
              <a:t>NEO4J · NEPTUNE · GOOGLE KG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EF2F7"/>
                </a:solidFill>
              </a:rPr>
              <a:t>Knowledge Graphs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50292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2DD4BF"/>
                </a:solidFill>
                <a:latin typeface="Courier New"/>
              </a:rPr>
              <a:t>✓  </a:t>
            </a:r>
            <a:r>
              <a:rPr sz="1100">
                <a:solidFill>
                  <a:srgbClr val="EEF2F7"/>
                </a:solidFill>
              </a:rPr>
              <a:t>Multi-hop reasoning via graph traversal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2DD4BF"/>
                </a:solidFill>
                <a:latin typeface="Courier New"/>
              </a:rPr>
              <a:t>✓  </a:t>
            </a:r>
            <a:r>
              <a:rPr sz="1100">
                <a:solidFill>
                  <a:srgbClr val="EEF2F7"/>
                </a:solidFill>
              </a:rPr>
              <a:t>Explicit entity + relationship modelling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2DD4BF"/>
                </a:solidFill>
                <a:latin typeface="Courier New"/>
              </a:rPr>
              <a:t>✓  </a:t>
            </a:r>
            <a:r>
              <a:rPr sz="1100">
                <a:solidFill>
                  <a:srgbClr val="EEF2F7"/>
                </a:solidFill>
              </a:rPr>
              <a:t>High faithfulness for structured domains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E879F9"/>
                </a:solidFill>
                <a:latin typeface="Courier New"/>
              </a:rPr>
              <a:t>✕  </a:t>
            </a:r>
            <a:r>
              <a:rPr sz="1100">
                <a:solidFill>
                  <a:srgbClr val="EEF2F7"/>
                </a:solidFill>
              </a:rPr>
              <a:t>Slow ingest — schema, ontology, entity resolution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E879F9"/>
                </a:solidFill>
                <a:latin typeface="Courier New"/>
              </a:rPr>
              <a:t>✕  </a:t>
            </a:r>
            <a:r>
              <a:rPr sz="1100">
                <a:solidFill>
                  <a:srgbClr val="EEF2F7"/>
                </a:solidFill>
              </a:rPr>
              <a:t>Brittle on dynamic, fast-moving corpora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760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8BDF8"/>
                </a:solidFill>
                <a:latin typeface="Courier New"/>
              </a:rPr>
              <a:t>STRUCTURED / STATIC DOMAINS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97880" y="1508760"/>
            <a:ext cx="25400" cy="448056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89320" y="1325880"/>
            <a:ext cx="5394960" cy="4846320"/>
          </a:xfrm>
          <a:prstGeom prst="rect">
            <a:avLst/>
          </a:prstGeom>
          <a:solidFill>
            <a:srgbClr val="0F141D"/>
          </a:solidFill>
          <a:ln w="6350">
            <a:solidFill>
              <a:srgbClr val="1E2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508760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D4BF"/>
                </a:solidFill>
                <a:latin typeface="Courier New"/>
              </a:rPr>
              <a:t>PINECONE · WEAVIATE · PGVECTOR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7830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EF2F7"/>
                </a:solidFill>
              </a:rPr>
              <a:t>Vector 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240280"/>
            <a:ext cx="50292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2DD4BF"/>
                </a:solidFill>
                <a:latin typeface="Courier New"/>
              </a:rPr>
              <a:t>✓  </a:t>
            </a:r>
            <a:r>
              <a:rPr sz="1100">
                <a:solidFill>
                  <a:srgbClr val="EEF2F7"/>
                </a:solidFill>
              </a:rPr>
              <a:t>Fast ingest — embed and index, no schema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2DD4BF"/>
                </a:solidFill>
                <a:latin typeface="Courier New"/>
              </a:rPr>
              <a:t>✓  </a:t>
            </a:r>
            <a:r>
              <a:rPr sz="1100">
                <a:solidFill>
                  <a:srgbClr val="EEF2F7"/>
                </a:solidFill>
              </a:rPr>
              <a:t>Low setup complexity, any document type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E879F9"/>
                </a:solidFill>
                <a:latin typeface="Courier New"/>
              </a:rPr>
              <a:t>✕  </a:t>
            </a:r>
            <a:r>
              <a:rPr sz="1100">
                <a:solidFill>
                  <a:srgbClr val="EEF2F7"/>
                </a:solidFill>
              </a:rPr>
              <a:t>No entity relationships — flat similarity only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E879F9"/>
                </a:solidFill>
                <a:latin typeface="Courier New"/>
              </a:rPr>
              <a:t>✕  </a:t>
            </a:r>
            <a:r>
              <a:rPr sz="1100">
                <a:solidFill>
                  <a:srgbClr val="EEF2F7"/>
                </a:solidFill>
              </a:rPr>
              <a:t>Poor cross-document synthesis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E879F9"/>
                </a:solidFill>
                <a:latin typeface="Courier New"/>
              </a:rPr>
              <a:t>✕  </a:t>
            </a:r>
            <a:r>
              <a:rPr sz="1100">
                <a:solidFill>
                  <a:srgbClr val="EEF2F7"/>
                </a:solidFill>
              </a:rPr>
              <a:t>Zero contradiction 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5760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79F9"/>
                </a:solidFill>
                <a:latin typeface="Courier New"/>
              </a:rPr>
              <a:t>BROAD / SHALLOW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9748A"/>
                </a:solidFill>
                <a:latin typeface="Courier New"/>
              </a:rPr>
              <a:t>6 / 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28632" y="64922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9748A"/>
                </a:solidFill>
                <a:latin typeface="Courier New"/>
              </a:rPr>
              <a:t>AI Retrieval Paradigms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__bg__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7200"/>
            <a:ext cx="12188952" cy="508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9748A"/>
                </a:solidFill>
                <a:latin typeface="Courier New"/>
              </a:rPr>
              <a:t>CHAPTER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2872" y="228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9748A"/>
                </a:solidFill>
                <a:latin typeface="Courier New"/>
              </a:rPr>
              <a:t>AI Retrieval Paradigms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00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EEF2F7"/>
                </a:solidFill>
              </a:rPr>
              <a:t>The page  is  the concept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640080"/>
            <a:ext cx="914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2DD4BF"/>
                </a:solidFill>
              </a:rPr>
              <a:t>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9601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EF2F7"/>
                </a:solidFill>
              </a:rPr>
              <a:t>PageIndex (OpenKB) indexes compiled concept and entity pages — not raw chunks. Each page is already a synthesised, cross-referenced understanding of the concept. The retrieved unit knows everything the corpus says about the topic. No embedding pipeline, no vector infrastructure required.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520440"/>
            <a:ext cx="3017520" cy="384048"/>
          </a:xfrm>
          <a:prstGeom prst="rect">
            <a:avLst/>
          </a:prstGeom>
          <a:solidFill>
            <a:srgbClr val="0F141D"/>
          </a:solidFill>
          <a:ln w="9525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583940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D4BF"/>
                </a:solidFill>
                <a:latin typeface="Courier New"/>
              </a:rPr>
              <a:t>VECTORLESS RETRIEVAL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050792"/>
            <a:ext cx="3017520" cy="384048"/>
          </a:xfrm>
          <a:prstGeom prst="rect">
            <a:avLst/>
          </a:prstGeom>
          <a:solidFill>
            <a:srgbClr val="0F141D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114292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8BDF8"/>
                </a:solidFill>
                <a:latin typeface="Courier New"/>
              </a:rPr>
              <a:t>SEMANTIC STRUCTURE AT INGEST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581144"/>
            <a:ext cx="3017520" cy="384048"/>
          </a:xfrm>
          <a:prstGeom prst="rect">
            <a:avLst/>
          </a:prstGeom>
          <a:solidFill>
            <a:srgbClr val="0F141D"/>
          </a:solidFill>
          <a:ln w="9525">
            <a:solidFill>
              <a:srgbClr val="AEB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644644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EB8C7"/>
                </a:solidFill>
                <a:latin typeface="Courier New"/>
              </a:rPr>
              <a:t>NO EMBEDDING COST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9748A"/>
                </a:solidFill>
                <a:latin typeface="Courier New"/>
              </a:rPr>
              <a:t>7 / 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28632" y="64922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9748A"/>
                </a:solidFill>
                <a:latin typeface="Courier New"/>
              </a:rPr>
              <a:t>AI Retrieval Paradigms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__bg__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7200"/>
            <a:ext cx="12188952" cy="508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9748A"/>
                </a:solidFill>
                <a:latin typeface="Courier New"/>
              </a:rPr>
              <a:t>CHAPTER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2872" y="228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9748A"/>
                </a:solidFill>
                <a:latin typeface="Courier New"/>
              </a:rPr>
              <a:t>AI Retrieval Paradigms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EF2F7"/>
                </a:solidFill>
              </a:rPr>
              <a:t>GraphRAG vs Compilation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5394960" cy="4846320"/>
          </a:xfrm>
          <a:prstGeom prst="rect">
            <a:avLst/>
          </a:prstGeom>
          <a:solidFill>
            <a:srgbClr val="0F141D"/>
          </a:solidFill>
          <a:ln w="6350">
            <a:solidFill>
              <a:srgbClr val="1E2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D4BF"/>
                </a:solidFill>
                <a:latin typeface="Courier New"/>
              </a:rPr>
              <a:t>MICROSOFT RESEARCH · 2024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EF2F7"/>
                </a:solidFill>
              </a:rPr>
              <a:t>GraphRAG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50292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2DD4BF"/>
                </a:solidFill>
                <a:latin typeface="Courier New"/>
              </a:rPr>
              <a:t>→  </a:t>
            </a:r>
            <a:r>
              <a:rPr sz="1100">
                <a:solidFill>
                  <a:srgbClr val="EEF2F7"/>
                </a:solidFill>
              </a:rPr>
              <a:t>Local + global community graph structure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2DD4BF"/>
                </a:solidFill>
                <a:latin typeface="Courier New"/>
              </a:rPr>
              <a:t>→  </a:t>
            </a:r>
            <a:r>
              <a:rPr sz="1100">
                <a:solidFill>
                  <a:srgbClr val="EEF2F7"/>
                </a:solidFill>
              </a:rPr>
              <a:t>Graph-aware retrieval at query time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2DD4BF"/>
                </a:solidFill>
                <a:latin typeface="Courier New"/>
              </a:rPr>
              <a:t>→  </a:t>
            </a:r>
            <a:r>
              <a:rPr sz="1100">
                <a:solidFill>
                  <a:srgbClr val="EEF2F7"/>
                </a:solidFill>
              </a:rPr>
              <a:t>Hybrid: knowledge graph + vector search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2DD4BF"/>
                </a:solidFill>
                <a:latin typeface="Courier New"/>
              </a:rPr>
              <a:t>✓  </a:t>
            </a:r>
            <a:r>
              <a:rPr sz="1100">
                <a:solidFill>
                  <a:srgbClr val="EEF2F7"/>
                </a:solidFill>
              </a:rPr>
              <a:t>Strong for domains with pre-existing ontologies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E879F9"/>
                </a:solidFill>
                <a:latin typeface="Courier New"/>
              </a:rPr>
              <a:t>✕  </a:t>
            </a:r>
            <a:r>
              <a:rPr sz="1100">
                <a:solidFill>
                  <a:srgbClr val="EEF2F7"/>
                </a:solidFill>
              </a:rPr>
              <a:t>Requires schema design and vector infrastructure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760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8BDF8"/>
                </a:solidFill>
                <a:latin typeface="Courier New"/>
              </a:rPr>
              <a:t>STRUCTURED DOMAINS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97880" y="1508760"/>
            <a:ext cx="25400" cy="448056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89320" y="1325880"/>
            <a:ext cx="5394960" cy="4846320"/>
          </a:xfrm>
          <a:prstGeom prst="rect">
            <a:avLst/>
          </a:prstGeom>
          <a:solidFill>
            <a:srgbClr val="0F141D"/>
          </a:solidFill>
          <a:ln w="6350">
            <a:solidFill>
              <a:srgbClr val="1E2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508760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D4BF"/>
                </a:solidFill>
                <a:latin typeface="Courier New"/>
              </a:rPr>
              <a:t>VECTIFYAI · OPENKB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7830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EF2F7"/>
                </a:solidFill>
              </a:rPr>
              <a:t>Compilation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240280"/>
            <a:ext cx="50292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2DD4BF"/>
                </a:solidFill>
                <a:latin typeface="Courier New"/>
              </a:rPr>
              <a:t>→  </a:t>
            </a:r>
            <a:r>
              <a:rPr sz="1100">
                <a:solidFill>
                  <a:srgbClr val="EEF2F7"/>
                </a:solidFill>
              </a:rPr>
              <a:t>Flat wiki — concepts + entities + cross-refs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2DD4BF"/>
                </a:solidFill>
                <a:latin typeface="Courier New"/>
              </a:rPr>
              <a:t>→  </a:t>
            </a:r>
            <a:r>
              <a:rPr sz="1100">
                <a:solidFill>
                  <a:srgbClr val="EEF2F7"/>
                </a:solidFill>
              </a:rPr>
              <a:t>Vectorless retrieval via PageIndex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2DD4BF"/>
                </a:solidFill>
                <a:latin typeface="Courier New"/>
              </a:rPr>
              <a:t>→  </a:t>
            </a:r>
            <a:r>
              <a:rPr sz="1100">
                <a:solidFill>
                  <a:srgbClr val="EEF2F7"/>
                </a:solidFill>
              </a:rPr>
              <a:t>No schema, no ontology, no embedding pipeline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2DD4BF"/>
                </a:solidFill>
                <a:latin typeface="Courier New"/>
              </a:rPr>
              <a:t>✓  </a:t>
            </a:r>
            <a:r>
              <a:rPr sz="1100">
                <a:solidFill>
                  <a:srgbClr val="EEF2F7"/>
                </a:solidFill>
              </a:rPr>
              <a:t>Human-readable, diffable, fully auditable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2DD4BF"/>
                </a:solidFill>
                <a:latin typeface="Courier New"/>
              </a:rPr>
              <a:t>✓  </a:t>
            </a:r>
            <a:r>
              <a:rPr sz="1100">
                <a:solidFill>
                  <a:srgbClr val="EEF2F7"/>
                </a:solidFill>
              </a:rPr>
              <a:t>Built for dynamic, growing corpora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5760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D4BF"/>
                </a:solidFill>
                <a:latin typeface="Courier New"/>
              </a:rPr>
              <a:t>DYNAMIC CORPORA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9748A"/>
                </a:solidFill>
                <a:latin typeface="Courier New"/>
              </a:rPr>
              <a:t>8 / 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28632" y="64922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9748A"/>
                </a:solidFill>
                <a:latin typeface="Courier New"/>
              </a:rPr>
              <a:t>AI Retrieval Paradigms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__bg__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7200"/>
            <a:ext cx="12188952" cy="508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9748A"/>
                </a:solidFill>
                <a:latin typeface="Courier New"/>
              </a:rPr>
              <a:t>CHAPTER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2872" y="228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9748A"/>
                </a:solidFill>
                <a:latin typeface="Courier New"/>
              </a:rPr>
              <a:t>AI Retrieval Paradigms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1463040"/>
            <a:ext cx="50800" cy="34747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37360" y="1463040"/>
            <a:ext cx="9144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1">
                <a:solidFill>
                  <a:srgbClr val="AEB8C7"/>
                </a:solidFill>
              </a:rPr>
              <a:t>"Synthesis reflects everything the system has consumed
— not just random K-nearest chunks."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4023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9748A"/>
                </a:solidFill>
                <a:latin typeface="Courier New"/>
              </a:rPr>
              <a:t>OPENKB  ·  INSPIRED BY KARPATHY — COMPILATION-BASED RETRIEVAL AS A FIRST-CLASS BUILD STEP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9748A"/>
                </a:solidFill>
                <a:latin typeface="Courier New"/>
              </a:rPr>
              <a:t>9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8632" y="64922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9748A"/>
                </a:solidFill>
                <a:latin typeface="Courier New"/>
              </a:rPr>
              <a:t>AI Retrieval Paradigms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__bg__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7200"/>
            <a:ext cx="12188952" cy="508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9748A"/>
                </a:solidFill>
                <a:latin typeface="Courier New"/>
              </a:rPr>
              <a:t>OPENKB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2872" y="228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9748A"/>
                </a:solidFill>
                <a:latin typeface="Courier New"/>
              </a:rPr>
              <a:t>AI Retrieval Paradigms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D4BF"/>
                </a:solidFill>
                <a:latin typeface="Courier New"/>
              </a:rPr>
              <a:t>THE KNOWLEDGE-FIRST FUTURE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058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2DD4BF"/>
                </a:solidFill>
              </a:rPr>
              <a:t>Build. Compile.</a:t>
            </a:r>
          </a:p>
          <a:p>
            <a:r>
              <a:rPr sz="5400" b="1">
                <a:solidFill>
                  <a:srgbClr val="2DD4BF"/>
                </a:solidFill>
              </a:rPr>
              <a:t>Know.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1480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EB8C7"/>
                </a:solidFill>
              </a:rPr>
              <a:t>Stop retrieving isolated chunks. Treat document ingestion as a compilation step — and let your knowledge base compound across every document you add. RAG for breadth. Graphs for structure. Compilation for synthesis.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5577840"/>
            <a:ext cx="2651760" cy="347472"/>
          </a:xfrm>
          <a:prstGeom prst="rect">
            <a:avLst/>
          </a:prstGeom>
          <a:solidFill>
            <a:srgbClr val="0F141D"/>
          </a:solidFill>
          <a:ln w="9525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6159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D4BF"/>
                </a:solidFill>
                <a:latin typeface="Courier New"/>
              </a:rPr>
              <a:t>github.com/VectifyAI/OpenKB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5577840"/>
            <a:ext cx="2651760" cy="347472"/>
          </a:xfrm>
          <a:prstGeom prst="rect">
            <a:avLst/>
          </a:prstGeom>
          <a:solidFill>
            <a:srgbClr val="0F141D"/>
          </a:solidFill>
          <a:ln w="9525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40" y="56159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D4BF"/>
                </a:solidFill>
                <a:latin typeface="Courier New"/>
              </a:rPr>
              <a:t>PageIndex — vectorless retrieval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5577840"/>
            <a:ext cx="2651760" cy="347472"/>
          </a:xfrm>
          <a:prstGeom prst="rect">
            <a:avLst/>
          </a:prstGeom>
          <a:solidFill>
            <a:srgbClr val="0F141D"/>
          </a:solidFill>
          <a:ln w="9525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56159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D4BF"/>
                </a:solidFill>
                <a:latin typeface="Courier New"/>
              </a:rPr>
              <a:t>shekerkamma/OpenKB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9748A"/>
                </a:solidFill>
                <a:latin typeface="Courier New"/>
              </a:rPr>
              <a:t>10 / 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28632" y="64922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9748A"/>
                </a:solidFill>
                <a:latin typeface="Courier New"/>
              </a:rPr>
              <a:t>AI Retrieval Paradigms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