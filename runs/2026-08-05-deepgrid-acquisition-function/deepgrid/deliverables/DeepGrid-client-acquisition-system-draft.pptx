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Price (₹ lakh)</c:v>
                </c:pt>
              </c:strCache>
            </c:strRef>
          </c:tx>
          <c:spPr>
            <a:solidFill>
              <a:srgbClr val="00C9A7"/>
            </a:solidFill>
          </c:spPr>
          <c:cat>
            <c:strRef>
              <c:f>Sheet1!$A$2:$A$7</c:f>
              <c:strCache>
                <c:ptCount val="6"/>
                <c:pt idx="0">
                  <c:v>AIS-140 GPS device</c:v>
                </c:pt>
                <c:pt idx="1">
                  <c:v>“AIS-compliant” box</c:v>
                </c:pt>
                <c:pt idx="2">
                  <c:v>DeepGrid AD2 kit</c:v>
                </c:pt>
                <c:pt idx="3">
                  <c:v>Mobileye EyeQ</c:v>
                </c:pt>
                <c:pt idx="4">
                  <c:v>Continental ARS</c:v>
                </c:pt>
                <c:pt idx="5">
                  <c:v>Nvidia Orin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</c:v>
                </c:pt>
                <c:pt idx="1">
                  <c:v>0.28</c:v>
                </c:pt>
                <c:pt idx="2">
                  <c:v>2.3</c:v>
                </c:pt>
                <c:pt idx="3">
                  <c:v>6.5</c:v>
                </c:pt>
                <c:pt idx="4">
                  <c:v>10.0</c:v>
                </c:pt>
                <c:pt idx="5">
                  <c:v>15.0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FE5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9DFE5"/>
              </a:solidFill>
            </a:ln>
          </c:spPr>
        </c:majorGridlines>
        <c:numFmt formatCode="0.0&quot;L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Build effort (hours)</c:v>
                </c:pt>
              </c:strCache>
            </c:strRef>
          </c:tx>
          <c:spPr>
            <a:solidFill>
              <a:srgbClr val="00C9A7"/>
            </a:solidFill>
          </c:spPr>
          <c:cat>
            <c:strRef>
              <c:f>Sheet1!$A$2:$A$11</c:f>
              <c:strCache>
                <c:ptCount val="10"/>
                <c:pt idx="0">
                  <c:v>L1
Prompt</c:v>
                </c:pt>
                <c:pt idx="1">
                  <c:v>L2
Chain</c:v>
                </c:pt>
                <c:pt idx="2">
                  <c:v>L3
Brain</c:v>
                </c:pt>
                <c:pt idx="3">
                  <c:v>L4
Skill</c:v>
                </c:pt>
                <c:pt idx="4">
                  <c:v>L5
Deliverable</c:v>
                </c:pt>
                <c:pt idx="5">
                  <c:v>L6
Connect</c:v>
                </c:pt>
                <c:pt idx="6">
                  <c:v>L7
Agent</c:v>
                </c:pt>
                <c:pt idx="7">
                  <c:v>L8
Team</c:v>
                </c:pt>
                <c:pt idx="8">
                  <c:v>L9
Always on</c:v>
                </c:pt>
                <c:pt idx="9">
                  <c:v>L10
Function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1</c:v>
                </c:pt>
                <c:pt idx="6">
                  <c:v>4</c:v>
                </c:pt>
                <c:pt idx="7">
                  <c:v>12</c:v>
                </c:pt>
                <c:pt idx="8">
                  <c:v>8</c:v>
                </c:pt>
                <c:pt idx="9">
                  <c:v>80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FE5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FE5"/>
              </a:solidFill>
            </a:ln>
          </c:spPr>
        </c:majorGridlines>
        <c:numFmt formatCode="0&quot;h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documents an operating system, not a strategy opinion. Everything in it is written</a:t>
            </a:r>
          </a:p>
          <a:p>
            <a:r>
              <a:t>into six context files that sit in the run folder — the deck is the readable version, the</a:t>
            </a:r>
          </a:p>
          <a:p>
            <a:r>
              <a:t>files are what actually removes work.</a:t>
            </a:r>
          </a:p>
          <a:p>
            <a:r>
              <a:t>The test that matters is not whether this deck is persuasive. It is whether a cold session,</a:t>
            </a:r>
          </a:p>
          <a:p>
            <a:r>
              <a:t>given only those six files, produces outbound a founder would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problem, not the answer. Without this slide the six files look like bureaucracy;</a:t>
            </a:r>
          </a:p>
          <a:p>
            <a:r>
              <a:t>with it they look like the obvious fix.</a:t>
            </a:r>
          </a:p>
          <a:p>
            <a:r>
              <a:t>The table is deliberately not a criticism of the team. Every row represents a document that</a:t>
            </a:r>
          </a:p>
          <a:p>
            <a:r>
              <a:t>was right when written and was then superseded without the earlier one being withdrawn. That</a:t>
            </a:r>
          </a:p>
          <a:p>
            <a:r>
              <a:t>is normal, and it is exactly what a context layer prevents.</a:t>
            </a:r>
          </a:p>
          <a:p>
            <a:r>
              <a:t>The right-hand panel matters for the room: the thinking is genuinely good. What is missing is</a:t>
            </a:r>
          </a:p>
          <a:p>
            <a:r>
              <a:t>somewhere for it to live that a person or a tool can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framework this comes from is explicit that a deliverable which removes no work from</a:t>
            </a:r>
          </a:p>
          <a:p>
            <a:r>
              <a:t>someone's calendar is a toy. So the deliverable is the files; this slide is the map.</a:t>
            </a:r>
          </a:p>
          <a:p>
            <a:r>
              <a:t>Note the blocked row. Voice cannot be invented — it needs three real emails and three real</a:t>
            </a:r>
          </a:p>
          <a:p>
            <a:r>
              <a:t>posts a founder actually wrote. Inventing one would produce the model's default voice, which</a:t>
            </a:r>
          </a:p>
          <a:p>
            <a:r>
              <a:t>is the exact failure Level 3 exists to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 — targeting.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prioritisation rule is deliberately narrow and it is the whole slide: what does this</a:t>
            </a:r>
          </a:p>
          <a:p>
            <a:r>
              <a:t>buyer require us to already hold?</a:t>
            </a:r>
          </a:p>
          <a:p>
            <a:r>
              <a:t>Government and yard operators require eligibility and a demo. Both exist today. Everything</a:t>
            </a:r>
          </a:p>
          <a:p>
            <a:r>
              <a:t>else waits on certification or a relationship we do not have.</a:t>
            </a:r>
          </a:p>
          <a:p>
            <a:r>
              <a:t>The red panel is the half most ICP work omits. Knowing who wastes your time saves more weeks</a:t>
            </a:r>
          </a:p>
          <a:p>
            <a:r>
              <a:t>than knowing who to target, and the third bullet is a discipline point — walking away from a</a:t>
            </a:r>
          </a:p>
          <a:p>
            <a:r>
              <a:t>buyer who needs a number we cannot evidence is cheaper than inventing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axis, deliberately, so the asymmetry is impossible to miss: DeepGrid sits far closer to</a:t>
            </a:r>
          </a:p>
          <a:p>
            <a:r>
              <a:t>the compliance box than to the imports, but the buyer's mental anchor is the box.</a:t>
            </a:r>
          </a:p>
          <a:p>
            <a:r>
              <a:t>The instruction is the second bullet. Opening on price invites the comparison we lose.</a:t>
            </a:r>
          </a:p>
          <a:p>
            <a:r>
              <a:t>Opening on certified AEBS moves the conversation to ground where a ₹30,000 device has no</a:t>
            </a:r>
          </a:p>
          <a:p>
            <a:r>
              <a:t>answer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because it was missing, and its absence broke the cold-chat gate test.</a:t>
            </a:r>
          </a:p>
          <a:p>
            <a:r>
              <a:t>The files described AD4 as "off-highway autonomy, ₹0.45-3.5 Cr" and never said what it does.</a:t>
            </a:r>
          </a:p>
          <a:p>
            <a:r>
              <a:t>A cold assistant asked to write to a container port could not describe the product, because</a:t>
            </a:r>
          </a:p>
          <a:p>
            <a:r>
              <a:t>the description was not there. It is recovered here from the BP-1A ADAS product-line table.</a:t>
            </a:r>
          </a:p>
          <a:p>
            <a:r>
              <a:t>The important line is the one between AD2 and AD4. AD0 and AD2 are driver assistance: a human</a:t>
            </a:r>
          </a:p>
          <a:p>
            <a:r>
              <a:t>drives and the system helps. AD4 removes the driver. Different buyer, different sales cycle,</a:t>
            </a:r>
          </a:p>
          <a:p>
            <a:r>
              <a:t>and a completely different proof burden — a driverless multi-tonne vehicle operating near</a:t>
            </a:r>
          </a:p>
          <a:p>
            <a:r>
              <a:t>people needs a safety case that does not exist yet.</a:t>
            </a:r>
          </a:p>
          <a:p>
            <a:r>
              <a:t>Note the evidence column. Everything below AD2 is a plan. 96 percent of the AD4 revenue line</a:t>
            </a:r>
          </a:p>
          <a:p>
            <a:r>
              <a:t>is an unbuilt product, so treat AD4 conversations as discovery, never as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useful change in the whole system and it costs nothing to adopt.</a:t>
            </a:r>
          </a:p>
          <a:p>
            <a:r>
              <a:t>Neither of DeepGrid's plans prices by function — everything is quoted as a kit, which forces</a:t>
            </a:r>
          </a:p>
          <a:p>
            <a:r>
              <a:t>a bundle-versus-box comparison that the cheap box wins.</a:t>
            </a:r>
          </a:p>
          <a:p>
            <a:r>
              <a:t>Split it. AEBS needs radar, brake actuation and homologation; a camera box cannot deliver it</a:t>
            </a:r>
          </a:p>
          <a:p>
            <a:r>
              <a:t>regardless of price. Driver monitoring is similarly hard to fake. Those two carry the price.</a:t>
            </a:r>
          </a:p>
          <a:p>
            <a:r>
              <a:t>The warning functions are what the cheap box does fine. Giving them away removes the buyer's</a:t>
            </a:r>
          </a:p>
          <a:p>
            <a:r>
              <a:t>strongest comparison and costs no margin that was ever winnable.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discipline rule is the easiest to break under pressure and usually with good intentions —</a:t>
            </a:r>
          </a:p>
          <a:p>
            <a:r>
              <a:t>a fleet meeting is going badly and the defence traction is right there as proof somebody buys</a:t>
            </a:r>
          </a:p>
          <a:p>
            <a:r>
              <a:t>this.</a:t>
            </a:r>
          </a:p>
          <a:p>
            <a:r>
              <a:t>Resist it. Defence proof does not transfer; it signals the fleet product is a side project.</a:t>
            </a:r>
          </a:p>
          <a:p>
            <a:r>
              <a:t>In reverse it is worse: a procurement officer who hears a per-unit retrofit pitch</a:t>
            </a:r>
          </a:p>
          <a:p>
            <a:r>
              <a:t>re-categorises the whole conversation as commodity buying.</a:t>
            </a:r>
          </a:p>
          <a:p>
            <a:r>
              <a:t>Both gates are revised from the original plan because verification showed the originals were</a:t>
            </a:r>
          </a:p>
          <a:p>
            <a:r>
              <a:t>either unreachable or measuring the wrong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page that protects the business, and it belongs in front of anyone client-facing</a:t>
            </a:r>
          </a:p>
          <a:p>
            <a:r>
              <a:t>before their first meeting.</a:t>
            </a:r>
          </a:p>
          <a:p>
            <a:r>
              <a:t>The left column is short on purpose. Two contracted items, two measured numbers, one live</a:t>
            </a:r>
          </a:p>
          <a:p>
            <a:r>
              <a:t>demo, one filing. That is a real and defensible position for a company at this stage — and</a:t>
            </a:r>
          </a:p>
          <a:p>
            <a:r>
              <a:t>far stronger than a longer list that collapses on inspection.</a:t>
            </a:r>
          </a:p>
          <a:p>
            <a:r>
              <a:t>The right column exists because every one of those claims is disprovable by a competent</a:t>
            </a:r>
          </a:p>
          <a:p>
            <a:r>
              <a:t>evaluator in a single meeting. Being caught once costs the credibility of everything else in</a:t>
            </a:r>
          </a:p>
          <a:p>
            <a:r>
              <a:t>the room, including the true things on the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 —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state machine looks trivial and is the thing most acquisition systems get wrong.</a:t>
            </a:r>
          </a:p>
          <a:p>
            <a:r>
              <a:t>One record, one state, one store. If two people — or later, two agents — disagree about</a:t>
            </a:r>
          </a:p>
          <a:p>
            <a:r>
              <a:t>where a lead is, the store is broken and no amount of process fixes it.</a:t>
            </a:r>
          </a:p>
          <a:p>
            <a:r>
              <a:t>One intake path matters just as much. The temptation is to handle referrals differently from</a:t>
            </a:r>
          </a:p>
          <a:p>
            <a:r>
              <a:t>cold leads because referrals feel special. That is exactly how the record shape diverges and</a:t>
            </a:r>
          </a:p>
          <a:p>
            <a:r>
              <a:t>the pipeline stops being countable.</a:t>
            </a:r>
          </a:p>
          <a:p>
            <a:r>
              <a:t>The approval line at the bottom is written down in advance deliberately, so it is never a</a:t>
            </a:r>
          </a:p>
          <a:p>
            <a:r>
              <a:t>judgement call in the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chart is build effort, and it deliberately shows that effort is not what governs the</a:t>
            </a:r>
          </a:p>
          <a:p>
            <a:r>
              <a:t>order — sequence is.</a:t>
            </a:r>
          </a:p>
          <a:p>
            <a:r>
              <a:t>Level 10 dwarfs everything else at roughly two to four weeks on top of all the rest, which is</a:t>
            </a:r>
          </a:p>
          <a:p>
            <a:r>
              <a:t>why jumping to it is the classic failure.</a:t>
            </a:r>
          </a:p>
          <a:p>
            <a:r>
              <a:t>The blocked marker on Level 6 is the honest constraint. No CRM means no connection layer, and</a:t>
            </a:r>
          </a:p>
          <a:p>
            <a:r>
              <a:t>no connection layer means agents have nothing real to act on. Fix that before anything above</a:t>
            </a:r>
          </a:p>
          <a:p>
            <a:r>
              <a:t>it is worth attempting.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 —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eight need a founder specifically, and they are the three that gate the rest.</a:t>
            </a:r>
          </a:p>
          <a:p>
            <a:r>
              <a:t>Voice samples cannot be delegated or invented. The claimable set is a commitment about what</a:t>
            </a:r>
          </a:p>
          <a:p>
            <a:r>
              <a:t>the company will assert publicly. Pricing by function is a real pricing decision, not a</a:t>
            </a:r>
          </a:p>
          <a:p>
            <a:r>
              <a:t>presentation choice.</a:t>
            </a:r>
          </a:p>
          <a:p>
            <a:r>
              <a:t>Item five costs nothing and should happen today — the June IM is the most polished document</a:t>
            </a:r>
          </a:p>
          <a:p>
            <a:r>
              <a:t>in the set and carries six claims that have been retired.</a:t>
            </a:r>
          </a:p>
          <a:p>
            <a:r>
              <a:t>Item eight is the honest weakness in what has been built: the objection responses are drafted</a:t>
            </a:r>
          </a:p>
          <a:p>
            <a:r>
              <a:t>from verified evidence rather than taken from real conversations, which is the opposite of</a:t>
            </a:r>
          </a:p>
          <a:p>
            <a:r>
              <a:t>what the framework asks for. They are a starting point to be replaced, not a finished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ck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CLIENT ACQUISITION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How DeepGrid wins 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42900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841248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Who we sell to, what we sell, what we may claim, and how a lead travels — built as files the team and the tooling both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46320"/>
            <a:ext cx="2240280" cy="402336"/>
          </a:xfrm>
          <a:prstGeom prst="roundRect">
            <a:avLst>
              <a:gd name="adj" fmla="val 2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56048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2 segments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4846320"/>
            <a:ext cx="2240280" cy="402336"/>
          </a:xfrm>
          <a:prstGeom prst="roundRect">
            <a:avLst>
              <a:gd name="adj" fmla="val 2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4956048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price by function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4846320"/>
            <a:ext cx="2240280" cy="402336"/>
          </a:xfrm>
          <a:prstGeom prst="roundRect">
            <a:avLst>
              <a:gd name="adj" fmla="val 2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4956048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9 claims retired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846320"/>
            <a:ext cx="2240280" cy="402336"/>
          </a:xfrm>
          <a:prstGeom prst="roundRect">
            <a:avLst>
              <a:gd name="adj" fmla="val 25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4956048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1 lead state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knowledge exists. It is just not usable.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Four documents, fourteen contradictions, nine retired claims — and no operating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4415" cy="4937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09928"/>
            <a:ext cx="2505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Where they disagree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709928"/>
            <a:ext cx="405993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is in circulation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1709928"/>
            <a:ext cx="408736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survives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57984"/>
            <a:ext cx="11094415" cy="49377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03704"/>
            <a:ext cx="2505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FY32 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03704"/>
            <a:ext cx="405993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84% (IM) · 88% blended (July) · 72% kit (BP-1A)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203704"/>
            <a:ext cx="408736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72% kit only; 88% needs 120% on non-kit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11094415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2505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Defence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97480"/>
            <a:ext cx="405993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“₹1 Cr” (IM, July deck)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697480"/>
            <a:ext cx="408736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₹23.01L delivered, different entity, MCEME 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45536"/>
            <a:ext cx="11094415" cy="49377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91256"/>
            <a:ext cx="2505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Mandate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91256"/>
            <a:ext cx="405993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“Live since April 2026”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191256"/>
            <a:ext cx="408736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GSR 184(E) was a draft; AEBS binds 1 Jan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39312"/>
            <a:ext cx="11094415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85032"/>
            <a:ext cx="2505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Compute claim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685032"/>
            <a:ext cx="405993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“39.3 TOPS measured on FPGA”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685032"/>
            <a:ext cx="408736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Artix-7 ceilings ~1.8 TOPS. It is a derivation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33088"/>
            <a:ext cx="11094415" cy="49377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78808"/>
            <a:ext cx="2505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Price advantage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178808"/>
            <a:ext cx="405993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“3–7×” (IM) · “12.9×” (July)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178808"/>
            <a:ext cx="408736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~2.8–6.5× vs imports; ~2.3× loaded on cost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54880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754880"/>
            <a:ext cx="54864" cy="1371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91947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What this costs, per message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248656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Every outbound email, proposal and call prep needs a human to reconcile four documents and recall which claims were retired. Pay that tax wrongly once and the buyer's evaluator finds it — costing the credibility of the true claims too.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4754880"/>
            <a:ext cx="5010912" cy="13716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4919472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Why this is not a document problem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5248656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The thinking is good — the July deck has a real ICP scorecard, two-track positioning and a banned-claims list. It has just never been written somewhere a person or a tool can execute against. “Read BP-1A §7” is a research task, not a context file.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system is a ladder: two prompts, one chain, six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Levels 1-3 built · gate run four times · the fourth tested the segment we can actually sell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4415" cy="34747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09928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57058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it carries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709928"/>
            <a:ext cx="2715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1094415" cy="34747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L1 prompts/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57400"/>
            <a:ext cx="57058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Qualify-lead + first-contact, four-part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715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BUILT — unvalidated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59152"/>
            <a:ext cx="1109441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04872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L2 chains/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404872"/>
            <a:ext cx="57058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5-step outreach round, checkpoint after qualify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404872"/>
            <a:ext cx="2715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BUILT — never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06624"/>
            <a:ext cx="11094415" cy="347472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06624"/>
            <a:ext cx="50292" cy="34747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52344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01-offer.md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752344"/>
            <a:ext cx="57058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Five-line ladder AD0–AD4, each with its evidence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752344"/>
            <a:ext cx="2715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FIXED — recovered from BP-1A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54096"/>
            <a:ext cx="1109441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99816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02-icp.md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099816"/>
            <a:ext cx="57058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Who buys, who does not, and the prioritisation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99816"/>
            <a:ext cx="2715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401568"/>
            <a:ext cx="11094415" cy="34747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47288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03-voice.md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447288"/>
            <a:ext cx="57058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5 verbatim samples from BP-1B + banned-words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447288"/>
            <a:ext cx="2715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FIXED — was never blocked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49040"/>
            <a:ext cx="1109441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94760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04-proof.md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794760"/>
            <a:ext cx="57058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Every claim we may make, with evidence 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94760"/>
            <a:ext cx="2715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 approval on claimable 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096512"/>
            <a:ext cx="11094415" cy="34747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142232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05-objections.md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4142232"/>
            <a:ext cx="57058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10 road objections + a 7-item AGV gap register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142232"/>
            <a:ext cx="2715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Partial — AGV set needs real calls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443984"/>
            <a:ext cx="1109441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89704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06-process.md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489704"/>
            <a:ext cx="57058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Lead states, stages, owners, approval gates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489704"/>
            <a:ext cx="2715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Ready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74336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5138928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Why files and not a document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486400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Today every outbound message requires a human to reconcile four documents that disagree, and to remember which claims were retired. Files move that from a per-message task to a one-time write — and any tooling reads the same source the team does.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29400" y="4974336"/>
            <a:ext cx="5010912" cy="137160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29400" y="4974336"/>
            <a:ext cx="54864" cy="13716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39712" y="513892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Round 4 — testing the sellable segment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9712" y="548640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Rounds 1-3 all tested outbound to a port — the segment we had just demoted to design-partner. Round 4 tested government/PSU + AD0, the one thing sellable today. It recovered the AD0 Tower spec, a second GeM record, and a price defence that exists. It also caught a scoring model that summed to 12 out of 10.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d_truck_4876495x6858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6033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PART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90672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Who we sell 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50208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Two segments now, and the disqualifiers that save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One segment sells today. The rest need something we do not hold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From 02-icp.md · the prioritisation test is what the buyer requires us to already hold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4415" cy="51206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09928"/>
            <a:ext cx="259689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09928"/>
            <a:ext cx="332841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Why it is addressable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09928"/>
            <a:ext cx="305409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it requires us to 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709928"/>
            <a:ext cx="1527048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76272"/>
            <a:ext cx="11094415" cy="512064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76272"/>
            <a:ext cx="50292" cy="5120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21992"/>
            <a:ext cx="259689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Government / PSU / defence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21992"/>
            <a:ext cx="332841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Foreign silicon excluded by rule; GeM access proven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221992"/>
            <a:ext cx="305409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Eligibility, not certification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221992"/>
            <a:ext cx="1527048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88336"/>
            <a:ext cx="11094415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34056"/>
            <a:ext cx="259689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Plant, yard and port operators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734056"/>
            <a:ext cx="332841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Private land — no homologation gate at 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734056"/>
            <a:ext cx="305409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working demo and a site reference — we have neither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734056"/>
            <a:ext cx="1527048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DESIGN PARTNER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00400"/>
            <a:ext cx="11094415" cy="51206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46120"/>
            <a:ext cx="259689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Large organised fleets (50+)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246120"/>
            <a:ext cx="332841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Real safety P&amp;L, single decision-maker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46120"/>
            <a:ext cx="305409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Certified AEBS — not held until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246120"/>
            <a:ext cx="1527048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DESIGN PARTNER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12464"/>
            <a:ext cx="11094415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758184"/>
            <a:ext cx="259689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OEM / Tier-1 line-fit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758184"/>
            <a:ext cx="332841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One relationship covers thousands of vehicles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758184"/>
            <a:ext cx="3054096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Homologation + a relationship we lack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758184"/>
            <a:ext cx="1527048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START NOW, CLOSES LATE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52544"/>
            <a:ext cx="11094415" cy="1737360"/>
          </a:xfrm>
          <a:prstGeom prst="roundRect">
            <a:avLst>
              <a:gd name="adj" fmla="val 4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352544"/>
            <a:ext cx="54864" cy="1737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5171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Disqualifiers — these matter more than the qualifiers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873752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Sub-five-truck operators (~3.5M). No purchasing process, price anchored at ₹4,500–11,000. Not addressable directly at any sane cost.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Anyone buying purely to pass inspection — they will buy a ₹15,000–40,000 box and they are right to.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Anyone needing certification today, or a quantified insurance outcome. Walk rather than invent one.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Two contests, and only one of them is winnable on 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ladder the buyer actually sees — from 02-icp.md and 05-objections.md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64208"/>
          <a:ext cx="66751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664208"/>
            <a:ext cx="4187952" cy="38404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2672" y="1865376"/>
            <a:ext cx="374903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How to use this in a 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2672" y="2304288"/>
            <a:ext cx="3749039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Against imports we win 2.8–6.5×. That contest is settled and does not need re-arguing.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150" b="0" i="0">
                <a:solidFill>
                  <a:srgbClr val="FFB800"/>
                </a:solidFill>
                <a:latin typeface="Calibri"/>
              </a:rPr>
              <a:t>Against the compliance box we are ~20× the anchor. Price is not an argument we can win here.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So never open a fleet conversation on price. Open on certified AEBS — what the ₹30,000 box physically cannot do.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Keep the import comparison for OEM and Tier-1 rooms, where the alternative bid really is ₹6.5L and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87568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728716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572414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AIS-140 street pricing confirmed independently Aug 2026; import prices per company deck, not benchmarked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Six products, not one price range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From 01-offer.md · AD0-AD2 is driver assistance · AD3 is it rented · AD4 is driverless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874520"/>
            <a:ext cx="48828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it actually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745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ASP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7452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Evidence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1874520"/>
            <a:ext cx="79552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Motion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50292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AD0 basic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31720"/>
            <a:ext cx="48828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Smart mirror / 360° surround. Cameras replace mirrors; driver drives.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3317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₹0.50L 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Proven on FPGA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331720"/>
            <a:ext cx="79552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11094415" cy="457200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743200"/>
            <a:ext cx="50292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7889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AD0 Tower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788920"/>
            <a:ext cx="48828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Pod: 3× 8MP cameras + 4D 77GHz radar + thermal + DMS + compute.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7889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₹2.3L 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78892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Perception measured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2788920"/>
            <a:ext cx="79552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200400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2461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AD2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246120"/>
            <a:ext cx="48828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Full truck kit — compute + software + sensors. Warns and can brake.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2461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₹2.0–2.5L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24612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Claim outruns silicon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246120"/>
            <a:ext cx="79552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57600"/>
            <a:ext cx="1109441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7033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AD3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3703320"/>
            <a:ext cx="48828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AD2 kit rented, not sold. Same hardware, different contract.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7033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₹0.66 Cr/yr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70332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Plan only, FY28+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3703320"/>
            <a:ext cx="79552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PARTNER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1605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AD4 Heavy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4160520"/>
            <a:ext cx="48828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Driverless heavy transport AGV &gt;5T. No driver in the cab.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1605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₹3.50 Cr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16052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 site, no reference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4160520"/>
            <a:ext cx="79552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PARTNER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6177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AD4 Seaport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4617720"/>
            <a:ext cx="48828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Driverless container-yard AGV — stack to quay. No driver.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46177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₹0.45 Cr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61772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 site, no reference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4617720"/>
            <a:ext cx="79552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PARTNER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175504"/>
            <a:ext cx="11094415" cy="969264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5175504"/>
            <a:ext cx="54864" cy="9692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321808"/>
            <a:ext cx="106372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⚠ Two products are both called AD0: ₹0.50L in the ADAS table, ₹2.3L for the Smart Mirror Tower — 4.6× apart, and only the Tower carries radar, thermal and DMS. Confirm which is being quoted before any AD0 outbound. The wider ₹0.50L-to-₹3.5 Cr spread is a ladder, not a discount band: AD0 and AD2 are what you sell, AD3 and AD4 are design partners only.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Price the function, give away the warnings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From 01-offer.md · the pricing change that removes the buyer's best objection</a:t>
            </a:r>
          </a:p>
        </p:txBody>
      </p:sp>
      <p:pic>
        <p:nvPicPr>
          <p:cNvPr id="6" name="Picture 5" descr="module-m2_2651760x1600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784"/>
            <a:ext cx="2651760" cy="1600200"/>
          </a:xfrm>
          <a:prstGeom prst="rect">
            <a:avLst/>
          </a:prstGeom>
        </p:spPr>
      </p:pic>
      <p:pic>
        <p:nvPicPr>
          <p:cNvPr id="7" name="Picture 6" descr="compute-box_2651760x1600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700784"/>
            <a:ext cx="2651760" cy="1600200"/>
          </a:xfrm>
          <a:prstGeom prst="rect">
            <a:avLst/>
          </a:prstGeom>
        </p:spPr>
      </p:pic>
      <p:pic>
        <p:nvPicPr>
          <p:cNvPr id="8" name="Picture 7" descr="detection_2651760x16002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700784"/>
            <a:ext cx="2651760" cy="1600200"/>
          </a:xfrm>
          <a:prstGeom prst="rect">
            <a:avLst/>
          </a:prstGeom>
        </p:spPr>
      </p:pic>
      <p:pic>
        <p:nvPicPr>
          <p:cNvPr id="9" name="Picture 8" descr="truck_2459736x16002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76" y="1700784"/>
            <a:ext cx="2459736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3520440"/>
            <a:ext cx="11094415" cy="4937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2505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566160"/>
            <a:ext cx="35112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566160"/>
            <a:ext cx="35112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Why it prices — or does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3566160"/>
            <a:ext cx="97840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14216"/>
            <a:ext cx="11094415" cy="493776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14216"/>
            <a:ext cx="50292" cy="4937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59936"/>
            <a:ext cx="2505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Certified AEBS (AIS-162)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59936"/>
            <a:ext cx="35112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Radar, brake actuation, proving-ground homologation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059936"/>
            <a:ext cx="35112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₹30k camera box cannot do this at any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4059936"/>
            <a:ext cx="97840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PRICE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07992"/>
            <a:ext cx="11094415" cy="493776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07992"/>
            <a:ext cx="50292" cy="4937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53712"/>
            <a:ext cx="2505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Driver monitoring (DMS)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553712"/>
            <a:ext cx="35112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In-cabin perception, AIS-184 addressable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553712"/>
            <a:ext cx="35112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Hard to approximate; fleet-relevant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4553712"/>
            <a:ext cx="97840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PRICE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01768"/>
            <a:ext cx="11094415" cy="493776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47488"/>
            <a:ext cx="250545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LDW / BSD / warnings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047488"/>
            <a:ext cx="35112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Warning-only functions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047488"/>
            <a:ext cx="35112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Exactly what the cheap box does adequately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5047488"/>
            <a:ext cx="97840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RIDE FREE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614416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614416"/>
            <a:ext cx="54864" cy="5669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74243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Sell the bundle and the buyer compares ₹2.3L to ₹30,000 on the box's terms. Sell the function and the box has no answer. Never open a fleet conversation on price.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Two tracks, two proof burdens, never the same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From 02-icp.md and 05-objections.md · positioning discipline</a:t>
            </a:r>
          </a:p>
        </p:txBody>
      </p:sp>
      <p:pic>
        <p:nvPicPr>
          <p:cNvPr id="6" name="Picture 5" descr="robots_5486400x1554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784"/>
            <a:ext cx="5486400" cy="1554480"/>
          </a:xfrm>
          <a:prstGeom prst="rect">
            <a:avLst/>
          </a:prstGeom>
        </p:spPr>
      </p:pic>
      <p:pic>
        <p:nvPicPr>
          <p:cNvPr id="7" name="Picture 6" descr="radar-viz_5257800x15544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700784"/>
            <a:ext cx="5257800" cy="1554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364992"/>
            <a:ext cx="5486400" cy="23317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958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TRACK A · DEFENCE, PSU, YARDS — SELL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858768"/>
            <a:ext cx="5029200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Say: sovereign data, on-die HSM, Indian-designed, shipping on FPGA, GeM record, ₹23.01L delivered.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50" b="0" i="0">
                <a:solidFill>
                  <a:srgbClr val="E05A6B"/>
                </a:solidFill>
                <a:latin typeface="Calibri"/>
              </a:rPr>
              <a:t>Never say: the retrofit price line, fleet ROI, or anything about insurance.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Gate: a named programme and a named SI partner by Month 3, or this is a services business rather than a silicon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3364992"/>
            <a:ext cx="5257800" cy="233172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5295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TRACK B · FLEETS — RECRUIT DESIGN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58768"/>
            <a:ext cx="4846320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Say: the 1 Oct 2027 AEBS requirement, one kit covering AEBS and DMS, influence over what gets certified for your fleet.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50" b="0" i="0">
                <a:solidFill>
                  <a:srgbClr val="E05A6B"/>
                </a:solidFill>
                <a:latin typeface="Calibri"/>
              </a:rPr>
              <a:t>Never say: sovereign data, defence customers, or a 2026 deadline.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Gate: two design partners committing fleet access and a measurement baseline by Month 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0644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806440"/>
            <a:ext cx="54864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90702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A blurred statement reads as a company that has not chosen. The two stories are individually strong and jointly weak.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we may claim — and the nine claims now retired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From 04-proof.md · this file is the ceiling on every claim the system may make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May be claimed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56816"/>
            <a:ext cx="5669280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396849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02536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40864"/>
            <a:ext cx="5669280" cy="384048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50292" cy="3840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396849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GeM procurement record held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86584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CONTRACTED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24912"/>
            <a:ext cx="5669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70632"/>
            <a:ext cx="396849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₹23.01L delivered — Robot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70632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CONTRACTED*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5669280" cy="384048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50292" cy="3840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54680"/>
            <a:ext cx="396849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YOLOv11n at 40 fps on FPGA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154680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MEASURED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93008"/>
            <a:ext cx="5669280" cy="384048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493008"/>
            <a:ext cx="50292" cy="3840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38728"/>
            <a:ext cx="396849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Attention head at 24.25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538728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MEASURED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77056"/>
            <a:ext cx="5669280" cy="3840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22776"/>
            <a:ext cx="396849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DGS001 running on FPGA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922776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SILICON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61104"/>
            <a:ext cx="5669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06824"/>
            <a:ext cx="396849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15 provisional patents filed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306824"/>
            <a:ext cx="14081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61772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* sits in Deepgrid Datacentre, not Semi. IP is MCEME-owned. Not ADAS revenue — this caveat must always travel with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1645920"/>
            <a:ext cx="51937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Retired — never say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1956816"/>
            <a:ext cx="5193792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002536"/>
            <a:ext cx="26883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Retired claim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002536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2340864"/>
            <a:ext cx="5193792" cy="3840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386584"/>
            <a:ext cx="26883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“39.3 TOPS measured”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386584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Artix-7 ceilings ~1.8 TOPS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2724912"/>
            <a:ext cx="519379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2770632"/>
            <a:ext cx="26883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“84% / 88% gross margin”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770632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Retracted; blend needs 120%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3108960"/>
            <a:ext cx="5193792" cy="3840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3154680"/>
            <a:ext cx="26883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“12.9× cheaper”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3154680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Their ASP vs our die cost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3493008"/>
            <a:ext cx="519379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3538728"/>
            <a:ext cx="26883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“₹1 Cr defence revenue”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3538728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₹23.01L; rest is L1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3877056"/>
            <a:ext cx="5193792" cy="3840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922776"/>
            <a:ext cx="26883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“Transformer VLA on-chip”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3922776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Bandwidth-bound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4261104"/>
            <a:ext cx="519379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4306824"/>
            <a:ext cx="26883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“Mandate live since Apr 2026”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4306824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That rule was a draft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4645152"/>
            <a:ext cx="5193792" cy="3840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4690872"/>
            <a:ext cx="26883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“Mandate-ready” · “ASIL-D”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72600" y="4690872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Neither is held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5029200"/>
            <a:ext cx="519379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7960" y="5074920"/>
            <a:ext cx="26883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Any insurance / accident 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600" y="5074920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 baseline, no actuary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d_detection_4876495x6858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6033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PART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90672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How a lead travels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50208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One intake path, one state machine, written-down approvals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One intake path, one state machine, one record per 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From 06-process.md · this is the foundation everything automated sits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537890" cy="566928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83664"/>
            <a:ext cx="153789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1394" y="1737360"/>
            <a:ext cx="1537890" cy="566928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1394" y="1883664"/>
            <a:ext cx="153789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researched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4148" y="1737360"/>
            <a:ext cx="1537890" cy="566928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4148" y="1883664"/>
            <a:ext cx="153789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contacted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6902" y="1737360"/>
            <a:ext cx="1537890" cy="566928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6902" y="1883664"/>
            <a:ext cx="153789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replied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19656" y="1737360"/>
            <a:ext cx="1537890" cy="566928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9656" y="1883664"/>
            <a:ext cx="153789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booked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12410" y="1737360"/>
            <a:ext cx="1537890" cy="566928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2410" y="1883664"/>
            <a:ext cx="153789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proposed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5164" y="1737360"/>
            <a:ext cx="1537890" cy="56692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5164" y="1883664"/>
            <a:ext cx="153789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won / lost / dead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45059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Every lead enters the same way regardless of source — referral, inbound, event, cold, GeM tender alert. Same record shape, same first step. Multiple intake paths is the most common reason these systems collapse.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35808"/>
            <a:ext cx="11094415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81528"/>
            <a:ext cx="676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081528"/>
            <a:ext cx="2962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happens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081528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081528"/>
            <a:ext cx="463600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Exit criterion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19856"/>
            <a:ext cx="11094415" cy="3840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465576"/>
            <a:ext cx="676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1–2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465576"/>
            <a:ext cx="2962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Source and qualify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465576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Commercial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465576"/>
            <a:ext cx="463600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Passes ICP; disqualifiers cleared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03904"/>
            <a:ext cx="11094415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49624"/>
            <a:ext cx="676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849624"/>
            <a:ext cx="2962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849624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Commercial lead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849624"/>
            <a:ext cx="463600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Buying trigger found, or “none found” recorded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87952"/>
            <a:ext cx="11094415" cy="3840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233672"/>
            <a:ext cx="676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4–5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233672"/>
            <a:ext cx="2962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Contact and discovery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233672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Commercial lead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233672"/>
            <a:ext cx="463600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Requirement, timeline, decision unit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572000"/>
            <a:ext cx="11094415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17720"/>
            <a:ext cx="676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17720"/>
            <a:ext cx="2962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Technical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617720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617720"/>
            <a:ext cx="463600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Their evaluator has seen demo and proof kit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956048"/>
            <a:ext cx="11094415" cy="38404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001768"/>
            <a:ext cx="676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7–8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5001768"/>
            <a:ext cx="2962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Proposal and close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001768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Commercial + founder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001768"/>
            <a:ext cx="463600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Priced by function; founder approved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340096"/>
            <a:ext cx="11094415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385816"/>
            <a:ext cx="676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5385816"/>
            <a:ext cx="2962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Deploy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5385816"/>
            <a:ext cx="22311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Engineering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5385816"/>
            <a:ext cx="463600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Installed; baseline measurement started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742432"/>
            <a:ext cx="11094415" cy="502920"/>
          </a:xfrm>
          <a:prstGeom prst="roundRect">
            <a:avLst>
              <a:gd name="adj" fmla="val 4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" y="5742432"/>
            <a:ext cx="54864" cy="5029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5861304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Human approval, not negotiable: anything sent to a client · any price · any contract · any claim not in 04-proof.md · any lead scoring above 9.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Ten levels, built in order — we are at three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level must remove a task from somebody's calendar, or it is deleted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64208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2180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Effort is not the constraint — sequence is. Level 7 built on a broken Level 3 is just a faster mess.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700784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828800"/>
            <a:ext cx="1691640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B800"/>
                </a:solidFill>
                <a:latin typeface="Calibri"/>
              </a:rPr>
              <a:t>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368296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Building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624328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the Brain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74352" y="1700784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11512" y="1828800"/>
            <a:ext cx="1691640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E05A6B"/>
                </a:solidFill>
                <a:latin typeface="Calibri"/>
              </a:rPr>
              <a:t>L6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1512" y="2368296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1512" y="2624328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no CRM exists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182112"/>
            <a:ext cx="4096512" cy="25146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2" y="338328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Why Level 3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3785615"/>
            <a:ext cx="3657600" cy="1783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Levels 1 and 2 are trivial once the Brain exists — and writing them first would encode the contradictions between the four source documents.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Level 6 is genuinely blocked: there is no CRM or shared store, so a connected system has nowhere to read and write.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That is a purchase decision, not something to engineer around.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d_robots_4876495x6858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6033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PART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90672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What happens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50208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Three founder decisions gate everything else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happens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Item 1 is one sentence from the founder and it blocks the whole port motion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4415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09928"/>
            <a:ext cx="3566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09928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09928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709928"/>
            <a:ext cx="1316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709928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93392"/>
            <a:ext cx="11094415" cy="329184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93392"/>
            <a:ext cx="50292" cy="3291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39112"/>
            <a:ext cx="3566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039112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Answer: is AD4 Seaport a vehicle or a retrofit kit?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39112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39112"/>
            <a:ext cx="1316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039112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Decides replace-your-fleet vs convert-it; blocks all port outbound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322576"/>
            <a:ext cx="11094415" cy="329184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322576"/>
            <a:ext cx="50292" cy="3291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68296"/>
            <a:ext cx="3566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68296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Supply one real COLD email to a stranger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368296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368296"/>
            <a:ext cx="1316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This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368296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5 samples recovered from BP-1B; all are replies, none are cold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51760"/>
            <a:ext cx="11094415" cy="329184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651760"/>
            <a:ext cx="50292" cy="3291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697480"/>
            <a:ext cx="3566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2697480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 approves the claimable set in 04-proof.md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2697480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697480"/>
            <a:ext cx="1316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This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2697480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Nothing goes out until this is signed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980944"/>
            <a:ext cx="11094415" cy="329184"/>
          </a:xfrm>
          <a:prstGeom prst="rect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2980944"/>
            <a:ext cx="50292" cy="3291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26664"/>
            <a:ext cx="3566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3026664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 approves pricing in 01-offer.md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026664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026664"/>
            <a:ext cx="1316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This week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3026664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Price-by-function is a commitment, not a description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310128"/>
            <a:ext cx="11094415" cy="32918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355848"/>
            <a:ext cx="3566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3355848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Re-run the cold-chat gate test after items 1–4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3355848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Commercial lead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3355848"/>
            <a:ext cx="1316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3355848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twice: guardrails pass, outbound still fails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639312"/>
            <a:ext cx="11094415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685032"/>
            <a:ext cx="3566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3685032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Withdraw the June IM from circulation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3685032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3685032"/>
            <a:ext cx="1316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Immediately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3685032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It carries six retired claims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968496"/>
            <a:ext cx="11094415" cy="32918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014216"/>
            <a:ext cx="3566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4014216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Resolve the AD3 rent-vs-sale price conflict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9240" y="4014216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69480" y="4014216"/>
            <a:ext cx="1316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Week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4014216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₹0.66 Cr/yr is ~26× the AD2 sale price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297680"/>
            <a:ext cx="11094415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343400"/>
            <a:ext cx="3566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" y="4343400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Name a defence programme and an SI partner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4343400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Commercial lead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9480" y="4343400"/>
            <a:ext cx="1316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Weeks 1–12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4343400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Track A has a proposition and no pipeline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626864"/>
            <a:ext cx="11094415" cy="32918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4672584"/>
            <a:ext cx="3566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" y="4672584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Choose a CRM or shared store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9240" y="4672584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69480" y="4672584"/>
            <a:ext cx="1316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Month 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20" y="4672584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Unblocks Level 6 and everything above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4956048"/>
            <a:ext cx="11094415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5001768"/>
            <a:ext cx="3566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" y="5001768"/>
            <a:ext cx="4059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 the AD4 safety case, or stop pitching AD4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49240" y="5001768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69480" y="5001768"/>
            <a:ext cx="1316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Before any port pilot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32520" y="5001768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 funded functional-safety work exists for a driverless vehicle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5614416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5614416"/>
            <a:ext cx="54864" cy="5669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574243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Items 1–4 are founder decisions and they gate everything else. Item 1 is a single sentence. Item 10 is new: the driverless segment has no objection set and no safety case — until it does, AD4 is not pitchable as a product.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DeepGrid Semi — client acquisition operating system · Level 3 build · 5 Aug 2026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