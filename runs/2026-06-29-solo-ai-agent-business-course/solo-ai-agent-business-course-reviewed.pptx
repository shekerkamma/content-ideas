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0"/>
            <a:ext cx="26334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7260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SCREEN-SHARED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804672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$1M+ Solo
AI Agent 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44368"/>
            <a:ext cx="19202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A practical course summary: offer, market, stack, and the live workflow for agents setting up agents.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600200" cy="41148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0740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$5K/mo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59" y="4297680"/>
            <a:ext cx="1600200" cy="41148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59" y="440740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1-3 real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4297680"/>
            <a:ext cx="1600200" cy="41148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440740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&lt;48h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4297680"/>
            <a:ext cx="1600200" cy="411480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440740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vertical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91072"/>
            <a:ext cx="749807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8FA0B3"/>
                </a:solidFill>
                <a:latin typeface="Calibri"/>
              </a:rPr>
              <a:t>Content source: user-provided complete captions; frame coverage sparse.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Sell a managed digital employee, not agent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094415" cy="1078992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1"/>
            <a:ext cx="1045433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"We build and manage your digital employee"
for $5K/month.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3429000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37560"/>
            <a:ext cx="302666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Customer buys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813048"/>
            <a:ext cx="3026664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A business outcome and a named employee that knows their company.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154680"/>
            <a:ext cx="3429000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3337560"/>
            <a:ext cx="302666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You hide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813048"/>
            <a:ext cx="3026664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Tokens, models, credits, infra, auth, monitoring, and agent plumbing.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3154680"/>
            <a:ext cx="3429000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3337560"/>
            <a:ext cx="302666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Value compounds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813048"/>
            <a:ext cx="3026664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The agent is adjusted weekly, so the relationship looks like staff augmentation.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Positioning test: if the buyer asks about token limits,
the offer has already become too technical.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Offer Sells Abundance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Unlimited on the outside; tightly managed on the inside.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5166360" cy="416052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PUBLIC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4572000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•  Unlimited agents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•  Unlimited usage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•  Monitoring and support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•  Security and access management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•  Ongoing changes as the business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76672" cy="416052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OPERATING REALITY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709160" cy="2423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80" b="0" i="0">
                <a:solidFill>
                  <a:srgbClr val="34465A"/>
                </a:solidFill>
                <a:latin typeface="Calibri"/>
              </a:rPr>
              <a:t>•  Customers think they need 5/10/100 agents.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80" b="0" i="0">
                <a:solidFill>
                  <a:srgbClr val="34465A"/>
                </a:solidFill>
                <a:latin typeface="Calibri"/>
              </a:rPr>
              <a:t>•  Most accounts need 1-3 well-built agents.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80" b="0" i="0">
                <a:solidFill>
                  <a:srgbClr val="34465A"/>
                </a:solidFill>
                <a:latin typeface="Calibri"/>
              </a:rPr>
              <a:t>•  Token spend stays controlled by workflow design.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80" b="0" i="0">
                <a:solidFill>
                  <a:srgbClr val="34465A"/>
                </a:solidFill>
                <a:latin typeface="Calibri"/>
              </a:rPr>
              <a:t>•  Scope is throttled through request intake.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80" b="0" i="0">
                <a:solidFill>
                  <a:srgbClr val="34465A"/>
                </a:solidFill>
                <a:latin typeface="Calibri"/>
              </a:rPr>
              <a:t>•  Do not say tokens, credits, or usage caps.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7492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trick is packaging capacity
in buyer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 Vertical, But Let Pull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Start broad enough to learn; converge where the market responds.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TARGET LANES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93392"/>
            <a:ext cx="3401568" cy="822960"/>
          </a:xfrm>
          <a:prstGeom prst="roundRect">
            <a:avLst>
              <a:gd name="adj" fmla="val 2000"/>
            </a:avLst>
          </a:prstGeom>
          <a:solidFill>
            <a:srgbClr val="F8FBFC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Marketing agencies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04872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content ops, client follow-up,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993392"/>
            <a:ext cx="3401568" cy="822960"/>
          </a:xfrm>
          <a:prstGeom prst="roundRect">
            <a:avLst>
              <a:gd name="adj" fmla="val 2000"/>
            </a:avLst>
          </a:prstGeom>
          <a:solidFill>
            <a:srgbClr val="F8FBFC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112264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Law firms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404872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meetings, demand letters, open loops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993392"/>
            <a:ext cx="3401568" cy="822960"/>
          </a:xfrm>
          <a:prstGeom prst="roundRect">
            <a:avLst>
              <a:gd name="adj" fmla="val 2000"/>
            </a:avLst>
          </a:prstGeom>
          <a:solidFill>
            <a:srgbClr val="F8FBFC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112264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Insurance agencies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404872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renewals, intake, carrier follow-up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17520"/>
            <a:ext cx="3401568" cy="822960"/>
          </a:xfrm>
          <a:prstGeom prst="roundRect">
            <a:avLst>
              <a:gd name="adj" fmla="val 2000"/>
            </a:avLst>
          </a:prstGeom>
          <a:solidFill>
            <a:srgbClr val="F8FBFC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136392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Manufacturers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42900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supplier, quoting, ops coordination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017520"/>
            <a:ext cx="3401568" cy="822960"/>
          </a:xfrm>
          <a:prstGeom prst="roundRect">
            <a:avLst>
              <a:gd name="adj" fmla="val 2000"/>
            </a:avLst>
          </a:prstGeom>
          <a:solidFill>
            <a:srgbClr val="F8FBFC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3136392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Wholesalers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42900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catalog, orders, customer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017520"/>
            <a:ext cx="3401568" cy="822960"/>
          </a:xfrm>
          <a:prstGeom prst="roundRect">
            <a:avLst>
              <a:gd name="adj" fmla="val 2000"/>
            </a:avLst>
          </a:prstGeom>
          <a:solidFill>
            <a:srgbClr val="F8FBFC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136392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Real estate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42900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lead follow-up, transaction coordination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708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D64550"/>
                </a:solidFill>
                <a:latin typeface="Calibri"/>
              </a:rPr>
              <a:t>AVOID EARLY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09160"/>
            <a:ext cx="5212080" cy="868680"/>
          </a:xfrm>
          <a:prstGeom prst="roundRect">
            <a:avLst>
              <a:gd name="adj" fmla="val 2000"/>
            </a:avLst>
          </a:prstGeom>
          <a:solidFill>
            <a:srgbClr val="FFF7F8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828032"/>
            <a:ext cx="48097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Healthcare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0640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regulatory and privacy friction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09160"/>
            <a:ext cx="5212080" cy="868680"/>
          </a:xfrm>
          <a:prstGeom prst="roundRect">
            <a:avLst>
              <a:gd name="adj" fmla="val 2000"/>
            </a:avLst>
          </a:prstGeom>
          <a:solidFill>
            <a:srgbClr val="FFF7F8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828032"/>
            <a:ext cx="48097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120640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60" b="0" i="0">
                <a:solidFill>
                  <a:srgbClr val="34465A"/>
                </a:solidFill>
                <a:latin typeface="Calibri"/>
              </a:rPr>
              <a:t>regulatory and compliance burden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Niche-down options: geography, sub-type, or executive workflow. Example: commercial IDA, matrimonial law firm.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Sell The Executive Layer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Different industries, same executive pain: calls, meetings, follow-ups, open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0604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933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011680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87168"/>
            <a:ext cx="220370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Meetings, calls, email, and ad hoc requests become structured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48716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60604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3592" y="19933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2075688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011680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487168"/>
            <a:ext cx="220370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The agent handles follow-ups, drafts, coordination, and status chasing.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48716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28800"/>
            <a:ext cx="260604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19933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075688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011680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Specialize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487168"/>
            <a:ext cx="220370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Add vertical skills: demand letters, renewal prep, quote packets, property updates.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48716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828800"/>
            <a:ext cx="260604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54312" y="19933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0B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2075688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2011680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2487168"/>
            <a:ext cx="220370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Weekly changes turn customer feedback into a sharper digital employee.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34840"/>
            <a:ext cx="11094415" cy="8686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590288"/>
            <a:ext cx="1045433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Template the common executive agent first.
Vertical specificity is an added skill layer, not the starting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6868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Warm Inbound Beats Cold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7498079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Content creates trust before the sales call. Free work can buy the first proof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Customer Acquisition Is Proof-Led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"Content is king in 2026 — just do it."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3456432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03911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21407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057399"/>
            <a:ext cx="263347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32887"/>
            <a:ext cx="3054096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Post open build videos, teardown clips, before/after workflows, and agent demos.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74519"/>
            <a:ext cx="3456432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9704" y="203911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2121407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057399"/>
            <a:ext cx="263347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Case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32887"/>
            <a:ext cx="3054096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Start free or discounted if it creates referrals and a story with receipts.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874519"/>
            <a:ext cx="3456432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6" y="203911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0B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2121407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057399"/>
            <a:ext cx="263347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Warm inbound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32887"/>
            <a:ext cx="3054096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Use the content trail to turn buyers from skeptical to curious before the call.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11094415" cy="9144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73168"/>
            <a:ext cx="1045433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Contrarian but practical: you do not need to start hyper-niche.
Diverge, find pull, then converge on the vertical that sells back to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Customer-Facing Layer Keeps Scope Clean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buyer experiences a service desk, not an engineering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37944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Granola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801368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34465A"/>
                </a:solidFill>
                <a:latin typeface="Calibri"/>
              </a:rPr>
              <a:t>Meeting capture; MCP-ready context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41448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87752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51176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34465A"/>
                </a:solidFill>
                <a:latin typeface="Calibri"/>
              </a:rPr>
              <a:t>Customer drags requests; cap 1-2 per 48h to prevent scope creep.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91256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37560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300984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34465A"/>
                </a:solidFill>
                <a:latin typeface="Calibri"/>
              </a:rPr>
              <a:t>Async update videos showing what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41064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20B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87368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Calendly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50792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34465A"/>
                </a:solidFill>
                <a:latin typeface="Calibri"/>
              </a:rPr>
              <a:t>Book live working sessions without back-and-forth.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90872"/>
            <a:ext cx="1828800" cy="502920"/>
          </a:xfrm>
          <a:prstGeom prst="roundRect">
            <a:avLst>
              <a:gd name="adj" fmla="val 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37176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800600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34465A"/>
                </a:solidFill>
                <a:latin typeface="Calibri"/>
              </a:rPr>
              <a:t>Internal delivery tracking and implementation queue.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42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The cap is important: abundance is the offer; paced intake is the operating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6868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Use Agents To Build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7498079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agency becomes an agent factory: strategy, setup, auth, context, tools, and ongoing improvement.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 Stack: The Factory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Harness, workspace, auth, mail, memory, and model routing each have a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874519" cy="530352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755648"/>
            <a:ext cx="16184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600200"/>
            <a:ext cx="9034272" cy="530352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746504"/>
            <a:ext cx="8641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Hermes for reliable self-evolving agents; Claude Code / Codex desktop apps to 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04872"/>
            <a:ext cx="1874519" cy="53035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560320"/>
            <a:ext cx="16184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Workspace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404872"/>
            <a:ext cx="9034272" cy="530352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551176"/>
            <a:ext cx="8641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Orgo gives each customer a real computer workspace, manageable via Orgo MCP.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1874519" cy="530352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364992"/>
            <a:ext cx="16184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Auth /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209544"/>
            <a:ext cx="9034272" cy="530352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355848"/>
            <a:ext cx="8641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Composio provides the one-MCP interface to customer apps and security.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14216"/>
            <a:ext cx="1874519" cy="530352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169664"/>
            <a:ext cx="16184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014216"/>
            <a:ext cx="9034272" cy="530352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4160520"/>
            <a:ext cx="8641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Agent Mail gives each agent its own inbox and persona, e.g. Mia.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8888"/>
            <a:ext cx="1874519" cy="530352"/>
          </a:xfrm>
          <a:prstGeom prst="roundRect">
            <a:avLst>
              <a:gd name="adj" fmla="val 2000"/>
            </a:avLst>
          </a:prstGeom>
          <a:solidFill>
            <a:srgbClr val="20B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974336"/>
            <a:ext cx="161848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4818888"/>
            <a:ext cx="9034272" cy="530352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4965192"/>
            <a:ext cx="86410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34465A"/>
                </a:solidFill>
                <a:latin typeface="Calibri"/>
              </a:rPr>
              <a:t>Obsidian is the markdown second brain: people, projects, transcripts,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Model Routing Keeps Margins Healthy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the best model where it matters; route cheap work elsewhere.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42900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02666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GPT-5.5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302666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Best all-around in Nick's stack: efficient tool calls, strong general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83080"/>
            <a:ext cx="342900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965960"/>
            <a:ext cx="302666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GLM-5.1 / Kimi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441448"/>
            <a:ext cx="302666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Cheap lightweight tasks where speed and cost matter more than depth.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65960"/>
            <a:ext cx="302666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Opus 4.7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441448"/>
            <a:ext cx="3026664" cy="11612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Long-horizon coding and hard implementation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11094415" cy="96012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45433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Margin rule: outcomes justify model spend.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Setup Context Is A Multi-Agent Research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Nick spawns source-specific agents, then merges the best practices.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874519" cy="9144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Perplexity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current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74519"/>
            <a:ext cx="1874519" cy="9144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084831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Exa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3957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source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74519"/>
            <a:ext cx="1874519" cy="9144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2084831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Context7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3957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library docs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874519"/>
            <a:ext cx="1874519" cy="9144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2084831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X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3957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fresh setup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874519"/>
            <a:ext cx="1874519" cy="9144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084831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Repo/docs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239572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implementation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10128"/>
            <a:ext cx="1508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5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59" y="3328416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→ merge best practices → configure the customer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51960"/>
            <a:ext cx="11094415" cy="96012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62272"/>
            <a:ext cx="1045433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This is the course's core operating leverage:
agents do the setup research and scaffolding for the next agent.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Live Demo Pattern: Agents Setting Up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implementation loop is repeatable across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342900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11096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84708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Create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22576"/>
            <a:ext cx="302666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Orgo workspace with isolated computer and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664208"/>
            <a:ext cx="342900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11096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84708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Attach auth and 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322576"/>
            <a:ext cx="302666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Composio + customer tools + Agent Mail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664208"/>
            <a:ext cx="342900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7888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911096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84708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Build the vault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322576"/>
            <a:ext cx="302666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Obsidian context: people, projects, meetings, transcripts.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93008"/>
            <a:ext cx="342900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36576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739896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367588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Spawn setup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151376"/>
            <a:ext cx="302666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Per-source research agents collect current setup practice.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493008"/>
            <a:ext cx="342900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36576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739896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367588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Merge and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4151376"/>
            <a:ext cx="302666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Best-practice plan becomes the live digital employee.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493008"/>
            <a:ext cx="342900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6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47888" y="36576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739896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41664" y="3675888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Improve weekly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4151376"/>
            <a:ext cx="302666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30" b="0" i="0">
                <a:solidFill>
                  <a:srgbClr val="34465A"/>
                </a:solidFill>
                <a:latin typeface="Calibri"/>
              </a:rPr>
              <a:t>Requests, Loom updates, and monitoring feed the next iteration.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42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The demo is not a stunt; it is a service delivery architecture.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Execution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56032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0078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E0F7F1"/>
                </a:solidFill>
                <a:latin typeface="Calibri"/>
              </a:rPr>
              <a:t>Digital employee, $5K/month, unlimited-feeling managed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41448"/>
            <a:ext cx="256032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408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Pick lanes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4086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E0F7F1"/>
                </a:solidFill>
                <a:latin typeface="Calibri"/>
              </a:rPr>
              <a:t>Start with legacy, people-heavy verticals; avoid regulated complexity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81528"/>
            <a:ext cx="256032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8094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8094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E0F7F1"/>
                </a:solidFill>
                <a:latin typeface="Calibri"/>
              </a:rPr>
              <a:t>Publish build content and use early work for case studies/referrals.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599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21607"/>
            <a:ext cx="256032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21023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Control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621023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E0F7F1"/>
                </a:solidFill>
                <a:latin typeface="Calibri"/>
              </a:rPr>
              <a:t>Customer request board with 1-2 changes per 48h.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97680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61688"/>
            <a:ext cx="256032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6110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Install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6110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E0F7F1"/>
                </a:solidFill>
                <a:latin typeface="Calibri"/>
              </a:rPr>
              <a:t>Hermes / Claude Code / Codex + Orgo + Composio + Agent Mail + Obsidian.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01768"/>
            <a:ext cx="256032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0118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90118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E0F7F1"/>
                </a:solidFill>
                <a:latin typeface="Calibri"/>
              </a:rPr>
              <a:t>Weekly improvements, Loom updates, monitoring, and auth hygiene.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94415" cy="475488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044184"/>
            <a:ext cx="10637215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durable wedge: become the operator who can sell business outcomes and industrialize agent delivery.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$1M+ Solo AI Agent Business · Nick from Orgo · Course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