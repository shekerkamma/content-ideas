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translates the transcript into a practical product thesis. The core claim is that the next opportunity is not another app with a chatbot inside it; it is an app built so the user's own agent can use it as a shared surface. The deck frames the model shift, the operating implications, the five-step build process, and the kinds of products that fit the pattern. The goal is to turn a video idea into a concise strategy artifact that can be reused in internal discussion or founder planning.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contrasts two software patterns. In the old pattern, the app embeds an agent. That gives the product a narrow kind of intelligence, but the context remains trapped inside the application. In the newer pattern, the user's own agent sits outside the app and uses the app as a surface. That changes the buying center, the product architecture, and the value proposition: the product now has to work well with the user's broader context rather than only its own database.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argument in the transcript is simple. First, the work surface is shifting into super-apps like Cursor and Codex. Second, the winning context no longer lives only inside a product; it lives in local files, project memory, and connected tools. Third, agent-native apps are practical because there are now standard ways for an agent to connect to an app through MCP, CLI, or API. The result is a new product category in which the app is designed to be used by the user's agent, not just by the user directly.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captures the product anatomy implied by the transcript. The challenge is that users need the product to reflect project-specific context that goes beyond the app. The solution is to make the app a shared surface for the user's agent, not a closed system. The implementation model is straightforward: the agent reads local documentation, assets, and memory, then connects to the app through browser control, CLI, or API. The user stays in the loop and can inspect the work as it happens.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five-step framework is the practical takeaway from the video. Step one is to define the job to be done in terms of a joint outcome for user and agent. Step two is to define the shared surface where the collaboration happens. Step three is to build for the bring-your-own-agent model rather than embedding your own agent in a closed box. Step four is to start where your own expertise gives you a strong wedge. Step five is to decide the MCP, CLI, and tool list at the beginning so the app can actually work with agents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names examples that already show the pattern. Miro is shifting toward shared canvases with markdown, Mermaid diagrams, and HTML prototypes. Notion already supports MCP-style connectivity and browser access. MagicPath and similar tools let an agent work directly on a design canvas. Google Sheets is an obvious structured-data surface with connectors. The broader opportunity is larger than these examples: any incumbent tool with a surface and an integration path can be recast as agent-native.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converts the talk into a decision rule. Build where the user already has a surface, where your domain expertise is real, where the agent can connect through MCP, CLI, or API, and where local context and memory matter. Avoid products that only work when closed around their own mini-agent. The product should be useful to the user's agent even if your embedded AI features are deliberately small. That is the strategic difference the video is arguing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summary checkpoint rather than the end of the deck. The opportunity is not another AI feature. It is a product designed so the user's own agent can bring local context, memory, and tools to the app. That shifts the product from isolated automation to collaborative workflow. For founders and product teams, the practical next step is to pick a domain you know well, identify the shared surface, and map the MCP, CLI, or API surface before you build the first version.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captures the core inversion in the transcript. The old model puts a chatbot inside software. The new model assumes the user's own agent will use software as a surface. That changes where value accumulates: not in a thin AI layer, but in the context the app can share, the tools it can expose, and the way the workflow is designed around the agent's actions.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keeps returning to a small set of conditions. The product has to expose a shared surface, allow the user's own agent to enter, carry project context, accept tools, support live correction, and preserve memory across sessions. Those six conditions are a useful shorthand for deciding whether a product is actually agent-native or just AI-colored.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names Cursor and Codex as examples of super-apps where knowledge work is increasingly happening. That matters because the product no longer owns the full working session. It is now a tool that has to earn a place inside a broader agent-driven workbench. For founders, this means the product's first job is to make itself useful to the orchestrator.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point in the transcript is that the winning context is not only inside the app. It lives in local files, memories, and connected tools. The app should therefore be designed as part of a context stack: the agent can bring information from outside, act on the app's surface, and leave useful artifacts behind for future sessions.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agent-native idea only works if the agent can actually do something in the product. That is why the transcript keeps mentioning MCP, CLI, API, and browser access. These are not implementation details; they are what make the shared surface operational rather than symbolic.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is clear that users should be able to watch the agent work and correct it live. That makes the feedback loop part of the product. The app is not trying to hide the machine; it is trying to make the machine legible and steerable inside a shared surface.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opportunity map is not just a list of random products. It is a set of surface types that already carry project context and can therefore be recast as agent-native. The transcript keeps returning to these kinds of environments because they are already where work happens.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explicitly calls out Miro-style tools. The key detail is that these systems can hold markdown, diagrams, and prototypes, which makes them readable and editable by an agent. The result is a shared visual workspace rather than a locked-in whiteboard.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Notion is a strong example because it already sits on top of project memory. The transcript specifically references MCP-connected access and browser use, which means an external agent can read and write in the knowledge layer rather than being trapped inside a separate chatbot.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mentions MagicPath and Paper as examples of design surfaces where an external agent can shape the canvas visually. This is a different category from a generic text app: the value is in composition and visual judgment, which makes the feedback loop central.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Sheets appears in the transcript as a simple but powerful example: it is already a structured data surface with obvious connections to the rest of the workflow. That makes it an easy place for an external agent to do useful work without requiring a new interaction model.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does not claim that incumbents disappear. Instead, it says there is still room for an agent-native version of the workflow inside large creative suites. That is a valuable signal for founders because it shows how big the surface area still is, even inside mature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turns the transcript into a real decision test. The key questions are whether a user already works in a surface, whether the important context sits outside the app, whether the agent can reach the necessary tools, and whether a human can inspect and correct the 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closing message is simple: the opportunity is software redesigned for the user's own agent. For founders, the practical path is to choose a domain you understand, define the shared surface, and map the tools before shipping the first version.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46920" y="0"/>
            <a:ext cx="7315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ver-agent-hub.png"/>
          <p:cNvPicPr>
            <a:picLocks noChangeAspect="1"/>
          </p:cNvPicPr>
          <p:nvPr/>
        </p:nvPicPr>
        <p:blipFill>
          <a:blip r:embed="rId2"/>
          <a:stretch>
            <a:fillRect/>
          </a:stretch>
        </p:blipFill>
        <p:spPr>
          <a:xfrm>
            <a:off x="9710928" y="502920"/>
            <a:ext cx="2331720" cy="1384038"/>
          </a:xfrm>
          <a:prstGeom prst="rect">
            <a:avLst/>
          </a:prstGeom>
        </p:spPr>
      </p:pic>
      <p:sp>
        <p:nvSpPr>
          <p:cNvPr id="7" name="TextBox 6"/>
          <p:cNvSpPr txBox="1"/>
          <p:nvPr/>
        </p:nvSpPr>
        <p:spPr>
          <a:xfrm>
            <a:off x="548640" y="841248"/>
            <a:ext cx="7315200" cy="237744"/>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VIDEO-TO-STRATEGY DECK | 22-SLIDE BRIEF</a:t>
            </a:r>
          </a:p>
        </p:txBody>
      </p:sp>
      <p:sp>
        <p:nvSpPr>
          <p:cNvPr id="8" name="TextBox 7"/>
          <p:cNvSpPr txBox="1"/>
          <p:nvPr/>
        </p:nvSpPr>
        <p:spPr>
          <a:xfrm>
            <a:off x="548640" y="1261872"/>
            <a:ext cx="8229600" cy="1783080"/>
          </a:xfrm>
          <a:prstGeom prst="rect">
            <a:avLst/>
          </a:prstGeom>
          <a:noFill/>
        </p:spPr>
        <p:txBody>
          <a:bodyPr wrap="square" anchor="t" lIns="0" rIns="0" tIns="0" bIns="0">
            <a:normAutofit/>
          </a:bodyPr>
          <a:lstStyle/>
          <a:p>
            <a:pPr algn="l">
              <a:lnSpc>
                <a:spcPct val="105000"/>
              </a:lnSpc>
              <a:spcBef>
                <a:spcPts val="0"/>
              </a:spcBef>
            </a:pPr>
            <a:r>
              <a:rPr sz="3800" b="1" i="0">
                <a:solidFill>
                  <a:srgbClr val="FFFFFF"/>
                </a:solidFill>
                <a:latin typeface="Calibri"/>
              </a:rPr>
              <a:t>The BEST New AI Opportunity
Nobody Is Talking About</a:t>
            </a:r>
          </a:p>
        </p:txBody>
      </p:sp>
      <p:sp>
        <p:nvSpPr>
          <p:cNvPr id="9" name="TextBox 8"/>
          <p:cNvSpPr txBox="1"/>
          <p:nvPr/>
        </p:nvSpPr>
        <p:spPr>
          <a:xfrm>
            <a:off x="548640" y="3310128"/>
            <a:ext cx="7909560" cy="566928"/>
          </a:xfrm>
          <a:prstGeom prst="rect">
            <a:avLst/>
          </a:prstGeom>
          <a:noFill/>
        </p:spPr>
        <p:txBody>
          <a:bodyPr wrap="square" anchor="t" lIns="0" rIns="0" tIns="0" bIns="0">
            <a:normAutofit/>
          </a:bodyPr>
          <a:lstStyle/>
          <a:p>
            <a:pPr algn="l">
              <a:lnSpc>
                <a:spcPct val="105000"/>
              </a:lnSpc>
              <a:spcBef>
                <a:spcPts val="0"/>
              </a:spcBef>
            </a:pPr>
            <a:r>
              <a:rPr sz="1600" b="0" i="0">
                <a:solidFill>
                  <a:srgbClr val="5B6B7C"/>
                </a:solidFill>
                <a:latin typeface="Calibri"/>
              </a:rPr>
              <a:t>Why agent-native apps win when users bring their own agent into tools like Cursor and Codex</a:t>
            </a:r>
          </a:p>
        </p:txBody>
      </p:sp>
      <p:sp>
        <p:nvSpPr>
          <p:cNvPr id="10" name="Rectangle 9"/>
          <p:cNvSpPr/>
          <p:nvPr/>
        </p:nvSpPr>
        <p:spPr>
          <a:xfrm>
            <a:off x="548640" y="3977639"/>
            <a:ext cx="1298448"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187952"/>
            <a:ext cx="7132320" cy="256032"/>
          </a:xfrm>
          <a:prstGeom prst="rect">
            <a:avLst/>
          </a:prstGeom>
          <a:noFill/>
        </p:spPr>
        <p:txBody>
          <a:bodyPr wrap="square" anchor="t" lIns="0" rIns="0" tIns="0" bIns="0">
            <a:noAutofit/>
          </a:bodyPr>
          <a:lstStyle/>
          <a:p>
            <a:pPr algn="l">
              <a:lnSpc>
                <a:spcPct val="105000"/>
              </a:lnSpc>
              <a:spcBef>
                <a:spcPts val="0"/>
              </a:spcBef>
            </a:pPr>
            <a:r>
              <a:rPr sz="1150" b="0" i="0">
                <a:solidFill>
                  <a:srgbClr val="5B6B7C"/>
                </a:solidFill>
                <a:latin typeface="Calibri"/>
              </a:rPr>
              <a:t>Source: YouTube transcript, Chris / June 2026</a:t>
            </a:r>
          </a:p>
        </p:txBody>
      </p:sp>
      <p:sp>
        <p:nvSpPr>
          <p:cNvPr id="12" name="Rounded Rectangle 11"/>
          <p:cNvSpPr/>
          <p:nvPr/>
        </p:nvSpPr>
        <p:spPr>
          <a:xfrm>
            <a:off x="548640" y="5074920"/>
            <a:ext cx="1664208" cy="384048"/>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5111496"/>
            <a:ext cx="1517904"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Context-rich apps</a:t>
            </a:r>
          </a:p>
        </p:txBody>
      </p:sp>
      <p:sp>
        <p:nvSpPr>
          <p:cNvPr id="14" name="Rounded Rectangle 13"/>
          <p:cNvSpPr/>
          <p:nvPr/>
        </p:nvSpPr>
        <p:spPr>
          <a:xfrm>
            <a:off x="2395728" y="5074920"/>
            <a:ext cx="1664208" cy="384048"/>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8880" y="5111496"/>
            <a:ext cx="1517904"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BYO-agent model</a:t>
            </a:r>
          </a:p>
        </p:txBody>
      </p:sp>
      <p:sp>
        <p:nvSpPr>
          <p:cNvPr id="16" name="Rounded Rectangle 15"/>
          <p:cNvSpPr/>
          <p:nvPr/>
        </p:nvSpPr>
        <p:spPr>
          <a:xfrm>
            <a:off x="4242816" y="5074920"/>
            <a:ext cx="1664208" cy="384048"/>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5968" y="5111496"/>
            <a:ext cx="1517904"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Super-app surfaces</a:t>
            </a:r>
          </a:p>
        </p:txBody>
      </p:sp>
      <p:sp>
        <p:nvSpPr>
          <p:cNvPr id="18" name="Rounded Rectangle 17"/>
          <p:cNvSpPr/>
          <p:nvPr/>
        </p:nvSpPr>
        <p:spPr>
          <a:xfrm>
            <a:off x="6089904" y="5074920"/>
            <a:ext cx="1664208" cy="384048"/>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63056" y="5111496"/>
            <a:ext cx="1517904"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MCP / CLI / API</a:t>
            </a:r>
          </a:p>
        </p:txBody>
      </p:sp>
      <p:sp>
        <p:nvSpPr>
          <p:cNvPr id="20" name="TextBox 1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Agent-Native Opportunity Brief | June 2026</a:t>
            </a:r>
          </a:p>
        </p:txBody>
      </p:sp>
      <p:sp>
        <p:nvSpPr>
          <p:cNvPr id="21" name="TextBox 2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model inverted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App with an agent vs. agent with an app</a:t>
            </a:r>
          </a:p>
        </p:txBody>
      </p:sp>
      <p:pic>
        <p:nvPicPr>
          <p:cNvPr id="7" name="Picture 6" descr="inversion-diagram.png"/>
          <p:cNvPicPr>
            <a:picLocks noChangeAspect="1"/>
          </p:cNvPicPr>
          <p:nvPr/>
        </p:nvPicPr>
        <p:blipFill>
          <a:blip r:embed="rId2"/>
          <a:stretch>
            <a:fillRect/>
          </a:stretch>
        </p:blipFill>
        <p:spPr>
          <a:xfrm>
            <a:off x="548640" y="1463040"/>
            <a:ext cx="11094415" cy="3840480"/>
          </a:xfrm>
          <a:prstGeom prst="rect">
            <a:avLst/>
          </a:prstGeom>
        </p:spPr>
      </p:pic>
      <p:sp>
        <p:nvSpPr>
          <p:cNvPr id="8" name="Rounded Rectangle 7"/>
          <p:cNvSpPr/>
          <p:nvPr/>
        </p:nvSpPr>
        <p:spPr>
          <a:xfrm>
            <a:off x="548640" y="5486400"/>
            <a:ext cx="11094415" cy="502920"/>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568696"/>
            <a:ext cx="11338560" cy="228600"/>
          </a:xfrm>
          <a:prstGeom prst="rect">
            <a:avLst/>
          </a:prstGeom>
          <a:noFill/>
        </p:spPr>
        <p:txBody>
          <a:bodyPr wrap="square" anchor="ctr" lIns="0" rIns="0" tIns="0" bIns="0">
            <a:normAutofit/>
          </a:bodyPr>
          <a:lstStyle/>
          <a:p>
            <a:pPr algn="l">
              <a:lnSpc>
                <a:spcPct val="105000"/>
              </a:lnSpc>
              <a:spcBef>
                <a:spcPts val="0"/>
              </a:spcBef>
            </a:pPr>
            <a:r>
              <a:rPr sz="1350" b="1" i="0">
                <a:solidFill>
                  <a:srgbClr val="0A1628"/>
                </a:solidFill>
                <a:latin typeface="Calibri"/>
              </a:rPr>
              <a:t>Implication: the moat moves from embedded AI features to external context, tool access, and shared workflow design.</a:t>
            </a:r>
          </a:p>
        </p:txBody>
      </p:sp>
      <p:sp>
        <p:nvSpPr>
          <p:cNvPr id="10" name="TextBox 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this matters now</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Three forces make agent-native apps viable</a:t>
            </a:r>
          </a:p>
        </p:txBody>
      </p:sp>
      <p:sp>
        <p:nvSpPr>
          <p:cNvPr id="7" name="Rounded Rectangle 6"/>
          <p:cNvSpPr/>
          <p:nvPr/>
        </p:nvSpPr>
        <p:spPr>
          <a:xfrm>
            <a:off x="548640" y="1737360"/>
            <a:ext cx="11094415" cy="86868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47088"/>
            <a:ext cx="2834640" cy="256032"/>
          </a:xfrm>
          <a:prstGeom prst="rect">
            <a:avLst/>
          </a:prstGeom>
          <a:noFill/>
        </p:spPr>
        <p:txBody>
          <a:bodyPr wrap="square" anchor="t" lIns="0" rIns="0" tIns="0" bIns="0">
            <a:normAutofit/>
          </a:bodyPr>
          <a:lstStyle/>
          <a:p>
            <a:pPr algn="l">
              <a:lnSpc>
                <a:spcPct val="105000"/>
              </a:lnSpc>
              <a:spcBef>
                <a:spcPts val="0"/>
              </a:spcBef>
            </a:pPr>
            <a:r>
              <a:rPr sz="1380" b="1" i="0">
                <a:solidFill>
                  <a:srgbClr val="FFFFFF"/>
                </a:solidFill>
                <a:latin typeface="Calibri"/>
              </a:rPr>
              <a:t>Super-app workbenches</a:t>
            </a:r>
          </a:p>
        </p:txBody>
      </p:sp>
      <p:sp>
        <p:nvSpPr>
          <p:cNvPr id="9" name="TextBox 8"/>
          <p:cNvSpPr txBox="1"/>
          <p:nvPr/>
        </p:nvSpPr>
        <p:spPr>
          <a:xfrm>
            <a:off x="3474720" y="1847088"/>
            <a:ext cx="8138160" cy="411480"/>
          </a:xfrm>
          <a:prstGeom prst="rect">
            <a:avLst/>
          </a:prstGeom>
          <a:noFill/>
        </p:spPr>
        <p:txBody>
          <a:bodyPr wrap="square" anchor="ctr" lIns="0" rIns="0" tIns="0" bIns="0">
            <a:normAutofit/>
          </a:bodyPr>
          <a:lstStyle/>
          <a:p>
            <a:pPr algn="l">
              <a:lnSpc>
                <a:spcPct val="105000"/>
              </a:lnSpc>
              <a:spcBef>
                <a:spcPts val="0"/>
              </a:spcBef>
            </a:pPr>
            <a:r>
              <a:rPr sz="1220" b="0" i="0">
                <a:solidFill>
                  <a:srgbClr val="FFFFFF"/>
                </a:solidFill>
                <a:latin typeface="Calibri"/>
              </a:rPr>
              <a:t>Cursor and Codex are becoming the places where knowledge work happens.</a:t>
            </a:r>
          </a:p>
        </p:txBody>
      </p:sp>
      <p:sp>
        <p:nvSpPr>
          <p:cNvPr id="10" name="Rounded Rectangle 9"/>
          <p:cNvSpPr/>
          <p:nvPr/>
        </p:nvSpPr>
        <p:spPr>
          <a:xfrm>
            <a:off x="548640" y="2724912"/>
            <a:ext cx="11094415" cy="86868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34640"/>
            <a:ext cx="2834640" cy="256032"/>
          </a:xfrm>
          <a:prstGeom prst="rect">
            <a:avLst/>
          </a:prstGeom>
          <a:noFill/>
        </p:spPr>
        <p:txBody>
          <a:bodyPr wrap="square" anchor="t" lIns="0" rIns="0" tIns="0" bIns="0">
            <a:normAutofit/>
          </a:bodyPr>
          <a:lstStyle/>
          <a:p>
            <a:pPr algn="l">
              <a:lnSpc>
                <a:spcPct val="105000"/>
              </a:lnSpc>
              <a:spcBef>
                <a:spcPts val="0"/>
              </a:spcBef>
            </a:pPr>
            <a:r>
              <a:rPr sz="1380" b="1" i="0">
                <a:solidFill>
                  <a:srgbClr val="0A1628"/>
                </a:solidFill>
                <a:latin typeface="Calibri"/>
              </a:rPr>
              <a:t>Context wins</a:t>
            </a:r>
          </a:p>
        </p:txBody>
      </p:sp>
      <p:sp>
        <p:nvSpPr>
          <p:cNvPr id="12" name="TextBox 11"/>
          <p:cNvSpPr txBox="1"/>
          <p:nvPr/>
        </p:nvSpPr>
        <p:spPr>
          <a:xfrm>
            <a:off x="3474720" y="2834640"/>
            <a:ext cx="8138160" cy="411480"/>
          </a:xfrm>
          <a:prstGeom prst="rect">
            <a:avLst/>
          </a:prstGeom>
          <a:noFill/>
        </p:spPr>
        <p:txBody>
          <a:bodyPr wrap="square" anchor="ctr" lIns="0" rIns="0" tIns="0" bIns="0">
            <a:normAutofit/>
          </a:bodyPr>
          <a:lstStyle/>
          <a:p>
            <a:pPr algn="l">
              <a:lnSpc>
                <a:spcPct val="105000"/>
              </a:lnSpc>
              <a:spcBef>
                <a:spcPts val="0"/>
              </a:spcBef>
            </a:pPr>
            <a:r>
              <a:rPr sz="1220" b="0" i="0">
                <a:solidFill>
                  <a:srgbClr val="1B2B3C"/>
                </a:solidFill>
                <a:latin typeface="Calibri"/>
              </a:rPr>
              <a:t>Local files, memories, and project context shape better outcomes than app-only memory.</a:t>
            </a:r>
          </a:p>
        </p:txBody>
      </p:sp>
      <p:sp>
        <p:nvSpPr>
          <p:cNvPr id="13" name="Rounded Rectangle 12"/>
          <p:cNvSpPr/>
          <p:nvPr/>
        </p:nvSpPr>
        <p:spPr>
          <a:xfrm>
            <a:off x="548640" y="3712464"/>
            <a:ext cx="11094415" cy="86868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22192"/>
            <a:ext cx="2834640" cy="256032"/>
          </a:xfrm>
          <a:prstGeom prst="rect">
            <a:avLst/>
          </a:prstGeom>
          <a:noFill/>
        </p:spPr>
        <p:txBody>
          <a:bodyPr wrap="square" anchor="t" lIns="0" rIns="0" tIns="0" bIns="0">
            <a:normAutofit/>
          </a:bodyPr>
          <a:lstStyle/>
          <a:p>
            <a:pPr algn="l">
              <a:lnSpc>
                <a:spcPct val="105000"/>
              </a:lnSpc>
              <a:spcBef>
                <a:spcPts val="0"/>
              </a:spcBef>
            </a:pPr>
            <a:r>
              <a:rPr sz="1380" b="1" i="0">
                <a:solidFill>
                  <a:srgbClr val="FFFFFF"/>
                </a:solidFill>
                <a:latin typeface="Calibri"/>
              </a:rPr>
              <a:t>Tool connectivity</a:t>
            </a:r>
          </a:p>
        </p:txBody>
      </p:sp>
      <p:sp>
        <p:nvSpPr>
          <p:cNvPr id="15" name="TextBox 14"/>
          <p:cNvSpPr txBox="1"/>
          <p:nvPr/>
        </p:nvSpPr>
        <p:spPr>
          <a:xfrm>
            <a:off x="3474720" y="3822192"/>
            <a:ext cx="8138160" cy="411480"/>
          </a:xfrm>
          <a:prstGeom prst="rect">
            <a:avLst/>
          </a:prstGeom>
          <a:noFill/>
        </p:spPr>
        <p:txBody>
          <a:bodyPr wrap="square" anchor="ctr" lIns="0" rIns="0" tIns="0" bIns="0">
            <a:normAutofit/>
          </a:bodyPr>
          <a:lstStyle/>
          <a:p>
            <a:pPr algn="l">
              <a:lnSpc>
                <a:spcPct val="105000"/>
              </a:lnSpc>
              <a:spcBef>
                <a:spcPts val="0"/>
              </a:spcBef>
            </a:pPr>
            <a:r>
              <a:rPr sz="1220" b="0" i="0">
                <a:solidFill>
                  <a:srgbClr val="FFFFFF"/>
                </a:solidFill>
                <a:latin typeface="Calibri"/>
              </a:rPr>
              <a:t>MCP, CLI, and API access let an external agent actually do the work in the app.</a:t>
            </a:r>
          </a:p>
        </p:txBody>
      </p:sp>
      <p:sp>
        <p:nvSpPr>
          <p:cNvPr id="16" name="Rounded Rectangle 15"/>
          <p:cNvSpPr/>
          <p:nvPr/>
        </p:nvSpPr>
        <p:spPr>
          <a:xfrm>
            <a:off x="548640" y="4700016"/>
            <a:ext cx="11094415" cy="86868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9744"/>
            <a:ext cx="2834640" cy="256032"/>
          </a:xfrm>
          <a:prstGeom prst="rect">
            <a:avLst/>
          </a:prstGeom>
          <a:noFill/>
        </p:spPr>
        <p:txBody>
          <a:bodyPr wrap="square" anchor="t" lIns="0" rIns="0" tIns="0" bIns="0">
            <a:normAutofit/>
          </a:bodyPr>
          <a:lstStyle/>
          <a:p>
            <a:pPr algn="l">
              <a:lnSpc>
                <a:spcPct val="105000"/>
              </a:lnSpc>
              <a:spcBef>
                <a:spcPts val="0"/>
              </a:spcBef>
            </a:pPr>
            <a:r>
              <a:rPr sz="1380" b="1" i="0">
                <a:solidFill>
                  <a:srgbClr val="0A1628"/>
                </a:solidFill>
                <a:latin typeface="Calibri"/>
              </a:rPr>
              <a:t>Visual feedback loop</a:t>
            </a:r>
          </a:p>
        </p:txBody>
      </p:sp>
      <p:sp>
        <p:nvSpPr>
          <p:cNvPr id="18" name="TextBox 17"/>
          <p:cNvSpPr txBox="1"/>
          <p:nvPr/>
        </p:nvSpPr>
        <p:spPr>
          <a:xfrm>
            <a:off x="3474720" y="4809744"/>
            <a:ext cx="8138160" cy="411480"/>
          </a:xfrm>
          <a:prstGeom prst="rect">
            <a:avLst/>
          </a:prstGeom>
          <a:noFill/>
        </p:spPr>
        <p:txBody>
          <a:bodyPr wrap="square" anchor="ctr" lIns="0" rIns="0" tIns="0" bIns="0">
            <a:normAutofit/>
          </a:bodyPr>
          <a:lstStyle/>
          <a:p>
            <a:pPr algn="l">
              <a:lnSpc>
                <a:spcPct val="105000"/>
              </a:lnSpc>
              <a:spcBef>
                <a:spcPts val="0"/>
              </a:spcBef>
            </a:pPr>
            <a:r>
              <a:rPr sz="1220" b="0" i="0">
                <a:solidFill>
                  <a:srgbClr val="1B2B3C"/>
                </a:solidFill>
                <a:latin typeface="Calibri"/>
              </a:rPr>
              <a:t>Users can watch the agent act inside the surface and correct it immediately.</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Agent-native app anatomy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Detailed use-case realization</a:t>
            </a:r>
          </a:p>
        </p:txBody>
      </p:sp>
      <p:sp>
        <p:nvSpPr>
          <p:cNvPr id="7" name="Rounded Rectangle 6"/>
          <p:cNvSpPr/>
          <p:nvPr/>
        </p:nvSpPr>
        <p:spPr>
          <a:xfrm>
            <a:off x="548640" y="1572768"/>
            <a:ext cx="3337560" cy="370332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64008" cy="370332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00784"/>
            <a:ext cx="30083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Challenge</a:t>
            </a:r>
          </a:p>
        </p:txBody>
      </p:sp>
      <p:sp>
        <p:nvSpPr>
          <p:cNvPr id="10" name="TextBox 9"/>
          <p:cNvSpPr txBox="1"/>
          <p:nvPr/>
        </p:nvSpPr>
        <p:spPr>
          <a:xfrm>
            <a:off x="713232" y="2011680"/>
            <a:ext cx="3008376" cy="3172968"/>
          </a:xfrm>
          <a:prstGeom prst="rect">
            <a:avLst/>
          </a:prstGeom>
          <a:noFill/>
        </p:spPr>
        <p:txBody>
          <a:bodyPr wrap="square" anchor="t" lIns="0" rIns="0" tIns="0" bIns="0">
            <a:normAutofit/>
          </a:bodyPr>
          <a:lstStyle/>
          <a:p>
            <a:pPr algn="l">
              <a:lnSpc>
                <a:spcPct val="105000"/>
              </a:lnSpc>
              <a:spcBef>
                <a:spcPts val="0"/>
              </a:spcBef>
            </a:pPr>
            <a:r>
              <a:rPr sz="1240" b="0" i="0">
                <a:solidFill>
                  <a:srgbClr val="1B2B3C"/>
                </a:solidFill>
                <a:latin typeface="Calibri"/>
              </a:rPr>
              <a:t>Users want an app that can work across their full project context, not just the content stored inside one product.</a:t>
            </a:r>
          </a:p>
        </p:txBody>
      </p:sp>
      <p:sp>
        <p:nvSpPr>
          <p:cNvPr id="11" name="Rounded Rectangle 10"/>
          <p:cNvSpPr/>
          <p:nvPr/>
        </p:nvSpPr>
        <p:spPr>
          <a:xfrm>
            <a:off x="4389120" y="1572768"/>
            <a:ext cx="3703320" cy="333756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572768"/>
            <a:ext cx="64008" cy="3337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700784"/>
            <a:ext cx="337413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Solution</a:t>
            </a:r>
          </a:p>
        </p:txBody>
      </p:sp>
      <p:sp>
        <p:nvSpPr>
          <p:cNvPr id="14" name="TextBox 13"/>
          <p:cNvSpPr txBox="1"/>
          <p:nvPr/>
        </p:nvSpPr>
        <p:spPr>
          <a:xfrm>
            <a:off x="4553712" y="2011680"/>
            <a:ext cx="3374136" cy="2807208"/>
          </a:xfrm>
          <a:prstGeom prst="rect">
            <a:avLst/>
          </a:prstGeom>
          <a:noFill/>
        </p:spPr>
        <p:txBody>
          <a:bodyPr wrap="square" anchor="t" lIns="0" rIns="0" tIns="0" bIns="0">
            <a:normAutofit/>
          </a:bodyPr>
          <a:lstStyle/>
          <a:p>
            <a:pPr algn="l">
              <a:lnSpc>
                <a:spcPct val="105000"/>
              </a:lnSpc>
              <a:spcBef>
                <a:spcPts val="0"/>
              </a:spcBef>
            </a:pPr>
            <a:r>
              <a:rPr sz="1240" b="0" i="0">
                <a:solidFill>
                  <a:srgbClr val="1B2B3C"/>
                </a:solidFill>
                <a:latin typeface="Calibri"/>
              </a:rPr>
              <a:t>Design the app for the user's own agent. Let the app expose a shared surface that works inside Cursor, Codex, or another orchestrator.</a:t>
            </a:r>
          </a:p>
        </p:txBody>
      </p:sp>
      <p:sp>
        <p:nvSpPr>
          <p:cNvPr id="15" name="Rounded Rectangle 14"/>
          <p:cNvSpPr/>
          <p:nvPr/>
        </p:nvSpPr>
        <p:spPr>
          <a:xfrm>
            <a:off x="8229600" y="1572768"/>
            <a:ext cx="3703320" cy="33375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572768"/>
            <a:ext cx="64008" cy="333756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700784"/>
            <a:ext cx="337413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How it works</a:t>
            </a:r>
          </a:p>
        </p:txBody>
      </p:sp>
      <p:sp>
        <p:nvSpPr>
          <p:cNvPr id="18" name="TextBox 17"/>
          <p:cNvSpPr txBox="1"/>
          <p:nvPr/>
        </p:nvSpPr>
        <p:spPr>
          <a:xfrm>
            <a:off x="8394192" y="2011680"/>
            <a:ext cx="3374136" cy="2807208"/>
          </a:xfrm>
          <a:prstGeom prst="rect">
            <a:avLst/>
          </a:prstGeom>
          <a:noFill/>
        </p:spPr>
        <p:txBody>
          <a:bodyPr wrap="square" anchor="t" lIns="0" rIns="0" tIns="0" bIns="0">
            <a:normAutofit/>
          </a:bodyPr>
          <a:lstStyle/>
          <a:p>
            <a:pPr algn="l">
              <a:lnSpc>
                <a:spcPct val="105000"/>
              </a:lnSpc>
              <a:spcBef>
                <a:spcPts val="0"/>
              </a:spcBef>
            </a:pPr>
            <a:r>
              <a:rPr sz="1240" b="0" i="0">
                <a:solidFill>
                  <a:srgbClr val="1B2B3C"/>
                </a:solidFill>
                <a:latin typeface="Calibri"/>
              </a:rPr>
              <a:t>The agent reads local markdown, assets, and memory, then uses the app through browser, CLI, or API while the user watches the result.</a:t>
            </a:r>
          </a:p>
        </p:txBody>
      </p:sp>
      <p:sp>
        <p:nvSpPr>
          <p:cNvPr id="19" name="Rounded Rectangle 18"/>
          <p:cNvSpPr/>
          <p:nvPr/>
        </p:nvSpPr>
        <p:spPr>
          <a:xfrm>
            <a:off x="548640" y="5074920"/>
            <a:ext cx="11094415" cy="82296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5230368"/>
            <a:ext cx="10789920" cy="27432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Stack: local context + shared surface + tool connectivity + persistent memory</a:t>
            </a:r>
          </a:p>
        </p:txBody>
      </p:sp>
      <p:sp>
        <p:nvSpPr>
          <p:cNvPr id="21" name="Rounded Rectangle 20"/>
          <p:cNvSpPr/>
          <p:nvPr/>
        </p:nvSpPr>
        <p:spPr>
          <a:xfrm>
            <a:off x="548640" y="5989320"/>
            <a:ext cx="3429000" cy="38404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6025896"/>
            <a:ext cx="3282696"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0A1628"/>
                </a:solidFill>
                <a:latin typeface="Calibri"/>
              </a:rPr>
              <a:t>Users: founders, designers, operators, analysts</a:t>
            </a:r>
          </a:p>
        </p:txBody>
      </p:sp>
      <p:sp>
        <p:nvSpPr>
          <p:cNvPr id="23" name="Rounded Rectangle 22"/>
          <p:cNvSpPr/>
          <p:nvPr/>
        </p:nvSpPr>
        <p:spPr>
          <a:xfrm>
            <a:off x="4160520" y="5989320"/>
            <a:ext cx="3566160" cy="384048"/>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33672" y="6025896"/>
            <a:ext cx="3419856"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Organizations: teams that need real context</a:t>
            </a:r>
          </a:p>
        </p:txBody>
      </p:sp>
      <p:sp>
        <p:nvSpPr>
          <p:cNvPr id="25" name="Rounded Rectangle 24"/>
          <p:cNvSpPr/>
          <p:nvPr/>
        </p:nvSpPr>
        <p:spPr>
          <a:xfrm>
            <a:off x="7863840" y="5989320"/>
            <a:ext cx="3886200" cy="384048"/>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36992" y="6025896"/>
            <a:ext cx="3739896"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0A1628"/>
                </a:solidFill>
                <a:latin typeface="Calibri"/>
              </a:rPr>
              <a:t>Surface: browser, canvas, sheet, doc, or dashboard</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Five steps to start building</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transcript's build playbook</a:t>
            </a:r>
          </a:p>
        </p:txBody>
      </p:sp>
      <p:sp>
        <p:nvSpPr>
          <p:cNvPr id="7" name="Rounded Rectangle 6"/>
          <p:cNvSpPr/>
          <p:nvPr/>
        </p:nvSpPr>
        <p:spPr>
          <a:xfrm>
            <a:off x="548640" y="1783080"/>
            <a:ext cx="731520" cy="658368"/>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20"/>
            <a:ext cx="731520" cy="320040"/>
          </a:xfrm>
          <a:prstGeom prst="rect">
            <a:avLst/>
          </a:prstGeom>
          <a:noFill/>
        </p:spPr>
        <p:txBody>
          <a:bodyPr wrap="square" anchor="ctr" lIns="0" rIns="0" tIns="0" bIns="0">
            <a:noAutofit/>
          </a:bodyPr>
          <a:lstStyle/>
          <a:p>
            <a:pPr algn="ctr">
              <a:lnSpc>
                <a:spcPct val="105000"/>
              </a:lnSpc>
              <a:spcBef>
                <a:spcPts val="0"/>
              </a:spcBef>
            </a:pPr>
            <a:r>
              <a:rPr sz="1800" b="1" i="0">
                <a:solidFill>
                  <a:srgbClr val="FFFFFF"/>
                </a:solidFill>
                <a:latin typeface="Calibri"/>
              </a:rPr>
              <a:t>1</a:t>
            </a:r>
          </a:p>
        </p:txBody>
      </p:sp>
      <p:sp>
        <p:nvSpPr>
          <p:cNvPr id="9" name="Rounded Rectangle 8"/>
          <p:cNvSpPr/>
          <p:nvPr/>
        </p:nvSpPr>
        <p:spPr>
          <a:xfrm>
            <a:off x="1417320" y="1783080"/>
            <a:ext cx="10241280" cy="658368"/>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1856232"/>
            <a:ext cx="3611880" cy="219456"/>
          </a:xfrm>
          <a:prstGeom prst="rect">
            <a:avLst/>
          </a:prstGeom>
          <a:noFill/>
        </p:spPr>
        <p:txBody>
          <a:bodyPr wrap="square" anchor="t" lIns="0" rIns="0" tIns="0" bIns="0">
            <a:normAutofit/>
          </a:bodyPr>
          <a:lstStyle/>
          <a:p>
            <a:pPr algn="l">
              <a:lnSpc>
                <a:spcPct val="105000"/>
              </a:lnSpc>
              <a:spcBef>
                <a:spcPts val="0"/>
              </a:spcBef>
            </a:pPr>
            <a:r>
              <a:rPr sz="1330" b="1" i="0">
                <a:solidFill>
                  <a:srgbClr val="0A1628"/>
                </a:solidFill>
                <a:latin typeface="Calibri"/>
              </a:rPr>
              <a:t>1. Pick the job to be done</a:t>
            </a:r>
          </a:p>
        </p:txBody>
      </p:sp>
      <p:sp>
        <p:nvSpPr>
          <p:cNvPr id="11" name="TextBox 10"/>
          <p:cNvSpPr txBox="1"/>
          <p:nvPr/>
        </p:nvSpPr>
        <p:spPr>
          <a:xfrm>
            <a:off x="5303520" y="1856232"/>
            <a:ext cx="5897880" cy="219456"/>
          </a:xfrm>
          <a:prstGeom prst="rect">
            <a:avLst/>
          </a:prstGeom>
          <a:noFill/>
        </p:spPr>
        <p:txBody>
          <a:bodyPr wrap="square" anchor="t" lIns="0" rIns="0" tIns="0" bIns="0">
            <a:normAutofit/>
          </a:bodyPr>
          <a:lstStyle/>
          <a:p>
            <a:pPr algn="l">
              <a:lnSpc>
                <a:spcPct val="105000"/>
              </a:lnSpc>
              <a:spcBef>
                <a:spcPts val="0"/>
              </a:spcBef>
            </a:pPr>
            <a:r>
              <a:rPr sz="1210" b="0" i="0">
                <a:solidFill>
                  <a:srgbClr val="1B2B3C"/>
                </a:solidFill>
                <a:latin typeface="Calibri"/>
              </a:rPr>
              <a:t>Define the outcome the user and agent achieve together.</a:t>
            </a:r>
          </a:p>
        </p:txBody>
      </p:sp>
      <p:sp>
        <p:nvSpPr>
          <p:cNvPr id="12" name="Rounded Rectangle 11"/>
          <p:cNvSpPr/>
          <p:nvPr/>
        </p:nvSpPr>
        <p:spPr>
          <a:xfrm>
            <a:off x="548640" y="2587752"/>
            <a:ext cx="731520" cy="658368"/>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79192"/>
            <a:ext cx="731520" cy="320040"/>
          </a:xfrm>
          <a:prstGeom prst="rect">
            <a:avLst/>
          </a:prstGeom>
          <a:noFill/>
        </p:spPr>
        <p:txBody>
          <a:bodyPr wrap="square" anchor="ctr" lIns="0" rIns="0" tIns="0" bIns="0">
            <a:noAutofit/>
          </a:bodyPr>
          <a:lstStyle/>
          <a:p>
            <a:pPr algn="ctr">
              <a:lnSpc>
                <a:spcPct val="105000"/>
              </a:lnSpc>
              <a:spcBef>
                <a:spcPts val="0"/>
              </a:spcBef>
            </a:pPr>
            <a:r>
              <a:rPr sz="1800" b="1" i="0">
                <a:solidFill>
                  <a:srgbClr val="FFFFFF"/>
                </a:solidFill>
                <a:latin typeface="Calibri"/>
              </a:rPr>
              <a:t>2</a:t>
            </a:r>
          </a:p>
        </p:txBody>
      </p:sp>
      <p:sp>
        <p:nvSpPr>
          <p:cNvPr id="14" name="Rounded Rectangle 13"/>
          <p:cNvSpPr/>
          <p:nvPr/>
        </p:nvSpPr>
        <p:spPr>
          <a:xfrm>
            <a:off x="1417320" y="2587752"/>
            <a:ext cx="10241280" cy="65836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2660904"/>
            <a:ext cx="3611880" cy="219456"/>
          </a:xfrm>
          <a:prstGeom prst="rect">
            <a:avLst/>
          </a:prstGeom>
          <a:noFill/>
        </p:spPr>
        <p:txBody>
          <a:bodyPr wrap="square" anchor="t" lIns="0" rIns="0" tIns="0" bIns="0">
            <a:normAutofit/>
          </a:bodyPr>
          <a:lstStyle/>
          <a:p>
            <a:pPr algn="l">
              <a:lnSpc>
                <a:spcPct val="105000"/>
              </a:lnSpc>
              <a:spcBef>
                <a:spcPts val="0"/>
              </a:spcBef>
            </a:pPr>
            <a:r>
              <a:rPr sz="1330" b="1" i="0">
                <a:solidFill>
                  <a:srgbClr val="0A1628"/>
                </a:solidFill>
                <a:latin typeface="Calibri"/>
              </a:rPr>
              <a:t>2. Define the shared surface</a:t>
            </a:r>
          </a:p>
        </p:txBody>
      </p:sp>
      <p:sp>
        <p:nvSpPr>
          <p:cNvPr id="16" name="TextBox 15"/>
          <p:cNvSpPr txBox="1"/>
          <p:nvPr/>
        </p:nvSpPr>
        <p:spPr>
          <a:xfrm>
            <a:off x="5303520" y="2660904"/>
            <a:ext cx="5897880" cy="219456"/>
          </a:xfrm>
          <a:prstGeom prst="rect">
            <a:avLst/>
          </a:prstGeom>
          <a:noFill/>
        </p:spPr>
        <p:txBody>
          <a:bodyPr wrap="square" anchor="t" lIns="0" rIns="0" tIns="0" bIns="0">
            <a:normAutofit/>
          </a:bodyPr>
          <a:lstStyle/>
          <a:p>
            <a:pPr algn="l">
              <a:lnSpc>
                <a:spcPct val="105000"/>
              </a:lnSpc>
              <a:spcBef>
                <a:spcPts val="0"/>
              </a:spcBef>
            </a:pPr>
            <a:r>
              <a:rPr sz="1210" b="0" i="0">
                <a:solidFill>
                  <a:srgbClr val="1B2B3C"/>
                </a:solidFill>
                <a:latin typeface="Calibri"/>
              </a:rPr>
              <a:t>Choose the canvas both sides collaborate on at the same time.</a:t>
            </a:r>
          </a:p>
        </p:txBody>
      </p:sp>
      <p:sp>
        <p:nvSpPr>
          <p:cNvPr id="17" name="Rounded Rectangle 16"/>
          <p:cNvSpPr/>
          <p:nvPr/>
        </p:nvSpPr>
        <p:spPr>
          <a:xfrm>
            <a:off x="548640" y="3392424"/>
            <a:ext cx="731520" cy="658368"/>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483864"/>
            <a:ext cx="731520" cy="320040"/>
          </a:xfrm>
          <a:prstGeom prst="rect">
            <a:avLst/>
          </a:prstGeom>
          <a:noFill/>
        </p:spPr>
        <p:txBody>
          <a:bodyPr wrap="square" anchor="ctr" lIns="0" rIns="0" tIns="0" bIns="0">
            <a:noAutofit/>
          </a:bodyPr>
          <a:lstStyle/>
          <a:p>
            <a:pPr algn="ctr">
              <a:lnSpc>
                <a:spcPct val="105000"/>
              </a:lnSpc>
              <a:spcBef>
                <a:spcPts val="0"/>
              </a:spcBef>
            </a:pPr>
            <a:r>
              <a:rPr sz="1800" b="1" i="0">
                <a:solidFill>
                  <a:srgbClr val="FFFFFF"/>
                </a:solidFill>
                <a:latin typeface="Calibri"/>
              </a:rPr>
              <a:t>3</a:t>
            </a:r>
          </a:p>
        </p:txBody>
      </p:sp>
      <p:sp>
        <p:nvSpPr>
          <p:cNvPr id="19" name="Rounded Rectangle 18"/>
          <p:cNvSpPr/>
          <p:nvPr/>
        </p:nvSpPr>
        <p:spPr>
          <a:xfrm>
            <a:off x="1417320" y="3392424"/>
            <a:ext cx="10241280" cy="658368"/>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00200" y="3465576"/>
            <a:ext cx="3611880" cy="219456"/>
          </a:xfrm>
          <a:prstGeom prst="rect">
            <a:avLst/>
          </a:prstGeom>
          <a:noFill/>
        </p:spPr>
        <p:txBody>
          <a:bodyPr wrap="square" anchor="t" lIns="0" rIns="0" tIns="0" bIns="0">
            <a:normAutofit/>
          </a:bodyPr>
          <a:lstStyle/>
          <a:p>
            <a:pPr algn="l">
              <a:lnSpc>
                <a:spcPct val="105000"/>
              </a:lnSpc>
              <a:spcBef>
                <a:spcPts val="0"/>
              </a:spcBef>
            </a:pPr>
            <a:r>
              <a:rPr sz="1330" b="1" i="0">
                <a:solidFill>
                  <a:srgbClr val="0A1628"/>
                </a:solidFill>
                <a:latin typeface="Calibri"/>
              </a:rPr>
              <a:t>3. Build for BYO agent</a:t>
            </a:r>
          </a:p>
        </p:txBody>
      </p:sp>
      <p:sp>
        <p:nvSpPr>
          <p:cNvPr id="21" name="TextBox 20"/>
          <p:cNvSpPr txBox="1"/>
          <p:nvPr/>
        </p:nvSpPr>
        <p:spPr>
          <a:xfrm>
            <a:off x="5303520" y="3465576"/>
            <a:ext cx="5897880" cy="219456"/>
          </a:xfrm>
          <a:prstGeom prst="rect">
            <a:avLst/>
          </a:prstGeom>
          <a:noFill/>
        </p:spPr>
        <p:txBody>
          <a:bodyPr wrap="square" anchor="t" lIns="0" rIns="0" tIns="0" bIns="0">
            <a:normAutofit/>
          </a:bodyPr>
          <a:lstStyle/>
          <a:p>
            <a:pPr algn="l">
              <a:lnSpc>
                <a:spcPct val="105000"/>
              </a:lnSpc>
              <a:spcBef>
                <a:spcPts val="0"/>
              </a:spcBef>
            </a:pPr>
            <a:r>
              <a:rPr sz="1210" b="0" i="0">
                <a:solidFill>
                  <a:srgbClr val="1B2B3C"/>
                </a:solidFill>
                <a:latin typeface="Calibri"/>
              </a:rPr>
              <a:t>Make the app usable from any agent host, not just your own.</a:t>
            </a:r>
          </a:p>
        </p:txBody>
      </p:sp>
      <p:sp>
        <p:nvSpPr>
          <p:cNvPr id="22" name="Rounded Rectangle 21"/>
          <p:cNvSpPr/>
          <p:nvPr/>
        </p:nvSpPr>
        <p:spPr>
          <a:xfrm>
            <a:off x="548640" y="4197096"/>
            <a:ext cx="731520" cy="658368"/>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288536"/>
            <a:ext cx="731520" cy="320040"/>
          </a:xfrm>
          <a:prstGeom prst="rect">
            <a:avLst/>
          </a:prstGeom>
          <a:noFill/>
        </p:spPr>
        <p:txBody>
          <a:bodyPr wrap="square" anchor="ctr" lIns="0" rIns="0" tIns="0" bIns="0">
            <a:noAutofit/>
          </a:bodyPr>
          <a:lstStyle/>
          <a:p>
            <a:pPr algn="ctr">
              <a:lnSpc>
                <a:spcPct val="105000"/>
              </a:lnSpc>
              <a:spcBef>
                <a:spcPts val="0"/>
              </a:spcBef>
            </a:pPr>
            <a:r>
              <a:rPr sz="1800" b="1" i="0">
                <a:solidFill>
                  <a:srgbClr val="FFFFFF"/>
                </a:solidFill>
                <a:latin typeface="Calibri"/>
              </a:rPr>
              <a:t>4</a:t>
            </a:r>
          </a:p>
        </p:txBody>
      </p:sp>
      <p:sp>
        <p:nvSpPr>
          <p:cNvPr id="24" name="Rounded Rectangle 23"/>
          <p:cNvSpPr/>
          <p:nvPr/>
        </p:nvSpPr>
        <p:spPr>
          <a:xfrm>
            <a:off x="1417320" y="4197096"/>
            <a:ext cx="10241280" cy="65836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00200" y="4270248"/>
            <a:ext cx="3611880" cy="219456"/>
          </a:xfrm>
          <a:prstGeom prst="rect">
            <a:avLst/>
          </a:prstGeom>
          <a:noFill/>
        </p:spPr>
        <p:txBody>
          <a:bodyPr wrap="square" anchor="t" lIns="0" rIns="0" tIns="0" bIns="0">
            <a:normAutofit/>
          </a:bodyPr>
          <a:lstStyle/>
          <a:p>
            <a:pPr algn="l">
              <a:lnSpc>
                <a:spcPct val="105000"/>
              </a:lnSpc>
              <a:spcBef>
                <a:spcPts val="0"/>
              </a:spcBef>
            </a:pPr>
            <a:r>
              <a:rPr sz="1330" b="1" i="0">
                <a:solidFill>
                  <a:srgbClr val="0A1628"/>
                </a:solidFill>
                <a:latin typeface="Calibri"/>
              </a:rPr>
              <a:t>4. Start from your expertise</a:t>
            </a:r>
          </a:p>
        </p:txBody>
      </p:sp>
      <p:sp>
        <p:nvSpPr>
          <p:cNvPr id="26" name="TextBox 25"/>
          <p:cNvSpPr txBox="1"/>
          <p:nvPr/>
        </p:nvSpPr>
        <p:spPr>
          <a:xfrm>
            <a:off x="5303520" y="4270248"/>
            <a:ext cx="5897880" cy="219456"/>
          </a:xfrm>
          <a:prstGeom prst="rect">
            <a:avLst/>
          </a:prstGeom>
          <a:noFill/>
        </p:spPr>
        <p:txBody>
          <a:bodyPr wrap="square" anchor="t" lIns="0" rIns="0" tIns="0" bIns="0">
            <a:normAutofit/>
          </a:bodyPr>
          <a:lstStyle/>
          <a:p>
            <a:pPr algn="l">
              <a:lnSpc>
                <a:spcPct val="105000"/>
              </a:lnSpc>
              <a:spcBef>
                <a:spcPts val="0"/>
              </a:spcBef>
            </a:pPr>
            <a:r>
              <a:rPr sz="1210" b="0" i="0">
                <a:solidFill>
                  <a:srgbClr val="1B2B3C"/>
                </a:solidFill>
                <a:latin typeface="Calibri"/>
              </a:rPr>
              <a:t>Choose a domain you already know deeply.</a:t>
            </a:r>
          </a:p>
        </p:txBody>
      </p:sp>
      <p:sp>
        <p:nvSpPr>
          <p:cNvPr id="27" name="Rounded Rectangle 26"/>
          <p:cNvSpPr/>
          <p:nvPr/>
        </p:nvSpPr>
        <p:spPr>
          <a:xfrm>
            <a:off x="548640" y="5001768"/>
            <a:ext cx="731520" cy="658368"/>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093208"/>
            <a:ext cx="731520" cy="320040"/>
          </a:xfrm>
          <a:prstGeom prst="rect">
            <a:avLst/>
          </a:prstGeom>
          <a:noFill/>
        </p:spPr>
        <p:txBody>
          <a:bodyPr wrap="square" anchor="ctr" lIns="0" rIns="0" tIns="0" bIns="0">
            <a:noAutofit/>
          </a:bodyPr>
          <a:lstStyle/>
          <a:p>
            <a:pPr algn="ctr">
              <a:lnSpc>
                <a:spcPct val="105000"/>
              </a:lnSpc>
              <a:spcBef>
                <a:spcPts val="0"/>
              </a:spcBef>
            </a:pPr>
            <a:r>
              <a:rPr sz="1800" b="1" i="0">
                <a:solidFill>
                  <a:srgbClr val="FFFFFF"/>
                </a:solidFill>
                <a:latin typeface="Calibri"/>
              </a:rPr>
              <a:t>5</a:t>
            </a:r>
          </a:p>
        </p:txBody>
      </p:sp>
      <p:sp>
        <p:nvSpPr>
          <p:cNvPr id="29" name="Rounded Rectangle 28"/>
          <p:cNvSpPr/>
          <p:nvPr/>
        </p:nvSpPr>
        <p:spPr>
          <a:xfrm>
            <a:off x="1417320" y="5001768"/>
            <a:ext cx="10241280" cy="658368"/>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00200" y="5074920"/>
            <a:ext cx="3611880" cy="219456"/>
          </a:xfrm>
          <a:prstGeom prst="rect">
            <a:avLst/>
          </a:prstGeom>
          <a:noFill/>
        </p:spPr>
        <p:txBody>
          <a:bodyPr wrap="square" anchor="t" lIns="0" rIns="0" tIns="0" bIns="0">
            <a:normAutofit/>
          </a:bodyPr>
          <a:lstStyle/>
          <a:p>
            <a:pPr algn="l">
              <a:lnSpc>
                <a:spcPct val="105000"/>
              </a:lnSpc>
              <a:spcBef>
                <a:spcPts val="0"/>
              </a:spcBef>
            </a:pPr>
            <a:r>
              <a:rPr sz="1330" b="1" i="0">
                <a:solidFill>
                  <a:srgbClr val="0A1628"/>
                </a:solidFill>
                <a:latin typeface="Calibri"/>
              </a:rPr>
              <a:t>5. Plan MCP / CLI / tools early</a:t>
            </a:r>
          </a:p>
        </p:txBody>
      </p:sp>
      <p:sp>
        <p:nvSpPr>
          <p:cNvPr id="31" name="TextBox 30"/>
          <p:cNvSpPr txBox="1"/>
          <p:nvPr/>
        </p:nvSpPr>
        <p:spPr>
          <a:xfrm>
            <a:off x="5303520" y="5074920"/>
            <a:ext cx="5897880" cy="219456"/>
          </a:xfrm>
          <a:prstGeom prst="rect">
            <a:avLst/>
          </a:prstGeom>
          <a:noFill/>
        </p:spPr>
        <p:txBody>
          <a:bodyPr wrap="square" anchor="t" lIns="0" rIns="0" tIns="0" bIns="0">
            <a:normAutofit/>
          </a:bodyPr>
          <a:lstStyle/>
          <a:p>
            <a:pPr algn="l">
              <a:lnSpc>
                <a:spcPct val="105000"/>
              </a:lnSpc>
              <a:spcBef>
                <a:spcPts val="0"/>
              </a:spcBef>
            </a:pPr>
            <a:r>
              <a:rPr sz="1210" b="0" i="0">
                <a:solidFill>
                  <a:srgbClr val="1B2B3C"/>
                </a:solidFill>
                <a:latin typeface="Calibri"/>
              </a:rPr>
              <a:t>Scope integrations on day one so the collaboration is real.</a:t>
            </a:r>
          </a:p>
        </p:txBody>
      </p:sp>
      <p:sp>
        <p:nvSpPr>
          <p:cNvPr id="32" name="TextBox 3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33" name="TextBox 3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Where the opportunity is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Examples of agent-native surfaces already visible</a:t>
            </a:r>
          </a:p>
        </p:txBody>
      </p:sp>
      <p:sp>
        <p:nvSpPr>
          <p:cNvPr id="7" name="Rounded Rectangle 6"/>
          <p:cNvSpPr/>
          <p:nvPr/>
        </p:nvSpPr>
        <p:spPr>
          <a:xfrm>
            <a:off x="548640" y="1691640"/>
            <a:ext cx="3493008" cy="15087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64008" cy="15087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19656"/>
            <a:ext cx="3163824"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Miro / canvas tools</a:t>
            </a:r>
          </a:p>
        </p:txBody>
      </p:sp>
      <p:sp>
        <p:nvSpPr>
          <p:cNvPr id="10" name="TextBox 9"/>
          <p:cNvSpPr txBox="1"/>
          <p:nvPr/>
        </p:nvSpPr>
        <p:spPr>
          <a:xfrm>
            <a:off x="713232" y="2130552"/>
            <a:ext cx="3163824" cy="978408"/>
          </a:xfrm>
          <a:prstGeom prst="rect">
            <a:avLst/>
          </a:prstGeom>
          <a:noFill/>
        </p:spPr>
        <p:txBody>
          <a:bodyPr wrap="square" anchor="t" lIns="0" rIns="0" tIns="0" bIns="0">
            <a:normAutofit/>
          </a:bodyPr>
          <a:lstStyle/>
          <a:p>
            <a:pPr algn="l">
              <a:lnSpc>
                <a:spcPct val="105000"/>
              </a:lnSpc>
              <a:spcBef>
                <a:spcPts val="0"/>
              </a:spcBef>
            </a:pPr>
            <a:r>
              <a:rPr sz="1130" b="0" i="0">
                <a:solidFill>
                  <a:srgbClr val="1B2B3C"/>
                </a:solidFill>
                <a:latin typeface="Calibri"/>
              </a:rPr>
              <a:t>Shared whiteboards with agent-readable artifacts.</a:t>
            </a:r>
          </a:p>
        </p:txBody>
      </p:sp>
      <p:sp>
        <p:nvSpPr>
          <p:cNvPr id="11" name="Rounded Rectangle 10"/>
          <p:cNvSpPr/>
          <p:nvPr/>
        </p:nvSpPr>
        <p:spPr>
          <a:xfrm>
            <a:off x="4187952" y="1691640"/>
            <a:ext cx="3493008" cy="150876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87952" y="1691640"/>
            <a:ext cx="64008" cy="15087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2544" y="1819656"/>
            <a:ext cx="3163824"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Notion</a:t>
            </a:r>
          </a:p>
        </p:txBody>
      </p:sp>
      <p:sp>
        <p:nvSpPr>
          <p:cNvPr id="14" name="TextBox 13"/>
          <p:cNvSpPr txBox="1"/>
          <p:nvPr/>
        </p:nvSpPr>
        <p:spPr>
          <a:xfrm>
            <a:off x="4352544" y="2130552"/>
            <a:ext cx="3163824" cy="978408"/>
          </a:xfrm>
          <a:prstGeom prst="rect">
            <a:avLst/>
          </a:prstGeom>
          <a:noFill/>
        </p:spPr>
        <p:txBody>
          <a:bodyPr wrap="square" anchor="t" lIns="0" rIns="0" tIns="0" bIns="0">
            <a:normAutofit/>
          </a:bodyPr>
          <a:lstStyle/>
          <a:p>
            <a:pPr algn="l">
              <a:lnSpc>
                <a:spcPct val="105000"/>
              </a:lnSpc>
              <a:spcBef>
                <a:spcPts val="0"/>
              </a:spcBef>
            </a:pPr>
            <a:r>
              <a:rPr sz="1130" b="0" i="0">
                <a:solidFill>
                  <a:srgbClr val="1B2B3C"/>
                </a:solidFill>
                <a:latin typeface="Calibri"/>
              </a:rPr>
              <a:t>Knowledge stores external agents can read and write.</a:t>
            </a:r>
          </a:p>
        </p:txBody>
      </p:sp>
      <p:sp>
        <p:nvSpPr>
          <p:cNvPr id="15" name="Rounded Rectangle 14"/>
          <p:cNvSpPr/>
          <p:nvPr/>
        </p:nvSpPr>
        <p:spPr>
          <a:xfrm>
            <a:off x="7278624" y="1691640"/>
            <a:ext cx="3493008" cy="15087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78624" y="1691640"/>
            <a:ext cx="64008" cy="15087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43216" y="1819656"/>
            <a:ext cx="3163824"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MagicPath / Paper</a:t>
            </a:r>
          </a:p>
        </p:txBody>
      </p:sp>
      <p:sp>
        <p:nvSpPr>
          <p:cNvPr id="18" name="TextBox 17"/>
          <p:cNvSpPr txBox="1"/>
          <p:nvPr/>
        </p:nvSpPr>
        <p:spPr>
          <a:xfrm>
            <a:off x="7443216" y="2130552"/>
            <a:ext cx="3163824" cy="978408"/>
          </a:xfrm>
          <a:prstGeom prst="rect">
            <a:avLst/>
          </a:prstGeom>
          <a:noFill/>
        </p:spPr>
        <p:txBody>
          <a:bodyPr wrap="square" anchor="t" lIns="0" rIns="0" tIns="0" bIns="0">
            <a:normAutofit/>
          </a:bodyPr>
          <a:lstStyle/>
          <a:p>
            <a:pPr algn="l">
              <a:lnSpc>
                <a:spcPct val="105000"/>
              </a:lnSpc>
              <a:spcBef>
                <a:spcPts val="0"/>
              </a:spcBef>
            </a:pPr>
            <a:r>
              <a:rPr sz="1130" b="0" i="0">
                <a:solidFill>
                  <a:srgbClr val="1B2B3C"/>
                </a:solidFill>
                <a:latin typeface="Calibri"/>
              </a:rPr>
              <a:t>Visual design canvases for agent-led composition.</a:t>
            </a:r>
          </a:p>
        </p:txBody>
      </p:sp>
      <p:sp>
        <p:nvSpPr>
          <p:cNvPr id="19" name="Rounded Rectangle 18"/>
          <p:cNvSpPr/>
          <p:nvPr/>
        </p:nvSpPr>
        <p:spPr>
          <a:xfrm>
            <a:off x="548640" y="3429000"/>
            <a:ext cx="5285232" cy="141732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29000"/>
            <a:ext cx="64008" cy="14173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557016"/>
            <a:ext cx="4956048"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Google Sheets</a:t>
            </a:r>
          </a:p>
        </p:txBody>
      </p:sp>
      <p:sp>
        <p:nvSpPr>
          <p:cNvPr id="22" name="TextBox 21"/>
          <p:cNvSpPr txBox="1"/>
          <p:nvPr/>
        </p:nvSpPr>
        <p:spPr>
          <a:xfrm>
            <a:off x="713232" y="3867912"/>
            <a:ext cx="4956048" cy="886968"/>
          </a:xfrm>
          <a:prstGeom prst="rect">
            <a:avLst/>
          </a:prstGeom>
          <a:noFill/>
        </p:spPr>
        <p:txBody>
          <a:bodyPr wrap="square" anchor="t" lIns="0" rIns="0" tIns="0" bIns="0">
            <a:normAutofit/>
          </a:bodyPr>
          <a:lstStyle/>
          <a:p>
            <a:pPr algn="l">
              <a:lnSpc>
                <a:spcPct val="105000"/>
              </a:lnSpc>
              <a:spcBef>
                <a:spcPts val="0"/>
              </a:spcBef>
            </a:pPr>
            <a:r>
              <a:rPr sz="1130" b="0" i="0">
                <a:solidFill>
                  <a:srgbClr val="1B2B3C"/>
                </a:solidFill>
                <a:latin typeface="Calibri"/>
              </a:rPr>
              <a:t>Structured data surfaces with connectors.</a:t>
            </a:r>
          </a:p>
        </p:txBody>
      </p:sp>
      <p:sp>
        <p:nvSpPr>
          <p:cNvPr id="23" name="Rounded Rectangle 22"/>
          <p:cNvSpPr/>
          <p:nvPr/>
        </p:nvSpPr>
        <p:spPr>
          <a:xfrm>
            <a:off x="6355080" y="3429000"/>
            <a:ext cx="5321808" cy="141732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55080" y="3429000"/>
            <a:ext cx="64008" cy="141732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9672" y="3557016"/>
            <a:ext cx="4992624"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Adobe-class tools</a:t>
            </a:r>
          </a:p>
        </p:txBody>
      </p:sp>
      <p:sp>
        <p:nvSpPr>
          <p:cNvPr id="26" name="TextBox 25"/>
          <p:cNvSpPr txBox="1"/>
          <p:nvPr/>
        </p:nvSpPr>
        <p:spPr>
          <a:xfrm>
            <a:off x="6519672" y="3867912"/>
            <a:ext cx="4992624" cy="886968"/>
          </a:xfrm>
          <a:prstGeom prst="rect">
            <a:avLst/>
          </a:prstGeom>
          <a:noFill/>
        </p:spPr>
        <p:txBody>
          <a:bodyPr wrap="square" anchor="t" lIns="0" rIns="0" tIns="0" bIns="0">
            <a:normAutofit/>
          </a:bodyPr>
          <a:lstStyle/>
          <a:p>
            <a:pPr algn="l">
              <a:lnSpc>
                <a:spcPct val="105000"/>
              </a:lnSpc>
              <a:spcBef>
                <a:spcPts val="0"/>
              </a:spcBef>
            </a:pPr>
            <a:r>
              <a:rPr sz="1130" b="0" i="0">
                <a:solidFill>
                  <a:srgbClr val="1B2B3C"/>
                </a:solidFill>
                <a:latin typeface="Calibri"/>
              </a:rPr>
              <a:t>Incumbents still have room for an agent-native workflow.</a:t>
            </a:r>
          </a:p>
        </p:txBody>
      </p:sp>
      <p:sp>
        <p:nvSpPr>
          <p:cNvPr id="27" name="Rounded Rectangle 26"/>
          <p:cNvSpPr/>
          <p:nvPr/>
        </p:nvSpPr>
        <p:spPr>
          <a:xfrm>
            <a:off x="548640" y="5212080"/>
            <a:ext cx="11064240" cy="384048"/>
          </a:xfrm>
          <a:prstGeom prst="roundRect">
            <a:avLst>
              <a:gd name="adj" fmla="val 8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5248656"/>
            <a:ext cx="10917936"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Opportunity: every surface that already holds context can be agent-native</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What to build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 concise decision filter</a:t>
            </a:r>
          </a:p>
        </p:txBody>
      </p:sp>
      <p:sp>
        <p:nvSpPr>
          <p:cNvPr id="7" name="Rounded Rectangle 6"/>
          <p:cNvSpPr/>
          <p:nvPr/>
        </p:nvSpPr>
        <p:spPr>
          <a:xfrm>
            <a:off x="548640" y="1691640"/>
            <a:ext cx="2011680" cy="347472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64008" cy="3474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19656"/>
            <a:ext cx="168249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Build if</a:t>
            </a:r>
          </a:p>
        </p:txBody>
      </p:sp>
      <p:sp>
        <p:nvSpPr>
          <p:cNvPr id="10" name="TextBox 9"/>
          <p:cNvSpPr txBox="1"/>
          <p:nvPr/>
        </p:nvSpPr>
        <p:spPr>
          <a:xfrm>
            <a:off x="713232" y="2130552"/>
            <a:ext cx="1682496" cy="2944368"/>
          </a:xfrm>
          <a:prstGeom prst="rect">
            <a:avLst/>
          </a:prstGeom>
          <a:noFill/>
        </p:spPr>
        <p:txBody>
          <a:bodyPr wrap="square" anchor="t" lIns="0" rIns="0" tIns="0" bIns="0">
            <a:normAutofit/>
          </a:bodyPr>
          <a:lstStyle/>
          <a:p>
            <a:pPr algn="l">
              <a:lnSpc>
                <a:spcPct val="105000"/>
              </a:lnSpc>
              <a:spcBef>
                <a:spcPts val="500"/>
              </a:spcBef>
            </a:pPr>
            <a:r>
              <a:rPr sz="1250" b="0" i="0">
                <a:solidFill>
                  <a:srgbClr val="1B2B3C"/>
                </a:solidFill>
                <a:latin typeface="Calibri"/>
              </a:rPr>
              <a:t>•  The user already works in an existing surface</a:t>
            </a:r>
          </a:p>
          <a:p>
            <a:pPr algn="l">
              <a:lnSpc>
                <a:spcPct val="105000"/>
              </a:lnSpc>
              <a:spcBef>
                <a:spcPts val="500"/>
              </a:spcBef>
            </a:pPr>
            <a:r>
              <a:rPr sz="1250" b="0" i="0">
                <a:solidFill>
                  <a:srgbClr val="1B2B3C"/>
                </a:solidFill>
                <a:latin typeface="Calibri"/>
              </a:rPr>
              <a:t>•  Your domain knowledge is better than generic tooling</a:t>
            </a:r>
          </a:p>
          <a:p>
            <a:pPr algn="l">
              <a:lnSpc>
                <a:spcPct val="105000"/>
              </a:lnSpc>
              <a:spcBef>
                <a:spcPts val="500"/>
              </a:spcBef>
            </a:pPr>
            <a:r>
              <a:rPr sz="1250" b="0" i="0">
                <a:solidFill>
                  <a:srgbClr val="1B2B3C"/>
                </a:solidFill>
                <a:latin typeface="Calibri"/>
              </a:rPr>
              <a:t>•  The app can expose MCP, CLI, or API access</a:t>
            </a:r>
          </a:p>
        </p:txBody>
      </p:sp>
      <p:sp>
        <p:nvSpPr>
          <p:cNvPr id="11" name="Rounded Rectangle 10"/>
          <p:cNvSpPr/>
          <p:nvPr/>
        </p:nvSpPr>
        <p:spPr>
          <a:xfrm>
            <a:off x="4297679" y="1691640"/>
            <a:ext cx="3474720" cy="201168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79" y="1691640"/>
            <a:ext cx="64008" cy="201168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1" y="1819656"/>
            <a:ext cx="314553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Avoid if</a:t>
            </a:r>
          </a:p>
        </p:txBody>
      </p:sp>
      <p:sp>
        <p:nvSpPr>
          <p:cNvPr id="14" name="TextBox 13"/>
          <p:cNvSpPr txBox="1"/>
          <p:nvPr/>
        </p:nvSpPr>
        <p:spPr>
          <a:xfrm>
            <a:off x="4462271" y="2130552"/>
            <a:ext cx="3145536" cy="1481328"/>
          </a:xfrm>
          <a:prstGeom prst="rect">
            <a:avLst/>
          </a:prstGeom>
          <a:noFill/>
        </p:spPr>
        <p:txBody>
          <a:bodyPr wrap="square" anchor="t" lIns="0" rIns="0" tIns="0" bIns="0">
            <a:normAutofit/>
          </a:bodyPr>
          <a:lstStyle/>
          <a:p>
            <a:pPr algn="l">
              <a:lnSpc>
                <a:spcPct val="105000"/>
              </a:lnSpc>
              <a:spcBef>
                <a:spcPts val="500"/>
              </a:spcBef>
            </a:pPr>
            <a:r>
              <a:rPr sz="1250" b="0" i="0">
                <a:solidFill>
                  <a:srgbClr val="1B2B3C"/>
                </a:solidFill>
                <a:latin typeface="Calibri"/>
              </a:rPr>
              <a:t>•  You need a closed system to feel valuable</a:t>
            </a:r>
          </a:p>
          <a:p>
            <a:pPr algn="l">
              <a:lnSpc>
                <a:spcPct val="105000"/>
              </a:lnSpc>
              <a:spcBef>
                <a:spcPts val="500"/>
              </a:spcBef>
            </a:pPr>
            <a:r>
              <a:rPr sz="1250" b="0" i="0">
                <a:solidFill>
                  <a:srgbClr val="1B2B3C"/>
                </a:solidFill>
                <a:latin typeface="Calibri"/>
              </a:rPr>
              <a:t>•  The agent has no real external tools</a:t>
            </a:r>
          </a:p>
          <a:p>
            <a:pPr algn="l">
              <a:lnSpc>
                <a:spcPct val="105000"/>
              </a:lnSpc>
              <a:spcBef>
                <a:spcPts val="500"/>
              </a:spcBef>
            </a:pPr>
            <a:r>
              <a:rPr sz="1250" b="0" i="0">
                <a:solidFill>
                  <a:srgbClr val="1B2B3C"/>
                </a:solidFill>
                <a:latin typeface="Calibri"/>
              </a:rPr>
              <a:t>•  The workflow cannot benefit from project context</a:t>
            </a:r>
          </a:p>
        </p:txBody>
      </p:sp>
      <p:sp>
        <p:nvSpPr>
          <p:cNvPr id="15" name="Rounded Rectangle 14"/>
          <p:cNvSpPr/>
          <p:nvPr/>
        </p:nvSpPr>
        <p:spPr>
          <a:xfrm>
            <a:off x="8046719" y="1691640"/>
            <a:ext cx="3657600" cy="2011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19" y="1691640"/>
            <a:ext cx="64008" cy="201168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1" y="1819656"/>
            <a:ext cx="33284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FFFFFF"/>
                </a:solidFill>
                <a:latin typeface="Calibri"/>
              </a:rPr>
              <a:t>Product rule</a:t>
            </a:r>
          </a:p>
        </p:txBody>
      </p:sp>
      <p:sp>
        <p:nvSpPr>
          <p:cNvPr id="18" name="TextBox 17"/>
          <p:cNvSpPr txBox="1"/>
          <p:nvPr/>
        </p:nvSpPr>
        <p:spPr>
          <a:xfrm>
            <a:off x="8211311" y="2130552"/>
            <a:ext cx="3328416" cy="1481328"/>
          </a:xfrm>
          <a:prstGeom prst="rect">
            <a:avLst/>
          </a:prstGeom>
          <a:noFill/>
        </p:spPr>
        <p:txBody>
          <a:bodyPr wrap="square" anchor="t" lIns="0" rIns="0" tIns="0" bIns="0">
            <a:normAutofit/>
          </a:bodyPr>
          <a:lstStyle/>
          <a:p>
            <a:pPr algn="l">
              <a:lnSpc>
                <a:spcPct val="105000"/>
              </a:lnSpc>
              <a:spcBef>
                <a:spcPts val="0"/>
              </a:spcBef>
            </a:pPr>
            <a:r>
              <a:rPr sz="1230" b="0" i="0">
                <a:solidFill>
                  <a:srgbClr val="E0F7F1"/>
                </a:solidFill>
                <a:latin typeface="Calibri"/>
              </a:rPr>
              <a:t>The app should be useful to the user's agent even when the product's own agent layer is minimal or absent.</a:t>
            </a:r>
          </a:p>
        </p:txBody>
      </p:sp>
      <p:sp>
        <p:nvSpPr>
          <p:cNvPr id="19" name="Rounded Rectangle 18"/>
          <p:cNvSpPr/>
          <p:nvPr/>
        </p:nvSpPr>
        <p:spPr>
          <a:xfrm>
            <a:off x="548640" y="4251960"/>
            <a:ext cx="11094415" cy="822960"/>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407408"/>
            <a:ext cx="11155680" cy="274320"/>
          </a:xfrm>
          <a:prstGeom prst="rect">
            <a:avLst/>
          </a:prstGeom>
          <a:noFill/>
        </p:spPr>
        <p:txBody>
          <a:bodyPr wrap="square" anchor="ctr" lIns="0" rIns="0" tIns="0" bIns="0">
            <a:normAutofit/>
          </a:bodyPr>
          <a:lstStyle/>
          <a:p>
            <a:pPr algn="l">
              <a:lnSpc>
                <a:spcPct val="105000"/>
              </a:lnSpc>
              <a:spcBef>
                <a:spcPts val="0"/>
              </a:spcBef>
            </a:pPr>
            <a:r>
              <a:rPr sz="1320" b="1" i="0">
                <a:solidFill>
                  <a:srgbClr val="0A1628"/>
                </a:solidFill>
                <a:latin typeface="Calibri"/>
              </a:rPr>
              <a:t>Bottom line: the opportunity is software redesigned for the user's own agent.</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41248"/>
            <a:ext cx="2926080" cy="237744"/>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Strategic takeaway</a:t>
            </a:r>
          </a:p>
        </p:txBody>
      </p:sp>
      <p:sp>
        <p:nvSpPr>
          <p:cNvPr id="5" name="TextBox 4"/>
          <p:cNvSpPr txBox="1"/>
          <p:nvPr/>
        </p:nvSpPr>
        <p:spPr>
          <a:xfrm>
            <a:off x="548640" y="1243584"/>
            <a:ext cx="8503920" cy="384048"/>
          </a:xfrm>
          <a:prstGeom prst="rect">
            <a:avLst/>
          </a:prstGeom>
          <a:noFill/>
        </p:spPr>
        <p:txBody>
          <a:bodyPr wrap="square" anchor="t" lIns="0" rIns="0" tIns="0" bIns="0">
            <a:normAutofit/>
          </a:bodyPr>
          <a:lstStyle/>
          <a:p>
            <a:pPr algn="l">
              <a:lnSpc>
                <a:spcPct val="105000"/>
              </a:lnSpc>
              <a:spcBef>
                <a:spcPts val="0"/>
              </a:spcBef>
            </a:pPr>
            <a:r>
              <a:rPr sz="3000" b="1" i="0">
                <a:solidFill>
                  <a:srgbClr val="FFFFFF"/>
                </a:solidFill>
                <a:latin typeface="Calibri"/>
              </a:rPr>
              <a:t>Agent-native apps are the new wedge</a:t>
            </a:r>
          </a:p>
        </p:txBody>
      </p:sp>
      <p:sp>
        <p:nvSpPr>
          <p:cNvPr id="6" name="TextBox 5"/>
          <p:cNvSpPr txBox="1"/>
          <p:nvPr/>
        </p:nvSpPr>
        <p:spPr>
          <a:xfrm>
            <a:off x="548640" y="1847088"/>
            <a:ext cx="7132320" cy="256032"/>
          </a:xfrm>
          <a:prstGeom prst="rect">
            <a:avLst/>
          </a:prstGeom>
          <a:noFill/>
        </p:spPr>
        <p:txBody>
          <a:bodyPr wrap="square" anchor="t" lIns="0" rIns="0" tIns="0" bIns="0">
            <a:noAutofit/>
          </a:bodyPr>
          <a:lstStyle/>
          <a:p>
            <a:pPr algn="l">
              <a:lnSpc>
                <a:spcPct val="105000"/>
              </a:lnSpc>
              <a:spcBef>
                <a:spcPts val="0"/>
              </a:spcBef>
            </a:pPr>
            <a:r>
              <a:rPr sz="1900" b="1" i="0">
                <a:solidFill>
                  <a:srgbClr val="00C9A7"/>
                </a:solidFill>
                <a:latin typeface="Calibri"/>
              </a:rPr>
              <a:t>Design for the user's agent, not just the user</a:t>
            </a:r>
          </a:p>
        </p:txBody>
      </p:sp>
      <p:sp>
        <p:nvSpPr>
          <p:cNvPr id="7" name="Rounded Rectangle 6"/>
          <p:cNvSpPr/>
          <p:nvPr/>
        </p:nvSpPr>
        <p:spPr>
          <a:xfrm>
            <a:off x="548640" y="2743200"/>
            <a:ext cx="10972800" cy="1481328"/>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743200"/>
            <a:ext cx="64008" cy="14813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871216"/>
            <a:ext cx="106436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FFFFFF"/>
                </a:solidFill>
                <a:latin typeface="Calibri"/>
              </a:rPr>
              <a:t>Summary</a:t>
            </a:r>
          </a:p>
        </p:txBody>
      </p:sp>
      <p:sp>
        <p:nvSpPr>
          <p:cNvPr id="10" name="TextBox 9"/>
          <p:cNvSpPr txBox="1"/>
          <p:nvPr/>
        </p:nvSpPr>
        <p:spPr>
          <a:xfrm>
            <a:off x="713232" y="3182112"/>
            <a:ext cx="10643616" cy="950976"/>
          </a:xfrm>
          <a:prstGeom prst="rect">
            <a:avLst/>
          </a:prstGeom>
          <a:noFill/>
        </p:spPr>
        <p:txBody>
          <a:bodyPr wrap="square" anchor="t" lIns="0" rIns="0" tIns="0" bIns="0">
            <a:normAutofit/>
          </a:bodyPr>
          <a:lstStyle/>
          <a:p>
            <a:pPr algn="l">
              <a:lnSpc>
                <a:spcPct val="105000"/>
              </a:lnSpc>
              <a:spcBef>
                <a:spcPts val="0"/>
              </a:spcBef>
            </a:pPr>
            <a:r>
              <a:rPr sz="1220" b="0" i="0">
                <a:solidFill>
                  <a:srgbClr val="E0F7F1"/>
                </a:solidFill>
                <a:latin typeface="Calibri"/>
              </a:rPr>
              <a:t>The opportunity is to make products that live inside Cursor, Codex, and similar super-apps, with context and tool access designed in from the start.</a:t>
            </a:r>
          </a:p>
        </p:txBody>
      </p:sp>
      <p:sp>
        <p:nvSpPr>
          <p:cNvPr id="11" name="TextBox 1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Agent-Native Opportunity Brief | June 2026</a:t>
            </a:r>
          </a:p>
        </p:txBody>
      </p:sp>
      <p:sp>
        <p:nvSpPr>
          <p:cNvPr id="12" name="TextBox 1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thesis in one diagram</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From embedded AI to agent-native surfaces</a:t>
            </a:r>
          </a:p>
        </p:txBody>
      </p:sp>
      <p:pic>
        <p:nvPicPr>
          <p:cNvPr id="7" name="Picture 6" descr="thesis-diagram.png"/>
          <p:cNvPicPr>
            <a:picLocks noChangeAspect="1"/>
          </p:cNvPicPr>
          <p:nvPr/>
        </p:nvPicPr>
        <p:blipFill>
          <a:blip r:embed="rId2"/>
          <a:stretch>
            <a:fillRect/>
          </a:stretch>
        </p:blipFill>
        <p:spPr>
          <a:xfrm>
            <a:off x="548640" y="1417320"/>
            <a:ext cx="11094415" cy="3886200"/>
          </a:xfrm>
          <a:prstGeom prst="rect">
            <a:avLst/>
          </a:prstGeom>
        </p:spPr>
      </p:pic>
      <p:sp>
        <p:nvSpPr>
          <p:cNvPr id="8" name="Rounded Rectangle 7"/>
          <p:cNvSpPr/>
          <p:nvPr/>
        </p:nvSpPr>
        <p:spPr>
          <a:xfrm>
            <a:off x="548640" y="5486400"/>
            <a:ext cx="11094415" cy="502920"/>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568696"/>
            <a:ext cx="10972800" cy="201168"/>
          </a:xfrm>
          <a:prstGeom prst="rect">
            <a:avLst/>
          </a:prstGeom>
          <a:noFill/>
        </p:spPr>
        <p:txBody>
          <a:bodyPr wrap="square" anchor="ctr" lIns="0" rIns="0" tIns="0" bIns="0">
            <a:normAutofit/>
          </a:bodyPr>
          <a:lstStyle/>
          <a:p>
            <a:pPr algn="l">
              <a:lnSpc>
                <a:spcPct val="105000"/>
              </a:lnSpc>
              <a:spcBef>
                <a:spcPts val="0"/>
              </a:spcBef>
            </a:pPr>
            <a:r>
              <a:rPr sz="1320" b="1" i="0">
                <a:solidFill>
                  <a:srgbClr val="0A1628"/>
                </a:solidFill>
                <a:latin typeface="Calibri"/>
              </a:rPr>
              <a:t>Moat moves outward: context, integrations, workflow design, and shared surfaces matter more than embedded AI alone.</a:t>
            </a:r>
          </a:p>
        </p:txBody>
      </p:sp>
      <p:sp>
        <p:nvSpPr>
          <p:cNvPr id="10" name="TextBox 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What agent-native means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Six hallmarks that show up in the transcript</a:t>
            </a:r>
          </a:p>
        </p:txBody>
      </p:sp>
      <p:sp>
        <p:nvSpPr>
          <p:cNvPr id="7" name="Rounded Rectangle 6"/>
          <p:cNvSpPr/>
          <p:nvPr/>
        </p:nvSpPr>
        <p:spPr>
          <a:xfrm>
            <a:off x="548640" y="1737360"/>
            <a:ext cx="3429000" cy="1536192"/>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37360"/>
            <a:ext cx="64008" cy="15361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65376"/>
            <a:ext cx="30998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Shared surface</a:t>
            </a:r>
          </a:p>
        </p:txBody>
      </p:sp>
      <p:sp>
        <p:nvSpPr>
          <p:cNvPr id="10" name="TextBox 9"/>
          <p:cNvSpPr txBox="1"/>
          <p:nvPr/>
        </p:nvSpPr>
        <p:spPr>
          <a:xfrm>
            <a:off x="713232" y="2176272"/>
            <a:ext cx="3099816" cy="100584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A canvas, doc, sheet, or dashboard both user and agent can see.</a:t>
            </a:r>
          </a:p>
        </p:txBody>
      </p:sp>
      <p:sp>
        <p:nvSpPr>
          <p:cNvPr id="11" name="Rounded Rectangle 10"/>
          <p:cNvSpPr/>
          <p:nvPr/>
        </p:nvSpPr>
        <p:spPr>
          <a:xfrm>
            <a:off x="4206240" y="1737360"/>
            <a:ext cx="3429000" cy="1536192"/>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737360"/>
            <a:ext cx="64008" cy="153619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1865376"/>
            <a:ext cx="30998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BYO agent</a:t>
            </a:r>
          </a:p>
        </p:txBody>
      </p:sp>
      <p:sp>
        <p:nvSpPr>
          <p:cNvPr id="14" name="TextBox 13"/>
          <p:cNvSpPr txBox="1"/>
          <p:nvPr/>
        </p:nvSpPr>
        <p:spPr>
          <a:xfrm>
            <a:off x="4370832" y="2176272"/>
            <a:ext cx="3099816" cy="100584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It works inside Cursor, Codex, or another orchestrator.</a:t>
            </a:r>
          </a:p>
        </p:txBody>
      </p:sp>
      <p:sp>
        <p:nvSpPr>
          <p:cNvPr id="15" name="Rounded Rectangle 14"/>
          <p:cNvSpPr/>
          <p:nvPr/>
        </p:nvSpPr>
        <p:spPr>
          <a:xfrm>
            <a:off x="7863840" y="1737360"/>
            <a:ext cx="3429000" cy="1536192"/>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737360"/>
            <a:ext cx="64008" cy="15361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2" y="1865376"/>
            <a:ext cx="30998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Project context</a:t>
            </a:r>
          </a:p>
        </p:txBody>
      </p:sp>
      <p:sp>
        <p:nvSpPr>
          <p:cNvPr id="18" name="TextBox 17"/>
          <p:cNvSpPr txBox="1"/>
          <p:nvPr/>
        </p:nvSpPr>
        <p:spPr>
          <a:xfrm>
            <a:off x="8028432" y="2176272"/>
            <a:ext cx="3099816" cy="100584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Local files and artifacts matter as much as app data.</a:t>
            </a:r>
          </a:p>
        </p:txBody>
      </p:sp>
      <p:sp>
        <p:nvSpPr>
          <p:cNvPr id="19" name="Rounded Rectangle 18"/>
          <p:cNvSpPr/>
          <p:nvPr/>
        </p:nvSpPr>
        <p:spPr>
          <a:xfrm>
            <a:off x="548640" y="3611880"/>
            <a:ext cx="3429000" cy="1536192"/>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611880"/>
            <a:ext cx="64008" cy="15361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739896"/>
            <a:ext cx="30998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Tool access</a:t>
            </a:r>
          </a:p>
        </p:txBody>
      </p:sp>
      <p:sp>
        <p:nvSpPr>
          <p:cNvPr id="22" name="TextBox 21"/>
          <p:cNvSpPr txBox="1"/>
          <p:nvPr/>
        </p:nvSpPr>
        <p:spPr>
          <a:xfrm>
            <a:off x="713232" y="4050792"/>
            <a:ext cx="3099816" cy="100584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MCP, CLI, API, or browser access lets the agent act.</a:t>
            </a:r>
          </a:p>
        </p:txBody>
      </p:sp>
      <p:sp>
        <p:nvSpPr>
          <p:cNvPr id="23" name="Rounded Rectangle 22"/>
          <p:cNvSpPr/>
          <p:nvPr/>
        </p:nvSpPr>
        <p:spPr>
          <a:xfrm>
            <a:off x="4206240" y="3611880"/>
            <a:ext cx="3429000" cy="1536192"/>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06240" y="3611880"/>
            <a:ext cx="64008" cy="153619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0832" y="3739896"/>
            <a:ext cx="30998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Live correction</a:t>
            </a:r>
          </a:p>
        </p:txBody>
      </p:sp>
      <p:sp>
        <p:nvSpPr>
          <p:cNvPr id="26" name="TextBox 25"/>
          <p:cNvSpPr txBox="1"/>
          <p:nvPr/>
        </p:nvSpPr>
        <p:spPr>
          <a:xfrm>
            <a:off x="4370832" y="4050792"/>
            <a:ext cx="3099816" cy="100584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The human can watch the work and steer it immediately.</a:t>
            </a:r>
          </a:p>
        </p:txBody>
      </p:sp>
      <p:sp>
        <p:nvSpPr>
          <p:cNvPr id="27" name="Rounded Rectangle 26"/>
          <p:cNvSpPr/>
          <p:nvPr/>
        </p:nvSpPr>
        <p:spPr>
          <a:xfrm>
            <a:off x="7863840" y="3611880"/>
            <a:ext cx="3429000" cy="1536192"/>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63840" y="3611880"/>
            <a:ext cx="64008" cy="153619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3739896"/>
            <a:ext cx="30998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Persistent memory</a:t>
            </a:r>
          </a:p>
        </p:txBody>
      </p:sp>
      <p:sp>
        <p:nvSpPr>
          <p:cNvPr id="30" name="TextBox 29"/>
          <p:cNvSpPr txBox="1"/>
          <p:nvPr/>
        </p:nvSpPr>
        <p:spPr>
          <a:xfrm>
            <a:off x="8028432" y="4050792"/>
            <a:ext cx="3099816" cy="100584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The workflow does not reset every time the session ends.</a:t>
            </a:r>
          </a:p>
        </p:txBody>
      </p:sp>
      <p:sp>
        <p:nvSpPr>
          <p:cNvPr id="31" name="Rounded Rectangle 30"/>
          <p:cNvSpPr/>
          <p:nvPr/>
        </p:nvSpPr>
        <p:spPr>
          <a:xfrm>
            <a:off x="548640" y="5532120"/>
            <a:ext cx="11094415" cy="50292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614416"/>
            <a:ext cx="10972800" cy="201168"/>
          </a:xfrm>
          <a:prstGeom prst="rect">
            <a:avLst/>
          </a:prstGeom>
          <a:noFill/>
        </p:spPr>
        <p:txBody>
          <a:bodyPr wrap="square" anchor="ctr" lIns="0" rIns="0" tIns="0" bIns="0">
            <a:normAutofit/>
          </a:bodyPr>
          <a:lstStyle/>
          <a:p>
            <a:pPr algn="l">
              <a:lnSpc>
                <a:spcPct val="105000"/>
              </a:lnSpc>
              <a:spcBef>
                <a:spcPts val="0"/>
              </a:spcBef>
            </a:pPr>
            <a:r>
              <a:rPr sz="1270" b="1" i="0">
                <a:solidFill>
                  <a:srgbClr val="FFFFFF"/>
                </a:solidFill>
                <a:latin typeface="Calibri"/>
              </a:rPr>
              <a:t>If these six are true, the app is genuinely agent-native.</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super-app workbenches matter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Cursor and Codex become the new front door to work</a:t>
            </a:r>
          </a:p>
        </p:txBody>
      </p:sp>
      <p:sp>
        <p:nvSpPr>
          <p:cNvPr id="7" name="Rounded Rectangle 6"/>
          <p:cNvSpPr/>
          <p:nvPr/>
        </p:nvSpPr>
        <p:spPr>
          <a:xfrm>
            <a:off x="548640" y="1737360"/>
            <a:ext cx="5349240" cy="530352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37360"/>
            <a:ext cx="64008" cy="53035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65376"/>
            <a:ext cx="502005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What changes</a:t>
            </a:r>
          </a:p>
        </p:txBody>
      </p:sp>
      <p:sp>
        <p:nvSpPr>
          <p:cNvPr id="10" name="TextBox 9"/>
          <p:cNvSpPr txBox="1"/>
          <p:nvPr/>
        </p:nvSpPr>
        <p:spPr>
          <a:xfrm>
            <a:off x="713232" y="2176272"/>
            <a:ext cx="5020056" cy="4773168"/>
          </a:xfrm>
          <a:prstGeom prst="rect">
            <a:avLst/>
          </a:prstGeom>
          <a:noFill/>
        </p:spPr>
        <p:txBody>
          <a:bodyPr wrap="square" anchor="t" lIns="0" rIns="0" tIns="0" bIns="0">
            <a:normAutofit/>
          </a:bodyPr>
          <a:lstStyle/>
          <a:p>
            <a:pPr algn="l">
              <a:lnSpc>
                <a:spcPct val="105000"/>
              </a:lnSpc>
              <a:spcBef>
                <a:spcPts val="500"/>
              </a:spcBef>
            </a:pPr>
            <a:r>
              <a:rPr sz="1170" b="0" i="0">
                <a:solidFill>
                  <a:srgbClr val="1B2B3C"/>
                </a:solidFill>
                <a:latin typeface="Calibri"/>
              </a:rPr>
              <a:t>•  People begin work in the agent host, not in your product.</a:t>
            </a:r>
          </a:p>
          <a:p>
            <a:pPr algn="l">
              <a:lnSpc>
                <a:spcPct val="105000"/>
              </a:lnSpc>
              <a:spcBef>
                <a:spcPts val="500"/>
              </a:spcBef>
            </a:pPr>
            <a:r>
              <a:rPr sz="1170" b="0" i="0">
                <a:solidFill>
                  <a:srgbClr val="1B2B3C"/>
                </a:solidFill>
                <a:latin typeface="Calibri"/>
              </a:rPr>
              <a:t>•  The host carries the broader context and chooses which app to invoke.</a:t>
            </a:r>
          </a:p>
          <a:p>
            <a:pPr algn="l">
              <a:lnSpc>
                <a:spcPct val="105000"/>
              </a:lnSpc>
              <a:spcBef>
                <a:spcPts val="500"/>
              </a:spcBef>
            </a:pPr>
            <a:r>
              <a:rPr sz="1170" b="0" i="0">
                <a:solidFill>
                  <a:srgbClr val="1B2B3C"/>
                </a:solidFill>
                <a:latin typeface="Calibri"/>
              </a:rPr>
              <a:t>•  The app becomes one surface inside a larger workflow, not the center of gravity.</a:t>
            </a:r>
          </a:p>
        </p:txBody>
      </p:sp>
      <p:sp>
        <p:nvSpPr>
          <p:cNvPr id="11" name="Rounded Rectangle 10"/>
          <p:cNvSpPr/>
          <p:nvPr/>
        </p:nvSpPr>
        <p:spPr>
          <a:xfrm>
            <a:off x="6035040" y="1737360"/>
            <a:ext cx="5303520" cy="534924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35040" y="1737360"/>
            <a:ext cx="64008" cy="534924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1865376"/>
            <a:ext cx="497433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What that means for teams</a:t>
            </a:r>
          </a:p>
        </p:txBody>
      </p:sp>
      <p:sp>
        <p:nvSpPr>
          <p:cNvPr id="14" name="TextBox 13"/>
          <p:cNvSpPr txBox="1"/>
          <p:nvPr/>
        </p:nvSpPr>
        <p:spPr>
          <a:xfrm>
            <a:off x="6199632" y="2176272"/>
            <a:ext cx="4974336" cy="4818888"/>
          </a:xfrm>
          <a:prstGeom prst="rect">
            <a:avLst/>
          </a:prstGeom>
          <a:noFill/>
        </p:spPr>
        <p:txBody>
          <a:bodyPr wrap="square" anchor="t" lIns="0" rIns="0" tIns="0" bIns="0">
            <a:normAutofit/>
          </a:bodyPr>
          <a:lstStyle/>
          <a:p>
            <a:pPr algn="l">
              <a:lnSpc>
                <a:spcPct val="105000"/>
              </a:lnSpc>
              <a:spcBef>
                <a:spcPts val="500"/>
              </a:spcBef>
            </a:pPr>
            <a:r>
              <a:rPr sz="1170" b="0" i="0">
                <a:solidFill>
                  <a:srgbClr val="1B2B3C"/>
                </a:solidFill>
                <a:latin typeface="Calibri"/>
              </a:rPr>
              <a:t>•  Optimize handoff: docs, permissions, and context sharing.</a:t>
            </a:r>
          </a:p>
          <a:p>
            <a:pPr algn="l">
              <a:lnSpc>
                <a:spcPct val="105000"/>
              </a:lnSpc>
              <a:spcBef>
                <a:spcPts val="500"/>
              </a:spcBef>
            </a:pPr>
            <a:r>
              <a:rPr sz="1170" b="0" i="0">
                <a:solidFill>
                  <a:srgbClr val="1B2B3C"/>
                </a:solidFill>
                <a:latin typeface="Calibri"/>
              </a:rPr>
              <a:t>•  Design for orchestrators like Cursor and Codex, not only for the end user.</a:t>
            </a:r>
          </a:p>
          <a:p>
            <a:pPr algn="l">
              <a:lnSpc>
                <a:spcPct val="105000"/>
              </a:lnSpc>
              <a:spcBef>
                <a:spcPts val="500"/>
              </a:spcBef>
            </a:pPr>
            <a:r>
              <a:rPr sz="1170" b="0" i="0">
                <a:solidFill>
                  <a:srgbClr val="1B2B3C"/>
                </a:solidFill>
                <a:latin typeface="Calibri"/>
              </a:rPr>
              <a:t>•  Assume the app will be used by an agent even when the UI is not the starting point.</a:t>
            </a:r>
          </a:p>
        </p:txBody>
      </p:sp>
      <p:sp>
        <p:nvSpPr>
          <p:cNvPr id="15" name="Rounded Rectangle 14"/>
          <p:cNvSpPr/>
          <p:nvPr/>
        </p:nvSpPr>
        <p:spPr>
          <a:xfrm>
            <a:off x="548640" y="6355080"/>
            <a:ext cx="10972800" cy="384048"/>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6391656"/>
            <a:ext cx="10826496"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0A1628"/>
                </a:solidFill>
                <a:latin typeface="Calibri"/>
              </a:rPr>
              <a:t>Super-apps are the new interface layer for knowledge work</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context stack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agent's quality comes from more than one database</a:t>
            </a:r>
          </a:p>
        </p:txBody>
      </p:sp>
      <p:pic>
        <p:nvPicPr>
          <p:cNvPr id="7" name="Picture 6" descr="context-stack.png"/>
          <p:cNvPicPr>
            <a:picLocks noChangeAspect="1"/>
          </p:cNvPicPr>
          <p:nvPr/>
        </p:nvPicPr>
        <p:blipFill>
          <a:blip r:embed="rId2"/>
          <a:stretch>
            <a:fillRect/>
          </a:stretch>
        </p:blipFill>
        <p:spPr>
          <a:xfrm>
            <a:off x="548640" y="1627632"/>
            <a:ext cx="5852160" cy="4069080"/>
          </a:xfrm>
          <a:prstGeom prst="rect">
            <a:avLst/>
          </a:prstGeom>
        </p:spPr>
      </p:pic>
      <p:sp>
        <p:nvSpPr>
          <p:cNvPr id="8" name="Rounded Rectangle 7"/>
          <p:cNvSpPr/>
          <p:nvPr/>
        </p:nvSpPr>
        <p:spPr>
          <a:xfrm>
            <a:off x="6720840" y="1783080"/>
            <a:ext cx="4617720" cy="3977639"/>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20840" y="1783080"/>
            <a:ext cx="64008" cy="3977639"/>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85432" y="1911096"/>
            <a:ext cx="428853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FFFFFF"/>
                </a:solidFill>
                <a:latin typeface="Calibri"/>
              </a:rPr>
              <a:t>Why it matters</a:t>
            </a:r>
          </a:p>
        </p:txBody>
      </p:sp>
      <p:sp>
        <p:nvSpPr>
          <p:cNvPr id="11" name="TextBox 10"/>
          <p:cNvSpPr txBox="1"/>
          <p:nvPr/>
        </p:nvSpPr>
        <p:spPr>
          <a:xfrm>
            <a:off x="6885432" y="2221992"/>
            <a:ext cx="4288536" cy="3447287"/>
          </a:xfrm>
          <a:prstGeom prst="rect">
            <a:avLst/>
          </a:prstGeom>
          <a:noFill/>
        </p:spPr>
        <p:txBody>
          <a:bodyPr wrap="square" anchor="t" lIns="0" rIns="0" tIns="0" bIns="0">
            <a:normAutofit/>
          </a:bodyPr>
          <a:lstStyle/>
          <a:p>
            <a:pPr algn="l">
              <a:lnSpc>
                <a:spcPct val="105000"/>
              </a:lnSpc>
              <a:spcBef>
                <a:spcPts val="0"/>
              </a:spcBef>
            </a:pPr>
            <a:r>
              <a:rPr sz="1190" b="0" i="0">
                <a:solidFill>
                  <a:srgbClr val="E0F7F1"/>
                </a:solidFill>
                <a:latin typeface="Calibri"/>
              </a:rPr>
              <a:t>The transcript argues that local project context and connected tools outperform app-only memory. The app becomes more useful when it can combine what lives on disk, what the team remembers, and what the agent can reach.</a:t>
            </a:r>
          </a:p>
        </p:txBody>
      </p:sp>
      <p:sp>
        <p:nvSpPr>
          <p:cNvPr id="12" name="Rounded Rectangle 11"/>
          <p:cNvSpPr/>
          <p:nvPr/>
        </p:nvSpPr>
        <p:spPr>
          <a:xfrm>
            <a:off x="548640" y="5788152"/>
            <a:ext cx="11094415" cy="50292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870448"/>
            <a:ext cx="10972800" cy="201168"/>
          </a:xfrm>
          <a:prstGeom prst="rect">
            <a:avLst/>
          </a:prstGeom>
          <a:noFill/>
        </p:spPr>
        <p:txBody>
          <a:bodyPr wrap="square" anchor="ctr" lIns="0" rIns="0" tIns="0" bIns="0">
            <a:normAutofit/>
          </a:bodyPr>
          <a:lstStyle/>
          <a:p>
            <a:pPr algn="l">
              <a:lnSpc>
                <a:spcPct val="105000"/>
              </a:lnSpc>
              <a:spcBef>
                <a:spcPts val="0"/>
              </a:spcBef>
            </a:pPr>
            <a:r>
              <a:rPr sz="1250" b="1" i="0">
                <a:solidFill>
                  <a:srgbClr val="FFFFFF"/>
                </a:solidFill>
                <a:latin typeface="Calibri"/>
              </a:rPr>
              <a:t>Think of the product as the middle layer of a larger workflow stack, not the whole stack.</a:t>
            </a:r>
          </a:p>
        </p:txBody>
      </p:sp>
      <p:sp>
        <p:nvSpPr>
          <p:cNvPr id="14" name="TextBox 1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15" name="TextBox 1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Tool access is the unlock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MCP, CLI, API, and browser access make the app usable</a:t>
            </a:r>
          </a:p>
        </p:txBody>
      </p:sp>
      <p:pic>
        <p:nvPicPr>
          <p:cNvPr id="7" name="Picture 6" descr="tool-hub.png"/>
          <p:cNvPicPr>
            <a:picLocks noChangeAspect="1"/>
          </p:cNvPicPr>
          <p:nvPr/>
        </p:nvPicPr>
        <p:blipFill>
          <a:blip r:embed="rId2"/>
          <a:stretch>
            <a:fillRect/>
          </a:stretch>
        </p:blipFill>
        <p:spPr>
          <a:xfrm>
            <a:off x="548640" y="1572768"/>
            <a:ext cx="6309360" cy="3977639"/>
          </a:xfrm>
          <a:prstGeom prst="rect">
            <a:avLst/>
          </a:prstGeom>
        </p:spPr>
      </p:pic>
      <p:sp>
        <p:nvSpPr>
          <p:cNvPr id="8" name="Rounded Rectangle 7"/>
          <p:cNvSpPr/>
          <p:nvPr/>
        </p:nvSpPr>
        <p:spPr>
          <a:xfrm>
            <a:off x="7086600" y="1783080"/>
            <a:ext cx="4754880" cy="365760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86600" y="1783080"/>
            <a:ext cx="64008" cy="36576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51192" y="1911096"/>
            <a:ext cx="442569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FFFFFF"/>
                </a:solidFill>
                <a:latin typeface="Calibri"/>
              </a:rPr>
              <a:t>No tool access means no agent-native workflow.</a:t>
            </a:r>
          </a:p>
        </p:txBody>
      </p:sp>
      <p:sp>
        <p:nvSpPr>
          <p:cNvPr id="11" name="TextBox 10"/>
          <p:cNvSpPr txBox="1"/>
          <p:nvPr/>
        </p:nvSpPr>
        <p:spPr>
          <a:xfrm>
            <a:off x="7251192" y="2221992"/>
            <a:ext cx="4425696" cy="3127248"/>
          </a:xfrm>
          <a:prstGeom prst="rect">
            <a:avLst/>
          </a:prstGeom>
          <a:noFill/>
        </p:spPr>
        <p:txBody>
          <a:bodyPr wrap="square" anchor="t" lIns="0" rIns="0" tIns="0" bIns="0">
            <a:normAutofit/>
          </a:bodyPr>
          <a:lstStyle/>
          <a:p>
            <a:pPr algn="l">
              <a:lnSpc>
                <a:spcPct val="105000"/>
              </a:lnSpc>
              <a:spcBef>
                <a:spcPts val="0"/>
              </a:spcBef>
            </a:pPr>
            <a:r>
              <a:rPr sz="1180" b="0" i="0">
                <a:solidFill>
                  <a:srgbClr val="E0F7F1"/>
                </a:solidFill>
                <a:latin typeface="Calibri"/>
              </a:rPr>
              <a:t>The transcript treats integrations as foundational, not optional.</a:t>
            </a:r>
          </a:p>
        </p:txBody>
      </p:sp>
      <p:sp>
        <p:nvSpPr>
          <p:cNvPr id="12" name="Rounded Rectangle 11"/>
          <p:cNvSpPr/>
          <p:nvPr/>
        </p:nvSpPr>
        <p:spPr>
          <a:xfrm>
            <a:off x="7086600" y="5532120"/>
            <a:ext cx="4754880" cy="502920"/>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5632704"/>
            <a:ext cx="4425696" cy="182880"/>
          </a:xfrm>
          <a:prstGeom prst="rect">
            <a:avLst/>
          </a:prstGeom>
          <a:noFill/>
        </p:spPr>
        <p:txBody>
          <a:bodyPr wrap="square" anchor="ctr" lIns="0" rIns="0" tIns="0" bIns="0">
            <a:normAutofit/>
          </a:bodyPr>
          <a:lstStyle/>
          <a:p>
            <a:pPr algn="l">
              <a:lnSpc>
                <a:spcPct val="105000"/>
              </a:lnSpc>
              <a:spcBef>
                <a:spcPts val="0"/>
              </a:spcBef>
            </a:pPr>
            <a:r>
              <a:rPr sz="1240" b="1" i="0">
                <a:solidFill>
                  <a:srgbClr val="0A1628"/>
                </a:solidFill>
                <a:latin typeface="Calibri"/>
              </a:rPr>
              <a:t>Give the agent at least one reliable way to act.</a:t>
            </a:r>
          </a:p>
        </p:txBody>
      </p:sp>
      <p:sp>
        <p:nvSpPr>
          <p:cNvPr id="14" name="TextBox 1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15" name="TextBox 1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human stays in the loop</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visual feedback loop is part of the product</a:t>
            </a:r>
          </a:p>
        </p:txBody>
      </p:sp>
      <p:pic>
        <p:nvPicPr>
          <p:cNvPr id="7" name="Picture 6" descr="workflow-loop.png"/>
          <p:cNvPicPr>
            <a:picLocks noChangeAspect="1"/>
          </p:cNvPicPr>
          <p:nvPr/>
        </p:nvPicPr>
        <p:blipFill>
          <a:blip r:embed="rId2"/>
          <a:stretch>
            <a:fillRect/>
          </a:stretch>
        </p:blipFill>
        <p:spPr>
          <a:xfrm>
            <a:off x="548640" y="1572768"/>
            <a:ext cx="11094415" cy="3840480"/>
          </a:xfrm>
          <a:prstGeom prst="rect">
            <a:avLst/>
          </a:prstGeom>
        </p:spPr>
      </p:pic>
      <p:sp>
        <p:nvSpPr>
          <p:cNvPr id="8" name="Rounded Rectangle 7"/>
          <p:cNvSpPr/>
          <p:nvPr/>
        </p:nvSpPr>
        <p:spPr>
          <a:xfrm>
            <a:off x="548640" y="5468112"/>
            <a:ext cx="11094415" cy="731520"/>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614416"/>
            <a:ext cx="10972800" cy="219456"/>
          </a:xfrm>
          <a:prstGeom prst="rect">
            <a:avLst/>
          </a:prstGeom>
          <a:noFill/>
        </p:spPr>
        <p:txBody>
          <a:bodyPr wrap="square" anchor="ctr" lIns="0" rIns="0" tIns="0" bIns="0">
            <a:normAutofit/>
          </a:bodyPr>
          <a:lstStyle/>
          <a:p>
            <a:pPr algn="l">
              <a:lnSpc>
                <a:spcPct val="105000"/>
              </a:lnSpc>
              <a:spcBef>
                <a:spcPts val="0"/>
              </a:spcBef>
            </a:pPr>
            <a:r>
              <a:rPr sz="1300" b="1" i="0">
                <a:solidFill>
                  <a:srgbClr val="0A1628"/>
                </a:solidFill>
                <a:latin typeface="Calibri"/>
              </a:rPr>
              <a:t>This is supervised collaboration, not invisible automation.</a:t>
            </a:r>
          </a:p>
        </p:txBody>
      </p:sp>
      <p:sp>
        <p:nvSpPr>
          <p:cNvPr id="10" name="TextBox 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Where the opportunity shows up</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transcript points to surfaces that already hold context</a:t>
            </a:r>
          </a:p>
        </p:txBody>
      </p:sp>
      <p:pic>
        <p:nvPicPr>
          <p:cNvPr id="7" name="Picture 6" descr="opportunity-matrix.png"/>
          <p:cNvPicPr>
            <a:picLocks noChangeAspect="1"/>
          </p:cNvPicPr>
          <p:nvPr/>
        </p:nvPicPr>
        <p:blipFill>
          <a:blip r:embed="rId2"/>
          <a:stretch>
            <a:fillRect/>
          </a:stretch>
        </p:blipFill>
        <p:spPr>
          <a:xfrm>
            <a:off x="548640" y="1664208"/>
            <a:ext cx="6492240" cy="4069080"/>
          </a:xfrm>
          <a:prstGeom prst="rect">
            <a:avLst/>
          </a:prstGeom>
        </p:spPr>
      </p:pic>
      <p:sp>
        <p:nvSpPr>
          <p:cNvPr id="8" name="Rounded Rectangle 7"/>
          <p:cNvSpPr/>
          <p:nvPr/>
        </p:nvSpPr>
        <p:spPr>
          <a:xfrm>
            <a:off x="7269480" y="1783080"/>
            <a:ext cx="4892040" cy="132588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69480" y="1783080"/>
            <a:ext cx="64008" cy="132588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34072" y="1911096"/>
            <a:ext cx="456285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Collaborative surfaces</a:t>
            </a:r>
          </a:p>
        </p:txBody>
      </p:sp>
      <p:sp>
        <p:nvSpPr>
          <p:cNvPr id="11" name="TextBox 10"/>
          <p:cNvSpPr txBox="1"/>
          <p:nvPr/>
        </p:nvSpPr>
        <p:spPr>
          <a:xfrm>
            <a:off x="7434072" y="2221992"/>
            <a:ext cx="4562856" cy="795528"/>
          </a:xfrm>
          <a:prstGeom prst="rect">
            <a:avLst/>
          </a:prstGeom>
          <a:noFill/>
        </p:spPr>
        <p:txBody>
          <a:bodyPr wrap="square" anchor="t" lIns="0" rIns="0" tIns="0" bIns="0">
            <a:normAutofit/>
          </a:bodyPr>
          <a:lstStyle/>
          <a:p>
            <a:pPr algn="l">
              <a:lnSpc>
                <a:spcPct val="105000"/>
              </a:lnSpc>
              <a:spcBef>
                <a:spcPts val="0"/>
              </a:spcBef>
            </a:pPr>
            <a:r>
              <a:rPr sz="1090" b="0" i="0">
                <a:solidFill>
                  <a:srgbClr val="1B2B3C"/>
                </a:solidFill>
                <a:latin typeface="Calibri"/>
              </a:rPr>
              <a:t>Canvas and knowledge tools sit in the high-fit quadrant because they already hold project context.</a:t>
            </a:r>
          </a:p>
        </p:txBody>
      </p:sp>
      <p:sp>
        <p:nvSpPr>
          <p:cNvPr id="12" name="Rounded Rectangle 11"/>
          <p:cNvSpPr/>
          <p:nvPr/>
        </p:nvSpPr>
        <p:spPr>
          <a:xfrm>
            <a:off x="7269480" y="3273552"/>
            <a:ext cx="4892040" cy="132588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69480" y="3273552"/>
            <a:ext cx="64008" cy="132588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34072" y="3401568"/>
            <a:ext cx="456285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Structured surfaces</a:t>
            </a:r>
          </a:p>
        </p:txBody>
      </p:sp>
      <p:sp>
        <p:nvSpPr>
          <p:cNvPr id="15" name="TextBox 14"/>
          <p:cNvSpPr txBox="1"/>
          <p:nvPr/>
        </p:nvSpPr>
        <p:spPr>
          <a:xfrm>
            <a:off x="7434072" y="3712464"/>
            <a:ext cx="4562856" cy="795528"/>
          </a:xfrm>
          <a:prstGeom prst="rect">
            <a:avLst/>
          </a:prstGeom>
          <a:noFill/>
        </p:spPr>
        <p:txBody>
          <a:bodyPr wrap="square" anchor="t" lIns="0" rIns="0" tIns="0" bIns="0">
            <a:normAutofit/>
          </a:bodyPr>
          <a:lstStyle/>
          <a:p>
            <a:pPr algn="l">
              <a:lnSpc>
                <a:spcPct val="105000"/>
              </a:lnSpc>
              <a:spcBef>
                <a:spcPts val="0"/>
              </a:spcBef>
            </a:pPr>
            <a:r>
              <a:rPr sz="1090" b="0" i="0">
                <a:solidFill>
                  <a:srgbClr val="1B2B3C"/>
                </a:solidFill>
                <a:latin typeface="Calibri"/>
              </a:rPr>
              <a:t>Tables and creative suites are strong because the agent can transform, organize, and refine work.</a:t>
            </a:r>
          </a:p>
        </p:txBody>
      </p:sp>
      <p:sp>
        <p:nvSpPr>
          <p:cNvPr id="16" name="Rounded Rectangle 15"/>
          <p:cNvSpPr/>
          <p:nvPr/>
        </p:nvSpPr>
        <p:spPr>
          <a:xfrm>
            <a:off x="548640" y="5596128"/>
            <a:ext cx="11094415" cy="50292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687568"/>
            <a:ext cx="10972800" cy="201168"/>
          </a:xfrm>
          <a:prstGeom prst="rect">
            <a:avLst/>
          </a:prstGeom>
          <a:noFill/>
        </p:spPr>
        <p:txBody>
          <a:bodyPr wrap="square" anchor="ctr" lIns="0" rIns="0" tIns="0" bIns="0">
            <a:normAutofit/>
          </a:bodyPr>
          <a:lstStyle/>
          <a:p>
            <a:pPr algn="l">
              <a:lnSpc>
                <a:spcPct val="105000"/>
              </a:lnSpc>
              <a:spcBef>
                <a:spcPts val="0"/>
              </a:spcBef>
            </a:pPr>
            <a:r>
              <a:rPr sz="1280" b="1" i="0">
                <a:solidFill>
                  <a:srgbClr val="FFFFFF"/>
                </a:solidFill>
                <a:latin typeface="Calibri"/>
              </a:rPr>
              <a:t>The common pattern: a surface already holds context, and an external agent can now use it directly.</a:t>
            </a:r>
          </a:p>
        </p:txBody>
      </p:sp>
      <p:sp>
        <p:nvSpPr>
          <p:cNvPr id="18" name="TextBox 1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19" name="TextBox 1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Miro / canvas tools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Shared whiteboards with agent-readable artifacts</a:t>
            </a:r>
          </a:p>
        </p:txBody>
      </p:sp>
      <p:sp>
        <p:nvSpPr>
          <p:cNvPr id="7" name="Rounded Rectangle 6"/>
          <p:cNvSpPr/>
          <p:nvPr/>
        </p:nvSpPr>
        <p:spPr>
          <a:xfrm>
            <a:off x="548640" y="1783080"/>
            <a:ext cx="3566160" cy="356616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64008" cy="35661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What exists</a:t>
            </a:r>
          </a:p>
        </p:txBody>
      </p:sp>
      <p:sp>
        <p:nvSpPr>
          <p:cNvPr id="10" name="TextBox 9"/>
          <p:cNvSpPr txBox="1"/>
          <p:nvPr/>
        </p:nvSpPr>
        <p:spPr>
          <a:xfrm>
            <a:off x="7132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A shared canvas that can hold markdown, Mermaid diagrams, and HTML prototypes.</a:t>
            </a:r>
          </a:p>
        </p:txBody>
      </p:sp>
      <p:sp>
        <p:nvSpPr>
          <p:cNvPr id="11" name="Rounded Rectangle 10"/>
          <p:cNvSpPr/>
          <p:nvPr/>
        </p:nvSpPr>
        <p:spPr>
          <a:xfrm>
            <a:off x="42062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783080"/>
            <a:ext cx="64008" cy="35661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Why it fits</a:t>
            </a:r>
          </a:p>
        </p:txBody>
      </p:sp>
      <p:sp>
        <p:nvSpPr>
          <p:cNvPr id="14" name="TextBox 13"/>
          <p:cNvSpPr txBox="1"/>
          <p:nvPr/>
        </p:nvSpPr>
        <p:spPr>
          <a:xfrm>
            <a:off x="43708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The board is already a collaboration surface, so an external agent can contribute to it visibly.</a:t>
            </a:r>
          </a:p>
        </p:txBody>
      </p:sp>
      <p:sp>
        <p:nvSpPr>
          <p:cNvPr id="15" name="Rounded Rectangle 14"/>
          <p:cNvSpPr/>
          <p:nvPr/>
        </p:nvSpPr>
        <p:spPr>
          <a:xfrm>
            <a:off x="78638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783080"/>
            <a:ext cx="64008" cy="35661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 behavior</a:t>
            </a:r>
          </a:p>
        </p:txBody>
      </p:sp>
      <p:sp>
        <p:nvSpPr>
          <p:cNvPr id="18" name="TextBox 17"/>
          <p:cNvSpPr txBox="1"/>
          <p:nvPr/>
        </p:nvSpPr>
        <p:spPr>
          <a:xfrm>
            <a:off x="80284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Generate, edit, and refine visual artifacts on the canvas while the user watches and corrects.</a:t>
            </a:r>
          </a:p>
        </p:txBody>
      </p:sp>
      <p:sp>
        <p:nvSpPr>
          <p:cNvPr id="19" name="Rounded Rectangle 18"/>
          <p:cNvSpPr/>
          <p:nvPr/>
        </p:nvSpPr>
        <p:spPr>
          <a:xfrm>
            <a:off x="548640" y="4572000"/>
            <a:ext cx="11094415" cy="640080"/>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690872"/>
            <a:ext cx="10972800" cy="201168"/>
          </a:xfrm>
          <a:prstGeom prst="rect">
            <a:avLst/>
          </a:prstGeom>
          <a:noFill/>
        </p:spPr>
        <p:txBody>
          <a:bodyPr wrap="square" anchor="ctr" lIns="0" rIns="0" tIns="0" bIns="0">
            <a:normAutofit/>
          </a:bodyPr>
          <a:lstStyle/>
          <a:p>
            <a:pPr algn="l">
              <a:lnSpc>
                <a:spcPct val="105000"/>
              </a:lnSpc>
              <a:spcBef>
                <a:spcPts val="0"/>
              </a:spcBef>
            </a:pPr>
            <a:r>
              <a:rPr sz="1280" b="1" i="0">
                <a:solidFill>
                  <a:srgbClr val="0A1628"/>
                </a:solidFill>
                <a:latin typeface="Calibri"/>
              </a:rPr>
              <a:t>Canvas tools are one of the clearest examples of software becoming a shared agent surface.</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Notion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Knowledge stores external agents can read and write</a:t>
            </a:r>
          </a:p>
        </p:txBody>
      </p:sp>
      <p:sp>
        <p:nvSpPr>
          <p:cNvPr id="7" name="Rounded Rectangle 6"/>
          <p:cNvSpPr/>
          <p:nvPr/>
        </p:nvSpPr>
        <p:spPr>
          <a:xfrm>
            <a:off x="5486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64008" cy="35661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What exists</a:t>
            </a:r>
          </a:p>
        </p:txBody>
      </p:sp>
      <p:sp>
        <p:nvSpPr>
          <p:cNvPr id="10" name="TextBox 9"/>
          <p:cNvSpPr txBox="1"/>
          <p:nvPr/>
        </p:nvSpPr>
        <p:spPr>
          <a:xfrm>
            <a:off x="7132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A knowledge base that already stores the team's docs, tasks, and project memory.</a:t>
            </a:r>
          </a:p>
        </p:txBody>
      </p:sp>
      <p:sp>
        <p:nvSpPr>
          <p:cNvPr id="11" name="Rounded Rectangle 10"/>
          <p:cNvSpPr/>
          <p:nvPr/>
        </p:nvSpPr>
        <p:spPr>
          <a:xfrm>
            <a:off x="4206240" y="1783080"/>
            <a:ext cx="3566160" cy="356616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783080"/>
            <a:ext cx="64008" cy="35661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Why it fits</a:t>
            </a:r>
          </a:p>
        </p:txBody>
      </p:sp>
      <p:sp>
        <p:nvSpPr>
          <p:cNvPr id="14" name="TextBox 13"/>
          <p:cNvSpPr txBox="1"/>
          <p:nvPr/>
        </p:nvSpPr>
        <p:spPr>
          <a:xfrm>
            <a:off x="43708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The transcript notes MCP-connected access and browser-based use, which makes it easy for agents to work with it.</a:t>
            </a:r>
          </a:p>
        </p:txBody>
      </p:sp>
      <p:sp>
        <p:nvSpPr>
          <p:cNvPr id="15" name="Rounded Rectangle 14"/>
          <p:cNvSpPr/>
          <p:nvPr/>
        </p:nvSpPr>
        <p:spPr>
          <a:xfrm>
            <a:off x="78638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783080"/>
            <a:ext cx="64008" cy="35661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 behavior</a:t>
            </a:r>
          </a:p>
        </p:txBody>
      </p:sp>
      <p:sp>
        <p:nvSpPr>
          <p:cNvPr id="18" name="TextBox 17"/>
          <p:cNvSpPr txBox="1"/>
          <p:nvPr/>
        </p:nvSpPr>
        <p:spPr>
          <a:xfrm>
            <a:off x="80284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Read pages, update task context, and keep the team's project memory in sync across sessions.</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MagicPath / Paper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Visual design canvases for agent-led composition</a:t>
            </a:r>
          </a:p>
        </p:txBody>
      </p:sp>
      <p:sp>
        <p:nvSpPr>
          <p:cNvPr id="7" name="Rounded Rectangle 6"/>
          <p:cNvSpPr/>
          <p:nvPr/>
        </p:nvSpPr>
        <p:spPr>
          <a:xfrm>
            <a:off x="548640" y="1783080"/>
            <a:ext cx="3566160" cy="356616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64008" cy="35661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What exists</a:t>
            </a:r>
          </a:p>
        </p:txBody>
      </p:sp>
      <p:sp>
        <p:nvSpPr>
          <p:cNvPr id="10" name="TextBox 9"/>
          <p:cNvSpPr txBox="1"/>
          <p:nvPr/>
        </p:nvSpPr>
        <p:spPr>
          <a:xfrm>
            <a:off x="7132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Design-oriented surfaces where visual composition is the primary interaction pattern.</a:t>
            </a:r>
          </a:p>
        </p:txBody>
      </p:sp>
      <p:sp>
        <p:nvSpPr>
          <p:cNvPr id="11" name="Rounded Rectangle 10"/>
          <p:cNvSpPr/>
          <p:nvPr/>
        </p:nvSpPr>
        <p:spPr>
          <a:xfrm>
            <a:off x="42062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783080"/>
            <a:ext cx="64008" cy="35661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Why it fits</a:t>
            </a:r>
          </a:p>
        </p:txBody>
      </p:sp>
      <p:sp>
        <p:nvSpPr>
          <p:cNvPr id="14" name="TextBox 13"/>
          <p:cNvSpPr txBox="1"/>
          <p:nvPr/>
        </p:nvSpPr>
        <p:spPr>
          <a:xfrm>
            <a:off x="43708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The transcript treats these as an obvious place for an external agent to shape the canvas visually.</a:t>
            </a:r>
          </a:p>
        </p:txBody>
      </p:sp>
      <p:sp>
        <p:nvSpPr>
          <p:cNvPr id="15" name="Rounded Rectangle 14"/>
          <p:cNvSpPr/>
          <p:nvPr/>
        </p:nvSpPr>
        <p:spPr>
          <a:xfrm>
            <a:off x="78638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783080"/>
            <a:ext cx="64008" cy="35661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 behavior</a:t>
            </a:r>
          </a:p>
        </p:txBody>
      </p:sp>
      <p:sp>
        <p:nvSpPr>
          <p:cNvPr id="18" name="TextBox 17"/>
          <p:cNvSpPr txBox="1"/>
          <p:nvPr/>
        </p:nvSpPr>
        <p:spPr>
          <a:xfrm>
            <a:off x="80284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Generate layouts, move elements, and refine compositions while the designer supervises the result.</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Google Sheets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Structured data surfaces with existing connectors</a:t>
            </a:r>
          </a:p>
        </p:txBody>
      </p:sp>
      <p:sp>
        <p:nvSpPr>
          <p:cNvPr id="7" name="Rounded Rectangle 6"/>
          <p:cNvSpPr/>
          <p:nvPr/>
        </p:nvSpPr>
        <p:spPr>
          <a:xfrm>
            <a:off x="5486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64008" cy="356616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What exists</a:t>
            </a:r>
          </a:p>
        </p:txBody>
      </p:sp>
      <p:sp>
        <p:nvSpPr>
          <p:cNvPr id="10" name="TextBox 9"/>
          <p:cNvSpPr txBox="1"/>
          <p:nvPr/>
        </p:nvSpPr>
        <p:spPr>
          <a:xfrm>
            <a:off x="7132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A structured table with familiar formulas, rows, and connector-friendly workflows.</a:t>
            </a:r>
          </a:p>
        </p:txBody>
      </p:sp>
      <p:sp>
        <p:nvSpPr>
          <p:cNvPr id="11" name="Rounded Rectangle 10"/>
          <p:cNvSpPr/>
          <p:nvPr/>
        </p:nvSpPr>
        <p:spPr>
          <a:xfrm>
            <a:off x="4206240" y="1783080"/>
            <a:ext cx="3566160" cy="356616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783080"/>
            <a:ext cx="64008" cy="35661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Why it fits</a:t>
            </a:r>
          </a:p>
        </p:txBody>
      </p:sp>
      <p:sp>
        <p:nvSpPr>
          <p:cNvPr id="14" name="TextBox 13"/>
          <p:cNvSpPr txBox="1"/>
          <p:nvPr/>
        </p:nvSpPr>
        <p:spPr>
          <a:xfrm>
            <a:off x="43708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The transcript treats Sheets as the obvious case where agents can manipulate structured project data.</a:t>
            </a:r>
          </a:p>
        </p:txBody>
      </p:sp>
      <p:sp>
        <p:nvSpPr>
          <p:cNvPr id="15" name="Rounded Rectangle 14"/>
          <p:cNvSpPr/>
          <p:nvPr/>
        </p:nvSpPr>
        <p:spPr>
          <a:xfrm>
            <a:off x="78638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783080"/>
            <a:ext cx="64008" cy="35661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 behavior</a:t>
            </a:r>
          </a:p>
        </p:txBody>
      </p:sp>
      <p:sp>
        <p:nvSpPr>
          <p:cNvPr id="18" name="TextBox 17"/>
          <p:cNvSpPr txBox="1"/>
          <p:nvPr/>
        </p:nvSpPr>
        <p:spPr>
          <a:xfrm>
            <a:off x="80284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Populate, clean, transform, and validate tables while leaving the human free to inspect changes.</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Adobe-class tools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Large incumbents still have room for an agent-native workflow</a:t>
            </a:r>
          </a:p>
        </p:txBody>
      </p:sp>
      <p:sp>
        <p:nvSpPr>
          <p:cNvPr id="7" name="Rounded Rectangle 6"/>
          <p:cNvSpPr/>
          <p:nvPr/>
        </p:nvSpPr>
        <p:spPr>
          <a:xfrm>
            <a:off x="548640" y="1783080"/>
            <a:ext cx="3566160" cy="3566160"/>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64008" cy="356616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What exists</a:t>
            </a:r>
          </a:p>
        </p:txBody>
      </p:sp>
      <p:sp>
        <p:nvSpPr>
          <p:cNvPr id="10" name="TextBox 9"/>
          <p:cNvSpPr txBox="1"/>
          <p:nvPr/>
        </p:nvSpPr>
        <p:spPr>
          <a:xfrm>
            <a:off x="7132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Deep creative suites with rich assets, repeated workflows, and many approval checkpoints.</a:t>
            </a:r>
          </a:p>
        </p:txBody>
      </p:sp>
      <p:sp>
        <p:nvSpPr>
          <p:cNvPr id="11" name="Rounded Rectangle 10"/>
          <p:cNvSpPr/>
          <p:nvPr/>
        </p:nvSpPr>
        <p:spPr>
          <a:xfrm>
            <a:off x="42062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783080"/>
            <a:ext cx="64008" cy="35661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Why it fits</a:t>
            </a:r>
          </a:p>
        </p:txBody>
      </p:sp>
      <p:sp>
        <p:nvSpPr>
          <p:cNvPr id="14" name="TextBox 13"/>
          <p:cNvSpPr txBox="1"/>
          <p:nvPr/>
        </p:nvSpPr>
        <p:spPr>
          <a:xfrm>
            <a:off x="43708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The transcript argues that even incumbents still have room for an agent-native version of the workflow.</a:t>
            </a:r>
          </a:p>
        </p:txBody>
      </p:sp>
      <p:sp>
        <p:nvSpPr>
          <p:cNvPr id="15" name="Rounded Rectangle 14"/>
          <p:cNvSpPr/>
          <p:nvPr/>
        </p:nvSpPr>
        <p:spPr>
          <a:xfrm>
            <a:off x="7863840" y="1783080"/>
            <a:ext cx="3566160" cy="35661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783080"/>
            <a:ext cx="64008" cy="356616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2" y="1911096"/>
            <a:ext cx="323697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 behavior</a:t>
            </a:r>
          </a:p>
        </p:txBody>
      </p:sp>
      <p:sp>
        <p:nvSpPr>
          <p:cNvPr id="18" name="TextBox 17"/>
          <p:cNvSpPr txBox="1"/>
          <p:nvPr/>
        </p:nvSpPr>
        <p:spPr>
          <a:xfrm>
            <a:off x="8028432" y="2221992"/>
            <a:ext cx="3236976" cy="3035808"/>
          </a:xfrm>
          <a:prstGeom prst="rect">
            <a:avLst/>
          </a:prstGeom>
          <a:noFill/>
        </p:spPr>
        <p:txBody>
          <a:bodyPr wrap="square" anchor="t" lIns="0" rIns="0" tIns="0" bIns="0">
            <a:normAutofit/>
          </a:bodyPr>
          <a:lstStyle/>
          <a:p>
            <a:pPr algn="l">
              <a:lnSpc>
                <a:spcPct val="105000"/>
              </a:lnSpc>
              <a:spcBef>
                <a:spcPts val="0"/>
              </a:spcBef>
            </a:pPr>
            <a:r>
              <a:rPr sz="1120" b="0" i="0">
                <a:solidFill>
                  <a:srgbClr val="1B2B3C"/>
                </a:solidFill>
                <a:latin typeface="Calibri"/>
              </a:rPr>
              <a:t>Assist with asset handling, repetitive edits, layout variations, and review cycles inside a familiar suite.</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 practical founder filter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Ask these questions before you build</a:t>
            </a:r>
          </a:p>
        </p:txBody>
      </p:sp>
      <p:sp>
        <p:nvSpPr>
          <p:cNvPr id="7" name="Rounded Rectangle 6"/>
          <p:cNvSpPr/>
          <p:nvPr/>
        </p:nvSpPr>
        <p:spPr>
          <a:xfrm>
            <a:off x="548640" y="1737360"/>
            <a:ext cx="11094415" cy="804672"/>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37360"/>
            <a:ext cx="64008" cy="8046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65376"/>
            <a:ext cx="10765231"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1. Where does the user already work?</a:t>
            </a:r>
          </a:p>
        </p:txBody>
      </p:sp>
      <p:sp>
        <p:nvSpPr>
          <p:cNvPr id="10" name="TextBox 9"/>
          <p:cNvSpPr txBox="1"/>
          <p:nvPr/>
        </p:nvSpPr>
        <p:spPr>
          <a:xfrm>
            <a:off x="713232" y="2176272"/>
            <a:ext cx="10765231" cy="27432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If the answer is nowhere, the product may be trying to create a behavior that doesn't exist.</a:t>
            </a:r>
          </a:p>
        </p:txBody>
      </p:sp>
      <p:sp>
        <p:nvSpPr>
          <p:cNvPr id="11" name="Rounded Rectangle 10"/>
          <p:cNvSpPr/>
          <p:nvPr/>
        </p:nvSpPr>
        <p:spPr>
          <a:xfrm>
            <a:off x="548640" y="2651760"/>
            <a:ext cx="11094415" cy="804672"/>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51760"/>
            <a:ext cx="64008" cy="80467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779776"/>
            <a:ext cx="10765231"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2. What context lives outside the app?</a:t>
            </a:r>
          </a:p>
        </p:txBody>
      </p:sp>
      <p:sp>
        <p:nvSpPr>
          <p:cNvPr id="14" name="TextBox 13"/>
          <p:cNvSpPr txBox="1"/>
          <p:nvPr/>
        </p:nvSpPr>
        <p:spPr>
          <a:xfrm>
            <a:off x="713232" y="3090672"/>
            <a:ext cx="10765231" cy="27432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Agent-native products win when the real project context is broader than one database.</a:t>
            </a:r>
          </a:p>
        </p:txBody>
      </p:sp>
      <p:sp>
        <p:nvSpPr>
          <p:cNvPr id="15" name="Rounded Rectangle 14"/>
          <p:cNvSpPr/>
          <p:nvPr/>
        </p:nvSpPr>
        <p:spPr>
          <a:xfrm>
            <a:off x="548640" y="3566160"/>
            <a:ext cx="11094415" cy="804672"/>
          </a:xfrm>
          <a:prstGeom prst="roundRect">
            <a:avLst>
              <a:gd name="adj" fmla="val 6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566160"/>
            <a:ext cx="64008" cy="8046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694176"/>
            <a:ext cx="10765231"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3. Which tools must the agent reach?</a:t>
            </a:r>
          </a:p>
        </p:txBody>
      </p:sp>
      <p:sp>
        <p:nvSpPr>
          <p:cNvPr id="18" name="TextBox 17"/>
          <p:cNvSpPr txBox="1"/>
          <p:nvPr/>
        </p:nvSpPr>
        <p:spPr>
          <a:xfrm>
            <a:off x="713232" y="4005072"/>
            <a:ext cx="10765231" cy="27432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MCP, CLI, API, or browser access should be explicit from the start.</a:t>
            </a:r>
          </a:p>
        </p:txBody>
      </p:sp>
      <p:sp>
        <p:nvSpPr>
          <p:cNvPr id="19" name="Rounded Rectangle 18"/>
          <p:cNvSpPr/>
          <p:nvPr/>
        </p:nvSpPr>
        <p:spPr>
          <a:xfrm>
            <a:off x="548640" y="4480560"/>
            <a:ext cx="11094415" cy="804672"/>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480560"/>
            <a:ext cx="64008" cy="80467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608576"/>
            <a:ext cx="10765231"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4. How will the human correct it?</a:t>
            </a:r>
          </a:p>
        </p:txBody>
      </p:sp>
      <p:sp>
        <p:nvSpPr>
          <p:cNvPr id="22" name="TextBox 21"/>
          <p:cNvSpPr txBox="1"/>
          <p:nvPr/>
        </p:nvSpPr>
        <p:spPr>
          <a:xfrm>
            <a:off x="713232" y="4919472"/>
            <a:ext cx="10765231" cy="274320"/>
          </a:xfrm>
          <a:prstGeom prst="rect">
            <a:avLst/>
          </a:prstGeom>
          <a:noFill/>
        </p:spPr>
        <p:txBody>
          <a:bodyPr wrap="square" anchor="t" lIns="0" rIns="0" tIns="0" bIns="0">
            <a:normAutofit/>
          </a:bodyPr>
          <a:lstStyle/>
          <a:p>
            <a:pPr algn="l">
              <a:lnSpc>
                <a:spcPct val="105000"/>
              </a:lnSpc>
              <a:spcBef>
                <a:spcPts val="0"/>
              </a:spcBef>
            </a:pPr>
            <a:r>
              <a:rPr sz="1080" b="0" i="0">
                <a:solidFill>
                  <a:srgbClr val="1B2B3C"/>
                </a:solidFill>
                <a:latin typeface="Calibri"/>
              </a:rPr>
              <a:t>If the user cannot see and steer the work, the product loses the feedback loop.</a:t>
            </a:r>
          </a:p>
        </p:txBody>
      </p:sp>
      <p:sp>
        <p:nvSpPr>
          <p:cNvPr id="23" name="Rounded Rectangle 22"/>
          <p:cNvSpPr/>
          <p:nvPr/>
        </p:nvSpPr>
        <p:spPr>
          <a:xfrm>
            <a:off x="548640" y="5623560"/>
            <a:ext cx="11094415" cy="530352"/>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715000"/>
            <a:ext cx="10972800" cy="201168"/>
          </a:xfrm>
          <a:prstGeom prst="rect">
            <a:avLst/>
          </a:prstGeom>
          <a:noFill/>
        </p:spPr>
        <p:txBody>
          <a:bodyPr wrap="square" anchor="ctr" lIns="0" rIns="0" tIns="0" bIns="0">
            <a:normAutofit/>
          </a:bodyPr>
          <a:lstStyle/>
          <a:p>
            <a:pPr algn="l">
              <a:lnSpc>
                <a:spcPct val="105000"/>
              </a:lnSpc>
              <a:spcBef>
                <a:spcPts val="0"/>
              </a:spcBef>
            </a:pPr>
            <a:r>
              <a:rPr sz="1280" b="1" i="0">
                <a:solidFill>
                  <a:srgbClr val="0A1628"/>
                </a:solidFill>
                <a:latin typeface="Calibri"/>
              </a:rPr>
              <a:t>If you cannot answer all four, the wedge is probably not ready yet.</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Agent-Native Opportunity Brief | June 2026</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41248"/>
            <a:ext cx="2468880" cy="237744"/>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The next move</a:t>
            </a:r>
          </a:p>
        </p:txBody>
      </p:sp>
      <p:sp>
        <p:nvSpPr>
          <p:cNvPr id="5" name="TextBox 4"/>
          <p:cNvSpPr txBox="1"/>
          <p:nvPr/>
        </p:nvSpPr>
        <p:spPr>
          <a:xfrm>
            <a:off x="548640" y="1225296"/>
            <a:ext cx="8412480" cy="411480"/>
          </a:xfrm>
          <a:prstGeom prst="rect">
            <a:avLst/>
          </a:prstGeom>
          <a:noFill/>
        </p:spPr>
        <p:txBody>
          <a:bodyPr wrap="square" anchor="t" lIns="0" rIns="0" tIns="0" bIns="0">
            <a:normAutofit/>
          </a:bodyPr>
          <a:lstStyle/>
          <a:p>
            <a:pPr algn="l">
              <a:lnSpc>
                <a:spcPct val="105000"/>
              </a:lnSpc>
              <a:spcBef>
                <a:spcPts val="0"/>
              </a:spcBef>
            </a:pPr>
            <a:r>
              <a:rPr sz="3000" b="1" i="0">
                <a:solidFill>
                  <a:srgbClr val="FFFFFF"/>
                </a:solidFill>
                <a:latin typeface="Calibri"/>
              </a:rPr>
              <a:t>Build for the user's agent</a:t>
            </a:r>
          </a:p>
        </p:txBody>
      </p:sp>
      <p:sp>
        <p:nvSpPr>
          <p:cNvPr id="6" name="TextBox 5"/>
          <p:cNvSpPr txBox="1"/>
          <p:nvPr/>
        </p:nvSpPr>
        <p:spPr>
          <a:xfrm>
            <a:off x="548640" y="1828800"/>
            <a:ext cx="7680960" cy="274320"/>
          </a:xfrm>
          <a:prstGeom prst="rect">
            <a:avLst/>
          </a:prstGeom>
          <a:noFill/>
        </p:spPr>
        <p:txBody>
          <a:bodyPr wrap="square" anchor="t" lIns="0" rIns="0" tIns="0" bIns="0">
            <a:normAutofit/>
          </a:bodyPr>
          <a:lstStyle/>
          <a:p>
            <a:pPr algn="l">
              <a:lnSpc>
                <a:spcPct val="105000"/>
              </a:lnSpc>
              <a:spcBef>
                <a:spcPts val="0"/>
              </a:spcBef>
            </a:pPr>
            <a:r>
              <a:rPr sz="1800" b="1" i="0">
                <a:solidFill>
                  <a:srgbClr val="00C9A7"/>
                </a:solidFill>
                <a:latin typeface="Calibri"/>
              </a:rPr>
              <a:t>Design the app as a shared surface inside Cursor, Codex, and similar workbenches.</a:t>
            </a:r>
          </a:p>
        </p:txBody>
      </p:sp>
      <p:sp>
        <p:nvSpPr>
          <p:cNvPr id="7" name="Rounded Rectangle 6"/>
          <p:cNvSpPr/>
          <p:nvPr/>
        </p:nvSpPr>
        <p:spPr>
          <a:xfrm>
            <a:off x="548640" y="2788920"/>
            <a:ext cx="10972800" cy="1417320"/>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788920"/>
            <a:ext cx="64008" cy="14173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916936"/>
            <a:ext cx="10643616" cy="256032"/>
          </a:xfrm>
          <a:prstGeom prst="rect">
            <a:avLst/>
          </a:prstGeom>
          <a:noFill/>
        </p:spPr>
        <p:txBody>
          <a:bodyPr wrap="square" anchor="t" lIns="0" rIns="0" tIns="0" bIns="0">
            <a:normAutofit/>
          </a:bodyPr>
          <a:lstStyle/>
          <a:p>
            <a:pPr algn="l">
              <a:lnSpc>
                <a:spcPct val="105000"/>
              </a:lnSpc>
              <a:spcBef>
                <a:spcPts val="0"/>
              </a:spcBef>
            </a:pPr>
            <a:r>
              <a:rPr sz="1400" b="1" i="0">
                <a:solidFill>
                  <a:srgbClr val="FFFFFF"/>
                </a:solidFill>
                <a:latin typeface="Calibri"/>
              </a:rPr>
              <a:t>Summary</a:t>
            </a:r>
          </a:p>
        </p:txBody>
      </p:sp>
      <p:sp>
        <p:nvSpPr>
          <p:cNvPr id="10" name="TextBox 9"/>
          <p:cNvSpPr txBox="1"/>
          <p:nvPr/>
        </p:nvSpPr>
        <p:spPr>
          <a:xfrm>
            <a:off x="713232" y="3227832"/>
            <a:ext cx="10643616" cy="886968"/>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The best new AI opportunity is software that becomes useful to the user's own agent: context-aware, tool-connected, and designed around a visible workflow.</a:t>
            </a:r>
          </a:p>
        </p:txBody>
      </p:sp>
      <p:sp>
        <p:nvSpPr>
          <p:cNvPr id="11" name="Rounded Rectangle 10"/>
          <p:cNvSpPr/>
          <p:nvPr/>
        </p:nvSpPr>
        <p:spPr>
          <a:xfrm>
            <a:off x="548640" y="4572000"/>
            <a:ext cx="3246120" cy="384048"/>
          </a:xfrm>
          <a:prstGeom prst="roundRect">
            <a:avLst>
              <a:gd name="adj" fmla="val 8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08576"/>
            <a:ext cx="3099816"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0A1628"/>
                </a:solidFill>
                <a:latin typeface="Calibri"/>
              </a:rPr>
              <a:t>Choose a domain you know</a:t>
            </a:r>
          </a:p>
        </p:txBody>
      </p:sp>
      <p:sp>
        <p:nvSpPr>
          <p:cNvPr id="13" name="Rounded Rectangle 12"/>
          <p:cNvSpPr/>
          <p:nvPr/>
        </p:nvSpPr>
        <p:spPr>
          <a:xfrm>
            <a:off x="4297679" y="4572000"/>
            <a:ext cx="3246120" cy="384048"/>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1" y="4608576"/>
            <a:ext cx="3099816"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Map the shared surface</a:t>
            </a:r>
          </a:p>
        </p:txBody>
      </p:sp>
      <p:sp>
        <p:nvSpPr>
          <p:cNvPr id="15" name="Rounded Rectangle 14"/>
          <p:cNvSpPr/>
          <p:nvPr/>
        </p:nvSpPr>
        <p:spPr>
          <a:xfrm>
            <a:off x="8046719" y="4572000"/>
            <a:ext cx="3246120" cy="384048"/>
          </a:xfrm>
          <a:prstGeom prst="roundRect">
            <a:avLst>
              <a:gd name="adj" fmla="val 8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1" y="4608576"/>
            <a:ext cx="3099816" cy="292608"/>
          </a:xfrm>
          <a:prstGeom prst="rect">
            <a:avLst/>
          </a:prstGeom>
          <a:noFill/>
        </p:spPr>
        <p:txBody>
          <a:bodyPr wrap="square" anchor="ctr" lIns="0" rIns="0" tIns="0" bIns="0">
            <a:normAutofit/>
          </a:bodyPr>
          <a:lstStyle/>
          <a:p>
            <a:pPr algn="ctr">
              <a:lnSpc>
                <a:spcPct val="105000"/>
              </a:lnSpc>
              <a:spcBef>
                <a:spcPts val="0"/>
              </a:spcBef>
            </a:pPr>
            <a:r>
              <a:rPr sz="1050" b="1" i="0">
                <a:solidFill>
                  <a:srgbClr val="0A1628"/>
                </a:solidFill>
                <a:latin typeface="Calibri"/>
              </a:rPr>
              <a:t>Expose tools early</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Agent-Native Opportunity Brief | June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