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95560" y="0"/>
            <a:ext cx="199339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95560" y="0"/>
            <a:ext cx="7315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CLIENT-READY BUSINESS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86384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Hermes Content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5104"/>
            <a:ext cx="7680960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E0F7F1"/>
                </a:solidFill>
                <a:latin typeface="Calibri"/>
              </a:rPr>
              <a:t>From live source signals to review-ready business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70048"/>
            <a:ext cx="1572768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7818120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A concrete Hermes realization: scheduled source scanning, topic ranking, source-grounded briefs, draft package creation, approval gates, and memory write-back.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83480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5102352"/>
            <a:ext cx="1344168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Live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4983480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96896" y="5102352"/>
            <a:ext cx="1344168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No auto-publish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983480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5102352"/>
            <a:ext cx="1344168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Source-grounded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983480"/>
            <a:ext cx="1600200" cy="384048"/>
          </a:xfrm>
          <a:prstGeom prst="roundRect">
            <a:avLst>
              <a:gd name="adj" fmla="val 8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5102352"/>
            <a:ext cx="1344168" cy="1188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50" b="1" i="0">
                <a:solidFill>
                  <a:srgbClr val="FFFFFF"/>
                </a:solidFill>
                <a:latin typeface="Calibri"/>
              </a:rPr>
              <a:t>Cost-capped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Decision: Build The Operating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pipeline turns market signal into review-ready judgment, with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64208"/>
            <a:ext cx="11094415" cy="1133856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6583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BLUF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856231"/>
            <a:ext cx="955548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Agent adoption is moving from isolated tools to governed operating layers. The useful Hermes use case is a repeatable workflow that compresses research and drafting before a human decides what 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182112"/>
            <a:ext cx="263347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182112"/>
            <a:ext cx="64008" cy="138988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291840"/>
            <a:ext cx="22311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Business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712463"/>
            <a:ext cx="2231136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Article package, social drafts, newsletter copy, and memory candidates from a real source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2" y="3182112"/>
            <a:ext cx="263347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93592" y="3182112"/>
            <a:ext cx="64008" cy="138988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291840"/>
            <a:ext cx="22311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Buyer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712463"/>
            <a:ext cx="2231136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Enterprise AI operators, solution architects, founders, and technical executives.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8816" y="3182112"/>
            <a:ext cx="263347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28816" y="3182112"/>
            <a:ext cx="64008" cy="138988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9983" y="3291840"/>
            <a:ext cx="22311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Operating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3" y="3712463"/>
            <a:ext cx="2231136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1B2B3C"/>
                </a:solidFill>
                <a:latin typeface="Calibri"/>
              </a:rPr>
              <a:t>Sources, memory, tools, schedule, controls, and approval gates create repeatable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3182112"/>
            <a:ext cx="1993392" cy="13898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3182112"/>
            <a:ext cx="64008" cy="138988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3291840"/>
            <a:ext cx="159105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Guardrail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5208" y="3712463"/>
            <a:ext cx="1591056" cy="7680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No publish permission; final claims and voice stay human-owned.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578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Success metric: 3-5 qualified conversations about implementing governed agent workflows.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Evidence Favors Governed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source register points to enterprise adoption, agent tooling, and operational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19072"/>
            <a:ext cx="64008" cy="11155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Enterprise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OpenAI enterprise reports point to AI moving from experimentation into organization-wide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19072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19072"/>
            <a:ext cx="64008" cy="11155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Agent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249424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OpenAI's agent-building releases emphasize tools, deployment, and reliable agent behavior.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719072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719072"/>
            <a:ext cx="64008" cy="111556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7032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Governance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9424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Agent work needs permissions, context, approval, observability, and source grounding.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163824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163824"/>
            <a:ext cx="64008" cy="11155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Hermes fit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694176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Hermes exposes files, shell, browser, skills, search, memory, and cron.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163824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163824"/>
            <a:ext cx="64008" cy="11155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Content angle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694176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The story is not more AI content. It is an operating system for recurring knowledge work.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3163824"/>
            <a:ext cx="3246120" cy="1115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9872" y="3163824"/>
            <a:ext cx="64008" cy="111556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2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Buyer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94176"/>
            <a:ext cx="2843784" cy="4937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80" b="0" i="0">
                <a:solidFill>
                  <a:srgbClr val="1B2B3C"/>
                </a:solidFill>
                <a:latin typeface="Calibri"/>
              </a:rPr>
              <a:t>Start with one narrow workflow that has sources, memory, cost cap, and approval gate.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102352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266944"/>
            <a:ext cx="10607040" cy="2103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0" i="0">
                <a:solidFill>
                  <a:srgbClr val="FFFFFF"/>
                </a:solidFill>
                <a:latin typeface="Calibri"/>
              </a:rPr>
              <a:t>Primary brief citations: OpenAI enterprise AI report, OpenAI next-phase enterprise AI, OpenAI tools for building agents.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Real Run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This was not a smoke test; the pipeline produced artifacts against a cap.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755648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01952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59152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source items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current source scan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755648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01952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359152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topic clusters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51760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ranked opportunities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1755648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01952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59152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research briefs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source-backed synthesis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145536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49039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draft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review-ready bundle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3145536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291840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749039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deliverables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business artifacts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3145536"/>
            <a:ext cx="3017520" cy="1097280"/>
          </a:xfrm>
          <a:prstGeom prst="roundRect">
            <a:avLst>
              <a:gd name="adj" fmla="val 7000"/>
            </a:avLst>
          </a:prstGeom>
          <a:solidFill>
            <a:srgbClr val="12243A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291840"/>
            <a:ext cx="268833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1" i="0">
                <a:solidFill>
                  <a:srgbClr val="FFB800"/>
                </a:solidFill>
                <a:latin typeface="Calibri"/>
              </a:rPr>
              <a:t>$4.2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49039"/>
            <a:ext cx="2688336" cy="219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30" b="1" i="0">
                <a:solidFill>
                  <a:srgbClr val="FFFFFF"/>
                </a:solidFill>
                <a:latin typeface="Calibri"/>
              </a:rPr>
              <a:t>estimated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688336" cy="2377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50" b="0" i="0">
                <a:solidFill>
                  <a:srgbClr val="E0F7F1"/>
                </a:solidFill>
                <a:latin typeface="Calibri"/>
              </a:rPr>
              <a:t>$12.00 cap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12080"/>
            <a:ext cx="1109441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376672"/>
            <a:ext cx="104241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40" b="1" i="0">
                <a:solidFill>
                  <a:srgbClr val="0A1628"/>
                </a:solidFill>
                <a:latin typeface="Calibri"/>
              </a:rPr>
              <a:t>Run status: success | Publish allowed: false | Errors: none | Human approval still required.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813816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Workflow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34640"/>
            <a:ext cx="15087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82112"/>
            <a:ext cx="758952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business output comes from a governed sequence, not one prompt.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 Signal To Review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narrow loop is easier to trust, evaluate, and improve.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19072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19072"/>
            <a:ext cx="64008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Source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49424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Pull allowed sources and collect fresh candidate signals.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19072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719072"/>
            <a:ext cx="64008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Topic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249424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Cluster signals and choose the strongest daily business angle.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719072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719072"/>
            <a:ext cx="64008" cy="9144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7032" y="1847088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1883664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1828800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Sourced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49424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Summarize proof points, claims, citations, and guardrails.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01752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017520"/>
            <a:ext cx="64008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145536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18211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127248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Draft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547872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Create article, LinkedIn post, X thread, and newsletter copy.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01752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017520"/>
            <a:ext cx="64008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3145536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18211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3127248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547872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Approve claims, voice, positioning, and publishing decision.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301752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9872" y="3017520"/>
            <a:ext cx="64008" cy="9144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2" y="3145536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3182112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127248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Memory write-back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547872"/>
            <a:ext cx="2843784" cy="29260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1B2B3C"/>
                </a:solidFill>
                <a:latin typeface="Calibri"/>
              </a:rPr>
              <a:t>Persist durable facts and lessons for future runs.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754880"/>
            <a:ext cx="11094415" cy="786384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" y="49560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30" b="1" i="0">
                <a:solidFill>
                  <a:srgbClr val="FFB800"/>
                </a:solidFill>
                <a:latin typeface="Calibri"/>
              </a:rPr>
              <a:t>Control 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901184"/>
            <a:ext cx="8823960" cy="2560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agent compresses work before judgment. It does not own judgment.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Hermes Solution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Each component exists because a recurring workflow needs a boundary.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82496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64008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1810512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847088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92224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Harness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212848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Desktop/CLI runtime with files, shell, browser, tools, and skills.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82496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682496"/>
            <a:ext cx="64008" cy="10607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6280" y="1810512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847088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792224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212848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You.com current-web search; livecrawl for pages; specialist tools when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682496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2" y="1682496"/>
            <a:ext cx="64008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7032" y="1810512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2" y="1847088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41664" y="1792224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212848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GBrain/Obsidian-style durable context with explicit recall and write-back.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163824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8368" y="3163824"/>
            <a:ext cx="64008" cy="10607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5528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Schedule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3694176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Cron job runs daily without waiting for a manual prompt.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163824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163824"/>
            <a:ext cx="64008" cy="10607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10912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Controls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3694176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Cost cap, model routing, source register, run log, and error log.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9872" y="3163824"/>
            <a:ext cx="3246120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9872" y="3163824"/>
            <a:ext cx="64008" cy="1060704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57032" y="3291840"/>
            <a:ext cx="384048" cy="25603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3328416"/>
            <a:ext cx="384048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273552"/>
            <a:ext cx="2459736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694176"/>
            <a:ext cx="2843784" cy="43891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30" b="0" i="0">
                <a:solidFill>
                  <a:srgbClr val="1B2B3C"/>
                </a:solidFill>
                <a:latin typeface="Calibri"/>
              </a:rPr>
              <a:t>No publishing; drafts queue for human claim and voice review.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102352"/>
            <a:ext cx="11094415" cy="676656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285232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Implementation rule: every component needs an owner, allowed actions, fallback behavior, and visible artifacts.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Controls: Keep Version 1 Boring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narrow first version makes trust measurable.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19072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97510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V1 allows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50592"/>
            <a:ext cx="4389120" cy="2057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Small, explicit source list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One daily run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Capped research briefs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One draft package per run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Visible source register and run log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1B2B3C"/>
                </a:solidFill>
                <a:latin typeface="Calibri"/>
              </a:rPr>
              <a:t>•  Memory candidates, not silent memory mutation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719072"/>
            <a:ext cx="5074920" cy="3566160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975104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FFB800"/>
                </a:solidFill>
                <a:latin typeface="Calibri"/>
              </a:rPr>
              <a:t>V1 forbids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50592"/>
            <a:ext cx="4343400" cy="2057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Auto-publishing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Unbounded browsing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Unreviewed claims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Open-ended outbound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Credential/config changes</a:t>
            </a:r>
          </a:p>
          <a:p>
            <a:pPr algn="l">
              <a:lnSpc>
                <a:spcPct val="105000"/>
              </a:lnSpc>
              <a:spcBef>
                <a:spcPts val="500"/>
              </a:spcBef>
            </a:pPr>
            <a:r>
              <a:rPr sz="1140" b="0" i="0">
                <a:solidFill>
                  <a:srgbClr val="FFFFFF"/>
                </a:solidFill>
                <a:latin typeface="Calibri"/>
              </a:rPr>
              <a:t>•  File deletion or repo mutation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972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0C9A7"/>
                </a:solidFill>
                <a:latin typeface="Calibri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813816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Calibri"/>
              </a:rPr>
              <a:t>Business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34640"/>
            <a:ext cx="150876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182112"/>
            <a:ext cx="7589520" cy="594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0" i="0">
                <a:solidFill>
                  <a:srgbClr val="E0F7F1"/>
                </a:solidFill>
                <a:latin typeface="Calibri"/>
              </a:rPr>
              <a:t>The output is a publishing and sales-enablement package, not raw research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Deliverables 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run already created business-facing assets that can be reviewed, edited, and shipped.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82496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682496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92224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Business memo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12848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Decision, buyer, desired action, value, and success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82496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82496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Editorial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Title, angle, claim, proof points, guardrails, and takeaway.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682496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682496"/>
            <a:ext cx="64008" cy="10789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792224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Article draft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212848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Long-form point of view on governed operating layers.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27248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127248"/>
            <a:ext cx="64008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236976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LinkedIn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3657600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Business narrative for discussion, without generic AI hype.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127248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89120" y="3127248"/>
            <a:ext cx="64008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236976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X thread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0288" y="3657600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Six-part concise narrative for signal testing.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127248"/>
            <a:ext cx="324612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3127248"/>
            <a:ext cx="64008" cy="10789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236976"/>
            <a:ext cx="2843784" cy="3474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A1628"/>
                </a:solidFill>
                <a:latin typeface="Calibri"/>
              </a:rPr>
              <a:t>Newsletter blurb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657600"/>
            <a:ext cx="2843784" cy="4571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40" b="0" i="0">
                <a:solidFill>
                  <a:srgbClr val="1B2B3C"/>
                </a:solidFill>
                <a:latin typeface="Calibri"/>
              </a:rPr>
              <a:t>Short-form distribution copy for email/community channels.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11094415" cy="566928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276088"/>
            <a:ext cx="10607040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The Enterprise Agent Shift Is Not More Tools. It Is Governed Operating Layers.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Storyline For Market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narrative is direct: governed workflows beat broad autonomy.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874519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993392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1. Bad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97480"/>
            <a:ext cx="1517904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What can the agent do?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852928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5B6B7C"/>
                </a:solidFill>
                <a:latin typeface="Calibri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74519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874519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54096" y="1993392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2. Better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697480"/>
            <a:ext cx="1517904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What recurring workflow can it run safely every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852928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5B6B7C"/>
                </a:solidFill>
                <a:latin typeface="Calibri"/>
              </a:rP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93792" y="1874519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93792" y="1874519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21807" y="1993392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3. Operating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3" y="2697480"/>
            <a:ext cx="1517904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Sources, memory, tools, schedule, controls, approval.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5744" y="2852928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5B6B7C"/>
                </a:solidFill>
                <a:latin typeface="Calibri"/>
              </a:rP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1504" y="1874519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1874519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1993392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FFFFFF"/>
                </a:solidFill>
                <a:latin typeface="Calibri"/>
              </a:rPr>
              <a:t>4. Hermes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697480"/>
            <a:ext cx="1517904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Scan, rank, brief, draft, review, remember.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3456" y="2852928"/>
            <a:ext cx="237744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5B6B7C"/>
                </a:solidFill>
                <a:latin typeface="Calibri"/>
              </a:rPr>
              <a:t>-&gt;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9216" y="1874519"/>
            <a:ext cx="1847088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9216" y="1874519"/>
            <a:ext cx="1847088" cy="438912"/>
          </a:xfrm>
          <a:prstGeom prst="roundRect">
            <a:avLst>
              <a:gd name="adj" fmla="val 8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1993392"/>
            <a:ext cx="1591056" cy="2011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00" b="1" i="0">
                <a:solidFill>
                  <a:srgbClr val="0A1628"/>
                </a:solidFill>
                <a:latin typeface="Calibri"/>
              </a:rPr>
              <a:t>5. Business 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2697480"/>
            <a:ext cx="1517904" cy="7498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60" b="1" i="0">
                <a:solidFill>
                  <a:srgbClr val="0A1628"/>
                </a:solidFill>
                <a:latin typeface="Calibri"/>
              </a:rPr>
              <a:t>Faster path from live signal to review-ready point of 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57216"/>
            <a:ext cx="11094415" cy="4206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80" b="1" i="0">
                <a:solidFill>
                  <a:srgbClr val="0A1628"/>
                </a:solidFill>
                <a:latin typeface="Calibri"/>
              </a:rPr>
              <a:t>Line to use: the agent does not replace editorial judgment; it removes the blank page before judgment starts.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Move from a successful run to a repeatable business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2331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574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0C9A7"/>
                </a:solidFill>
                <a:latin typeface="Calibri"/>
              </a:rPr>
              <a:t>Day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688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Source policy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87451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Lock source list, You.com mode order, freshness windows, and citation rules.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828800"/>
            <a:ext cx="2331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20574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0C9A7"/>
                </a:solidFill>
                <a:latin typeface="Calibri"/>
              </a:rPr>
              <a:t>Day 3-4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4688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Cron runbook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926080"/>
            <a:ext cx="187451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Schedule daily run, cost cap, run log, error file, and artifact destinations.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828800"/>
            <a:ext cx="2331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0574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0C9A7"/>
                </a:solidFill>
                <a:latin typeface="Calibri"/>
              </a:rPr>
              <a:t>Day 5-7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4688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Review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926080"/>
            <a:ext cx="187451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Define human editor gate, publish checklist, and memory acceptance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828800"/>
            <a:ext cx="233172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057400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20" b="1" i="0">
                <a:solidFill>
                  <a:srgbClr val="00C9A7"/>
                </a:solidFill>
                <a:latin typeface="Calibri"/>
              </a:rP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468880"/>
            <a:ext cx="196596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Scale carefully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926080"/>
            <a:ext cx="1874519" cy="6766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840" b="0" i="0">
                <a:solidFill>
                  <a:srgbClr val="1B2B3C"/>
                </a:solidFill>
                <a:latin typeface="Calibri"/>
              </a:rPr>
              <a:t>Add source categories, vertical-specific briefs, CRM hooks, and reporting dashboard.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882896"/>
            <a:ext cx="11094415" cy="713232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065776"/>
            <a:ext cx="10378440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980" b="1" i="0">
                <a:solidFill>
                  <a:srgbClr val="FFFFFF"/>
                </a:solidFill>
                <a:latin typeface="Calibri"/>
              </a:rPr>
              <a:t>Decision ask: approve this as the first governed Hermes workflow. Add sales or investor workflows only after V1 review quality is proven.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Source Appendix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Primary sources used by the business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664208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3794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1952" y="1819656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The state of enterprise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819656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openai.com/index/the-state-of-enterprise-ai-2025-report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286000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59736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OpenAI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2441448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The next phase of enterprise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441448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openai.com/index/next-phase-of-enterprise-ai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907792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081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1952" y="3063240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New tools for building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063240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openai.com/index/new-tools-for-building-agents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29584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703320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OpenAI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01952" y="3685032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Building governed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685032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developers.openai.com/cookbook/.../agentic_governance_cookbook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151376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32511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Hermes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952" y="4306824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Bundled autonomous-agent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306824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hermes-agent.nousresearch.com/docs/user-guide/.../autonomous-ai-agents-hermes-agent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773168"/>
            <a:ext cx="10744200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94690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0C9A7"/>
                </a:solidFill>
                <a:latin typeface="Calibri"/>
              </a:rPr>
              <a:t>Hermes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4928616"/>
            <a:ext cx="288036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840" b="1" i="0">
                <a:solidFill>
                  <a:srgbClr val="0A1628"/>
                </a:solidFill>
                <a:latin typeface="Calibri"/>
              </a:rPr>
              <a:t>Hermes user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928616"/>
            <a:ext cx="6126480" cy="16459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700" b="0" i="0">
                <a:solidFill>
                  <a:srgbClr val="5B6B7C"/>
                </a:solidFill>
                <a:latin typeface="Calibri"/>
              </a:rPr>
              <a:t>hermes-agent.nousresearch.com/docs/user-stories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669280"/>
            <a:ext cx="11094415" cy="347472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760720"/>
            <a:ext cx="10515600" cy="146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780" b="0" i="0">
                <a:solidFill>
                  <a:srgbClr val="FFFFFF"/>
                </a:solidFill>
                <a:latin typeface="Calibri"/>
              </a:rPr>
              <a:t>Deck status: reviewed after PPTX validation and preview inspection.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Hermes Content Pipeline Business Package | 2026-07-01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