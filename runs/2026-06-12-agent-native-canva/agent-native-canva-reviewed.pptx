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91695" cy="5486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6492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260"/>
              </a:lnSpc>
              <a:spcAft>
                <a:spcPts val="0"/>
              </a:spcAft>
            </a:pPr>
            <a:r>
              <a:rPr sz="1200" b="1" i="0">
                <a:solidFill>
                  <a:srgbClr val="E0F7F1"/>
                </a:solidFill>
                <a:latin typeface="Calibri"/>
              </a:rPr>
              <a:t>ARCHITECTURE BRIEF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667512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410"/>
              </a:lnSpc>
              <a:spcAft>
                <a:spcPts val="0"/>
              </a:spcAft>
            </a:pPr>
            <a:r>
              <a:rPr sz="4200" b="1" i="0">
                <a:solidFill>
                  <a:srgbClr val="FFFFFF"/>
                </a:solidFill>
                <a:latin typeface="Calibri"/>
              </a:rPr>
              <a:t>Agent-Native Apps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84831"/>
            <a:ext cx="6675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890"/>
              </a:lnSpc>
              <a:spcAft>
                <a:spcPts val="0"/>
              </a:spcAft>
            </a:pPr>
            <a:r>
              <a:rPr sz="1800" b="0" i="0">
                <a:solidFill>
                  <a:srgbClr val="E0F7F1"/>
                </a:solidFill>
                <a:latin typeface="Calibri"/>
              </a:rPr>
              <a:t>Software designed for the user's own agent.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395728"/>
            <a:ext cx="1417320" cy="4572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743200"/>
            <a:ext cx="6583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47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The opportunity is not another chatbot. It is software that becomes useful to an external agent.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4709160"/>
            <a:ext cx="841248" cy="310896"/>
          </a:xfrm>
          <a:prstGeom prst="rect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4745736"/>
            <a:ext cx="786384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714"/>
              </a:lnSpc>
              <a:spcAft>
                <a:spcPts val="0"/>
              </a:spcAft>
            </a:pPr>
            <a:r>
              <a:rPr sz="680" b="1" i="0">
                <a:solidFill>
                  <a:srgbClr val="FFFFFF"/>
                </a:solidFill>
                <a:latin typeface="Calibri"/>
              </a:rPr>
              <a:t>Cursor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19072" y="4709160"/>
            <a:ext cx="841248" cy="310896"/>
          </a:xfrm>
          <a:prstGeom prst="rect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46504" y="4745736"/>
            <a:ext cx="786384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714"/>
              </a:lnSpc>
              <a:spcAft>
                <a:spcPts val="0"/>
              </a:spcAft>
            </a:pPr>
            <a:r>
              <a:rPr sz="680" b="1" i="0">
                <a:solidFill>
                  <a:srgbClr val="FFFFFF"/>
                </a:solidFill>
                <a:latin typeface="Calibri"/>
              </a:rPr>
              <a:t>Codex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06624" y="4709160"/>
            <a:ext cx="841248" cy="310896"/>
          </a:xfrm>
          <a:prstGeom prst="rect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34056" y="4745736"/>
            <a:ext cx="786384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714"/>
              </a:lnSpc>
              <a:spcAft>
                <a:spcPts val="0"/>
              </a:spcAft>
            </a:pPr>
            <a:r>
              <a:rPr sz="680" b="1" i="0">
                <a:solidFill>
                  <a:srgbClr val="FFFFFF"/>
                </a:solidFill>
                <a:latin typeface="Calibri"/>
              </a:rPr>
              <a:t>MCP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94176" y="4709160"/>
            <a:ext cx="960120" cy="310896"/>
          </a:xfrm>
          <a:prstGeom prst="rect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21608" y="4745736"/>
            <a:ext cx="905256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714"/>
              </a:lnSpc>
              <a:spcAft>
                <a:spcPts val="0"/>
              </a:spcAft>
            </a:pPr>
            <a:r>
              <a:rPr sz="680" b="1" i="0">
                <a:solidFill>
                  <a:srgbClr val="FFFFFF"/>
                </a:solidFill>
                <a:latin typeface="Calibri"/>
              </a:rPr>
              <a:t>Browser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91456" y="4709160"/>
            <a:ext cx="841248" cy="310896"/>
          </a:xfrm>
          <a:prstGeom prst="rect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18888" y="4745736"/>
            <a:ext cx="786384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714"/>
              </a:lnSpc>
              <a:spcAft>
                <a:spcPts val="0"/>
              </a:spcAft>
            </a:pPr>
            <a:r>
              <a:rPr sz="680" b="1" i="0">
                <a:solidFill>
                  <a:srgbClr val="FFFFFF"/>
                </a:solidFill>
                <a:latin typeface="Calibri"/>
              </a:rPr>
              <a:t>Memory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62356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155"/>
              </a:lnSpc>
              <a:spcAft>
                <a:spcPts val="0"/>
              </a:spcAft>
            </a:pPr>
            <a:r>
              <a:rPr sz="1100" b="0" i="0">
                <a:solidFill>
                  <a:srgbClr val="888899"/>
                </a:solidFill>
                <a:latin typeface="Calibri"/>
              </a:rPr>
              <a:t>Build for the user's agent, not just the user.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76895" y="0"/>
            <a:ext cx="4114800" cy="6858000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86623" y="109728"/>
            <a:ext cx="3895344" cy="66385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369503" y="502920"/>
            <a:ext cx="3529584" cy="36576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60943" y="566928"/>
            <a:ext cx="3346704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945"/>
              </a:lnSpc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AGENT-NATIVE</a:t>
            </a:r>
          </a:p>
        </p:txBody>
      </p:sp>
      <p:sp>
        <p:nvSpPr>
          <p:cNvPr id="24" name="Oval 23"/>
          <p:cNvSpPr/>
          <p:nvPr/>
        </p:nvSpPr>
        <p:spPr>
          <a:xfrm>
            <a:off x="9265615" y="2697480"/>
            <a:ext cx="1737360" cy="1737360"/>
          </a:xfrm>
          <a:prstGeom prst="ellipse">
            <a:avLst/>
          </a:prstGeom>
          <a:solidFill>
            <a:srgbClr val="E0F7F1"/>
          </a:solidFill>
          <a:ln w="2540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12503" y="2944368"/>
            <a:ext cx="1243584" cy="1243584"/>
          </a:xfrm>
          <a:prstGeom prst="ellipse">
            <a:avLst/>
          </a:prstGeom>
          <a:solidFill>
            <a:srgbClr val="00C9A7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31959" y="3456432"/>
            <a:ext cx="80467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Agent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396935" y="1097280"/>
            <a:ext cx="1097280" cy="5669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9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396935" y="1097280"/>
            <a:ext cx="73152" cy="566928"/>
          </a:xfrm>
          <a:prstGeom prst="rect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6663" y="1170432"/>
            <a:ext cx="877824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945"/>
              </a:lnSpc>
              <a:spcAft>
                <a:spcPts val="0"/>
              </a:spcAft>
            </a:pPr>
            <a:r>
              <a:rPr sz="900" b="1" i="0">
                <a:solidFill>
                  <a:srgbClr val="1B2B3C"/>
                </a:solidFill>
                <a:latin typeface="Calibri"/>
              </a:rPr>
              <a:t>Files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6663" y="1353312"/>
            <a:ext cx="87782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609"/>
              </a:lnSpc>
              <a:spcAft>
                <a:spcPts val="0"/>
              </a:spcAft>
            </a:pPr>
            <a:r>
              <a:rPr sz="580" b="0" i="0">
                <a:solidFill>
                  <a:srgbClr val="5B6B7C"/>
                </a:solidFill>
                <a:latin typeface="Calibri"/>
              </a:rPr>
              <a:t>context</a:t>
            </a:r>
          </a:p>
        </p:txBody>
      </p:sp>
      <p:sp>
        <p:nvSpPr>
          <p:cNvPr id="31" name="Rectangle 30"/>
          <p:cNvSpPr/>
          <p:nvPr/>
        </p:nvSpPr>
        <p:spPr>
          <a:xfrm rot="5758294">
            <a:off x="8281245" y="2460752"/>
            <a:ext cx="2197339" cy="25400"/>
          </a:xfrm>
          <a:prstGeom prst="rect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997135" y="1097280"/>
            <a:ext cx="1097280" cy="5669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9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997135" y="1097280"/>
            <a:ext cx="73152" cy="566928"/>
          </a:xfrm>
          <a:prstGeom prst="rect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06863" y="1170432"/>
            <a:ext cx="877824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945"/>
              </a:lnSpc>
              <a:spcAft>
                <a:spcPts val="0"/>
              </a:spcAft>
            </a:pPr>
            <a:r>
              <a:rPr sz="900" b="1" i="0">
                <a:solidFill>
                  <a:srgbClr val="1B2B3C"/>
                </a:solidFill>
                <a:latin typeface="Calibri"/>
              </a:rPr>
              <a:t>Memory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06863" y="1353312"/>
            <a:ext cx="87782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609"/>
              </a:lnSpc>
              <a:spcAft>
                <a:spcPts val="0"/>
              </a:spcAft>
            </a:pPr>
            <a:r>
              <a:rPr sz="580" b="0" i="0">
                <a:solidFill>
                  <a:srgbClr val="5B6B7C"/>
                </a:solidFill>
                <a:latin typeface="Calibri"/>
              </a:rPr>
              <a:t>write-back</a:t>
            </a:r>
          </a:p>
        </p:txBody>
      </p:sp>
      <p:sp>
        <p:nvSpPr>
          <p:cNvPr id="36" name="Rectangle 35"/>
          <p:cNvSpPr/>
          <p:nvPr/>
        </p:nvSpPr>
        <p:spPr>
          <a:xfrm rot="7795396">
            <a:off x="8755185" y="2460752"/>
            <a:ext cx="2849658" cy="25400"/>
          </a:xfrm>
          <a:prstGeom prst="rect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396935" y="2286000"/>
            <a:ext cx="1097280" cy="5669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9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396935" y="2286000"/>
            <a:ext cx="73152" cy="566928"/>
          </a:xfrm>
          <a:prstGeom prst="rect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06663" y="2359152"/>
            <a:ext cx="877824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945"/>
              </a:lnSpc>
              <a:spcAft>
                <a:spcPts val="0"/>
              </a:spcAft>
            </a:pPr>
            <a:r>
              <a:rPr sz="900" b="1" i="0">
                <a:solidFill>
                  <a:srgbClr val="1B2B3C"/>
                </a:solidFill>
                <a:latin typeface="Calibri"/>
              </a:rPr>
              <a:t>Tools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06663" y="2542032"/>
            <a:ext cx="87782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609"/>
              </a:lnSpc>
              <a:spcAft>
                <a:spcPts val="0"/>
              </a:spcAft>
            </a:pPr>
            <a:r>
              <a:rPr sz="580" b="0" i="0">
                <a:solidFill>
                  <a:srgbClr val="5B6B7C"/>
                </a:solidFill>
                <a:latin typeface="Calibri"/>
              </a:rPr>
              <a:t>MCP / CLI</a:t>
            </a:r>
          </a:p>
        </p:txBody>
      </p:sp>
      <p:sp>
        <p:nvSpPr>
          <p:cNvPr id="41" name="Rectangle 40"/>
          <p:cNvSpPr/>
          <p:nvPr/>
        </p:nvSpPr>
        <p:spPr>
          <a:xfrm rot="6175069">
            <a:off x="8868627" y="3055112"/>
            <a:ext cx="1022575" cy="25400"/>
          </a:xfrm>
          <a:prstGeom prst="rect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9997135" y="2286000"/>
            <a:ext cx="1097280" cy="5669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9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997135" y="2286000"/>
            <a:ext cx="73152" cy="566928"/>
          </a:xfrm>
          <a:prstGeom prst="rect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106863" y="2359152"/>
            <a:ext cx="877824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945"/>
              </a:lnSpc>
              <a:spcAft>
                <a:spcPts val="0"/>
              </a:spcAft>
            </a:pPr>
            <a:r>
              <a:rPr sz="900" b="1" i="0">
                <a:solidFill>
                  <a:srgbClr val="1B2B3C"/>
                </a:solidFill>
                <a:latin typeface="Calibri"/>
              </a:rPr>
              <a:t>Surface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106863" y="2542032"/>
            <a:ext cx="87782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609"/>
              </a:lnSpc>
              <a:spcAft>
                <a:spcPts val="0"/>
              </a:spcAft>
            </a:pPr>
            <a:r>
              <a:rPr sz="580" b="0" i="0">
                <a:solidFill>
                  <a:srgbClr val="5B6B7C"/>
                </a:solidFill>
                <a:latin typeface="Calibri"/>
              </a:rPr>
              <a:t>canvas / docs</a:t>
            </a:r>
          </a:p>
        </p:txBody>
      </p:sp>
      <p:sp>
        <p:nvSpPr>
          <p:cNvPr id="46" name="Rectangle 45"/>
          <p:cNvSpPr/>
          <p:nvPr/>
        </p:nvSpPr>
        <p:spPr>
          <a:xfrm rot="9084577">
            <a:off x="9138632" y="3055112"/>
            <a:ext cx="2082765" cy="25400"/>
          </a:xfrm>
          <a:prstGeom prst="rect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8396935" y="4160520"/>
            <a:ext cx="1097280" cy="5669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9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396935" y="4160520"/>
            <a:ext cx="73152" cy="566928"/>
          </a:xfrm>
          <a:prstGeom prst="rect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506663" y="4233672"/>
            <a:ext cx="877824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945"/>
              </a:lnSpc>
              <a:spcAft>
                <a:spcPts val="0"/>
              </a:spcAft>
            </a:pPr>
            <a:r>
              <a:rPr sz="900" b="1" i="0">
                <a:solidFill>
                  <a:srgbClr val="1B2B3C"/>
                </a:solidFill>
                <a:latin typeface="Calibri"/>
              </a:rPr>
              <a:t>Browser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06663" y="4416552"/>
            <a:ext cx="87782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609"/>
              </a:lnSpc>
              <a:spcAft>
                <a:spcPts val="0"/>
              </a:spcAft>
            </a:pPr>
            <a:r>
              <a:rPr sz="580" b="0" i="0">
                <a:solidFill>
                  <a:srgbClr val="5B6B7C"/>
                </a:solidFill>
                <a:latin typeface="Calibri"/>
              </a:rPr>
              <a:t>shared view</a:t>
            </a:r>
          </a:p>
        </p:txBody>
      </p:sp>
      <p:sp>
        <p:nvSpPr>
          <p:cNvPr id="51" name="Rectangle 50"/>
          <p:cNvSpPr/>
          <p:nvPr/>
        </p:nvSpPr>
        <p:spPr>
          <a:xfrm rot="15324205">
            <a:off x="8926364" y="3992372"/>
            <a:ext cx="907101" cy="25400"/>
          </a:xfrm>
          <a:prstGeom prst="rect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9997135" y="4160520"/>
            <a:ext cx="1097280" cy="5669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9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9997135" y="4160520"/>
            <a:ext cx="73152" cy="566928"/>
          </a:xfrm>
          <a:prstGeom prst="rect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106863" y="4233672"/>
            <a:ext cx="877824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945"/>
              </a:lnSpc>
              <a:spcAft>
                <a:spcPts val="0"/>
              </a:spcAft>
            </a:pPr>
            <a:r>
              <a:rPr sz="900" b="1" i="0">
                <a:solidFill>
                  <a:srgbClr val="1B2B3C"/>
                </a:solidFill>
                <a:latin typeface="Calibri"/>
              </a:rPr>
              <a:t>Approval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106863" y="4416552"/>
            <a:ext cx="87782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609"/>
              </a:lnSpc>
              <a:spcAft>
                <a:spcPts val="0"/>
              </a:spcAft>
            </a:pPr>
            <a:r>
              <a:rPr sz="580" b="0" i="0">
                <a:solidFill>
                  <a:srgbClr val="5B6B7C"/>
                </a:solidFill>
                <a:latin typeface="Calibri"/>
              </a:rPr>
              <a:t>human loop</a:t>
            </a:r>
          </a:p>
        </p:txBody>
      </p:sp>
      <p:sp>
        <p:nvSpPr>
          <p:cNvPr id="56" name="Rectangle 55"/>
          <p:cNvSpPr/>
          <p:nvPr/>
        </p:nvSpPr>
        <p:spPr>
          <a:xfrm rot="12338460">
            <a:off x="9165731" y="3992372"/>
            <a:ext cx="2028567" cy="25400"/>
          </a:xfrm>
          <a:prstGeom prst="rect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369503" y="5742432"/>
            <a:ext cx="3529584" cy="29260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442655" y="5797296"/>
            <a:ext cx="3383280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882"/>
              </a:lnSpc>
              <a:spcAft>
                <a:spcPts val="0"/>
              </a:spcAft>
            </a:pPr>
            <a:r>
              <a:rPr sz="840" b="1" i="0">
                <a:solidFill>
                  <a:srgbClr val="FFFFFF"/>
                </a:solidFill>
                <a:latin typeface="Calibri"/>
              </a:rPr>
              <a:t>Build for the user's agent, not just the user.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56032" y="6492240"/>
            <a:ext cx="4023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735"/>
              </a:lnSpc>
              <a:spcAft>
                <a:spcPts val="0"/>
              </a:spcAft>
            </a:pPr>
            <a:r>
              <a:rPr sz="700" b="0" i="0">
                <a:solidFill>
                  <a:srgbClr val="888899"/>
                </a:solidFill>
                <a:latin typeface="Calibri"/>
              </a:rPr>
              <a:t>Agent-Native Apps | Canva-style Brief | June 2026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231575" y="6492240"/>
            <a:ext cx="7315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ts val="735"/>
              </a:lnSpc>
              <a:spcAft>
                <a:spcPts val="0"/>
              </a:spcAft>
            </a:pPr>
            <a:r>
              <a:rPr sz="700" b="0" i="0">
                <a:solidFill>
                  <a:srgbClr val="888899"/>
                </a:solidFill>
                <a:latin typeface="Calibri"/>
              </a:rPr>
              <a:t>1 / 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076895" cy="68580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752825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2205"/>
              </a:lnSpc>
              <a:spcAft>
                <a:spcPts val="0"/>
              </a:spcAft>
            </a:pPr>
            <a:r>
              <a:rPr sz="2100" b="1" i="0">
                <a:solidFill>
                  <a:srgbClr val="FFFFFF"/>
                </a:solidFill>
                <a:latin typeface="Calibri"/>
              </a:rPr>
              <a:t>The thesis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658368"/>
            <a:ext cx="1645920" cy="27432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822960"/>
            <a:ext cx="7436815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102"/>
              </a:lnSpc>
              <a:spcAft>
                <a:spcPts val="0"/>
              </a:spcAft>
            </a:pPr>
            <a:r>
              <a:rPr sz="1050" b="0" i="0">
                <a:solidFill>
                  <a:srgbClr val="E0F7F1"/>
                </a:solidFill>
                <a:latin typeface="Calibri"/>
              </a:rPr>
              <a:t>The workflow changes when the agent owns the loop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69264"/>
            <a:ext cx="7436815" cy="420624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1024128"/>
            <a:ext cx="7290511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798"/>
              </a:lnSpc>
              <a:spcAft>
                <a:spcPts val="0"/>
              </a:spcAft>
            </a:pPr>
            <a:r>
              <a:rPr sz="760" b="0" i="0">
                <a:solidFill>
                  <a:srgbClr val="1B2B3C"/>
                </a:solidFill>
                <a:latin typeface="Calibri"/>
              </a:rPr>
              <a:t>The opportunity is software built for the user's own agent, not just for the user.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463040"/>
            <a:ext cx="3611880" cy="2176272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463040"/>
            <a:ext cx="3611880" cy="310896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" y="1508760"/>
            <a:ext cx="3465576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987"/>
              </a:lnSpc>
              <a:spcAft>
                <a:spcPts val="0"/>
              </a:spcAft>
            </a:pPr>
            <a:r>
              <a:rPr sz="940" b="1" i="0">
                <a:solidFill>
                  <a:srgbClr val="FFFFFF"/>
                </a:solidFill>
                <a:latin typeface="Calibri"/>
              </a:rPr>
              <a:t>What changes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" y="1847088"/>
            <a:ext cx="3465576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772"/>
              </a:lnSpc>
              <a:spcBef>
                <a:spcPts val="0"/>
              </a:spcBef>
              <a:spcAft>
                <a:spcPts val="100"/>
              </a:spcAft>
            </a:pPr>
            <a:r>
              <a:rPr sz="840">
                <a:solidFill>
                  <a:srgbClr val="1B2B3C"/>
                </a:solidFill>
                <a:latin typeface="Calibri"/>
              </a:rPr>
              <a:t>• The user brings the agent. The app becomes a surface, not a silo.</a:t>
            </a:r>
          </a:p>
          <a:p>
            <a:pPr>
              <a:lnSpc>
                <a:spcPts val="772"/>
              </a:lnSpc>
              <a:spcBef>
                <a:spcPts val="0"/>
              </a:spcBef>
              <a:spcAft>
                <a:spcPts val="100"/>
              </a:spcAft>
            </a:pPr>
            <a:r>
              <a:rPr sz="840">
                <a:solidFill>
                  <a:srgbClr val="1B2B3C"/>
                </a:solidFill>
                <a:latin typeface="Calibri"/>
              </a:rPr>
              <a:t>• The same workspace must support human review and agent action.</a:t>
            </a:r>
          </a:p>
          <a:p>
            <a:pPr>
              <a:lnSpc>
                <a:spcPts val="772"/>
              </a:lnSpc>
              <a:spcBef>
                <a:spcPts val="0"/>
              </a:spcBef>
              <a:spcAft>
                <a:spcPts val="100"/>
              </a:spcAft>
            </a:pPr>
            <a:r>
              <a:rPr sz="840">
                <a:solidFill>
                  <a:srgbClr val="1B2B3C"/>
                </a:solidFill>
                <a:latin typeface="Calibri"/>
              </a:rPr>
              <a:t>• The best product is the one the user's agent can actually finish in.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41648" y="1463040"/>
            <a:ext cx="3611880" cy="21762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041648" y="1463040"/>
            <a:ext cx="3611880" cy="310896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0" y="1508760"/>
            <a:ext cx="3465576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987"/>
              </a:lnSpc>
              <a:spcAft>
                <a:spcPts val="0"/>
              </a:spcAft>
            </a:pPr>
            <a:r>
              <a:rPr sz="940" b="1" i="0">
                <a:solidFill>
                  <a:srgbClr val="FFFFFF"/>
                </a:solidFill>
                <a:latin typeface="Calibri"/>
              </a:rPr>
              <a:t>What to 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1847088"/>
            <a:ext cx="3465576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772"/>
              </a:lnSpc>
              <a:spcBef>
                <a:spcPts val="0"/>
              </a:spcBef>
              <a:spcAft>
                <a:spcPts val="100"/>
              </a:spcAft>
            </a:pPr>
            <a:r>
              <a:rPr sz="840">
                <a:solidFill>
                  <a:srgbClr val="1B2B3C"/>
                </a:solidFill>
                <a:latin typeface="Calibri"/>
              </a:rPr>
              <a:t>• Local context files, memory, and assets the agent can re-read.</a:t>
            </a:r>
          </a:p>
          <a:p>
            <a:pPr>
              <a:lnSpc>
                <a:spcPts val="772"/>
              </a:lnSpc>
              <a:spcBef>
                <a:spcPts val="0"/>
              </a:spcBef>
              <a:spcAft>
                <a:spcPts val="100"/>
              </a:spcAft>
            </a:pPr>
            <a:r>
              <a:rPr sz="840">
                <a:solidFill>
                  <a:srgbClr val="1B2B3C"/>
                </a:solidFill>
                <a:latin typeface="Calibri"/>
              </a:rPr>
              <a:t>• Tool paths that let the agent act through the app, not around it.</a:t>
            </a:r>
          </a:p>
          <a:p>
            <a:pPr>
              <a:lnSpc>
                <a:spcPts val="772"/>
              </a:lnSpc>
              <a:spcBef>
                <a:spcPts val="0"/>
              </a:spcBef>
              <a:spcAft>
                <a:spcPts val="100"/>
              </a:spcAft>
            </a:pPr>
            <a:r>
              <a:rPr sz="840">
                <a:solidFill>
                  <a:srgbClr val="1B2B3C"/>
                </a:solidFill>
                <a:latin typeface="Calibri"/>
              </a:rPr>
              <a:t>• A visible shared surface where the user can watch and correct.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794760"/>
            <a:ext cx="3611880" cy="1243584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3794760"/>
            <a:ext cx="3611880" cy="310896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" y="3840480"/>
            <a:ext cx="3465576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987"/>
              </a:lnSpc>
              <a:spcAft>
                <a:spcPts val="0"/>
              </a:spcAft>
            </a:pPr>
            <a:r>
              <a:rPr sz="940" b="1" i="0">
                <a:solidFill>
                  <a:srgbClr val="FFFFFF"/>
                </a:solidFill>
                <a:latin typeface="Calibri"/>
              </a:rPr>
              <a:t>Why this matters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" y="4178808"/>
            <a:ext cx="3465576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772"/>
              </a:lnSpc>
              <a:spcBef>
                <a:spcPts val="0"/>
              </a:spcBef>
              <a:spcAft>
                <a:spcPts val="100"/>
              </a:spcAft>
            </a:pPr>
            <a:r>
              <a:rPr sz="840">
                <a:solidFill>
                  <a:srgbClr val="1B2B3C"/>
                </a:solidFill>
                <a:latin typeface="Calibri"/>
              </a:rPr>
              <a:t>• If the agent cannot reach the work, the product is only a chatbot.</a:t>
            </a:r>
          </a:p>
          <a:p>
            <a:pPr>
              <a:lnSpc>
                <a:spcPts val="772"/>
              </a:lnSpc>
              <a:spcBef>
                <a:spcPts val="0"/>
              </a:spcBef>
              <a:spcAft>
                <a:spcPts val="100"/>
              </a:spcAft>
            </a:pPr>
            <a:r>
              <a:rPr sz="840">
                <a:solidFill>
                  <a:srgbClr val="1B2B3C"/>
                </a:solidFill>
                <a:latin typeface="Calibri"/>
              </a:rPr>
              <a:t>• If the agent cannot see the same state, collaboration breaks down.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041648" y="3794760"/>
            <a:ext cx="3611880" cy="12435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041648" y="3794760"/>
            <a:ext cx="3611880" cy="310896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0" y="3840480"/>
            <a:ext cx="3465576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987"/>
              </a:lnSpc>
              <a:spcAft>
                <a:spcPts val="0"/>
              </a:spcAft>
            </a:pPr>
            <a:r>
              <a:rPr sz="940" b="1" i="0">
                <a:solidFill>
                  <a:srgbClr val="FFFFFF"/>
                </a:solidFill>
                <a:latin typeface="Calibri"/>
              </a:rPr>
              <a:t>Design rule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4178808"/>
            <a:ext cx="3465576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772"/>
              </a:lnSpc>
              <a:spcBef>
                <a:spcPts val="0"/>
              </a:spcBef>
              <a:spcAft>
                <a:spcPts val="100"/>
              </a:spcAft>
            </a:pPr>
            <a:r>
              <a:rPr sz="840">
                <a:solidFill>
                  <a:srgbClr val="1B2B3C"/>
                </a:solidFill>
                <a:latin typeface="Calibri"/>
              </a:rPr>
              <a:t>• Start with the shared surface and the tool surface together.</a:t>
            </a:r>
          </a:p>
          <a:p>
            <a:pPr>
              <a:lnSpc>
                <a:spcPts val="772"/>
              </a:lnSpc>
              <a:spcBef>
                <a:spcPts val="0"/>
              </a:spcBef>
              <a:spcAft>
                <a:spcPts val="100"/>
              </a:spcAft>
            </a:pPr>
            <a:r>
              <a:rPr sz="840">
                <a:solidFill>
                  <a:srgbClr val="1B2B3C"/>
                </a:solidFill>
                <a:latin typeface="Calibri"/>
              </a:rPr>
              <a:t>• Treat context as a product asset, not an implementation detail.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5212080"/>
            <a:ext cx="987552" cy="310896"/>
          </a:xfrm>
          <a:prstGeom prst="rect">
            <a:avLst/>
          </a:prstGeom>
          <a:solidFill>
            <a:srgbClr val="008F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3192" y="5248656"/>
            <a:ext cx="93268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714"/>
              </a:lnSpc>
              <a:spcAft>
                <a:spcPts val="0"/>
              </a:spcAft>
            </a:pPr>
            <a:r>
              <a:rPr sz="680" b="1" i="0">
                <a:solidFill>
                  <a:srgbClr val="FFFFFF"/>
                </a:solidFill>
                <a:latin typeface="Calibri"/>
              </a:rPr>
              <a:t>Context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426464" y="5212080"/>
            <a:ext cx="987552" cy="310896"/>
          </a:xfrm>
          <a:prstGeom prst="rect">
            <a:avLst/>
          </a:prstGeom>
          <a:solidFill>
            <a:srgbClr val="008F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53896" y="5248656"/>
            <a:ext cx="93268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714"/>
              </a:lnSpc>
              <a:spcAft>
                <a:spcPts val="0"/>
              </a:spcAft>
            </a:pPr>
            <a:r>
              <a:rPr sz="680" b="1" i="0">
                <a:solidFill>
                  <a:srgbClr val="FFFFFF"/>
                </a:solidFill>
                <a:latin typeface="Calibri"/>
              </a:rPr>
              <a:t>Surface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487168" y="5212080"/>
            <a:ext cx="841248" cy="310896"/>
          </a:xfrm>
          <a:prstGeom prst="rect">
            <a:avLst/>
          </a:prstGeom>
          <a:solidFill>
            <a:srgbClr val="008F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514600" y="5248656"/>
            <a:ext cx="786384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714"/>
              </a:lnSpc>
              <a:spcAft>
                <a:spcPts val="0"/>
              </a:spcAft>
            </a:pPr>
            <a:r>
              <a:rPr sz="680" b="1" i="0">
                <a:solidFill>
                  <a:srgbClr val="FFFFFF"/>
                </a:solidFill>
                <a:latin typeface="Calibri"/>
              </a:rPr>
              <a:t>Tools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5532120"/>
            <a:ext cx="7619695" cy="512064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5623560"/>
            <a:ext cx="7436815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197"/>
              </a:lnSpc>
              <a:spcAft>
                <a:spcPts val="0"/>
              </a:spcAft>
            </a:pPr>
            <a:r>
              <a:rPr sz="1140" b="1" i="0">
                <a:solidFill>
                  <a:srgbClr val="FFFFFF"/>
                </a:solidFill>
                <a:latin typeface="Calibri"/>
              </a:rPr>
              <a:t>The architecture is a loop, not a router.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76895" y="0"/>
            <a:ext cx="4114800" cy="6858000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186623" y="109728"/>
            <a:ext cx="3895344" cy="66385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369503" y="502920"/>
            <a:ext cx="3529584" cy="36576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60943" y="566928"/>
            <a:ext cx="3346704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945"/>
              </a:lnSpc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AGENT-NATIVE</a:t>
            </a:r>
          </a:p>
        </p:txBody>
      </p:sp>
      <p:sp>
        <p:nvSpPr>
          <p:cNvPr id="36" name="Oval 35"/>
          <p:cNvSpPr/>
          <p:nvPr/>
        </p:nvSpPr>
        <p:spPr>
          <a:xfrm>
            <a:off x="9265615" y="2697480"/>
            <a:ext cx="1737360" cy="1737360"/>
          </a:xfrm>
          <a:prstGeom prst="ellipse">
            <a:avLst/>
          </a:prstGeom>
          <a:solidFill>
            <a:srgbClr val="E0F7F1"/>
          </a:solidFill>
          <a:ln w="2540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512503" y="2944368"/>
            <a:ext cx="1243584" cy="1243584"/>
          </a:xfrm>
          <a:prstGeom prst="ellipse">
            <a:avLst/>
          </a:prstGeom>
          <a:solidFill>
            <a:srgbClr val="00C9A7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731959" y="3456432"/>
            <a:ext cx="80467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Agent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396935" y="1097280"/>
            <a:ext cx="1097280" cy="5669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9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396935" y="1097280"/>
            <a:ext cx="73152" cy="566928"/>
          </a:xfrm>
          <a:prstGeom prst="rect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506663" y="1170432"/>
            <a:ext cx="877824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945"/>
              </a:lnSpc>
              <a:spcAft>
                <a:spcPts val="0"/>
              </a:spcAft>
            </a:pPr>
            <a:r>
              <a:rPr sz="900" b="1" i="0">
                <a:solidFill>
                  <a:srgbClr val="1B2B3C"/>
                </a:solidFill>
                <a:latin typeface="Calibri"/>
              </a:rPr>
              <a:t>Files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06663" y="1353312"/>
            <a:ext cx="87782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609"/>
              </a:lnSpc>
              <a:spcAft>
                <a:spcPts val="0"/>
              </a:spcAft>
            </a:pPr>
            <a:r>
              <a:rPr sz="580" b="0" i="0">
                <a:solidFill>
                  <a:srgbClr val="5B6B7C"/>
                </a:solidFill>
                <a:latin typeface="Calibri"/>
              </a:rPr>
              <a:t>context</a:t>
            </a:r>
          </a:p>
        </p:txBody>
      </p:sp>
      <p:sp>
        <p:nvSpPr>
          <p:cNvPr id="43" name="Rectangle 42"/>
          <p:cNvSpPr/>
          <p:nvPr/>
        </p:nvSpPr>
        <p:spPr>
          <a:xfrm rot="5758294">
            <a:off x="8281245" y="2460752"/>
            <a:ext cx="2197339" cy="25400"/>
          </a:xfrm>
          <a:prstGeom prst="rect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9997135" y="1097280"/>
            <a:ext cx="1097280" cy="5669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9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997135" y="1097280"/>
            <a:ext cx="73152" cy="566928"/>
          </a:xfrm>
          <a:prstGeom prst="rect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106863" y="1170432"/>
            <a:ext cx="877824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945"/>
              </a:lnSpc>
              <a:spcAft>
                <a:spcPts val="0"/>
              </a:spcAft>
            </a:pPr>
            <a:r>
              <a:rPr sz="900" b="1" i="0">
                <a:solidFill>
                  <a:srgbClr val="1B2B3C"/>
                </a:solidFill>
                <a:latin typeface="Calibri"/>
              </a:rPr>
              <a:t>Memory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106863" y="1353312"/>
            <a:ext cx="87782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609"/>
              </a:lnSpc>
              <a:spcAft>
                <a:spcPts val="0"/>
              </a:spcAft>
            </a:pPr>
            <a:r>
              <a:rPr sz="580" b="0" i="0">
                <a:solidFill>
                  <a:srgbClr val="5B6B7C"/>
                </a:solidFill>
                <a:latin typeface="Calibri"/>
              </a:rPr>
              <a:t>write-back</a:t>
            </a:r>
          </a:p>
        </p:txBody>
      </p:sp>
      <p:sp>
        <p:nvSpPr>
          <p:cNvPr id="48" name="Rectangle 47"/>
          <p:cNvSpPr/>
          <p:nvPr/>
        </p:nvSpPr>
        <p:spPr>
          <a:xfrm rot="7795396">
            <a:off x="8755185" y="2460752"/>
            <a:ext cx="2849658" cy="25400"/>
          </a:xfrm>
          <a:prstGeom prst="rect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8396935" y="2286000"/>
            <a:ext cx="1097280" cy="5669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9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396935" y="2286000"/>
            <a:ext cx="73152" cy="566928"/>
          </a:xfrm>
          <a:prstGeom prst="rect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506663" y="2359152"/>
            <a:ext cx="877824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945"/>
              </a:lnSpc>
              <a:spcAft>
                <a:spcPts val="0"/>
              </a:spcAft>
            </a:pPr>
            <a:r>
              <a:rPr sz="900" b="1" i="0">
                <a:solidFill>
                  <a:srgbClr val="1B2B3C"/>
                </a:solidFill>
                <a:latin typeface="Calibri"/>
              </a:rPr>
              <a:t>Tools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506663" y="2542032"/>
            <a:ext cx="87782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609"/>
              </a:lnSpc>
              <a:spcAft>
                <a:spcPts val="0"/>
              </a:spcAft>
            </a:pPr>
            <a:r>
              <a:rPr sz="580" b="0" i="0">
                <a:solidFill>
                  <a:srgbClr val="5B6B7C"/>
                </a:solidFill>
                <a:latin typeface="Calibri"/>
              </a:rPr>
              <a:t>MCP / CLI</a:t>
            </a:r>
          </a:p>
        </p:txBody>
      </p:sp>
      <p:sp>
        <p:nvSpPr>
          <p:cNvPr id="53" name="Rectangle 52"/>
          <p:cNvSpPr/>
          <p:nvPr/>
        </p:nvSpPr>
        <p:spPr>
          <a:xfrm rot="6175069">
            <a:off x="8868627" y="3055112"/>
            <a:ext cx="1022575" cy="25400"/>
          </a:xfrm>
          <a:prstGeom prst="rect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9997135" y="2286000"/>
            <a:ext cx="1097280" cy="5669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9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9997135" y="2286000"/>
            <a:ext cx="73152" cy="566928"/>
          </a:xfrm>
          <a:prstGeom prst="rect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106863" y="2359152"/>
            <a:ext cx="877824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945"/>
              </a:lnSpc>
              <a:spcAft>
                <a:spcPts val="0"/>
              </a:spcAft>
            </a:pPr>
            <a:r>
              <a:rPr sz="900" b="1" i="0">
                <a:solidFill>
                  <a:srgbClr val="1B2B3C"/>
                </a:solidFill>
                <a:latin typeface="Calibri"/>
              </a:rPr>
              <a:t>Surface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106863" y="2542032"/>
            <a:ext cx="87782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609"/>
              </a:lnSpc>
              <a:spcAft>
                <a:spcPts val="0"/>
              </a:spcAft>
            </a:pPr>
            <a:r>
              <a:rPr sz="580" b="0" i="0">
                <a:solidFill>
                  <a:srgbClr val="5B6B7C"/>
                </a:solidFill>
                <a:latin typeface="Calibri"/>
              </a:rPr>
              <a:t>canvas / docs</a:t>
            </a:r>
          </a:p>
        </p:txBody>
      </p:sp>
      <p:sp>
        <p:nvSpPr>
          <p:cNvPr id="58" name="Rectangle 57"/>
          <p:cNvSpPr/>
          <p:nvPr/>
        </p:nvSpPr>
        <p:spPr>
          <a:xfrm rot="9084577">
            <a:off x="9138632" y="3055112"/>
            <a:ext cx="2082765" cy="25400"/>
          </a:xfrm>
          <a:prstGeom prst="rect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8396935" y="4160520"/>
            <a:ext cx="1097280" cy="5669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9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8396935" y="4160520"/>
            <a:ext cx="73152" cy="566928"/>
          </a:xfrm>
          <a:prstGeom prst="rect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506663" y="4233672"/>
            <a:ext cx="877824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945"/>
              </a:lnSpc>
              <a:spcAft>
                <a:spcPts val="0"/>
              </a:spcAft>
            </a:pPr>
            <a:r>
              <a:rPr sz="900" b="1" i="0">
                <a:solidFill>
                  <a:srgbClr val="1B2B3C"/>
                </a:solidFill>
                <a:latin typeface="Calibri"/>
              </a:rPr>
              <a:t>Browser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506663" y="4416552"/>
            <a:ext cx="87782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609"/>
              </a:lnSpc>
              <a:spcAft>
                <a:spcPts val="0"/>
              </a:spcAft>
            </a:pPr>
            <a:r>
              <a:rPr sz="580" b="0" i="0">
                <a:solidFill>
                  <a:srgbClr val="5B6B7C"/>
                </a:solidFill>
                <a:latin typeface="Calibri"/>
              </a:rPr>
              <a:t>shared view</a:t>
            </a:r>
          </a:p>
        </p:txBody>
      </p:sp>
      <p:sp>
        <p:nvSpPr>
          <p:cNvPr id="63" name="Rectangle 62"/>
          <p:cNvSpPr/>
          <p:nvPr/>
        </p:nvSpPr>
        <p:spPr>
          <a:xfrm rot="15324205">
            <a:off x="8926364" y="3992372"/>
            <a:ext cx="907101" cy="25400"/>
          </a:xfrm>
          <a:prstGeom prst="rect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9997135" y="4160520"/>
            <a:ext cx="1097280" cy="5669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9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9997135" y="4160520"/>
            <a:ext cx="73152" cy="566928"/>
          </a:xfrm>
          <a:prstGeom prst="rect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106863" y="4233672"/>
            <a:ext cx="877824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945"/>
              </a:lnSpc>
              <a:spcAft>
                <a:spcPts val="0"/>
              </a:spcAft>
            </a:pPr>
            <a:r>
              <a:rPr sz="900" b="1" i="0">
                <a:solidFill>
                  <a:srgbClr val="1B2B3C"/>
                </a:solidFill>
                <a:latin typeface="Calibri"/>
              </a:rPr>
              <a:t>Approval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106863" y="4416552"/>
            <a:ext cx="87782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609"/>
              </a:lnSpc>
              <a:spcAft>
                <a:spcPts val="0"/>
              </a:spcAft>
            </a:pPr>
            <a:r>
              <a:rPr sz="580" b="0" i="0">
                <a:solidFill>
                  <a:srgbClr val="5B6B7C"/>
                </a:solidFill>
                <a:latin typeface="Calibri"/>
              </a:rPr>
              <a:t>human loop</a:t>
            </a:r>
          </a:p>
        </p:txBody>
      </p:sp>
      <p:sp>
        <p:nvSpPr>
          <p:cNvPr id="68" name="Rectangle 67"/>
          <p:cNvSpPr/>
          <p:nvPr/>
        </p:nvSpPr>
        <p:spPr>
          <a:xfrm rot="12338460">
            <a:off x="9165731" y="3992372"/>
            <a:ext cx="2028567" cy="25400"/>
          </a:xfrm>
          <a:prstGeom prst="rect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8369503" y="5742432"/>
            <a:ext cx="3529584" cy="29260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442655" y="5797296"/>
            <a:ext cx="3383280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882"/>
              </a:lnSpc>
              <a:spcAft>
                <a:spcPts val="0"/>
              </a:spcAft>
            </a:pPr>
            <a:r>
              <a:rPr sz="840" b="1" i="0">
                <a:solidFill>
                  <a:srgbClr val="FFFFFF"/>
                </a:solidFill>
                <a:latin typeface="Calibri"/>
              </a:rPr>
              <a:t>Build for the user's agent, not just the user.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56032" y="6492240"/>
            <a:ext cx="4023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735"/>
              </a:lnSpc>
              <a:spcAft>
                <a:spcPts val="0"/>
              </a:spcAft>
            </a:pPr>
            <a:r>
              <a:rPr sz="700" b="0" i="0">
                <a:solidFill>
                  <a:srgbClr val="888899"/>
                </a:solidFill>
                <a:latin typeface="Calibri"/>
              </a:rPr>
              <a:t>Agent-Native Apps | Canva-style Brief | June 2026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1231575" y="6492240"/>
            <a:ext cx="7315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ts val="735"/>
              </a:lnSpc>
              <a:spcAft>
                <a:spcPts val="0"/>
              </a:spcAft>
            </a:pPr>
            <a:r>
              <a:rPr sz="700" b="0" i="0">
                <a:solidFill>
                  <a:srgbClr val="888899"/>
                </a:solidFill>
                <a:latin typeface="Calibri"/>
              </a:rPr>
              <a:t>2 / 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076895" cy="68580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752825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2205"/>
              </a:lnSpc>
              <a:spcAft>
                <a:spcPts val="0"/>
              </a:spcAft>
            </a:pPr>
            <a:r>
              <a:rPr sz="2100" b="1" i="0">
                <a:solidFill>
                  <a:srgbClr val="FFFFFF"/>
                </a:solidFill>
                <a:latin typeface="Calibri"/>
              </a:rPr>
              <a:t>Model inversion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658368"/>
            <a:ext cx="1645920" cy="27432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822960"/>
            <a:ext cx="7436815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102"/>
              </a:lnSpc>
              <a:spcAft>
                <a:spcPts val="0"/>
              </a:spcAft>
            </a:pPr>
            <a:r>
              <a:rPr sz="1050" b="0" i="0">
                <a:solidFill>
                  <a:srgbClr val="E0F7F1"/>
                </a:solidFill>
                <a:latin typeface="Calibri"/>
              </a:rPr>
              <a:t>App with an agent vs. agent with an app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69264"/>
            <a:ext cx="7436815" cy="420624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1024128"/>
            <a:ext cx="7290511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798"/>
              </a:lnSpc>
              <a:spcAft>
                <a:spcPts val="0"/>
              </a:spcAft>
            </a:pPr>
            <a:r>
              <a:rPr sz="760" b="0" i="0">
                <a:solidFill>
                  <a:srgbClr val="1B2B3C"/>
                </a:solidFill>
                <a:latin typeface="Calibri"/>
              </a:rPr>
              <a:t>The old model adds AI inside one app. The new model puts the app inside the agent's workflow.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463040"/>
            <a:ext cx="3611880" cy="2176272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463040"/>
            <a:ext cx="3611880" cy="310896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" y="1508760"/>
            <a:ext cx="3465576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987"/>
              </a:lnSpc>
              <a:spcAft>
                <a:spcPts val="0"/>
              </a:spcAft>
            </a:pPr>
            <a:r>
              <a:rPr sz="940" b="1" i="0">
                <a:solidFill>
                  <a:srgbClr val="FFFFFF"/>
                </a:solidFill>
                <a:latin typeface="Calibri"/>
              </a:rPr>
              <a:t>Old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" y="1847088"/>
            <a:ext cx="3465576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772"/>
              </a:lnSpc>
              <a:spcBef>
                <a:spcPts val="0"/>
              </a:spcBef>
              <a:spcAft>
                <a:spcPts val="100"/>
              </a:spcAft>
            </a:pPr>
            <a:r>
              <a:rPr sz="840">
                <a:solidFill>
                  <a:srgbClr val="1B2B3C"/>
                </a:solidFill>
                <a:latin typeface="Calibri"/>
              </a:rPr>
              <a:t>• The app embeds a chatbot inside a closed workspace.</a:t>
            </a:r>
          </a:p>
          <a:p>
            <a:pPr>
              <a:lnSpc>
                <a:spcPts val="772"/>
              </a:lnSpc>
              <a:spcBef>
                <a:spcPts val="0"/>
              </a:spcBef>
              <a:spcAft>
                <a:spcPts val="100"/>
              </a:spcAft>
            </a:pPr>
            <a:r>
              <a:rPr sz="840">
                <a:solidFill>
                  <a:srgbClr val="1B2B3C"/>
                </a:solidFill>
                <a:latin typeface="Calibri"/>
              </a:rPr>
              <a:t>• Context stops at the app boundary, so the model can assist but not finish.</a:t>
            </a:r>
          </a:p>
          <a:p>
            <a:pPr>
              <a:lnSpc>
                <a:spcPts val="772"/>
              </a:lnSpc>
              <a:spcBef>
                <a:spcPts val="0"/>
              </a:spcBef>
              <a:spcAft>
                <a:spcPts val="100"/>
              </a:spcAft>
            </a:pPr>
            <a:r>
              <a:rPr sz="840">
                <a:solidFill>
                  <a:srgbClr val="1B2B3C"/>
                </a:solidFill>
                <a:latin typeface="Calibri"/>
              </a:rPr>
              <a:t>• The user still does the hard part outside the product.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41648" y="1463040"/>
            <a:ext cx="3611880" cy="21762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041648" y="1463040"/>
            <a:ext cx="3611880" cy="310896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0" y="1508760"/>
            <a:ext cx="3465576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987"/>
              </a:lnSpc>
              <a:spcAft>
                <a:spcPts val="0"/>
              </a:spcAft>
            </a:pPr>
            <a:r>
              <a:rPr sz="940" b="1" i="0">
                <a:solidFill>
                  <a:srgbClr val="FFFFFF"/>
                </a:solidFill>
                <a:latin typeface="Calibri"/>
              </a:rPr>
              <a:t>New model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1847088"/>
            <a:ext cx="3465576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772"/>
              </a:lnSpc>
              <a:spcBef>
                <a:spcPts val="0"/>
              </a:spcBef>
              <a:spcAft>
                <a:spcPts val="100"/>
              </a:spcAft>
            </a:pPr>
            <a:r>
              <a:rPr sz="840">
                <a:solidFill>
                  <a:srgbClr val="1B2B3C"/>
                </a:solidFill>
                <a:latin typeface="Calibri"/>
              </a:rPr>
              <a:t>• The user's agent owns the context and brings it into the app.</a:t>
            </a:r>
          </a:p>
          <a:p>
            <a:pPr>
              <a:lnSpc>
                <a:spcPts val="772"/>
              </a:lnSpc>
              <a:spcBef>
                <a:spcPts val="0"/>
              </a:spcBef>
              <a:spcAft>
                <a:spcPts val="100"/>
              </a:spcAft>
            </a:pPr>
            <a:r>
              <a:rPr sz="840">
                <a:solidFill>
                  <a:srgbClr val="1B2B3C"/>
                </a:solidFill>
                <a:latin typeface="Calibri"/>
              </a:rPr>
              <a:t>• The app becomes one surface among many in a larger workflow.</a:t>
            </a:r>
          </a:p>
          <a:p>
            <a:pPr>
              <a:lnSpc>
                <a:spcPts val="772"/>
              </a:lnSpc>
              <a:spcBef>
                <a:spcPts val="0"/>
              </a:spcBef>
              <a:spcAft>
                <a:spcPts val="100"/>
              </a:spcAft>
            </a:pPr>
            <a:r>
              <a:rPr sz="840">
                <a:solidFill>
                  <a:srgbClr val="1B2B3C"/>
                </a:solidFill>
                <a:latin typeface="Calibri"/>
              </a:rPr>
              <a:t>• The user and the agent can act on the same object at the same time.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794760"/>
            <a:ext cx="3611880" cy="1243584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3794760"/>
            <a:ext cx="3611880" cy="310896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" y="3840480"/>
            <a:ext cx="3465576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987"/>
              </a:lnSpc>
              <a:spcAft>
                <a:spcPts val="0"/>
              </a:spcAft>
            </a:pPr>
            <a:r>
              <a:rPr sz="940" b="1" i="0">
                <a:solidFill>
                  <a:srgbClr val="FFFFFF"/>
                </a:solidFill>
                <a:latin typeface="Calibri"/>
              </a:rPr>
              <a:t>What changes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" y="4178808"/>
            <a:ext cx="3465576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772"/>
              </a:lnSpc>
              <a:spcBef>
                <a:spcPts val="0"/>
              </a:spcBef>
              <a:spcAft>
                <a:spcPts val="100"/>
              </a:spcAft>
            </a:pPr>
            <a:r>
              <a:rPr sz="840">
                <a:solidFill>
                  <a:srgbClr val="1B2B3C"/>
                </a:solidFill>
                <a:latin typeface="Calibri"/>
              </a:rPr>
              <a:t>• Moat shifts to context, tools, workflow design, and memory.</a:t>
            </a:r>
          </a:p>
          <a:p>
            <a:pPr>
              <a:lnSpc>
                <a:spcPts val="772"/>
              </a:lnSpc>
              <a:spcBef>
                <a:spcPts val="0"/>
              </a:spcBef>
              <a:spcAft>
                <a:spcPts val="100"/>
              </a:spcAft>
            </a:pPr>
            <a:r>
              <a:rPr sz="840">
                <a:solidFill>
                  <a:srgbClr val="1B2B3C"/>
                </a:solidFill>
                <a:latin typeface="Calibri"/>
              </a:rPr>
              <a:t>• The app must be readable by agents from outside the app.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041648" y="3794760"/>
            <a:ext cx="3611880" cy="12435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041648" y="3794760"/>
            <a:ext cx="3611880" cy="310896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0" y="3840480"/>
            <a:ext cx="3465576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987"/>
              </a:lnSpc>
              <a:spcAft>
                <a:spcPts val="0"/>
              </a:spcAft>
            </a:pPr>
            <a:r>
              <a:rPr sz="940" b="1" i="0">
                <a:solidFill>
                  <a:srgbClr val="FFFFFF"/>
                </a:solidFill>
                <a:latin typeface="Calibri"/>
              </a:rPr>
              <a:t>Result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4178808"/>
            <a:ext cx="3465576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772"/>
              </a:lnSpc>
              <a:spcBef>
                <a:spcPts val="0"/>
              </a:spcBef>
              <a:spcAft>
                <a:spcPts val="100"/>
              </a:spcAft>
            </a:pPr>
            <a:r>
              <a:rPr sz="840">
                <a:solidFill>
                  <a:srgbClr val="1B2B3C"/>
                </a:solidFill>
                <a:latin typeface="Calibri"/>
              </a:rPr>
              <a:t>• The app becomes a workspace, not a silo.</a:t>
            </a:r>
          </a:p>
          <a:p>
            <a:pPr>
              <a:lnSpc>
                <a:spcPts val="772"/>
              </a:lnSpc>
              <a:spcBef>
                <a:spcPts val="0"/>
              </a:spcBef>
              <a:spcAft>
                <a:spcPts val="100"/>
              </a:spcAft>
            </a:pPr>
            <a:r>
              <a:rPr sz="840">
                <a:solidFill>
                  <a:srgbClr val="1B2B3C"/>
                </a:solidFill>
                <a:latin typeface="Calibri"/>
              </a:rPr>
              <a:t>• The model is useful because it can operate on live state.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5212080"/>
            <a:ext cx="905256" cy="310896"/>
          </a:xfrm>
          <a:prstGeom prst="rect">
            <a:avLst/>
          </a:prstGeom>
          <a:solidFill>
            <a:srgbClr val="008F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3192" y="5248656"/>
            <a:ext cx="850392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714"/>
              </a:lnSpc>
              <a:spcAft>
                <a:spcPts val="0"/>
              </a:spcAft>
            </a:pPr>
            <a:r>
              <a:rPr sz="680" b="1" i="0">
                <a:solidFill>
                  <a:srgbClr val="FFFFFF"/>
                </a:solidFill>
                <a:latin typeface="Calibri"/>
              </a:rPr>
              <a:t>App AI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344168" y="5212080"/>
            <a:ext cx="1152144" cy="310896"/>
          </a:xfrm>
          <a:prstGeom prst="rect">
            <a:avLst/>
          </a:prstGeom>
          <a:solidFill>
            <a:srgbClr val="008F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71600" y="5248656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714"/>
              </a:lnSpc>
              <a:spcAft>
                <a:spcPts val="0"/>
              </a:spcAft>
            </a:pPr>
            <a:r>
              <a:rPr sz="680" b="1" i="0">
                <a:solidFill>
                  <a:srgbClr val="FFFFFF"/>
                </a:solidFill>
                <a:latin typeface="Calibri"/>
              </a:rPr>
              <a:t>BYO agent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5532120"/>
            <a:ext cx="7619695" cy="512064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5623560"/>
            <a:ext cx="7436815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197"/>
              </a:lnSpc>
              <a:spcAft>
                <a:spcPts val="0"/>
              </a:spcAft>
            </a:pPr>
            <a:r>
              <a:rPr sz="1140" b="1" i="0">
                <a:solidFill>
                  <a:srgbClr val="FFFFFF"/>
                </a:solidFill>
                <a:latin typeface="Calibri"/>
              </a:rPr>
              <a:t>Old model: the app contains the agent. New model: the agent contains the app surface.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76895" y="0"/>
            <a:ext cx="4114800" cy="6858000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86623" y="109728"/>
            <a:ext cx="3895344" cy="66385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96935" y="256032"/>
            <a:ext cx="265176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155"/>
              </a:lnSpc>
              <a:spcAft>
                <a:spcPts val="0"/>
              </a:spcAft>
            </a:pPr>
            <a:r>
              <a:rPr sz="1100" b="1" i="0">
                <a:solidFill>
                  <a:srgbClr val="1B2B3C"/>
                </a:solidFill>
                <a:latin typeface="Calibri"/>
              </a:rPr>
              <a:t>Model inversion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396935" y="685800"/>
            <a:ext cx="3154680" cy="1097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05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396935" y="685800"/>
            <a:ext cx="73152" cy="1097280"/>
          </a:xfrm>
          <a:prstGeom prst="rect">
            <a:avLst/>
          </a:prstGeom>
          <a:solidFill>
            <a:srgbClr val="E05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06663" y="758952"/>
            <a:ext cx="2935224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050"/>
              </a:lnSpc>
              <a:spcAft>
                <a:spcPts val="0"/>
              </a:spcAft>
            </a:pPr>
            <a:r>
              <a:rPr sz="1000" b="1" i="0">
                <a:solidFill>
                  <a:srgbClr val="1B2B3C"/>
                </a:solidFill>
                <a:latin typeface="Calibri"/>
              </a:rPr>
              <a:t>App with agent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06663" y="941832"/>
            <a:ext cx="2935224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682"/>
              </a:lnSpc>
              <a:spcAft>
                <a:spcPts val="0"/>
              </a:spcAft>
            </a:pPr>
            <a:r>
              <a:rPr sz="650" b="0" i="0">
                <a:solidFill>
                  <a:srgbClr val="5B6B7C"/>
                </a:solidFill>
                <a:latin typeface="Calibri"/>
              </a:rPr>
              <a:t>AI sits inside one product.</a:t>
            </a:r>
            <a:br/>
            <a:r>
              <a:rPr sz="650" b="0" i="0">
                <a:solidFill>
                  <a:srgbClr val="5B6B7C"/>
                </a:solidFill>
                <a:latin typeface="Calibri"/>
              </a:rPr>
              <a:t>Context stops at the boundary.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396935" y="2011680"/>
            <a:ext cx="3154680" cy="1097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396935" y="2011680"/>
            <a:ext cx="73152" cy="109728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06663" y="2084832"/>
            <a:ext cx="2935224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050"/>
              </a:lnSpc>
              <a:spcAft>
                <a:spcPts val="0"/>
              </a:spcAft>
            </a:pPr>
            <a:r>
              <a:rPr sz="1000" b="1" i="0">
                <a:solidFill>
                  <a:srgbClr val="1B2B3C"/>
                </a:solidFill>
                <a:latin typeface="Calibri"/>
              </a:rPr>
              <a:t>Agent with app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06663" y="2267712"/>
            <a:ext cx="2935224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682"/>
              </a:lnSpc>
              <a:spcAft>
                <a:spcPts val="0"/>
              </a:spcAft>
            </a:pPr>
            <a:r>
              <a:rPr sz="650" b="0" i="0">
                <a:solidFill>
                  <a:srgbClr val="5B6B7C"/>
                </a:solidFill>
                <a:latin typeface="Calibri"/>
              </a:rPr>
              <a:t>The user's agent enters the surface.</a:t>
            </a:r>
            <a:br/>
            <a:r>
              <a:rPr sz="650" b="0" i="0">
                <a:solidFill>
                  <a:srgbClr val="5B6B7C"/>
                </a:solidFill>
                <a:latin typeface="Calibri"/>
              </a:rPr>
              <a:t>Context and tools stay portable.</a:t>
            </a:r>
          </a:p>
        </p:txBody>
      </p:sp>
      <p:sp>
        <p:nvSpPr>
          <p:cNvPr id="41" name="Rectangle 40"/>
          <p:cNvSpPr/>
          <p:nvPr/>
        </p:nvSpPr>
        <p:spPr>
          <a:xfrm rot="5400000">
            <a:off x="9539935" y="1882902"/>
            <a:ext cx="182880" cy="381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859975" y="1828800"/>
            <a:ext cx="822960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840"/>
              </a:lnSpc>
              <a:spcAft>
                <a:spcPts val="0"/>
              </a:spcAft>
            </a:pPr>
            <a:r>
              <a:rPr sz="800" b="1" i="0">
                <a:solidFill>
                  <a:srgbClr val="FFB800"/>
                </a:solidFill>
                <a:latin typeface="Calibri"/>
              </a:rPr>
              <a:t>shift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396935" y="3749039"/>
            <a:ext cx="1325880" cy="731520"/>
          </a:xfrm>
          <a:prstGeom prst="roundRect">
            <a:avLst/>
          </a:prstGeom>
          <a:solidFill>
            <a:srgbClr val="F4F7F8"/>
          </a:solidFill>
          <a:ln w="15240">
            <a:solidFill>
              <a:srgbClr val="E05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396935" y="3749039"/>
            <a:ext cx="73152" cy="731520"/>
          </a:xfrm>
          <a:prstGeom prst="rect">
            <a:avLst/>
          </a:prstGeom>
          <a:solidFill>
            <a:srgbClr val="E05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506663" y="3822191"/>
            <a:ext cx="1106424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945"/>
              </a:lnSpc>
              <a:spcAft>
                <a:spcPts val="0"/>
              </a:spcAft>
            </a:pPr>
            <a:r>
              <a:rPr sz="900" b="1" i="0">
                <a:solidFill>
                  <a:srgbClr val="1B2B3C"/>
                </a:solidFill>
                <a:latin typeface="Calibri"/>
              </a:rPr>
              <a:t>Old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06663" y="4005071"/>
            <a:ext cx="110642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630"/>
              </a:lnSpc>
              <a:spcAft>
                <a:spcPts val="0"/>
              </a:spcAft>
            </a:pPr>
            <a:r>
              <a:rPr sz="600" b="0" i="0">
                <a:solidFill>
                  <a:srgbClr val="5B6B7C"/>
                </a:solidFill>
                <a:latin typeface="Calibri"/>
              </a:rPr>
              <a:t>Chatbot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905695" y="3749039"/>
            <a:ext cx="1325880" cy="731520"/>
          </a:xfrm>
          <a:prstGeom prst="roundRect">
            <a:avLst/>
          </a:prstGeom>
          <a:solidFill>
            <a:srgbClr val="F4F7F8"/>
          </a:solidFill>
          <a:ln w="1524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905695" y="3749039"/>
            <a:ext cx="73152" cy="73152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015423" y="3822191"/>
            <a:ext cx="1106424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945"/>
              </a:lnSpc>
              <a:spcAft>
                <a:spcPts val="0"/>
              </a:spcAft>
            </a:pPr>
            <a:r>
              <a:rPr sz="900" b="1" i="0">
                <a:solidFill>
                  <a:srgbClr val="1B2B3C"/>
                </a:solidFill>
                <a:latin typeface="Calibri"/>
              </a:rPr>
              <a:t>New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015423" y="4005071"/>
            <a:ext cx="110642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630"/>
              </a:lnSpc>
              <a:spcAft>
                <a:spcPts val="0"/>
              </a:spcAft>
            </a:pPr>
            <a:r>
              <a:rPr sz="600" b="0" i="0">
                <a:solidFill>
                  <a:srgbClr val="5B6B7C"/>
                </a:solidFill>
                <a:latin typeface="Calibri"/>
              </a:rPr>
              <a:t>Workspace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396935" y="4754880"/>
            <a:ext cx="2834640" cy="731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396935" y="4754880"/>
            <a:ext cx="73152" cy="73152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506663" y="4828032"/>
            <a:ext cx="2615184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945"/>
              </a:lnSpc>
              <a:spcAft>
                <a:spcPts val="0"/>
              </a:spcAft>
            </a:pPr>
            <a:r>
              <a:rPr sz="900" b="1" i="0">
                <a:solidFill>
                  <a:srgbClr val="1B2B3C"/>
                </a:solidFill>
                <a:latin typeface="Calibri"/>
              </a:rPr>
              <a:t>Implication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506663" y="5010912"/>
            <a:ext cx="261518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651"/>
              </a:lnSpc>
              <a:spcAft>
                <a:spcPts val="0"/>
              </a:spcAft>
            </a:pPr>
            <a:r>
              <a:rPr sz="620" b="0" i="0">
                <a:solidFill>
                  <a:srgbClr val="5B6B7C"/>
                </a:solidFill>
                <a:latin typeface="Calibri"/>
              </a:rPr>
              <a:t>The moat moves to context, tool access, and visible collaboration.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56032" y="6492240"/>
            <a:ext cx="4023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735"/>
              </a:lnSpc>
              <a:spcAft>
                <a:spcPts val="0"/>
              </a:spcAft>
            </a:pPr>
            <a:r>
              <a:rPr sz="700" b="0" i="0">
                <a:solidFill>
                  <a:srgbClr val="888899"/>
                </a:solidFill>
                <a:latin typeface="Calibri"/>
              </a:rPr>
              <a:t>Agent-Native Apps | Canva-style Brief | June 2026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231575" y="6492240"/>
            <a:ext cx="7315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ts val="735"/>
              </a:lnSpc>
              <a:spcAft>
                <a:spcPts val="0"/>
              </a:spcAft>
            </a:pPr>
            <a:r>
              <a:rPr sz="700" b="0" i="0">
                <a:solidFill>
                  <a:srgbClr val="888899"/>
                </a:solidFill>
                <a:latin typeface="Calibri"/>
              </a:rPr>
              <a:t>3 / 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076895" cy="68580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752825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2205"/>
              </a:lnSpc>
              <a:spcAft>
                <a:spcPts val="0"/>
              </a:spcAft>
            </a:pPr>
            <a:r>
              <a:rPr sz="2100" b="1" i="0">
                <a:solidFill>
                  <a:srgbClr val="FFFFFF"/>
                </a:solidFill>
                <a:latin typeface="Calibri"/>
              </a:rPr>
              <a:t>Why now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658368"/>
            <a:ext cx="1645920" cy="27432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822960"/>
            <a:ext cx="7436815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102"/>
              </a:lnSpc>
              <a:spcAft>
                <a:spcPts val="0"/>
              </a:spcAft>
            </a:pPr>
            <a:r>
              <a:rPr sz="1050" b="0" i="0">
                <a:solidFill>
                  <a:srgbClr val="E0F7F1"/>
                </a:solidFill>
                <a:latin typeface="Calibri"/>
              </a:rPr>
              <a:t>Three shifts make the category viable today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69264"/>
            <a:ext cx="7436815" cy="420624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1024128"/>
            <a:ext cx="7290511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798"/>
              </a:lnSpc>
              <a:spcAft>
                <a:spcPts val="0"/>
              </a:spcAft>
            </a:pPr>
            <a:r>
              <a:rPr sz="760" b="0" i="0">
                <a:solidFill>
                  <a:srgbClr val="1B2B3C"/>
                </a:solidFill>
                <a:latin typeface="Calibri"/>
              </a:rPr>
              <a:t>Agent hosts and tool connectors already exist. The missing step is product design around them.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463040"/>
            <a:ext cx="3611880" cy="2176272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463040"/>
            <a:ext cx="3611880" cy="310896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" y="1508760"/>
            <a:ext cx="3465576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987"/>
              </a:lnSpc>
              <a:spcAft>
                <a:spcPts val="0"/>
              </a:spcAft>
            </a:pPr>
            <a:r>
              <a:rPr sz="940" b="1" i="0">
                <a:solidFill>
                  <a:srgbClr val="FFFFFF"/>
                </a:solidFill>
                <a:latin typeface="Calibri"/>
              </a:rPr>
              <a:t>User agents are real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" y="1847088"/>
            <a:ext cx="3465576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772"/>
              </a:lnSpc>
              <a:spcBef>
                <a:spcPts val="0"/>
              </a:spcBef>
              <a:spcAft>
                <a:spcPts val="100"/>
              </a:spcAft>
            </a:pPr>
            <a:r>
              <a:rPr sz="840">
                <a:solidFill>
                  <a:srgbClr val="1B2B3C"/>
                </a:solidFill>
                <a:latin typeface="Calibri"/>
              </a:rPr>
              <a:t>• People are already working inside Cursor, Codex, and similar hosts.</a:t>
            </a:r>
          </a:p>
          <a:p>
            <a:pPr>
              <a:lnSpc>
                <a:spcPts val="772"/>
              </a:lnSpc>
              <a:spcBef>
                <a:spcPts val="0"/>
              </a:spcBef>
              <a:spcAft>
                <a:spcPts val="100"/>
              </a:spcAft>
            </a:pPr>
            <a:r>
              <a:rPr sz="840">
                <a:solidFill>
                  <a:srgbClr val="1B2B3C"/>
                </a:solidFill>
                <a:latin typeface="Calibri"/>
              </a:rPr>
              <a:t>• OpenAI's Codex CLI can read, change, and run code locally.</a:t>
            </a:r>
          </a:p>
          <a:p>
            <a:pPr>
              <a:lnSpc>
                <a:spcPts val="772"/>
              </a:lnSpc>
              <a:spcBef>
                <a:spcPts val="0"/>
              </a:spcBef>
              <a:spcAft>
                <a:spcPts val="100"/>
              </a:spcAft>
            </a:pPr>
            <a:r>
              <a:rPr sz="840">
                <a:solidFill>
                  <a:srgbClr val="1B2B3C"/>
                </a:solidFill>
                <a:latin typeface="Calibri"/>
              </a:rPr>
              <a:t>• Codex's in-app browser gives a shared view of rendered pages.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41648" y="1463040"/>
            <a:ext cx="3611880" cy="21762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041648" y="1463040"/>
            <a:ext cx="3611880" cy="310896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0" y="1508760"/>
            <a:ext cx="3465576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987"/>
              </a:lnSpc>
              <a:spcAft>
                <a:spcPts val="0"/>
              </a:spcAft>
            </a:pPr>
            <a:r>
              <a:rPr sz="940" b="1" i="0">
                <a:solidFill>
                  <a:srgbClr val="FFFFFF"/>
                </a:solidFill>
                <a:latin typeface="Calibri"/>
              </a:rPr>
              <a:t>Apps expose tools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1847088"/>
            <a:ext cx="3465576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772"/>
              </a:lnSpc>
              <a:spcBef>
                <a:spcPts val="0"/>
              </a:spcBef>
              <a:spcAft>
                <a:spcPts val="100"/>
              </a:spcAft>
            </a:pPr>
            <a:r>
              <a:rPr sz="840">
                <a:solidFill>
                  <a:srgbClr val="1B2B3C"/>
                </a:solidFill>
                <a:latin typeface="Calibri"/>
              </a:rPr>
              <a:t>• MCP, CLI, API, and browser access make external action practical.</a:t>
            </a:r>
          </a:p>
          <a:p>
            <a:pPr>
              <a:lnSpc>
                <a:spcPts val="772"/>
              </a:lnSpc>
              <a:spcBef>
                <a:spcPts val="0"/>
              </a:spcBef>
              <a:spcAft>
                <a:spcPts val="100"/>
              </a:spcAft>
            </a:pPr>
            <a:r>
              <a:rPr sz="840">
                <a:solidFill>
                  <a:srgbClr val="1B2B3C"/>
                </a:solidFill>
                <a:latin typeface="Calibri"/>
              </a:rPr>
              <a:t>• Notion MCP can read and write workspace content with permissions.</a:t>
            </a:r>
          </a:p>
          <a:p>
            <a:pPr>
              <a:lnSpc>
                <a:spcPts val="772"/>
              </a:lnSpc>
              <a:spcBef>
                <a:spcPts val="0"/>
              </a:spcBef>
              <a:spcAft>
                <a:spcPts val="100"/>
              </a:spcAft>
            </a:pPr>
            <a:r>
              <a:rPr sz="840">
                <a:solidFill>
                  <a:srgbClr val="1B2B3C"/>
                </a:solidFill>
                <a:latin typeface="Calibri"/>
              </a:rPr>
              <a:t>• Codex can connect to MCP servers from the CLI or IDE extension.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794760"/>
            <a:ext cx="3611880" cy="1243584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3794760"/>
            <a:ext cx="3611880" cy="310896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" y="3840480"/>
            <a:ext cx="3465576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987"/>
              </a:lnSpc>
              <a:spcAft>
                <a:spcPts val="0"/>
              </a:spcAft>
            </a:pPr>
            <a:r>
              <a:rPr sz="940" b="1" i="0">
                <a:solidFill>
                  <a:srgbClr val="FFFFFF"/>
                </a:solidFill>
                <a:latin typeface="Calibri"/>
              </a:rPr>
              <a:t>Context is portable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" y="4178808"/>
            <a:ext cx="3465576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772"/>
              </a:lnSpc>
              <a:spcBef>
                <a:spcPts val="0"/>
              </a:spcBef>
              <a:spcAft>
                <a:spcPts val="100"/>
              </a:spcAft>
            </a:pPr>
            <a:r>
              <a:rPr sz="840">
                <a:solidFill>
                  <a:srgbClr val="1B2B3C"/>
                </a:solidFill>
                <a:latin typeface="Calibri"/>
              </a:rPr>
              <a:t>• Files, docs, assets, and memory can live outside one product.</a:t>
            </a:r>
          </a:p>
          <a:p>
            <a:pPr>
              <a:lnSpc>
                <a:spcPts val="772"/>
              </a:lnSpc>
              <a:spcBef>
                <a:spcPts val="0"/>
              </a:spcBef>
              <a:spcAft>
                <a:spcPts val="100"/>
              </a:spcAft>
            </a:pPr>
            <a:r>
              <a:rPr sz="840">
                <a:solidFill>
                  <a:srgbClr val="1B2B3C"/>
                </a:solidFill>
                <a:latin typeface="Calibri"/>
              </a:rPr>
              <a:t>• The agent can carry that context across multiple surfaces.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041648" y="3794760"/>
            <a:ext cx="3611880" cy="12435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041648" y="3794760"/>
            <a:ext cx="3611880" cy="310896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0" y="3840480"/>
            <a:ext cx="3465576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987"/>
              </a:lnSpc>
              <a:spcAft>
                <a:spcPts val="0"/>
              </a:spcAft>
            </a:pPr>
            <a:r>
              <a:rPr sz="940" b="1" i="0">
                <a:solidFill>
                  <a:srgbClr val="FFFFFF"/>
                </a:solidFill>
                <a:latin typeface="Calibri"/>
              </a:rPr>
              <a:t>Evidence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4178808"/>
            <a:ext cx="3465576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772"/>
              </a:lnSpc>
              <a:spcBef>
                <a:spcPts val="0"/>
              </a:spcBef>
              <a:spcAft>
                <a:spcPts val="100"/>
              </a:spcAft>
            </a:pPr>
            <a:r>
              <a:rPr sz="840">
                <a:solidFill>
                  <a:srgbClr val="1B2B3C"/>
                </a:solidFill>
                <a:latin typeface="Calibri"/>
              </a:rPr>
              <a:t>• OpenAI Codex CLI, Codex app browser, and Notion MCP show the workflow is already here.</a:t>
            </a:r>
          </a:p>
          <a:p>
            <a:pPr>
              <a:lnSpc>
                <a:spcPts val="772"/>
              </a:lnSpc>
              <a:spcBef>
                <a:spcPts val="0"/>
              </a:spcBef>
              <a:spcAft>
                <a:spcPts val="100"/>
              </a:spcAft>
            </a:pPr>
            <a:r>
              <a:rPr sz="840">
                <a:solidFill>
                  <a:srgbClr val="1B2B3C"/>
                </a:solidFill>
                <a:latin typeface="Calibri"/>
              </a:rPr>
              <a:t>• The category is not theoretical; the tooling already exists.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5212080"/>
            <a:ext cx="1152144" cy="310896"/>
          </a:xfrm>
          <a:prstGeom prst="rect">
            <a:avLst/>
          </a:prstGeom>
          <a:solidFill>
            <a:srgbClr val="008F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3192" y="5248656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714"/>
              </a:lnSpc>
              <a:spcAft>
                <a:spcPts val="0"/>
              </a:spcAft>
            </a:pPr>
            <a:r>
              <a:rPr sz="680" b="1" i="0">
                <a:solidFill>
                  <a:srgbClr val="FFFFFF"/>
                </a:solidFill>
                <a:latin typeface="Calibri"/>
              </a:rPr>
              <a:t>Codex CLI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591056" y="5212080"/>
            <a:ext cx="1234439" cy="310896"/>
          </a:xfrm>
          <a:prstGeom prst="rect">
            <a:avLst/>
          </a:prstGeom>
          <a:solidFill>
            <a:srgbClr val="008F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18488" y="5248656"/>
            <a:ext cx="1179575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714"/>
              </a:lnSpc>
              <a:spcAft>
                <a:spcPts val="0"/>
              </a:spcAft>
            </a:pPr>
            <a:r>
              <a:rPr sz="680" b="1" i="0">
                <a:solidFill>
                  <a:srgbClr val="FFFFFF"/>
                </a:solidFill>
                <a:latin typeface="Calibri"/>
              </a:rPr>
              <a:t>Notion MCP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98647" y="5212080"/>
            <a:ext cx="987552" cy="310896"/>
          </a:xfrm>
          <a:prstGeom prst="rect">
            <a:avLst/>
          </a:prstGeom>
          <a:solidFill>
            <a:srgbClr val="008F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926079" y="5248656"/>
            <a:ext cx="93268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714"/>
              </a:lnSpc>
              <a:spcAft>
                <a:spcPts val="0"/>
              </a:spcAft>
            </a:pPr>
            <a:r>
              <a:rPr sz="680" b="1" i="0">
                <a:solidFill>
                  <a:srgbClr val="FFFFFF"/>
                </a:solidFill>
                <a:latin typeface="Calibri"/>
              </a:rPr>
              <a:t>Browser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5532120"/>
            <a:ext cx="7619695" cy="512064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5623560"/>
            <a:ext cx="7436815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197"/>
              </a:lnSpc>
              <a:spcAft>
                <a:spcPts val="0"/>
              </a:spcAft>
            </a:pPr>
            <a:r>
              <a:rPr sz="1140" b="1" i="0">
                <a:solidFill>
                  <a:srgbClr val="FFFFFF"/>
                </a:solidFill>
                <a:latin typeface="Calibri"/>
              </a:rPr>
              <a:t>The opportunity opens when agents can bring context into an app and act through tools.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76895" y="0"/>
            <a:ext cx="4114800" cy="6858000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186623" y="109728"/>
            <a:ext cx="3895344" cy="66385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378647" y="822960"/>
            <a:ext cx="3063240" cy="51206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378647" y="822960"/>
            <a:ext cx="73152" cy="51206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88375" y="896112"/>
            <a:ext cx="2843784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945"/>
              </a:lnSpc>
              <a:spcAft>
                <a:spcPts val="0"/>
              </a:spcAft>
            </a:pPr>
            <a:r>
              <a:rPr sz="900" b="1" i="0">
                <a:solidFill>
                  <a:srgbClr val="1B2B3C"/>
                </a:solidFill>
                <a:latin typeface="Calibri"/>
              </a:rPr>
              <a:t>Context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88375" y="1078992"/>
            <a:ext cx="284378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630"/>
              </a:lnSpc>
              <a:spcAft>
                <a:spcPts val="0"/>
              </a:spcAft>
            </a:pPr>
            <a:r>
              <a:rPr sz="600" b="0" i="0">
                <a:solidFill>
                  <a:srgbClr val="5B6B7C"/>
                </a:solidFill>
                <a:latin typeface="Calibri"/>
              </a:rPr>
              <a:t>files / notes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378647" y="1554480"/>
            <a:ext cx="3063240" cy="51206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378647" y="1554480"/>
            <a:ext cx="73152" cy="512064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88375" y="1627632"/>
            <a:ext cx="2843784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945"/>
              </a:lnSpc>
              <a:spcAft>
                <a:spcPts val="0"/>
              </a:spcAft>
            </a:pPr>
            <a:r>
              <a:rPr sz="900" b="1" i="0">
                <a:solidFill>
                  <a:srgbClr val="1B2B3C"/>
                </a:solidFill>
                <a:latin typeface="Calibri"/>
              </a:rPr>
              <a:t>Agent loop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88375" y="1810512"/>
            <a:ext cx="284378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630"/>
              </a:lnSpc>
              <a:spcAft>
                <a:spcPts val="0"/>
              </a:spcAft>
            </a:pPr>
            <a:r>
              <a:rPr sz="600" b="0" i="0">
                <a:solidFill>
                  <a:srgbClr val="5B6B7C"/>
                </a:solidFill>
                <a:latin typeface="Calibri"/>
              </a:rPr>
              <a:t>Cursor / Codex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378647" y="2286000"/>
            <a:ext cx="3063240" cy="51206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05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378647" y="2286000"/>
            <a:ext cx="73152" cy="512064"/>
          </a:xfrm>
          <a:prstGeom prst="rect">
            <a:avLst/>
          </a:prstGeom>
          <a:solidFill>
            <a:srgbClr val="E05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488375" y="2359152"/>
            <a:ext cx="2843784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945"/>
              </a:lnSpc>
              <a:spcAft>
                <a:spcPts val="0"/>
              </a:spcAft>
            </a:pPr>
            <a:r>
              <a:rPr sz="900" b="1" i="0">
                <a:solidFill>
                  <a:srgbClr val="1B2B3C"/>
                </a:solidFill>
                <a:latin typeface="Calibri"/>
              </a:rPr>
              <a:t>Tools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88375" y="2542032"/>
            <a:ext cx="284378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630"/>
              </a:lnSpc>
              <a:spcAft>
                <a:spcPts val="0"/>
              </a:spcAft>
            </a:pPr>
            <a:r>
              <a:rPr sz="600" b="0" i="0">
                <a:solidFill>
                  <a:srgbClr val="5B6B7C"/>
                </a:solidFill>
                <a:latin typeface="Calibri"/>
              </a:rPr>
              <a:t>MCP / API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378647" y="3017520"/>
            <a:ext cx="3063240" cy="51206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9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378647" y="3017520"/>
            <a:ext cx="73152" cy="512064"/>
          </a:xfrm>
          <a:prstGeom prst="rect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488375" y="3090672"/>
            <a:ext cx="2843784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945"/>
              </a:lnSpc>
              <a:spcAft>
                <a:spcPts val="0"/>
              </a:spcAft>
            </a:pPr>
            <a:r>
              <a:rPr sz="900" b="1" i="0">
                <a:solidFill>
                  <a:srgbClr val="1B2B3C"/>
                </a:solidFill>
                <a:latin typeface="Calibri"/>
              </a:rPr>
              <a:t>Surface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88375" y="3273552"/>
            <a:ext cx="284378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630"/>
              </a:lnSpc>
              <a:spcAft>
                <a:spcPts val="0"/>
              </a:spcAft>
            </a:pPr>
            <a:r>
              <a:rPr sz="600" b="0" i="0">
                <a:solidFill>
                  <a:srgbClr val="5B6B7C"/>
                </a:solidFill>
                <a:latin typeface="Calibri"/>
              </a:rPr>
              <a:t>canvas / docs</a:t>
            </a:r>
          </a:p>
        </p:txBody>
      </p:sp>
      <p:sp>
        <p:nvSpPr>
          <p:cNvPr id="50" name="Rectangle 49"/>
          <p:cNvSpPr/>
          <p:nvPr/>
        </p:nvSpPr>
        <p:spPr>
          <a:xfrm rot="5400000">
            <a:off x="9795967" y="1407414"/>
            <a:ext cx="182880" cy="381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 rot="5400000">
            <a:off x="9795966" y="2138933"/>
            <a:ext cx="182881" cy="381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 rot="5400000">
            <a:off x="9795967" y="2870454"/>
            <a:ext cx="182880" cy="38100"/>
          </a:xfrm>
          <a:prstGeom prst="rect">
            <a:avLst/>
          </a:prstGeom>
          <a:solidFill>
            <a:srgbClr val="E05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8378647" y="3977639"/>
            <a:ext cx="3063240" cy="960120"/>
          </a:xfrm>
          <a:prstGeom prst="roundRect">
            <a:avLst/>
          </a:prstGeom>
          <a:solidFill>
            <a:srgbClr val="F4F7F8"/>
          </a:solidFill>
          <a:ln w="1524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378647" y="3977639"/>
            <a:ext cx="73152" cy="96012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488375" y="4050791"/>
            <a:ext cx="2843784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945"/>
              </a:lnSpc>
              <a:spcAft>
                <a:spcPts val="0"/>
              </a:spcAft>
            </a:pPr>
            <a:r>
              <a:rPr sz="900" b="1" i="0">
                <a:solidFill>
                  <a:srgbClr val="1B2B3C"/>
                </a:solidFill>
                <a:latin typeface="Calibri"/>
              </a:rPr>
              <a:t>Memory write-back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488375" y="4233671"/>
            <a:ext cx="2843784" cy="667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651"/>
              </a:lnSpc>
              <a:spcAft>
                <a:spcPts val="0"/>
              </a:spcAft>
            </a:pPr>
            <a:r>
              <a:rPr sz="620" b="0" i="0">
                <a:solidFill>
                  <a:srgbClr val="5B6B7C"/>
                </a:solidFill>
                <a:latin typeface="Calibri"/>
              </a:rPr>
              <a:t>Approved output returns as context for the next turn.</a:t>
            </a:r>
            <a:br/>
            <a:r>
              <a:rPr sz="620" b="0" i="0">
                <a:solidFill>
                  <a:srgbClr val="5B6B7C"/>
                </a:solidFill>
                <a:latin typeface="Calibri"/>
              </a:rPr>
              <a:t>That is what makes quality compound over time.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378647" y="5166360"/>
            <a:ext cx="3063240" cy="685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8378647" y="5166360"/>
            <a:ext cx="73152" cy="6858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488375" y="5239512"/>
            <a:ext cx="2843784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945"/>
              </a:lnSpc>
              <a:spcAft>
                <a:spcPts val="0"/>
              </a:spcAft>
            </a:pPr>
            <a:r>
              <a:rPr sz="900" b="1" i="0">
                <a:solidFill>
                  <a:srgbClr val="1B2B3C"/>
                </a:solidFill>
                <a:latin typeface="Calibri"/>
              </a:rPr>
              <a:t>Outcome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488375" y="5422392"/>
            <a:ext cx="2843784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714"/>
              </a:lnSpc>
              <a:spcAft>
                <a:spcPts val="0"/>
              </a:spcAft>
            </a:pPr>
            <a:r>
              <a:rPr sz="680" b="0" i="0">
                <a:solidFill>
                  <a:srgbClr val="5B6B7C"/>
                </a:solidFill>
                <a:latin typeface="Calibri"/>
              </a:rPr>
              <a:t>A loop, not a silo.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56032" y="6492240"/>
            <a:ext cx="4023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735"/>
              </a:lnSpc>
              <a:spcAft>
                <a:spcPts val="0"/>
              </a:spcAft>
            </a:pPr>
            <a:r>
              <a:rPr sz="700" b="0" i="0">
                <a:solidFill>
                  <a:srgbClr val="888899"/>
                </a:solidFill>
                <a:latin typeface="Calibri"/>
              </a:rPr>
              <a:t>Agent-Native Apps | Canva-style Brief | June 2026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231575" y="6492240"/>
            <a:ext cx="7315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ts val="735"/>
              </a:lnSpc>
              <a:spcAft>
                <a:spcPts val="0"/>
              </a:spcAft>
            </a:pPr>
            <a:r>
              <a:rPr sz="700" b="0" i="0">
                <a:solidFill>
                  <a:srgbClr val="888899"/>
                </a:solidFill>
                <a:latin typeface="Calibri"/>
              </a:rPr>
              <a:t>4 / 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076895" cy="68580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752825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2205"/>
              </a:lnSpc>
              <a:spcAft>
                <a:spcPts val="0"/>
              </a:spcAft>
            </a:pPr>
            <a:r>
              <a:rPr sz="2100" b="1" i="0">
                <a:solidFill>
                  <a:srgbClr val="FFFFFF"/>
                </a:solidFill>
                <a:latin typeface="Calibri"/>
              </a:rPr>
              <a:t>What makes something agent-native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658368"/>
            <a:ext cx="1645920" cy="27432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822960"/>
            <a:ext cx="7436815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102"/>
              </a:lnSpc>
              <a:spcAft>
                <a:spcPts val="0"/>
              </a:spcAft>
            </a:pPr>
            <a:r>
              <a:rPr sz="1050" b="0" i="0">
                <a:solidFill>
                  <a:srgbClr val="E0F7F1"/>
                </a:solidFill>
                <a:latin typeface="Calibri"/>
              </a:rPr>
              <a:t>The product needs four ingredients before it is truly BYO-agent friendly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69264"/>
            <a:ext cx="7436815" cy="420624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1024128"/>
            <a:ext cx="7290511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798"/>
              </a:lnSpc>
              <a:spcAft>
                <a:spcPts val="0"/>
              </a:spcAft>
            </a:pPr>
            <a:r>
              <a:rPr sz="760" b="0" i="0">
                <a:solidFill>
                  <a:srgbClr val="1B2B3C"/>
                </a:solidFill>
                <a:latin typeface="Calibri"/>
              </a:rPr>
              <a:t>Agent-native software combines context, tools, a shared surface, and memory write-back.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463040"/>
            <a:ext cx="3611880" cy="2176272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463040"/>
            <a:ext cx="3611880" cy="310896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" y="1508760"/>
            <a:ext cx="3465576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987"/>
              </a:lnSpc>
              <a:spcAft>
                <a:spcPts val="0"/>
              </a:spcAft>
            </a:pPr>
            <a:r>
              <a:rPr sz="940" b="1" i="0">
                <a:solidFill>
                  <a:srgbClr val="FFFFFF"/>
                </a:solidFill>
                <a:latin typeface="Calibri"/>
              </a:rPr>
              <a:t>Required ingredients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" y="1847088"/>
            <a:ext cx="3465576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772"/>
              </a:lnSpc>
              <a:spcBef>
                <a:spcPts val="0"/>
              </a:spcBef>
              <a:spcAft>
                <a:spcPts val="100"/>
              </a:spcAft>
            </a:pPr>
            <a:r>
              <a:rPr sz="840">
                <a:solidFill>
                  <a:srgbClr val="1B2B3C"/>
                </a:solidFill>
                <a:latin typeface="Calibri"/>
              </a:rPr>
              <a:t>• Context: local files, notes, assets, and reusable memory.</a:t>
            </a:r>
          </a:p>
          <a:p>
            <a:pPr>
              <a:lnSpc>
                <a:spcPts val="772"/>
              </a:lnSpc>
              <a:spcBef>
                <a:spcPts val="0"/>
              </a:spcBef>
              <a:spcAft>
                <a:spcPts val="100"/>
              </a:spcAft>
            </a:pPr>
            <a:r>
              <a:rPr sz="840">
                <a:solidFill>
                  <a:srgbClr val="1B2B3C"/>
                </a:solidFill>
                <a:latin typeface="Calibri"/>
              </a:rPr>
              <a:t>• Tools: MCP, CLI, API, or browser access that the agent can call.</a:t>
            </a:r>
          </a:p>
          <a:p>
            <a:pPr>
              <a:lnSpc>
                <a:spcPts val="772"/>
              </a:lnSpc>
              <a:spcBef>
                <a:spcPts val="0"/>
              </a:spcBef>
              <a:spcAft>
                <a:spcPts val="100"/>
              </a:spcAft>
            </a:pPr>
            <a:r>
              <a:rPr sz="840">
                <a:solidFill>
                  <a:srgbClr val="1B2B3C"/>
                </a:solidFill>
                <a:latin typeface="Calibri"/>
              </a:rPr>
              <a:t>• Surface: a shared workspace both human and agent can edit.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41648" y="1463040"/>
            <a:ext cx="3611880" cy="21762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041648" y="1463040"/>
            <a:ext cx="3611880" cy="310896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0" y="1508760"/>
            <a:ext cx="3465576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987"/>
              </a:lnSpc>
              <a:spcAft>
                <a:spcPts val="0"/>
              </a:spcAft>
            </a:pPr>
            <a:r>
              <a:rPr sz="940" b="1" i="0">
                <a:solidFill>
                  <a:srgbClr val="FFFFFF"/>
                </a:solidFill>
                <a:latin typeface="Calibri"/>
              </a:rPr>
              <a:t>What is missing without them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1847088"/>
            <a:ext cx="3465576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772"/>
              </a:lnSpc>
              <a:spcBef>
                <a:spcPts val="0"/>
              </a:spcBef>
              <a:spcAft>
                <a:spcPts val="100"/>
              </a:spcAft>
            </a:pPr>
            <a:r>
              <a:rPr sz="840">
                <a:solidFill>
                  <a:srgbClr val="1B2B3C"/>
                </a:solidFill>
                <a:latin typeface="Calibri"/>
              </a:rPr>
              <a:t>• Without context, the agent repeats instructions.</a:t>
            </a:r>
          </a:p>
          <a:p>
            <a:pPr>
              <a:lnSpc>
                <a:spcPts val="772"/>
              </a:lnSpc>
              <a:spcBef>
                <a:spcPts val="0"/>
              </a:spcBef>
              <a:spcAft>
                <a:spcPts val="100"/>
              </a:spcAft>
            </a:pPr>
            <a:r>
              <a:rPr sz="840">
                <a:solidFill>
                  <a:srgbClr val="1B2B3C"/>
                </a:solidFill>
                <a:latin typeface="Calibri"/>
              </a:rPr>
              <a:t>• Without tools, the agent can only suggest work.</a:t>
            </a:r>
          </a:p>
          <a:p>
            <a:pPr>
              <a:lnSpc>
                <a:spcPts val="772"/>
              </a:lnSpc>
              <a:spcBef>
                <a:spcPts val="0"/>
              </a:spcBef>
              <a:spcAft>
                <a:spcPts val="100"/>
              </a:spcAft>
            </a:pPr>
            <a:r>
              <a:rPr sz="840">
                <a:solidFill>
                  <a:srgbClr val="1B2B3C"/>
                </a:solidFill>
                <a:latin typeface="Calibri"/>
              </a:rPr>
              <a:t>• Without a shared surface, the work stays invisible.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794760"/>
            <a:ext cx="3611880" cy="1243584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3794760"/>
            <a:ext cx="3611880" cy="310896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" y="3840480"/>
            <a:ext cx="3465576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987"/>
              </a:lnSpc>
              <a:spcAft>
                <a:spcPts val="0"/>
              </a:spcAft>
            </a:pPr>
            <a:r>
              <a:rPr sz="940" b="1" i="0">
                <a:solidFill>
                  <a:srgbClr val="FFFFFF"/>
                </a:solidFill>
                <a:latin typeface="Calibri"/>
              </a:rPr>
              <a:t>Design outcome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" y="4178808"/>
            <a:ext cx="3465576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772"/>
              </a:lnSpc>
              <a:spcBef>
                <a:spcPts val="0"/>
              </a:spcBef>
              <a:spcAft>
                <a:spcPts val="100"/>
              </a:spcAft>
            </a:pPr>
            <a:r>
              <a:rPr sz="840">
                <a:solidFill>
                  <a:srgbClr val="1B2B3C"/>
                </a:solidFill>
                <a:latin typeface="Calibri"/>
              </a:rPr>
              <a:t>• The agent can act, the user can observe, and both can correct.</a:t>
            </a:r>
          </a:p>
          <a:p>
            <a:pPr>
              <a:lnSpc>
                <a:spcPts val="772"/>
              </a:lnSpc>
              <a:spcBef>
                <a:spcPts val="0"/>
              </a:spcBef>
              <a:spcAft>
                <a:spcPts val="100"/>
              </a:spcAft>
            </a:pPr>
            <a:r>
              <a:rPr sz="840">
                <a:solidFill>
                  <a:srgbClr val="1B2B3C"/>
                </a:solidFill>
                <a:latin typeface="Calibri"/>
              </a:rPr>
              <a:t>• The system becomes better because the workspace remembers.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041648" y="3794760"/>
            <a:ext cx="3611880" cy="12435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041648" y="3794760"/>
            <a:ext cx="3611880" cy="310896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0" y="3840480"/>
            <a:ext cx="3465576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987"/>
              </a:lnSpc>
              <a:spcAft>
                <a:spcPts val="0"/>
              </a:spcAft>
            </a:pPr>
            <a:r>
              <a:rPr sz="940" b="1" i="0">
                <a:solidFill>
                  <a:srgbClr val="FFFFFF"/>
                </a:solidFill>
                <a:latin typeface="Calibri"/>
              </a:rPr>
              <a:t>Definition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4178808"/>
            <a:ext cx="3465576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772"/>
              </a:lnSpc>
              <a:spcBef>
                <a:spcPts val="0"/>
              </a:spcBef>
              <a:spcAft>
                <a:spcPts val="100"/>
              </a:spcAft>
            </a:pPr>
            <a:r>
              <a:rPr sz="840">
                <a:solidFill>
                  <a:srgbClr val="1B2B3C"/>
                </a:solidFill>
                <a:latin typeface="Calibri"/>
              </a:rPr>
              <a:t>• Agent-native software is software designed for the user's agent.</a:t>
            </a:r>
          </a:p>
          <a:p>
            <a:pPr>
              <a:lnSpc>
                <a:spcPts val="772"/>
              </a:lnSpc>
              <a:spcBef>
                <a:spcPts val="0"/>
              </a:spcBef>
              <a:spcAft>
                <a:spcPts val="100"/>
              </a:spcAft>
            </a:pPr>
            <a:r>
              <a:rPr sz="840">
                <a:solidFill>
                  <a:srgbClr val="1B2B3C"/>
                </a:solidFill>
                <a:latin typeface="Calibri"/>
              </a:rPr>
              <a:t>• The app is the surface, not the intelligence container.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5212080"/>
            <a:ext cx="987552" cy="310896"/>
          </a:xfrm>
          <a:prstGeom prst="rect">
            <a:avLst/>
          </a:prstGeom>
          <a:solidFill>
            <a:srgbClr val="008F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3192" y="5248656"/>
            <a:ext cx="93268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714"/>
              </a:lnSpc>
              <a:spcAft>
                <a:spcPts val="0"/>
              </a:spcAft>
            </a:pPr>
            <a:r>
              <a:rPr sz="680" b="1" i="0">
                <a:solidFill>
                  <a:srgbClr val="FFFFFF"/>
                </a:solidFill>
                <a:latin typeface="Calibri"/>
              </a:rPr>
              <a:t>Context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426464" y="5212080"/>
            <a:ext cx="841248" cy="310896"/>
          </a:xfrm>
          <a:prstGeom prst="rect">
            <a:avLst/>
          </a:prstGeom>
          <a:solidFill>
            <a:srgbClr val="008F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53896" y="5248656"/>
            <a:ext cx="786384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714"/>
              </a:lnSpc>
              <a:spcAft>
                <a:spcPts val="0"/>
              </a:spcAft>
            </a:pPr>
            <a:r>
              <a:rPr sz="680" b="1" i="0">
                <a:solidFill>
                  <a:srgbClr val="FFFFFF"/>
                </a:solidFill>
                <a:latin typeface="Calibri"/>
              </a:rPr>
              <a:t>Tools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340864" y="5212080"/>
            <a:ext cx="987552" cy="310896"/>
          </a:xfrm>
          <a:prstGeom prst="rect">
            <a:avLst/>
          </a:prstGeom>
          <a:solidFill>
            <a:srgbClr val="008F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368296" y="5248656"/>
            <a:ext cx="93268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714"/>
              </a:lnSpc>
              <a:spcAft>
                <a:spcPts val="0"/>
              </a:spcAft>
            </a:pPr>
            <a:r>
              <a:rPr sz="680" b="1" i="0">
                <a:solidFill>
                  <a:srgbClr val="FFFFFF"/>
                </a:solidFill>
                <a:latin typeface="Calibri"/>
              </a:rPr>
              <a:t>Surface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401568" y="5212080"/>
            <a:ext cx="905256" cy="310896"/>
          </a:xfrm>
          <a:prstGeom prst="rect">
            <a:avLst/>
          </a:prstGeom>
          <a:solidFill>
            <a:srgbClr val="008F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29000" y="5248656"/>
            <a:ext cx="850392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714"/>
              </a:lnSpc>
              <a:spcAft>
                <a:spcPts val="0"/>
              </a:spcAft>
            </a:pPr>
            <a:r>
              <a:rPr sz="680" b="1" i="0">
                <a:solidFill>
                  <a:srgbClr val="FFFFFF"/>
                </a:solidFill>
                <a:latin typeface="Calibri"/>
              </a:rPr>
              <a:t>Memory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5532120"/>
            <a:ext cx="7619695" cy="512064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" y="5623560"/>
            <a:ext cx="7436815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197"/>
              </a:lnSpc>
              <a:spcAft>
                <a:spcPts val="0"/>
              </a:spcAft>
            </a:pPr>
            <a:r>
              <a:rPr sz="1140" b="1" i="0">
                <a:solidFill>
                  <a:srgbClr val="FFFFFF"/>
                </a:solidFill>
                <a:latin typeface="Calibri"/>
              </a:rPr>
              <a:t>Agent-native means shared context + tool access + visible collaboration + compounding memory.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76895" y="0"/>
            <a:ext cx="4114800" cy="6858000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186623" y="109728"/>
            <a:ext cx="3895344" cy="66385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378647" y="822960"/>
            <a:ext cx="3063240" cy="51206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378647" y="822960"/>
            <a:ext cx="73152" cy="51206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88375" y="896112"/>
            <a:ext cx="2843784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945"/>
              </a:lnSpc>
              <a:spcAft>
                <a:spcPts val="0"/>
              </a:spcAft>
            </a:pPr>
            <a:r>
              <a:rPr sz="900" b="1" i="0">
                <a:solidFill>
                  <a:srgbClr val="1B2B3C"/>
                </a:solidFill>
                <a:latin typeface="Calibri"/>
              </a:rPr>
              <a:t>Context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88375" y="1078992"/>
            <a:ext cx="284378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630"/>
              </a:lnSpc>
              <a:spcAft>
                <a:spcPts val="0"/>
              </a:spcAft>
            </a:pPr>
            <a:r>
              <a:rPr sz="600" b="0" i="0">
                <a:solidFill>
                  <a:srgbClr val="5B6B7C"/>
                </a:solidFill>
                <a:latin typeface="Calibri"/>
              </a:rPr>
              <a:t>files / notes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378647" y="1554480"/>
            <a:ext cx="3063240" cy="51206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378647" y="1554480"/>
            <a:ext cx="73152" cy="512064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88375" y="1627632"/>
            <a:ext cx="2843784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945"/>
              </a:lnSpc>
              <a:spcAft>
                <a:spcPts val="0"/>
              </a:spcAft>
            </a:pPr>
            <a:r>
              <a:rPr sz="900" b="1" i="0">
                <a:solidFill>
                  <a:srgbClr val="1B2B3C"/>
                </a:solidFill>
                <a:latin typeface="Calibri"/>
              </a:rPr>
              <a:t>Agent loop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88375" y="1810512"/>
            <a:ext cx="284378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630"/>
              </a:lnSpc>
              <a:spcAft>
                <a:spcPts val="0"/>
              </a:spcAft>
            </a:pPr>
            <a:r>
              <a:rPr sz="600" b="0" i="0">
                <a:solidFill>
                  <a:srgbClr val="5B6B7C"/>
                </a:solidFill>
                <a:latin typeface="Calibri"/>
              </a:rPr>
              <a:t>Cursor / Codex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378647" y="2286000"/>
            <a:ext cx="3063240" cy="51206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05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378647" y="2286000"/>
            <a:ext cx="73152" cy="512064"/>
          </a:xfrm>
          <a:prstGeom prst="rect">
            <a:avLst/>
          </a:prstGeom>
          <a:solidFill>
            <a:srgbClr val="E05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88375" y="2359152"/>
            <a:ext cx="2843784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945"/>
              </a:lnSpc>
              <a:spcAft>
                <a:spcPts val="0"/>
              </a:spcAft>
            </a:pPr>
            <a:r>
              <a:rPr sz="900" b="1" i="0">
                <a:solidFill>
                  <a:srgbClr val="1B2B3C"/>
                </a:solidFill>
                <a:latin typeface="Calibri"/>
              </a:rPr>
              <a:t>Tools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88375" y="2542032"/>
            <a:ext cx="284378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630"/>
              </a:lnSpc>
              <a:spcAft>
                <a:spcPts val="0"/>
              </a:spcAft>
            </a:pPr>
            <a:r>
              <a:rPr sz="600" b="0" i="0">
                <a:solidFill>
                  <a:srgbClr val="5B6B7C"/>
                </a:solidFill>
                <a:latin typeface="Calibri"/>
              </a:rPr>
              <a:t>MCP / API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378647" y="3017520"/>
            <a:ext cx="3063240" cy="51206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9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378647" y="3017520"/>
            <a:ext cx="73152" cy="512064"/>
          </a:xfrm>
          <a:prstGeom prst="rect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488375" y="3090672"/>
            <a:ext cx="2843784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945"/>
              </a:lnSpc>
              <a:spcAft>
                <a:spcPts val="0"/>
              </a:spcAft>
            </a:pPr>
            <a:r>
              <a:rPr sz="900" b="1" i="0">
                <a:solidFill>
                  <a:srgbClr val="1B2B3C"/>
                </a:solidFill>
                <a:latin typeface="Calibri"/>
              </a:rPr>
              <a:t>Surface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88375" y="3273552"/>
            <a:ext cx="284378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630"/>
              </a:lnSpc>
              <a:spcAft>
                <a:spcPts val="0"/>
              </a:spcAft>
            </a:pPr>
            <a:r>
              <a:rPr sz="600" b="0" i="0">
                <a:solidFill>
                  <a:srgbClr val="5B6B7C"/>
                </a:solidFill>
                <a:latin typeface="Calibri"/>
              </a:rPr>
              <a:t>canvas / docs</a:t>
            </a:r>
          </a:p>
        </p:txBody>
      </p:sp>
      <p:sp>
        <p:nvSpPr>
          <p:cNvPr id="52" name="Rectangle 51"/>
          <p:cNvSpPr/>
          <p:nvPr/>
        </p:nvSpPr>
        <p:spPr>
          <a:xfrm rot="5400000">
            <a:off x="9795967" y="1407414"/>
            <a:ext cx="182880" cy="381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 rot="5400000">
            <a:off x="9795966" y="2138933"/>
            <a:ext cx="182881" cy="381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 rot="5400000">
            <a:off x="9795967" y="2870454"/>
            <a:ext cx="182880" cy="38100"/>
          </a:xfrm>
          <a:prstGeom prst="rect">
            <a:avLst/>
          </a:prstGeom>
          <a:solidFill>
            <a:srgbClr val="E05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8378647" y="3977639"/>
            <a:ext cx="3063240" cy="960120"/>
          </a:xfrm>
          <a:prstGeom prst="roundRect">
            <a:avLst/>
          </a:prstGeom>
          <a:solidFill>
            <a:srgbClr val="F4F7F8"/>
          </a:solidFill>
          <a:ln w="1524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378647" y="3977639"/>
            <a:ext cx="73152" cy="96012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488375" y="4050791"/>
            <a:ext cx="2843784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945"/>
              </a:lnSpc>
              <a:spcAft>
                <a:spcPts val="0"/>
              </a:spcAft>
            </a:pPr>
            <a:r>
              <a:rPr sz="900" b="1" i="0">
                <a:solidFill>
                  <a:srgbClr val="1B2B3C"/>
                </a:solidFill>
                <a:latin typeface="Calibri"/>
              </a:rPr>
              <a:t>Memory write-back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488375" y="4233671"/>
            <a:ext cx="2843784" cy="667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651"/>
              </a:lnSpc>
              <a:spcAft>
                <a:spcPts val="0"/>
              </a:spcAft>
            </a:pPr>
            <a:r>
              <a:rPr sz="620" b="0" i="0">
                <a:solidFill>
                  <a:srgbClr val="5B6B7C"/>
                </a:solidFill>
                <a:latin typeface="Calibri"/>
              </a:rPr>
              <a:t>Approved output returns as context for the next turn.</a:t>
            </a:r>
            <a:br/>
            <a:r>
              <a:rPr sz="620" b="0" i="0">
                <a:solidFill>
                  <a:srgbClr val="5B6B7C"/>
                </a:solidFill>
                <a:latin typeface="Calibri"/>
              </a:rPr>
              <a:t>That is what makes quality compound over time.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378647" y="5166360"/>
            <a:ext cx="3063240" cy="685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8378647" y="5166360"/>
            <a:ext cx="73152" cy="6858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488375" y="5239512"/>
            <a:ext cx="2843784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945"/>
              </a:lnSpc>
              <a:spcAft>
                <a:spcPts val="0"/>
              </a:spcAft>
            </a:pPr>
            <a:r>
              <a:rPr sz="900" b="1" i="0">
                <a:solidFill>
                  <a:srgbClr val="1B2B3C"/>
                </a:solidFill>
                <a:latin typeface="Calibri"/>
              </a:rPr>
              <a:t>Outcome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488375" y="5422392"/>
            <a:ext cx="2843784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714"/>
              </a:lnSpc>
              <a:spcAft>
                <a:spcPts val="0"/>
              </a:spcAft>
            </a:pPr>
            <a:r>
              <a:rPr sz="680" b="0" i="0">
                <a:solidFill>
                  <a:srgbClr val="5B6B7C"/>
                </a:solidFill>
                <a:latin typeface="Calibri"/>
              </a:rPr>
              <a:t>A loop, not a silo.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56032" y="6492240"/>
            <a:ext cx="4023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735"/>
              </a:lnSpc>
              <a:spcAft>
                <a:spcPts val="0"/>
              </a:spcAft>
            </a:pPr>
            <a:r>
              <a:rPr sz="700" b="0" i="0">
                <a:solidFill>
                  <a:srgbClr val="888899"/>
                </a:solidFill>
                <a:latin typeface="Calibri"/>
              </a:rPr>
              <a:t>Agent-Native Apps | Canva-style Brief | June 2026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231575" y="6492240"/>
            <a:ext cx="7315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ts val="735"/>
              </a:lnSpc>
              <a:spcAft>
                <a:spcPts val="0"/>
              </a:spcAft>
            </a:pPr>
            <a:r>
              <a:rPr sz="700" b="0" i="0">
                <a:solidFill>
                  <a:srgbClr val="888899"/>
                </a:solidFill>
                <a:latin typeface="Calibri"/>
              </a:rPr>
              <a:t>5 / 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076895" cy="68580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752825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2205"/>
              </a:lnSpc>
              <a:spcAft>
                <a:spcPts val="0"/>
              </a:spcAft>
            </a:pPr>
            <a:r>
              <a:rPr sz="2100" b="1" i="0">
                <a:solidFill>
                  <a:srgbClr val="FFFFFF"/>
                </a:solidFill>
                <a:latin typeface="Calibri"/>
              </a:rPr>
              <a:t>Reference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658368"/>
            <a:ext cx="1645920" cy="27432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822960"/>
            <a:ext cx="7436815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102"/>
              </a:lnSpc>
              <a:spcAft>
                <a:spcPts val="0"/>
              </a:spcAft>
            </a:pPr>
            <a:r>
              <a:rPr sz="1050" b="0" i="0">
                <a:solidFill>
                  <a:srgbClr val="E0F7F1"/>
                </a:solidFill>
                <a:latin typeface="Calibri"/>
              </a:rPr>
              <a:t>Context → agent loop → shared surface → outcome → memory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69264"/>
            <a:ext cx="7436815" cy="420624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1024128"/>
            <a:ext cx="7290511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798"/>
              </a:lnSpc>
              <a:spcAft>
                <a:spcPts val="0"/>
              </a:spcAft>
            </a:pPr>
            <a:r>
              <a:rPr sz="760" b="0" i="0">
                <a:solidFill>
                  <a:srgbClr val="1B2B3C"/>
                </a:solidFill>
                <a:latin typeface="Calibri"/>
              </a:rPr>
              <a:t>The system is a loop: context, agent, tools, surface, and write-back.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463040"/>
            <a:ext cx="3611880" cy="2176272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463040"/>
            <a:ext cx="3611880" cy="310896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" y="1508760"/>
            <a:ext cx="3465576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987"/>
              </a:lnSpc>
              <a:spcAft>
                <a:spcPts val="0"/>
              </a:spcAft>
            </a:pPr>
            <a:r>
              <a:rPr sz="940" b="1" i="0">
                <a:solidFill>
                  <a:srgbClr val="FFFFFF"/>
                </a:solidFill>
                <a:latin typeface="Calibri"/>
              </a:rPr>
              <a:t>Context 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" y="1847088"/>
            <a:ext cx="3465576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772"/>
              </a:lnSpc>
              <a:spcBef>
                <a:spcPts val="0"/>
              </a:spcBef>
              <a:spcAft>
                <a:spcPts val="100"/>
              </a:spcAft>
            </a:pPr>
            <a:r>
              <a:rPr sz="840">
                <a:solidFill>
                  <a:srgbClr val="1B2B3C"/>
                </a:solidFill>
                <a:latin typeface="Calibri"/>
              </a:rPr>
              <a:t>• Local files, brand rules, task notes, and project assets.</a:t>
            </a:r>
          </a:p>
          <a:p>
            <a:pPr>
              <a:lnSpc>
                <a:spcPts val="772"/>
              </a:lnSpc>
              <a:spcBef>
                <a:spcPts val="0"/>
              </a:spcBef>
              <a:spcAft>
                <a:spcPts val="100"/>
              </a:spcAft>
            </a:pPr>
            <a:r>
              <a:rPr sz="840">
                <a:solidFill>
                  <a:srgbClr val="1B2B3C"/>
                </a:solidFill>
                <a:latin typeface="Calibri"/>
              </a:rPr>
              <a:t>• This is the durable knowledge the agent should re-use.</a:t>
            </a:r>
          </a:p>
          <a:p>
            <a:pPr>
              <a:lnSpc>
                <a:spcPts val="772"/>
              </a:lnSpc>
              <a:spcBef>
                <a:spcPts val="0"/>
              </a:spcBef>
              <a:spcAft>
                <a:spcPts val="100"/>
              </a:spcAft>
            </a:pPr>
            <a:r>
              <a:rPr sz="840">
                <a:solidFill>
                  <a:srgbClr val="1B2B3C"/>
                </a:solidFill>
                <a:latin typeface="Calibri"/>
              </a:rPr>
              <a:t>• It makes the product consistent across runs.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41648" y="1463040"/>
            <a:ext cx="3611880" cy="21762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041648" y="1463040"/>
            <a:ext cx="3611880" cy="310896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0" y="1508760"/>
            <a:ext cx="3465576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987"/>
              </a:lnSpc>
              <a:spcAft>
                <a:spcPts val="0"/>
              </a:spcAft>
            </a:pPr>
            <a:r>
              <a:rPr sz="940" b="1" i="0">
                <a:solidFill>
                  <a:srgbClr val="FFFFFF"/>
                </a:solidFill>
                <a:latin typeface="Calibri"/>
              </a:rPr>
              <a:t>Execution layer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1847088"/>
            <a:ext cx="3465576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772"/>
              </a:lnSpc>
              <a:spcBef>
                <a:spcPts val="0"/>
              </a:spcBef>
              <a:spcAft>
                <a:spcPts val="100"/>
              </a:spcAft>
            </a:pPr>
            <a:r>
              <a:rPr sz="840">
                <a:solidFill>
                  <a:srgbClr val="1B2B3C"/>
                </a:solidFill>
                <a:latin typeface="Calibri"/>
              </a:rPr>
              <a:t>• Cursor, Codex, or another host runs the agent loop.</a:t>
            </a:r>
          </a:p>
          <a:p>
            <a:pPr>
              <a:lnSpc>
                <a:spcPts val="772"/>
              </a:lnSpc>
              <a:spcBef>
                <a:spcPts val="0"/>
              </a:spcBef>
              <a:spcAft>
                <a:spcPts val="100"/>
              </a:spcAft>
            </a:pPr>
            <a:r>
              <a:rPr sz="840">
                <a:solidFill>
                  <a:srgbClr val="1B2B3C"/>
                </a:solidFill>
                <a:latin typeface="Calibri"/>
              </a:rPr>
              <a:t>• The agent calls tools instead of hand-waving the work.</a:t>
            </a:r>
          </a:p>
          <a:p>
            <a:pPr>
              <a:lnSpc>
                <a:spcPts val="772"/>
              </a:lnSpc>
              <a:spcBef>
                <a:spcPts val="0"/>
              </a:spcBef>
              <a:spcAft>
                <a:spcPts val="100"/>
              </a:spcAft>
            </a:pPr>
            <a:r>
              <a:rPr sz="840">
                <a:solidFill>
                  <a:srgbClr val="1B2B3C"/>
                </a:solidFill>
                <a:latin typeface="Calibri"/>
              </a:rPr>
              <a:t>• The loop can check, correct, and continue.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794760"/>
            <a:ext cx="3611880" cy="1243584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3794760"/>
            <a:ext cx="3611880" cy="310896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" y="3840480"/>
            <a:ext cx="3465576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987"/>
              </a:lnSpc>
              <a:spcAft>
                <a:spcPts val="0"/>
              </a:spcAft>
            </a:pPr>
            <a:r>
              <a:rPr sz="940" b="1" i="0">
                <a:solidFill>
                  <a:srgbClr val="FFFFFF"/>
                </a:solidFill>
                <a:latin typeface="Calibri"/>
              </a:rPr>
              <a:t>Shared surface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" y="4178808"/>
            <a:ext cx="3465576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772"/>
              </a:lnSpc>
              <a:spcBef>
                <a:spcPts val="0"/>
              </a:spcBef>
              <a:spcAft>
                <a:spcPts val="100"/>
              </a:spcAft>
            </a:pPr>
            <a:r>
              <a:rPr sz="840">
                <a:solidFill>
                  <a:srgbClr val="1B2B3C"/>
                </a:solidFill>
                <a:latin typeface="Calibri"/>
              </a:rPr>
              <a:t>• The canvas, document, sheet, or browser where work is visible.</a:t>
            </a:r>
          </a:p>
          <a:p>
            <a:pPr>
              <a:lnSpc>
                <a:spcPts val="772"/>
              </a:lnSpc>
              <a:spcBef>
                <a:spcPts val="0"/>
              </a:spcBef>
              <a:spcAft>
                <a:spcPts val="100"/>
              </a:spcAft>
            </a:pPr>
            <a:r>
              <a:rPr sz="840">
                <a:solidFill>
                  <a:srgbClr val="1B2B3C"/>
                </a:solidFill>
                <a:latin typeface="Calibri"/>
              </a:rPr>
              <a:t>• This is where humans can review and intervene.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041648" y="3794760"/>
            <a:ext cx="3611880" cy="12435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041648" y="3794760"/>
            <a:ext cx="3611880" cy="310896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0" y="3840480"/>
            <a:ext cx="3465576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987"/>
              </a:lnSpc>
              <a:spcAft>
                <a:spcPts val="0"/>
              </a:spcAft>
            </a:pPr>
            <a:r>
              <a:rPr sz="940" b="1" i="0">
                <a:solidFill>
                  <a:srgbClr val="FFFFFF"/>
                </a:solidFill>
                <a:latin typeface="Calibri"/>
              </a:rPr>
              <a:t>Memory / write-back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4178808"/>
            <a:ext cx="3465576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772"/>
              </a:lnSpc>
              <a:spcBef>
                <a:spcPts val="0"/>
              </a:spcBef>
              <a:spcAft>
                <a:spcPts val="100"/>
              </a:spcAft>
            </a:pPr>
            <a:r>
              <a:rPr sz="840">
                <a:solidFill>
                  <a:srgbClr val="1B2B3C"/>
                </a:solidFill>
                <a:latin typeface="Calibri"/>
              </a:rPr>
              <a:t>• The output becomes context for the next turn.</a:t>
            </a:r>
          </a:p>
          <a:p>
            <a:pPr>
              <a:lnSpc>
                <a:spcPts val="772"/>
              </a:lnSpc>
              <a:spcBef>
                <a:spcPts val="0"/>
              </a:spcBef>
              <a:spcAft>
                <a:spcPts val="100"/>
              </a:spcAft>
            </a:pPr>
            <a:r>
              <a:rPr sz="840">
                <a:solidFill>
                  <a:srgbClr val="1B2B3C"/>
                </a:solidFill>
                <a:latin typeface="Calibri"/>
              </a:rPr>
              <a:t>• That write-back is what lets quality compound.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5212080"/>
            <a:ext cx="987552" cy="310896"/>
          </a:xfrm>
          <a:prstGeom prst="rect">
            <a:avLst/>
          </a:prstGeom>
          <a:solidFill>
            <a:srgbClr val="008F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3192" y="5248656"/>
            <a:ext cx="93268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714"/>
              </a:lnSpc>
              <a:spcAft>
                <a:spcPts val="0"/>
              </a:spcAft>
            </a:pPr>
            <a:r>
              <a:rPr sz="680" b="1" i="0">
                <a:solidFill>
                  <a:srgbClr val="FFFFFF"/>
                </a:solidFill>
                <a:latin typeface="Calibri"/>
              </a:rPr>
              <a:t>Context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426464" y="5212080"/>
            <a:ext cx="841248" cy="310896"/>
          </a:xfrm>
          <a:prstGeom prst="rect">
            <a:avLst/>
          </a:prstGeom>
          <a:solidFill>
            <a:srgbClr val="008F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53896" y="5248656"/>
            <a:ext cx="786384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714"/>
              </a:lnSpc>
              <a:spcAft>
                <a:spcPts val="0"/>
              </a:spcAft>
            </a:pPr>
            <a:r>
              <a:rPr sz="680" b="1" i="0">
                <a:solidFill>
                  <a:srgbClr val="FFFFFF"/>
                </a:solidFill>
                <a:latin typeface="Calibri"/>
              </a:rPr>
              <a:t>Agent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340864" y="5212080"/>
            <a:ext cx="987552" cy="310896"/>
          </a:xfrm>
          <a:prstGeom prst="rect">
            <a:avLst/>
          </a:prstGeom>
          <a:solidFill>
            <a:srgbClr val="008F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368296" y="5248656"/>
            <a:ext cx="93268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714"/>
              </a:lnSpc>
              <a:spcAft>
                <a:spcPts val="0"/>
              </a:spcAft>
            </a:pPr>
            <a:r>
              <a:rPr sz="680" b="1" i="0">
                <a:solidFill>
                  <a:srgbClr val="FFFFFF"/>
                </a:solidFill>
                <a:latin typeface="Calibri"/>
              </a:rPr>
              <a:t>Surface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401568" y="5212080"/>
            <a:ext cx="905256" cy="310896"/>
          </a:xfrm>
          <a:prstGeom prst="rect">
            <a:avLst/>
          </a:prstGeom>
          <a:solidFill>
            <a:srgbClr val="008F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29000" y="5248656"/>
            <a:ext cx="850392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714"/>
              </a:lnSpc>
              <a:spcAft>
                <a:spcPts val="0"/>
              </a:spcAft>
            </a:pPr>
            <a:r>
              <a:rPr sz="680" b="1" i="0">
                <a:solidFill>
                  <a:srgbClr val="FFFFFF"/>
                </a:solidFill>
                <a:latin typeface="Calibri"/>
              </a:rPr>
              <a:t>Memory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5532120"/>
            <a:ext cx="7619695" cy="512064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" y="5623560"/>
            <a:ext cx="7436815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197"/>
              </a:lnSpc>
              <a:spcAft>
                <a:spcPts val="0"/>
              </a:spcAft>
            </a:pPr>
            <a:r>
              <a:rPr sz="1140" b="1" i="0">
                <a:solidFill>
                  <a:srgbClr val="FFFFFF"/>
                </a:solidFill>
                <a:latin typeface="Calibri"/>
              </a:rPr>
              <a:t>Read left to right: context feeds the agent, tools move it into the app, and write-back turns output into future context.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76895" y="0"/>
            <a:ext cx="4114800" cy="6858000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186623" y="109728"/>
            <a:ext cx="3895344" cy="66385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378647" y="822960"/>
            <a:ext cx="3063240" cy="51206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378647" y="822960"/>
            <a:ext cx="73152" cy="51206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88375" y="896112"/>
            <a:ext cx="2843784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945"/>
              </a:lnSpc>
              <a:spcAft>
                <a:spcPts val="0"/>
              </a:spcAft>
            </a:pPr>
            <a:r>
              <a:rPr sz="900" b="1" i="0">
                <a:solidFill>
                  <a:srgbClr val="1B2B3C"/>
                </a:solidFill>
                <a:latin typeface="Calibri"/>
              </a:rPr>
              <a:t>Context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88375" y="1078992"/>
            <a:ext cx="284378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630"/>
              </a:lnSpc>
              <a:spcAft>
                <a:spcPts val="0"/>
              </a:spcAft>
            </a:pPr>
            <a:r>
              <a:rPr sz="600" b="0" i="0">
                <a:solidFill>
                  <a:srgbClr val="5B6B7C"/>
                </a:solidFill>
                <a:latin typeface="Calibri"/>
              </a:rPr>
              <a:t>files / notes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378647" y="1554480"/>
            <a:ext cx="3063240" cy="51206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378647" y="1554480"/>
            <a:ext cx="73152" cy="512064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88375" y="1627632"/>
            <a:ext cx="2843784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945"/>
              </a:lnSpc>
              <a:spcAft>
                <a:spcPts val="0"/>
              </a:spcAft>
            </a:pPr>
            <a:r>
              <a:rPr sz="900" b="1" i="0">
                <a:solidFill>
                  <a:srgbClr val="1B2B3C"/>
                </a:solidFill>
                <a:latin typeface="Calibri"/>
              </a:rPr>
              <a:t>Agent loop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88375" y="1810512"/>
            <a:ext cx="284378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630"/>
              </a:lnSpc>
              <a:spcAft>
                <a:spcPts val="0"/>
              </a:spcAft>
            </a:pPr>
            <a:r>
              <a:rPr sz="600" b="0" i="0">
                <a:solidFill>
                  <a:srgbClr val="5B6B7C"/>
                </a:solidFill>
                <a:latin typeface="Calibri"/>
              </a:rPr>
              <a:t>Cursor / Codex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378647" y="2286000"/>
            <a:ext cx="3063240" cy="51206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05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378647" y="2286000"/>
            <a:ext cx="73152" cy="512064"/>
          </a:xfrm>
          <a:prstGeom prst="rect">
            <a:avLst/>
          </a:prstGeom>
          <a:solidFill>
            <a:srgbClr val="E05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88375" y="2359152"/>
            <a:ext cx="2843784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945"/>
              </a:lnSpc>
              <a:spcAft>
                <a:spcPts val="0"/>
              </a:spcAft>
            </a:pPr>
            <a:r>
              <a:rPr sz="900" b="1" i="0">
                <a:solidFill>
                  <a:srgbClr val="1B2B3C"/>
                </a:solidFill>
                <a:latin typeface="Calibri"/>
              </a:rPr>
              <a:t>Tools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88375" y="2542032"/>
            <a:ext cx="284378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630"/>
              </a:lnSpc>
              <a:spcAft>
                <a:spcPts val="0"/>
              </a:spcAft>
            </a:pPr>
            <a:r>
              <a:rPr sz="600" b="0" i="0">
                <a:solidFill>
                  <a:srgbClr val="5B6B7C"/>
                </a:solidFill>
                <a:latin typeface="Calibri"/>
              </a:rPr>
              <a:t>MCP / API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378647" y="3017520"/>
            <a:ext cx="3063240" cy="51206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9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378647" y="3017520"/>
            <a:ext cx="73152" cy="512064"/>
          </a:xfrm>
          <a:prstGeom prst="rect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488375" y="3090672"/>
            <a:ext cx="2843784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945"/>
              </a:lnSpc>
              <a:spcAft>
                <a:spcPts val="0"/>
              </a:spcAft>
            </a:pPr>
            <a:r>
              <a:rPr sz="900" b="1" i="0">
                <a:solidFill>
                  <a:srgbClr val="1B2B3C"/>
                </a:solidFill>
                <a:latin typeface="Calibri"/>
              </a:rPr>
              <a:t>Surface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88375" y="3273552"/>
            <a:ext cx="284378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630"/>
              </a:lnSpc>
              <a:spcAft>
                <a:spcPts val="0"/>
              </a:spcAft>
            </a:pPr>
            <a:r>
              <a:rPr sz="600" b="0" i="0">
                <a:solidFill>
                  <a:srgbClr val="5B6B7C"/>
                </a:solidFill>
                <a:latin typeface="Calibri"/>
              </a:rPr>
              <a:t>canvas / docs</a:t>
            </a:r>
          </a:p>
        </p:txBody>
      </p:sp>
      <p:sp>
        <p:nvSpPr>
          <p:cNvPr id="52" name="Rectangle 51"/>
          <p:cNvSpPr/>
          <p:nvPr/>
        </p:nvSpPr>
        <p:spPr>
          <a:xfrm rot="5400000">
            <a:off x="9795967" y="1407414"/>
            <a:ext cx="182880" cy="381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 rot="5400000">
            <a:off x="9795966" y="2138933"/>
            <a:ext cx="182881" cy="381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 rot="5400000">
            <a:off x="9795967" y="2870454"/>
            <a:ext cx="182880" cy="38100"/>
          </a:xfrm>
          <a:prstGeom prst="rect">
            <a:avLst/>
          </a:prstGeom>
          <a:solidFill>
            <a:srgbClr val="E05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8378647" y="3977639"/>
            <a:ext cx="3063240" cy="960120"/>
          </a:xfrm>
          <a:prstGeom prst="roundRect">
            <a:avLst/>
          </a:prstGeom>
          <a:solidFill>
            <a:srgbClr val="F4F7F8"/>
          </a:solidFill>
          <a:ln w="1524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378647" y="3977639"/>
            <a:ext cx="73152" cy="96012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488375" y="4050791"/>
            <a:ext cx="2843784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945"/>
              </a:lnSpc>
              <a:spcAft>
                <a:spcPts val="0"/>
              </a:spcAft>
            </a:pPr>
            <a:r>
              <a:rPr sz="900" b="1" i="0">
                <a:solidFill>
                  <a:srgbClr val="1B2B3C"/>
                </a:solidFill>
                <a:latin typeface="Calibri"/>
              </a:rPr>
              <a:t>Memory write-back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488375" y="4233671"/>
            <a:ext cx="2843784" cy="667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651"/>
              </a:lnSpc>
              <a:spcAft>
                <a:spcPts val="0"/>
              </a:spcAft>
            </a:pPr>
            <a:r>
              <a:rPr sz="620" b="0" i="0">
                <a:solidFill>
                  <a:srgbClr val="5B6B7C"/>
                </a:solidFill>
                <a:latin typeface="Calibri"/>
              </a:rPr>
              <a:t>Approved output returns as context for the next turn.</a:t>
            </a:r>
            <a:br/>
            <a:r>
              <a:rPr sz="620" b="0" i="0">
                <a:solidFill>
                  <a:srgbClr val="5B6B7C"/>
                </a:solidFill>
                <a:latin typeface="Calibri"/>
              </a:rPr>
              <a:t>That is what makes quality compound over time.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378647" y="5166360"/>
            <a:ext cx="3063240" cy="685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8378647" y="5166360"/>
            <a:ext cx="73152" cy="6858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488375" y="5239512"/>
            <a:ext cx="2843784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945"/>
              </a:lnSpc>
              <a:spcAft>
                <a:spcPts val="0"/>
              </a:spcAft>
            </a:pPr>
            <a:r>
              <a:rPr sz="900" b="1" i="0">
                <a:solidFill>
                  <a:srgbClr val="1B2B3C"/>
                </a:solidFill>
                <a:latin typeface="Calibri"/>
              </a:rPr>
              <a:t>Outcome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488375" y="5422392"/>
            <a:ext cx="2843784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714"/>
              </a:lnSpc>
              <a:spcAft>
                <a:spcPts val="0"/>
              </a:spcAft>
            </a:pPr>
            <a:r>
              <a:rPr sz="680" b="0" i="0">
                <a:solidFill>
                  <a:srgbClr val="5B6B7C"/>
                </a:solidFill>
                <a:latin typeface="Calibri"/>
              </a:rPr>
              <a:t>A loop, not a silo.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56032" y="6492240"/>
            <a:ext cx="4023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735"/>
              </a:lnSpc>
              <a:spcAft>
                <a:spcPts val="0"/>
              </a:spcAft>
            </a:pPr>
            <a:r>
              <a:rPr sz="700" b="0" i="0">
                <a:solidFill>
                  <a:srgbClr val="888899"/>
                </a:solidFill>
                <a:latin typeface="Calibri"/>
              </a:rPr>
              <a:t>Agent-Native Apps | Canva-style Brief | June 2026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231575" y="6492240"/>
            <a:ext cx="7315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ts val="735"/>
              </a:lnSpc>
              <a:spcAft>
                <a:spcPts val="0"/>
              </a:spcAft>
            </a:pPr>
            <a:r>
              <a:rPr sz="700" b="0" i="0">
                <a:solidFill>
                  <a:srgbClr val="888899"/>
                </a:solidFill>
                <a:latin typeface="Calibri"/>
              </a:rPr>
              <a:t>6 / 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076895" cy="68580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752825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2205"/>
              </a:lnSpc>
              <a:spcAft>
                <a:spcPts val="0"/>
              </a:spcAft>
            </a:pPr>
            <a:r>
              <a:rPr sz="2100" b="1" i="0">
                <a:solidFill>
                  <a:srgbClr val="FFFFFF"/>
                </a:solidFill>
                <a:latin typeface="Calibri"/>
              </a:rPr>
              <a:t>Context layer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658368"/>
            <a:ext cx="1645920" cy="27432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822960"/>
            <a:ext cx="7436815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102"/>
              </a:lnSpc>
              <a:spcAft>
                <a:spcPts val="0"/>
              </a:spcAft>
            </a:pPr>
            <a:r>
              <a:rPr sz="1050" b="0" i="0">
                <a:solidFill>
                  <a:srgbClr val="E0F7F1"/>
                </a:solidFill>
                <a:latin typeface="Calibri"/>
              </a:rPr>
              <a:t>The system improves because the agent can re-read what it already learned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69264"/>
            <a:ext cx="7436815" cy="420624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1024128"/>
            <a:ext cx="7290511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798"/>
              </a:lnSpc>
              <a:spcAft>
                <a:spcPts val="0"/>
              </a:spcAft>
            </a:pPr>
            <a:r>
              <a:rPr sz="760" b="0" i="0">
                <a:solidFill>
                  <a:srgbClr val="1B2B3C"/>
                </a:solidFill>
                <a:latin typeface="Calibri"/>
              </a:rPr>
              <a:t>Files and project notes stop the agent from relearning the same truth every session.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463040"/>
            <a:ext cx="3611880" cy="2176272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463040"/>
            <a:ext cx="3611880" cy="310896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" y="1508760"/>
            <a:ext cx="3465576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987"/>
              </a:lnSpc>
              <a:spcAft>
                <a:spcPts val="0"/>
              </a:spcAft>
            </a:pPr>
            <a:r>
              <a:rPr sz="940" b="1" i="0">
                <a:solidFill>
                  <a:srgbClr val="FFFFFF"/>
                </a:solidFill>
                <a:latin typeface="Calibri"/>
              </a:rPr>
              <a:t>What belongs here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" y="1847088"/>
            <a:ext cx="3465576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772"/>
              </a:lnSpc>
              <a:spcBef>
                <a:spcPts val="0"/>
              </a:spcBef>
              <a:spcAft>
                <a:spcPts val="100"/>
              </a:spcAft>
            </a:pPr>
            <a:r>
              <a:rPr sz="840">
                <a:solidFill>
                  <a:srgbClr val="1B2B3C"/>
                </a:solidFill>
                <a:latin typeface="Calibri"/>
              </a:rPr>
              <a:t>• Markdown notes, decision logs, brand rules, and design specs.</a:t>
            </a:r>
          </a:p>
          <a:p>
            <a:pPr>
              <a:lnSpc>
                <a:spcPts val="772"/>
              </a:lnSpc>
              <a:spcBef>
                <a:spcPts val="0"/>
              </a:spcBef>
              <a:spcAft>
                <a:spcPts val="100"/>
              </a:spcAft>
            </a:pPr>
            <a:r>
              <a:rPr sz="840">
                <a:solidFill>
                  <a:srgbClr val="1B2B3C"/>
                </a:solidFill>
                <a:latin typeface="Calibri"/>
              </a:rPr>
              <a:t>• Assets, examples, and the history of what was approved.</a:t>
            </a:r>
          </a:p>
          <a:p>
            <a:pPr>
              <a:lnSpc>
                <a:spcPts val="772"/>
              </a:lnSpc>
              <a:spcBef>
                <a:spcPts val="0"/>
              </a:spcBef>
              <a:spcAft>
                <a:spcPts val="100"/>
              </a:spcAft>
            </a:pPr>
            <a:r>
              <a:rPr sz="840">
                <a:solidFill>
                  <a:srgbClr val="1B2B3C"/>
                </a:solidFill>
                <a:latin typeface="Calibri"/>
              </a:rPr>
              <a:t>• Any project truth the agent should not re-discover.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41648" y="1463040"/>
            <a:ext cx="3611880" cy="21762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041648" y="1463040"/>
            <a:ext cx="3611880" cy="310896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0" y="1508760"/>
            <a:ext cx="3465576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987"/>
              </a:lnSpc>
              <a:spcAft>
                <a:spcPts val="0"/>
              </a:spcAft>
            </a:pPr>
            <a:r>
              <a:rPr sz="940" b="1" i="0">
                <a:solidFill>
                  <a:srgbClr val="FFFFFF"/>
                </a:solidFill>
                <a:latin typeface="Calibri"/>
              </a:rPr>
              <a:t>Why it matters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1847088"/>
            <a:ext cx="3465576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772"/>
              </a:lnSpc>
              <a:spcBef>
                <a:spcPts val="0"/>
              </a:spcBef>
              <a:spcAft>
                <a:spcPts val="100"/>
              </a:spcAft>
            </a:pPr>
            <a:r>
              <a:rPr sz="840">
                <a:solidFill>
                  <a:srgbClr val="1B2B3C"/>
                </a:solidFill>
                <a:latin typeface="Calibri"/>
              </a:rPr>
              <a:t>• Context removes repetitive prompting and keeps output consistent.</a:t>
            </a:r>
          </a:p>
          <a:p>
            <a:pPr>
              <a:lnSpc>
                <a:spcPts val="772"/>
              </a:lnSpc>
              <a:spcBef>
                <a:spcPts val="0"/>
              </a:spcBef>
              <a:spcAft>
                <a:spcPts val="100"/>
              </a:spcAft>
            </a:pPr>
            <a:r>
              <a:rPr sz="840">
                <a:solidFill>
                  <a:srgbClr val="1B2B3C"/>
                </a:solidFill>
                <a:latin typeface="Calibri"/>
              </a:rPr>
              <a:t>• It compounds value over time instead of resetting every session.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794760"/>
            <a:ext cx="3611880" cy="1243584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3794760"/>
            <a:ext cx="3611880" cy="310896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" y="3840480"/>
            <a:ext cx="3465576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987"/>
              </a:lnSpc>
              <a:spcAft>
                <a:spcPts val="0"/>
              </a:spcAft>
            </a:pPr>
            <a:r>
              <a:rPr sz="940" b="1" i="0">
                <a:solidFill>
                  <a:srgbClr val="FFFFFF"/>
                </a:solidFill>
                <a:latin typeface="Calibri"/>
              </a:rPr>
              <a:t>Operational rule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" y="4178808"/>
            <a:ext cx="3465576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772"/>
              </a:lnSpc>
              <a:spcBef>
                <a:spcPts val="0"/>
              </a:spcBef>
              <a:spcAft>
                <a:spcPts val="100"/>
              </a:spcAft>
            </a:pPr>
            <a:r>
              <a:rPr sz="840">
                <a:solidFill>
                  <a:srgbClr val="1B2B3C"/>
                </a:solidFill>
                <a:latin typeface="Calibri"/>
              </a:rPr>
              <a:t>• Write reusable knowledge into files the agent can read.</a:t>
            </a:r>
          </a:p>
          <a:p>
            <a:pPr>
              <a:lnSpc>
                <a:spcPts val="772"/>
              </a:lnSpc>
              <a:spcBef>
                <a:spcPts val="0"/>
              </a:spcBef>
              <a:spcAft>
                <a:spcPts val="100"/>
              </a:spcAft>
            </a:pPr>
            <a:r>
              <a:rPr sz="840">
                <a:solidFill>
                  <a:srgbClr val="1B2B3C"/>
                </a:solidFill>
                <a:latin typeface="Calibri"/>
              </a:rPr>
              <a:t>• Treat those files as product surface area.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041648" y="3794760"/>
            <a:ext cx="3611880" cy="12435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041648" y="3794760"/>
            <a:ext cx="3611880" cy="310896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0" y="3840480"/>
            <a:ext cx="3465576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987"/>
              </a:lnSpc>
              <a:spcAft>
                <a:spcPts val="0"/>
              </a:spcAft>
            </a:pPr>
            <a:r>
              <a:rPr sz="940" b="1" i="0">
                <a:solidFill>
                  <a:srgbClr val="FFFFFF"/>
                </a:solidFill>
                <a:latin typeface="Calibri"/>
              </a:rPr>
              <a:t>Result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4178808"/>
            <a:ext cx="3465576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772"/>
              </a:lnSpc>
              <a:spcBef>
                <a:spcPts val="0"/>
              </a:spcBef>
              <a:spcAft>
                <a:spcPts val="100"/>
              </a:spcAft>
            </a:pPr>
            <a:r>
              <a:rPr sz="840">
                <a:solidFill>
                  <a:srgbClr val="1B2B3C"/>
                </a:solidFill>
                <a:latin typeface="Calibri"/>
              </a:rPr>
              <a:t>• The agent gets smarter without shipping code.</a:t>
            </a:r>
          </a:p>
          <a:p>
            <a:pPr>
              <a:lnSpc>
                <a:spcPts val="772"/>
              </a:lnSpc>
              <a:spcBef>
                <a:spcPts val="0"/>
              </a:spcBef>
              <a:spcAft>
                <a:spcPts val="100"/>
              </a:spcAft>
            </a:pPr>
            <a:r>
              <a:rPr sz="840">
                <a:solidFill>
                  <a:srgbClr val="1B2B3C"/>
                </a:solidFill>
                <a:latin typeface="Calibri"/>
              </a:rPr>
              <a:t>• The user sees the benefit in fewer corrections.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5212080"/>
            <a:ext cx="841248" cy="310896"/>
          </a:xfrm>
          <a:prstGeom prst="rect">
            <a:avLst/>
          </a:prstGeom>
          <a:solidFill>
            <a:srgbClr val="008F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3192" y="5248656"/>
            <a:ext cx="786384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714"/>
              </a:lnSpc>
              <a:spcAft>
                <a:spcPts val="0"/>
              </a:spcAft>
            </a:pPr>
            <a:r>
              <a:rPr sz="680" b="1" i="0">
                <a:solidFill>
                  <a:srgbClr val="FFFFFF"/>
                </a:solidFill>
                <a:latin typeface="Calibri"/>
              </a:rPr>
              <a:t>Files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280160" y="5212080"/>
            <a:ext cx="841248" cy="310896"/>
          </a:xfrm>
          <a:prstGeom prst="rect">
            <a:avLst/>
          </a:prstGeom>
          <a:solidFill>
            <a:srgbClr val="008F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07592" y="5248656"/>
            <a:ext cx="786384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714"/>
              </a:lnSpc>
              <a:spcAft>
                <a:spcPts val="0"/>
              </a:spcAft>
            </a:pPr>
            <a:r>
              <a:rPr sz="680" b="1" i="0">
                <a:solidFill>
                  <a:srgbClr val="FFFFFF"/>
                </a:solidFill>
                <a:latin typeface="Calibri"/>
              </a:rPr>
              <a:t>Notes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194560" y="5212080"/>
            <a:ext cx="905256" cy="310896"/>
          </a:xfrm>
          <a:prstGeom prst="rect">
            <a:avLst/>
          </a:prstGeom>
          <a:solidFill>
            <a:srgbClr val="008F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221992" y="5248656"/>
            <a:ext cx="850392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714"/>
              </a:lnSpc>
              <a:spcAft>
                <a:spcPts val="0"/>
              </a:spcAft>
            </a:pPr>
            <a:r>
              <a:rPr sz="680" b="1" i="0">
                <a:solidFill>
                  <a:srgbClr val="FFFFFF"/>
                </a:solidFill>
                <a:latin typeface="Calibri"/>
              </a:rPr>
              <a:t>Assets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172968" y="5212080"/>
            <a:ext cx="905256" cy="310896"/>
          </a:xfrm>
          <a:prstGeom prst="rect">
            <a:avLst/>
          </a:prstGeom>
          <a:solidFill>
            <a:srgbClr val="008F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00400" y="5248656"/>
            <a:ext cx="850392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714"/>
              </a:lnSpc>
              <a:spcAft>
                <a:spcPts val="0"/>
              </a:spcAft>
            </a:pPr>
            <a:r>
              <a:rPr sz="680" b="1" i="0">
                <a:solidFill>
                  <a:srgbClr val="FFFFFF"/>
                </a:solidFill>
                <a:latin typeface="Calibri"/>
              </a:rPr>
              <a:t>Memory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5532120"/>
            <a:ext cx="7619695" cy="512064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" y="5623560"/>
            <a:ext cx="7436815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197"/>
              </a:lnSpc>
              <a:spcAft>
                <a:spcPts val="0"/>
              </a:spcAft>
            </a:pPr>
            <a:r>
              <a:rPr sz="1140" b="1" i="0">
                <a:solidFill>
                  <a:srgbClr val="FFFFFF"/>
                </a:solidFill>
                <a:latin typeface="Calibri"/>
              </a:rPr>
              <a:t>Context is the moat because it compounds across tasks and sessions.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76895" y="0"/>
            <a:ext cx="4114800" cy="6858000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186623" y="109728"/>
            <a:ext cx="3895344" cy="66385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265615" y="2148840"/>
            <a:ext cx="1188720" cy="1188720"/>
          </a:xfrm>
          <a:prstGeom prst="ellipse">
            <a:avLst/>
          </a:prstGeom>
          <a:solidFill>
            <a:srgbClr val="00C9A7"/>
          </a:solidFill>
          <a:ln w="2540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512503" y="2651760"/>
            <a:ext cx="694944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147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Agent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369503" y="822960"/>
            <a:ext cx="1097280" cy="548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369503" y="822960"/>
            <a:ext cx="73152" cy="54864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79231" y="896112"/>
            <a:ext cx="877824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945"/>
              </a:lnSpc>
              <a:spcAft>
                <a:spcPts val="0"/>
              </a:spcAft>
            </a:pPr>
            <a:r>
              <a:rPr sz="900" b="1" i="0">
                <a:solidFill>
                  <a:srgbClr val="1B2B3C"/>
                </a:solidFill>
                <a:latin typeface="Calibri"/>
              </a:rPr>
              <a:t>Files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79231" y="1078992"/>
            <a:ext cx="87782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609"/>
              </a:lnSpc>
              <a:spcAft>
                <a:spcPts val="0"/>
              </a:spcAft>
            </a:pPr>
            <a:r>
              <a:rPr sz="580" b="0" i="0">
                <a:solidFill>
                  <a:srgbClr val="5B6B7C"/>
                </a:solidFill>
                <a:latin typeface="Calibri"/>
              </a:rPr>
              <a:t>notes / assets</a:t>
            </a:r>
          </a:p>
        </p:txBody>
      </p:sp>
      <p:sp>
        <p:nvSpPr>
          <p:cNvPr id="42" name="Rectangle 41"/>
          <p:cNvSpPr/>
          <p:nvPr/>
        </p:nvSpPr>
        <p:spPr>
          <a:xfrm rot="5818095">
            <a:off x="8537114" y="1907540"/>
            <a:ext cx="1658168" cy="254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10198303" y="822960"/>
            <a:ext cx="1097280" cy="548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0198303" y="822960"/>
            <a:ext cx="73152" cy="54864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308031" y="896112"/>
            <a:ext cx="877824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945"/>
              </a:lnSpc>
              <a:spcAft>
                <a:spcPts val="0"/>
              </a:spcAft>
            </a:pPr>
            <a:r>
              <a:rPr sz="900" b="1" i="0">
                <a:solidFill>
                  <a:srgbClr val="1B2B3C"/>
                </a:solidFill>
                <a:latin typeface="Calibri"/>
              </a:rPr>
              <a:t>Memory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308031" y="1078992"/>
            <a:ext cx="87782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609"/>
              </a:lnSpc>
              <a:spcAft>
                <a:spcPts val="0"/>
              </a:spcAft>
            </a:pPr>
            <a:r>
              <a:rPr sz="580" b="0" i="0">
                <a:solidFill>
                  <a:srgbClr val="5B6B7C"/>
                </a:solidFill>
                <a:latin typeface="Calibri"/>
              </a:rPr>
              <a:t>history / rules</a:t>
            </a:r>
          </a:p>
        </p:txBody>
      </p:sp>
      <p:sp>
        <p:nvSpPr>
          <p:cNvPr id="47" name="Rectangle 46"/>
          <p:cNvSpPr/>
          <p:nvPr/>
        </p:nvSpPr>
        <p:spPr>
          <a:xfrm rot="8457869">
            <a:off x="8973902" y="1907540"/>
            <a:ext cx="2613392" cy="254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8369503" y="1920240"/>
            <a:ext cx="1097280" cy="548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9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369503" y="1920240"/>
            <a:ext cx="73152" cy="548640"/>
          </a:xfrm>
          <a:prstGeom prst="rect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479231" y="1993392"/>
            <a:ext cx="877824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945"/>
              </a:lnSpc>
              <a:spcAft>
                <a:spcPts val="0"/>
              </a:spcAft>
            </a:pPr>
            <a:r>
              <a:rPr sz="900" b="1" i="0">
                <a:solidFill>
                  <a:srgbClr val="1B2B3C"/>
                </a:solidFill>
                <a:latin typeface="Calibri"/>
              </a:rPr>
              <a:t>Browser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79231" y="2176272"/>
            <a:ext cx="87782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609"/>
              </a:lnSpc>
              <a:spcAft>
                <a:spcPts val="0"/>
              </a:spcAft>
            </a:pPr>
            <a:r>
              <a:rPr sz="580" b="0" i="0">
                <a:solidFill>
                  <a:srgbClr val="5B6B7C"/>
                </a:solidFill>
                <a:latin typeface="Calibri"/>
              </a:rPr>
              <a:t>shared view</a:t>
            </a:r>
          </a:p>
        </p:txBody>
      </p:sp>
      <p:sp>
        <p:nvSpPr>
          <p:cNvPr id="52" name="Rectangle 51"/>
          <p:cNvSpPr/>
          <p:nvPr/>
        </p:nvSpPr>
        <p:spPr>
          <a:xfrm rot="6608178">
            <a:off x="9074019" y="2456180"/>
            <a:ext cx="584358" cy="25400"/>
          </a:xfrm>
          <a:prstGeom prst="rect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10198303" y="1920240"/>
            <a:ext cx="1097280" cy="548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05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0198303" y="1920240"/>
            <a:ext cx="73152" cy="548640"/>
          </a:xfrm>
          <a:prstGeom prst="rect">
            <a:avLst/>
          </a:prstGeom>
          <a:solidFill>
            <a:srgbClr val="E05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308031" y="1993392"/>
            <a:ext cx="877824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945"/>
              </a:lnSpc>
              <a:spcAft>
                <a:spcPts val="0"/>
              </a:spcAft>
            </a:pPr>
            <a:r>
              <a:rPr sz="900" b="1" i="0">
                <a:solidFill>
                  <a:srgbClr val="1B2B3C"/>
                </a:solidFill>
                <a:latin typeface="Calibri"/>
              </a:rPr>
              <a:t>Tools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308031" y="2176272"/>
            <a:ext cx="87782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609"/>
              </a:lnSpc>
              <a:spcAft>
                <a:spcPts val="0"/>
              </a:spcAft>
            </a:pPr>
            <a:r>
              <a:rPr sz="580" b="0" i="0">
                <a:solidFill>
                  <a:srgbClr val="5B6B7C"/>
                </a:solidFill>
                <a:latin typeface="Calibri"/>
              </a:rPr>
              <a:t>MCP / CLI / API</a:t>
            </a:r>
          </a:p>
        </p:txBody>
      </p:sp>
      <p:sp>
        <p:nvSpPr>
          <p:cNvPr id="57" name="Rectangle 56"/>
          <p:cNvSpPr/>
          <p:nvPr/>
        </p:nvSpPr>
        <p:spPr>
          <a:xfrm rot="9892560">
            <a:off x="9229198" y="2456180"/>
            <a:ext cx="2102801" cy="25400"/>
          </a:xfrm>
          <a:prstGeom prst="rect">
            <a:avLst/>
          </a:prstGeom>
          <a:solidFill>
            <a:srgbClr val="E05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8369503" y="3977639"/>
            <a:ext cx="1097280" cy="548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8369503" y="3977639"/>
            <a:ext cx="73152" cy="54864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479231" y="4050791"/>
            <a:ext cx="877824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945"/>
              </a:lnSpc>
              <a:spcAft>
                <a:spcPts val="0"/>
              </a:spcAft>
            </a:pPr>
            <a:r>
              <a:rPr sz="900" b="1" i="0">
                <a:solidFill>
                  <a:srgbClr val="1B2B3C"/>
                </a:solidFill>
                <a:latin typeface="Calibri"/>
              </a:rPr>
              <a:t>Surface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479231" y="4233671"/>
            <a:ext cx="87782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609"/>
              </a:lnSpc>
              <a:spcAft>
                <a:spcPts val="0"/>
              </a:spcAft>
            </a:pPr>
            <a:r>
              <a:rPr sz="580" b="0" i="0">
                <a:solidFill>
                  <a:srgbClr val="5B6B7C"/>
                </a:solidFill>
                <a:latin typeface="Calibri"/>
              </a:rPr>
              <a:t>canvas / docs</a:t>
            </a:r>
          </a:p>
        </p:txBody>
      </p:sp>
      <p:sp>
        <p:nvSpPr>
          <p:cNvPr id="62" name="Rectangle 61"/>
          <p:cNvSpPr/>
          <p:nvPr/>
        </p:nvSpPr>
        <p:spPr>
          <a:xfrm rot="15744321">
            <a:off x="8605143" y="3484879"/>
            <a:ext cx="1522111" cy="254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10198303" y="3977639"/>
            <a:ext cx="1097280" cy="548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0198303" y="3977639"/>
            <a:ext cx="73152" cy="54864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308031" y="4050791"/>
            <a:ext cx="877824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945"/>
              </a:lnSpc>
              <a:spcAft>
                <a:spcPts val="0"/>
              </a:spcAft>
            </a:pPr>
            <a:r>
              <a:rPr sz="900" b="1" i="0">
                <a:solidFill>
                  <a:srgbClr val="1B2B3C"/>
                </a:solidFill>
                <a:latin typeface="Calibri"/>
              </a:rPr>
              <a:t>Approval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308031" y="4233671"/>
            <a:ext cx="87782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609"/>
              </a:lnSpc>
              <a:spcAft>
                <a:spcPts val="0"/>
              </a:spcAft>
            </a:pPr>
            <a:r>
              <a:rPr sz="580" b="0" i="0">
                <a:solidFill>
                  <a:srgbClr val="5B6B7C"/>
                </a:solidFill>
                <a:latin typeface="Calibri"/>
              </a:rPr>
              <a:t>human loop</a:t>
            </a:r>
          </a:p>
        </p:txBody>
      </p:sp>
      <p:sp>
        <p:nvSpPr>
          <p:cNvPr id="67" name="Rectangle 66"/>
          <p:cNvSpPr/>
          <p:nvPr/>
        </p:nvSpPr>
        <p:spPr>
          <a:xfrm rot="12997279">
            <a:off x="9015972" y="3484879"/>
            <a:ext cx="2529253" cy="254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8378647" y="5166360"/>
            <a:ext cx="3063240" cy="685800"/>
          </a:xfrm>
          <a:prstGeom prst="roundRect">
            <a:avLst/>
          </a:prstGeom>
          <a:solidFill>
            <a:srgbClr val="F4F7F8"/>
          </a:solidFill>
          <a:ln w="1524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8378647" y="5166360"/>
            <a:ext cx="73152" cy="6858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488375" y="5239512"/>
            <a:ext cx="2843784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945"/>
              </a:lnSpc>
              <a:spcAft>
                <a:spcPts val="0"/>
              </a:spcAft>
            </a:pPr>
            <a:r>
              <a:rPr sz="900" b="1" i="0">
                <a:solidFill>
                  <a:srgbClr val="1B2B3C"/>
                </a:solidFill>
                <a:latin typeface="Calibri"/>
              </a:rPr>
              <a:t>Definition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488375" y="5422392"/>
            <a:ext cx="2843784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693"/>
              </a:lnSpc>
              <a:spcAft>
                <a:spcPts val="0"/>
              </a:spcAft>
            </a:pPr>
            <a:r>
              <a:rPr sz="660" b="0" i="0">
                <a:solidFill>
                  <a:srgbClr val="5B6B7C"/>
                </a:solidFill>
                <a:latin typeface="Calibri"/>
              </a:rPr>
              <a:t>The product is a hub for action, not a chatbot shell.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56032" y="6492240"/>
            <a:ext cx="4023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735"/>
              </a:lnSpc>
              <a:spcAft>
                <a:spcPts val="0"/>
              </a:spcAft>
            </a:pPr>
            <a:r>
              <a:rPr sz="700" b="0" i="0">
                <a:solidFill>
                  <a:srgbClr val="888899"/>
                </a:solidFill>
                <a:latin typeface="Calibri"/>
              </a:rPr>
              <a:t>Agent-Native Apps | Canva-style Brief | June 2026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1231575" y="6492240"/>
            <a:ext cx="7315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ts val="735"/>
              </a:lnSpc>
              <a:spcAft>
                <a:spcPts val="0"/>
              </a:spcAft>
            </a:pPr>
            <a:r>
              <a:rPr sz="700" b="0" i="0">
                <a:solidFill>
                  <a:srgbClr val="888899"/>
                </a:solidFill>
                <a:latin typeface="Calibri"/>
              </a:rPr>
              <a:t>7 / 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076895" cy="68580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752825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2205"/>
              </a:lnSpc>
              <a:spcAft>
                <a:spcPts val="0"/>
              </a:spcAft>
            </a:pPr>
            <a:r>
              <a:rPr sz="2100" b="1" i="0">
                <a:solidFill>
                  <a:srgbClr val="FFFFFF"/>
                </a:solidFill>
                <a:latin typeface="Calibri"/>
              </a:rPr>
              <a:t>Tool layer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658368"/>
            <a:ext cx="1645920" cy="27432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822960"/>
            <a:ext cx="7436815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102"/>
              </a:lnSpc>
              <a:spcAft>
                <a:spcPts val="0"/>
              </a:spcAft>
            </a:pPr>
            <a:r>
              <a:rPr sz="1050" b="0" i="0">
                <a:solidFill>
                  <a:srgbClr val="E0F7F1"/>
                </a:solidFill>
                <a:latin typeface="Calibri"/>
              </a:rPr>
              <a:t>MCP, CLI, API, and browser access are the unlock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69264"/>
            <a:ext cx="7436815" cy="420624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1024128"/>
            <a:ext cx="7290511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798"/>
              </a:lnSpc>
              <a:spcAft>
                <a:spcPts val="0"/>
              </a:spcAft>
            </a:pPr>
            <a:r>
              <a:rPr sz="760" b="0" i="0">
                <a:solidFill>
                  <a:srgbClr val="1B2B3C"/>
                </a:solidFill>
                <a:latin typeface="Calibri"/>
              </a:rPr>
              <a:t>MCP, CLI, API, and browser access let the agent do real work.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463040"/>
            <a:ext cx="3611880" cy="2176272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463040"/>
            <a:ext cx="3611880" cy="310896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" y="1508760"/>
            <a:ext cx="3465576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987"/>
              </a:lnSpc>
              <a:spcAft>
                <a:spcPts val="0"/>
              </a:spcAft>
            </a:pPr>
            <a:r>
              <a:rPr sz="940" b="1" i="0">
                <a:solidFill>
                  <a:srgbClr val="FFFFFF"/>
                </a:solidFill>
                <a:latin typeface="Calibri"/>
              </a:rPr>
              <a:t>Tool paths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" y="1847088"/>
            <a:ext cx="3465576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772"/>
              </a:lnSpc>
              <a:spcBef>
                <a:spcPts val="0"/>
              </a:spcBef>
              <a:spcAft>
                <a:spcPts val="100"/>
              </a:spcAft>
            </a:pPr>
            <a:r>
              <a:rPr sz="840">
                <a:solidFill>
                  <a:srgbClr val="1B2B3C"/>
                </a:solidFill>
                <a:latin typeface="Calibri"/>
              </a:rPr>
              <a:t>• MCP for structured integrations across clients.</a:t>
            </a:r>
          </a:p>
          <a:p>
            <a:pPr>
              <a:lnSpc>
                <a:spcPts val="772"/>
              </a:lnSpc>
              <a:spcBef>
                <a:spcPts val="0"/>
              </a:spcBef>
              <a:spcAft>
                <a:spcPts val="100"/>
              </a:spcAft>
            </a:pPr>
            <a:r>
              <a:rPr sz="840">
                <a:solidFill>
                  <a:srgbClr val="1B2B3C"/>
                </a:solidFill>
                <a:latin typeface="Calibri"/>
              </a:rPr>
              <a:t>• CLI for local actions, scripts, and developer workflows.</a:t>
            </a:r>
          </a:p>
          <a:p>
            <a:pPr>
              <a:lnSpc>
                <a:spcPts val="772"/>
              </a:lnSpc>
              <a:spcBef>
                <a:spcPts val="0"/>
              </a:spcBef>
              <a:spcAft>
                <a:spcPts val="100"/>
              </a:spcAft>
            </a:pPr>
            <a:r>
              <a:rPr sz="840">
                <a:solidFill>
                  <a:srgbClr val="1B2B3C"/>
                </a:solidFill>
                <a:latin typeface="Calibri"/>
              </a:rPr>
              <a:t>• API or browser access when the app surface itself is the workspace.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41648" y="1463040"/>
            <a:ext cx="3611880" cy="21762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041648" y="1463040"/>
            <a:ext cx="3611880" cy="310896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0" y="1508760"/>
            <a:ext cx="3465576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987"/>
              </a:lnSpc>
              <a:spcAft>
                <a:spcPts val="0"/>
              </a:spcAft>
            </a:pPr>
            <a:r>
              <a:rPr sz="940" b="1" i="0">
                <a:solidFill>
                  <a:srgbClr val="FFFFFF"/>
                </a:solidFill>
                <a:latin typeface="Calibri"/>
              </a:rPr>
              <a:t>What parity means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1847088"/>
            <a:ext cx="3465576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772"/>
              </a:lnSpc>
              <a:spcBef>
                <a:spcPts val="0"/>
              </a:spcBef>
              <a:spcAft>
                <a:spcPts val="100"/>
              </a:spcAft>
            </a:pPr>
            <a:r>
              <a:rPr sz="840">
                <a:solidFill>
                  <a:srgbClr val="1B2B3C"/>
                </a:solidFill>
                <a:latin typeface="Calibri"/>
              </a:rPr>
              <a:t>• If a user can do it, the agent needs a path to do it too.</a:t>
            </a:r>
          </a:p>
          <a:p>
            <a:pPr>
              <a:lnSpc>
                <a:spcPts val="772"/>
              </a:lnSpc>
              <a:spcBef>
                <a:spcPts val="0"/>
              </a:spcBef>
              <a:spcAft>
                <a:spcPts val="100"/>
              </a:spcAft>
            </a:pPr>
            <a:r>
              <a:rPr sz="840">
                <a:solidFill>
                  <a:srgbClr val="1B2B3C"/>
                </a:solidFill>
                <a:latin typeface="Calibri"/>
              </a:rPr>
              <a:t>• The action should succeed or fail visibly and immediately.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794760"/>
            <a:ext cx="3611880" cy="1243584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3794760"/>
            <a:ext cx="3611880" cy="310896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" y="3840480"/>
            <a:ext cx="3465576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987"/>
              </a:lnSpc>
              <a:spcAft>
                <a:spcPts val="0"/>
              </a:spcAft>
            </a:pPr>
            <a:r>
              <a:rPr sz="940" b="1" i="0">
                <a:solidFill>
                  <a:srgbClr val="FFFFFF"/>
                </a:solidFill>
                <a:latin typeface="Calibri"/>
              </a:rPr>
              <a:t>Design rule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" y="4178808"/>
            <a:ext cx="3465576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772"/>
              </a:lnSpc>
              <a:spcBef>
                <a:spcPts val="0"/>
              </a:spcBef>
              <a:spcAft>
                <a:spcPts val="100"/>
              </a:spcAft>
            </a:pPr>
            <a:r>
              <a:rPr sz="840">
                <a:solidFill>
                  <a:srgbClr val="1B2B3C"/>
                </a:solidFill>
                <a:latin typeface="Calibri"/>
              </a:rPr>
              <a:t>• Expose atomic primitives, not one giant workflow box.</a:t>
            </a:r>
          </a:p>
          <a:p>
            <a:pPr>
              <a:lnSpc>
                <a:spcPts val="772"/>
              </a:lnSpc>
              <a:spcBef>
                <a:spcPts val="0"/>
              </a:spcBef>
              <a:spcAft>
                <a:spcPts val="100"/>
              </a:spcAft>
            </a:pPr>
            <a:r>
              <a:rPr sz="840">
                <a:solidFill>
                  <a:srgbClr val="1B2B3C"/>
                </a:solidFill>
                <a:latin typeface="Calibri"/>
              </a:rPr>
              <a:t>• Keep domain logic in the agent loop, not hidden in the tool.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041648" y="3794760"/>
            <a:ext cx="3611880" cy="12435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041648" y="3794760"/>
            <a:ext cx="3611880" cy="310896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0" y="3840480"/>
            <a:ext cx="3465576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987"/>
              </a:lnSpc>
              <a:spcAft>
                <a:spcPts val="0"/>
              </a:spcAft>
            </a:pPr>
            <a:r>
              <a:rPr sz="940" b="1" i="0">
                <a:solidFill>
                  <a:srgbClr val="FFFFFF"/>
                </a:solidFill>
                <a:latin typeface="Calibri"/>
              </a:rPr>
              <a:t>Why it matters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4178808"/>
            <a:ext cx="3465576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772"/>
              </a:lnSpc>
              <a:spcBef>
                <a:spcPts val="0"/>
              </a:spcBef>
              <a:spcAft>
                <a:spcPts val="100"/>
              </a:spcAft>
            </a:pPr>
            <a:r>
              <a:rPr sz="840">
                <a:solidFill>
                  <a:srgbClr val="1B2B3C"/>
                </a:solidFill>
                <a:latin typeface="Calibri"/>
              </a:rPr>
              <a:t>• Tool access is a product decision, not just plumbing.</a:t>
            </a:r>
          </a:p>
          <a:p>
            <a:pPr>
              <a:lnSpc>
                <a:spcPts val="772"/>
              </a:lnSpc>
              <a:spcBef>
                <a:spcPts val="0"/>
              </a:spcBef>
              <a:spcAft>
                <a:spcPts val="100"/>
              </a:spcAft>
            </a:pPr>
            <a:r>
              <a:rPr sz="840">
                <a:solidFill>
                  <a:srgbClr val="1B2B3C"/>
                </a:solidFill>
                <a:latin typeface="Calibri"/>
              </a:rPr>
              <a:t>• Parity is what makes the app actually usable by an external agent.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5212080"/>
            <a:ext cx="841248" cy="310896"/>
          </a:xfrm>
          <a:prstGeom prst="rect">
            <a:avLst/>
          </a:prstGeom>
          <a:solidFill>
            <a:srgbClr val="008F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3192" y="5248656"/>
            <a:ext cx="786384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714"/>
              </a:lnSpc>
              <a:spcAft>
                <a:spcPts val="0"/>
              </a:spcAft>
            </a:pPr>
            <a:r>
              <a:rPr sz="680" b="1" i="0">
                <a:solidFill>
                  <a:srgbClr val="FFFFFF"/>
                </a:solidFill>
                <a:latin typeface="Calibri"/>
              </a:rPr>
              <a:t>MCP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280160" y="5212080"/>
            <a:ext cx="841248" cy="310896"/>
          </a:xfrm>
          <a:prstGeom prst="rect">
            <a:avLst/>
          </a:prstGeom>
          <a:solidFill>
            <a:srgbClr val="008F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07592" y="5248656"/>
            <a:ext cx="786384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714"/>
              </a:lnSpc>
              <a:spcAft>
                <a:spcPts val="0"/>
              </a:spcAft>
            </a:pPr>
            <a:r>
              <a:rPr sz="680" b="1" i="0">
                <a:solidFill>
                  <a:srgbClr val="FFFFFF"/>
                </a:solidFill>
                <a:latin typeface="Calibri"/>
              </a:rPr>
              <a:t>CLI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194560" y="5212080"/>
            <a:ext cx="841248" cy="310896"/>
          </a:xfrm>
          <a:prstGeom prst="rect">
            <a:avLst/>
          </a:prstGeom>
          <a:solidFill>
            <a:srgbClr val="008F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221992" y="5248656"/>
            <a:ext cx="786384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714"/>
              </a:lnSpc>
              <a:spcAft>
                <a:spcPts val="0"/>
              </a:spcAft>
            </a:pPr>
            <a:r>
              <a:rPr sz="680" b="1" i="0">
                <a:solidFill>
                  <a:srgbClr val="FFFFFF"/>
                </a:solidFill>
                <a:latin typeface="Calibri"/>
              </a:rPr>
              <a:t>API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108960" y="5212080"/>
            <a:ext cx="987552" cy="310896"/>
          </a:xfrm>
          <a:prstGeom prst="rect">
            <a:avLst/>
          </a:prstGeom>
          <a:solidFill>
            <a:srgbClr val="008F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136392" y="5248656"/>
            <a:ext cx="93268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714"/>
              </a:lnSpc>
              <a:spcAft>
                <a:spcPts val="0"/>
              </a:spcAft>
            </a:pPr>
            <a:r>
              <a:rPr sz="680" b="1" i="0">
                <a:solidFill>
                  <a:srgbClr val="FFFFFF"/>
                </a:solidFill>
                <a:latin typeface="Calibri"/>
              </a:rPr>
              <a:t>Browser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5532120"/>
            <a:ext cx="7619695" cy="512064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" y="5623560"/>
            <a:ext cx="7436815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197"/>
              </a:lnSpc>
              <a:spcAft>
                <a:spcPts val="0"/>
              </a:spcAft>
            </a:pPr>
            <a:r>
              <a:rPr sz="1140" b="1" i="0">
                <a:solidFill>
                  <a:srgbClr val="FFFFFF"/>
                </a:solidFill>
                <a:latin typeface="Calibri"/>
              </a:rPr>
              <a:t>The best tool surfaces make actions explicit, composable, and auditable.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76895" y="0"/>
            <a:ext cx="4114800" cy="6858000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186623" y="109728"/>
            <a:ext cx="3895344" cy="66385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265615" y="2148840"/>
            <a:ext cx="1188720" cy="1188720"/>
          </a:xfrm>
          <a:prstGeom prst="ellipse">
            <a:avLst/>
          </a:prstGeom>
          <a:solidFill>
            <a:srgbClr val="00C9A7"/>
          </a:solidFill>
          <a:ln w="2540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512503" y="2651760"/>
            <a:ext cx="694944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147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Agent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369503" y="822960"/>
            <a:ext cx="1097280" cy="548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369503" y="822960"/>
            <a:ext cx="73152" cy="54864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79231" y="896112"/>
            <a:ext cx="877824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945"/>
              </a:lnSpc>
              <a:spcAft>
                <a:spcPts val="0"/>
              </a:spcAft>
            </a:pPr>
            <a:r>
              <a:rPr sz="900" b="1" i="0">
                <a:solidFill>
                  <a:srgbClr val="1B2B3C"/>
                </a:solidFill>
                <a:latin typeface="Calibri"/>
              </a:rPr>
              <a:t>Files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79231" y="1078992"/>
            <a:ext cx="87782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609"/>
              </a:lnSpc>
              <a:spcAft>
                <a:spcPts val="0"/>
              </a:spcAft>
            </a:pPr>
            <a:r>
              <a:rPr sz="580" b="0" i="0">
                <a:solidFill>
                  <a:srgbClr val="5B6B7C"/>
                </a:solidFill>
                <a:latin typeface="Calibri"/>
              </a:rPr>
              <a:t>notes / assets</a:t>
            </a:r>
          </a:p>
        </p:txBody>
      </p:sp>
      <p:sp>
        <p:nvSpPr>
          <p:cNvPr id="42" name="Rectangle 41"/>
          <p:cNvSpPr/>
          <p:nvPr/>
        </p:nvSpPr>
        <p:spPr>
          <a:xfrm rot="5818095">
            <a:off x="8537114" y="1907540"/>
            <a:ext cx="1658168" cy="254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10198303" y="822960"/>
            <a:ext cx="1097280" cy="548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0198303" y="822960"/>
            <a:ext cx="73152" cy="54864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308031" y="896112"/>
            <a:ext cx="877824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945"/>
              </a:lnSpc>
              <a:spcAft>
                <a:spcPts val="0"/>
              </a:spcAft>
            </a:pPr>
            <a:r>
              <a:rPr sz="900" b="1" i="0">
                <a:solidFill>
                  <a:srgbClr val="1B2B3C"/>
                </a:solidFill>
                <a:latin typeface="Calibri"/>
              </a:rPr>
              <a:t>Memory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308031" y="1078992"/>
            <a:ext cx="87782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609"/>
              </a:lnSpc>
              <a:spcAft>
                <a:spcPts val="0"/>
              </a:spcAft>
            </a:pPr>
            <a:r>
              <a:rPr sz="580" b="0" i="0">
                <a:solidFill>
                  <a:srgbClr val="5B6B7C"/>
                </a:solidFill>
                <a:latin typeface="Calibri"/>
              </a:rPr>
              <a:t>history / rules</a:t>
            </a:r>
          </a:p>
        </p:txBody>
      </p:sp>
      <p:sp>
        <p:nvSpPr>
          <p:cNvPr id="47" name="Rectangle 46"/>
          <p:cNvSpPr/>
          <p:nvPr/>
        </p:nvSpPr>
        <p:spPr>
          <a:xfrm rot="8457869">
            <a:off x="8973902" y="1907540"/>
            <a:ext cx="2613392" cy="254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8369503" y="1920240"/>
            <a:ext cx="1097280" cy="548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9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369503" y="1920240"/>
            <a:ext cx="73152" cy="548640"/>
          </a:xfrm>
          <a:prstGeom prst="rect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479231" y="1993392"/>
            <a:ext cx="877824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945"/>
              </a:lnSpc>
              <a:spcAft>
                <a:spcPts val="0"/>
              </a:spcAft>
            </a:pPr>
            <a:r>
              <a:rPr sz="900" b="1" i="0">
                <a:solidFill>
                  <a:srgbClr val="1B2B3C"/>
                </a:solidFill>
                <a:latin typeface="Calibri"/>
              </a:rPr>
              <a:t>Browser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79231" y="2176272"/>
            <a:ext cx="87782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609"/>
              </a:lnSpc>
              <a:spcAft>
                <a:spcPts val="0"/>
              </a:spcAft>
            </a:pPr>
            <a:r>
              <a:rPr sz="580" b="0" i="0">
                <a:solidFill>
                  <a:srgbClr val="5B6B7C"/>
                </a:solidFill>
                <a:latin typeface="Calibri"/>
              </a:rPr>
              <a:t>shared view</a:t>
            </a:r>
          </a:p>
        </p:txBody>
      </p:sp>
      <p:sp>
        <p:nvSpPr>
          <p:cNvPr id="52" name="Rectangle 51"/>
          <p:cNvSpPr/>
          <p:nvPr/>
        </p:nvSpPr>
        <p:spPr>
          <a:xfrm rot="6608178">
            <a:off x="9074019" y="2456180"/>
            <a:ext cx="584358" cy="25400"/>
          </a:xfrm>
          <a:prstGeom prst="rect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10198303" y="1920240"/>
            <a:ext cx="1097280" cy="548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05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0198303" y="1920240"/>
            <a:ext cx="73152" cy="548640"/>
          </a:xfrm>
          <a:prstGeom prst="rect">
            <a:avLst/>
          </a:prstGeom>
          <a:solidFill>
            <a:srgbClr val="E05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308031" y="1993392"/>
            <a:ext cx="877824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945"/>
              </a:lnSpc>
              <a:spcAft>
                <a:spcPts val="0"/>
              </a:spcAft>
            </a:pPr>
            <a:r>
              <a:rPr sz="900" b="1" i="0">
                <a:solidFill>
                  <a:srgbClr val="1B2B3C"/>
                </a:solidFill>
                <a:latin typeface="Calibri"/>
              </a:rPr>
              <a:t>Tools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308031" y="2176272"/>
            <a:ext cx="87782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609"/>
              </a:lnSpc>
              <a:spcAft>
                <a:spcPts val="0"/>
              </a:spcAft>
            </a:pPr>
            <a:r>
              <a:rPr sz="580" b="0" i="0">
                <a:solidFill>
                  <a:srgbClr val="5B6B7C"/>
                </a:solidFill>
                <a:latin typeface="Calibri"/>
              </a:rPr>
              <a:t>MCP / CLI / API</a:t>
            </a:r>
          </a:p>
        </p:txBody>
      </p:sp>
      <p:sp>
        <p:nvSpPr>
          <p:cNvPr id="57" name="Rectangle 56"/>
          <p:cNvSpPr/>
          <p:nvPr/>
        </p:nvSpPr>
        <p:spPr>
          <a:xfrm rot="9892560">
            <a:off x="9229198" y="2456180"/>
            <a:ext cx="2102801" cy="25400"/>
          </a:xfrm>
          <a:prstGeom prst="rect">
            <a:avLst/>
          </a:prstGeom>
          <a:solidFill>
            <a:srgbClr val="E05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8369503" y="3977639"/>
            <a:ext cx="1097280" cy="548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8369503" y="3977639"/>
            <a:ext cx="73152" cy="54864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479231" y="4050791"/>
            <a:ext cx="877824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945"/>
              </a:lnSpc>
              <a:spcAft>
                <a:spcPts val="0"/>
              </a:spcAft>
            </a:pPr>
            <a:r>
              <a:rPr sz="900" b="1" i="0">
                <a:solidFill>
                  <a:srgbClr val="1B2B3C"/>
                </a:solidFill>
                <a:latin typeface="Calibri"/>
              </a:rPr>
              <a:t>Surface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479231" y="4233671"/>
            <a:ext cx="87782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609"/>
              </a:lnSpc>
              <a:spcAft>
                <a:spcPts val="0"/>
              </a:spcAft>
            </a:pPr>
            <a:r>
              <a:rPr sz="580" b="0" i="0">
                <a:solidFill>
                  <a:srgbClr val="5B6B7C"/>
                </a:solidFill>
                <a:latin typeface="Calibri"/>
              </a:rPr>
              <a:t>canvas / docs</a:t>
            </a:r>
          </a:p>
        </p:txBody>
      </p:sp>
      <p:sp>
        <p:nvSpPr>
          <p:cNvPr id="62" name="Rectangle 61"/>
          <p:cNvSpPr/>
          <p:nvPr/>
        </p:nvSpPr>
        <p:spPr>
          <a:xfrm rot="15744321">
            <a:off x="8605143" y="3484879"/>
            <a:ext cx="1522111" cy="254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10198303" y="3977639"/>
            <a:ext cx="1097280" cy="548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0198303" y="3977639"/>
            <a:ext cx="73152" cy="54864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308031" y="4050791"/>
            <a:ext cx="877824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945"/>
              </a:lnSpc>
              <a:spcAft>
                <a:spcPts val="0"/>
              </a:spcAft>
            </a:pPr>
            <a:r>
              <a:rPr sz="900" b="1" i="0">
                <a:solidFill>
                  <a:srgbClr val="1B2B3C"/>
                </a:solidFill>
                <a:latin typeface="Calibri"/>
              </a:rPr>
              <a:t>Approval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308031" y="4233671"/>
            <a:ext cx="87782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609"/>
              </a:lnSpc>
              <a:spcAft>
                <a:spcPts val="0"/>
              </a:spcAft>
            </a:pPr>
            <a:r>
              <a:rPr sz="580" b="0" i="0">
                <a:solidFill>
                  <a:srgbClr val="5B6B7C"/>
                </a:solidFill>
                <a:latin typeface="Calibri"/>
              </a:rPr>
              <a:t>human loop</a:t>
            </a:r>
          </a:p>
        </p:txBody>
      </p:sp>
      <p:sp>
        <p:nvSpPr>
          <p:cNvPr id="67" name="Rectangle 66"/>
          <p:cNvSpPr/>
          <p:nvPr/>
        </p:nvSpPr>
        <p:spPr>
          <a:xfrm rot="12997279">
            <a:off x="9015972" y="3484879"/>
            <a:ext cx="2529253" cy="254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8378647" y="5166360"/>
            <a:ext cx="3063240" cy="685800"/>
          </a:xfrm>
          <a:prstGeom prst="roundRect">
            <a:avLst/>
          </a:prstGeom>
          <a:solidFill>
            <a:srgbClr val="F4F7F8"/>
          </a:solidFill>
          <a:ln w="1524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8378647" y="5166360"/>
            <a:ext cx="73152" cy="6858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488375" y="5239512"/>
            <a:ext cx="2843784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945"/>
              </a:lnSpc>
              <a:spcAft>
                <a:spcPts val="0"/>
              </a:spcAft>
            </a:pPr>
            <a:r>
              <a:rPr sz="900" b="1" i="0">
                <a:solidFill>
                  <a:srgbClr val="1B2B3C"/>
                </a:solidFill>
                <a:latin typeface="Calibri"/>
              </a:rPr>
              <a:t>Definition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488375" y="5422392"/>
            <a:ext cx="2843784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693"/>
              </a:lnSpc>
              <a:spcAft>
                <a:spcPts val="0"/>
              </a:spcAft>
            </a:pPr>
            <a:r>
              <a:rPr sz="660" b="0" i="0">
                <a:solidFill>
                  <a:srgbClr val="5B6B7C"/>
                </a:solidFill>
                <a:latin typeface="Calibri"/>
              </a:rPr>
              <a:t>The product is a hub for action, not a chatbot shell.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56032" y="6492240"/>
            <a:ext cx="4023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735"/>
              </a:lnSpc>
              <a:spcAft>
                <a:spcPts val="0"/>
              </a:spcAft>
            </a:pPr>
            <a:r>
              <a:rPr sz="700" b="0" i="0">
                <a:solidFill>
                  <a:srgbClr val="888899"/>
                </a:solidFill>
                <a:latin typeface="Calibri"/>
              </a:rPr>
              <a:t>Agent-Native Apps | Canva-style Brief | June 2026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1231575" y="6492240"/>
            <a:ext cx="7315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ts val="735"/>
              </a:lnSpc>
              <a:spcAft>
                <a:spcPts val="0"/>
              </a:spcAft>
            </a:pPr>
            <a:r>
              <a:rPr sz="700" b="0" i="0">
                <a:solidFill>
                  <a:srgbClr val="888899"/>
                </a:solidFill>
                <a:latin typeface="Calibri"/>
              </a:rPr>
              <a:t>8 / 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076895" cy="68580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752825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2205"/>
              </a:lnSpc>
              <a:spcAft>
                <a:spcPts val="0"/>
              </a:spcAft>
            </a:pPr>
            <a:r>
              <a:rPr sz="2100" b="1" i="0">
                <a:solidFill>
                  <a:srgbClr val="FFFFFF"/>
                </a:solidFill>
                <a:latin typeface="Calibri"/>
              </a:rPr>
              <a:t>Shared surface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658368"/>
            <a:ext cx="1645920" cy="27432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822960"/>
            <a:ext cx="7436815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102"/>
              </a:lnSpc>
              <a:spcAft>
                <a:spcPts val="0"/>
              </a:spcAft>
            </a:pPr>
            <a:r>
              <a:rPr sz="1050" b="0" i="0">
                <a:solidFill>
                  <a:srgbClr val="E0F7F1"/>
                </a:solidFill>
                <a:latin typeface="Calibri"/>
              </a:rPr>
              <a:t>The canvas, doc, sheet, or browser is where collaboration becomes legible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69264"/>
            <a:ext cx="7436815" cy="420624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1024128"/>
            <a:ext cx="7290511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798"/>
              </a:lnSpc>
              <a:spcAft>
                <a:spcPts val="0"/>
              </a:spcAft>
            </a:pPr>
            <a:r>
              <a:rPr sz="760" b="0" i="0">
                <a:solidFill>
                  <a:srgbClr val="1B2B3C"/>
                </a:solidFill>
                <a:latin typeface="Calibri"/>
              </a:rPr>
              <a:t>The user and the agent need one visible object to edit together.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463040"/>
            <a:ext cx="3611880" cy="2176272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463040"/>
            <a:ext cx="3611880" cy="310896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" y="1508760"/>
            <a:ext cx="3465576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987"/>
              </a:lnSpc>
              <a:spcAft>
                <a:spcPts val="0"/>
              </a:spcAft>
            </a:pPr>
            <a:r>
              <a:rPr sz="940" b="1" i="0">
                <a:solidFill>
                  <a:srgbClr val="FFFFFF"/>
                </a:solidFill>
                <a:latin typeface="Calibri"/>
              </a:rPr>
              <a:t>Good surfaces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" y="1847088"/>
            <a:ext cx="3465576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772"/>
              </a:lnSpc>
              <a:spcBef>
                <a:spcPts val="0"/>
              </a:spcBef>
              <a:spcAft>
                <a:spcPts val="100"/>
              </a:spcAft>
            </a:pPr>
            <a:r>
              <a:rPr sz="840">
                <a:solidFill>
                  <a:srgbClr val="1B2B3C"/>
                </a:solidFill>
                <a:latin typeface="Calibri"/>
              </a:rPr>
              <a:t>• Canvas for visual work.</a:t>
            </a:r>
          </a:p>
          <a:p>
            <a:pPr>
              <a:lnSpc>
                <a:spcPts val="772"/>
              </a:lnSpc>
              <a:spcBef>
                <a:spcPts val="0"/>
              </a:spcBef>
              <a:spcAft>
                <a:spcPts val="100"/>
              </a:spcAft>
            </a:pPr>
            <a:r>
              <a:rPr sz="840">
                <a:solidFill>
                  <a:srgbClr val="1B2B3C"/>
                </a:solidFill>
                <a:latin typeface="Calibri"/>
              </a:rPr>
              <a:t>• Docs for narrative and planning work.</a:t>
            </a:r>
          </a:p>
          <a:p>
            <a:pPr>
              <a:lnSpc>
                <a:spcPts val="772"/>
              </a:lnSpc>
              <a:spcBef>
                <a:spcPts val="0"/>
              </a:spcBef>
              <a:spcAft>
                <a:spcPts val="100"/>
              </a:spcAft>
            </a:pPr>
            <a:r>
              <a:rPr sz="840">
                <a:solidFill>
                  <a:srgbClr val="1B2B3C"/>
                </a:solidFill>
                <a:latin typeface="Calibri"/>
              </a:rPr>
              <a:t>• Sheets for structured and tabular work.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41648" y="1463040"/>
            <a:ext cx="3611880" cy="21762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041648" y="1463040"/>
            <a:ext cx="3611880" cy="310896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0" y="1508760"/>
            <a:ext cx="3465576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987"/>
              </a:lnSpc>
              <a:spcAft>
                <a:spcPts val="0"/>
              </a:spcAft>
            </a:pPr>
            <a:r>
              <a:rPr sz="940" b="1" i="0">
                <a:solidFill>
                  <a:srgbClr val="FFFFFF"/>
                </a:solidFill>
                <a:latin typeface="Calibri"/>
              </a:rPr>
              <a:t>Design rules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1847088"/>
            <a:ext cx="3465576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772"/>
              </a:lnSpc>
              <a:spcBef>
                <a:spcPts val="0"/>
              </a:spcBef>
              <a:spcAft>
                <a:spcPts val="100"/>
              </a:spcAft>
            </a:pPr>
            <a:r>
              <a:rPr sz="840">
                <a:solidFill>
                  <a:srgbClr val="1B2B3C"/>
                </a:solidFill>
                <a:latin typeface="Calibri"/>
              </a:rPr>
              <a:t>• The user and agent must edit the same object.</a:t>
            </a:r>
          </a:p>
          <a:p>
            <a:pPr>
              <a:lnSpc>
                <a:spcPts val="772"/>
              </a:lnSpc>
              <a:spcBef>
                <a:spcPts val="0"/>
              </a:spcBef>
              <a:spcAft>
                <a:spcPts val="100"/>
              </a:spcAft>
            </a:pPr>
            <a:r>
              <a:rPr sz="840">
                <a:solidFill>
                  <a:srgbClr val="1B2B3C"/>
                </a:solidFill>
                <a:latin typeface="Calibri"/>
              </a:rPr>
              <a:t>• The state must be visible, reversible, and reviewable.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794760"/>
            <a:ext cx="3611880" cy="1243584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3794760"/>
            <a:ext cx="3611880" cy="310896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" y="3840480"/>
            <a:ext cx="3465576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987"/>
              </a:lnSpc>
              <a:spcAft>
                <a:spcPts val="0"/>
              </a:spcAft>
            </a:pPr>
            <a:r>
              <a:rPr sz="940" b="1" i="0">
                <a:solidFill>
                  <a:srgbClr val="FFFFFF"/>
                </a:solidFill>
                <a:latin typeface="Calibri"/>
              </a:rPr>
              <a:t>What to expose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" y="4178808"/>
            <a:ext cx="3465576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772"/>
              </a:lnSpc>
              <a:spcBef>
                <a:spcPts val="0"/>
              </a:spcBef>
              <a:spcAft>
                <a:spcPts val="100"/>
              </a:spcAft>
            </a:pPr>
            <a:r>
              <a:rPr sz="840">
                <a:solidFill>
                  <a:srgbClr val="1B2B3C"/>
                </a:solidFill>
                <a:latin typeface="Calibri"/>
              </a:rPr>
              <a:t>• History, approval, comments, and change tracking.</a:t>
            </a:r>
          </a:p>
          <a:p>
            <a:pPr>
              <a:lnSpc>
                <a:spcPts val="772"/>
              </a:lnSpc>
              <a:spcBef>
                <a:spcPts val="0"/>
              </a:spcBef>
              <a:spcAft>
                <a:spcPts val="100"/>
              </a:spcAft>
            </a:pPr>
            <a:r>
              <a:rPr sz="840">
                <a:solidFill>
                  <a:srgbClr val="1B2B3C"/>
                </a:solidFill>
                <a:latin typeface="Calibri"/>
              </a:rPr>
              <a:t>• The current state and the last meaningful action.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041648" y="3794760"/>
            <a:ext cx="3611880" cy="12435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041648" y="3794760"/>
            <a:ext cx="3611880" cy="310896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0" y="3840480"/>
            <a:ext cx="3465576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987"/>
              </a:lnSpc>
              <a:spcAft>
                <a:spcPts val="0"/>
              </a:spcAft>
            </a:pPr>
            <a:r>
              <a:rPr sz="940" b="1" i="0">
                <a:solidFill>
                  <a:srgbClr val="FFFFFF"/>
                </a:solidFill>
                <a:latin typeface="Calibri"/>
              </a:rPr>
              <a:t>Why it matters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4178808"/>
            <a:ext cx="3465576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772"/>
              </a:lnSpc>
              <a:spcBef>
                <a:spcPts val="0"/>
              </a:spcBef>
              <a:spcAft>
                <a:spcPts val="100"/>
              </a:spcAft>
            </a:pPr>
            <a:r>
              <a:rPr sz="840">
                <a:solidFill>
                  <a:srgbClr val="1B2B3C"/>
                </a:solidFill>
                <a:latin typeface="Calibri"/>
              </a:rPr>
              <a:t>• A shared surface lets the user watch the agent work.</a:t>
            </a:r>
          </a:p>
          <a:p>
            <a:pPr>
              <a:lnSpc>
                <a:spcPts val="772"/>
              </a:lnSpc>
              <a:spcBef>
                <a:spcPts val="0"/>
              </a:spcBef>
              <a:spcAft>
                <a:spcPts val="100"/>
              </a:spcAft>
            </a:pPr>
            <a:r>
              <a:rPr sz="840">
                <a:solidFill>
                  <a:srgbClr val="1B2B3C"/>
                </a:solidFill>
                <a:latin typeface="Calibri"/>
              </a:rPr>
              <a:t>• It turns AI from a hidden process into a collaboration layer.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5212080"/>
            <a:ext cx="905256" cy="310896"/>
          </a:xfrm>
          <a:prstGeom prst="rect">
            <a:avLst/>
          </a:prstGeom>
          <a:solidFill>
            <a:srgbClr val="008F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3192" y="5248656"/>
            <a:ext cx="850392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714"/>
              </a:lnSpc>
              <a:spcAft>
                <a:spcPts val="0"/>
              </a:spcAft>
            </a:pPr>
            <a:r>
              <a:rPr sz="680" b="1" i="0">
                <a:solidFill>
                  <a:srgbClr val="FFFFFF"/>
                </a:solidFill>
                <a:latin typeface="Calibri"/>
              </a:rPr>
              <a:t>Canvas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344168" y="5212080"/>
            <a:ext cx="841248" cy="310896"/>
          </a:xfrm>
          <a:prstGeom prst="rect">
            <a:avLst/>
          </a:prstGeom>
          <a:solidFill>
            <a:srgbClr val="008F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71600" y="5248656"/>
            <a:ext cx="786384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714"/>
              </a:lnSpc>
              <a:spcAft>
                <a:spcPts val="0"/>
              </a:spcAft>
            </a:pPr>
            <a:r>
              <a:rPr sz="680" b="1" i="0">
                <a:solidFill>
                  <a:srgbClr val="FFFFFF"/>
                </a:solidFill>
                <a:latin typeface="Calibri"/>
              </a:rPr>
              <a:t>Docs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258568" y="5212080"/>
            <a:ext cx="905256" cy="310896"/>
          </a:xfrm>
          <a:prstGeom prst="rect">
            <a:avLst/>
          </a:prstGeom>
          <a:solidFill>
            <a:srgbClr val="008F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286000" y="5248656"/>
            <a:ext cx="850392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714"/>
              </a:lnSpc>
              <a:spcAft>
                <a:spcPts val="0"/>
              </a:spcAft>
            </a:pPr>
            <a:r>
              <a:rPr sz="680" b="1" i="0">
                <a:solidFill>
                  <a:srgbClr val="FFFFFF"/>
                </a:solidFill>
                <a:latin typeface="Calibri"/>
              </a:rPr>
              <a:t>Sheets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36976" y="5212080"/>
            <a:ext cx="987552" cy="310896"/>
          </a:xfrm>
          <a:prstGeom prst="rect">
            <a:avLst/>
          </a:prstGeom>
          <a:solidFill>
            <a:srgbClr val="008F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64408" y="5248656"/>
            <a:ext cx="93268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714"/>
              </a:lnSpc>
              <a:spcAft>
                <a:spcPts val="0"/>
              </a:spcAft>
            </a:pPr>
            <a:r>
              <a:rPr sz="680" b="1" i="0">
                <a:solidFill>
                  <a:srgbClr val="FFFFFF"/>
                </a:solidFill>
                <a:latin typeface="Calibri"/>
              </a:rPr>
              <a:t>Browser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5532120"/>
            <a:ext cx="7619695" cy="512064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" y="5623560"/>
            <a:ext cx="7436815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197"/>
              </a:lnSpc>
              <a:spcAft>
                <a:spcPts val="0"/>
              </a:spcAft>
            </a:pPr>
            <a:r>
              <a:rPr sz="1140" b="1" i="0">
                <a:solidFill>
                  <a:srgbClr val="FFFFFF"/>
                </a:solidFill>
                <a:latin typeface="Calibri"/>
              </a:rPr>
              <a:t>The surface is the product; the agent only makes it useful.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76895" y="0"/>
            <a:ext cx="4114800" cy="6858000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186623" y="109728"/>
            <a:ext cx="3895344" cy="66385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991295" y="685800"/>
            <a:ext cx="1371600" cy="51206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991295" y="685800"/>
            <a:ext cx="73152" cy="51206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01023" y="758952"/>
            <a:ext cx="1152144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050"/>
              </a:lnSpc>
              <a:spcAft>
                <a:spcPts val="0"/>
              </a:spcAft>
            </a:pPr>
            <a:r>
              <a:rPr sz="1000" b="1" i="0">
                <a:solidFill>
                  <a:srgbClr val="1B2B3C"/>
                </a:solidFill>
                <a:latin typeface="Calibri"/>
              </a:rPr>
              <a:t>Watch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01023" y="941832"/>
            <a:ext cx="115214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630"/>
              </a:lnSpc>
              <a:spcAft>
                <a:spcPts val="0"/>
              </a:spcAft>
            </a:pPr>
            <a:r>
              <a:rPr sz="600" b="0" i="0">
                <a:solidFill>
                  <a:srgbClr val="5B6B7C"/>
                </a:solidFill>
                <a:latin typeface="Calibri"/>
              </a:rPr>
              <a:t>see state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042855" y="2194560"/>
            <a:ext cx="1417320" cy="51206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0042855" y="2194560"/>
            <a:ext cx="73152" cy="512064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152583" y="2267712"/>
            <a:ext cx="1197864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050"/>
              </a:lnSpc>
              <a:spcAft>
                <a:spcPts val="0"/>
              </a:spcAft>
            </a:pPr>
            <a:r>
              <a:rPr sz="1000" b="1" i="0">
                <a:solidFill>
                  <a:srgbClr val="1B2B3C"/>
                </a:solidFill>
                <a:latin typeface="Calibri"/>
              </a:rPr>
              <a:t>Correct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152583" y="2450592"/>
            <a:ext cx="119786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630"/>
              </a:lnSpc>
              <a:spcAft>
                <a:spcPts val="0"/>
              </a:spcAft>
            </a:pPr>
            <a:r>
              <a:rPr sz="600" b="0" i="0">
                <a:solidFill>
                  <a:srgbClr val="5B6B7C"/>
                </a:solidFill>
                <a:latin typeface="Calibri"/>
              </a:rPr>
              <a:t>small fix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918143" y="3657600"/>
            <a:ext cx="1417320" cy="51206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05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918143" y="3657600"/>
            <a:ext cx="73152" cy="512064"/>
          </a:xfrm>
          <a:prstGeom prst="rect">
            <a:avLst/>
          </a:prstGeom>
          <a:solidFill>
            <a:srgbClr val="E05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027871" y="3730752"/>
            <a:ext cx="1197864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050"/>
              </a:lnSpc>
              <a:spcAft>
                <a:spcPts val="0"/>
              </a:spcAft>
            </a:pPr>
            <a:r>
              <a:rPr sz="1000" b="1" i="0">
                <a:solidFill>
                  <a:srgbClr val="1B2B3C"/>
                </a:solidFill>
                <a:latin typeface="Calibri"/>
              </a:rPr>
              <a:t>Compound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27871" y="3913632"/>
            <a:ext cx="119786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630"/>
              </a:lnSpc>
              <a:spcAft>
                <a:spcPts val="0"/>
              </a:spcAft>
            </a:pPr>
            <a:r>
              <a:rPr sz="600" b="0" i="0">
                <a:solidFill>
                  <a:srgbClr val="5B6B7C"/>
                </a:solidFill>
                <a:latin typeface="Calibri"/>
              </a:rPr>
              <a:t>learns</a:t>
            </a:r>
          </a:p>
        </p:txBody>
      </p:sp>
      <p:sp>
        <p:nvSpPr>
          <p:cNvPr id="48" name="Rectangle 47"/>
          <p:cNvSpPr/>
          <p:nvPr/>
        </p:nvSpPr>
        <p:spPr>
          <a:xfrm rot="4293903">
            <a:off x="9331087" y="1649730"/>
            <a:ext cx="1012055" cy="381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6684778">
            <a:off x="9313334" y="3172206"/>
            <a:ext cx="1001841" cy="381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 rot="15886444">
            <a:off x="7896900" y="2650997"/>
            <a:ext cx="3011749" cy="38100"/>
          </a:xfrm>
          <a:prstGeom prst="rect">
            <a:avLst/>
          </a:prstGeom>
          <a:solidFill>
            <a:srgbClr val="E05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8515807" y="4754880"/>
            <a:ext cx="2743200" cy="868680"/>
          </a:xfrm>
          <a:prstGeom prst="roundRect">
            <a:avLst/>
          </a:prstGeom>
          <a:solidFill>
            <a:srgbClr val="F4F7F8"/>
          </a:solidFill>
          <a:ln w="1524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515807" y="4754880"/>
            <a:ext cx="73152" cy="86868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625535" y="4828032"/>
            <a:ext cx="2523744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945"/>
              </a:lnSpc>
              <a:spcAft>
                <a:spcPts val="0"/>
              </a:spcAft>
            </a:pPr>
            <a:r>
              <a:rPr sz="900" b="1" i="0">
                <a:solidFill>
                  <a:srgbClr val="1B2B3C"/>
                </a:solidFill>
                <a:latin typeface="Calibri"/>
              </a:rPr>
              <a:t>Principle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625535" y="5010912"/>
            <a:ext cx="2523744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651"/>
              </a:lnSpc>
              <a:spcAft>
                <a:spcPts val="0"/>
              </a:spcAft>
            </a:pPr>
            <a:r>
              <a:rPr sz="620" b="0" i="0">
                <a:solidFill>
                  <a:srgbClr val="5B6B7C"/>
                </a:solidFill>
                <a:latin typeface="Calibri"/>
              </a:rPr>
              <a:t>The loop must be visible, reversible, and reusable.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56032" y="6492240"/>
            <a:ext cx="4023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735"/>
              </a:lnSpc>
              <a:spcAft>
                <a:spcPts val="0"/>
              </a:spcAft>
            </a:pPr>
            <a:r>
              <a:rPr sz="700" b="0" i="0">
                <a:solidFill>
                  <a:srgbClr val="888899"/>
                </a:solidFill>
                <a:latin typeface="Calibri"/>
              </a:rPr>
              <a:t>Agent-Native Apps | Canva-style Brief | June 2026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231575" y="6492240"/>
            <a:ext cx="7315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ts val="735"/>
              </a:lnSpc>
              <a:spcAft>
                <a:spcPts val="0"/>
              </a:spcAft>
            </a:pPr>
            <a:r>
              <a:rPr sz="700" b="0" i="0">
                <a:solidFill>
                  <a:srgbClr val="888899"/>
                </a:solidFill>
                <a:latin typeface="Calibri"/>
              </a:rPr>
              <a:t>9 / 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076895" cy="68580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752825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2205"/>
              </a:lnSpc>
              <a:spcAft>
                <a:spcPts val="0"/>
              </a:spcAft>
            </a:pPr>
            <a:r>
              <a:rPr sz="2100" b="1" i="0">
                <a:solidFill>
                  <a:srgbClr val="FFFFFF"/>
                </a:solidFill>
                <a:latin typeface="Calibri"/>
              </a:rPr>
              <a:t>Human in the loop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658368"/>
            <a:ext cx="1645920" cy="27432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822960"/>
            <a:ext cx="7436815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102"/>
              </a:lnSpc>
              <a:spcAft>
                <a:spcPts val="0"/>
              </a:spcAft>
            </a:pPr>
            <a:r>
              <a:rPr sz="1050" b="0" i="0">
                <a:solidFill>
                  <a:srgbClr val="E0F7F1"/>
                </a:solidFill>
                <a:latin typeface="Calibri"/>
              </a:rPr>
              <a:t>The collaboration loop should be part of the product, not a side effect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69264"/>
            <a:ext cx="7436815" cy="420624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1024128"/>
            <a:ext cx="7290511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798"/>
              </a:lnSpc>
              <a:spcAft>
                <a:spcPts val="0"/>
              </a:spcAft>
            </a:pPr>
            <a:r>
              <a:rPr sz="760" b="0" i="0">
                <a:solidFill>
                  <a:srgbClr val="1B2B3C"/>
                </a:solidFill>
                <a:latin typeface="Calibri"/>
              </a:rPr>
              <a:t>Visible progress and cheap corrections make automation trustworthy.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463040"/>
            <a:ext cx="3611880" cy="2176272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463040"/>
            <a:ext cx="3611880" cy="310896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" y="1508760"/>
            <a:ext cx="3465576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987"/>
              </a:lnSpc>
              <a:spcAft>
                <a:spcPts val="0"/>
              </a:spcAft>
            </a:pPr>
            <a:r>
              <a:rPr sz="940" b="1" i="0">
                <a:solidFill>
                  <a:srgbClr val="FFFFFF"/>
                </a:solidFill>
                <a:latin typeface="Calibri"/>
              </a:rPr>
              <a:t>Watch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" y="1847088"/>
            <a:ext cx="3465576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772"/>
              </a:lnSpc>
              <a:spcBef>
                <a:spcPts val="0"/>
              </a:spcBef>
              <a:spcAft>
                <a:spcPts val="100"/>
              </a:spcAft>
            </a:pPr>
            <a:r>
              <a:rPr sz="840">
                <a:solidFill>
                  <a:srgbClr val="1B2B3C"/>
                </a:solidFill>
                <a:latin typeface="Calibri"/>
              </a:rPr>
              <a:t>• The user can see each change live.</a:t>
            </a:r>
          </a:p>
          <a:p>
            <a:pPr>
              <a:lnSpc>
                <a:spcPts val="772"/>
              </a:lnSpc>
              <a:spcBef>
                <a:spcPts val="0"/>
              </a:spcBef>
              <a:spcAft>
                <a:spcPts val="100"/>
              </a:spcAft>
            </a:pPr>
            <a:r>
              <a:rPr sz="840">
                <a:solidFill>
                  <a:srgbClr val="1B2B3C"/>
                </a:solidFill>
                <a:latin typeface="Calibri"/>
              </a:rPr>
              <a:t>• Progress should be visible, not hidden.</a:t>
            </a:r>
          </a:p>
          <a:p>
            <a:pPr>
              <a:lnSpc>
                <a:spcPts val="772"/>
              </a:lnSpc>
              <a:spcBef>
                <a:spcPts val="0"/>
              </a:spcBef>
              <a:spcAft>
                <a:spcPts val="100"/>
              </a:spcAft>
            </a:pPr>
            <a:r>
              <a:rPr sz="840">
                <a:solidFill>
                  <a:srgbClr val="1B2B3C"/>
                </a:solidFill>
                <a:latin typeface="Calibri"/>
              </a:rPr>
              <a:t>• The agent should show enough state to be trusted.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41648" y="1463040"/>
            <a:ext cx="3611880" cy="21762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041648" y="1463040"/>
            <a:ext cx="3611880" cy="310896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0" y="1508760"/>
            <a:ext cx="3465576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987"/>
              </a:lnSpc>
              <a:spcAft>
                <a:spcPts val="0"/>
              </a:spcAft>
            </a:pPr>
            <a:r>
              <a:rPr sz="940" b="1" i="0">
                <a:solidFill>
                  <a:srgbClr val="FFFFFF"/>
                </a:solidFill>
                <a:latin typeface="Calibri"/>
              </a:rPr>
              <a:t>Correct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1847088"/>
            <a:ext cx="3465576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772"/>
              </a:lnSpc>
              <a:spcBef>
                <a:spcPts val="0"/>
              </a:spcBef>
              <a:spcAft>
                <a:spcPts val="100"/>
              </a:spcAft>
            </a:pPr>
            <a:r>
              <a:rPr sz="840">
                <a:solidFill>
                  <a:srgbClr val="1B2B3C"/>
                </a:solidFill>
                <a:latin typeface="Calibri"/>
              </a:rPr>
              <a:t>• Feedback should be cheap and immediate.</a:t>
            </a:r>
          </a:p>
          <a:p>
            <a:pPr>
              <a:lnSpc>
                <a:spcPts val="772"/>
              </a:lnSpc>
              <a:spcBef>
                <a:spcPts val="0"/>
              </a:spcBef>
              <a:spcAft>
                <a:spcPts val="100"/>
              </a:spcAft>
            </a:pPr>
            <a:r>
              <a:rPr sz="840">
                <a:solidFill>
                  <a:srgbClr val="1B2B3C"/>
                </a:solidFill>
                <a:latin typeface="Calibri"/>
              </a:rPr>
              <a:t>• Corrections become new context for the next run.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794760"/>
            <a:ext cx="3611880" cy="1243584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3794760"/>
            <a:ext cx="3611880" cy="310896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" y="3840480"/>
            <a:ext cx="3465576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987"/>
              </a:lnSpc>
              <a:spcAft>
                <a:spcPts val="0"/>
              </a:spcAft>
            </a:pPr>
            <a:r>
              <a:rPr sz="940" b="1" i="0">
                <a:solidFill>
                  <a:srgbClr val="FFFFFF"/>
                </a:solidFill>
                <a:latin typeface="Calibri"/>
              </a:rPr>
              <a:t>Compounding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" y="4178808"/>
            <a:ext cx="3465576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772"/>
              </a:lnSpc>
              <a:spcBef>
                <a:spcPts val="0"/>
              </a:spcBef>
              <a:spcAft>
                <a:spcPts val="100"/>
              </a:spcAft>
            </a:pPr>
            <a:r>
              <a:rPr sz="840">
                <a:solidFill>
                  <a:srgbClr val="1B2B3C"/>
                </a:solidFill>
                <a:latin typeface="Calibri"/>
              </a:rPr>
              <a:t>• The loop teaches the system what good looks like.</a:t>
            </a:r>
          </a:p>
          <a:p>
            <a:pPr>
              <a:lnSpc>
                <a:spcPts val="772"/>
              </a:lnSpc>
              <a:spcBef>
                <a:spcPts val="0"/>
              </a:spcBef>
              <a:spcAft>
                <a:spcPts val="100"/>
              </a:spcAft>
            </a:pPr>
            <a:r>
              <a:rPr sz="840">
                <a:solidFill>
                  <a:srgbClr val="1B2B3C"/>
                </a:solidFill>
                <a:latin typeface="Calibri"/>
              </a:rPr>
              <a:t>• A better feedback loop makes the product better over time.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041648" y="3794760"/>
            <a:ext cx="3611880" cy="12435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041648" y="3794760"/>
            <a:ext cx="3611880" cy="310896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0" y="3840480"/>
            <a:ext cx="3465576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987"/>
              </a:lnSpc>
              <a:spcAft>
                <a:spcPts val="0"/>
              </a:spcAft>
            </a:pPr>
            <a:r>
              <a:rPr sz="940" b="1" i="0">
                <a:solidFill>
                  <a:srgbClr val="FFFFFF"/>
                </a:solidFill>
                <a:latin typeface="Calibri"/>
              </a:rPr>
              <a:t>Why it matters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4178808"/>
            <a:ext cx="3465576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772"/>
              </a:lnSpc>
              <a:spcBef>
                <a:spcPts val="0"/>
              </a:spcBef>
              <a:spcAft>
                <a:spcPts val="100"/>
              </a:spcAft>
            </a:pPr>
            <a:r>
              <a:rPr sz="840">
                <a:solidFill>
                  <a:srgbClr val="1B2B3C"/>
                </a:solidFill>
                <a:latin typeface="Calibri"/>
              </a:rPr>
              <a:t>• Automation without visibility is fragile.</a:t>
            </a:r>
          </a:p>
          <a:p>
            <a:pPr>
              <a:lnSpc>
                <a:spcPts val="772"/>
              </a:lnSpc>
              <a:spcBef>
                <a:spcPts val="0"/>
              </a:spcBef>
              <a:spcAft>
                <a:spcPts val="100"/>
              </a:spcAft>
            </a:pPr>
            <a:r>
              <a:rPr sz="840">
                <a:solidFill>
                  <a:srgbClr val="1B2B3C"/>
                </a:solidFill>
                <a:latin typeface="Calibri"/>
              </a:rPr>
              <a:t>• Collaboration needs review and correction built in.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5212080"/>
            <a:ext cx="841248" cy="310896"/>
          </a:xfrm>
          <a:prstGeom prst="rect">
            <a:avLst/>
          </a:prstGeom>
          <a:solidFill>
            <a:srgbClr val="008F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3192" y="5248656"/>
            <a:ext cx="786384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714"/>
              </a:lnSpc>
              <a:spcAft>
                <a:spcPts val="0"/>
              </a:spcAft>
            </a:pPr>
            <a:r>
              <a:rPr sz="680" b="1" i="0">
                <a:solidFill>
                  <a:srgbClr val="FFFFFF"/>
                </a:solidFill>
                <a:latin typeface="Calibri"/>
              </a:rPr>
              <a:t>Watch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280160" y="5212080"/>
            <a:ext cx="987552" cy="310896"/>
          </a:xfrm>
          <a:prstGeom prst="rect">
            <a:avLst/>
          </a:prstGeom>
          <a:solidFill>
            <a:srgbClr val="008F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07592" y="5248656"/>
            <a:ext cx="93268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714"/>
              </a:lnSpc>
              <a:spcAft>
                <a:spcPts val="0"/>
              </a:spcAft>
            </a:pPr>
            <a:r>
              <a:rPr sz="680" b="1" i="0">
                <a:solidFill>
                  <a:srgbClr val="FFFFFF"/>
                </a:solidFill>
                <a:latin typeface="Calibri"/>
              </a:rPr>
              <a:t>Correct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340864" y="5212080"/>
            <a:ext cx="1069848" cy="310896"/>
          </a:xfrm>
          <a:prstGeom prst="rect">
            <a:avLst/>
          </a:prstGeom>
          <a:solidFill>
            <a:srgbClr val="008F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368296" y="5248656"/>
            <a:ext cx="1014984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714"/>
              </a:lnSpc>
              <a:spcAft>
                <a:spcPts val="0"/>
              </a:spcAft>
            </a:pPr>
            <a:r>
              <a:rPr sz="680" b="1" i="0">
                <a:solidFill>
                  <a:srgbClr val="FFFFFF"/>
                </a:solidFill>
                <a:latin typeface="Calibri"/>
              </a:rPr>
              <a:t>Compound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5532120"/>
            <a:ext cx="7619695" cy="512064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5623560"/>
            <a:ext cx="7436815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197"/>
              </a:lnSpc>
              <a:spcAft>
                <a:spcPts val="0"/>
              </a:spcAft>
            </a:pPr>
            <a:r>
              <a:rPr sz="1140" b="1" i="0">
                <a:solidFill>
                  <a:srgbClr val="FFFFFF"/>
                </a:solidFill>
                <a:latin typeface="Calibri"/>
              </a:rPr>
              <a:t>Visible feedback is what turns automation into collaboration.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76895" y="0"/>
            <a:ext cx="4114800" cy="6858000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186623" y="109728"/>
            <a:ext cx="3895344" cy="66385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991295" y="685800"/>
            <a:ext cx="1371600" cy="51206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991295" y="685800"/>
            <a:ext cx="73152" cy="51206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1023" y="758952"/>
            <a:ext cx="1152144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050"/>
              </a:lnSpc>
              <a:spcAft>
                <a:spcPts val="0"/>
              </a:spcAft>
            </a:pPr>
            <a:r>
              <a:rPr sz="1000" b="1" i="0">
                <a:solidFill>
                  <a:srgbClr val="1B2B3C"/>
                </a:solidFill>
                <a:latin typeface="Calibri"/>
              </a:rPr>
              <a:t>Watch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01023" y="941832"/>
            <a:ext cx="115214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630"/>
              </a:lnSpc>
              <a:spcAft>
                <a:spcPts val="0"/>
              </a:spcAft>
            </a:pPr>
            <a:r>
              <a:rPr sz="600" b="0" i="0">
                <a:solidFill>
                  <a:srgbClr val="5B6B7C"/>
                </a:solidFill>
                <a:latin typeface="Calibri"/>
              </a:rPr>
              <a:t>see state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042855" y="2194560"/>
            <a:ext cx="1417320" cy="51206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042855" y="2194560"/>
            <a:ext cx="73152" cy="512064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152583" y="2267712"/>
            <a:ext cx="1197864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050"/>
              </a:lnSpc>
              <a:spcAft>
                <a:spcPts val="0"/>
              </a:spcAft>
            </a:pPr>
            <a:r>
              <a:rPr sz="1000" b="1" i="0">
                <a:solidFill>
                  <a:srgbClr val="1B2B3C"/>
                </a:solidFill>
                <a:latin typeface="Calibri"/>
              </a:rPr>
              <a:t>Correct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52583" y="2450592"/>
            <a:ext cx="119786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630"/>
              </a:lnSpc>
              <a:spcAft>
                <a:spcPts val="0"/>
              </a:spcAft>
            </a:pPr>
            <a:r>
              <a:rPr sz="600" b="0" i="0">
                <a:solidFill>
                  <a:srgbClr val="5B6B7C"/>
                </a:solidFill>
                <a:latin typeface="Calibri"/>
              </a:rPr>
              <a:t>small fix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918143" y="3657600"/>
            <a:ext cx="1417320" cy="51206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05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918143" y="3657600"/>
            <a:ext cx="73152" cy="512064"/>
          </a:xfrm>
          <a:prstGeom prst="rect">
            <a:avLst/>
          </a:prstGeom>
          <a:solidFill>
            <a:srgbClr val="E05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27871" y="3730752"/>
            <a:ext cx="1197864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050"/>
              </a:lnSpc>
              <a:spcAft>
                <a:spcPts val="0"/>
              </a:spcAft>
            </a:pPr>
            <a:r>
              <a:rPr sz="1000" b="1" i="0">
                <a:solidFill>
                  <a:srgbClr val="1B2B3C"/>
                </a:solidFill>
                <a:latin typeface="Calibri"/>
              </a:rPr>
              <a:t>Compound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27871" y="3913632"/>
            <a:ext cx="119786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630"/>
              </a:lnSpc>
              <a:spcAft>
                <a:spcPts val="0"/>
              </a:spcAft>
            </a:pPr>
            <a:r>
              <a:rPr sz="600" b="0" i="0">
                <a:solidFill>
                  <a:srgbClr val="5B6B7C"/>
                </a:solidFill>
                <a:latin typeface="Calibri"/>
              </a:rPr>
              <a:t>learns</a:t>
            </a:r>
          </a:p>
        </p:txBody>
      </p:sp>
      <p:sp>
        <p:nvSpPr>
          <p:cNvPr id="46" name="Rectangle 45"/>
          <p:cNvSpPr/>
          <p:nvPr/>
        </p:nvSpPr>
        <p:spPr>
          <a:xfrm rot="4293903">
            <a:off x="9331087" y="1649730"/>
            <a:ext cx="1012055" cy="381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 rot="6684778">
            <a:off x="9313334" y="3172206"/>
            <a:ext cx="1001841" cy="381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 rot="15886444">
            <a:off x="7896900" y="2650997"/>
            <a:ext cx="3011749" cy="38100"/>
          </a:xfrm>
          <a:prstGeom prst="rect">
            <a:avLst/>
          </a:prstGeom>
          <a:solidFill>
            <a:srgbClr val="E05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8515807" y="4754880"/>
            <a:ext cx="2743200" cy="868680"/>
          </a:xfrm>
          <a:prstGeom prst="roundRect">
            <a:avLst/>
          </a:prstGeom>
          <a:solidFill>
            <a:srgbClr val="F4F7F8"/>
          </a:solidFill>
          <a:ln w="1524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515807" y="4754880"/>
            <a:ext cx="73152" cy="86868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625535" y="4828032"/>
            <a:ext cx="2523744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945"/>
              </a:lnSpc>
              <a:spcAft>
                <a:spcPts val="0"/>
              </a:spcAft>
            </a:pPr>
            <a:r>
              <a:rPr sz="900" b="1" i="0">
                <a:solidFill>
                  <a:srgbClr val="1B2B3C"/>
                </a:solidFill>
                <a:latin typeface="Calibri"/>
              </a:rPr>
              <a:t>Principle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625535" y="5010912"/>
            <a:ext cx="2523744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651"/>
              </a:lnSpc>
              <a:spcAft>
                <a:spcPts val="0"/>
              </a:spcAft>
            </a:pPr>
            <a:r>
              <a:rPr sz="620" b="0" i="0">
                <a:solidFill>
                  <a:srgbClr val="5B6B7C"/>
                </a:solidFill>
                <a:latin typeface="Calibri"/>
              </a:rPr>
              <a:t>The loop must be visible, reversible, and reusable.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56032" y="6492240"/>
            <a:ext cx="4023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735"/>
              </a:lnSpc>
              <a:spcAft>
                <a:spcPts val="0"/>
              </a:spcAft>
            </a:pPr>
            <a:r>
              <a:rPr sz="700" b="0" i="0">
                <a:solidFill>
                  <a:srgbClr val="888899"/>
                </a:solidFill>
                <a:latin typeface="Calibri"/>
              </a:rPr>
              <a:t>Agent-Native Apps | Canva-style Brief | June 2026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231575" y="6492240"/>
            <a:ext cx="7315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ts val="735"/>
              </a:lnSpc>
              <a:spcAft>
                <a:spcPts val="0"/>
              </a:spcAft>
            </a:pPr>
            <a:r>
              <a:rPr sz="700" b="0" i="0">
                <a:solidFill>
                  <a:srgbClr val="888899"/>
                </a:solidFill>
                <a:latin typeface="Calibri"/>
              </a:rPr>
              <a:t>10 / 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076895" cy="68580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752825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2205"/>
              </a:lnSpc>
              <a:spcAft>
                <a:spcPts val="0"/>
              </a:spcAft>
            </a:pPr>
            <a:r>
              <a:rPr sz="2100" b="1" i="0">
                <a:solidFill>
                  <a:srgbClr val="FFFFFF"/>
                </a:solidFill>
                <a:latin typeface="Calibri"/>
              </a:rPr>
              <a:t>Where the opportunity is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658368"/>
            <a:ext cx="1645920" cy="27432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822960"/>
            <a:ext cx="7436815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102"/>
              </a:lnSpc>
              <a:spcAft>
                <a:spcPts val="0"/>
              </a:spcAft>
            </a:pPr>
            <a:r>
              <a:rPr sz="1050" b="0" i="0">
                <a:solidFill>
                  <a:srgbClr val="E0F7F1"/>
                </a:solidFill>
                <a:latin typeface="Calibri"/>
              </a:rPr>
              <a:t>The strongest surfaces already carry context and already host repeated 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69264"/>
            <a:ext cx="7436815" cy="420624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1024128"/>
            <a:ext cx="7290511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798"/>
              </a:lnSpc>
              <a:spcAft>
                <a:spcPts val="0"/>
              </a:spcAft>
            </a:pPr>
            <a:r>
              <a:rPr sz="760" b="0" i="0">
                <a:solidFill>
                  <a:srgbClr val="1B2B3C"/>
                </a:solidFill>
                <a:latin typeface="Calibri"/>
              </a:rPr>
              <a:t>The best wedges already have repeat work and visible state.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463040"/>
            <a:ext cx="3611880" cy="2176272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463040"/>
            <a:ext cx="3611880" cy="310896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" y="1508760"/>
            <a:ext cx="3465576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987"/>
              </a:lnSpc>
              <a:spcAft>
                <a:spcPts val="0"/>
              </a:spcAft>
            </a:pPr>
            <a:r>
              <a:rPr sz="940" b="1" i="0">
                <a:solidFill>
                  <a:srgbClr val="FFFFFF"/>
                </a:solidFill>
                <a:latin typeface="Calibri"/>
              </a:rPr>
              <a:t>Best-fit surfaces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" y="1847088"/>
            <a:ext cx="3465576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772"/>
              </a:lnSpc>
              <a:spcBef>
                <a:spcPts val="0"/>
              </a:spcBef>
              <a:spcAft>
                <a:spcPts val="100"/>
              </a:spcAft>
            </a:pPr>
            <a:r>
              <a:rPr sz="840">
                <a:solidFill>
                  <a:srgbClr val="1B2B3C"/>
                </a:solidFill>
                <a:latin typeface="Calibri"/>
              </a:rPr>
              <a:t>• Canvas tools like Miro because the work is already collaborative.</a:t>
            </a:r>
          </a:p>
          <a:p>
            <a:pPr>
              <a:lnSpc>
                <a:spcPts val="772"/>
              </a:lnSpc>
              <a:spcBef>
                <a:spcPts val="0"/>
              </a:spcBef>
              <a:spcAft>
                <a:spcPts val="100"/>
              </a:spcAft>
            </a:pPr>
            <a:r>
              <a:rPr sz="840">
                <a:solidFill>
                  <a:srgbClr val="1B2B3C"/>
                </a:solidFill>
                <a:latin typeface="Calibri"/>
              </a:rPr>
              <a:t>• Docs and knowledge bases because context already lives there.</a:t>
            </a:r>
          </a:p>
          <a:p>
            <a:pPr>
              <a:lnSpc>
                <a:spcPts val="772"/>
              </a:lnSpc>
              <a:spcBef>
                <a:spcPts val="0"/>
              </a:spcBef>
              <a:spcAft>
                <a:spcPts val="100"/>
              </a:spcAft>
            </a:pPr>
            <a:r>
              <a:rPr sz="840">
                <a:solidFill>
                  <a:srgbClr val="1B2B3C"/>
                </a:solidFill>
                <a:latin typeface="Calibri"/>
              </a:rPr>
              <a:t>• Sheets and suites because structured data is already the workflow.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41648" y="1463040"/>
            <a:ext cx="3611880" cy="21762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041648" y="1463040"/>
            <a:ext cx="3611880" cy="310896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0" y="1508760"/>
            <a:ext cx="3465576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987"/>
              </a:lnSpc>
              <a:spcAft>
                <a:spcPts val="0"/>
              </a:spcAft>
            </a:pPr>
            <a:r>
              <a:rPr sz="940" b="1" i="0">
                <a:solidFill>
                  <a:srgbClr val="FFFFFF"/>
                </a:solidFill>
                <a:latin typeface="Calibri"/>
              </a:rPr>
              <a:t>Why they win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1847088"/>
            <a:ext cx="3465576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772"/>
              </a:lnSpc>
              <a:spcBef>
                <a:spcPts val="0"/>
              </a:spcBef>
              <a:spcAft>
                <a:spcPts val="100"/>
              </a:spcAft>
            </a:pPr>
            <a:r>
              <a:rPr sz="840">
                <a:solidFill>
                  <a:srgbClr val="1B2B3C"/>
                </a:solidFill>
                <a:latin typeface="Calibri"/>
              </a:rPr>
              <a:t>• They already have a shared object to work on.</a:t>
            </a:r>
          </a:p>
          <a:p>
            <a:pPr>
              <a:lnSpc>
                <a:spcPts val="772"/>
              </a:lnSpc>
              <a:spcBef>
                <a:spcPts val="0"/>
              </a:spcBef>
              <a:spcAft>
                <a:spcPts val="100"/>
              </a:spcAft>
            </a:pPr>
            <a:r>
              <a:rPr sz="840">
                <a:solidFill>
                  <a:srgbClr val="1B2B3C"/>
                </a:solidFill>
                <a:latin typeface="Calibri"/>
              </a:rPr>
              <a:t>• They already have users who need reviewable state.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794760"/>
            <a:ext cx="3611880" cy="1243584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3794760"/>
            <a:ext cx="3611880" cy="310896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" y="3840480"/>
            <a:ext cx="3465576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987"/>
              </a:lnSpc>
              <a:spcAft>
                <a:spcPts val="0"/>
              </a:spcAft>
            </a:pPr>
            <a:r>
              <a:rPr sz="940" b="1" i="0">
                <a:solidFill>
                  <a:srgbClr val="FFFFFF"/>
                </a:solidFill>
                <a:latin typeface="Calibri"/>
              </a:rPr>
              <a:t>Opportunity logic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" y="4178808"/>
            <a:ext cx="3465576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772"/>
              </a:lnSpc>
              <a:spcBef>
                <a:spcPts val="0"/>
              </a:spcBef>
              <a:spcAft>
                <a:spcPts val="100"/>
              </a:spcAft>
            </a:pPr>
            <a:r>
              <a:rPr sz="840">
                <a:solidFill>
                  <a:srgbClr val="1B2B3C"/>
                </a:solidFill>
                <a:latin typeface="Calibri"/>
              </a:rPr>
              <a:t>• The best wedge is where the app can hold context and expose actions.</a:t>
            </a:r>
          </a:p>
          <a:p>
            <a:pPr>
              <a:lnSpc>
                <a:spcPts val="772"/>
              </a:lnSpc>
              <a:spcBef>
                <a:spcPts val="0"/>
              </a:spcBef>
              <a:spcAft>
                <a:spcPts val="100"/>
              </a:spcAft>
            </a:pPr>
            <a:r>
              <a:rPr sz="840">
                <a:solidFill>
                  <a:srgbClr val="1B2B3C"/>
                </a:solidFill>
                <a:latin typeface="Calibri"/>
              </a:rPr>
              <a:t>• Large incumbents still have room because they already own the workflow.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041648" y="3794760"/>
            <a:ext cx="3611880" cy="12435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041648" y="3794760"/>
            <a:ext cx="3611880" cy="310896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0" y="3840480"/>
            <a:ext cx="3465576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987"/>
              </a:lnSpc>
              <a:spcAft>
                <a:spcPts val="0"/>
              </a:spcAft>
            </a:pPr>
            <a:r>
              <a:rPr sz="940" b="1" i="0">
                <a:solidFill>
                  <a:srgbClr val="FFFFFF"/>
                </a:solidFill>
                <a:latin typeface="Calibri"/>
              </a:rPr>
              <a:t>Priority signal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4178808"/>
            <a:ext cx="3465576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772"/>
              </a:lnSpc>
              <a:spcBef>
                <a:spcPts val="0"/>
              </a:spcBef>
              <a:spcAft>
                <a:spcPts val="100"/>
              </a:spcAft>
            </a:pPr>
            <a:r>
              <a:rPr sz="840">
                <a:solidFill>
                  <a:srgbClr val="1B2B3C"/>
                </a:solidFill>
                <a:latin typeface="Calibri"/>
              </a:rPr>
              <a:t>• Look for repeated, visible, auditable work.</a:t>
            </a:r>
          </a:p>
          <a:p>
            <a:pPr>
              <a:lnSpc>
                <a:spcPts val="772"/>
              </a:lnSpc>
              <a:spcBef>
                <a:spcPts val="0"/>
              </a:spcBef>
              <a:spcAft>
                <a:spcPts val="100"/>
              </a:spcAft>
            </a:pPr>
            <a:r>
              <a:rPr sz="840">
                <a:solidFill>
                  <a:srgbClr val="1B2B3C"/>
                </a:solidFill>
                <a:latin typeface="Calibri"/>
              </a:rPr>
              <a:t>• That is where agent-native software has room to matter.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5212080"/>
            <a:ext cx="841248" cy="310896"/>
          </a:xfrm>
          <a:prstGeom prst="rect">
            <a:avLst/>
          </a:prstGeom>
          <a:solidFill>
            <a:srgbClr val="008F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3192" y="5248656"/>
            <a:ext cx="786384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714"/>
              </a:lnSpc>
              <a:spcAft>
                <a:spcPts val="0"/>
              </a:spcAft>
            </a:pPr>
            <a:r>
              <a:rPr sz="680" b="1" i="0">
                <a:solidFill>
                  <a:srgbClr val="FFFFFF"/>
                </a:solidFill>
                <a:latin typeface="Calibri"/>
              </a:rPr>
              <a:t>Miro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280160" y="5212080"/>
            <a:ext cx="905256" cy="310896"/>
          </a:xfrm>
          <a:prstGeom prst="rect">
            <a:avLst/>
          </a:prstGeom>
          <a:solidFill>
            <a:srgbClr val="008F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07592" y="5248656"/>
            <a:ext cx="850392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714"/>
              </a:lnSpc>
              <a:spcAft>
                <a:spcPts val="0"/>
              </a:spcAft>
            </a:pPr>
            <a:r>
              <a:rPr sz="680" b="1" i="0">
                <a:solidFill>
                  <a:srgbClr val="FFFFFF"/>
                </a:solidFill>
                <a:latin typeface="Calibri"/>
              </a:rPr>
              <a:t>Notion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258568" y="5212080"/>
            <a:ext cx="905256" cy="310896"/>
          </a:xfrm>
          <a:prstGeom prst="rect">
            <a:avLst/>
          </a:prstGeom>
          <a:solidFill>
            <a:srgbClr val="008F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286000" y="5248656"/>
            <a:ext cx="850392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714"/>
              </a:lnSpc>
              <a:spcAft>
                <a:spcPts val="0"/>
              </a:spcAft>
            </a:pPr>
            <a:r>
              <a:rPr sz="680" b="1" i="0">
                <a:solidFill>
                  <a:srgbClr val="FFFFFF"/>
                </a:solidFill>
                <a:latin typeface="Calibri"/>
              </a:rPr>
              <a:t>Sheets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36976" y="5212080"/>
            <a:ext cx="841248" cy="310896"/>
          </a:xfrm>
          <a:prstGeom prst="rect">
            <a:avLst/>
          </a:prstGeom>
          <a:solidFill>
            <a:srgbClr val="008F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64408" y="5248656"/>
            <a:ext cx="786384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714"/>
              </a:lnSpc>
              <a:spcAft>
                <a:spcPts val="0"/>
              </a:spcAft>
            </a:pPr>
            <a:r>
              <a:rPr sz="680" b="1" i="0">
                <a:solidFill>
                  <a:srgbClr val="FFFFFF"/>
                </a:solidFill>
                <a:latin typeface="Calibri"/>
              </a:rPr>
              <a:t>Adobe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5532120"/>
            <a:ext cx="7619695" cy="512064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" y="5623560"/>
            <a:ext cx="7436815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197"/>
              </a:lnSpc>
              <a:spcAft>
                <a:spcPts val="0"/>
              </a:spcAft>
            </a:pPr>
            <a:r>
              <a:rPr sz="1140" b="1" i="0">
                <a:solidFill>
                  <a:srgbClr val="FFFFFF"/>
                </a:solidFill>
                <a:latin typeface="Calibri"/>
              </a:rPr>
              <a:t>The surface is the product; the agent just amplifies what is already there.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76895" y="0"/>
            <a:ext cx="4114800" cy="6858000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186623" y="109728"/>
            <a:ext cx="3895344" cy="66385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396935" y="658368"/>
            <a:ext cx="1234440" cy="914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05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396935" y="658368"/>
            <a:ext cx="73152" cy="914400"/>
          </a:xfrm>
          <a:prstGeom prst="rect">
            <a:avLst/>
          </a:prstGeom>
          <a:solidFill>
            <a:srgbClr val="E05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06663" y="731520"/>
            <a:ext cx="1014984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945"/>
              </a:lnSpc>
              <a:spcAft>
                <a:spcPts val="0"/>
              </a:spcAft>
            </a:pPr>
            <a:r>
              <a:rPr sz="900" b="1" i="0">
                <a:solidFill>
                  <a:srgbClr val="1B2B3C"/>
                </a:solidFill>
                <a:latin typeface="Calibri"/>
              </a:rPr>
              <a:t>Low value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06663" y="914400"/>
            <a:ext cx="1014984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609"/>
              </a:lnSpc>
              <a:spcAft>
                <a:spcPts val="0"/>
              </a:spcAft>
            </a:pPr>
            <a:r>
              <a:rPr sz="580" b="0" i="0">
                <a:solidFill>
                  <a:srgbClr val="5B6B7C"/>
                </a:solidFill>
                <a:latin typeface="Calibri"/>
              </a:rPr>
              <a:t>hidden</a:t>
            </a:r>
            <a:br/>
            <a:r>
              <a:rPr sz="580" b="0" i="0">
                <a:solidFill>
                  <a:srgbClr val="5B6B7C"/>
                </a:solidFill>
                <a:latin typeface="Calibri"/>
              </a:rPr>
              <a:t>rare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859975" y="658368"/>
            <a:ext cx="1234440" cy="914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859975" y="658368"/>
            <a:ext cx="73152" cy="9144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969703" y="731520"/>
            <a:ext cx="1014984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945"/>
              </a:lnSpc>
              <a:spcAft>
                <a:spcPts val="0"/>
              </a:spcAft>
            </a:pPr>
            <a:r>
              <a:rPr sz="900" b="1" i="0">
                <a:solidFill>
                  <a:srgbClr val="1B2B3C"/>
                </a:solidFill>
                <a:latin typeface="Calibri"/>
              </a:rPr>
              <a:t>Strong wedge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969703" y="914400"/>
            <a:ext cx="1014984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609"/>
              </a:lnSpc>
              <a:spcAft>
                <a:spcPts val="0"/>
              </a:spcAft>
            </a:pPr>
            <a:r>
              <a:rPr sz="580" b="0" i="0">
                <a:solidFill>
                  <a:srgbClr val="5B6B7C"/>
                </a:solidFill>
                <a:latin typeface="Calibri"/>
              </a:rPr>
              <a:t>visible</a:t>
            </a:r>
            <a:br/>
            <a:r>
              <a:rPr sz="580" b="0" i="0">
                <a:solidFill>
                  <a:srgbClr val="5B6B7C"/>
                </a:solidFill>
                <a:latin typeface="Calibri"/>
              </a:rPr>
              <a:t>repeatable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396935" y="1828800"/>
            <a:ext cx="1234440" cy="914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396935" y="1828800"/>
            <a:ext cx="73152" cy="9144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506663" y="1901952"/>
            <a:ext cx="1014984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945"/>
              </a:lnSpc>
              <a:spcAft>
                <a:spcPts val="0"/>
              </a:spcAft>
            </a:pPr>
            <a:r>
              <a:rPr sz="900" b="1" i="0">
                <a:solidFill>
                  <a:srgbClr val="1B2B3C"/>
                </a:solidFill>
                <a:latin typeface="Calibri"/>
              </a:rPr>
              <a:t>Weak wedge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06663" y="2084832"/>
            <a:ext cx="1014984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609"/>
              </a:lnSpc>
              <a:spcAft>
                <a:spcPts val="0"/>
              </a:spcAft>
            </a:pPr>
            <a:r>
              <a:rPr sz="580" b="0" i="0">
                <a:solidFill>
                  <a:srgbClr val="5B6B7C"/>
                </a:solidFill>
                <a:latin typeface="Calibri"/>
              </a:rPr>
              <a:t>repeatable</a:t>
            </a:r>
            <a:br/>
            <a:r>
              <a:rPr sz="580" b="0" i="0">
                <a:solidFill>
                  <a:srgbClr val="5B6B7C"/>
                </a:solidFill>
                <a:latin typeface="Calibri"/>
              </a:rPr>
              <a:t>but opaque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859975" y="1828800"/>
            <a:ext cx="1234440" cy="914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9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859975" y="1828800"/>
            <a:ext cx="73152" cy="914400"/>
          </a:xfrm>
          <a:prstGeom prst="rect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969703" y="1901952"/>
            <a:ext cx="1014984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945"/>
              </a:lnSpc>
              <a:spcAft>
                <a:spcPts val="0"/>
              </a:spcAft>
            </a:pPr>
            <a:r>
              <a:rPr sz="900" b="1" i="0">
                <a:solidFill>
                  <a:srgbClr val="1B2B3C"/>
                </a:solidFill>
                <a:latin typeface="Calibri"/>
              </a:rPr>
              <a:t>Strong wedge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69703" y="2084832"/>
            <a:ext cx="1014984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609"/>
              </a:lnSpc>
              <a:spcAft>
                <a:spcPts val="0"/>
              </a:spcAft>
            </a:pPr>
            <a:r>
              <a:rPr sz="580" b="0" i="0">
                <a:solidFill>
                  <a:srgbClr val="5B6B7C"/>
                </a:solidFill>
                <a:latin typeface="Calibri"/>
              </a:rPr>
              <a:t>shared surface</a:t>
            </a:r>
            <a:br/>
            <a:r>
              <a:rPr sz="580" b="0" i="0">
                <a:solidFill>
                  <a:srgbClr val="5B6B7C"/>
                </a:solidFill>
                <a:latin typeface="Calibri"/>
              </a:rPr>
              <a:t> + tool access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396935" y="3246120"/>
            <a:ext cx="2743200" cy="914400"/>
          </a:xfrm>
          <a:prstGeom prst="roundRect">
            <a:avLst/>
          </a:prstGeom>
          <a:solidFill>
            <a:srgbClr val="F4F7F8"/>
          </a:solidFill>
          <a:ln w="1524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396935" y="3246120"/>
            <a:ext cx="73152" cy="9144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506663" y="3319272"/>
            <a:ext cx="2523744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945"/>
              </a:lnSpc>
              <a:spcAft>
                <a:spcPts val="0"/>
              </a:spcAft>
            </a:pPr>
            <a:r>
              <a:rPr sz="900" b="1" i="0">
                <a:solidFill>
                  <a:srgbClr val="1B2B3C"/>
                </a:solidFill>
                <a:latin typeface="Calibri"/>
              </a:rPr>
              <a:t>What to choose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506663" y="3502152"/>
            <a:ext cx="2523744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672"/>
              </a:lnSpc>
              <a:spcAft>
                <a:spcPts val="0"/>
              </a:spcAft>
            </a:pPr>
            <a:r>
              <a:rPr sz="640" b="0" i="0">
                <a:solidFill>
                  <a:srgbClr val="5B6B7C"/>
                </a:solidFill>
                <a:latin typeface="Calibri"/>
              </a:rPr>
              <a:t>Repeated work, visible state, and easy verification.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396935" y="4526280"/>
            <a:ext cx="2743200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05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396935" y="4526280"/>
            <a:ext cx="73152" cy="822960"/>
          </a:xfrm>
          <a:prstGeom prst="rect">
            <a:avLst/>
          </a:prstGeom>
          <a:solidFill>
            <a:srgbClr val="E05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506663" y="4599432"/>
            <a:ext cx="2523744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945"/>
              </a:lnSpc>
              <a:spcAft>
                <a:spcPts val="0"/>
              </a:spcAft>
            </a:pPr>
            <a:r>
              <a:rPr sz="900" b="1" i="0">
                <a:solidFill>
                  <a:srgbClr val="1B2B3C"/>
                </a:solidFill>
                <a:latin typeface="Calibri"/>
              </a:rPr>
              <a:t>Avoid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506663" y="4782312"/>
            <a:ext cx="2523744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672"/>
              </a:lnSpc>
              <a:spcAft>
                <a:spcPts val="0"/>
              </a:spcAft>
            </a:pPr>
            <a:r>
              <a:rPr sz="640" b="0" i="0">
                <a:solidFill>
                  <a:srgbClr val="5B6B7C"/>
                </a:solidFill>
                <a:latin typeface="Calibri"/>
              </a:rPr>
              <a:t>One-off or invisible workflows.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56032" y="6492240"/>
            <a:ext cx="4023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735"/>
              </a:lnSpc>
              <a:spcAft>
                <a:spcPts val="0"/>
              </a:spcAft>
            </a:pPr>
            <a:r>
              <a:rPr sz="700" b="0" i="0">
                <a:solidFill>
                  <a:srgbClr val="888899"/>
                </a:solidFill>
                <a:latin typeface="Calibri"/>
              </a:rPr>
              <a:t>Agent-Native Apps | Canva-style Brief | June 2026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231575" y="6492240"/>
            <a:ext cx="7315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ts val="735"/>
              </a:lnSpc>
              <a:spcAft>
                <a:spcPts val="0"/>
              </a:spcAft>
            </a:pPr>
            <a:r>
              <a:rPr sz="700" b="0" i="0">
                <a:solidFill>
                  <a:srgbClr val="888899"/>
                </a:solidFill>
                <a:latin typeface="Calibri"/>
              </a:rPr>
              <a:t>11 / 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076895" cy="68580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752825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2205"/>
              </a:lnSpc>
              <a:spcAft>
                <a:spcPts val="0"/>
              </a:spcAft>
            </a:pPr>
            <a:r>
              <a:rPr sz="2100" b="1" i="0">
                <a:solidFill>
                  <a:srgbClr val="FFFFFF"/>
                </a:solidFill>
                <a:latin typeface="Calibri"/>
              </a:rPr>
              <a:t>Design tools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658368"/>
            <a:ext cx="1645920" cy="27432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822960"/>
            <a:ext cx="7436815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102"/>
              </a:lnSpc>
              <a:spcAft>
                <a:spcPts val="0"/>
              </a:spcAft>
            </a:pPr>
            <a:r>
              <a:rPr sz="1050" b="0" i="0">
                <a:solidFill>
                  <a:srgbClr val="E0F7F1"/>
                </a:solidFill>
                <a:latin typeface="Calibri"/>
              </a:rPr>
              <a:t>Cursor + Magic Path shows the pattern in practice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69264"/>
            <a:ext cx="7436815" cy="420624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1024128"/>
            <a:ext cx="7290511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798"/>
              </a:lnSpc>
              <a:spcAft>
                <a:spcPts val="0"/>
              </a:spcAft>
            </a:pPr>
            <a:r>
              <a:rPr sz="760" b="0" i="0">
                <a:solidFill>
                  <a:srgbClr val="1B2B3C"/>
                </a:solidFill>
                <a:latin typeface="Calibri"/>
              </a:rPr>
              <a:t>Design works because the work is visual, reviewable, and context-heavy.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463040"/>
            <a:ext cx="3611880" cy="2176272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463040"/>
            <a:ext cx="3611880" cy="310896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" y="1508760"/>
            <a:ext cx="3465576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987"/>
              </a:lnSpc>
              <a:spcAft>
                <a:spcPts val="0"/>
              </a:spcAft>
            </a:pPr>
            <a:r>
              <a:rPr sz="940" b="1" i="0">
                <a:solidFill>
                  <a:srgbClr val="FFFFFF"/>
                </a:solidFill>
                <a:latin typeface="Calibri"/>
              </a:rPr>
              <a:t>How it works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" y="1847088"/>
            <a:ext cx="3465576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772"/>
              </a:lnSpc>
              <a:spcBef>
                <a:spcPts val="0"/>
              </a:spcBef>
              <a:spcAft>
                <a:spcPts val="100"/>
              </a:spcAft>
            </a:pPr>
            <a:r>
              <a:rPr sz="840">
                <a:solidFill>
                  <a:srgbClr val="1B2B3C"/>
                </a:solidFill>
                <a:latin typeface="Calibri"/>
              </a:rPr>
              <a:t>• Open the design app inside the agent host.</a:t>
            </a:r>
          </a:p>
          <a:p>
            <a:pPr>
              <a:lnSpc>
                <a:spcPts val="772"/>
              </a:lnSpc>
              <a:spcBef>
                <a:spcPts val="0"/>
              </a:spcBef>
              <a:spcAft>
                <a:spcPts val="100"/>
              </a:spcAft>
            </a:pPr>
            <a:r>
              <a:rPr sz="840">
                <a:solidFill>
                  <a:srgbClr val="1B2B3C"/>
                </a:solidFill>
                <a:latin typeface="Calibri"/>
              </a:rPr>
              <a:t>• Reference local brand files and the design spec.</a:t>
            </a:r>
          </a:p>
          <a:p>
            <a:pPr>
              <a:lnSpc>
                <a:spcPts val="772"/>
              </a:lnSpc>
              <a:spcBef>
                <a:spcPts val="0"/>
              </a:spcBef>
              <a:spcAft>
                <a:spcPts val="100"/>
              </a:spcAft>
            </a:pPr>
            <a:r>
              <a:rPr sz="840">
                <a:solidFill>
                  <a:srgbClr val="1B2B3C"/>
                </a:solidFill>
                <a:latin typeface="Calibri"/>
              </a:rPr>
              <a:t>• Let the agent create or revise the page while you watch.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41648" y="1463040"/>
            <a:ext cx="3611880" cy="21762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041648" y="1463040"/>
            <a:ext cx="3611880" cy="310896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0" y="1508760"/>
            <a:ext cx="3465576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987"/>
              </a:lnSpc>
              <a:spcAft>
                <a:spcPts val="0"/>
              </a:spcAft>
            </a:pPr>
            <a:r>
              <a:rPr sz="940" b="1" i="0">
                <a:solidFill>
                  <a:srgbClr val="FFFFFF"/>
                </a:solidFill>
                <a:latin typeface="Calibri"/>
              </a:rPr>
              <a:t>Why it matters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1847088"/>
            <a:ext cx="3465576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772"/>
              </a:lnSpc>
              <a:spcBef>
                <a:spcPts val="0"/>
              </a:spcBef>
              <a:spcAft>
                <a:spcPts val="100"/>
              </a:spcAft>
            </a:pPr>
            <a:r>
              <a:rPr sz="840">
                <a:solidFill>
                  <a:srgbClr val="1B2B3C"/>
                </a:solidFill>
                <a:latin typeface="Calibri"/>
              </a:rPr>
              <a:t>• The design stays consistent because the agent sees the local context.</a:t>
            </a:r>
          </a:p>
          <a:p>
            <a:pPr>
              <a:lnSpc>
                <a:spcPts val="772"/>
              </a:lnSpc>
              <a:spcBef>
                <a:spcPts val="0"/>
              </a:spcBef>
              <a:spcAft>
                <a:spcPts val="100"/>
              </a:spcAft>
            </a:pPr>
            <a:r>
              <a:rPr sz="840">
                <a:solidFill>
                  <a:srgbClr val="1B2B3C"/>
                </a:solidFill>
                <a:latin typeface="Calibri"/>
              </a:rPr>
              <a:t>• The result can be pulled straight back into the codebase.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794760"/>
            <a:ext cx="3611880" cy="1243584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3794760"/>
            <a:ext cx="3611880" cy="310896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" y="3840480"/>
            <a:ext cx="3465576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987"/>
              </a:lnSpc>
              <a:spcAft>
                <a:spcPts val="0"/>
              </a:spcAft>
            </a:pPr>
            <a:r>
              <a:rPr sz="940" b="1" i="0">
                <a:solidFill>
                  <a:srgbClr val="FFFFFF"/>
                </a:solidFill>
                <a:latin typeface="Calibri"/>
              </a:rPr>
              <a:t>What this proves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" y="4178808"/>
            <a:ext cx="3465576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772"/>
              </a:lnSpc>
              <a:spcBef>
                <a:spcPts val="0"/>
              </a:spcBef>
              <a:spcAft>
                <a:spcPts val="100"/>
              </a:spcAft>
            </a:pPr>
            <a:r>
              <a:rPr sz="840">
                <a:solidFill>
                  <a:srgbClr val="1B2B3C"/>
                </a:solidFill>
                <a:latin typeface="Calibri"/>
              </a:rPr>
              <a:t>• The app does not need its own embedded agent to be useful.</a:t>
            </a:r>
          </a:p>
          <a:p>
            <a:pPr>
              <a:lnSpc>
                <a:spcPts val="772"/>
              </a:lnSpc>
              <a:spcBef>
                <a:spcPts val="0"/>
              </a:spcBef>
              <a:spcAft>
                <a:spcPts val="100"/>
              </a:spcAft>
            </a:pPr>
            <a:r>
              <a:rPr sz="840">
                <a:solidFill>
                  <a:srgbClr val="1B2B3C"/>
                </a:solidFill>
                <a:latin typeface="Calibri"/>
              </a:rPr>
              <a:t>• The app only needs to be an excellent surface for a user's agent.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041648" y="3794760"/>
            <a:ext cx="3611880" cy="12435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041648" y="3794760"/>
            <a:ext cx="3611880" cy="310896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0" y="3840480"/>
            <a:ext cx="3465576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987"/>
              </a:lnSpc>
              <a:spcAft>
                <a:spcPts val="0"/>
              </a:spcAft>
            </a:pPr>
            <a:r>
              <a:rPr sz="940" b="1" i="0">
                <a:solidFill>
                  <a:srgbClr val="FFFFFF"/>
                </a:solidFill>
                <a:latin typeface="Calibri"/>
              </a:rPr>
              <a:t>Practical benefit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4178808"/>
            <a:ext cx="3465576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772"/>
              </a:lnSpc>
              <a:spcBef>
                <a:spcPts val="0"/>
              </a:spcBef>
              <a:spcAft>
                <a:spcPts val="100"/>
              </a:spcAft>
            </a:pPr>
            <a:r>
              <a:rPr sz="840">
                <a:solidFill>
                  <a:srgbClr val="1B2B3C"/>
                </a:solidFill>
                <a:latin typeface="Calibri"/>
              </a:rPr>
              <a:t>• Variation is faster because the agent can operate visually and locally.</a:t>
            </a:r>
          </a:p>
          <a:p>
            <a:pPr>
              <a:lnSpc>
                <a:spcPts val="772"/>
              </a:lnSpc>
              <a:spcBef>
                <a:spcPts val="0"/>
              </a:spcBef>
              <a:spcAft>
                <a:spcPts val="100"/>
              </a:spcAft>
            </a:pPr>
            <a:r>
              <a:rPr sz="840">
                <a:solidFill>
                  <a:srgbClr val="1B2B3C"/>
                </a:solidFill>
                <a:latin typeface="Calibri"/>
              </a:rPr>
              <a:t>• Feedback is immediate because both sides see the canvas.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5212080"/>
            <a:ext cx="905256" cy="310896"/>
          </a:xfrm>
          <a:prstGeom prst="rect">
            <a:avLst/>
          </a:prstGeom>
          <a:solidFill>
            <a:srgbClr val="008F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3192" y="5248656"/>
            <a:ext cx="850392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714"/>
              </a:lnSpc>
              <a:spcAft>
                <a:spcPts val="0"/>
              </a:spcAft>
            </a:pPr>
            <a:r>
              <a:rPr sz="680" b="1" i="0">
                <a:solidFill>
                  <a:srgbClr val="FFFFFF"/>
                </a:solidFill>
                <a:latin typeface="Calibri"/>
              </a:rPr>
              <a:t>Cursor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344168" y="5212080"/>
            <a:ext cx="1234439" cy="310896"/>
          </a:xfrm>
          <a:prstGeom prst="rect">
            <a:avLst/>
          </a:prstGeom>
          <a:solidFill>
            <a:srgbClr val="008F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71600" y="5248656"/>
            <a:ext cx="1179575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714"/>
              </a:lnSpc>
              <a:spcAft>
                <a:spcPts val="0"/>
              </a:spcAft>
            </a:pPr>
            <a:r>
              <a:rPr sz="680" b="1" i="0">
                <a:solidFill>
                  <a:srgbClr val="FFFFFF"/>
                </a:solidFill>
                <a:latin typeface="Calibri"/>
              </a:rPr>
              <a:t>Magic Path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651759" y="5212080"/>
            <a:ext cx="1152144" cy="310896"/>
          </a:xfrm>
          <a:prstGeom prst="rect">
            <a:avLst/>
          </a:prstGeom>
          <a:solidFill>
            <a:srgbClr val="008F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679191" y="5248656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714"/>
              </a:lnSpc>
              <a:spcAft>
                <a:spcPts val="0"/>
              </a:spcAft>
            </a:pPr>
            <a:r>
              <a:rPr sz="680" b="1" i="0">
                <a:solidFill>
                  <a:srgbClr val="FFFFFF"/>
                </a:solidFill>
                <a:latin typeface="Calibri"/>
              </a:rPr>
              <a:t>design.md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5532120"/>
            <a:ext cx="7619695" cy="512064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5623560"/>
            <a:ext cx="7436815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197"/>
              </a:lnSpc>
              <a:spcAft>
                <a:spcPts val="0"/>
              </a:spcAft>
            </a:pPr>
            <a:r>
              <a:rPr sz="1140" b="1" i="0">
                <a:solidFill>
                  <a:srgbClr val="FFFFFF"/>
                </a:solidFill>
                <a:latin typeface="Calibri"/>
              </a:rPr>
              <a:t>The design tool becomes a shared workspace instead of a separate destination.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76895" y="0"/>
            <a:ext cx="4114800" cy="6858000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186623" y="109728"/>
            <a:ext cx="3895344" cy="66385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265615" y="2148840"/>
            <a:ext cx="1188720" cy="1188720"/>
          </a:xfrm>
          <a:prstGeom prst="ellipse">
            <a:avLst/>
          </a:prstGeom>
          <a:solidFill>
            <a:srgbClr val="00C9A7"/>
          </a:solidFill>
          <a:ln w="2540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512503" y="2651760"/>
            <a:ext cx="694944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147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Agent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369503" y="822960"/>
            <a:ext cx="1097280" cy="548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369503" y="822960"/>
            <a:ext cx="73152" cy="54864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79231" y="896112"/>
            <a:ext cx="877824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945"/>
              </a:lnSpc>
              <a:spcAft>
                <a:spcPts val="0"/>
              </a:spcAft>
            </a:pPr>
            <a:r>
              <a:rPr sz="900" b="1" i="0">
                <a:solidFill>
                  <a:srgbClr val="1B2B3C"/>
                </a:solidFill>
                <a:latin typeface="Calibri"/>
              </a:rPr>
              <a:t>Files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79231" y="1078992"/>
            <a:ext cx="87782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609"/>
              </a:lnSpc>
              <a:spcAft>
                <a:spcPts val="0"/>
              </a:spcAft>
            </a:pPr>
            <a:r>
              <a:rPr sz="580" b="0" i="0">
                <a:solidFill>
                  <a:srgbClr val="5B6B7C"/>
                </a:solidFill>
                <a:latin typeface="Calibri"/>
              </a:rPr>
              <a:t>notes / assets</a:t>
            </a:r>
          </a:p>
        </p:txBody>
      </p:sp>
      <p:sp>
        <p:nvSpPr>
          <p:cNvPr id="40" name="Rectangle 39"/>
          <p:cNvSpPr/>
          <p:nvPr/>
        </p:nvSpPr>
        <p:spPr>
          <a:xfrm rot="5818095">
            <a:off x="8537114" y="1907540"/>
            <a:ext cx="1658168" cy="254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10198303" y="822960"/>
            <a:ext cx="1097280" cy="548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0198303" y="822960"/>
            <a:ext cx="73152" cy="54864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308031" y="896112"/>
            <a:ext cx="877824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945"/>
              </a:lnSpc>
              <a:spcAft>
                <a:spcPts val="0"/>
              </a:spcAft>
            </a:pPr>
            <a:r>
              <a:rPr sz="900" b="1" i="0">
                <a:solidFill>
                  <a:srgbClr val="1B2B3C"/>
                </a:solidFill>
                <a:latin typeface="Calibri"/>
              </a:rPr>
              <a:t>Memory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308031" y="1078992"/>
            <a:ext cx="87782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609"/>
              </a:lnSpc>
              <a:spcAft>
                <a:spcPts val="0"/>
              </a:spcAft>
            </a:pPr>
            <a:r>
              <a:rPr sz="580" b="0" i="0">
                <a:solidFill>
                  <a:srgbClr val="5B6B7C"/>
                </a:solidFill>
                <a:latin typeface="Calibri"/>
              </a:rPr>
              <a:t>history / rules</a:t>
            </a:r>
          </a:p>
        </p:txBody>
      </p:sp>
      <p:sp>
        <p:nvSpPr>
          <p:cNvPr id="45" name="Rectangle 44"/>
          <p:cNvSpPr/>
          <p:nvPr/>
        </p:nvSpPr>
        <p:spPr>
          <a:xfrm rot="8457869">
            <a:off x="8973902" y="1907540"/>
            <a:ext cx="2613392" cy="254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8369503" y="1920240"/>
            <a:ext cx="1097280" cy="548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9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369503" y="1920240"/>
            <a:ext cx="73152" cy="548640"/>
          </a:xfrm>
          <a:prstGeom prst="rect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479231" y="1993392"/>
            <a:ext cx="877824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945"/>
              </a:lnSpc>
              <a:spcAft>
                <a:spcPts val="0"/>
              </a:spcAft>
            </a:pPr>
            <a:r>
              <a:rPr sz="900" b="1" i="0">
                <a:solidFill>
                  <a:srgbClr val="1B2B3C"/>
                </a:solidFill>
                <a:latin typeface="Calibri"/>
              </a:rPr>
              <a:t>Browser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79231" y="2176272"/>
            <a:ext cx="87782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609"/>
              </a:lnSpc>
              <a:spcAft>
                <a:spcPts val="0"/>
              </a:spcAft>
            </a:pPr>
            <a:r>
              <a:rPr sz="580" b="0" i="0">
                <a:solidFill>
                  <a:srgbClr val="5B6B7C"/>
                </a:solidFill>
                <a:latin typeface="Calibri"/>
              </a:rPr>
              <a:t>shared view</a:t>
            </a:r>
          </a:p>
        </p:txBody>
      </p:sp>
      <p:sp>
        <p:nvSpPr>
          <p:cNvPr id="50" name="Rectangle 49"/>
          <p:cNvSpPr/>
          <p:nvPr/>
        </p:nvSpPr>
        <p:spPr>
          <a:xfrm rot="6608178">
            <a:off x="9074019" y="2456180"/>
            <a:ext cx="584358" cy="25400"/>
          </a:xfrm>
          <a:prstGeom prst="rect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10198303" y="1920240"/>
            <a:ext cx="1097280" cy="548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05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0198303" y="1920240"/>
            <a:ext cx="73152" cy="548640"/>
          </a:xfrm>
          <a:prstGeom prst="rect">
            <a:avLst/>
          </a:prstGeom>
          <a:solidFill>
            <a:srgbClr val="E05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308031" y="1993392"/>
            <a:ext cx="877824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945"/>
              </a:lnSpc>
              <a:spcAft>
                <a:spcPts val="0"/>
              </a:spcAft>
            </a:pPr>
            <a:r>
              <a:rPr sz="900" b="1" i="0">
                <a:solidFill>
                  <a:srgbClr val="1B2B3C"/>
                </a:solidFill>
                <a:latin typeface="Calibri"/>
              </a:rPr>
              <a:t>Tools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308031" y="2176272"/>
            <a:ext cx="87782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609"/>
              </a:lnSpc>
              <a:spcAft>
                <a:spcPts val="0"/>
              </a:spcAft>
            </a:pPr>
            <a:r>
              <a:rPr sz="580" b="0" i="0">
                <a:solidFill>
                  <a:srgbClr val="5B6B7C"/>
                </a:solidFill>
                <a:latin typeface="Calibri"/>
              </a:rPr>
              <a:t>MCP / CLI / API</a:t>
            </a:r>
          </a:p>
        </p:txBody>
      </p:sp>
      <p:sp>
        <p:nvSpPr>
          <p:cNvPr id="55" name="Rectangle 54"/>
          <p:cNvSpPr/>
          <p:nvPr/>
        </p:nvSpPr>
        <p:spPr>
          <a:xfrm rot="9892560">
            <a:off x="9229198" y="2456180"/>
            <a:ext cx="2102801" cy="25400"/>
          </a:xfrm>
          <a:prstGeom prst="rect">
            <a:avLst/>
          </a:prstGeom>
          <a:solidFill>
            <a:srgbClr val="E05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8369503" y="3977639"/>
            <a:ext cx="1097280" cy="548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369503" y="3977639"/>
            <a:ext cx="73152" cy="54864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479231" y="4050791"/>
            <a:ext cx="877824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945"/>
              </a:lnSpc>
              <a:spcAft>
                <a:spcPts val="0"/>
              </a:spcAft>
            </a:pPr>
            <a:r>
              <a:rPr sz="900" b="1" i="0">
                <a:solidFill>
                  <a:srgbClr val="1B2B3C"/>
                </a:solidFill>
                <a:latin typeface="Calibri"/>
              </a:rPr>
              <a:t>Surface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479231" y="4233671"/>
            <a:ext cx="87782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609"/>
              </a:lnSpc>
              <a:spcAft>
                <a:spcPts val="0"/>
              </a:spcAft>
            </a:pPr>
            <a:r>
              <a:rPr sz="580" b="0" i="0">
                <a:solidFill>
                  <a:srgbClr val="5B6B7C"/>
                </a:solidFill>
                <a:latin typeface="Calibri"/>
              </a:rPr>
              <a:t>canvas / docs</a:t>
            </a:r>
          </a:p>
        </p:txBody>
      </p:sp>
      <p:sp>
        <p:nvSpPr>
          <p:cNvPr id="60" name="Rectangle 59"/>
          <p:cNvSpPr/>
          <p:nvPr/>
        </p:nvSpPr>
        <p:spPr>
          <a:xfrm rot="15744321">
            <a:off x="8605143" y="3484879"/>
            <a:ext cx="1522111" cy="254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10198303" y="3977639"/>
            <a:ext cx="1097280" cy="548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10198303" y="3977639"/>
            <a:ext cx="73152" cy="54864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308031" y="4050791"/>
            <a:ext cx="877824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945"/>
              </a:lnSpc>
              <a:spcAft>
                <a:spcPts val="0"/>
              </a:spcAft>
            </a:pPr>
            <a:r>
              <a:rPr sz="900" b="1" i="0">
                <a:solidFill>
                  <a:srgbClr val="1B2B3C"/>
                </a:solidFill>
                <a:latin typeface="Calibri"/>
              </a:rPr>
              <a:t>Approval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308031" y="4233671"/>
            <a:ext cx="87782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609"/>
              </a:lnSpc>
              <a:spcAft>
                <a:spcPts val="0"/>
              </a:spcAft>
            </a:pPr>
            <a:r>
              <a:rPr sz="580" b="0" i="0">
                <a:solidFill>
                  <a:srgbClr val="5B6B7C"/>
                </a:solidFill>
                <a:latin typeface="Calibri"/>
              </a:rPr>
              <a:t>human loop</a:t>
            </a:r>
          </a:p>
        </p:txBody>
      </p:sp>
      <p:sp>
        <p:nvSpPr>
          <p:cNvPr id="65" name="Rectangle 64"/>
          <p:cNvSpPr/>
          <p:nvPr/>
        </p:nvSpPr>
        <p:spPr>
          <a:xfrm rot="12997279">
            <a:off x="9015972" y="3484879"/>
            <a:ext cx="2529253" cy="254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8378647" y="5166360"/>
            <a:ext cx="3063240" cy="685800"/>
          </a:xfrm>
          <a:prstGeom prst="roundRect">
            <a:avLst/>
          </a:prstGeom>
          <a:solidFill>
            <a:srgbClr val="F4F7F8"/>
          </a:solidFill>
          <a:ln w="1524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8378647" y="5166360"/>
            <a:ext cx="73152" cy="6858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488375" y="5239512"/>
            <a:ext cx="2843784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945"/>
              </a:lnSpc>
              <a:spcAft>
                <a:spcPts val="0"/>
              </a:spcAft>
            </a:pPr>
            <a:r>
              <a:rPr sz="900" b="1" i="0">
                <a:solidFill>
                  <a:srgbClr val="1B2B3C"/>
                </a:solidFill>
                <a:latin typeface="Calibri"/>
              </a:rPr>
              <a:t>Definition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488375" y="5422392"/>
            <a:ext cx="2843784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693"/>
              </a:lnSpc>
              <a:spcAft>
                <a:spcPts val="0"/>
              </a:spcAft>
            </a:pPr>
            <a:r>
              <a:rPr sz="660" b="0" i="0">
                <a:solidFill>
                  <a:srgbClr val="5B6B7C"/>
                </a:solidFill>
                <a:latin typeface="Calibri"/>
              </a:rPr>
              <a:t>The product is a hub for action, not a chatbot shell.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56032" y="6492240"/>
            <a:ext cx="4023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735"/>
              </a:lnSpc>
              <a:spcAft>
                <a:spcPts val="0"/>
              </a:spcAft>
            </a:pPr>
            <a:r>
              <a:rPr sz="700" b="0" i="0">
                <a:solidFill>
                  <a:srgbClr val="888899"/>
                </a:solidFill>
                <a:latin typeface="Calibri"/>
              </a:rPr>
              <a:t>Agent-Native Apps | Canva-style Brief | June 2026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1231575" y="6492240"/>
            <a:ext cx="7315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ts val="735"/>
              </a:lnSpc>
              <a:spcAft>
                <a:spcPts val="0"/>
              </a:spcAft>
            </a:pPr>
            <a:r>
              <a:rPr sz="700" b="0" i="0">
                <a:solidFill>
                  <a:srgbClr val="888899"/>
                </a:solidFill>
                <a:latin typeface="Calibri"/>
              </a:rPr>
              <a:t>12 / 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076895" cy="68580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752825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2205"/>
              </a:lnSpc>
              <a:spcAft>
                <a:spcPts val="0"/>
              </a:spcAft>
            </a:pPr>
            <a:r>
              <a:rPr sz="2100" b="1" i="0">
                <a:solidFill>
                  <a:srgbClr val="FFFFFF"/>
                </a:solidFill>
                <a:latin typeface="Calibri"/>
              </a:rPr>
              <a:t>Docs and knowledge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658368"/>
            <a:ext cx="1645920" cy="27432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822960"/>
            <a:ext cx="7436815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102"/>
              </a:lnSpc>
              <a:spcAft>
                <a:spcPts val="0"/>
              </a:spcAft>
            </a:pPr>
            <a:r>
              <a:rPr sz="1050" b="0" i="0">
                <a:solidFill>
                  <a:srgbClr val="E0F7F1"/>
                </a:solidFill>
                <a:latin typeface="Calibri"/>
              </a:rPr>
              <a:t>Notion is already close to agent-native because the workspace is the data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69264"/>
            <a:ext cx="7436815" cy="420624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1024128"/>
            <a:ext cx="7290511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798"/>
              </a:lnSpc>
              <a:spcAft>
                <a:spcPts val="0"/>
              </a:spcAft>
            </a:pPr>
            <a:r>
              <a:rPr sz="760" b="0" i="0">
                <a:solidFill>
                  <a:srgbClr val="1B2B3C"/>
                </a:solidFill>
                <a:latin typeface="Calibri"/>
              </a:rPr>
              <a:t>Documents become live systems when the agent can write to them.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463040"/>
            <a:ext cx="3611880" cy="2176272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463040"/>
            <a:ext cx="3611880" cy="310896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" y="1508760"/>
            <a:ext cx="3465576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987"/>
              </a:lnSpc>
              <a:spcAft>
                <a:spcPts val="0"/>
              </a:spcAft>
            </a:pPr>
            <a:r>
              <a:rPr sz="940" b="1" i="0">
                <a:solidFill>
                  <a:srgbClr val="FFFFFF"/>
                </a:solidFill>
                <a:latin typeface="Calibri"/>
              </a:rPr>
              <a:t>Why Notion fits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" y="1847088"/>
            <a:ext cx="3465576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772"/>
              </a:lnSpc>
              <a:spcBef>
                <a:spcPts val="0"/>
              </a:spcBef>
              <a:spcAft>
                <a:spcPts val="100"/>
              </a:spcAft>
            </a:pPr>
            <a:r>
              <a:rPr sz="840">
                <a:solidFill>
                  <a:srgbClr val="1B2B3C"/>
                </a:solidFill>
                <a:latin typeface="Calibri"/>
              </a:rPr>
              <a:t>• It already stores working context, decisions, and task state.</a:t>
            </a:r>
          </a:p>
          <a:p>
            <a:pPr>
              <a:lnSpc>
                <a:spcPts val="772"/>
              </a:lnSpc>
              <a:spcBef>
                <a:spcPts val="0"/>
              </a:spcBef>
              <a:spcAft>
                <a:spcPts val="100"/>
              </a:spcAft>
            </a:pPr>
            <a:r>
              <a:rPr sz="840">
                <a:solidFill>
                  <a:srgbClr val="1B2B3C"/>
                </a:solidFill>
                <a:latin typeface="Calibri"/>
              </a:rPr>
              <a:t>• Notion MCP lets agents read and write workspace content.</a:t>
            </a:r>
          </a:p>
          <a:p>
            <a:pPr>
              <a:lnSpc>
                <a:spcPts val="772"/>
              </a:lnSpc>
              <a:spcBef>
                <a:spcPts val="0"/>
              </a:spcBef>
              <a:spcAft>
                <a:spcPts val="100"/>
              </a:spcAft>
            </a:pPr>
            <a:r>
              <a:rPr sz="840">
                <a:solidFill>
                  <a:srgbClr val="1B2B3C"/>
                </a:solidFill>
                <a:latin typeface="Calibri"/>
              </a:rPr>
              <a:t>• The browser gives a shared view for humans and agents.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41648" y="1463040"/>
            <a:ext cx="3611880" cy="21762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041648" y="1463040"/>
            <a:ext cx="3611880" cy="310896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0" y="1508760"/>
            <a:ext cx="3465576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987"/>
              </a:lnSpc>
              <a:spcAft>
                <a:spcPts val="0"/>
              </a:spcAft>
            </a:pPr>
            <a:r>
              <a:rPr sz="940" b="1" i="0">
                <a:solidFill>
                  <a:srgbClr val="FFFFFF"/>
                </a:solidFill>
                <a:latin typeface="Calibri"/>
              </a:rPr>
              <a:t>How to design 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1847088"/>
            <a:ext cx="3465576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772"/>
              </a:lnSpc>
              <a:spcBef>
                <a:spcPts val="0"/>
              </a:spcBef>
              <a:spcAft>
                <a:spcPts val="100"/>
              </a:spcAft>
            </a:pPr>
            <a:r>
              <a:rPr sz="840">
                <a:solidFill>
                  <a:srgbClr val="1B2B3C"/>
                </a:solidFill>
                <a:latin typeface="Calibri"/>
              </a:rPr>
              <a:t>• Keep source docs, status, and decisions in one place.</a:t>
            </a:r>
          </a:p>
          <a:p>
            <a:pPr>
              <a:lnSpc>
                <a:spcPts val="772"/>
              </a:lnSpc>
              <a:spcBef>
                <a:spcPts val="0"/>
              </a:spcBef>
              <a:spcAft>
                <a:spcPts val="100"/>
              </a:spcAft>
            </a:pPr>
            <a:r>
              <a:rPr sz="840">
                <a:solidFill>
                  <a:srgbClr val="1B2B3C"/>
                </a:solidFill>
                <a:latin typeface="Calibri"/>
              </a:rPr>
              <a:t>• Use page history as a memory layer the agent can reuse.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794760"/>
            <a:ext cx="3611880" cy="1243584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3794760"/>
            <a:ext cx="3611880" cy="310896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" y="3840480"/>
            <a:ext cx="3465576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987"/>
              </a:lnSpc>
              <a:spcAft>
                <a:spcPts val="0"/>
              </a:spcAft>
            </a:pPr>
            <a:r>
              <a:rPr sz="940" b="1" i="0">
                <a:solidFill>
                  <a:srgbClr val="FFFFFF"/>
                </a:solidFill>
                <a:latin typeface="Calibri"/>
              </a:rPr>
              <a:t>Good pattern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" y="4178808"/>
            <a:ext cx="3465576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772"/>
              </a:lnSpc>
              <a:spcBef>
                <a:spcPts val="0"/>
              </a:spcBef>
              <a:spcAft>
                <a:spcPts val="100"/>
              </a:spcAft>
            </a:pPr>
            <a:r>
              <a:rPr sz="840">
                <a:solidFill>
                  <a:srgbClr val="1B2B3C"/>
                </a:solidFill>
                <a:latin typeface="Calibri"/>
              </a:rPr>
              <a:t>• Ask the agent to summarize, update, and link instead of only answer.</a:t>
            </a:r>
          </a:p>
          <a:p>
            <a:pPr>
              <a:lnSpc>
                <a:spcPts val="772"/>
              </a:lnSpc>
              <a:spcBef>
                <a:spcPts val="0"/>
              </a:spcBef>
              <a:spcAft>
                <a:spcPts val="100"/>
              </a:spcAft>
            </a:pPr>
            <a:r>
              <a:rPr sz="840">
                <a:solidFill>
                  <a:srgbClr val="1B2B3C"/>
                </a:solidFill>
                <a:latin typeface="Calibri"/>
              </a:rPr>
              <a:t>• Make the output visible in the same workspace.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041648" y="3794760"/>
            <a:ext cx="3611880" cy="12435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041648" y="3794760"/>
            <a:ext cx="3611880" cy="310896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0" y="3840480"/>
            <a:ext cx="3465576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987"/>
              </a:lnSpc>
              <a:spcAft>
                <a:spcPts val="0"/>
              </a:spcAft>
            </a:pPr>
            <a:r>
              <a:rPr sz="940" b="1" i="0">
                <a:solidFill>
                  <a:srgbClr val="FFFFFF"/>
                </a:solidFill>
                <a:latin typeface="Calibri"/>
              </a:rPr>
              <a:t>Why it works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4178808"/>
            <a:ext cx="3465576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772"/>
              </a:lnSpc>
              <a:spcBef>
                <a:spcPts val="0"/>
              </a:spcBef>
              <a:spcAft>
                <a:spcPts val="100"/>
              </a:spcAft>
            </a:pPr>
            <a:r>
              <a:rPr sz="840">
                <a:solidFill>
                  <a:srgbClr val="1B2B3C"/>
                </a:solidFill>
                <a:latin typeface="Calibri"/>
              </a:rPr>
              <a:t>• Docs turn into live work surfaces instead of static pages.</a:t>
            </a:r>
          </a:p>
          <a:p>
            <a:pPr>
              <a:lnSpc>
                <a:spcPts val="772"/>
              </a:lnSpc>
              <a:spcBef>
                <a:spcPts val="0"/>
              </a:spcBef>
              <a:spcAft>
                <a:spcPts val="100"/>
              </a:spcAft>
            </a:pPr>
            <a:r>
              <a:rPr sz="840">
                <a:solidFill>
                  <a:srgbClr val="1B2B3C"/>
                </a:solidFill>
                <a:latin typeface="Calibri"/>
              </a:rPr>
              <a:t>• The tool becomes more useful because the content stays connected.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5212080"/>
            <a:ext cx="1234439" cy="310896"/>
          </a:xfrm>
          <a:prstGeom prst="rect">
            <a:avLst/>
          </a:prstGeom>
          <a:solidFill>
            <a:srgbClr val="008F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3192" y="5248656"/>
            <a:ext cx="1179575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714"/>
              </a:lnSpc>
              <a:spcAft>
                <a:spcPts val="0"/>
              </a:spcAft>
            </a:pPr>
            <a:r>
              <a:rPr sz="680" b="1" i="0">
                <a:solidFill>
                  <a:srgbClr val="FFFFFF"/>
                </a:solidFill>
                <a:latin typeface="Calibri"/>
              </a:rPr>
              <a:t>Notion MCP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673351" y="5212080"/>
            <a:ext cx="1152144" cy="310896"/>
          </a:xfrm>
          <a:prstGeom prst="rect">
            <a:avLst/>
          </a:prstGeom>
          <a:solidFill>
            <a:srgbClr val="008F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700783" y="5248656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714"/>
              </a:lnSpc>
              <a:spcAft>
                <a:spcPts val="0"/>
              </a:spcAft>
            </a:pPr>
            <a:r>
              <a:rPr sz="680" b="1" i="0">
                <a:solidFill>
                  <a:srgbClr val="FFFFFF"/>
                </a:solidFill>
                <a:latin typeface="Calibri"/>
              </a:rPr>
              <a:t>Workspace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98647" y="5212080"/>
            <a:ext cx="987552" cy="310896"/>
          </a:xfrm>
          <a:prstGeom prst="rect">
            <a:avLst/>
          </a:prstGeom>
          <a:solidFill>
            <a:srgbClr val="008F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926079" y="5248656"/>
            <a:ext cx="93268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714"/>
              </a:lnSpc>
              <a:spcAft>
                <a:spcPts val="0"/>
              </a:spcAft>
            </a:pPr>
            <a:r>
              <a:rPr sz="680" b="1" i="0">
                <a:solidFill>
                  <a:srgbClr val="FFFFFF"/>
                </a:solidFill>
                <a:latin typeface="Calibri"/>
              </a:rPr>
              <a:t>History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5532120"/>
            <a:ext cx="7619695" cy="512064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5623560"/>
            <a:ext cx="7436815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197"/>
              </a:lnSpc>
              <a:spcAft>
                <a:spcPts val="0"/>
              </a:spcAft>
            </a:pPr>
            <a:r>
              <a:rPr sz="1140" b="1" i="0">
                <a:solidFill>
                  <a:srgbClr val="FFFFFF"/>
                </a:solidFill>
                <a:latin typeface="Calibri"/>
              </a:rPr>
              <a:t>Documents become agent-native when they are writable, searchable, and reusable.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76895" y="0"/>
            <a:ext cx="4114800" cy="6858000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186623" y="109728"/>
            <a:ext cx="3895344" cy="66385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265615" y="2148840"/>
            <a:ext cx="1188720" cy="1188720"/>
          </a:xfrm>
          <a:prstGeom prst="ellipse">
            <a:avLst/>
          </a:prstGeom>
          <a:solidFill>
            <a:srgbClr val="00C9A7"/>
          </a:solidFill>
          <a:ln w="2540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512503" y="2651760"/>
            <a:ext cx="694944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147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Agent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369503" y="822960"/>
            <a:ext cx="1097280" cy="548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369503" y="822960"/>
            <a:ext cx="73152" cy="54864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79231" y="896112"/>
            <a:ext cx="877824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945"/>
              </a:lnSpc>
              <a:spcAft>
                <a:spcPts val="0"/>
              </a:spcAft>
            </a:pPr>
            <a:r>
              <a:rPr sz="900" b="1" i="0">
                <a:solidFill>
                  <a:srgbClr val="1B2B3C"/>
                </a:solidFill>
                <a:latin typeface="Calibri"/>
              </a:rPr>
              <a:t>Files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79231" y="1078992"/>
            <a:ext cx="87782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609"/>
              </a:lnSpc>
              <a:spcAft>
                <a:spcPts val="0"/>
              </a:spcAft>
            </a:pPr>
            <a:r>
              <a:rPr sz="580" b="0" i="0">
                <a:solidFill>
                  <a:srgbClr val="5B6B7C"/>
                </a:solidFill>
                <a:latin typeface="Calibri"/>
              </a:rPr>
              <a:t>notes / assets</a:t>
            </a:r>
          </a:p>
        </p:txBody>
      </p:sp>
      <p:sp>
        <p:nvSpPr>
          <p:cNvPr id="40" name="Rectangle 39"/>
          <p:cNvSpPr/>
          <p:nvPr/>
        </p:nvSpPr>
        <p:spPr>
          <a:xfrm rot="5818095">
            <a:off x="8537114" y="1907540"/>
            <a:ext cx="1658168" cy="254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10198303" y="822960"/>
            <a:ext cx="1097280" cy="548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0198303" y="822960"/>
            <a:ext cx="73152" cy="54864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308031" y="896112"/>
            <a:ext cx="877824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945"/>
              </a:lnSpc>
              <a:spcAft>
                <a:spcPts val="0"/>
              </a:spcAft>
            </a:pPr>
            <a:r>
              <a:rPr sz="900" b="1" i="0">
                <a:solidFill>
                  <a:srgbClr val="1B2B3C"/>
                </a:solidFill>
                <a:latin typeface="Calibri"/>
              </a:rPr>
              <a:t>Memory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308031" y="1078992"/>
            <a:ext cx="87782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609"/>
              </a:lnSpc>
              <a:spcAft>
                <a:spcPts val="0"/>
              </a:spcAft>
            </a:pPr>
            <a:r>
              <a:rPr sz="580" b="0" i="0">
                <a:solidFill>
                  <a:srgbClr val="5B6B7C"/>
                </a:solidFill>
                <a:latin typeface="Calibri"/>
              </a:rPr>
              <a:t>history / rules</a:t>
            </a:r>
          </a:p>
        </p:txBody>
      </p:sp>
      <p:sp>
        <p:nvSpPr>
          <p:cNvPr id="45" name="Rectangle 44"/>
          <p:cNvSpPr/>
          <p:nvPr/>
        </p:nvSpPr>
        <p:spPr>
          <a:xfrm rot="8457869">
            <a:off x="8973902" y="1907540"/>
            <a:ext cx="2613392" cy="254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8369503" y="1920240"/>
            <a:ext cx="1097280" cy="548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9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369503" y="1920240"/>
            <a:ext cx="73152" cy="548640"/>
          </a:xfrm>
          <a:prstGeom prst="rect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479231" y="1993392"/>
            <a:ext cx="877824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945"/>
              </a:lnSpc>
              <a:spcAft>
                <a:spcPts val="0"/>
              </a:spcAft>
            </a:pPr>
            <a:r>
              <a:rPr sz="900" b="1" i="0">
                <a:solidFill>
                  <a:srgbClr val="1B2B3C"/>
                </a:solidFill>
                <a:latin typeface="Calibri"/>
              </a:rPr>
              <a:t>Browser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79231" y="2176272"/>
            <a:ext cx="87782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609"/>
              </a:lnSpc>
              <a:spcAft>
                <a:spcPts val="0"/>
              </a:spcAft>
            </a:pPr>
            <a:r>
              <a:rPr sz="580" b="0" i="0">
                <a:solidFill>
                  <a:srgbClr val="5B6B7C"/>
                </a:solidFill>
                <a:latin typeface="Calibri"/>
              </a:rPr>
              <a:t>shared view</a:t>
            </a:r>
          </a:p>
        </p:txBody>
      </p:sp>
      <p:sp>
        <p:nvSpPr>
          <p:cNvPr id="50" name="Rectangle 49"/>
          <p:cNvSpPr/>
          <p:nvPr/>
        </p:nvSpPr>
        <p:spPr>
          <a:xfrm rot="6608178">
            <a:off x="9074019" y="2456180"/>
            <a:ext cx="584358" cy="25400"/>
          </a:xfrm>
          <a:prstGeom prst="rect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10198303" y="1920240"/>
            <a:ext cx="1097280" cy="548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05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0198303" y="1920240"/>
            <a:ext cx="73152" cy="548640"/>
          </a:xfrm>
          <a:prstGeom prst="rect">
            <a:avLst/>
          </a:prstGeom>
          <a:solidFill>
            <a:srgbClr val="E05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308031" y="1993392"/>
            <a:ext cx="877824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945"/>
              </a:lnSpc>
              <a:spcAft>
                <a:spcPts val="0"/>
              </a:spcAft>
            </a:pPr>
            <a:r>
              <a:rPr sz="900" b="1" i="0">
                <a:solidFill>
                  <a:srgbClr val="1B2B3C"/>
                </a:solidFill>
                <a:latin typeface="Calibri"/>
              </a:rPr>
              <a:t>Tools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308031" y="2176272"/>
            <a:ext cx="87782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609"/>
              </a:lnSpc>
              <a:spcAft>
                <a:spcPts val="0"/>
              </a:spcAft>
            </a:pPr>
            <a:r>
              <a:rPr sz="580" b="0" i="0">
                <a:solidFill>
                  <a:srgbClr val="5B6B7C"/>
                </a:solidFill>
                <a:latin typeface="Calibri"/>
              </a:rPr>
              <a:t>MCP / CLI / API</a:t>
            </a:r>
          </a:p>
        </p:txBody>
      </p:sp>
      <p:sp>
        <p:nvSpPr>
          <p:cNvPr id="55" name="Rectangle 54"/>
          <p:cNvSpPr/>
          <p:nvPr/>
        </p:nvSpPr>
        <p:spPr>
          <a:xfrm rot="9892560">
            <a:off x="9229198" y="2456180"/>
            <a:ext cx="2102801" cy="25400"/>
          </a:xfrm>
          <a:prstGeom prst="rect">
            <a:avLst/>
          </a:prstGeom>
          <a:solidFill>
            <a:srgbClr val="E05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8369503" y="3977639"/>
            <a:ext cx="1097280" cy="548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369503" y="3977639"/>
            <a:ext cx="73152" cy="54864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479231" y="4050791"/>
            <a:ext cx="877824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945"/>
              </a:lnSpc>
              <a:spcAft>
                <a:spcPts val="0"/>
              </a:spcAft>
            </a:pPr>
            <a:r>
              <a:rPr sz="900" b="1" i="0">
                <a:solidFill>
                  <a:srgbClr val="1B2B3C"/>
                </a:solidFill>
                <a:latin typeface="Calibri"/>
              </a:rPr>
              <a:t>Surface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479231" y="4233671"/>
            <a:ext cx="87782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609"/>
              </a:lnSpc>
              <a:spcAft>
                <a:spcPts val="0"/>
              </a:spcAft>
            </a:pPr>
            <a:r>
              <a:rPr sz="580" b="0" i="0">
                <a:solidFill>
                  <a:srgbClr val="5B6B7C"/>
                </a:solidFill>
                <a:latin typeface="Calibri"/>
              </a:rPr>
              <a:t>canvas / docs</a:t>
            </a:r>
          </a:p>
        </p:txBody>
      </p:sp>
      <p:sp>
        <p:nvSpPr>
          <p:cNvPr id="60" name="Rectangle 59"/>
          <p:cNvSpPr/>
          <p:nvPr/>
        </p:nvSpPr>
        <p:spPr>
          <a:xfrm rot="15744321">
            <a:off x="8605143" y="3484879"/>
            <a:ext cx="1522111" cy="254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10198303" y="3977639"/>
            <a:ext cx="1097280" cy="548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10198303" y="3977639"/>
            <a:ext cx="73152" cy="54864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308031" y="4050791"/>
            <a:ext cx="877824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945"/>
              </a:lnSpc>
              <a:spcAft>
                <a:spcPts val="0"/>
              </a:spcAft>
            </a:pPr>
            <a:r>
              <a:rPr sz="900" b="1" i="0">
                <a:solidFill>
                  <a:srgbClr val="1B2B3C"/>
                </a:solidFill>
                <a:latin typeface="Calibri"/>
              </a:rPr>
              <a:t>Approval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308031" y="4233671"/>
            <a:ext cx="87782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609"/>
              </a:lnSpc>
              <a:spcAft>
                <a:spcPts val="0"/>
              </a:spcAft>
            </a:pPr>
            <a:r>
              <a:rPr sz="580" b="0" i="0">
                <a:solidFill>
                  <a:srgbClr val="5B6B7C"/>
                </a:solidFill>
                <a:latin typeface="Calibri"/>
              </a:rPr>
              <a:t>human loop</a:t>
            </a:r>
          </a:p>
        </p:txBody>
      </p:sp>
      <p:sp>
        <p:nvSpPr>
          <p:cNvPr id="65" name="Rectangle 64"/>
          <p:cNvSpPr/>
          <p:nvPr/>
        </p:nvSpPr>
        <p:spPr>
          <a:xfrm rot="12997279">
            <a:off x="9015972" y="3484879"/>
            <a:ext cx="2529253" cy="254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8378647" y="5166360"/>
            <a:ext cx="3063240" cy="685800"/>
          </a:xfrm>
          <a:prstGeom prst="roundRect">
            <a:avLst/>
          </a:prstGeom>
          <a:solidFill>
            <a:srgbClr val="F4F7F8"/>
          </a:solidFill>
          <a:ln w="1524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8378647" y="5166360"/>
            <a:ext cx="73152" cy="6858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488375" y="5239512"/>
            <a:ext cx="2843784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945"/>
              </a:lnSpc>
              <a:spcAft>
                <a:spcPts val="0"/>
              </a:spcAft>
            </a:pPr>
            <a:r>
              <a:rPr sz="900" b="1" i="0">
                <a:solidFill>
                  <a:srgbClr val="1B2B3C"/>
                </a:solidFill>
                <a:latin typeface="Calibri"/>
              </a:rPr>
              <a:t>Definition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488375" y="5422392"/>
            <a:ext cx="2843784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693"/>
              </a:lnSpc>
              <a:spcAft>
                <a:spcPts val="0"/>
              </a:spcAft>
            </a:pPr>
            <a:r>
              <a:rPr sz="660" b="0" i="0">
                <a:solidFill>
                  <a:srgbClr val="5B6B7C"/>
                </a:solidFill>
                <a:latin typeface="Calibri"/>
              </a:rPr>
              <a:t>The product is a hub for action, not a chatbot shell.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56032" y="6492240"/>
            <a:ext cx="4023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735"/>
              </a:lnSpc>
              <a:spcAft>
                <a:spcPts val="0"/>
              </a:spcAft>
            </a:pPr>
            <a:r>
              <a:rPr sz="700" b="0" i="0">
                <a:solidFill>
                  <a:srgbClr val="888899"/>
                </a:solidFill>
                <a:latin typeface="Calibri"/>
              </a:rPr>
              <a:t>Agent-Native Apps | Canva-style Brief | June 2026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1231575" y="6492240"/>
            <a:ext cx="7315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ts val="735"/>
              </a:lnSpc>
              <a:spcAft>
                <a:spcPts val="0"/>
              </a:spcAft>
            </a:pPr>
            <a:r>
              <a:rPr sz="700" b="0" i="0">
                <a:solidFill>
                  <a:srgbClr val="888899"/>
                </a:solidFill>
                <a:latin typeface="Calibri"/>
              </a:rPr>
              <a:t>13 / 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076895" cy="68580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752825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2205"/>
              </a:lnSpc>
              <a:spcAft>
                <a:spcPts val="0"/>
              </a:spcAft>
            </a:pPr>
            <a:r>
              <a:rPr sz="2100" b="1" i="0">
                <a:solidFill>
                  <a:srgbClr val="FFFFFF"/>
                </a:solidFill>
                <a:latin typeface="Calibri"/>
              </a:rPr>
              <a:t>Sheets and operations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658368"/>
            <a:ext cx="1645920" cy="27432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822960"/>
            <a:ext cx="7436815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102"/>
              </a:lnSpc>
              <a:spcAft>
                <a:spcPts val="0"/>
              </a:spcAft>
            </a:pPr>
            <a:r>
              <a:rPr sz="1050" b="0" i="0">
                <a:solidFill>
                  <a:srgbClr val="E0F7F1"/>
                </a:solidFill>
                <a:latin typeface="Calibri"/>
              </a:rPr>
              <a:t>Structured tables become a control plane when the agent can safely edit them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69264"/>
            <a:ext cx="7436815" cy="420624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1024128"/>
            <a:ext cx="7290511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798"/>
              </a:lnSpc>
              <a:spcAft>
                <a:spcPts val="0"/>
              </a:spcAft>
            </a:pPr>
            <a:r>
              <a:rPr sz="760" b="0" i="0">
                <a:solidFill>
                  <a:srgbClr val="1B2B3C"/>
                </a:solidFill>
                <a:latin typeface="Calibri"/>
              </a:rPr>
              <a:t>Sheets become control planes when row-level actions are explicit.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463040"/>
            <a:ext cx="3611880" cy="2176272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463040"/>
            <a:ext cx="3611880" cy="310896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" y="1508760"/>
            <a:ext cx="3465576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987"/>
              </a:lnSpc>
              <a:spcAft>
                <a:spcPts val="0"/>
              </a:spcAft>
            </a:pPr>
            <a:r>
              <a:rPr sz="940" b="1" i="0">
                <a:solidFill>
                  <a:srgbClr val="FFFFFF"/>
                </a:solidFill>
                <a:latin typeface="Calibri"/>
              </a:rPr>
              <a:t>Why Sheets fits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" y="1847088"/>
            <a:ext cx="3465576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772"/>
              </a:lnSpc>
              <a:spcBef>
                <a:spcPts val="0"/>
              </a:spcBef>
              <a:spcAft>
                <a:spcPts val="100"/>
              </a:spcAft>
            </a:pPr>
            <a:r>
              <a:rPr sz="840">
                <a:solidFill>
                  <a:srgbClr val="1B2B3C"/>
                </a:solidFill>
                <a:latin typeface="Calibri"/>
              </a:rPr>
              <a:t>• The data is already structured and auditable.</a:t>
            </a:r>
          </a:p>
          <a:p>
            <a:pPr>
              <a:lnSpc>
                <a:spcPts val="772"/>
              </a:lnSpc>
              <a:spcBef>
                <a:spcPts val="0"/>
              </a:spcBef>
              <a:spcAft>
                <a:spcPts val="100"/>
              </a:spcAft>
            </a:pPr>
            <a:r>
              <a:rPr sz="840">
                <a:solidFill>
                  <a:srgbClr val="1B2B3C"/>
                </a:solidFill>
                <a:latin typeface="Calibri"/>
              </a:rPr>
              <a:t>• Many teams already run operations inside spreadsheets.</a:t>
            </a:r>
          </a:p>
          <a:p>
            <a:pPr>
              <a:lnSpc>
                <a:spcPts val="772"/>
              </a:lnSpc>
              <a:spcBef>
                <a:spcPts val="0"/>
              </a:spcBef>
              <a:spcAft>
                <a:spcPts val="100"/>
              </a:spcAft>
            </a:pPr>
            <a:r>
              <a:rPr sz="840">
                <a:solidFill>
                  <a:srgbClr val="1B2B3C"/>
                </a:solidFill>
                <a:latin typeface="Calibri"/>
              </a:rPr>
              <a:t>• Formula workflows and row edits are repeatable.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41648" y="1463040"/>
            <a:ext cx="3611880" cy="21762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041648" y="1463040"/>
            <a:ext cx="3611880" cy="310896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0" y="1508760"/>
            <a:ext cx="3465576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987"/>
              </a:lnSpc>
              <a:spcAft>
                <a:spcPts val="0"/>
              </a:spcAft>
            </a:pPr>
            <a:r>
              <a:rPr sz="940" b="1" i="0">
                <a:solidFill>
                  <a:srgbClr val="FFFFFF"/>
                </a:solidFill>
                <a:latin typeface="Calibri"/>
              </a:rPr>
              <a:t>Design rule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1847088"/>
            <a:ext cx="3465576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772"/>
              </a:lnSpc>
              <a:spcBef>
                <a:spcPts val="0"/>
              </a:spcBef>
              <a:spcAft>
                <a:spcPts val="100"/>
              </a:spcAft>
            </a:pPr>
            <a:r>
              <a:rPr sz="840">
                <a:solidFill>
                  <a:srgbClr val="1B2B3C"/>
                </a:solidFill>
                <a:latin typeface="Calibri"/>
              </a:rPr>
              <a:t>• Expose row-level actions, not just whole-sheet edits.</a:t>
            </a:r>
          </a:p>
          <a:p>
            <a:pPr>
              <a:lnSpc>
                <a:spcPts val="772"/>
              </a:lnSpc>
              <a:spcBef>
                <a:spcPts val="0"/>
              </a:spcBef>
              <a:spcAft>
                <a:spcPts val="100"/>
              </a:spcAft>
            </a:pPr>
            <a:r>
              <a:rPr sz="840">
                <a:solidFill>
                  <a:srgbClr val="1B2B3C"/>
                </a:solidFill>
                <a:latin typeface="Calibri"/>
              </a:rPr>
              <a:t>• Keep lineage visible so users can trust the changes.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794760"/>
            <a:ext cx="3611880" cy="1243584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3794760"/>
            <a:ext cx="3611880" cy="310896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" y="3840480"/>
            <a:ext cx="3465576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987"/>
              </a:lnSpc>
              <a:spcAft>
                <a:spcPts val="0"/>
              </a:spcAft>
            </a:pPr>
            <a:r>
              <a:rPr sz="940" b="1" i="0">
                <a:solidFill>
                  <a:srgbClr val="FFFFFF"/>
                </a:solidFill>
                <a:latin typeface="Calibri"/>
              </a:rPr>
              <a:t>What the agent can 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" y="4178808"/>
            <a:ext cx="3465576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772"/>
              </a:lnSpc>
              <a:spcBef>
                <a:spcPts val="0"/>
              </a:spcBef>
              <a:spcAft>
                <a:spcPts val="100"/>
              </a:spcAft>
            </a:pPr>
            <a:r>
              <a:rPr sz="840">
                <a:solidFill>
                  <a:srgbClr val="1B2B3C"/>
                </a:solidFill>
                <a:latin typeface="Calibri"/>
              </a:rPr>
              <a:t>• Reconcile rows, update status, and flag anomalies.</a:t>
            </a:r>
          </a:p>
          <a:p>
            <a:pPr>
              <a:lnSpc>
                <a:spcPts val="772"/>
              </a:lnSpc>
              <a:spcBef>
                <a:spcPts val="0"/>
              </a:spcBef>
              <a:spcAft>
                <a:spcPts val="100"/>
              </a:spcAft>
            </a:pPr>
            <a:r>
              <a:rPr sz="840">
                <a:solidFill>
                  <a:srgbClr val="1B2B3C"/>
                </a:solidFill>
                <a:latin typeface="Calibri"/>
              </a:rPr>
              <a:t>• Summarize patterns, then write the result back into the sheet.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041648" y="3794760"/>
            <a:ext cx="3611880" cy="12435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041648" y="3794760"/>
            <a:ext cx="3611880" cy="310896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0" y="3840480"/>
            <a:ext cx="3465576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987"/>
              </a:lnSpc>
              <a:spcAft>
                <a:spcPts val="0"/>
              </a:spcAft>
            </a:pPr>
            <a:r>
              <a:rPr sz="940" b="1" i="0">
                <a:solidFill>
                  <a:srgbClr val="FFFFFF"/>
                </a:solidFill>
                <a:latin typeface="Calibri"/>
              </a:rPr>
              <a:t>Why it matters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4178808"/>
            <a:ext cx="3465576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772"/>
              </a:lnSpc>
              <a:spcBef>
                <a:spcPts val="0"/>
              </a:spcBef>
              <a:spcAft>
                <a:spcPts val="100"/>
              </a:spcAft>
            </a:pPr>
            <a:r>
              <a:rPr sz="840">
                <a:solidFill>
                  <a:srgbClr val="1B2B3C"/>
                </a:solidFill>
                <a:latin typeface="Calibri"/>
              </a:rPr>
              <a:t>• The agent becomes useful in a control plane the team already uses.</a:t>
            </a:r>
          </a:p>
          <a:p>
            <a:pPr>
              <a:lnSpc>
                <a:spcPts val="772"/>
              </a:lnSpc>
              <a:spcBef>
                <a:spcPts val="0"/>
              </a:spcBef>
              <a:spcAft>
                <a:spcPts val="100"/>
              </a:spcAft>
            </a:pPr>
            <a:r>
              <a:rPr sz="840">
                <a:solidFill>
                  <a:srgbClr val="1B2B3C"/>
                </a:solidFill>
                <a:latin typeface="Calibri"/>
              </a:rPr>
              <a:t>• The workflow gains speed without losing auditability.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5212080"/>
            <a:ext cx="841248" cy="310896"/>
          </a:xfrm>
          <a:prstGeom prst="rect">
            <a:avLst/>
          </a:prstGeom>
          <a:solidFill>
            <a:srgbClr val="008F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3192" y="5248656"/>
            <a:ext cx="786384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714"/>
              </a:lnSpc>
              <a:spcAft>
                <a:spcPts val="0"/>
              </a:spcAft>
            </a:pPr>
            <a:r>
              <a:rPr sz="680" b="1" i="0">
                <a:solidFill>
                  <a:srgbClr val="FFFFFF"/>
                </a:solidFill>
                <a:latin typeface="Calibri"/>
              </a:rPr>
              <a:t>Rows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280160" y="5212080"/>
            <a:ext cx="841248" cy="310896"/>
          </a:xfrm>
          <a:prstGeom prst="rect">
            <a:avLst/>
          </a:prstGeom>
          <a:solidFill>
            <a:srgbClr val="008F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07592" y="5248656"/>
            <a:ext cx="786384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714"/>
              </a:lnSpc>
              <a:spcAft>
                <a:spcPts val="0"/>
              </a:spcAft>
            </a:pPr>
            <a:r>
              <a:rPr sz="680" b="1" i="0">
                <a:solidFill>
                  <a:srgbClr val="FFFFFF"/>
                </a:solidFill>
                <a:latin typeface="Calibri"/>
              </a:rPr>
              <a:t>Audit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194560" y="5212080"/>
            <a:ext cx="1152144" cy="310896"/>
          </a:xfrm>
          <a:prstGeom prst="rect">
            <a:avLst/>
          </a:prstGeom>
          <a:solidFill>
            <a:srgbClr val="008F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221992" y="5248656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714"/>
              </a:lnSpc>
              <a:spcAft>
                <a:spcPts val="0"/>
              </a:spcAft>
            </a:pPr>
            <a:r>
              <a:rPr sz="680" b="1" i="0">
                <a:solidFill>
                  <a:srgbClr val="FFFFFF"/>
                </a:solidFill>
                <a:latin typeface="Calibri"/>
              </a:rPr>
              <a:t>Reconcile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5532120"/>
            <a:ext cx="7619695" cy="512064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5623560"/>
            <a:ext cx="7436815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197"/>
              </a:lnSpc>
              <a:spcAft>
                <a:spcPts val="0"/>
              </a:spcAft>
            </a:pPr>
            <a:r>
              <a:rPr sz="1140" b="1" i="0">
                <a:solidFill>
                  <a:srgbClr val="FFFFFF"/>
                </a:solidFill>
                <a:latin typeface="Calibri"/>
              </a:rPr>
              <a:t>Spreadsheets become agent-native when row actions are explicit and reversible.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76895" y="0"/>
            <a:ext cx="4114800" cy="6858000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186623" y="109728"/>
            <a:ext cx="3895344" cy="66385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265615" y="2148840"/>
            <a:ext cx="1188720" cy="1188720"/>
          </a:xfrm>
          <a:prstGeom prst="ellipse">
            <a:avLst/>
          </a:prstGeom>
          <a:solidFill>
            <a:srgbClr val="00C9A7"/>
          </a:solidFill>
          <a:ln w="2540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512503" y="2651760"/>
            <a:ext cx="694944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147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Agent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369503" y="822960"/>
            <a:ext cx="1097280" cy="548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369503" y="822960"/>
            <a:ext cx="73152" cy="54864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79231" y="896112"/>
            <a:ext cx="877824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945"/>
              </a:lnSpc>
              <a:spcAft>
                <a:spcPts val="0"/>
              </a:spcAft>
            </a:pPr>
            <a:r>
              <a:rPr sz="900" b="1" i="0">
                <a:solidFill>
                  <a:srgbClr val="1B2B3C"/>
                </a:solidFill>
                <a:latin typeface="Calibri"/>
              </a:rPr>
              <a:t>Files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79231" y="1078992"/>
            <a:ext cx="87782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609"/>
              </a:lnSpc>
              <a:spcAft>
                <a:spcPts val="0"/>
              </a:spcAft>
            </a:pPr>
            <a:r>
              <a:rPr sz="580" b="0" i="0">
                <a:solidFill>
                  <a:srgbClr val="5B6B7C"/>
                </a:solidFill>
                <a:latin typeface="Calibri"/>
              </a:rPr>
              <a:t>notes / assets</a:t>
            </a:r>
          </a:p>
        </p:txBody>
      </p:sp>
      <p:sp>
        <p:nvSpPr>
          <p:cNvPr id="40" name="Rectangle 39"/>
          <p:cNvSpPr/>
          <p:nvPr/>
        </p:nvSpPr>
        <p:spPr>
          <a:xfrm rot="5818095">
            <a:off x="8537114" y="1907540"/>
            <a:ext cx="1658168" cy="254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10198303" y="822960"/>
            <a:ext cx="1097280" cy="548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0198303" y="822960"/>
            <a:ext cx="73152" cy="54864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308031" y="896112"/>
            <a:ext cx="877824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945"/>
              </a:lnSpc>
              <a:spcAft>
                <a:spcPts val="0"/>
              </a:spcAft>
            </a:pPr>
            <a:r>
              <a:rPr sz="900" b="1" i="0">
                <a:solidFill>
                  <a:srgbClr val="1B2B3C"/>
                </a:solidFill>
                <a:latin typeface="Calibri"/>
              </a:rPr>
              <a:t>Memory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308031" y="1078992"/>
            <a:ext cx="87782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609"/>
              </a:lnSpc>
              <a:spcAft>
                <a:spcPts val="0"/>
              </a:spcAft>
            </a:pPr>
            <a:r>
              <a:rPr sz="580" b="0" i="0">
                <a:solidFill>
                  <a:srgbClr val="5B6B7C"/>
                </a:solidFill>
                <a:latin typeface="Calibri"/>
              </a:rPr>
              <a:t>history / rules</a:t>
            </a:r>
          </a:p>
        </p:txBody>
      </p:sp>
      <p:sp>
        <p:nvSpPr>
          <p:cNvPr id="45" name="Rectangle 44"/>
          <p:cNvSpPr/>
          <p:nvPr/>
        </p:nvSpPr>
        <p:spPr>
          <a:xfrm rot="8457869">
            <a:off x="8973902" y="1907540"/>
            <a:ext cx="2613392" cy="254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8369503" y="1920240"/>
            <a:ext cx="1097280" cy="548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9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369503" y="1920240"/>
            <a:ext cx="73152" cy="548640"/>
          </a:xfrm>
          <a:prstGeom prst="rect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479231" y="1993392"/>
            <a:ext cx="877824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945"/>
              </a:lnSpc>
              <a:spcAft>
                <a:spcPts val="0"/>
              </a:spcAft>
            </a:pPr>
            <a:r>
              <a:rPr sz="900" b="1" i="0">
                <a:solidFill>
                  <a:srgbClr val="1B2B3C"/>
                </a:solidFill>
                <a:latin typeface="Calibri"/>
              </a:rPr>
              <a:t>Browser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79231" y="2176272"/>
            <a:ext cx="87782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609"/>
              </a:lnSpc>
              <a:spcAft>
                <a:spcPts val="0"/>
              </a:spcAft>
            </a:pPr>
            <a:r>
              <a:rPr sz="580" b="0" i="0">
                <a:solidFill>
                  <a:srgbClr val="5B6B7C"/>
                </a:solidFill>
                <a:latin typeface="Calibri"/>
              </a:rPr>
              <a:t>shared view</a:t>
            </a:r>
          </a:p>
        </p:txBody>
      </p:sp>
      <p:sp>
        <p:nvSpPr>
          <p:cNvPr id="50" name="Rectangle 49"/>
          <p:cNvSpPr/>
          <p:nvPr/>
        </p:nvSpPr>
        <p:spPr>
          <a:xfrm rot="6608178">
            <a:off x="9074019" y="2456180"/>
            <a:ext cx="584358" cy="25400"/>
          </a:xfrm>
          <a:prstGeom prst="rect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10198303" y="1920240"/>
            <a:ext cx="1097280" cy="548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05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0198303" y="1920240"/>
            <a:ext cx="73152" cy="548640"/>
          </a:xfrm>
          <a:prstGeom prst="rect">
            <a:avLst/>
          </a:prstGeom>
          <a:solidFill>
            <a:srgbClr val="E05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308031" y="1993392"/>
            <a:ext cx="877824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945"/>
              </a:lnSpc>
              <a:spcAft>
                <a:spcPts val="0"/>
              </a:spcAft>
            </a:pPr>
            <a:r>
              <a:rPr sz="900" b="1" i="0">
                <a:solidFill>
                  <a:srgbClr val="1B2B3C"/>
                </a:solidFill>
                <a:latin typeface="Calibri"/>
              </a:rPr>
              <a:t>Tools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308031" y="2176272"/>
            <a:ext cx="87782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609"/>
              </a:lnSpc>
              <a:spcAft>
                <a:spcPts val="0"/>
              </a:spcAft>
            </a:pPr>
            <a:r>
              <a:rPr sz="580" b="0" i="0">
                <a:solidFill>
                  <a:srgbClr val="5B6B7C"/>
                </a:solidFill>
                <a:latin typeface="Calibri"/>
              </a:rPr>
              <a:t>MCP / CLI / API</a:t>
            </a:r>
          </a:p>
        </p:txBody>
      </p:sp>
      <p:sp>
        <p:nvSpPr>
          <p:cNvPr id="55" name="Rectangle 54"/>
          <p:cNvSpPr/>
          <p:nvPr/>
        </p:nvSpPr>
        <p:spPr>
          <a:xfrm rot="9892560">
            <a:off x="9229198" y="2456180"/>
            <a:ext cx="2102801" cy="25400"/>
          </a:xfrm>
          <a:prstGeom prst="rect">
            <a:avLst/>
          </a:prstGeom>
          <a:solidFill>
            <a:srgbClr val="E05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8369503" y="3977639"/>
            <a:ext cx="1097280" cy="548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369503" y="3977639"/>
            <a:ext cx="73152" cy="54864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479231" y="4050791"/>
            <a:ext cx="877824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945"/>
              </a:lnSpc>
              <a:spcAft>
                <a:spcPts val="0"/>
              </a:spcAft>
            </a:pPr>
            <a:r>
              <a:rPr sz="900" b="1" i="0">
                <a:solidFill>
                  <a:srgbClr val="1B2B3C"/>
                </a:solidFill>
                <a:latin typeface="Calibri"/>
              </a:rPr>
              <a:t>Surface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479231" y="4233671"/>
            <a:ext cx="87782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609"/>
              </a:lnSpc>
              <a:spcAft>
                <a:spcPts val="0"/>
              </a:spcAft>
            </a:pPr>
            <a:r>
              <a:rPr sz="580" b="0" i="0">
                <a:solidFill>
                  <a:srgbClr val="5B6B7C"/>
                </a:solidFill>
                <a:latin typeface="Calibri"/>
              </a:rPr>
              <a:t>canvas / docs</a:t>
            </a:r>
          </a:p>
        </p:txBody>
      </p:sp>
      <p:sp>
        <p:nvSpPr>
          <p:cNvPr id="60" name="Rectangle 59"/>
          <p:cNvSpPr/>
          <p:nvPr/>
        </p:nvSpPr>
        <p:spPr>
          <a:xfrm rot="15744321">
            <a:off x="8605143" y="3484879"/>
            <a:ext cx="1522111" cy="254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10198303" y="3977639"/>
            <a:ext cx="1097280" cy="548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10198303" y="3977639"/>
            <a:ext cx="73152" cy="54864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308031" y="4050791"/>
            <a:ext cx="877824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945"/>
              </a:lnSpc>
              <a:spcAft>
                <a:spcPts val="0"/>
              </a:spcAft>
            </a:pPr>
            <a:r>
              <a:rPr sz="900" b="1" i="0">
                <a:solidFill>
                  <a:srgbClr val="1B2B3C"/>
                </a:solidFill>
                <a:latin typeface="Calibri"/>
              </a:rPr>
              <a:t>Approval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308031" y="4233671"/>
            <a:ext cx="87782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609"/>
              </a:lnSpc>
              <a:spcAft>
                <a:spcPts val="0"/>
              </a:spcAft>
            </a:pPr>
            <a:r>
              <a:rPr sz="580" b="0" i="0">
                <a:solidFill>
                  <a:srgbClr val="5B6B7C"/>
                </a:solidFill>
                <a:latin typeface="Calibri"/>
              </a:rPr>
              <a:t>human loop</a:t>
            </a:r>
          </a:p>
        </p:txBody>
      </p:sp>
      <p:sp>
        <p:nvSpPr>
          <p:cNvPr id="65" name="Rectangle 64"/>
          <p:cNvSpPr/>
          <p:nvPr/>
        </p:nvSpPr>
        <p:spPr>
          <a:xfrm rot="12997279">
            <a:off x="9015972" y="3484879"/>
            <a:ext cx="2529253" cy="254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8378647" y="5166360"/>
            <a:ext cx="3063240" cy="685800"/>
          </a:xfrm>
          <a:prstGeom prst="roundRect">
            <a:avLst/>
          </a:prstGeom>
          <a:solidFill>
            <a:srgbClr val="F4F7F8"/>
          </a:solidFill>
          <a:ln w="1524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8378647" y="5166360"/>
            <a:ext cx="73152" cy="6858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488375" y="5239512"/>
            <a:ext cx="2843784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945"/>
              </a:lnSpc>
              <a:spcAft>
                <a:spcPts val="0"/>
              </a:spcAft>
            </a:pPr>
            <a:r>
              <a:rPr sz="900" b="1" i="0">
                <a:solidFill>
                  <a:srgbClr val="1B2B3C"/>
                </a:solidFill>
                <a:latin typeface="Calibri"/>
              </a:rPr>
              <a:t>Definition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488375" y="5422392"/>
            <a:ext cx="2843784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693"/>
              </a:lnSpc>
              <a:spcAft>
                <a:spcPts val="0"/>
              </a:spcAft>
            </a:pPr>
            <a:r>
              <a:rPr sz="660" b="0" i="0">
                <a:solidFill>
                  <a:srgbClr val="5B6B7C"/>
                </a:solidFill>
                <a:latin typeface="Calibri"/>
              </a:rPr>
              <a:t>The product is a hub for action, not a chatbot shell.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56032" y="6492240"/>
            <a:ext cx="4023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735"/>
              </a:lnSpc>
              <a:spcAft>
                <a:spcPts val="0"/>
              </a:spcAft>
            </a:pPr>
            <a:r>
              <a:rPr sz="700" b="0" i="0">
                <a:solidFill>
                  <a:srgbClr val="888899"/>
                </a:solidFill>
                <a:latin typeface="Calibri"/>
              </a:rPr>
              <a:t>Agent-Native Apps | Canva-style Brief | June 2026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1231575" y="6492240"/>
            <a:ext cx="7315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ts val="735"/>
              </a:lnSpc>
              <a:spcAft>
                <a:spcPts val="0"/>
              </a:spcAft>
            </a:pPr>
            <a:r>
              <a:rPr sz="700" b="0" i="0">
                <a:solidFill>
                  <a:srgbClr val="888899"/>
                </a:solidFill>
                <a:latin typeface="Calibri"/>
              </a:rPr>
              <a:t>14 / 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076895" cy="68580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752825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2205"/>
              </a:lnSpc>
              <a:spcAft>
                <a:spcPts val="0"/>
              </a:spcAft>
            </a:pPr>
            <a:r>
              <a:rPr sz="2100" b="1" i="0">
                <a:solidFill>
                  <a:srgbClr val="FFFFFF"/>
                </a:solidFill>
                <a:latin typeface="Calibri"/>
              </a:rPr>
              <a:t>How to pick a wedge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658368"/>
            <a:ext cx="1645920" cy="27432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822960"/>
            <a:ext cx="7436815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102"/>
              </a:lnSpc>
              <a:spcAft>
                <a:spcPts val="0"/>
              </a:spcAft>
            </a:pPr>
            <a:r>
              <a:rPr sz="1050" b="0" i="0">
                <a:solidFill>
                  <a:srgbClr val="E0F7F1"/>
                </a:solidFill>
                <a:latin typeface="Calibri"/>
              </a:rPr>
              <a:t>The best opportunity already has a repeated job, a visible surface, and a clear output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69264"/>
            <a:ext cx="7436815" cy="420624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1024128"/>
            <a:ext cx="7290511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798"/>
              </a:lnSpc>
              <a:spcAft>
                <a:spcPts val="0"/>
              </a:spcAft>
            </a:pPr>
            <a:r>
              <a:rPr sz="760" b="0" i="0">
                <a:solidFill>
                  <a:srgbClr val="1B2B3C"/>
                </a:solidFill>
                <a:latin typeface="Calibri"/>
              </a:rPr>
              <a:t>Pick repeated, visible, and easy-to-verify work.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463040"/>
            <a:ext cx="3611880" cy="2176272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463040"/>
            <a:ext cx="3611880" cy="310896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" y="1508760"/>
            <a:ext cx="3465576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987"/>
              </a:lnSpc>
              <a:spcAft>
                <a:spcPts val="0"/>
              </a:spcAft>
            </a:pPr>
            <a:r>
              <a:rPr sz="940" b="1" i="0">
                <a:solidFill>
                  <a:srgbClr val="FFFFFF"/>
                </a:solidFill>
                <a:latin typeface="Calibri"/>
              </a:rPr>
              <a:t>Good wedge characteristics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" y="1847088"/>
            <a:ext cx="3465576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772"/>
              </a:lnSpc>
              <a:spcBef>
                <a:spcPts val="0"/>
              </a:spcBef>
              <a:spcAft>
                <a:spcPts val="100"/>
              </a:spcAft>
            </a:pPr>
            <a:r>
              <a:rPr sz="840">
                <a:solidFill>
                  <a:srgbClr val="1B2B3C"/>
                </a:solidFill>
                <a:latin typeface="Calibri"/>
              </a:rPr>
              <a:t>• Repeated: the same job happens again and again.</a:t>
            </a:r>
          </a:p>
          <a:p>
            <a:pPr>
              <a:lnSpc>
                <a:spcPts val="772"/>
              </a:lnSpc>
              <a:spcBef>
                <a:spcPts val="0"/>
              </a:spcBef>
              <a:spcAft>
                <a:spcPts val="100"/>
              </a:spcAft>
            </a:pPr>
            <a:r>
              <a:rPr sz="840">
                <a:solidFill>
                  <a:srgbClr val="1B2B3C"/>
                </a:solidFill>
                <a:latin typeface="Calibri"/>
              </a:rPr>
              <a:t>• Visible: the work can be reviewed in a shared surface.</a:t>
            </a:r>
          </a:p>
          <a:p>
            <a:pPr>
              <a:lnSpc>
                <a:spcPts val="772"/>
              </a:lnSpc>
              <a:spcBef>
                <a:spcPts val="0"/>
              </a:spcBef>
              <a:spcAft>
                <a:spcPts val="100"/>
              </a:spcAft>
            </a:pPr>
            <a:r>
              <a:rPr sz="840">
                <a:solidFill>
                  <a:srgbClr val="1B2B3C"/>
                </a:solidFill>
                <a:latin typeface="Calibri"/>
              </a:rPr>
              <a:t>• Easy to verify: success is obvious to the user.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41648" y="1463040"/>
            <a:ext cx="3611880" cy="21762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041648" y="1463040"/>
            <a:ext cx="3611880" cy="310896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0" y="1508760"/>
            <a:ext cx="3465576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987"/>
              </a:lnSpc>
              <a:spcAft>
                <a:spcPts val="0"/>
              </a:spcAft>
            </a:pPr>
            <a:r>
              <a:rPr sz="940" b="1" i="0">
                <a:solidFill>
                  <a:srgbClr val="FFFFFF"/>
                </a:solidFill>
                <a:latin typeface="Calibri"/>
              </a:rPr>
              <a:t>Bad wedge characteristics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1847088"/>
            <a:ext cx="3465576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772"/>
              </a:lnSpc>
              <a:spcBef>
                <a:spcPts val="0"/>
              </a:spcBef>
              <a:spcAft>
                <a:spcPts val="100"/>
              </a:spcAft>
            </a:pPr>
            <a:r>
              <a:rPr sz="840">
                <a:solidFill>
                  <a:srgbClr val="1B2B3C"/>
                </a:solidFill>
                <a:latin typeface="Calibri"/>
              </a:rPr>
              <a:t>• One-off: no repeatable pattern to compound.</a:t>
            </a:r>
          </a:p>
          <a:p>
            <a:pPr>
              <a:lnSpc>
                <a:spcPts val="772"/>
              </a:lnSpc>
              <a:spcBef>
                <a:spcPts val="0"/>
              </a:spcBef>
              <a:spcAft>
                <a:spcPts val="100"/>
              </a:spcAft>
            </a:pPr>
            <a:r>
              <a:rPr sz="840">
                <a:solidFill>
                  <a:srgbClr val="1B2B3C"/>
                </a:solidFill>
                <a:latin typeface="Calibri"/>
              </a:rPr>
              <a:t>• Hidden: the user cannot see what the agent changed.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794760"/>
            <a:ext cx="3611880" cy="1243584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3794760"/>
            <a:ext cx="3611880" cy="310896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" y="3840480"/>
            <a:ext cx="3465576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987"/>
              </a:lnSpc>
              <a:spcAft>
                <a:spcPts val="0"/>
              </a:spcAft>
            </a:pPr>
            <a:r>
              <a:rPr sz="940" b="1" i="0">
                <a:solidFill>
                  <a:srgbClr val="FFFFFF"/>
                </a:solidFill>
                <a:latin typeface="Calibri"/>
              </a:rPr>
              <a:t>Selection rule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" y="4178808"/>
            <a:ext cx="3465576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772"/>
              </a:lnSpc>
              <a:spcBef>
                <a:spcPts val="0"/>
              </a:spcBef>
              <a:spcAft>
                <a:spcPts val="100"/>
              </a:spcAft>
            </a:pPr>
            <a:r>
              <a:rPr sz="840">
                <a:solidFill>
                  <a:srgbClr val="1B2B3C"/>
                </a:solidFill>
                <a:latin typeface="Calibri"/>
              </a:rPr>
              <a:t>• Start where the workflow already exists.</a:t>
            </a:r>
          </a:p>
          <a:p>
            <a:pPr>
              <a:lnSpc>
                <a:spcPts val="772"/>
              </a:lnSpc>
              <a:spcBef>
                <a:spcPts val="0"/>
              </a:spcBef>
              <a:spcAft>
                <a:spcPts val="100"/>
              </a:spcAft>
            </a:pPr>
            <a:r>
              <a:rPr sz="840">
                <a:solidFill>
                  <a:srgbClr val="1B2B3C"/>
                </a:solidFill>
                <a:latin typeface="Calibri"/>
              </a:rPr>
              <a:t>• Do not ask users to invent a new habit before the product works.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041648" y="3794760"/>
            <a:ext cx="3611880" cy="12435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041648" y="3794760"/>
            <a:ext cx="3611880" cy="310896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0" y="3840480"/>
            <a:ext cx="3465576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987"/>
              </a:lnSpc>
              <a:spcAft>
                <a:spcPts val="0"/>
              </a:spcAft>
            </a:pPr>
            <a:r>
              <a:rPr sz="940" b="1" i="0">
                <a:solidFill>
                  <a:srgbClr val="FFFFFF"/>
                </a:solidFill>
                <a:latin typeface="Calibri"/>
              </a:rPr>
              <a:t>Why this matters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4178808"/>
            <a:ext cx="3465576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772"/>
              </a:lnSpc>
              <a:spcBef>
                <a:spcPts val="0"/>
              </a:spcBef>
              <a:spcAft>
                <a:spcPts val="100"/>
              </a:spcAft>
            </a:pPr>
            <a:r>
              <a:rPr sz="840">
                <a:solidFill>
                  <a:srgbClr val="1B2B3C"/>
                </a:solidFill>
                <a:latin typeface="Calibri"/>
              </a:rPr>
              <a:t>• The best wedge is already expensive enough to fix.</a:t>
            </a:r>
          </a:p>
          <a:p>
            <a:pPr>
              <a:lnSpc>
                <a:spcPts val="772"/>
              </a:lnSpc>
              <a:spcBef>
                <a:spcPts val="0"/>
              </a:spcBef>
              <a:spcAft>
                <a:spcPts val="100"/>
              </a:spcAft>
            </a:pPr>
            <a:r>
              <a:rPr sz="840">
                <a:solidFill>
                  <a:srgbClr val="1B2B3C"/>
                </a:solidFill>
                <a:latin typeface="Calibri"/>
              </a:rPr>
              <a:t>• It is also narrow enough to ship without boiling the ocean.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5212080"/>
            <a:ext cx="1069848" cy="310896"/>
          </a:xfrm>
          <a:prstGeom prst="rect">
            <a:avLst/>
          </a:prstGeom>
          <a:solidFill>
            <a:srgbClr val="008F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3192" y="5248656"/>
            <a:ext cx="1014984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714"/>
              </a:lnSpc>
              <a:spcAft>
                <a:spcPts val="0"/>
              </a:spcAft>
            </a:pPr>
            <a:r>
              <a:rPr sz="680" b="1" i="0">
                <a:solidFill>
                  <a:srgbClr val="FFFFFF"/>
                </a:solidFill>
                <a:latin typeface="Calibri"/>
              </a:rPr>
              <a:t>Repeated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508760" y="5212080"/>
            <a:ext cx="987552" cy="310896"/>
          </a:xfrm>
          <a:prstGeom prst="rect">
            <a:avLst/>
          </a:prstGeom>
          <a:solidFill>
            <a:srgbClr val="008F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536192" y="5248656"/>
            <a:ext cx="93268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714"/>
              </a:lnSpc>
              <a:spcAft>
                <a:spcPts val="0"/>
              </a:spcAft>
            </a:pPr>
            <a:r>
              <a:rPr sz="680" b="1" i="0">
                <a:solidFill>
                  <a:srgbClr val="FFFFFF"/>
                </a:solidFill>
                <a:latin typeface="Calibri"/>
              </a:rPr>
              <a:t>Visible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69464" y="5212080"/>
            <a:ext cx="1152144" cy="310896"/>
          </a:xfrm>
          <a:prstGeom prst="rect">
            <a:avLst/>
          </a:prstGeom>
          <a:solidFill>
            <a:srgbClr val="008F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596896" y="5248656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714"/>
              </a:lnSpc>
              <a:spcAft>
                <a:spcPts val="0"/>
              </a:spcAft>
            </a:pPr>
            <a:r>
              <a:rPr sz="680" b="1" i="0">
                <a:solidFill>
                  <a:srgbClr val="FFFFFF"/>
                </a:solidFill>
                <a:latin typeface="Calibri"/>
              </a:rPr>
              <a:t>Auditable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5532120"/>
            <a:ext cx="7619695" cy="512064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5623560"/>
            <a:ext cx="7436815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197"/>
              </a:lnSpc>
              <a:spcAft>
                <a:spcPts val="0"/>
              </a:spcAft>
            </a:pPr>
            <a:r>
              <a:rPr sz="1140" b="1" i="0">
                <a:solidFill>
                  <a:srgbClr val="FFFFFF"/>
                </a:solidFill>
                <a:latin typeface="Calibri"/>
              </a:rPr>
              <a:t>If the job is not repeated, visible, and auditable, it is probably not the wedge.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76895" y="0"/>
            <a:ext cx="4114800" cy="6858000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186623" y="109728"/>
            <a:ext cx="3895344" cy="66385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396935" y="658368"/>
            <a:ext cx="1234440" cy="914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05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396935" y="658368"/>
            <a:ext cx="73152" cy="914400"/>
          </a:xfrm>
          <a:prstGeom prst="rect">
            <a:avLst/>
          </a:prstGeom>
          <a:solidFill>
            <a:srgbClr val="E05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06663" y="731520"/>
            <a:ext cx="1014984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945"/>
              </a:lnSpc>
              <a:spcAft>
                <a:spcPts val="0"/>
              </a:spcAft>
            </a:pPr>
            <a:r>
              <a:rPr sz="900" b="1" i="0">
                <a:solidFill>
                  <a:srgbClr val="1B2B3C"/>
                </a:solidFill>
                <a:latin typeface="Calibri"/>
              </a:rPr>
              <a:t>Low value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06663" y="914400"/>
            <a:ext cx="1014984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609"/>
              </a:lnSpc>
              <a:spcAft>
                <a:spcPts val="0"/>
              </a:spcAft>
            </a:pPr>
            <a:r>
              <a:rPr sz="580" b="0" i="0">
                <a:solidFill>
                  <a:srgbClr val="5B6B7C"/>
                </a:solidFill>
                <a:latin typeface="Calibri"/>
              </a:rPr>
              <a:t>hidden</a:t>
            </a:r>
            <a:br/>
            <a:r>
              <a:rPr sz="580" b="0" i="0">
                <a:solidFill>
                  <a:srgbClr val="5B6B7C"/>
                </a:solidFill>
                <a:latin typeface="Calibri"/>
              </a:rPr>
              <a:t>rare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859975" y="658368"/>
            <a:ext cx="1234440" cy="914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859975" y="658368"/>
            <a:ext cx="73152" cy="9144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969703" y="731520"/>
            <a:ext cx="1014984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945"/>
              </a:lnSpc>
              <a:spcAft>
                <a:spcPts val="0"/>
              </a:spcAft>
            </a:pPr>
            <a:r>
              <a:rPr sz="900" b="1" i="0">
                <a:solidFill>
                  <a:srgbClr val="1B2B3C"/>
                </a:solidFill>
                <a:latin typeface="Calibri"/>
              </a:rPr>
              <a:t>Strong wedge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69703" y="914400"/>
            <a:ext cx="1014984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609"/>
              </a:lnSpc>
              <a:spcAft>
                <a:spcPts val="0"/>
              </a:spcAft>
            </a:pPr>
            <a:r>
              <a:rPr sz="580" b="0" i="0">
                <a:solidFill>
                  <a:srgbClr val="5B6B7C"/>
                </a:solidFill>
                <a:latin typeface="Calibri"/>
              </a:rPr>
              <a:t>visible</a:t>
            </a:r>
            <a:br/>
            <a:r>
              <a:rPr sz="580" b="0" i="0">
                <a:solidFill>
                  <a:srgbClr val="5B6B7C"/>
                </a:solidFill>
                <a:latin typeface="Calibri"/>
              </a:rPr>
              <a:t>repeatable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396935" y="1828800"/>
            <a:ext cx="1234440" cy="914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396935" y="1828800"/>
            <a:ext cx="73152" cy="9144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506663" y="1901952"/>
            <a:ext cx="1014984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945"/>
              </a:lnSpc>
              <a:spcAft>
                <a:spcPts val="0"/>
              </a:spcAft>
            </a:pPr>
            <a:r>
              <a:rPr sz="900" b="1" i="0">
                <a:solidFill>
                  <a:srgbClr val="1B2B3C"/>
                </a:solidFill>
                <a:latin typeface="Calibri"/>
              </a:rPr>
              <a:t>Weak wedge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06663" y="2084832"/>
            <a:ext cx="1014984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609"/>
              </a:lnSpc>
              <a:spcAft>
                <a:spcPts val="0"/>
              </a:spcAft>
            </a:pPr>
            <a:r>
              <a:rPr sz="580" b="0" i="0">
                <a:solidFill>
                  <a:srgbClr val="5B6B7C"/>
                </a:solidFill>
                <a:latin typeface="Calibri"/>
              </a:rPr>
              <a:t>repeatable</a:t>
            </a:r>
            <a:br/>
            <a:r>
              <a:rPr sz="580" b="0" i="0">
                <a:solidFill>
                  <a:srgbClr val="5B6B7C"/>
                </a:solidFill>
                <a:latin typeface="Calibri"/>
              </a:rPr>
              <a:t>but opaque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859975" y="1828800"/>
            <a:ext cx="1234440" cy="914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9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859975" y="1828800"/>
            <a:ext cx="73152" cy="914400"/>
          </a:xfrm>
          <a:prstGeom prst="rect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969703" y="1901952"/>
            <a:ext cx="1014984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945"/>
              </a:lnSpc>
              <a:spcAft>
                <a:spcPts val="0"/>
              </a:spcAft>
            </a:pPr>
            <a:r>
              <a:rPr sz="900" b="1" i="0">
                <a:solidFill>
                  <a:srgbClr val="1B2B3C"/>
                </a:solidFill>
                <a:latin typeface="Calibri"/>
              </a:rPr>
              <a:t>Strong wedge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969703" y="2084832"/>
            <a:ext cx="1014984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609"/>
              </a:lnSpc>
              <a:spcAft>
                <a:spcPts val="0"/>
              </a:spcAft>
            </a:pPr>
            <a:r>
              <a:rPr sz="580" b="0" i="0">
                <a:solidFill>
                  <a:srgbClr val="5B6B7C"/>
                </a:solidFill>
                <a:latin typeface="Calibri"/>
              </a:rPr>
              <a:t>shared surface</a:t>
            </a:r>
            <a:br/>
            <a:r>
              <a:rPr sz="580" b="0" i="0">
                <a:solidFill>
                  <a:srgbClr val="5B6B7C"/>
                </a:solidFill>
                <a:latin typeface="Calibri"/>
              </a:rPr>
              <a:t> + tool access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396935" y="3246120"/>
            <a:ext cx="2743200" cy="914400"/>
          </a:xfrm>
          <a:prstGeom prst="roundRect">
            <a:avLst/>
          </a:prstGeom>
          <a:solidFill>
            <a:srgbClr val="F4F7F8"/>
          </a:solidFill>
          <a:ln w="1524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396935" y="3246120"/>
            <a:ext cx="73152" cy="9144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506663" y="3319272"/>
            <a:ext cx="2523744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945"/>
              </a:lnSpc>
              <a:spcAft>
                <a:spcPts val="0"/>
              </a:spcAft>
            </a:pPr>
            <a:r>
              <a:rPr sz="900" b="1" i="0">
                <a:solidFill>
                  <a:srgbClr val="1B2B3C"/>
                </a:solidFill>
                <a:latin typeface="Calibri"/>
              </a:rPr>
              <a:t>What to choose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06663" y="3502152"/>
            <a:ext cx="2523744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672"/>
              </a:lnSpc>
              <a:spcAft>
                <a:spcPts val="0"/>
              </a:spcAft>
            </a:pPr>
            <a:r>
              <a:rPr sz="640" b="0" i="0">
                <a:solidFill>
                  <a:srgbClr val="5B6B7C"/>
                </a:solidFill>
                <a:latin typeface="Calibri"/>
              </a:rPr>
              <a:t>Repeated work, visible state, and easy verification.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396935" y="4526280"/>
            <a:ext cx="2743200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05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396935" y="4526280"/>
            <a:ext cx="73152" cy="822960"/>
          </a:xfrm>
          <a:prstGeom prst="rect">
            <a:avLst/>
          </a:prstGeom>
          <a:solidFill>
            <a:srgbClr val="E05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506663" y="4599432"/>
            <a:ext cx="2523744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945"/>
              </a:lnSpc>
              <a:spcAft>
                <a:spcPts val="0"/>
              </a:spcAft>
            </a:pPr>
            <a:r>
              <a:rPr sz="900" b="1" i="0">
                <a:solidFill>
                  <a:srgbClr val="1B2B3C"/>
                </a:solidFill>
                <a:latin typeface="Calibri"/>
              </a:rPr>
              <a:t>Avoid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506663" y="4782312"/>
            <a:ext cx="2523744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672"/>
              </a:lnSpc>
              <a:spcAft>
                <a:spcPts val="0"/>
              </a:spcAft>
            </a:pPr>
            <a:r>
              <a:rPr sz="640" b="0" i="0">
                <a:solidFill>
                  <a:srgbClr val="5B6B7C"/>
                </a:solidFill>
                <a:latin typeface="Calibri"/>
              </a:rPr>
              <a:t>One-off or invisible workflows.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56032" y="6492240"/>
            <a:ext cx="4023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735"/>
              </a:lnSpc>
              <a:spcAft>
                <a:spcPts val="0"/>
              </a:spcAft>
            </a:pPr>
            <a:r>
              <a:rPr sz="700" b="0" i="0">
                <a:solidFill>
                  <a:srgbClr val="888899"/>
                </a:solidFill>
                <a:latin typeface="Calibri"/>
              </a:rPr>
              <a:t>Agent-Native Apps | Canva-style Brief | June 2026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231575" y="6492240"/>
            <a:ext cx="7315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ts val="735"/>
              </a:lnSpc>
              <a:spcAft>
                <a:spcPts val="0"/>
              </a:spcAft>
            </a:pPr>
            <a:r>
              <a:rPr sz="700" b="0" i="0">
                <a:solidFill>
                  <a:srgbClr val="888899"/>
                </a:solidFill>
                <a:latin typeface="Calibri"/>
              </a:rPr>
              <a:t>15 / 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076895" cy="68580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752825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2205"/>
              </a:lnSpc>
              <a:spcAft>
                <a:spcPts val="0"/>
              </a:spcAft>
            </a:pPr>
            <a:r>
              <a:rPr sz="2100" b="1" i="0">
                <a:solidFill>
                  <a:srgbClr val="FFFFFF"/>
                </a:solidFill>
                <a:latin typeface="Calibri"/>
              </a:rPr>
              <a:t>Build steps 1-3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658368"/>
            <a:ext cx="1645920" cy="27432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822960"/>
            <a:ext cx="7436815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102"/>
              </a:lnSpc>
              <a:spcAft>
                <a:spcPts val="0"/>
              </a:spcAft>
            </a:pPr>
            <a:r>
              <a:rPr sz="1050" b="0" i="0">
                <a:solidFill>
                  <a:srgbClr val="E0F7F1"/>
                </a:solidFill>
                <a:latin typeface="Calibri"/>
              </a:rPr>
              <a:t>Pick the job, define the surface, and build for BYO agent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69264"/>
            <a:ext cx="7436815" cy="420624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1024128"/>
            <a:ext cx="7290511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798"/>
              </a:lnSpc>
              <a:spcAft>
                <a:spcPts val="0"/>
              </a:spcAft>
            </a:pPr>
            <a:r>
              <a:rPr sz="760" b="0" i="0">
                <a:solidFill>
                  <a:srgbClr val="1B2B3C"/>
                </a:solidFill>
                <a:latin typeface="Calibri"/>
              </a:rPr>
              <a:t>Start with the job, define the surface, and support bring-your-own-agent.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463040"/>
            <a:ext cx="3611880" cy="2176272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463040"/>
            <a:ext cx="3611880" cy="310896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" y="1508760"/>
            <a:ext cx="3465576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987"/>
              </a:lnSpc>
              <a:spcAft>
                <a:spcPts val="0"/>
              </a:spcAft>
            </a:pPr>
            <a:r>
              <a:rPr sz="940" b="1" i="0">
                <a:solidFill>
                  <a:srgbClr val="FFFFFF"/>
                </a:solidFill>
                <a:latin typeface="Calibri"/>
              </a:rPr>
              <a:t>1-2: job and surface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" y="1847088"/>
            <a:ext cx="3465576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772"/>
              </a:lnSpc>
              <a:spcBef>
                <a:spcPts val="0"/>
              </a:spcBef>
              <a:spcAft>
                <a:spcPts val="100"/>
              </a:spcAft>
            </a:pPr>
            <a:r>
              <a:rPr sz="840">
                <a:solidFill>
                  <a:srgbClr val="1B2B3C"/>
                </a:solidFill>
                <a:latin typeface="Calibri"/>
              </a:rPr>
              <a:t>• Start with one outcome the user and agent should achieve together.</a:t>
            </a:r>
          </a:p>
          <a:p>
            <a:pPr>
              <a:lnSpc>
                <a:spcPts val="772"/>
              </a:lnSpc>
              <a:spcBef>
                <a:spcPts val="0"/>
              </a:spcBef>
              <a:spcAft>
                <a:spcPts val="100"/>
              </a:spcAft>
            </a:pPr>
            <a:r>
              <a:rPr sz="840">
                <a:solidFill>
                  <a:srgbClr val="1B2B3C"/>
                </a:solidFill>
                <a:latin typeface="Calibri"/>
              </a:rPr>
              <a:t>• Choose the shared workspace both sides can edit.</a:t>
            </a:r>
          </a:p>
          <a:p>
            <a:pPr>
              <a:lnSpc>
                <a:spcPts val="772"/>
              </a:lnSpc>
              <a:spcBef>
                <a:spcPts val="0"/>
              </a:spcBef>
              <a:spcAft>
                <a:spcPts val="100"/>
              </a:spcAft>
            </a:pPr>
            <a:r>
              <a:rPr sz="840">
                <a:solidFill>
                  <a:srgbClr val="1B2B3C"/>
                </a:solidFill>
                <a:latin typeface="Calibri"/>
              </a:rPr>
              <a:t>• Define the review flow before you define the UI chrome.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41648" y="1463040"/>
            <a:ext cx="3611880" cy="21762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041648" y="1463040"/>
            <a:ext cx="3611880" cy="310896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0" y="1508760"/>
            <a:ext cx="3465576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987"/>
              </a:lnSpc>
              <a:spcAft>
                <a:spcPts val="0"/>
              </a:spcAft>
            </a:pPr>
            <a:r>
              <a:rPr sz="940" b="1" i="0">
                <a:solidFill>
                  <a:srgbClr val="FFFFFF"/>
                </a:solidFill>
                <a:latin typeface="Calibri"/>
              </a:rPr>
              <a:t>3: BYO agent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1847088"/>
            <a:ext cx="3465576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772"/>
              </a:lnSpc>
              <a:spcBef>
                <a:spcPts val="0"/>
              </a:spcBef>
              <a:spcAft>
                <a:spcPts val="100"/>
              </a:spcAft>
            </a:pPr>
            <a:r>
              <a:rPr sz="840">
                <a:solidFill>
                  <a:srgbClr val="1B2B3C"/>
                </a:solidFill>
                <a:latin typeface="Calibri"/>
              </a:rPr>
              <a:t>• Expose tools so any agent can use the app.</a:t>
            </a:r>
          </a:p>
          <a:p>
            <a:pPr>
              <a:lnSpc>
                <a:spcPts val="772"/>
              </a:lnSpc>
              <a:spcBef>
                <a:spcPts val="0"/>
              </a:spcBef>
              <a:spcAft>
                <a:spcPts val="100"/>
              </a:spcAft>
            </a:pPr>
            <a:r>
              <a:rPr sz="840">
                <a:solidFill>
                  <a:srgbClr val="1B2B3C"/>
                </a:solidFill>
                <a:latin typeface="Calibri"/>
              </a:rPr>
              <a:t>• Do not lock the product to one model or one vendor.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794760"/>
            <a:ext cx="3611880" cy="1243584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3794760"/>
            <a:ext cx="3611880" cy="310896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" y="3840480"/>
            <a:ext cx="3465576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987"/>
              </a:lnSpc>
              <a:spcAft>
                <a:spcPts val="0"/>
              </a:spcAft>
            </a:pPr>
            <a:r>
              <a:rPr sz="940" b="1" i="0">
                <a:solidFill>
                  <a:srgbClr val="FFFFFF"/>
                </a:solidFill>
                <a:latin typeface="Calibri"/>
              </a:rPr>
              <a:t>Practical implication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" y="4178808"/>
            <a:ext cx="3465576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772"/>
              </a:lnSpc>
              <a:spcBef>
                <a:spcPts val="0"/>
              </a:spcBef>
              <a:spcAft>
                <a:spcPts val="100"/>
              </a:spcAft>
            </a:pPr>
            <a:r>
              <a:rPr sz="840">
                <a:solidFill>
                  <a:srgbClr val="1B2B3C"/>
                </a:solidFill>
                <a:latin typeface="Calibri"/>
              </a:rPr>
              <a:t>• The product design starts with the shared surface and the tool surface.</a:t>
            </a:r>
          </a:p>
          <a:p>
            <a:pPr>
              <a:lnSpc>
                <a:spcPts val="772"/>
              </a:lnSpc>
              <a:spcBef>
                <a:spcPts val="0"/>
              </a:spcBef>
              <a:spcAft>
                <a:spcPts val="100"/>
              </a:spcAft>
            </a:pPr>
            <a:r>
              <a:rPr sz="840">
                <a:solidFill>
                  <a:srgbClr val="1B2B3C"/>
                </a:solidFill>
                <a:latin typeface="Calibri"/>
              </a:rPr>
              <a:t>• The UI should reveal work, not hide it.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041648" y="3794760"/>
            <a:ext cx="3611880" cy="12435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041648" y="3794760"/>
            <a:ext cx="3611880" cy="310896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0" y="3840480"/>
            <a:ext cx="3465576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987"/>
              </a:lnSpc>
              <a:spcAft>
                <a:spcPts val="0"/>
              </a:spcAft>
            </a:pPr>
            <a:r>
              <a:rPr sz="940" b="1" i="0">
                <a:solidFill>
                  <a:srgbClr val="FFFFFF"/>
                </a:solidFill>
                <a:latin typeface="Calibri"/>
              </a:rPr>
              <a:t>Failure mode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4178808"/>
            <a:ext cx="3465576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772"/>
              </a:lnSpc>
              <a:spcBef>
                <a:spcPts val="0"/>
              </a:spcBef>
              <a:spcAft>
                <a:spcPts val="100"/>
              </a:spcAft>
            </a:pPr>
            <a:r>
              <a:rPr sz="840">
                <a:solidFill>
                  <a:srgbClr val="1B2B3C"/>
                </a:solidFill>
                <a:latin typeface="Calibri"/>
              </a:rPr>
              <a:t>• If the app is just an agent front-end, it is replaceable.</a:t>
            </a:r>
          </a:p>
          <a:p>
            <a:pPr>
              <a:lnSpc>
                <a:spcPts val="772"/>
              </a:lnSpc>
              <a:spcBef>
                <a:spcPts val="0"/>
              </a:spcBef>
              <a:spcAft>
                <a:spcPts val="100"/>
              </a:spcAft>
            </a:pPr>
            <a:r>
              <a:rPr sz="840">
                <a:solidFill>
                  <a:srgbClr val="1B2B3C"/>
                </a:solidFill>
                <a:latin typeface="Calibri"/>
              </a:rPr>
              <a:t>• If the app is a workspace, it becomes sticky.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5212080"/>
            <a:ext cx="841248" cy="310896"/>
          </a:xfrm>
          <a:prstGeom prst="rect">
            <a:avLst/>
          </a:prstGeom>
          <a:solidFill>
            <a:srgbClr val="008F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3192" y="5248656"/>
            <a:ext cx="786384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714"/>
              </a:lnSpc>
              <a:spcAft>
                <a:spcPts val="0"/>
              </a:spcAft>
            </a:pPr>
            <a:r>
              <a:rPr sz="680" b="1" i="0">
                <a:solidFill>
                  <a:srgbClr val="FFFFFF"/>
                </a:solidFill>
                <a:latin typeface="Calibri"/>
              </a:rPr>
              <a:t>Job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280160" y="5212080"/>
            <a:ext cx="987552" cy="310896"/>
          </a:xfrm>
          <a:prstGeom prst="rect">
            <a:avLst/>
          </a:prstGeom>
          <a:solidFill>
            <a:srgbClr val="008F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07592" y="5248656"/>
            <a:ext cx="93268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714"/>
              </a:lnSpc>
              <a:spcAft>
                <a:spcPts val="0"/>
              </a:spcAft>
            </a:pPr>
            <a:r>
              <a:rPr sz="680" b="1" i="0">
                <a:solidFill>
                  <a:srgbClr val="FFFFFF"/>
                </a:solidFill>
                <a:latin typeface="Calibri"/>
              </a:rPr>
              <a:t>Surface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340864" y="5212080"/>
            <a:ext cx="1152144" cy="310896"/>
          </a:xfrm>
          <a:prstGeom prst="rect">
            <a:avLst/>
          </a:prstGeom>
          <a:solidFill>
            <a:srgbClr val="008F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368296" y="5248656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714"/>
              </a:lnSpc>
              <a:spcAft>
                <a:spcPts val="0"/>
              </a:spcAft>
            </a:pPr>
            <a:r>
              <a:rPr sz="680" b="1" i="0">
                <a:solidFill>
                  <a:srgbClr val="FFFFFF"/>
                </a:solidFill>
                <a:latin typeface="Calibri"/>
              </a:rPr>
              <a:t>BYO agent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5532120"/>
            <a:ext cx="7619695" cy="512064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5623560"/>
            <a:ext cx="7436815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197"/>
              </a:lnSpc>
              <a:spcAft>
                <a:spcPts val="0"/>
              </a:spcAft>
            </a:pPr>
            <a:r>
              <a:rPr sz="1140" b="1" i="0">
                <a:solidFill>
                  <a:srgbClr val="FFFFFF"/>
                </a:solidFill>
                <a:latin typeface="Calibri"/>
              </a:rPr>
              <a:t>Start with the job and the surface before you start writing the agent loop.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76895" y="0"/>
            <a:ext cx="4114800" cy="6858000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186623" y="109728"/>
            <a:ext cx="3895344" cy="66385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378647" y="822960"/>
            <a:ext cx="3063240" cy="51206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378647" y="822960"/>
            <a:ext cx="73152" cy="51206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88375" y="896112"/>
            <a:ext cx="2843784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945"/>
              </a:lnSpc>
              <a:spcAft>
                <a:spcPts val="0"/>
              </a:spcAft>
            </a:pPr>
            <a:r>
              <a:rPr sz="900" b="1" i="0">
                <a:solidFill>
                  <a:srgbClr val="1B2B3C"/>
                </a:solidFill>
                <a:latin typeface="Calibri"/>
              </a:rPr>
              <a:t>Context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88375" y="1078992"/>
            <a:ext cx="284378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630"/>
              </a:lnSpc>
              <a:spcAft>
                <a:spcPts val="0"/>
              </a:spcAft>
            </a:pPr>
            <a:r>
              <a:rPr sz="600" b="0" i="0">
                <a:solidFill>
                  <a:srgbClr val="5B6B7C"/>
                </a:solidFill>
                <a:latin typeface="Calibri"/>
              </a:rPr>
              <a:t>files / notes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378647" y="1554480"/>
            <a:ext cx="3063240" cy="51206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378647" y="1554480"/>
            <a:ext cx="73152" cy="512064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88375" y="1627632"/>
            <a:ext cx="2843784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945"/>
              </a:lnSpc>
              <a:spcAft>
                <a:spcPts val="0"/>
              </a:spcAft>
            </a:pPr>
            <a:r>
              <a:rPr sz="900" b="1" i="0">
                <a:solidFill>
                  <a:srgbClr val="1B2B3C"/>
                </a:solidFill>
                <a:latin typeface="Calibri"/>
              </a:rPr>
              <a:t>Agent loop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88375" y="1810512"/>
            <a:ext cx="284378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630"/>
              </a:lnSpc>
              <a:spcAft>
                <a:spcPts val="0"/>
              </a:spcAft>
            </a:pPr>
            <a:r>
              <a:rPr sz="600" b="0" i="0">
                <a:solidFill>
                  <a:srgbClr val="5B6B7C"/>
                </a:solidFill>
                <a:latin typeface="Calibri"/>
              </a:rPr>
              <a:t>Cursor / Codex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378647" y="2286000"/>
            <a:ext cx="3063240" cy="51206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05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378647" y="2286000"/>
            <a:ext cx="73152" cy="512064"/>
          </a:xfrm>
          <a:prstGeom prst="rect">
            <a:avLst/>
          </a:prstGeom>
          <a:solidFill>
            <a:srgbClr val="E05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488375" y="2359152"/>
            <a:ext cx="2843784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945"/>
              </a:lnSpc>
              <a:spcAft>
                <a:spcPts val="0"/>
              </a:spcAft>
            </a:pPr>
            <a:r>
              <a:rPr sz="900" b="1" i="0">
                <a:solidFill>
                  <a:srgbClr val="1B2B3C"/>
                </a:solidFill>
                <a:latin typeface="Calibri"/>
              </a:rPr>
              <a:t>Tools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88375" y="2542032"/>
            <a:ext cx="284378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630"/>
              </a:lnSpc>
              <a:spcAft>
                <a:spcPts val="0"/>
              </a:spcAft>
            </a:pPr>
            <a:r>
              <a:rPr sz="600" b="0" i="0">
                <a:solidFill>
                  <a:srgbClr val="5B6B7C"/>
                </a:solidFill>
                <a:latin typeface="Calibri"/>
              </a:rPr>
              <a:t>MCP / API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378647" y="3017520"/>
            <a:ext cx="3063240" cy="51206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9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378647" y="3017520"/>
            <a:ext cx="73152" cy="512064"/>
          </a:xfrm>
          <a:prstGeom prst="rect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488375" y="3090672"/>
            <a:ext cx="2843784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945"/>
              </a:lnSpc>
              <a:spcAft>
                <a:spcPts val="0"/>
              </a:spcAft>
            </a:pPr>
            <a:r>
              <a:rPr sz="900" b="1" i="0">
                <a:solidFill>
                  <a:srgbClr val="1B2B3C"/>
                </a:solidFill>
                <a:latin typeface="Calibri"/>
              </a:rPr>
              <a:t>Surface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88375" y="3273552"/>
            <a:ext cx="284378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630"/>
              </a:lnSpc>
              <a:spcAft>
                <a:spcPts val="0"/>
              </a:spcAft>
            </a:pPr>
            <a:r>
              <a:rPr sz="600" b="0" i="0">
                <a:solidFill>
                  <a:srgbClr val="5B6B7C"/>
                </a:solidFill>
                <a:latin typeface="Calibri"/>
              </a:rPr>
              <a:t>canvas / docs</a:t>
            </a:r>
          </a:p>
        </p:txBody>
      </p:sp>
      <p:sp>
        <p:nvSpPr>
          <p:cNvPr id="50" name="Rectangle 49"/>
          <p:cNvSpPr/>
          <p:nvPr/>
        </p:nvSpPr>
        <p:spPr>
          <a:xfrm rot="5400000">
            <a:off x="9795967" y="1407414"/>
            <a:ext cx="182880" cy="381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 rot="5400000">
            <a:off x="9795966" y="2138933"/>
            <a:ext cx="182881" cy="381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 rot="5400000">
            <a:off x="9795967" y="2870454"/>
            <a:ext cx="182880" cy="38100"/>
          </a:xfrm>
          <a:prstGeom prst="rect">
            <a:avLst/>
          </a:prstGeom>
          <a:solidFill>
            <a:srgbClr val="E05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8378647" y="3977639"/>
            <a:ext cx="3063240" cy="960120"/>
          </a:xfrm>
          <a:prstGeom prst="roundRect">
            <a:avLst/>
          </a:prstGeom>
          <a:solidFill>
            <a:srgbClr val="F4F7F8"/>
          </a:solidFill>
          <a:ln w="1524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378647" y="3977639"/>
            <a:ext cx="73152" cy="96012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488375" y="4050791"/>
            <a:ext cx="2843784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945"/>
              </a:lnSpc>
              <a:spcAft>
                <a:spcPts val="0"/>
              </a:spcAft>
            </a:pPr>
            <a:r>
              <a:rPr sz="900" b="1" i="0">
                <a:solidFill>
                  <a:srgbClr val="1B2B3C"/>
                </a:solidFill>
                <a:latin typeface="Calibri"/>
              </a:rPr>
              <a:t>Memory write-back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488375" y="4233671"/>
            <a:ext cx="2843784" cy="667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651"/>
              </a:lnSpc>
              <a:spcAft>
                <a:spcPts val="0"/>
              </a:spcAft>
            </a:pPr>
            <a:r>
              <a:rPr sz="620" b="0" i="0">
                <a:solidFill>
                  <a:srgbClr val="5B6B7C"/>
                </a:solidFill>
                <a:latin typeface="Calibri"/>
              </a:rPr>
              <a:t>Approved output returns as context for the next turn.</a:t>
            </a:r>
            <a:br/>
            <a:r>
              <a:rPr sz="620" b="0" i="0">
                <a:solidFill>
                  <a:srgbClr val="5B6B7C"/>
                </a:solidFill>
                <a:latin typeface="Calibri"/>
              </a:rPr>
              <a:t>That is what makes quality compound over time.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378647" y="5166360"/>
            <a:ext cx="3063240" cy="685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8378647" y="5166360"/>
            <a:ext cx="73152" cy="6858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488375" y="5239512"/>
            <a:ext cx="2843784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945"/>
              </a:lnSpc>
              <a:spcAft>
                <a:spcPts val="0"/>
              </a:spcAft>
            </a:pPr>
            <a:r>
              <a:rPr sz="900" b="1" i="0">
                <a:solidFill>
                  <a:srgbClr val="1B2B3C"/>
                </a:solidFill>
                <a:latin typeface="Calibri"/>
              </a:rPr>
              <a:t>Outcome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488375" y="5422392"/>
            <a:ext cx="2843784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714"/>
              </a:lnSpc>
              <a:spcAft>
                <a:spcPts val="0"/>
              </a:spcAft>
            </a:pPr>
            <a:r>
              <a:rPr sz="680" b="0" i="0">
                <a:solidFill>
                  <a:srgbClr val="5B6B7C"/>
                </a:solidFill>
                <a:latin typeface="Calibri"/>
              </a:rPr>
              <a:t>A loop, not a silo.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56032" y="6492240"/>
            <a:ext cx="4023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735"/>
              </a:lnSpc>
              <a:spcAft>
                <a:spcPts val="0"/>
              </a:spcAft>
            </a:pPr>
            <a:r>
              <a:rPr sz="700" b="0" i="0">
                <a:solidFill>
                  <a:srgbClr val="888899"/>
                </a:solidFill>
                <a:latin typeface="Calibri"/>
              </a:rPr>
              <a:t>Agent-Native Apps | Canva-style Brief | June 2026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231575" y="6492240"/>
            <a:ext cx="7315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ts val="735"/>
              </a:lnSpc>
              <a:spcAft>
                <a:spcPts val="0"/>
              </a:spcAft>
            </a:pPr>
            <a:r>
              <a:rPr sz="700" b="0" i="0">
                <a:solidFill>
                  <a:srgbClr val="888899"/>
                </a:solidFill>
                <a:latin typeface="Calibri"/>
              </a:rPr>
              <a:t>16 / 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076895" cy="68580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752825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2205"/>
              </a:lnSpc>
              <a:spcAft>
                <a:spcPts val="0"/>
              </a:spcAft>
            </a:pPr>
            <a:r>
              <a:rPr sz="2100" b="1" i="0">
                <a:solidFill>
                  <a:srgbClr val="FFFFFF"/>
                </a:solidFill>
                <a:latin typeface="Calibri"/>
              </a:rPr>
              <a:t>Build steps 4-5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658368"/>
            <a:ext cx="1645920" cy="27432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822960"/>
            <a:ext cx="7436815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102"/>
              </a:lnSpc>
              <a:spcAft>
                <a:spcPts val="0"/>
              </a:spcAft>
            </a:pPr>
            <a:r>
              <a:rPr sz="1050" b="0" i="0">
                <a:solidFill>
                  <a:srgbClr val="E0F7F1"/>
                </a:solidFill>
                <a:latin typeface="Calibri"/>
              </a:rPr>
              <a:t>Build from expertise and plan the tool map on day one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69264"/>
            <a:ext cx="7436815" cy="420624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1024128"/>
            <a:ext cx="7290511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798"/>
              </a:lnSpc>
              <a:spcAft>
                <a:spcPts val="0"/>
              </a:spcAft>
            </a:pPr>
            <a:r>
              <a:rPr sz="760" b="0" i="0">
                <a:solidFill>
                  <a:srgbClr val="1B2B3C"/>
                </a:solidFill>
                <a:latin typeface="Calibri"/>
              </a:rPr>
              <a:t>Choose a domain you know and map tools and permissions on day one.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463040"/>
            <a:ext cx="3611880" cy="2176272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463040"/>
            <a:ext cx="3611880" cy="310896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" y="1508760"/>
            <a:ext cx="3465576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987"/>
              </a:lnSpc>
              <a:spcAft>
                <a:spcPts val="0"/>
              </a:spcAft>
            </a:pPr>
            <a:r>
              <a:rPr sz="940" b="1" i="0">
                <a:solidFill>
                  <a:srgbClr val="FFFFFF"/>
                </a:solidFill>
                <a:latin typeface="Calibri"/>
              </a:rPr>
              <a:t>4-5: expertise and tools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" y="1847088"/>
            <a:ext cx="3465576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772"/>
              </a:lnSpc>
              <a:spcBef>
                <a:spcPts val="0"/>
              </a:spcBef>
              <a:spcAft>
                <a:spcPts val="100"/>
              </a:spcAft>
            </a:pPr>
            <a:r>
              <a:rPr sz="840">
                <a:solidFill>
                  <a:srgbClr val="1B2B3C"/>
                </a:solidFill>
                <a:latin typeface="Calibri"/>
              </a:rPr>
              <a:t>• Choose a domain you already know deeply enough to judge quality.</a:t>
            </a:r>
          </a:p>
          <a:p>
            <a:pPr>
              <a:lnSpc>
                <a:spcPts val="772"/>
              </a:lnSpc>
              <a:spcBef>
                <a:spcPts val="0"/>
              </a:spcBef>
              <a:spcAft>
                <a:spcPts val="100"/>
              </a:spcAft>
            </a:pPr>
            <a:r>
              <a:rPr sz="840">
                <a:solidFill>
                  <a:srgbClr val="1B2B3C"/>
                </a:solidFill>
                <a:latin typeface="Calibri"/>
              </a:rPr>
              <a:t>• Scope MCP, CLI, API, and browser access before shipping.</a:t>
            </a:r>
          </a:p>
          <a:p>
            <a:pPr>
              <a:lnSpc>
                <a:spcPts val="772"/>
              </a:lnSpc>
              <a:spcBef>
                <a:spcPts val="0"/>
              </a:spcBef>
              <a:spcAft>
                <a:spcPts val="100"/>
              </a:spcAft>
            </a:pPr>
            <a:r>
              <a:rPr sz="840">
                <a:solidFill>
                  <a:srgbClr val="1B2B3C"/>
                </a:solidFill>
                <a:latin typeface="Calibri"/>
              </a:rPr>
              <a:t>• Define permissions, failure states, and write-back behavior early.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41648" y="1463040"/>
            <a:ext cx="3611880" cy="21762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041648" y="1463040"/>
            <a:ext cx="3611880" cy="310896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0" y="1508760"/>
            <a:ext cx="3465576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987"/>
              </a:lnSpc>
              <a:spcAft>
                <a:spcPts val="0"/>
              </a:spcAft>
            </a:pPr>
            <a:r>
              <a:rPr sz="940" b="1" i="0">
                <a:solidFill>
                  <a:srgbClr val="FFFFFF"/>
                </a:solidFill>
                <a:latin typeface="Calibri"/>
              </a:rPr>
              <a:t>What to specify now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1847088"/>
            <a:ext cx="3465576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772"/>
              </a:lnSpc>
              <a:spcBef>
                <a:spcPts val="0"/>
              </a:spcBef>
              <a:spcAft>
                <a:spcPts val="100"/>
              </a:spcAft>
            </a:pPr>
            <a:r>
              <a:rPr sz="840">
                <a:solidFill>
                  <a:srgbClr val="1B2B3C"/>
                </a:solidFill>
                <a:latin typeface="Calibri"/>
              </a:rPr>
              <a:t>• Which surfaces are read/write.</a:t>
            </a:r>
          </a:p>
          <a:p>
            <a:pPr>
              <a:lnSpc>
                <a:spcPts val="772"/>
              </a:lnSpc>
              <a:spcBef>
                <a:spcPts val="0"/>
              </a:spcBef>
              <a:spcAft>
                <a:spcPts val="100"/>
              </a:spcAft>
            </a:pPr>
            <a:r>
              <a:rPr sz="840">
                <a:solidFill>
                  <a:srgbClr val="1B2B3C"/>
                </a:solidFill>
                <a:latin typeface="Calibri"/>
              </a:rPr>
              <a:t>• What gets logged or audited.</a:t>
            </a:r>
          </a:p>
          <a:p>
            <a:pPr>
              <a:lnSpc>
                <a:spcPts val="772"/>
              </a:lnSpc>
              <a:spcBef>
                <a:spcPts val="0"/>
              </a:spcBef>
              <a:spcAft>
                <a:spcPts val="100"/>
              </a:spcAft>
            </a:pPr>
            <a:r>
              <a:rPr sz="840">
                <a:solidFill>
                  <a:srgbClr val="1B2B3C"/>
                </a:solidFill>
                <a:latin typeface="Calibri"/>
              </a:rPr>
              <a:t>• How the user corrects the agent when it is wrong.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794760"/>
            <a:ext cx="3611880" cy="1243584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3794760"/>
            <a:ext cx="3611880" cy="310896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" y="3840480"/>
            <a:ext cx="3465576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987"/>
              </a:lnSpc>
              <a:spcAft>
                <a:spcPts val="0"/>
              </a:spcAft>
            </a:pPr>
            <a:r>
              <a:rPr sz="940" b="1" i="0">
                <a:solidFill>
                  <a:srgbClr val="FFFFFF"/>
                </a:solidFill>
                <a:latin typeface="Calibri"/>
              </a:rPr>
              <a:t>Why expertise matters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" y="4178808"/>
            <a:ext cx="3465576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772"/>
              </a:lnSpc>
              <a:spcBef>
                <a:spcPts val="0"/>
              </a:spcBef>
              <a:spcAft>
                <a:spcPts val="100"/>
              </a:spcAft>
            </a:pPr>
            <a:r>
              <a:rPr sz="840">
                <a:solidFill>
                  <a:srgbClr val="1B2B3C"/>
                </a:solidFill>
                <a:latin typeface="Calibri"/>
              </a:rPr>
              <a:t>• You need domain truth to know whether the agent is doing good work.</a:t>
            </a:r>
          </a:p>
          <a:p>
            <a:pPr>
              <a:lnSpc>
                <a:spcPts val="772"/>
              </a:lnSpc>
              <a:spcBef>
                <a:spcPts val="0"/>
              </a:spcBef>
              <a:spcAft>
                <a:spcPts val="100"/>
              </a:spcAft>
            </a:pPr>
            <a:r>
              <a:rPr sz="840">
                <a:solidFill>
                  <a:srgbClr val="1B2B3C"/>
                </a:solidFill>
                <a:latin typeface="Calibri"/>
              </a:rPr>
              <a:t>• The feedback loop is stronger when you can judge the output.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041648" y="3794760"/>
            <a:ext cx="3611880" cy="12435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041648" y="3794760"/>
            <a:ext cx="3611880" cy="310896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0" y="3840480"/>
            <a:ext cx="3465576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987"/>
              </a:lnSpc>
              <a:spcAft>
                <a:spcPts val="0"/>
              </a:spcAft>
            </a:pPr>
            <a:r>
              <a:rPr sz="940" b="1" i="0">
                <a:solidFill>
                  <a:srgbClr val="FFFFFF"/>
                </a:solidFill>
                <a:latin typeface="Calibri"/>
              </a:rPr>
              <a:t>Why tools matter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4178808"/>
            <a:ext cx="3465576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772"/>
              </a:lnSpc>
              <a:spcBef>
                <a:spcPts val="0"/>
              </a:spcBef>
              <a:spcAft>
                <a:spcPts val="100"/>
              </a:spcAft>
            </a:pPr>
            <a:r>
              <a:rPr sz="840">
                <a:solidFill>
                  <a:srgbClr val="1B2B3C"/>
                </a:solidFill>
                <a:latin typeface="Calibri"/>
              </a:rPr>
              <a:t>• Tool access is what makes the product actually usable.</a:t>
            </a:r>
          </a:p>
          <a:p>
            <a:pPr>
              <a:lnSpc>
                <a:spcPts val="772"/>
              </a:lnSpc>
              <a:spcBef>
                <a:spcPts val="0"/>
              </a:spcBef>
              <a:spcAft>
                <a:spcPts val="100"/>
              </a:spcAft>
            </a:pPr>
            <a:r>
              <a:rPr sz="840">
                <a:solidFill>
                  <a:srgbClr val="1B2B3C"/>
                </a:solidFill>
                <a:latin typeface="Calibri"/>
              </a:rPr>
              <a:t>• The app becomes agent-native only when the tools are explicit.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5212080"/>
            <a:ext cx="1152144" cy="310896"/>
          </a:xfrm>
          <a:prstGeom prst="rect">
            <a:avLst/>
          </a:prstGeom>
          <a:solidFill>
            <a:srgbClr val="008F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3192" y="5248656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714"/>
              </a:lnSpc>
              <a:spcAft>
                <a:spcPts val="0"/>
              </a:spcAft>
            </a:pPr>
            <a:r>
              <a:rPr sz="680" b="1" i="0">
                <a:solidFill>
                  <a:srgbClr val="FFFFFF"/>
                </a:solidFill>
                <a:latin typeface="Calibri"/>
              </a:rPr>
              <a:t>Expertise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591056" y="5212080"/>
            <a:ext cx="841248" cy="310896"/>
          </a:xfrm>
          <a:prstGeom prst="rect">
            <a:avLst/>
          </a:prstGeom>
          <a:solidFill>
            <a:srgbClr val="008F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18488" y="5248656"/>
            <a:ext cx="786384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714"/>
              </a:lnSpc>
              <a:spcAft>
                <a:spcPts val="0"/>
              </a:spcAft>
            </a:pPr>
            <a:r>
              <a:rPr sz="680" b="1" i="0">
                <a:solidFill>
                  <a:srgbClr val="FFFFFF"/>
                </a:solidFill>
                <a:latin typeface="Calibri"/>
              </a:rPr>
              <a:t>Tools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05456" y="5212080"/>
            <a:ext cx="1316736" cy="310896"/>
          </a:xfrm>
          <a:prstGeom prst="rect">
            <a:avLst/>
          </a:prstGeom>
          <a:solidFill>
            <a:srgbClr val="008F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532888" y="5248656"/>
            <a:ext cx="1261872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714"/>
              </a:lnSpc>
              <a:spcAft>
                <a:spcPts val="0"/>
              </a:spcAft>
            </a:pPr>
            <a:r>
              <a:rPr sz="680" b="1" i="0">
                <a:solidFill>
                  <a:srgbClr val="FFFFFF"/>
                </a:solidFill>
                <a:latin typeface="Calibri"/>
              </a:rPr>
              <a:t>Permissions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5532120"/>
            <a:ext cx="7619695" cy="512064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5623560"/>
            <a:ext cx="7436815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197"/>
              </a:lnSpc>
              <a:spcAft>
                <a:spcPts val="0"/>
              </a:spcAft>
            </a:pPr>
            <a:r>
              <a:rPr sz="1140" b="1" i="0">
                <a:solidFill>
                  <a:srgbClr val="FFFFFF"/>
                </a:solidFill>
                <a:latin typeface="Calibri"/>
              </a:rPr>
              <a:t>Architecture decisions belong at the start, not after the UI is finished.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76895" y="0"/>
            <a:ext cx="4114800" cy="6858000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186623" y="109728"/>
            <a:ext cx="3895344" cy="66385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378647" y="822960"/>
            <a:ext cx="3063240" cy="51206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378647" y="822960"/>
            <a:ext cx="73152" cy="51206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88375" y="896112"/>
            <a:ext cx="2843784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945"/>
              </a:lnSpc>
              <a:spcAft>
                <a:spcPts val="0"/>
              </a:spcAft>
            </a:pPr>
            <a:r>
              <a:rPr sz="900" b="1" i="0">
                <a:solidFill>
                  <a:srgbClr val="1B2B3C"/>
                </a:solidFill>
                <a:latin typeface="Calibri"/>
              </a:rPr>
              <a:t>Context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88375" y="1078992"/>
            <a:ext cx="284378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630"/>
              </a:lnSpc>
              <a:spcAft>
                <a:spcPts val="0"/>
              </a:spcAft>
            </a:pPr>
            <a:r>
              <a:rPr sz="600" b="0" i="0">
                <a:solidFill>
                  <a:srgbClr val="5B6B7C"/>
                </a:solidFill>
                <a:latin typeface="Calibri"/>
              </a:rPr>
              <a:t>files / notes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378647" y="1554480"/>
            <a:ext cx="3063240" cy="51206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378647" y="1554480"/>
            <a:ext cx="73152" cy="512064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88375" y="1627632"/>
            <a:ext cx="2843784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945"/>
              </a:lnSpc>
              <a:spcAft>
                <a:spcPts val="0"/>
              </a:spcAft>
            </a:pPr>
            <a:r>
              <a:rPr sz="900" b="1" i="0">
                <a:solidFill>
                  <a:srgbClr val="1B2B3C"/>
                </a:solidFill>
                <a:latin typeface="Calibri"/>
              </a:rPr>
              <a:t>Agent loop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88375" y="1810512"/>
            <a:ext cx="284378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630"/>
              </a:lnSpc>
              <a:spcAft>
                <a:spcPts val="0"/>
              </a:spcAft>
            </a:pPr>
            <a:r>
              <a:rPr sz="600" b="0" i="0">
                <a:solidFill>
                  <a:srgbClr val="5B6B7C"/>
                </a:solidFill>
                <a:latin typeface="Calibri"/>
              </a:rPr>
              <a:t>Cursor / Codex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378647" y="2286000"/>
            <a:ext cx="3063240" cy="51206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05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378647" y="2286000"/>
            <a:ext cx="73152" cy="512064"/>
          </a:xfrm>
          <a:prstGeom prst="rect">
            <a:avLst/>
          </a:prstGeom>
          <a:solidFill>
            <a:srgbClr val="E05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488375" y="2359152"/>
            <a:ext cx="2843784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945"/>
              </a:lnSpc>
              <a:spcAft>
                <a:spcPts val="0"/>
              </a:spcAft>
            </a:pPr>
            <a:r>
              <a:rPr sz="900" b="1" i="0">
                <a:solidFill>
                  <a:srgbClr val="1B2B3C"/>
                </a:solidFill>
                <a:latin typeface="Calibri"/>
              </a:rPr>
              <a:t>Tools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88375" y="2542032"/>
            <a:ext cx="284378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630"/>
              </a:lnSpc>
              <a:spcAft>
                <a:spcPts val="0"/>
              </a:spcAft>
            </a:pPr>
            <a:r>
              <a:rPr sz="600" b="0" i="0">
                <a:solidFill>
                  <a:srgbClr val="5B6B7C"/>
                </a:solidFill>
                <a:latin typeface="Calibri"/>
              </a:rPr>
              <a:t>MCP / API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378647" y="3017520"/>
            <a:ext cx="3063240" cy="51206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9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378647" y="3017520"/>
            <a:ext cx="73152" cy="512064"/>
          </a:xfrm>
          <a:prstGeom prst="rect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488375" y="3090672"/>
            <a:ext cx="2843784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945"/>
              </a:lnSpc>
              <a:spcAft>
                <a:spcPts val="0"/>
              </a:spcAft>
            </a:pPr>
            <a:r>
              <a:rPr sz="900" b="1" i="0">
                <a:solidFill>
                  <a:srgbClr val="1B2B3C"/>
                </a:solidFill>
                <a:latin typeface="Calibri"/>
              </a:rPr>
              <a:t>Surface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88375" y="3273552"/>
            <a:ext cx="284378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630"/>
              </a:lnSpc>
              <a:spcAft>
                <a:spcPts val="0"/>
              </a:spcAft>
            </a:pPr>
            <a:r>
              <a:rPr sz="600" b="0" i="0">
                <a:solidFill>
                  <a:srgbClr val="5B6B7C"/>
                </a:solidFill>
                <a:latin typeface="Calibri"/>
              </a:rPr>
              <a:t>canvas / docs</a:t>
            </a:r>
          </a:p>
        </p:txBody>
      </p:sp>
      <p:sp>
        <p:nvSpPr>
          <p:cNvPr id="50" name="Rectangle 49"/>
          <p:cNvSpPr/>
          <p:nvPr/>
        </p:nvSpPr>
        <p:spPr>
          <a:xfrm rot="5400000">
            <a:off x="9795967" y="1407414"/>
            <a:ext cx="182880" cy="381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 rot="5400000">
            <a:off x="9795966" y="2138933"/>
            <a:ext cx="182881" cy="381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 rot="5400000">
            <a:off x="9795967" y="2870454"/>
            <a:ext cx="182880" cy="38100"/>
          </a:xfrm>
          <a:prstGeom prst="rect">
            <a:avLst/>
          </a:prstGeom>
          <a:solidFill>
            <a:srgbClr val="E05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8378647" y="3977639"/>
            <a:ext cx="3063240" cy="960120"/>
          </a:xfrm>
          <a:prstGeom prst="roundRect">
            <a:avLst/>
          </a:prstGeom>
          <a:solidFill>
            <a:srgbClr val="F4F7F8"/>
          </a:solidFill>
          <a:ln w="1524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378647" y="3977639"/>
            <a:ext cx="73152" cy="96012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488375" y="4050791"/>
            <a:ext cx="2843784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945"/>
              </a:lnSpc>
              <a:spcAft>
                <a:spcPts val="0"/>
              </a:spcAft>
            </a:pPr>
            <a:r>
              <a:rPr sz="900" b="1" i="0">
                <a:solidFill>
                  <a:srgbClr val="1B2B3C"/>
                </a:solidFill>
                <a:latin typeface="Calibri"/>
              </a:rPr>
              <a:t>Memory write-back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488375" y="4233671"/>
            <a:ext cx="2843784" cy="667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651"/>
              </a:lnSpc>
              <a:spcAft>
                <a:spcPts val="0"/>
              </a:spcAft>
            </a:pPr>
            <a:r>
              <a:rPr sz="620" b="0" i="0">
                <a:solidFill>
                  <a:srgbClr val="5B6B7C"/>
                </a:solidFill>
                <a:latin typeface="Calibri"/>
              </a:rPr>
              <a:t>Approved output returns as context for the next turn.</a:t>
            </a:r>
            <a:br/>
            <a:r>
              <a:rPr sz="620" b="0" i="0">
                <a:solidFill>
                  <a:srgbClr val="5B6B7C"/>
                </a:solidFill>
                <a:latin typeface="Calibri"/>
              </a:rPr>
              <a:t>That is what makes quality compound over time.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378647" y="5166360"/>
            <a:ext cx="3063240" cy="685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8378647" y="5166360"/>
            <a:ext cx="73152" cy="6858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488375" y="5239512"/>
            <a:ext cx="2843784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945"/>
              </a:lnSpc>
              <a:spcAft>
                <a:spcPts val="0"/>
              </a:spcAft>
            </a:pPr>
            <a:r>
              <a:rPr sz="900" b="1" i="0">
                <a:solidFill>
                  <a:srgbClr val="1B2B3C"/>
                </a:solidFill>
                <a:latin typeface="Calibri"/>
              </a:rPr>
              <a:t>Outcome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488375" y="5422392"/>
            <a:ext cx="2843784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714"/>
              </a:lnSpc>
              <a:spcAft>
                <a:spcPts val="0"/>
              </a:spcAft>
            </a:pPr>
            <a:r>
              <a:rPr sz="680" b="0" i="0">
                <a:solidFill>
                  <a:srgbClr val="5B6B7C"/>
                </a:solidFill>
                <a:latin typeface="Calibri"/>
              </a:rPr>
              <a:t>A loop, not a silo.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56032" y="6492240"/>
            <a:ext cx="4023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735"/>
              </a:lnSpc>
              <a:spcAft>
                <a:spcPts val="0"/>
              </a:spcAft>
            </a:pPr>
            <a:r>
              <a:rPr sz="700" b="0" i="0">
                <a:solidFill>
                  <a:srgbClr val="888899"/>
                </a:solidFill>
                <a:latin typeface="Calibri"/>
              </a:rPr>
              <a:t>Agent-Native Apps | Canva-style Brief | June 2026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231575" y="6492240"/>
            <a:ext cx="7315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ts val="735"/>
              </a:lnSpc>
              <a:spcAft>
                <a:spcPts val="0"/>
              </a:spcAft>
            </a:pPr>
            <a:r>
              <a:rPr sz="700" b="0" i="0">
                <a:solidFill>
                  <a:srgbClr val="888899"/>
                </a:solidFill>
                <a:latin typeface="Calibri"/>
              </a:rPr>
              <a:t>17 / 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076895" cy="68580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752825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2205"/>
              </a:lnSpc>
              <a:spcAft>
                <a:spcPts val="0"/>
              </a:spcAft>
            </a:pPr>
            <a:r>
              <a:rPr sz="2100" b="1" i="0">
                <a:solidFill>
                  <a:srgbClr val="FFFFFF"/>
                </a:solidFill>
                <a:latin typeface="Calibri"/>
              </a:rPr>
              <a:t>Anti-patterns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658368"/>
            <a:ext cx="1645920" cy="27432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822960"/>
            <a:ext cx="7436815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102"/>
              </a:lnSpc>
              <a:spcAft>
                <a:spcPts val="0"/>
              </a:spcAft>
            </a:pPr>
            <a:r>
              <a:rPr sz="1050" b="0" i="0">
                <a:solidFill>
                  <a:srgbClr val="E0F7F1"/>
                </a:solidFill>
                <a:latin typeface="Calibri"/>
              </a:rPr>
              <a:t>The common ways teams build something that is not actually agent-native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69264"/>
            <a:ext cx="7436815" cy="420624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1024128"/>
            <a:ext cx="7290511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798"/>
              </a:lnSpc>
              <a:spcAft>
                <a:spcPts val="0"/>
              </a:spcAft>
            </a:pPr>
            <a:r>
              <a:rPr sz="760" b="0" i="0">
                <a:solidFill>
                  <a:srgbClr val="1B2B3C"/>
                </a:solidFill>
                <a:latin typeface="Calibri"/>
              </a:rPr>
              <a:t>Avoid routers, black boxes, and silent state changes.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463040"/>
            <a:ext cx="3611880" cy="2176272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463040"/>
            <a:ext cx="3611880" cy="310896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" y="1508760"/>
            <a:ext cx="3465576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987"/>
              </a:lnSpc>
              <a:spcAft>
                <a:spcPts val="0"/>
              </a:spcAft>
            </a:pPr>
            <a:r>
              <a:rPr sz="940" b="1" i="0">
                <a:solidFill>
                  <a:srgbClr val="FFFFFF"/>
                </a:solidFill>
                <a:latin typeface="Calibri"/>
              </a:rPr>
              <a:t>Do not build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" y="1847088"/>
            <a:ext cx="3465576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772"/>
              </a:lnSpc>
              <a:spcBef>
                <a:spcPts val="0"/>
              </a:spcBef>
              <a:spcAft>
                <a:spcPts val="100"/>
              </a:spcAft>
            </a:pPr>
            <a:r>
              <a:rPr sz="840">
                <a:solidFill>
                  <a:srgbClr val="1B2B3C"/>
                </a:solidFill>
                <a:latin typeface="Calibri"/>
              </a:rPr>
              <a:t>• A router agent that only selects fixed functions.</a:t>
            </a:r>
          </a:p>
          <a:p>
            <a:pPr>
              <a:lnSpc>
                <a:spcPts val="772"/>
              </a:lnSpc>
              <a:spcBef>
                <a:spcPts val="0"/>
              </a:spcBef>
              <a:spcAft>
                <a:spcPts val="100"/>
              </a:spcAft>
            </a:pPr>
            <a:r>
              <a:rPr sz="840">
                <a:solidFill>
                  <a:srgbClr val="1B2B3C"/>
                </a:solidFill>
                <a:latin typeface="Calibri"/>
              </a:rPr>
              <a:t>• A workflow-shaped black box that hides judgment.</a:t>
            </a:r>
          </a:p>
          <a:p>
            <a:pPr>
              <a:lnSpc>
                <a:spcPts val="772"/>
              </a:lnSpc>
              <a:spcBef>
                <a:spcPts val="0"/>
              </a:spcBef>
              <a:spcAft>
                <a:spcPts val="100"/>
              </a:spcAft>
            </a:pPr>
            <a:r>
              <a:rPr sz="840">
                <a:solidFill>
                  <a:srgbClr val="1B2B3C"/>
                </a:solidFill>
                <a:latin typeface="Calibri"/>
              </a:rPr>
              <a:t>• A product that writes state somewhere the user cannot see.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41648" y="1463040"/>
            <a:ext cx="3611880" cy="21762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041648" y="1463040"/>
            <a:ext cx="3611880" cy="310896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0" y="1508760"/>
            <a:ext cx="3465576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987"/>
              </a:lnSpc>
              <a:spcAft>
                <a:spcPts val="0"/>
              </a:spcAft>
            </a:pPr>
            <a:r>
              <a:rPr sz="940" b="1" i="0">
                <a:solidFill>
                  <a:srgbClr val="FFFFFF"/>
                </a:solidFill>
                <a:latin typeface="Calibri"/>
              </a:rPr>
              <a:t>Why they fail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1847088"/>
            <a:ext cx="3465576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772"/>
              </a:lnSpc>
              <a:spcBef>
                <a:spcPts val="0"/>
              </a:spcBef>
              <a:spcAft>
                <a:spcPts val="100"/>
              </a:spcAft>
            </a:pPr>
            <a:r>
              <a:rPr sz="840">
                <a:solidFill>
                  <a:srgbClr val="1B2B3C"/>
                </a:solidFill>
                <a:latin typeface="Calibri"/>
              </a:rPr>
              <a:t>• They reduce the agent to a caller.</a:t>
            </a:r>
          </a:p>
          <a:p>
            <a:pPr>
              <a:lnSpc>
                <a:spcPts val="772"/>
              </a:lnSpc>
              <a:spcBef>
                <a:spcPts val="0"/>
              </a:spcBef>
              <a:spcAft>
                <a:spcPts val="100"/>
              </a:spcAft>
            </a:pPr>
            <a:r>
              <a:rPr sz="840">
                <a:solidFill>
                  <a:srgbClr val="1B2B3C"/>
                </a:solidFill>
                <a:latin typeface="Calibri"/>
              </a:rPr>
              <a:t>• They break trust because the work is not legible.</a:t>
            </a:r>
          </a:p>
          <a:p>
            <a:pPr>
              <a:lnSpc>
                <a:spcPts val="772"/>
              </a:lnSpc>
              <a:spcBef>
                <a:spcPts val="0"/>
              </a:spcBef>
              <a:spcAft>
                <a:spcPts val="100"/>
              </a:spcAft>
            </a:pPr>
            <a:r>
              <a:rPr sz="840">
                <a:solidFill>
                  <a:srgbClr val="1B2B3C"/>
                </a:solidFill>
                <a:latin typeface="Calibri"/>
              </a:rPr>
              <a:t>• They prevent the user from correcting the outcome.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794760"/>
            <a:ext cx="3611880" cy="1243584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3794760"/>
            <a:ext cx="3611880" cy="310896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" y="3840480"/>
            <a:ext cx="3465576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987"/>
              </a:lnSpc>
              <a:spcAft>
                <a:spcPts val="0"/>
              </a:spcAft>
            </a:pPr>
            <a:r>
              <a:rPr sz="940" b="1" i="0">
                <a:solidFill>
                  <a:srgbClr val="FFFFFF"/>
                </a:solidFill>
                <a:latin typeface="Calibri"/>
              </a:rPr>
              <a:t>The fix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" y="4178808"/>
            <a:ext cx="3465576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772"/>
              </a:lnSpc>
              <a:spcBef>
                <a:spcPts val="0"/>
              </a:spcBef>
              <a:spcAft>
                <a:spcPts val="100"/>
              </a:spcAft>
            </a:pPr>
            <a:r>
              <a:rPr sz="840">
                <a:solidFill>
                  <a:srgbClr val="1B2B3C"/>
                </a:solidFill>
                <a:latin typeface="Calibri"/>
              </a:rPr>
              <a:t>• Use atomic tools, shared surfaces, and visible state changes.</a:t>
            </a:r>
          </a:p>
          <a:p>
            <a:pPr>
              <a:lnSpc>
                <a:spcPts val="772"/>
              </a:lnSpc>
              <a:spcBef>
                <a:spcPts val="0"/>
              </a:spcBef>
              <a:spcAft>
                <a:spcPts val="100"/>
              </a:spcAft>
            </a:pPr>
            <a:r>
              <a:rPr sz="840">
                <a:solidFill>
                  <a:srgbClr val="1B2B3C"/>
                </a:solidFill>
                <a:latin typeface="Calibri"/>
              </a:rPr>
              <a:t>• Keep the collaboration loop in the product.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041648" y="3794760"/>
            <a:ext cx="3611880" cy="12435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041648" y="3794760"/>
            <a:ext cx="3611880" cy="310896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0" y="3840480"/>
            <a:ext cx="3465576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987"/>
              </a:lnSpc>
              <a:spcAft>
                <a:spcPts val="0"/>
              </a:spcAft>
            </a:pPr>
            <a:r>
              <a:rPr sz="940" b="1" i="0">
                <a:solidFill>
                  <a:srgbClr val="FFFFFF"/>
                </a:solidFill>
                <a:latin typeface="Calibri"/>
              </a:rPr>
              <a:t>Rule of thumb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4178808"/>
            <a:ext cx="3465576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772"/>
              </a:lnSpc>
              <a:spcBef>
                <a:spcPts val="0"/>
              </a:spcBef>
              <a:spcAft>
                <a:spcPts val="100"/>
              </a:spcAft>
            </a:pPr>
            <a:r>
              <a:rPr sz="840">
                <a:solidFill>
                  <a:srgbClr val="1B2B3C"/>
                </a:solidFill>
                <a:latin typeface="Calibri"/>
              </a:rPr>
              <a:t>• If the code already solved the interesting part, the agent is just a caller.</a:t>
            </a:r>
          </a:p>
          <a:p>
            <a:pPr>
              <a:lnSpc>
                <a:spcPts val="772"/>
              </a:lnSpc>
              <a:spcBef>
                <a:spcPts val="0"/>
              </a:spcBef>
              <a:spcAft>
                <a:spcPts val="100"/>
              </a:spcAft>
            </a:pPr>
            <a:r>
              <a:rPr sz="840">
                <a:solidFill>
                  <a:srgbClr val="1B2B3C"/>
                </a:solidFill>
                <a:latin typeface="Calibri"/>
              </a:rPr>
              <a:t>• That is not an agent-native product.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5212080"/>
            <a:ext cx="905256" cy="310896"/>
          </a:xfrm>
          <a:prstGeom prst="rect">
            <a:avLst/>
          </a:prstGeom>
          <a:solidFill>
            <a:srgbClr val="008F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3192" y="5248656"/>
            <a:ext cx="850392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714"/>
              </a:lnSpc>
              <a:spcAft>
                <a:spcPts val="0"/>
              </a:spcAft>
            </a:pPr>
            <a:r>
              <a:rPr sz="680" b="1" i="0">
                <a:solidFill>
                  <a:srgbClr val="FFFFFF"/>
                </a:solidFill>
                <a:latin typeface="Calibri"/>
              </a:rPr>
              <a:t>Router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344168" y="5212080"/>
            <a:ext cx="1152144" cy="310896"/>
          </a:xfrm>
          <a:prstGeom prst="rect">
            <a:avLst/>
          </a:prstGeom>
          <a:solidFill>
            <a:srgbClr val="008F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71600" y="5248656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714"/>
              </a:lnSpc>
              <a:spcAft>
                <a:spcPts val="0"/>
              </a:spcAft>
            </a:pPr>
            <a:r>
              <a:rPr sz="680" b="1" i="0">
                <a:solidFill>
                  <a:srgbClr val="FFFFFF"/>
                </a:solidFill>
                <a:latin typeface="Calibri"/>
              </a:rPr>
              <a:t>Black box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69464" y="5212080"/>
            <a:ext cx="1399032" cy="310896"/>
          </a:xfrm>
          <a:prstGeom prst="rect">
            <a:avLst/>
          </a:prstGeom>
          <a:solidFill>
            <a:srgbClr val="008F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596896" y="5248656"/>
            <a:ext cx="134416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714"/>
              </a:lnSpc>
              <a:spcAft>
                <a:spcPts val="0"/>
              </a:spcAft>
            </a:pPr>
            <a:r>
              <a:rPr sz="680" b="1" i="0">
                <a:solidFill>
                  <a:srgbClr val="FFFFFF"/>
                </a:solidFill>
                <a:latin typeface="Calibri"/>
              </a:rPr>
              <a:t>Silent state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5532120"/>
            <a:ext cx="7619695" cy="512064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5623560"/>
            <a:ext cx="7436815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197"/>
              </a:lnSpc>
              <a:spcAft>
                <a:spcPts val="0"/>
              </a:spcAft>
            </a:pPr>
            <a:r>
              <a:rPr sz="1140" b="1" i="0">
                <a:solidFill>
                  <a:srgbClr val="FFFFFF"/>
                </a:solidFill>
                <a:latin typeface="Calibri"/>
              </a:rPr>
              <a:t>Legibility beats cleverness. The user should always know what changed.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76895" y="0"/>
            <a:ext cx="4114800" cy="6858000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186623" y="109728"/>
            <a:ext cx="3895344" cy="66385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991295" y="685800"/>
            <a:ext cx="1371600" cy="51206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991295" y="685800"/>
            <a:ext cx="73152" cy="51206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1023" y="758952"/>
            <a:ext cx="1152144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050"/>
              </a:lnSpc>
              <a:spcAft>
                <a:spcPts val="0"/>
              </a:spcAft>
            </a:pPr>
            <a:r>
              <a:rPr sz="1000" b="1" i="0">
                <a:solidFill>
                  <a:srgbClr val="1B2B3C"/>
                </a:solidFill>
                <a:latin typeface="Calibri"/>
              </a:rPr>
              <a:t>Watch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01023" y="941832"/>
            <a:ext cx="115214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630"/>
              </a:lnSpc>
              <a:spcAft>
                <a:spcPts val="0"/>
              </a:spcAft>
            </a:pPr>
            <a:r>
              <a:rPr sz="600" b="0" i="0">
                <a:solidFill>
                  <a:srgbClr val="5B6B7C"/>
                </a:solidFill>
                <a:latin typeface="Calibri"/>
              </a:rPr>
              <a:t>see state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042855" y="2194560"/>
            <a:ext cx="1417320" cy="51206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042855" y="2194560"/>
            <a:ext cx="73152" cy="512064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152583" y="2267712"/>
            <a:ext cx="1197864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050"/>
              </a:lnSpc>
              <a:spcAft>
                <a:spcPts val="0"/>
              </a:spcAft>
            </a:pPr>
            <a:r>
              <a:rPr sz="1000" b="1" i="0">
                <a:solidFill>
                  <a:srgbClr val="1B2B3C"/>
                </a:solidFill>
                <a:latin typeface="Calibri"/>
              </a:rPr>
              <a:t>Correct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52583" y="2450592"/>
            <a:ext cx="119786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630"/>
              </a:lnSpc>
              <a:spcAft>
                <a:spcPts val="0"/>
              </a:spcAft>
            </a:pPr>
            <a:r>
              <a:rPr sz="600" b="0" i="0">
                <a:solidFill>
                  <a:srgbClr val="5B6B7C"/>
                </a:solidFill>
                <a:latin typeface="Calibri"/>
              </a:rPr>
              <a:t>small fix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918143" y="3657600"/>
            <a:ext cx="1417320" cy="51206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05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918143" y="3657600"/>
            <a:ext cx="73152" cy="512064"/>
          </a:xfrm>
          <a:prstGeom prst="rect">
            <a:avLst/>
          </a:prstGeom>
          <a:solidFill>
            <a:srgbClr val="E05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27871" y="3730752"/>
            <a:ext cx="1197864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050"/>
              </a:lnSpc>
              <a:spcAft>
                <a:spcPts val="0"/>
              </a:spcAft>
            </a:pPr>
            <a:r>
              <a:rPr sz="1000" b="1" i="0">
                <a:solidFill>
                  <a:srgbClr val="1B2B3C"/>
                </a:solidFill>
                <a:latin typeface="Calibri"/>
              </a:rPr>
              <a:t>Compound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27871" y="3913632"/>
            <a:ext cx="119786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630"/>
              </a:lnSpc>
              <a:spcAft>
                <a:spcPts val="0"/>
              </a:spcAft>
            </a:pPr>
            <a:r>
              <a:rPr sz="600" b="0" i="0">
                <a:solidFill>
                  <a:srgbClr val="5B6B7C"/>
                </a:solidFill>
                <a:latin typeface="Calibri"/>
              </a:rPr>
              <a:t>learns</a:t>
            </a:r>
          </a:p>
        </p:txBody>
      </p:sp>
      <p:sp>
        <p:nvSpPr>
          <p:cNvPr id="46" name="Rectangle 45"/>
          <p:cNvSpPr/>
          <p:nvPr/>
        </p:nvSpPr>
        <p:spPr>
          <a:xfrm rot="4293903">
            <a:off x="9331087" y="1649730"/>
            <a:ext cx="1012055" cy="381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 rot="6684778">
            <a:off x="9313334" y="3172206"/>
            <a:ext cx="1001841" cy="381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 rot="15886444">
            <a:off x="7896900" y="2650997"/>
            <a:ext cx="3011749" cy="38100"/>
          </a:xfrm>
          <a:prstGeom prst="rect">
            <a:avLst/>
          </a:prstGeom>
          <a:solidFill>
            <a:srgbClr val="E05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8515807" y="4754880"/>
            <a:ext cx="2743200" cy="868680"/>
          </a:xfrm>
          <a:prstGeom prst="roundRect">
            <a:avLst/>
          </a:prstGeom>
          <a:solidFill>
            <a:srgbClr val="F4F7F8"/>
          </a:solidFill>
          <a:ln w="1524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515807" y="4754880"/>
            <a:ext cx="73152" cy="86868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625535" y="4828032"/>
            <a:ext cx="2523744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945"/>
              </a:lnSpc>
              <a:spcAft>
                <a:spcPts val="0"/>
              </a:spcAft>
            </a:pPr>
            <a:r>
              <a:rPr sz="900" b="1" i="0">
                <a:solidFill>
                  <a:srgbClr val="1B2B3C"/>
                </a:solidFill>
                <a:latin typeface="Calibri"/>
              </a:rPr>
              <a:t>Principle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625535" y="5010912"/>
            <a:ext cx="2523744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651"/>
              </a:lnSpc>
              <a:spcAft>
                <a:spcPts val="0"/>
              </a:spcAft>
            </a:pPr>
            <a:r>
              <a:rPr sz="620" b="0" i="0">
                <a:solidFill>
                  <a:srgbClr val="5B6B7C"/>
                </a:solidFill>
                <a:latin typeface="Calibri"/>
              </a:rPr>
              <a:t>The loop must be visible, reversible, and reusable.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56032" y="6492240"/>
            <a:ext cx="4023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735"/>
              </a:lnSpc>
              <a:spcAft>
                <a:spcPts val="0"/>
              </a:spcAft>
            </a:pPr>
            <a:r>
              <a:rPr sz="700" b="0" i="0">
                <a:solidFill>
                  <a:srgbClr val="888899"/>
                </a:solidFill>
                <a:latin typeface="Calibri"/>
              </a:rPr>
              <a:t>Agent-Native Apps | Canva-style Brief | June 2026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231575" y="6492240"/>
            <a:ext cx="7315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ts val="735"/>
              </a:lnSpc>
              <a:spcAft>
                <a:spcPts val="0"/>
              </a:spcAft>
            </a:pPr>
            <a:r>
              <a:rPr sz="700" b="0" i="0">
                <a:solidFill>
                  <a:srgbClr val="888899"/>
                </a:solidFill>
                <a:latin typeface="Calibri"/>
              </a:rPr>
              <a:t>18 / 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076895" cy="68580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752825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2205"/>
              </a:lnSpc>
              <a:spcAft>
                <a:spcPts val="0"/>
              </a:spcAft>
            </a:pPr>
            <a:r>
              <a:rPr sz="2100" b="1" i="0">
                <a:solidFill>
                  <a:srgbClr val="FFFFFF"/>
                </a:solidFill>
                <a:latin typeface="Calibri"/>
              </a:rPr>
              <a:t>Launch checklist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658368"/>
            <a:ext cx="1645920" cy="27432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822960"/>
            <a:ext cx="7436815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102"/>
              </a:lnSpc>
              <a:spcAft>
                <a:spcPts val="0"/>
              </a:spcAft>
            </a:pPr>
            <a:r>
              <a:rPr sz="1050" b="0" i="0">
                <a:solidFill>
                  <a:srgbClr val="E0F7F1"/>
                </a:solidFill>
                <a:latin typeface="Calibri"/>
              </a:rPr>
              <a:t>Use these questions before you commit to the wedge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69264"/>
            <a:ext cx="7436815" cy="420624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1024128"/>
            <a:ext cx="7290511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798"/>
              </a:lnSpc>
              <a:spcAft>
                <a:spcPts val="0"/>
              </a:spcAft>
            </a:pPr>
            <a:r>
              <a:rPr sz="760" b="0" i="0">
                <a:solidFill>
                  <a:srgbClr val="1B2B3C"/>
                </a:solidFill>
                <a:latin typeface="Calibri"/>
              </a:rPr>
              <a:t>If the user, agent, and tools cannot see the same state, the wedge is too weak.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463040"/>
            <a:ext cx="3611880" cy="2176272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463040"/>
            <a:ext cx="3611880" cy="310896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" y="1508760"/>
            <a:ext cx="3465576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987"/>
              </a:lnSpc>
              <a:spcAft>
                <a:spcPts val="0"/>
              </a:spcAft>
            </a:pPr>
            <a:r>
              <a:rPr sz="940" b="1" i="0">
                <a:solidFill>
                  <a:srgbClr val="FFFFFF"/>
                </a:solidFill>
                <a:latin typeface="Calibri"/>
              </a:rPr>
              <a:t>Go / no-go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" y="1847088"/>
            <a:ext cx="3465576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772"/>
              </a:lnSpc>
              <a:spcBef>
                <a:spcPts val="0"/>
              </a:spcBef>
              <a:spcAft>
                <a:spcPts val="100"/>
              </a:spcAft>
            </a:pPr>
            <a:r>
              <a:rPr sz="840">
                <a:solidFill>
                  <a:srgbClr val="1B2B3C"/>
                </a:solidFill>
                <a:latin typeface="Calibri"/>
              </a:rPr>
              <a:t>• Does the user already work here today?</a:t>
            </a:r>
          </a:p>
          <a:p>
            <a:pPr>
              <a:lnSpc>
                <a:spcPts val="772"/>
              </a:lnSpc>
              <a:spcBef>
                <a:spcPts val="0"/>
              </a:spcBef>
              <a:spcAft>
                <a:spcPts val="100"/>
              </a:spcAft>
            </a:pPr>
            <a:r>
              <a:rPr sz="840">
                <a:solidFill>
                  <a:srgbClr val="1B2B3C"/>
                </a:solidFill>
                <a:latin typeface="Calibri"/>
              </a:rPr>
              <a:t>• Can the agent reach the tools?</a:t>
            </a:r>
          </a:p>
          <a:p>
            <a:pPr>
              <a:lnSpc>
                <a:spcPts val="772"/>
              </a:lnSpc>
              <a:spcBef>
                <a:spcPts val="0"/>
              </a:spcBef>
              <a:spcAft>
                <a:spcPts val="100"/>
              </a:spcAft>
            </a:pPr>
            <a:r>
              <a:rPr sz="840">
                <a:solidFill>
                  <a:srgbClr val="1B2B3C"/>
                </a:solidFill>
                <a:latin typeface="Calibri"/>
              </a:rPr>
              <a:t>• Can both see the same state?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41648" y="1463040"/>
            <a:ext cx="3611880" cy="21762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041648" y="1463040"/>
            <a:ext cx="3611880" cy="310896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0" y="1508760"/>
            <a:ext cx="3465576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987"/>
              </a:lnSpc>
              <a:spcAft>
                <a:spcPts val="0"/>
              </a:spcAft>
            </a:pPr>
            <a:r>
              <a:rPr sz="940" b="1" i="0">
                <a:solidFill>
                  <a:srgbClr val="FFFFFF"/>
                </a:solidFill>
                <a:latin typeface="Calibri"/>
              </a:rPr>
              <a:t>Confidence check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1847088"/>
            <a:ext cx="3465576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772"/>
              </a:lnSpc>
              <a:spcBef>
                <a:spcPts val="0"/>
              </a:spcBef>
              <a:spcAft>
                <a:spcPts val="100"/>
              </a:spcAft>
            </a:pPr>
            <a:r>
              <a:rPr sz="840">
                <a:solidFill>
                  <a:srgbClr val="1B2B3C"/>
                </a:solidFill>
                <a:latin typeface="Calibri"/>
              </a:rPr>
              <a:t>• Can the user review and correct the output quickly?</a:t>
            </a:r>
          </a:p>
          <a:p>
            <a:pPr>
              <a:lnSpc>
                <a:spcPts val="772"/>
              </a:lnSpc>
              <a:spcBef>
                <a:spcPts val="0"/>
              </a:spcBef>
              <a:spcAft>
                <a:spcPts val="100"/>
              </a:spcAft>
            </a:pPr>
            <a:r>
              <a:rPr sz="840">
                <a:solidFill>
                  <a:srgbClr val="1B2B3C"/>
                </a:solidFill>
                <a:latin typeface="Calibri"/>
              </a:rPr>
              <a:t>• Will the context compound after each run?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794760"/>
            <a:ext cx="3611880" cy="1243584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3794760"/>
            <a:ext cx="3611880" cy="310896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" y="3840480"/>
            <a:ext cx="3465576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987"/>
              </a:lnSpc>
              <a:spcAft>
                <a:spcPts val="0"/>
              </a:spcAft>
            </a:pPr>
            <a:r>
              <a:rPr sz="940" b="1" i="0">
                <a:solidFill>
                  <a:srgbClr val="FFFFFF"/>
                </a:solidFill>
                <a:latin typeface="Calibri"/>
              </a:rPr>
              <a:t>If the answer is no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" y="4178808"/>
            <a:ext cx="3465576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772"/>
              </a:lnSpc>
              <a:spcBef>
                <a:spcPts val="0"/>
              </a:spcBef>
              <a:spcAft>
                <a:spcPts val="100"/>
              </a:spcAft>
            </a:pPr>
            <a:r>
              <a:rPr sz="840">
                <a:solidFill>
                  <a:srgbClr val="1B2B3C"/>
                </a:solidFill>
                <a:latin typeface="Calibri"/>
              </a:rPr>
              <a:t>• You are asking for behavior change before product value.</a:t>
            </a:r>
          </a:p>
          <a:p>
            <a:pPr>
              <a:lnSpc>
                <a:spcPts val="772"/>
              </a:lnSpc>
              <a:spcBef>
                <a:spcPts val="0"/>
              </a:spcBef>
              <a:spcAft>
                <a:spcPts val="100"/>
              </a:spcAft>
            </a:pPr>
            <a:r>
              <a:rPr sz="840">
                <a:solidFill>
                  <a:srgbClr val="1B2B3C"/>
                </a:solidFill>
                <a:latin typeface="Calibri"/>
              </a:rPr>
              <a:t>• The wedge probably needs more architecture work.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041648" y="3794760"/>
            <a:ext cx="3611880" cy="12435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041648" y="3794760"/>
            <a:ext cx="3611880" cy="310896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0" y="3840480"/>
            <a:ext cx="3465576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987"/>
              </a:lnSpc>
              <a:spcAft>
                <a:spcPts val="0"/>
              </a:spcAft>
            </a:pPr>
            <a:r>
              <a:rPr sz="940" b="1" i="0">
                <a:solidFill>
                  <a:srgbClr val="FFFFFF"/>
                </a:solidFill>
                <a:latin typeface="Calibri"/>
              </a:rPr>
              <a:t>If the answer is yes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4178808"/>
            <a:ext cx="3465576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772"/>
              </a:lnSpc>
              <a:spcBef>
                <a:spcPts val="0"/>
              </a:spcBef>
              <a:spcAft>
                <a:spcPts val="100"/>
              </a:spcAft>
            </a:pPr>
            <a:r>
              <a:rPr sz="840">
                <a:solidFill>
                  <a:srgbClr val="1B2B3C"/>
                </a:solidFill>
                <a:latin typeface="Calibri"/>
              </a:rPr>
              <a:t>• The product has a real shot at becoming sticky.</a:t>
            </a:r>
          </a:p>
          <a:p>
            <a:pPr>
              <a:lnSpc>
                <a:spcPts val="772"/>
              </a:lnSpc>
              <a:spcBef>
                <a:spcPts val="0"/>
              </a:spcBef>
              <a:spcAft>
                <a:spcPts val="100"/>
              </a:spcAft>
            </a:pPr>
            <a:r>
              <a:rPr sz="840">
                <a:solidFill>
                  <a:srgbClr val="1B2B3C"/>
                </a:solidFill>
                <a:latin typeface="Calibri"/>
              </a:rPr>
              <a:t>• The agent can improve without turning into a separate silo.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5212080"/>
            <a:ext cx="1645919" cy="310896"/>
          </a:xfrm>
          <a:prstGeom prst="rect">
            <a:avLst/>
          </a:prstGeom>
          <a:solidFill>
            <a:srgbClr val="008F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3192" y="5248656"/>
            <a:ext cx="1591055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714"/>
              </a:lnSpc>
              <a:spcAft>
                <a:spcPts val="0"/>
              </a:spcAft>
            </a:pPr>
            <a:r>
              <a:rPr sz="680" b="1" i="0">
                <a:solidFill>
                  <a:srgbClr val="FFFFFF"/>
                </a:solidFill>
                <a:latin typeface="Calibri"/>
              </a:rPr>
              <a:t>User works here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084831" y="5212080"/>
            <a:ext cx="1645919" cy="310896"/>
          </a:xfrm>
          <a:prstGeom prst="rect">
            <a:avLst/>
          </a:prstGeom>
          <a:solidFill>
            <a:srgbClr val="008F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112263" y="5248656"/>
            <a:ext cx="1591055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714"/>
              </a:lnSpc>
              <a:spcAft>
                <a:spcPts val="0"/>
              </a:spcAft>
            </a:pPr>
            <a:r>
              <a:rPr sz="680" b="1" i="0">
                <a:solidFill>
                  <a:srgbClr val="FFFFFF"/>
                </a:solidFill>
                <a:latin typeface="Calibri"/>
              </a:rPr>
              <a:t>Tools reachable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803902" y="5212080"/>
            <a:ext cx="1399032" cy="310896"/>
          </a:xfrm>
          <a:prstGeom prst="rect">
            <a:avLst/>
          </a:prstGeom>
          <a:solidFill>
            <a:srgbClr val="008F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831334" y="5248656"/>
            <a:ext cx="134416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714"/>
              </a:lnSpc>
              <a:spcAft>
                <a:spcPts val="0"/>
              </a:spcAft>
            </a:pPr>
            <a:r>
              <a:rPr sz="680" b="1" i="0">
                <a:solidFill>
                  <a:srgbClr val="FFFFFF"/>
                </a:solidFill>
                <a:latin typeface="Calibri"/>
              </a:rPr>
              <a:t>Shared state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276086" y="5212080"/>
            <a:ext cx="1737360" cy="310896"/>
          </a:xfrm>
          <a:prstGeom prst="rect">
            <a:avLst/>
          </a:prstGeom>
          <a:solidFill>
            <a:srgbClr val="008F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03518" y="5248656"/>
            <a:ext cx="1682496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714"/>
              </a:lnSpc>
              <a:spcAft>
                <a:spcPts val="0"/>
              </a:spcAft>
            </a:pPr>
            <a:r>
              <a:rPr sz="680" b="1" i="0">
                <a:solidFill>
                  <a:srgbClr val="FFFFFF"/>
                </a:solidFill>
                <a:latin typeface="Calibri"/>
              </a:rPr>
              <a:t>Context compounds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5532120"/>
            <a:ext cx="7619695" cy="512064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" y="5623560"/>
            <a:ext cx="7436815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197"/>
              </a:lnSpc>
              <a:spcAft>
                <a:spcPts val="0"/>
              </a:spcAft>
            </a:pPr>
            <a:r>
              <a:rPr sz="1140" b="1" i="0">
                <a:solidFill>
                  <a:srgbClr val="FFFFFF"/>
                </a:solidFill>
                <a:latin typeface="Calibri"/>
              </a:rPr>
              <a:t>If any answer is no, the idea needs more architecture before it needs more code.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76895" y="0"/>
            <a:ext cx="4114800" cy="6858000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186623" y="109728"/>
            <a:ext cx="3895344" cy="66385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991295" y="685800"/>
            <a:ext cx="1371600" cy="51206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991295" y="685800"/>
            <a:ext cx="73152" cy="51206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01023" y="758952"/>
            <a:ext cx="1152144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050"/>
              </a:lnSpc>
              <a:spcAft>
                <a:spcPts val="0"/>
              </a:spcAft>
            </a:pPr>
            <a:r>
              <a:rPr sz="1000" b="1" i="0">
                <a:solidFill>
                  <a:srgbClr val="1B2B3C"/>
                </a:solidFill>
                <a:latin typeface="Calibri"/>
              </a:rPr>
              <a:t>Watch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01023" y="941832"/>
            <a:ext cx="115214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630"/>
              </a:lnSpc>
              <a:spcAft>
                <a:spcPts val="0"/>
              </a:spcAft>
            </a:pPr>
            <a:r>
              <a:rPr sz="600" b="0" i="0">
                <a:solidFill>
                  <a:srgbClr val="5B6B7C"/>
                </a:solidFill>
                <a:latin typeface="Calibri"/>
              </a:rPr>
              <a:t>see state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042855" y="2194560"/>
            <a:ext cx="1417320" cy="51206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0042855" y="2194560"/>
            <a:ext cx="73152" cy="512064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152583" y="2267712"/>
            <a:ext cx="1197864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050"/>
              </a:lnSpc>
              <a:spcAft>
                <a:spcPts val="0"/>
              </a:spcAft>
            </a:pPr>
            <a:r>
              <a:rPr sz="1000" b="1" i="0">
                <a:solidFill>
                  <a:srgbClr val="1B2B3C"/>
                </a:solidFill>
                <a:latin typeface="Calibri"/>
              </a:rPr>
              <a:t>Correct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152583" y="2450592"/>
            <a:ext cx="119786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630"/>
              </a:lnSpc>
              <a:spcAft>
                <a:spcPts val="0"/>
              </a:spcAft>
            </a:pPr>
            <a:r>
              <a:rPr sz="600" b="0" i="0">
                <a:solidFill>
                  <a:srgbClr val="5B6B7C"/>
                </a:solidFill>
                <a:latin typeface="Calibri"/>
              </a:rPr>
              <a:t>small fix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918143" y="3657600"/>
            <a:ext cx="1417320" cy="51206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05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918143" y="3657600"/>
            <a:ext cx="73152" cy="512064"/>
          </a:xfrm>
          <a:prstGeom prst="rect">
            <a:avLst/>
          </a:prstGeom>
          <a:solidFill>
            <a:srgbClr val="E05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027871" y="3730752"/>
            <a:ext cx="1197864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050"/>
              </a:lnSpc>
              <a:spcAft>
                <a:spcPts val="0"/>
              </a:spcAft>
            </a:pPr>
            <a:r>
              <a:rPr sz="1000" b="1" i="0">
                <a:solidFill>
                  <a:srgbClr val="1B2B3C"/>
                </a:solidFill>
                <a:latin typeface="Calibri"/>
              </a:rPr>
              <a:t>Compound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27871" y="3913632"/>
            <a:ext cx="119786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630"/>
              </a:lnSpc>
              <a:spcAft>
                <a:spcPts val="0"/>
              </a:spcAft>
            </a:pPr>
            <a:r>
              <a:rPr sz="600" b="0" i="0">
                <a:solidFill>
                  <a:srgbClr val="5B6B7C"/>
                </a:solidFill>
                <a:latin typeface="Calibri"/>
              </a:rPr>
              <a:t>learns</a:t>
            </a:r>
          </a:p>
        </p:txBody>
      </p:sp>
      <p:sp>
        <p:nvSpPr>
          <p:cNvPr id="48" name="Rectangle 47"/>
          <p:cNvSpPr/>
          <p:nvPr/>
        </p:nvSpPr>
        <p:spPr>
          <a:xfrm rot="4293903">
            <a:off x="9331087" y="1649730"/>
            <a:ext cx="1012055" cy="381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6684778">
            <a:off x="9313334" y="3172206"/>
            <a:ext cx="1001841" cy="381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 rot="15886444">
            <a:off x="7896900" y="2650997"/>
            <a:ext cx="3011749" cy="38100"/>
          </a:xfrm>
          <a:prstGeom prst="rect">
            <a:avLst/>
          </a:prstGeom>
          <a:solidFill>
            <a:srgbClr val="E05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8515807" y="4754880"/>
            <a:ext cx="2743200" cy="868680"/>
          </a:xfrm>
          <a:prstGeom prst="roundRect">
            <a:avLst/>
          </a:prstGeom>
          <a:solidFill>
            <a:srgbClr val="F4F7F8"/>
          </a:solidFill>
          <a:ln w="1524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515807" y="4754880"/>
            <a:ext cx="73152" cy="86868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625535" y="4828032"/>
            <a:ext cx="2523744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945"/>
              </a:lnSpc>
              <a:spcAft>
                <a:spcPts val="0"/>
              </a:spcAft>
            </a:pPr>
            <a:r>
              <a:rPr sz="900" b="1" i="0">
                <a:solidFill>
                  <a:srgbClr val="1B2B3C"/>
                </a:solidFill>
                <a:latin typeface="Calibri"/>
              </a:rPr>
              <a:t>Principle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625535" y="5010912"/>
            <a:ext cx="2523744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651"/>
              </a:lnSpc>
              <a:spcAft>
                <a:spcPts val="0"/>
              </a:spcAft>
            </a:pPr>
            <a:r>
              <a:rPr sz="620" b="0" i="0">
                <a:solidFill>
                  <a:srgbClr val="5B6B7C"/>
                </a:solidFill>
                <a:latin typeface="Calibri"/>
              </a:rPr>
              <a:t>The loop must be visible, reversible, and reusable.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56032" y="6492240"/>
            <a:ext cx="4023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735"/>
              </a:lnSpc>
              <a:spcAft>
                <a:spcPts val="0"/>
              </a:spcAft>
            </a:pPr>
            <a:r>
              <a:rPr sz="700" b="0" i="0">
                <a:solidFill>
                  <a:srgbClr val="888899"/>
                </a:solidFill>
                <a:latin typeface="Calibri"/>
              </a:rPr>
              <a:t>Agent-Native Apps | Canva-style Brief | June 2026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231575" y="6492240"/>
            <a:ext cx="7315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ts val="735"/>
              </a:lnSpc>
              <a:spcAft>
                <a:spcPts val="0"/>
              </a:spcAft>
            </a:pPr>
            <a:r>
              <a:rPr sz="700" b="0" i="0">
                <a:solidFill>
                  <a:srgbClr val="888899"/>
                </a:solidFill>
                <a:latin typeface="Calibri"/>
              </a:rPr>
              <a:t>19 / 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076895" cy="68580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752825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2205"/>
              </a:lnSpc>
              <a:spcAft>
                <a:spcPts val="0"/>
              </a:spcAft>
            </a:pPr>
            <a:r>
              <a:rPr sz="2100" b="1" i="0">
                <a:solidFill>
                  <a:srgbClr val="FFFFFF"/>
                </a:solidFill>
                <a:latin typeface="Calibri"/>
              </a:rPr>
              <a:t>Bottom 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658368"/>
            <a:ext cx="1645920" cy="27432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822960"/>
            <a:ext cx="7436815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102"/>
              </a:lnSpc>
              <a:spcAft>
                <a:spcPts val="0"/>
              </a:spcAft>
            </a:pPr>
            <a:r>
              <a:rPr sz="1050" b="0" i="0">
                <a:solidFill>
                  <a:srgbClr val="E0F7F1"/>
                </a:solidFill>
                <a:latin typeface="Calibri"/>
              </a:rPr>
              <a:t>The category is software redesigned for the user's agent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69264"/>
            <a:ext cx="7436815" cy="420624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1024128"/>
            <a:ext cx="7290511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798"/>
              </a:lnSpc>
              <a:spcAft>
                <a:spcPts val="0"/>
              </a:spcAft>
            </a:pPr>
            <a:r>
              <a:rPr sz="760" b="0" i="0">
                <a:solidFill>
                  <a:srgbClr val="1B2B3C"/>
                </a:solidFill>
                <a:latin typeface="Calibri"/>
              </a:rPr>
              <a:t>Build for the user's agent. Context compounds, tools stay open, and the work remains visible.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463040"/>
            <a:ext cx="3611880" cy="2176272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463040"/>
            <a:ext cx="3611880" cy="310896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" y="1508760"/>
            <a:ext cx="3465576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987"/>
              </a:lnSpc>
              <a:spcAft>
                <a:spcPts val="0"/>
              </a:spcAft>
            </a:pPr>
            <a:r>
              <a:rPr sz="940" b="1" i="0">
                <a:solidFill>
                  <a:srgbClr val="FFFFFF"/>
                </a:solidFill>
                <a:latin typeface="Calibri"/>
              </a:rPr>
              <a:t>What to remember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" y="1847088"/>
            <a:ext cx="3465576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772"/>
              </a:lnSpc>
              <a:spcBef>
                <a:spcPts val="0"/>
              </a:spcBef>
              <a:spcAft>
                <a:spcPts val="100"/>
              </a:spcAft>
            </a:pPr>
            <a:r>
              <a:rPr sz="840">
                <a:solidFill>
                  <a:srgbClr val="1B2B3C"/>
                </a:solidFill>
                <a:latin typeface="Calibri"/>
              </a:rPr>
              <a:t>• The best new AI opportunity is not another chatbot.</a:t>
            </a:r>
          </a:p>
          <a:p>
            <a:pPr>
              <a:lnSpc>
                <a:spcPts val="772"/>
              </a:lnSpc>
              <a:spcBef>
                <a:spcPts val="0"/>
              </a:spcBef>
              <a:spcAft>
                <a:spcPts val="100"/>
              </a:spcAft>
            </a:pPr>
            <a:r>
              <a:rPr sz="840">
                <a:solidFill>
                  <a:srgbClr val="1B2B3C"/>
                </a:solidFill>
                <a:latin typeface="Calibri"/>
              </a:rPr>
              <a:t>• It is software that becomes useful to an external agent.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41648" y="1463040"/>
            <a:ext cx="3611880" cy="21762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041648" y="1463040"/>
            <a:ext cx="3611880" cy="310896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0" y="1508760"/>
            <a:ext cx="3465576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987"/>
              </a:lnSpc>
              <a:spcAft>
                <a:spcPts val="0"/>
              </a:spcAft>
            </a:pPr>
            <a:r>
              <a:rPr sz="940" b="1" i="0">
                <a:solidFill>
                  <a:srgbClr val="FFFFFF"/>
                </a:solidFill>
                <a:latin typeface="Calibri"/>
              </a:rPr>
              <a:t>What to do next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1847088"/>
            <a:ext cx="3465576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772"/>
              </a:lnSpc>
              <a:spcBef>
                <a:spcPts val="0"/>
              </a:spcBef>
              <a:spcAft>
                <a:spcPts val="100"/>
              </a:spcAft>
            </a:pPr>
            <a:r>
              <a:rPr sz="840">
                <a:solidFill>
                  <a:srgbClr val="1B2B3C"/>
                </a:solidFill>
                <a:latin typeface="Calibri"/>
              </a:rPr>
              <a:t>• Choose one repeated job.</a:t>
            </a:r>
          </a:p>
          <a:p>
            <a:pPr>
              <a:lnSpc>
                <a:spcPts val="772"/>
              </a:lnSpc>
              <a:spcBef>
                <a:spcPts val="0"/>
              </a:spcBef>
              <a:spcAft>
                <a:spcPts val="100"/>
              </a:spcAft>
            </a:pPr>
            <a:r>
              <a:rPr sz="840">
                <a:solidFill>
                  <a:srgbClr val="1B2B3C"/>
                </a:solidFill>
                <a:latin typeface="Calibri"/>
              </a:rPr>
              <a:t>• Map the shared surface.</a:t>
            </a:r>
          </a:p>
          <a:p>
            <a:pPr>
              <a:lnSpc>
                <a:spcPts val="772"/>
              </a:lnSpc>
              <a:spcBef>
                <a:spcPts val="0"/>
              </a:spcBef>
              <a:spcAft>
                <a:spcPts val="100"/>
              </a:spcAft>
            </a:pPr>
            <a:r>
              <a:rPr sz="840">
                <a:solidFill>
                  <a:srgbClr val="1B2B3C"/>
                </a:solidFill>
                <a:latin typeface="Calibri"/>
              </a:rPr>
              <a:t>• Expose the tools early.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794760"/>
            <a:ext cx="3611880" cy="1243584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3794760"/>
            <a:ext cx="3611880" cy="310896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" y="3840480"/>
            <a:ext cx="3465576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987"/>
              </a:lnSpc>
              <a:spcAft>
                <a:spcPts val="0"/>
              </a:spcAft>
            </a:pPr>
            <a:r>
              <a:rPr sz="940" b="1" i="0">
                <a:solidFill>
                  <a:srgbClr val="FFFFFF"/>
                </a:solidFill>
                <a:latin typeface="Calibri"/>
              </a:rPr>
              <a:t>Why this wins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" y="4178808"/>
            <a:ext cx="3465576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772"/>
              </a:lnSpc>
              <a:spcBef>
                <a:spcPts val="0"/>
              </a:spcBef>
              <a:spcAft>
                <a:spcPts val="100"/>
              </a:spcAft>
            </a:pPr>
            <a:r>
              <a:rPr sz="840">
                <a:solidFill>
                  <a:srgbClr val="1B2B3C"/>
                </a:solidFill>
                <a:latin typeface="Calibri"/>
              </a:rPr>
              <a:t>• Context compounds instead of resetting.</a:t>
            </a:r>
          </a:p>
          <a:p>
            <a:pPr>
              <a:lnSpc>
                <a:spcPts val="772"/>
              </a:lnSpc>
              <a:spcBef>
                <a:spcPts val="0"/>
              </a:spcBef>
              <a:spcAft>
                <a:spcPts val="100"/>
              </a:spcAft>
            </a:pPr>
            <a:r>
              <a:rPr sz="840">
                <a:solidFill>
                  <a:srgbClr val="1B2B3C"/>
                </a:solidFill>
                <a:latin typeface="Calibri"/>
              </a:rPr>
              <a:t>• The user can watch and correct the work.</a:t>
            </a:r>
          </a:p>
          <a:p>
            <a:pPr>
              <a:lnSpc>
                <a:spcPts val="772"/>
              </a:lnSpc>
              <a:spcBef>
                <a:spcPts val="0"/>
              </a:spcBef>
              <a:spcAft>
                <a:spcPts val="100"/>
              </a:spcAft>
            </a:pPr>
            <a:r>
              <a:rPr sz="840">
                <a:solidFill>
                  <a:srgbClr val="1B2B3C"/>
                </a:solidFill>
                <a:latin typeface="Calibri"/>
              </a:rPr>
              <a:t>• The app becomes part of the workflow, not a separate destination.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041648" y="3794760"/>
            <a:ext cx="3611880" cy="12435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041648" y="3794760"/>
            <a:ext cx="3611880" cy="310896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0" y="3840480"/>
            <a:ext cx="3465576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987"/>
              </a:lnSpc>
              <a:spcAft>
                <a:spcPts val="0"/>
              </a:spcAft>
            </a:pPr>
            <a:r>
              <a:rPr sz="940" b="1" i="0">
                <a:solidFill>
                  <a:srgbClr val="FFFFFF"/>
                </a:solidFill>
                <a:latin typeface="Calibri"/>
              </a:rPr>
              <a:t>Final rule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4178808"/>
            <a:ext cx="3465576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772"/>
              </a:lnSpc>
              <a:spcBef>
                <a:spcPts val="0"/>
              </a:spcBef>
              <a:spcAft>
                <a:spcPts val="100"/>
              </a:spcAft>
            </a:pPr>
            <a:r>
              <a:rPr sz="840">
                <a:solidFill>
                  <a:srgbClr val="1B2B3C"/>
                </a:solidFill>
                <a:latin typeface="Calibri"/>
              </a:rPr>
              <a:t>• Build for the user's agent, not just the user.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5212080"/>
            <a:ext cx="1399032" cy="310896"/>
          </a:xfrm>
          <a:prstGeom prst="rect">
            <a:avLst/>
          </a:prstGeom>
          <a:solidFill>
            <a:srgbClr val="008F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3192" y="5248656"/>
            <a:ext cx="1344168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714"/>
              </a:lnSpc>
              <a:spcAft>
                <a:spcPts val="0"/>
              </a:spcAft>
            </a:pPr>
            <a:r>
              <a:rPr sz="680" b="1" i="0">
                <a:solidFill>
                  <a:srgbClr val="FFFFFF"/>
                </a:solidFill>
                <a:latin typeface="Calibri"/>
              </a:rPr>
              <a:t>User's agent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837944" y="5212080"/>
            <a:ext cx="1563624" cy="310896"/>
          </a:xfrm>
          <a:prstGeom prst="rect">
            <a:avLst/>
          </a:prstGeom>
          <a:solidFill>
            <a:srgbClr val="008F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865376" y="5248656"/>
            <a:ext cx="150876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714"/>
              </a:lnSpc>
              <a:spcAft>
                <a:spcPts val="0"/>
              </a:spcAft>
            </a:pPr>
            <a:r>
              <a:rPr sz="680" b="1" i="0">
                <a:solidFill>
                  <a:srgbClr val="FFFFFF"/>
                </a:solidFill>
                <a:latin typeface="Calibri"/>
              </a:rPr>
              <a:t>Shared surface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474720" y="5212080"/>
            <a:ext cx="1316736" cy="310896"/>
          </a:xfrm>
          <a:prstGeom prst="rect">
            <a:avLst/>
          </a:prstGeom>
          <a:solidFill>
            <a:srgbClr val="008F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02152" y="5248656"/>
            <a:ext cx="1261872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714"/>
              </a:lnSpc>
              <a:spcAft>
                <a:spcPts val="0"/>
              </a:spcAft>
            </a:pPr>
            <a:r>
              <a:rPr sz="680" b="1" i="0">
                <a:solidFill>
                  <a:srgbClr val="FFFFFF"/>
                </a:solidFill>
                <a:latin typeface="Calibri"/>
              </a:rPr>
              <a:t>Tool access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5532120"/>
            <a:ext cx="7619695" cy="512064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5623560"/>
            <a:ext cx="7436815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197"/>
              </a:lnSpc>
              <a:spcAft>
                <a:spcPts val="0"/>
              </a:spcAft>
            </a:pPr>
            <a:r>
              <a:rPr sz="1140" b="1" i="0">
                <a:solidFill>
                  <a:srgbClr val="FFFFFF"/>
                </a:solidFill>
                <a:latin typeface="Calibri"/>
              </a:rPr>
              <a:t>Agent-native apps compound context, not just clicks.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76895" y="0"/>
            <a:ext cx="4114800" cy="6858000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186623" y="109728"/>
            <a:ext cx="3895344" cy="66385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369503" y="502920"/>
            <a:ext cx="3529584" cy="36576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60943" y="566928"/>
            <a:ext cx="3346704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945"/>
              </a:lnSpc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AGENT-NATIVE</a:t>
            </a:r>
          </a:p>
        </p:txBody>
      </p:sp>
      <p:sp>
        <p:nvSpPr>
          <p:cNvPr id="36" name="Oval 35"/>
          <p:cNvSpPr/>
          <p:nvPr/>
        </p:nvSpPr>
        <p:spPr>
          <a:xfrm>
            <a:off x="9265615" y="2697480"/>
            <a:ext cx="1737360" cy="1737360"/>
          </a:xfrm>
          <a:prstGeom prst="ellipse">
            <a:avLst/>
          </a:prstGeom>
          <a:solidFill>
            <a:srgbClr val="E0F7F1"/>
          </a:solidFill>
          <a:ln w="2540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512503" y="2944368"/>
            <a:ext cx="1243584" cy="1243584"/>
          </a:xfrm>
          <a:prstGeom prst="ellipse">
            <a:avLst/>
          </a:prstGeom>
          <a:solidFill>
            <a:srgbClr val="00C9A7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731959" y="3456432"/>
            <a:ext cx="80467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Agent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396935" y="1097280"/>
            <a:ext cx="1097280" cy="5669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9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396935" y="1097280"/>
            <a:ext cx="73152" cy="566928"/>
          </a:xfrm>
          <a:prstGeom prst="rect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506663" y="1170432"/>
            <a:ext cx="877824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945"/>
              </a:lnSpc>
              <a:spcAft>
                <a:spcPts val="0"/>
              </a:spcAft>
            </a:pPr>
            <a:r>
              <a:rPr sz="900" b="1" i="0">
                <a:solidFill>
                  <a:srgbClr val="1B2B3C"/>
                </a:solidFill>
                <a:latin typeface="Calibri"/>
              </a:rPr>
              <a:t>Files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06663" y="1353312"/>
            <a:ext cx="87782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609"/>
              </a:lnSpc>
              <a:spcAft>
                <a:spcPts val="0"/>
              </a:spcAft>
            </a:pPr>
            <a:r>
              <a:rPr sz="580" b="0" i="0">
                <a:solidFill>
                  <a:srgbClr val="5B6B7C"/>
                </a:solidFill>
                <a:latin typeface="Calibri"/>
              </a:rPr>
              <a:t>context</a:t>
            </a:r>
          </a:p>
        </p:txBody>
      </p:sp>
      <p:sp>
        <p:nvSpPr>
          <p:cNvPr id="43" name="Rectangle 42"/>
          <p:cNvSpPr/>
          <p:nvPr/>
        </p:nvSpPr>
        <p:spPr>
          <a:xfrm rot="5758294">
            <a:off x="8281245" y="2460752"/>
            <a:ext cx="2197339" cy="25400"/>
          </a:xfrm>
          <a:prstGeom prst="rect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9997135" y="1097280"/>
            <a:ext cx="1097280" cy="5669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9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997135" y="1097280"/>
            <a:ext cx="73152" cy="566928"/>
          </a:xfrm>
          <a:prstGeom prst="rect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106863" y="1170432"/>
            <a:ext cx="877824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945"/>
              </a:lnSpc>
              <a:spcAft>
                <a:spcPts val="0"/>
              </a:spcAft>
            </a:pPr>
            <a:r>
              <a:rPr sz="900" b="1" i="0">
                <a:solidFill>
                  <a:srgbClr val="1B2B3C"/>
                </a:solidFill>
                <a:latin typeface="Calibri"/>
              </a:rPr>
              <a:t>Memory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106863" y="1353312"/>
            <a:ext cx="87782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609"/>
              </a:lnSpc>
              <a:spcAft>
                <a:spcPts val="0"/>
              </a:spcAft>
            </a:pPr>
            <a:r>
              <a:rPr sz="580" b="0" i="0">
                <a:solidFill>
                  <a:srgbClr val="5B6B7C"/>
                </a:solidFill>
                <a:latin typeface="Calibri"/>
              </a:rPr>
              <a:t>write-back</a:t>
            </a:r>
          </a:p>
        </p:txBody>
      </p:sp>
      <p:sp>
        <p:nvSpPr>
          <p:cNvPr id="48" name="Rectangle 47"/>
          <p:cNvSpPr/>
          <p:nvPr/>
        </p:nvSpPr>
        <p:spPr>
          <a:xfrm rot="7795396">
            <a:off x="8755185" y="2460752"/>
            <a:ext cx="2849658" cy="25400"/>
          </a:xfrm>
          <a:prstGeom prst="rect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8396935" y="2286000"/>
            <a:ext cx="1097280" cy="5669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9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396935" y="2286000"/>
            <a:ext cx="73152" cy="566928"/>
          </a:xfrm>
          <a:prstGeom prst="rect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506663" y="2359152"/>
            <a:ext cx="877824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945"/>
              </a:lnSpc>
              <a:spcAft>
                <a:spcPts val="0"/>
              </a:spcAft>
            </a:pPr>
            <a:r>
              <a:rPr sz="900" b="1" i="0">
                <a:solidFill>
                  <a:srgbClr val="1B2B3C"/>
                </a:solidFill>
                <a:latin typeface="Calibri"/>
              </a:rPr>
              <a:t>Tools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506663" y="2542032"/>
            <a:ext cx="87782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609"/>
              </a:lnSpc>
              <a:spcAft>
                <a:spcPts val="0"/>
              </a:spcAft>
            </a:pPr>
            <a:r>
              <a:rPr sz="580" b="0" i="0">
                <a:solidFill>
                  <a:srgbClr val="5B6B7C"/>
                </a:solidFill>
                <a:latin typeface="Calibri"/>
              </a:rPr>
              <a:t>MCP / CLI</a:t>
            </a:r>
          </a:p>
        </p:txBody>
      </p:sp>
      <p:sp>
        <p:nvSpPr>
          <p:cNvPr id="53" name="Rectangle 52"/>
          <p:cNvSpPr/>
          <p:nvPr/>
        </p:nvSpPr>
        <p:spPr>
          <a:xfrm rot="6175069">
            <a:off x="8868627" y="3055112"/>
            <a:ext cx="1022575" cy="25400"/>
          </a:xfrm>
          <a:prstGeom prst="rect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9997135" y="2286000"/>
            <a:ext cx="1097280" cy="5669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9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9997135" y="2286000"/>
            <a:ext cx="73152" cy="566928"/>
          </a:xfrm>
          <a:prstGeom prst="rect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106863" y="2359152"/>
            <a:ext cx="877824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945"/>
              </a:lnSpc>
              <a:spcAft>
                <a:spcPts val="0"/>
              </a:spcAft>
            </a:pPr>
            <a:r>
              <a:rPr sz="900" b="1" i="0">
                <a:solidFill>
                  <a:srgbClr val="1B2B3C"/>
                </a:solidFill>
                <a:latin typeface="Calibri"/>
              </a:rPr>
              <a:t>Surface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106863" y="2542032"/>
            <a:ext cx="87782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609"/>
              </a:lnSpc>
              <a:spcAft>
                <a:spcPts val="0"/>
              </a:spcAft>
            </a:pPr>
            <a:r>
              <a:rPr sz="580" b="0" i="0">
                <a:solidFill>
                  <a:srgbClr val="5B6B7C"/>
                </a:solidFill>
                <a:latin typeface="Calibri"/>
              </a:rPr>
              <a:t>canvas / docs</a:t>
            </a:r>
          </a:p>
        </p:txBody>
      </p:sp>
      <p:sp>
        <p:nvSpPr>
          <p:cNvPr id="58" name="Rectangle 57"/>
          <p:cNvSpPr/>
          <p:nvPr/>
        </p:nvSpPr>
        <p:spPr>
          <a:xfrm rot="9084577">
            <a:off x="9138632" y="3055112"/>
            <a:ext cx="2082765" cy="25400"/>
          </a:xfrm>
          <a:prstGeom prst="rect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8396935" y="4160520"/>
            <a:ext cx="1097280" cy="5669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9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8396935" y="4160520"/>
            <a:ext cx="73152" cy="566928"/>
          </a:xfrm>
          <a:prstGeom prst="rect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506663" y="4233672"/>
            <a:ext cx="877824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945"/>
              </a:lnSpc>
              <a:spcAft>
                <a:spcPts val="0"/>
              </a:spcAft>
            </a:pPr>
            <a:r>
              <a:rPr sz="900" b="1" i="0">
                <a:solidFill>
                  <a:srgbClr val="1B2B3C"/>
                </a:solidFill>
                <a:latin typeface="Calibri"/>
              </a:rPr>
              <a:t>Browser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506663" y="4416552"/>
            <a:ext cx="87782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609"/>
              </a:lnSpc>
              <a:spcAft>
                <a:spcPts val="0"/>
              </a:spcAft>
            </a:pPr>
            <a:r>
              <a:rPr sz="580" b="0" i="0">
                <a:solidFill>
                  <a:srgbClr val="5B6B7C"/>
                </a:solidFill>
                <a:latin typeface="Calibri"/>
              </a:rPr>
              <a:t>shared view</a:t>
            </a:r>
          </a:p>
        </p:txBody>
      </p:sp>
      <p:sp>
        <p:nvSpPr>
          <p:cNvPr id="63" name="Rectangle 62"/>
          <p:cNvSpPr/>
          <p:nvPr/>
        </p:nvSpPr>
        <p:spPr>
          <a:xfrm rot="15324205">
            <a:off x="8926364" y="3992372"/>
            <a:ext cx="907101" cy="25400"/>
          </a:xfrm>
          <a:prstGeom prst="rect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9997135" y="4160520"/>
            <a:ext cx="1097280" cy="5669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9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9997135" y="4160520"/>
            <a:ext cx="73152" cy="566928"/>
          </a:xfrm>
          <a:prstGeom prst="rect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106863" y="4233672"/>
            <a:ext cx="877824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945"/>
              </a:lnSpc>
              <a:spcAft>
                <a:spcPts val="0"/>
              </a:spcAft>
            </a:pPr>
            <a:r>
              <a:rPr sz="900" b="1" i="0">
                <a:solidFill>
                  <a:srgbClr val="1B2B3C"/>
                </a:solidFill>
                <a:latin typeface="Calibri"/>
              </a:rPr>
              <a:t>Approval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106863" y="4416552"/>
            <a:ext cx="87782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609"/>
              </a:lnSpc>
              <a:spcAft>
                <a:spcPts val="0"/>
              </a:spcAft>
            </a:pPr>
            <a:r>
              <a:rPr sz="580" b="0" i="0">
                <a:solidFill>
                  <a:srgbClr val="5B6B7C"/>
                </a:solidFill>
                <a:latin typeface="Calibri"/>
              </a:rPr>
              <a:t>human loop</a:t>
            </a:r>
          </a:p>
        </p:txBody>
      </p:sp>
      <p:sp>
        <p:nvSpPr>
          <p:cNvPr id="68" name="Rectangle 67"/>
          <p:cNvSpPr/>
          <p:nvPr/>
        </p:nvSpPr>
        <p:spPr>
          <a:xfrm rot="12338460">
            <a:off x="9165731" y="3992372"/>
            <a:ext cx="2028567" cy="25400"/>
          </a:xfrm>
          <a:prstGeom prst="rect">
            <a:avLst/>
          </a:prstGeom>
          <a:solidFill>
            <a:srgbClr val="009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8369503" y="5742432"/>
            <a:ext cx="3529584" cy="29260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442655" y="5797296"/>
            <a:ext cx="3383280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882"/>
              </a:lnSpc>
              <a:spcAft>
                <a:spcPts val="0"/>
              </a:spcAft>
            </a:pPr>
            <a:r>
              <a:rPr sz="840" b="1" i="0">
                <a:solidFill>
                  <a:srgbClr val="FFFFFF"/>
                </a:solidFill>
                <a:latin typeface="Calibri"/>
              </a:rPr>
              <a:t>Build for the user's agent, not just the user.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56032" y="6492240"/>
            <a:ext cx="4023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735"/>
              </a:lnSpc>
              <a:spcAft>
                <a:spcPts val="0"/>
              </a:spcAft>
            </a:pPr>
            <a:r>
              <a:rPr sz="700" b="0" i="0">
                <a:solidFill>
                  <a:srgbClr val="888899"/>
                </a:solidFill>
                <a:latin typeface="Calibri"/>
              </a:rPr>
              <a:t>Agent-Native Apps | Canva-style Brief | June 2026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1231575" y="6492240"/>
            <a:ext cx="7315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ts val="735"/>
              </a:lnSpc>
              <a:spcAft>
                <a:spcPts val="0"/>
              </a:spcAft>
            </a:pPr>
            <a:r>
              <a:rPr sz="700" b="0" i="0">
                <a:solidFill>
                  <a:srgbClr val="888899"/>
                </a:solidFill>
                <a:latin typeface="Calibri"/>
              </a:rPr>
              <a:t>20 / 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