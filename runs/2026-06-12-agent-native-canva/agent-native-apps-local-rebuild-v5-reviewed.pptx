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909560" y="0"/>
            <a:ext cx="4279392"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909560" y="0"/>
            <a:ext cx="7315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0" y="475488"/>
            <a:ext cx="2834640" cy="274320"/>
          </a:xfrm>
          <a:prstGeom prst="rect">
            <a:avLst/>
          </a:prstGeom>
          <a:noFill/>
        </p:spPr>
        <p:txBody>
          <a:bodyPr wrap="square" anchor="t" lIns="0" rIns="0" tIns="0" bIns="0">
            <a:normAutofit/>
          </a:bodyPr>
          <a:lstStyle/>
          <a:p>
            <a:pPr algn="l">
              <a:lnSpc>
                <a:spcPct val="105000"/>
              </a:lnSpc>
              <a:spcBef>
                <a:spcPts val="0"/>
              </a:spcBef>
            </a:pPr>
            <a:r>
              <a:rPr sz="1800" b="1" i="0">
                <a:solidFill>
                  <a:srgbClr val="00C9A7"/>
                </a:solidFill>
                <a:latin typeface="Aptos Display"/>
              </a:rPr>
              <a:t>AGENT-NATIVE</a:t>
            </a:r>
          </a:p>
        </p:txBody>
      </p:sp>
      <p:sp>
        <p:nvSpPr>
          <p:cNvPr id="6" name="TextBox 5"/>
          <p:cNvSpPr txBox="1"/>
          <p:nvPr/>
        </p:nvSpPr>
        <p:spPr>
          <a:xfrm>
            <a:off x="8321040" y="822960"/>
            <a:ext cx="2926080" cy="219456"/>
          </a:xfrm>
          <a:prstGeom prst="rect">
            <a:avLst/>
          </a:prstGeom>
          <a:noFill/>
        </p:spPr>
        <p:txBody>
          <a:bodyPr wrap="square" anchor="t" lIns="0" rIns="0" tIns="0" bIns="0">
            <a:normAutofit/>
          </a:bodyPr>
          <a:lstStyle/>
          <a:p>
            <a:pPr algn="l">
              <a:lnSpc>
                <a:spcPct val="105000"/>
              </a:lnSpc>
              <a:spcBef>
                <a:spcPts val="0"/>
              </a:spcBef>
            </a:pPr>
            <a:r>
              <a:rPr sz="1080" b="0" i="0">
                <a:solidFill>
                  <a:srgbClr val="E0F7F1"/>
                </a:solidFill>
                <a:latin typeface="Aptos"/>
              </a:rPr>
              <a:t>Context  Tools  Surface  Memory</a:t>
            </a:r>
          </a:p>
        </p:txBody>
      </p:sp>
      <p:sp>
        <p:nvSpPr>
          <p:cNvPr id="7" name="TextBox 6"/>
          <p:cNvSpPr txBox="1"/>
          <p:nvPr/>
        </p:nvSpPr>
        <p:spPr>
          <a:xfrm>
            <a:off x="676656" y="749808"/>
            <a:ext cx="4480560" cy="310896"/>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Aptos Display"/>
              </a:rPr>
              <a:t>LOCAL REVIEWED REBUILD</a:t>
            </a:r>
          </a:p>
        </p:txBody>
      </p:sp>
      <p:sp>
        <p:nvSpPr>
          <p:cNvPr id="8" name="TextBox 7"/>
          <p:cNvSpPr txBox="1"/>
          <p:nvPr/>
        </p:nvSpPr>
        <p:spPr>
          <a:xfrm>
            <a:off x="676656" y="1261872"/>
            <a:ext cx="6720840" cy="1600200"/>
          </a:xfrm>
          <a:prstGeom prst="rect">
            <a:avLst/>
          </a:prstGeom>
          <a:noFill/>
        </p:spPr>
        <p:txBody>
          <a:bodyPr wrap="square" anchor="t" lIns="0" rIns="0" tIns="0" bIns="0">
            <a:normAutofit/>
          </a:bodyPr>
          <a:lstStyle/>
          <a:p>
            <a:pPr algn="l">
              <a:lnSpc>
                <a:spcPct val="105000"/>
              </a:lnSpc>
              <a:spcBef>
                <a:spcPts val="0"/>
              </a:spcBef>
            </a:pPr>
            <a:r>
              <a:rPr sz="3500" b="1" i="0">
                <a:solidFill>
                  <a:srgbClr val="FFFFFF"/>
                </a:solidFill>
                <a:latin typeface="Aptos Display"/>
              </a:rPr>
              <a:t>The Best New AI Opportunity Nobody Is Talking About</a:t>
            </a:r>
          </a:p>
        </p:txBody>
      </p:sp>
      <p:sp>
        <p:nvSpPr>
          <p:cNvPr id="9" name="TextBox 8"/>
          <p:cNvSpPr txBox="1"/>
          <p:nvPr/>
        </p:nvSpPr>
        <p:spPr>
          <a:xfrm>
            <a:off x="713232" y="2926080"/>
            <a:ext cx="6217920" cy="694944"/>
          </a:xfrm>
          <a:prstGeom prst="rect">
            <a:avLst/>
          </a:prstGeom>
          <a:noFill/>
        </p:spPr>
        <p:txBody>
          <a:bodyPr wrap="square" anchor="t" lIns="0" rIns="0" tIns="0" bIns="0">
            <a:normAutofit/>
          </a:bodyPr>
          <a:lstStyle/>
          <a:p>
            <a:pPr algn="l">
              <a:lnSpc>
                <a:spcPct val="105000"/>
              </a:lnSpc>
              <a:spcBef>
                <a:spcPts val="0"/>
              </a:spcBef>
            </a:pPr>
            <a:r>
              <a:rPr sz="1850" b="0" i="0">
                <a:solidFill>
                  <a:srgbClr val="E0F7F1"/>
                </a:solidFill>
                <a:latin typeface="Aptos"/>
              </a:rPr>
              <a:t>Agent-native apps for Codex, Cursor, and bring-your-own-agent workflows</a:t>
            </a:r>
          </a:p>
        </p:txBody>
      </p:sp>
      <p:sp>
        <p:nvSpPr>
          <p:cNvPr id="10" name="Rectangle 9"/>
          <p:cNvSpPr/>
          <p:nvPr/>
        </p:nvSpPr>
        <p:spPr>
          <a:xfrm>
            <a:off x="713232" y="3730752"/>
            <a:ext cx="1920240" cy="6400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4069080"/>
            <a:ext cx="123444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4142232"/>
            <a:ext cx="1133856" cy="137160"/>
          </a:xfrm>
          <a:prstGeom prst="rect">
            <a:avLst/>
          </a:prstGeom>
          <a:noFill/>
        </p:spPr>
        <p:txBody>
          <a:bodyPr wrap="square" anchor="t" lIns="0" rIns="0" tIns="0" bIns="0">
            <a:normAutofit/>
          </a:bodyPr>
          <a:lstStyle/>
          <a:p>
            <a:pPr algn="ctr">
              <a:lnSpc>
                <a:spcPct val="105000"/>
              </a:lnSpc>
              <a:spcBef>
                <a:spcPts val="0"/>
              </a:spcBef>
            </a:pPr>
            <a:r>
              <a:rPr sz="919" b="1" i="0">
                <a:solidFill>
                  <a:srgbClr val="FFFFFF"/>
                </a:solidFill>
                <a:latin typeface="Aptos Display"/>
              </a:rPr>
              <a:t>context</a:t>
            </a:r>
          </a:p>
        </p:txBody>
      </p:sp>
      <p:sp>
        <p:nvSpPr>
          <p:cNvPr id="13" name="Rectangle 12"/>
          <p:cNvSpPr/>
          <p:nvPr/>
        </p:nvSpPr>
        <p:spPr>
          <a:xfrm>
            <a:off x="2157984" y="4069080"/>
            <a:ext cx="123444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12848" y="4142232"/>
            <a:ext cx="1133856" cy="137160"/>
          </a:xfrm>
          <a:prstGeom prst="rect">
            <a:avLst/>
          </a:prstGeom>
          <a:noFill/>
        </p:spPr>
        <p:txBody>
          <a:bodyPr wrap="square" anchor="t" lIns="0" rIns="0" tIns="0" bIns="0">
            <a:normAutofit/>
          </a:bodyPr>
          <a:lstStyle/>
          <a:p>
            <a:pPr algn="ctr">
              <a:lnSpc>
                <a:spcPct val="105000"/>
              </a:lnSpc>
              <a:spcBef>
                <a:spcPts val="0"/>
              </a:spcBef>
            </a:pPr>
            <a:r>
              <a:rPr sz="919" b="1" i="0">
                <a:solidFill>
                  <a:srgbClr val="FFFFFF"/>
                </a:solidFill>
                <a:latin typeface="Aptos Display"/>
              </a:rPr>
              <a:t>tools</a:t>
            </a:r>
          </a:p>
        </p:txBody>
      </p:sp>
      <p:sp>
        <p:nvSpPr>
          <p:cNvPr id="15" name="Rectangle 14"/>
          <p:cNvSpPr/>
          <p:nvPr/>
        </p:nvSpPr>
        <p:spPr>
          <a:xfrm>
            <a:off x="3602736" y="4069080"/>
            <a:ext cx="1234440"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4142232"/>
            <a:ext cx="1133856" cy="137160"/>
          </a:xfrm>
          <a:prstGeom prst="rect">
            <a:avLst/>
          </a:prstGeom>
          <a:noFill/>
        </p:spPr>
        <p:txBody>
          <a:bodyPr wrap="square" anchor="t" lIns="0" rIns="0" tIns="0" bIns="0">
            <a:normAutofit/>
          </a:bodyPr>
          <a:lstStyle/>
          <a:p>
            <a:pPr algn="ctr">
              <a:lnSpc>
                <a:spcPct val="105000"/>
              </a:lnSpc>
              <a:spcBef>
                <a:spcPts val="0"/>
              </a:spcBef>
            </a:pPr>
            <a:r>
              <a:rPr sz="919" b="1" i="0">
                <a:solidFill>
                  <a:srgbClr val="0A1628"/>
                </a:solidFill>
                <a:latin typeface="Aptos Display"/>
              </a:rPr>
              <a:t>shared surface</a:t>
            </a:r>
          </a:p>
        </p:txBody>
      </p:sp>
      <p:sp>
        <p:nvSpPr>
          <p:cNvPr id="17" name="Rectangle 16"/>
          <p:cNvSpPr/>
          <p:nvPr/>
        </p:nvSpPr>
        <p:spPr>
          <a:xfrm>
            <a:off x="5047488" y="4069080"/>
            <a:ext cx="123444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02352" y="4142232"/>
            <a:ext cx="1133856" cy="137160"/>
          </a:xfrm>
          <a:prstGeom prst="rect">
            <a:avLst/>
          </a:prstGeom>
          <a:noFill/>
        </p:spPr>
        <p:txBody>
          <a:bodyPr wrap="square" anchor="t" lIns="0" rIns="0" tIns="0" bIns="0">
            <a:normAutofit/>
          </a:bodyPr>
          <a:lstStyle/>
          <a:p>
            <a:pPr algn="ctr">
              <a:lnSpc>
                <a:spcPct val="105000"/>
              </a:lnSpc>
              <a:spcBef>
                <a:spcPts val="0"/>
              </a:spcBef>
            </a:pPr>
            <a:r>
              <a:rPr sz="919" b="1" i="0">
                <a:solidFill>
                  <a:srgbClr val="FFFFFF"/>
                </a:solidFill>
                <a:latin typeface="Aptos Display"/>
              </a:rPr>
              <a:t>memory loop</a:t>
            </a:r>
          </a:p>
        </p:txBody>
      </p:sp>
      <p:sp>
        <p:nvSpPr>
          <p:cNvPr id="19" name="Rounded Rectangle 18"/>
          <p:cNvSpPr/>
          <p:nvPr/>
        </p:nvSpPr>
        <p:spPr>
          <a:xfrm>
            <a:off x="8211312" y="749808"/>
            <a:ext cx="3584448" cy="749808"/>
          </a:xfrm>
          <a:prstGeom prst="roundRect">
            <a:avLst>
              <a:gd name="adj" fmla="val 8000"/>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11312" y="749808"/>
            <a:ext cx="73152"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7616" y="841248"/>
            <a:ext cx="332841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User's agent</a:t>
            </a:r>
          </a:p>
        </p:txBody>
      </p:sp>
      <p:sp>
        <p:nvSpPr>
          <p:cNvPr id="22" name="Rounded Rectangle 21"/>
          <p:cNvSpPr/>
          <p:nvPr/>
        </p:nvSpPr>
        <p:spPr>
          <a:xfrm>
            <a:off x="8211312" y="1773936"/>
            <a:ext cx="3584448" cy="749808"/>
          </a:xfrm>
          <a:prstGeom prst="roundRect">
            <a:avLst>
              <a:gd name="adj" fmla="val 8000"/>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11312" y="1773936"/>
            <a:ext cx="73152" cy="74980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6" y="1865376"/>
            <a:ext cx="332841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App surface</a:t>
            </a:r>
          </a:p>
        </p:txBody>
      </p:sp>
      <p:sp>
        <p:nvSpPr>
          <p:cNvPr id="25" name="Rounded Rectangle 24"/>
          <p:cNvSpPr/>
          <p:nvPr/>
        </p:nvSpPr>
        <p:spPr>
          <a:xfrm>
            <a:off x="8211312" y="2798064"/>
            <a:ext cx="3584448" cy="749808"/>
          </a:xfrm>
          <a:prstGeom prst="roundRect">
            <a:avLst>
              <a:gd name="adj" fmla="val 8000"/>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11312" y="2798064"/>
            <a:ext cx="73152"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57616" y="2889504"/>
            <a:ext cx="332841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Tool contract</a:t>
            </a:r>
          </a:p>
        </p:txBody>
      </p:sp>
      <p:sp>
        <p:nvSpPr>
          <p:cNvPr id="28" name="Rounded Rectangle 27"/>
          <p:cNvSpPr/>
          <p:nvPr/>
        </p:nvSpPr>
        <p:spPr>
          <a:xfrm>
            <a:off x="8211312" y="3822192"/>
            <a:ext cx="3584448" cy="749808"/>
          </a:xfrm>
          <a:prstGeom prst="roundRect">
            <a:avLst>
              <a:gd name="adj" fmla="val 8000"/>
            </a:avLst>
          </a:prstGeom>
          <a:solidFill>
            <a:srgbClr val="0A162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11312" y="3822192"/>
            <a:ext cx="73152" cy="74980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7616" y="3913632"/>
            <a:ext cx="332841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Memory loop</a:t>
            </a:r>
          </a:p>
        </p:txBody>
      </p:sp>
      <p:sp>
        <p:nvSpPr>
          <p:cNvPr id="31" name="Right Arrow 30"/>
          <p:cNvSpPr/>
          <p:nvPr/>
        </p:nvSpPr>
        <p:spPr>
          <a:xfrm rot="5400000">
            <a:off x="9656064" y="1554480"/>
            <a:ext cx="329184"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rot="5400000">
            <a:off x="9656064" y="2578608"/>
            <a:ext cx="329184"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rot="5400000">
            <a:off x="9656064" y="3602736"/>
            <a:ext cx="329184"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5120640"/>
            <a:ext cx="3584448" cy="402336"/>
          </a:xfrm>
          <a:prstGeom prst="rect">
            <a:avLst/>
          </a:prstGeom>
          <a:noFill/>
        </p:spPr>
        <p:txBody>
          <a:bodyPr wrap="square" anchor="ctr" lIns="0" rIns="0" tIns="0" bIns="0">
            <a:normAutofit/>
          </a:bodyPr>
          <a:lstStyle/>
          <a:p>
            <a:pPr algn="ctr">
              <a:lnSpc>
                <a:spcPct val="105000"/>
              </a:lnSpc>
              <a:spcBef>
                <a:spcPts val="0"/>
              </a:spcBef>
            </a:pPr>
            <a:r>
              <a:rPr sz="1250" b="1" i="0">
                <a:solidFill>
                  <a:srgbClr val="E0F7F1"/>
                </a:solidFill>
                <a:latin typeface="Aptos"/>
              </a:rPr>
              <a:t>BYO agent replaces app-owned assistant</a:t>
            </a:r>
          </a:p>
        </p:txBody>
      </p:sp>
      <p:sp>
        <p:nvSpPr>
          <p:cNvPr id="35" name="TextBox 34"/>
          <p:cNvSpPr txBox="1"/>
          <p:nvPr/>
        </p:nvSpPr>
        <p:spPr>
          <a:xfrm>
            <a:off x="713232" y="5650992"/>
            <a:ext cx="6400800" cy="566928"/>
          </a:xfrm>
          <a:prstGeom prst="rect">
            <a:avLst/>
          </a:prstGeom>
          <a:noFill/>
        </p:spPr>
        <p:txBody>
          <a:bodyPr wrap="square" anchor="t" lIns="0" rIns="0" tIns="0" bIns="0">
            <a:normAutofit/>
          </a:bodyPr>
          <a:lstStyle/>
          <a:p>
            <a:pPr algn="l">
              <a:lnSpc>
                <a:spcPct val="105000"/>
              </a:lnSpc>
              <a:spcBef>
                <a:spcPts val="0"/>
              </a:spcBef>
            </a:pPr>
            <a:r>
              <a:rPr sz="1540" b="1" i="0">
                <a:solidFill>
                  <a:srgbClr val="FFFFFF"/>
                </a:solidFill>
                <a:latin typeface="Aptos Display"/>
              </a:rPr>
              <a:t>Thesis: build apps that a user's own agent can enter, operate, and improve.</a:t>
            </a:r>
          </a:p>
        </p:txBody>
      </p:sp>
      <p:sp>
        <p:nvSpPr>
          <p:cNvPr id="36" name="TextBox 35"/>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The opportunity is an inversion</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BLUF: the product surface moves inside the user's agent workflow.</a:t>
            </a:r>
          </a:p>
        </p:txBody>
      </p:sp>
      <p:sp>
        <p:nvSpPr>
          <p:cNvPr id="7" name="Rectangle 6"/>
          <p:cNvSpPr/>
          <p:nvPr/>
        </p:nvSpPr>
        <p:spPr>
          <a:xfrm>
            <a:off x="621792" y="1444752"/>
            <a:ext cx="10927080" cy="89611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27632"/>
            <a:ext cx="10378440" cy="402336"/>
          </a:xfrm>
          <a:prstGeom prst="rect">
            <a:avLst/>
          </a:prstGeom>
          <a:noFill/>
        </p:spPr>
        <p:txBody>
          <a:bodyPr wrap="square" anchor="t" lIns="0" rIns="0" tIns="0" bIns="0">
            <a:normAutofit/>
          </a:bodyPr>
          <a:lstStyle/>
          <a:p>
            <a:pPr algn="l">
              <a:lnSpc>
                <a:spcPct val="105000"/>
              </a:lnSpc>
              <a:spcBef>
                <a:spcPts val="0"/>
              </a:spcBef>
            </a:pPr>
            <a:r>
              <a:rPr sz="1639" b="1" i="0">
                <a:solidFill>
                  <a:srgbClr val="FFFFFF"/>
                </a:solidFill>
                <a:latin typeface="Aptos Display"/>
              </a:rPr>
              <a:t>Agent-native apps make the product a shared surface for the user's agent.</a:t>
            </a:r>
          </a:p>
        </p:txBody>
      </p:sp>
      <p:sp>
        <p:nvSpPr>
          <p:cNvPr id="9" name="Rounded Rectangle 8"/>
          <p:cNvSpPr/>
          <p:nvPr/>
        </p:nvSpPr>
        <p:spPr>
          <a:xfrm>
            <a:off x="658368" y="2578608"/>
            <a:ext cx="3273552" cy="18470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578608"/>
            <a:ext cx="73152" cy="184708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70048"/>
            <a:ext cx="2999232"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1. The old model is bounded</a:t>
            </a:r>
          </a:p>
        </p:txBody>
      </p:sp>
      <p:sp>
        <p:nvSpPr>
          <p:cNvPr id="12" name="TextBox 11"/>
          <p:cNvSpPr txBox="1"/>
          <p:nvPr/>
        </p:nvSpPr>
        <p:spPr>
          <a:xfrm>
            <a:off x="822960" y="3127248"/>
            <a:ext cx="2980944" cy="120700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An app-owned assistant can only use the context and actions exposed inside that product.</a:t>
            </a:r>
          </a:p>
        </p:txBody>
      </p:sp>
      <p:sp>
        <p:nvSpPr>
          <p:cNvPr id="13" name="Rounded Rectangle 12"/>
          <p:cNvSpPr/>
          <p:nvPr/>
        </p:nvSpPr>
        <p:spPr>
          <a:xfrm>
            <a:off x="4343400" y="2578608"/>
            <a:ext cx="3273552" cy="18470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2578608"/>
            <a:ext cx="73152" cy="18470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2670048"/>
            <a:ext cx="2999232"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2. The new model is portable</a:t>
            </a:r>
          </a:p>
        </p:txBody>
      </p:sp>
      <p:sp>
        <p:nvSpPr>
          <p:cNvPr id="16" name="TextBox 15"/>
          <p:cNvSpPr txBox="1"/>
          <p:nvPr/>
        </p:nvSpPr>
        <p:spPr>
          <a:xfrm>
            <a:off x="4507992" y="3127248"/>
            <a:ext cx="2980944" cy="120700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The user's agent brings files, project memory, browser context, tools, and judgment into many apps.</a:t>
            </a:r>
          </a:p>
        </p:txBody>
      </p:sp>
      <p:sp>
        <p:nvSpPr>
          <p:cNvPr id="17" name="Rounded Rectangle 16"/>
          <p:cNvSpPr/>
          <p:nvPr/>
        </p:nvSpPr>
        <p:spPr>
          <a:xfrm>
            <a:off x="8028432" y="2578608"/>
            <a:ext cx="3273552" cy="18470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2" y="2578608"/>
            <a:ext cx="73152" cy="18470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93024" y="2670048"/>
            <a:ext cx="2999232"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3. The wedge is the surface</a:t>
            </a:r>
          </a:p>
        </p:txBody>
      </p:sp>
      <p:sp>
        <p:nvSpPr>
          <p:cNvPr id="20" name="TextBox 19"/>
          <p:cNvSpPr txBox="1"/>
          <p:nvPr/>
        </p:nvSpPr>
        <p:spPr>
          <a:xfrm>
            <a:off x="8193024" y="3127248"/>
            <a:ext cx="2980944" cy="120700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The product opportunity is a reviewable workspace: canvas, document, board, sheet, or operational console.</a:t>
            </a:r>
          </a:p>
        </p:txBody>
      </p:sp>
      <p:sp>
        <p:nvSpPr>
          <p:cNvPr id="21" name="Rectangle 20"/>
          <p:cNvSpPr/>
          <p:nvPr/>
        </p:nvSpPr>
        <p:spPr>
          <a:xfrm>
            <a:off x="658368" y="4828032"/>
            <a:ext cx="10863072" cy="8595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4983480"/>
            <a:ext cx="10378440" cy="438912"/>
          </a:xfrm>
          <a:prstGeom prst="rect">
            <a:avLst/>
          </a:prstGeom>
          <a:noFill/>
        </p:spPr>
        <p:txBody>
          <a:bodyPr wrap="square" anchor="t" lIns="0" rIns="0" tIns="0" bIns="0">
            <a:normAutofit/>
          </a:bodyPr>
          <a:lstStyle/>
          <a:p>
            <a:pPr algn="l">
              <a:lnSpc>
                <a:spcPct val="105000"/>
              </a:lnSpc>
              <a:spcBef>
                <a:spcPts val="0"/>
              </a:spcBef>
            </a:pPr>
            <a:r>
              <a:rPr sz="1430" b="1" i="0">
                <a:solidFill>
                  <a:srgbClr val="1B2B3C"/>
                </a:solidFill>
                <a:latin typeface="Aptos Display"/>
              </a:rPr>
              <a:t>Strategic reading: do not build another isolated chatbot. Build a surface that can be operated through MCP, CLI, API, browser automation, and explicit human approval.</a:t>
            </a:r>
          </a:p>
        </p:txBody>
      </p:sp>
      <p:sp>
        <p:nvSpPr>
          <p:cNvPr id="23" name="Rectangle 22"/>
          <p:cNvSpPr/>
          <p:nvPr/>
        </p:nvSpPr>
        <p:spPr>
          <a:xfrm>
            <a:off x="658368" y="5907024"/>
            <a:ext cx="10863072"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980176"/>
            <a:ext cx="10378440" cy="256032"/>
          </a:xfrm>
          <a:prstGeom prst="rect">
            <a:avLst/>
          </a:prstGeom>
          <a:noFill/>
        </p:spPr>
        <p:txBody>
          <a:bodyPr wrap="square" anchor="t" lIns="0" rIns="0" tIns="0" bIns="0">
            <a:normAutofit/>
          </a:bodyPr>
          <a:lstStyle/>
          <a:p>
            <a:pPr algn="l">
              <a:lnSpc>
                <a:spcPct val="105000"/>
              </a:lnSpc>
              <a:spcBef>
                <a:spcPts val="0"/>
              </a:spcBef>
            </a:pPr>
            <a:r>
              <a:rPr sz="1260" b="1" i="0">
                <a:solidFill>
                  <a:srgbClr val="FFFFFF"/>
                </a:solidFill>
                <a:latin typeface="Aptos Display"/>
              </a:rPr>
              <a:t>The moat is not the chat box. The moat is context, tool access, and visible collaboration.</a:t>
            </a:r>
          </a:p>
        </p:txBody>
      </p:sp>
      <p:sp>
        <p:nvSpPr>
          <p:cNvPr id="25" name="TextBox 24"/>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Why this is happening now</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enabling pieces have converged into a practical build pattern.</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Local coding agents, browser-hosted work surfaces, and MCP-style tool access now let software operate as part of the user's agent workflow instead of as an isolated destination.</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Codex runs locally and can inspect or change project files.</a:t>
            </a:r>
          </a:p>
          <a:p>
            <a:pPr algn="l">
              <a:lnSpc>
                <a:spcPct val="100000"/>
              </a:lnSpc>
              <a:spcBef>
                <a:spcPts val="600"/>
              </a:spcBef>
            </a:pPr>
            <a:r>
              <a:rPr sz="1340" b="0" i="0">
                <a:solidFill>
                  <a:srgbClr val="1B2B3C"/>
                </a:solidFill>
                <a:latin typeface="Aptos"/>
              </a:rPr>
              <a:t>•  MCP standardizes connections to data, tools, and workflows.</a:t>
            </a:r>
          </a:p>
          <a:p>
            <a:pPr algn="l">
              <a:lnSpc>
                <a:spcPct val="100000"/>
              </a:lnSpc>
              <a:spcBef>
                <a:spcPts val="600"/>
              </a:spcBef>
            </a:pPr>
            <a:r>
              <a:rPr sz="1340" b="0" i="0">
                <a:solidFill>
                  <a:srgbClr val="1B2B3C"/>
                </a:solidFill>
                <a:latin typeface="Aptos"/>
              </a:rPr>
              <a:t>•  Web apps can provide a visible shared surface.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04688" y="1682496"/>
            <a:ext cx="2834640" cy="11430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04688" y="1682496"/>
            <a:ext cx="73152" cy="1143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1773936"/>
            <a:ext cx="25603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Local agents</a:t>
            </a:r>
          </a:p>
        </p:txBody>
      </p:sp>
      <p:sp>
        <p:nvSpPr>
          <p:cNvPr id="15" name="TextBox 14"/>
          <p:cNvSpPr txBox="1"/>
          <p:nvPr/>
        </p:nvSpPr>
        <p:spPr>
          <a:xfrm>
            <a:off x="5669280" y="2231136"/>
            <a:ext cx="2542032" cy="502920"/>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Codex/Cursor inspect files, run commands, and coordinate work.</a:t>
            </a:r>
          </a:p>
        </p:txBody>
      </p:sp>
      <p:sp>
        <p:nvSpPr>
          <p:cNvPr id="16" name="Oval 15"/>
          <p:cNvSpPr/>
          <p:nvPr/>
        </p:nvSpPr>
        <p:spPr>
          <a:xfrm>
            <a:off x="7900416" y="1792224"/>
            <a:ext cx="310896" cy="310896"/>
          </a:xfrm>
          <a:prstGeom prst="ellipse">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1</a:t>
            </a:r>
          </a:p>
        </p:txBody>
      </p:sp>
      <p:sp>
        <p:nvSpPr>
          <p:cNvPr id="17" name="Rounded Rectangle 16"/>
          <p:cNvSpPr/>
          <p:nvPr/>
        </p:nvSpPr>
        <p:spPr>
          <a:xfrm>
            <a:off x="8659368" y="1682496"/>
            <a:ext cx="2834640" cy="11430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59368" y="1682496"/>
            <a:ext cx="73152" cy="11430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1773936"/>
            <a:ext cx="25603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Tool standard</a:t>
            </a:r>
          </a:p>
        </p:txBody>
      </p:sp>
      <p:sp>
        <p:nvSpPr>
          <p:cNvPr id="20" name="TextBox 19"/>
          <p:cNvSpPr txBox="1"/>
          <p:nvPr/>
        </p:nvSpPr>
        <p:spPr>
          <a:xfrm>
            <a:off x="8823960" y="2231136"/>
            <a:ext cx="2542032" cy="502920"/>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MCP exposes external systems as model-invoked tools.</a:t>
            </a:r>
          </a:p>
        </p:txBody>
      </p:sp>
      <p:sp>
        <p:nvSpPr>
          <p:cNvPr id="21" name="Oval 20"/>
          <p:cNvSpPr/>
          <p:nvPr/>
        </p:nvSpPr>
        <p:spPr>
          <a:xfrm>
            <a:off x="11055096" y="1792224"/>
            <a:ext cx="310896" cy="310896"/>
          </a:xfrm>
          <a:prstGeom prst="ellipse">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2</a:t>
            </a:r>
          </a:p>
        </p:txBody>
      </p:sp>
      <p:sp>
        <p:nvSpPr>
          <p:cNvPr id="22" name="Rounded Rectangle 21"/>
          <p:cNvSpPr/>
          <p:nvPr/>
        </p:nvSpPr>
        <p:spPr>
          <a:xfrm>
            <a:off x="5504688" y="3282696"/>
            <a:ext cx="2834640" cy="11430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4688" y="3282696"/>
            <a:ext cx="73152" cy="114300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3374136"/>
            <a:ext cx="25603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Web surfaces</a:t>
            </a:r>
          </a:p>
        </p:txBody>
      </p:sp>
      <p:sp>
        <p:nvSpPr>
          <p:cNvPr id="25" name="TextBox 24"/>
          <p:cNvSpPr txBox="1"/>
          <p:nvPr/>
        </p:nvSpPr>
        <p:spPr>
          <a:xfrm>
            <a:off x="5669280" y="3831336"/>
            <a:ext cx="2542032" cy="502920"/>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Browser-hosted apps can be visible to human and agent.</a:t>
            </a:r>
          </a:p>
        </p:txBody>
      </p:sp>
      <p:sp>
        <p:nvSpPr>
          <p:cNvPr id="26" name="Oval 25"/>
          <p:cNvSpPr/>
          <p:nvPr/>
        </p:nvSpPr>
        <p:spPr>
          <a:xfrm>
            <a:off x="7900416" y="3392424"/>
            <a:ext cx="310896" cy="310896"/>
          </a:xfrm>
          <a:prstGeom prst="ellipse">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3</a:t>
            </a:r>
          </a:p>
        </p:txBody>
      </p:sp>
      <p:sp>
        <p:nvSpPr>
          <p:cNvPr id="27" name="Rounded Rectangle 26"/>
          <p:cNvSpPr/>
          <p:nvPr/>
        </p:nvSpPr>
        <p:spPr>
          <a:xfrm>
            <a:off x="8659368" y="3282696"/>
            <a:ext cx="2834640" cy="11430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59368" y="3282696"/>
            <a:ext cx="73152" cy="114300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374136"/>
            <a:ext cx="25603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Permission loops</a:t>
            </a:r>
          </a:p>
        </p:txBody>
      </p:sp>
      <p:sp>
        <p:nvSpPr>
          <p:cNvPr id="30" name="TextBox 29"/>
          <p:cNvSpPr txBox="1"/>
          <p:nvPr/>
        </p:nvSpPr>
        <p:spPr>
          <a:xfrm>
            <a:off x="8823960" y="3831336"/>
            <a:ext cx="2542032" cy="502920"/>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Sensitive actions can require explicit approval.</a:t>
            </a:r>
          </a:p>
        </p:txBody>
      </p:sp>
      <p:sp>
        <p:nvSpPr>
          <p:cNvPr id="31" name="Oval 30"/>
          <p:cNvSpPr/>
          <p:nvPr/>
        </p:nvSpPr>
        <p:spPr>
          <a:xfrm>
            <a:off x="11055096" y="3392424"/>
            <a:ext cx="310896" cy="310896"/>
          </a:xfrm>
          <a:prstGeom prst="ellipse">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4</a:t>
            </a:r>
          </a:p>
        </p:txBody>
      </p:sp>
      <p:sp>
        <p:nvSpPr>
          <p:cNvPr id="32" name="TextBox 31"/>
          <p:cNvSpPr txBox="1"/>
          <p:nvPr/>
        </p:nvSpPr>
        <p:spPr>
          <a:xfrm>
            <a:off x="6784848" y="5111496"/>
            <a:ext cx="3749039" cy="310896"/>
          </a:xfrm>
          <a:prstGeom prst="rect">
            <a:avLst/>
          </a:prstGeom>
          <a:noFill/>
        </p:spPr>
        <p:txBody>
          <a:bodyPr wrap="square" anchor="ctr" lIns="0" rIns="0" tIns="0" bIns="0">
            <a:normAutofit/>
          </a:bodyPr>
          <a:lstStyle/>
          <a:p>
            <a:pPr algn="ctr">
              <a:lnSpc>
                <a:spcPct val="105000"/>
              </a:lnSpc>
              <a:spcBef>
                <a:spcPts val="0"/>
              </a:spcBef>
            </a:pPr>
            <a:r>
              <a:rPr sz="1500" b="1" i="0">
                <a:solidFill>
                  <a:srgbClr val="0A1628"/>
                </a:solidFill>
                <a:latin typeface="Aptos"/>
              </a:rPr>
              <a:t>Convergence creates the wedge</a:t>
            </a:r>
          </a:p>
        </p:txBody>
      </p:sp>
      <p:sp>
        <p:nvSpPr>
          <p:cNvPr id="33" name="Rectangle 32"/>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opportunity exists because context, tools, and surfaces can now meet in one workflow.</a:t>
            </a:r>
          </a:p>
        </p:txBody>
      </p:sp>
      <p:sp>
        <p:nvSpPr>
          <p:cNvPr id="35" name="TextBox 34"/>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969264"/>
            <a:ext cx="2743200" cy="320040"/>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Aptos Display"/>
              </a:rPr>
              <a:t>SECTION 01</a:t>
            </a:r>
          </a:p>
        </p:txBody>
      </p:sp>
      <p:sp>
        <p:nvSpPr>
          <p:cNvPr id="5" name="TextBox 4"/>
          <p:cNvSpPr txBox="1"/>
          <p:nvPr/>
        </p:nvSpPr>
        <p:spPr>
          <a:xfrm>
            <a:off x="658368" y="1371600"/>
            <a:ext cx="8961120" cy="1225296"/>
          </a:xfrm>
          <a:prstGeom prst="rect">
            <a:avLst/>
          </a:prstGeom>
          <a:noFill/>
        </p:spPr>
        <p:txBody>
          <a:bodyPr wrap="square" anchor="t" lIns="0" rIns="0" tIns="0" bIns="0">
            <a:normAutofit/>
          </a:bodyPr>
          <a:lstStyle/>
          <a:p>
            <a:pPr algn="l">
              <a:lnSpc>
                <a:spcPct val="105000"/>
              </a:lnSpc>
              <a:spcBef>
                <a:spcPts val="0"/>
              </a:spcBef>
            </a:pPr>
            <a:r>
              <a:rPr sz="3800" b="1" i="0">
                <a:solidFill>
                  <a:srgbClr val="FFFFFF"/>
                </a:solidFill>
                <a:latin typeface="Aptos Display"/>
              </a:rPr>
              <a:t>The software model is changing</a:t>
            </a:r>
          </a:p>
        </p:txBody>
      </p:sp>
      <p:sp>
        <p:nvSpPr>
          <p:cNvPr id="6" name="Rectangle 5"/>
          <p:cNvSpPr/>
          <p:nvPr/>
        </p:nvSpPr>
        <p:spPr>
          <a:xfrm>
            <a:off x="658368" y="2615184"/>
            <a:ext cx="164592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07792"/>
            <a:ext cx="7406640" cy="585216"/>
          </a:xfrm>
          <a:prstGeom prst="rect">
            <a:avLst/>
          </a:prstGeom>
          <a:noFill/>
        </p:spPr>
        <p:txBody>
          <a:bodyPr wrap="square" anchor="t" lIns="0" rIns="0" tIns="0" bIns="0">
            <a:normAutofit/>
          </a:bodyPr>
          <a:lstStyle/>
          <a:p>
            <a:pPr algn="l">
              <a:lnSpc>
                <a:spcPct val="105000"/>
              </a:lnSpc>
              <a:spcBef>
                <a:spcPts val="0"/>
              </a:spcBef>
            </a:pPr>
            <a:r>
              <a:rPr sz="1900" b="0" i="0">
                <a:solidFill>
                  <a:srgbClr val="E0F7F1"/>
                </a:solidFill>
                <a:latin typeface="Aptos"/>
              </a:rPr>
              <a:t>From app-owned assistants to user-owned agents.</a:t>
            </a:r>
          </a:p>
        </p:txBody>
      </p:sp>
      <p:sp>
        <p:nvSpPr>
          <p:cNvPr id="8" name="Rounded Rectangle 7"/>
          <p:cNvSpPr/>
          <p:nvPr/>
        </p:nvSpPr>
        <p:spPr>
          <a:xfrm>
            <a:off x="749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1. Old boundary</a:t>
            </a:r>
          </a:p>
        </p:txBody>
      </p:sp>
      <p:sp>
        <p:nvSpPr>
          <p:cNvPr id="11" name="TextBox 10"/>
          <p:cNvSpPr txBox="1"/>
          <p:nvPr/>
        </p:nvSpPr>
        <p:spPr>
          <a:xfrm>
            <a:off x="914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Each app owns its small assistant.</a:t>
            </a:r>
          </a:p>
        </p:txBody>
      </p:sp>
      <p:sp>
        <p:nvSpPr>
          <p:cNvPr id="12" name="Rounded Rectangle 11"/>
          <p:cNvSpPr/>
          <p:nvPr/>
        </p:nvSpPr>
        <p:spPr>
          <a:xfrm>
            <a:off x="4178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3977639"/>
            <a:ext cx="73152" cy="11155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2. New workspace</a:t>
            </a:r>
          </a:p>
        </p:txBody>
      </p:sp>
      <p:sp>
        <p:nvSpPr>
          <p:cNvPr id="15" name="TextBox 14"/>
          <p:cNvSpPr txBox="1"/>
          <p:nvPr/>
        </p:nvSpPr>
        <p:spPr>
          <a:xfrm>
            <a:off x="4343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The user's agent carries context across tools.</a:t>
            </a:r>
          </a:p>
        </p:txBody>
      </p:sp>
      <p:sp>
        <p:nvSpPr>
          <p:cNvPr id="16" name="Rounded Rectangle 15"/>
          <p:cNvSpPr/>
          <p:nvPr/>
        </p:nvSpPr>
        <p:spPr>
          <a:xfrm>
            <a:off x="7607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3. Product shift</a:t>
            </a:r>
          </a:p>
        </p:txBody>
      </p:sp>
      <p:sp>
        <p:nvSpPr>
          <p:cNvPr id="19" name="TextBox 18"/>
          <p:cNvSpPr txBox="1"/>
          <p:nvPr/>
        </p:nvSpPr>
        <p:spPr>
          <a:xfrm>
            <a:off x="7772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The surface becomes the leverage point.</a:t>
            </a:r>
          </a:p>
        </p:txBody>
      </p:sp>
      <p:sp>
        <p:nvSpPr>
          <p:cNvPr id="20" name="TextBox 1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The old model is app with agent</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AI is bolted onto one product boundary.</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Most early AI apps added an assistant inside the existing product. That helps with app-local tasks, but it cannot naturally use the user's broader project context, local files, or other work systems.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The assistant is scoped to one application's data model.</a:t>
            </a:r>
          </a:p>
          <a:p>
            <a:pPr algn="l">
              <a:lnSpc>
                <a:spcPct val="100000"/>
              </a:lnSpc>
              <a:spcBef>
                <a:spcPts val="600"/>
              </a:spcBef>
            </a:pPr>
            <a:r>
              <a:rPr sz="1340" b="0" i="0">
                <a:solidFill>
                  <a:srgbClr val="1B2B3C"/>
                </a:solidFill>
                <a:latin typeface="Aptos"/>
              </a:rPr>
              <a:t>•  Connectors help, but the app still controls the agent boundary.</a:t>
            </a:r>
          </a:p>
          <a:p>
            <a:pPr algn="l">
              <a:lnSpc>
                <a:spcPct val="100000"/>
              </a:lnSpc>
              <a:spcBef>
                <a:spcPts val="600"/>
              </a:spcBef>
            </a:pPr>
            <a:r>
              <a:rPr sz="1340" b="0" i="0">
                <a:solidFill>
                  <a:srgbClr val="1B2B3C"/>
                </a:solidFill>
                <a:latin typeface="Aptos"/>
              </a:rPr>
              <a:t>•  The user must repeat context across many isolated assistants.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13448" y="1911096"/>
            <a:ext cx="3337560" cy="2514600"/>
          </a:xfrm>
          <a:prstGeom prst="roundRect">
            <a:avLst>
              <a:gd name="adj" fmla="val 12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96328" y="2066544"/>
            <a:ext cx="2926080" cy="228600"/>
          </a:xfrm>
          <a:prstGeom prst="rect">
            <a:avLst/>
          </a:prstGeom>
          <a:noFill/>
        </p:spPr>
        <p:txBody>
          <a:bodyPr wrap="square" anchor="ctr" lIns="0" rIns="0" tIns="0" bIns="0">
            <a:normAutofit/>
          </a:bodyPr>
          <a:lstStyle/>
          <a:p>
            <a:pPr algn="ctr">
              <a:lnSpc>
                <a:spcPct val="105000"/>
              </a:lnSpc>
              <a:spcBef>
                <a:spcPts val="0"/>
              </a:spcBef>
            </a:pPr>
            <a:r>
              <a:rPr sz="1350" b="1" i="0">
                <a:solidFill>
                  <a:srgbClr val="0A1628"/>
                </a:solidFill>
                <a:latin typeface="Aptos"/>
              </a:rPr>
              <a:t>One app boundary</a:t>
            </a:r>
          </a:p>
        </p:txBody>
      </p:sp>
      <p:sp>
        <p:nvSpPr>
          <p:cNvPr id="14" name="Rounded Rectangle 13"/>
          <p:cNvSpPr/>
          <p:nvPr/>
        </p:nvSpPr>
        <p:spPr>
          <a:xfrm>
            <a:off x="7379207" y="2523744"/>
            <a:ext cx="24231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79207" y="2523744"/>
            <a:ext cx="73152" cy="65836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511" y="2615184"/>
            <a:ext cx="21671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Product UI</a:t>
            </a:r>
          </a:p>
        </p:txBody>
      </p:sp>
      <p:sp>
        <p:nvSpPr>
          <p:cNvPr id="17" name="Rounded Rectangle 16"/>
          <p:cNvSpPr/>
          <p:nvPr/>
        </p:nvSpPr>
        <p:spPr>
          <a:xfrm>
            <a:off x="7379207" y="3419856"/>
            <a:ext cx="24231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79207" y="3419856"/>
            <a:ext cx="73152" cy="65836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1" y="3511296"/>
            <a:ext cx="21671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App-owned AI</a:t>
            </a:r>
          </a:p>
        </p:txBody>
      </p:sp>
      <p:sp>
        <p:nvSpPr>
          <p:cNvPr id="20" name="Rounded Rectangle 19"/>
          <p:cNvSpPr/>
          <p:nvPr/>
        </p:nvSpPr>
        <p:spPr>
          <a:xfrm>
            <a:off x="5596128" y="2551176"/>
            <a:ext cx="1143000"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96128" y="2551176"/>
            <a:ext cx="73152" cy="74980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42432" y="2642616"/>
            <a:ext cx="886968"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Local files</a:t>
            </a:r>
          </a:p>
        </p:txBody>
      </p:sp>
      <p:sp>
        <p:nvSpPr>
          <p:cNvPr id="23" name="Rounded Rectangle 22"/>
          <p:cNvSpPr/>
          <p:nvPr/>
        </p:nvSpPr>
        <p:spPr>
          <a:xfrm>
            <a:off x="10579608" y="2551176"/>
            <a:ext cx="1143000"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79608" y="2551176"/>
            <a:ext cx="73152" cy="74980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25912" y="2642616"/>
            <a:ext cx="886968"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Other apps</a:t>
            </a:r>
          </a:p>
        </p:txBody>
      </p:sp>
      <p:sp>
        <p:nvSpPr>
          <p:cNvPr id="26" name="Rounded Rectangle 25"/>
          <p:cNvSpPr/>
          <p:nvPr/>
        </p:nvSpPr>
        <p:spPr>
          <a:xfrm>
            <a:off x="10579608" y="3511296"/>
            <a:ext cx="1143000"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579608" y="3511296"/>
            <a:ext cx="73152" cy="74980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25912" y="3602736"/>
            <a:ext cx="886968"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Memory</a:t>
            </a:r>
          </a:p>
        </p:txBody>
      </p:sp>
      <p:sp>
        <p:nvSpPr>
          <p:cNvPr id="29" name="Rectangle 28"/>
          <p:cNvSpPr/>
          <p:nvPr/>
        </p:nvSpPr>
        <p:spPr>
          <a:xfrm>
            <a:off x="6821424" y="2505456"/>
            <a:ext cx="54864" cy="19659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24160" y="2505456"/>
            <a:ext cx="54864" cy="19659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67728" y="4837176"/>
            <a:ext cx="3474720" cy="320040"/>
          </a:xfrm>
          <a:prstGeom prst="rect">
            <a:avLst/>
          </a:prstGeom>
          <a:noFill/>
        </p:spPr>
        <p:txBody>
          <a:bodyPr wrap="square" anchor="ctr" lIns="0" rIns="0" tIns="0" bIns="0">
            <a:normAutofit/>
          </a:bodyPr>
          <a:lstStyle/>
          <a:p>
            <a:pPr algn="ctr">
              <a:lnSpc>
                <a:spcPct val="105000"/>
              </a:lnSpc>
              <a:spcBef>
                <a:spcPts val="0"/>
              </a:spcBef>
            </a:pPr>
            <a:r>
              <a:rPr sz="1500" b="1" i="0">
                <a:solidFill>
                  <a:srgbClr val="E05A6B"/>
                </a:solidFill>
                <a:latin typeface="Aptos"/>
              </a:rPr>
              <a:t>Context stops at the app edge</a:t>
            </a:r>
          </a:p>
        </p:txBody>
      </p:sp>
      <p:sp>
        <p:nvSpPr>
          <p:cNvPr id="32" name="Rectangle 31"/>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App-owned AI improves one silo; it does not become the user's operating layer.</a:t>
            </a:r>
          </a:p>
        </p:txBody>
      </p:sp>
      <p:sp>
        <p:nvSpPr>
          <p:cNvPr id="34" name="TextBox 33"/>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5" name="TextBox 3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The new model is agent with app</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user's own agent becomes the outer workflow.</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Agent-native apps invert the control model. The app is a surface inside the user's agent workspace, while the agent brings local context, tool access, memory, and approvals around it.</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The user's agent can reference files and project history.</a:t>
            </a:r>
          </a:p>
          <a:p>
            <a:pPr algn="l">
              <a:lnSpc>
                <a:spcPct val="100000"/>
              </a:lnSpc>
              <a:spcBef>
                <a:spcPts val="600"/>
              </a:spcBef>
            </a:pPr>
            <a:r>
              <a:rPr sz="1340" b="0" i="0">
                <a:solidFill>
                  <a:srgbClr val="1B2B3C"/>
                </a:solidFill>
                <a:latin typeface="Aptos"/>
              </a:rPr>
              <a:t>•  The app exposes operations through MCP, CLI, API, or browser actions.</a:t>
            </a:r>
          </a:p>
          <a:p>
            <a:pPr algn="l">
              <a:lnSpc>
                <a:spcPct val="100000"/>
              </a:lnSpc>
              <a:spcBef>
                <a:spcPts val="600"/>
              </a:spcBef>
            </a:pPr>
            <a:r>
              <a:rPr sz="1340" b="0" i="0">
                <a:solidFill>
                  <a:srgbClr val="1B2B3C"/>
                </a:solidFill>
                <a:latin typeface="Aptos"/>
              </a:rPr>
              <a:t>•  The human sees the work and corrects the loop early.</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33288" y="1883664"/>
            <a:ext cx="5760720" cy="3383280"/>
          </a:xfrm>
          <a:prstGeom prst="roundRect">
            <a:avLst>
              <a:gd name="adj" fmla="val 12000"/>
            </a:avLst>
          </a:prstGeom>
          <a:solidFill>
            <a:srgbClr val="F4F7F8"/>
          </a:solidFill>
          <a:ln w="12700">
            <a:solidFill>
              <a:srgbClr val="00C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7608" y="2066544"/>
            <a:ext cx="5212080" cy="274320"/>
          </a:xfrm>
          <a:prstGeom prst="rect">
            <a:avLst/>
          </a:prstGeom>
          <a:noFill/>
        </p:spPr>
        <p:txBody>
          <a:bodyPr wrap="square" anchor="ctr" lIns="0" rIns="0" tIns="0" bIns="0">
            <a:normAutofit/>
          </a:bodyPr>
          <a:lstStyle/>
          <a:p>
            <a:pPr algn="ctr">
              <a:lnSpc>
                <a:spcPct val="105000"/>
              </a:lnSpc>
              <a:spcBef>
                <a:spcPts val="0"/>
              </a:spcBef>
            </a:pPr>
            <a:r>
              <a:rPr sz="1450" b="1" i="0">
                <a:solidFill>
                  <a:srgbClr val="0A1628"/>
                </a:solidFill>
                <a:latin typeface="Aptos"/>
              </a:rPr>
              <a:t>User-owned agent workspace</a:t>
            </a:r>
          </a:p>
        </p:txBody>
      </p:sp>
      <p:sp>
        <p:nvSpPr>
          <p:cNvPr id="14" name="Rounded Rectangle 13"/>
          <p:cNvSpPr/>
          <p:nvPr/>
        </p:nvSpPr>
        <p:spPr>
          <a:xfrm>
            <a:off x="7607808" y="2596896"/>
            <a:ext cx="1965960" cy="7315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07808" y="2596896"/>
            <a:ext cx="73152" cy="7315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2688336"/>
            <a:ext cx="1709928" cy="5852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App surface</a:t>
            </a:r>
          </a:p>
        </p:txBody>
      </p:sp>
      <p:sp>
        <p:nvSpPr>
          <p:cNvPr id="17" name="Rounded Rectangle 16"/>
          <p:cNvSpPr/>
          <p:nvPr/>
        </p:nvSpPr>
        <p:spPr>
          <a:xfrm>
            <a:off x="6007608" y="3767327"/>
            <a:ext cx="132588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07608" y="3767327"/>
            <a:ext cx="73152" cy="6583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53912" y="3858767"/>
            <a:ext cx="106984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Files</a:t>
            </a:r>
          </a:p>
        </p:txBody>
      </p:sp>
      <p:sp>
        <p:nvSpPr>
          <p:cNvPr id="20" name="Rounded Rectangle 19"/>
          <p:cNvSpPr/>
          <p:nvPr/>
        </p:nvSpPr>
        <p:spPr>
          <a:xfrm>
            <a:off x="7900416" y="3767327"/>
            <a:ext cx="132588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3767327"/>
            <a:ext cx="73152" cy="6583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858767"/>
            <a:ext cx="106984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Tools</a:t>
            </a:r>
          </a:p>
        </p:txBody>
      </p:sp>
      <p:sp>
        <p:nvSpPr>
          <p:cNvPr id="23" name="Rounded Rectangle 22"/>
          <p:cNvSpPr/>
          <p:nvPr/>
        </p:nvSpPr>
        <p:spPr>
          <a:xfrm>
            <a:off x="9820656" y="3767327"/>
            <a:ext cx="132588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20656" y="3767327"/>
            <a:ext cx="73152" cy="6583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66960" y="3858767"/>
            <a:ext cx="106984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Memory</a:t>
            </a:r>
          </a:p>
        </p:txBody>
      </p:sp>
      <p:sp>
        <p:nvSpPr>
          <p:cNvPr id="26" name="Right Arrow 25"/>
          <p:cNvSpPr/>
          <p:nvPr/>
        </p:nvSpPr>
        <p:spPr>
          <a:xfrm>
            <a:off x="7287768" y="2807208"/>
            <a:ext cx="411480"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rot="10800000">
            <a:off x="9509760" y="2807208"/>
            <a:ext cx="411480"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63056" y="4773168"/>
            <a:ext cx="4800600" cy="384048"/>
          </a:xfrm>
          <a:prstGeom prst="rect">
            <a:avLst/>
          </a:prstGeom>
          <a:noFill/>
        </p:spPr>
        <p:txBody>
          <a:bodyPr wrap="square" anchor="ctr" lIns="0" rIns="0" tIns="0" bIns="0">
            <a:normAutofit/>
          </a:bodyPr>
          <a:lstStyle/>
          <a:p>
            <a:pPr algn="ctr">
              <a:lnSpc>
                <a:spcPct val="105000"/>
              </a:lnSpc>
              <a:spcBef>
                <a:spcPts val="0"/>
              </a:spcBef>
            </a:pPr>
            <a:r>
              <a:rPr sz="1400" b="1" i="0">
                <a:solidFill>
                  <a:srgbClr val="009B82"/>
                </a:solidFill>
                <a:latin typeface="Aptos"/>
              </a:rPr>
              <a:t>App inside agent flow</a:t>
            </a:r>
          </a:p>
        </p:txBody>
      </p:sp>
      <p:sp>
        <p:nvSpPr>
          <p:cNvPr id="29" name="Rectangle 28"/>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product is no longer only a destination; it becomes a surface agents can operate.</a:t>
            </a:r>
          </a:p>
        </p:txBody>
      </p:sp>
      <p:sp>
        <p:nvSpPr>
          <p:cNvPr id="31" name="TextBox 30"/>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Agent-native has a precise definition</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It is not the same thing as having a chatbot.</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An agent-native app is designed so an external user-owned agent can understand the state, take useful actions, and leave behind improved context. The app does not need to own the whole intelligence layer.</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Context is readable by the agent.</a:t>
            </a:r>
          </a:p>
          <a:p>
            <a:pPr algn="l">
              <a:lnSpc>
                <a:spcPct val="100000"/>
              </a:lnSpc>
              <a:spcBef>
                <a:spcPts val="600"/>
              </a:spcBef>
            </a:pPr>
            <a:r>
              <a:rPr sz="1340" b="0" i="0">
                <a:solidFill>
                  <a:srgbClr val="1B2B3C"/>
                </a:solidFill>
                <a:latin typeface="Aptos"/>
              </a:rPr>
              <a:t>•  Actions are invocable through explicit tool contracts.</a:t>
            </a:r>
          </a:p>
          <a:p>
            <a:pPr algn="l">
              <a:lnSpc>
                <a:spcPct val="100000"/>
              </a:lnSpc>
              <a:spcBef>
                <a:spcPts val="600"/>
              </a:spcBef>
            </a:pPr>
            <a:r>
              <a:rPr sz="1340" b="0" i="0">
                <a:solidFill>
                  <a:srgbClr val="1B2B3C"/>
                </a:solidFill>
                <a:latin typeface="Aptos"/>
              </a:rPr>
              <a:t>•  State changes are visible and reviewable.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2852928"/>
            <a:ext cx="2331720" cy="987552"/>
          </a:xfrm>
          <a:prstGeom prst="roundRect">
            <a:avLst>
              <a:gd name="adj" fmla="val 12000"/>
            </a:avLst>
          </a:prstGeom>
          <a:solidFill>
            <a:srgbClr val="0A1628"/>
          </a:solidFill>
          <a:ln w="12700">
            <a:solidFill>
              <a:srgbClr val="00C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2088" y="3072384"/>
            <a:ext cx="2011680" cy="347472"/>
          </a:xfrm>
          <a:prstGeom prst="rect">
            <a:avLst/>
          </a:prstGeom>
          <a:noFill/>
        </p:spPr>
        <p:txBody>
          <a:bodyPr wrap="square" anchor="ctr" lIns="0" rIns="0" tIns="0" bIns="0">
            <a:normAutofit/>
          </a:bodyPr>
          <a:lstStyle/>
          <a:p>
            <a:pPr algn="ctr">
              <a:lnSpc>
                <a:spcPct val="105000"/>
              </a:lnSpc>
              <a:spcBef>
                <a:spcPts val="0"/>
              </a:spcBef>
            </a:pPr>
            <a:r>
              <a:rPr sz="1600" b="1" i="0">
                <a:solidFill>
                  <a:srgbClr val="FFFFFF"/>
                </a:solidFill>
                <a:latin typeface="Aptos"/>
              </a:rPr>
              <a:t>Agent-native app</a:t>
            </a:r>
          </a:p>
        </p:txBody>
      </p:sp>
      <p:sp>
        <p:nvSpPr>
          <p:cNvPr id="14" name="Rounded Rectangle 13"/>
          <p:cNvSpPr/>
          <p:nvPr/>
        </p:nvSpPr>
        <p:spPr>
          <a:xfrm>
            <a:off x="5596128" y="1911096"/>
            <a:ext cx="1600200" cy="78638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96128" y="1911096"/>
            <a:ext cx="73152" cy="78638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42432" y="2002536"/>
            <a:ext cx="1344168" cy="64008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Context</a:t>
            </a:r>
          </a:p>
        </p:txBody>
      </p:sp>
      <p:sp>
        <p:nvSpPr>
          <p:cNvPr id="17" name="Rounded Rectangle 16"/>
          <p:cNvSpPr/>
          <p:nvPr/>
        </p:nvSpPr>
        <p:spPr>
          <a:xfrm>
            <a:off x="10030968" y="1911096"/>
            <a:ext cx="1600200" cy="78638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30968" y="1911096"/>
            <a:ext cx="73152" cy="78638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77272" y="2002536"/>
            <a:ext cx="1344168" cy="64008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Tools</a:t>
            </a:r>
          </a:p>
        </p:txBody>
      </p:sp>
      <p:sp>
        <p:nvSpPr>
          <p:cNvPr id="20" name="Rounded Rectangle 19"/>
          <p:cNvSpPr/>
          <p:nvPr/>
        </p:nvSpPr>
        <p:spPr>
          <a:xfrm>
            <a:off x="5596128" y="4425696"/>
            <a:ext cx="1600200" cy="78638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96128" y="4425696"/>
            <a:ext cx="73152" cy="786384"/>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42432" y="4517136"/>
            <a:ext cx="1344168" cy="64008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Surface</a:t>
            </a:r>
          </a:p>
        </p:txBody>
      </p:sp>
      <p:sp>
        <p:nvSpPr>
          <p:cNvPr id="23" name="Rounded Rectangle 22"/>
          <p:cNvSpPr/>
          <p:nvPr/>
        </p:nvSpPr>
        <p:spPr>
          <a:xfrm>
            <a:off x="10030968" y="4425696"/>
            <a:ext cx="1600200" cy="78638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30968" y="4425696"/>
            <a:ext cx="73152" cy="786384"/>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77272" y="4517136"/>
            <a:ext cx="1344168" cy="64008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Memory</a:t>
            </a:r>
          </a:p>
        </p:txBody>
      </p:sp>
      <p:sp>
        <p:nvSpPr>
          <p:cNvPr id="26" name="Right Arrow 25"/>
          <p:cNvSpPr/>
          <p:nvPr/>
        </p:nvSpPr>
        <p:spPr>
          <a:xfrm>
            <a:off x="7168896" y="2194560"/>
            <a:ext cx="548640" cy="182880"/>
          </a:xfrm>
          <a:prstGeom prst="rightArrow">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rot="10800000">
            <a:off x="9546336" y="2194560"/>
            <a:ext cx="548640" cy="182880"/>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7168896" y="4681728"/>
            <a:ext cx="548640" cy="182880"/>
          </a:xfrm>
          <a:prstGeom prst="rightArrow">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rot="10800000">
            <a:off x="9546336" y="4681728"/>
            <a:ext cx="548640" cy="182880"/>
          </a:xfrm>
          <a:prstGeom prst="rightArrow">
            <a:avLst/>
          </a:prstGeom>
          <a:solidFill>
            <a:srgbClr val="E05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Agent-native means agent-operable, human-visible, and memory-aware.</a:t>
            </a:r>
          </a:p>
        </p:txBody>
      </p:sp>
      <p:sp>
        <p:nvSpPr>
          <p:cNvPr id="32" name="TextBox 31"/>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The user buys completed work</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job is shared between human, agent, and app.</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user is not buying another chat interface. They are buying an outcome: a design explored, a document updated, a sheet reconciled, or a workflow completed with enough visibility to trust the result.</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The human supplies judgment and approval.</a:t>
            </a:r>
          </a:p>
          <a:p>
            <a:pPr algn="l">
              <a:lnSpc>
                <a:spcPct val="100000"/>
              </a:lnSpc>
              <a:spcBef>
                <a:spcPts val="600"/>
              </a:spcBef>
            </a:pPr>
            <a:r>
              <a:rPr sz="1340" b="0" i="0">
                <a:solidFill>
                  <a:srgbClr val="1B2B3C"/>
                </a:solidFill>
                <a:latin typeface="Aptos"/>
              </a:rPr>
              <a:t>•  The agent supplies context handling and execution.</a:t>
            </a:r>
          </a:p>
          <a:p>
            <a:pPr algn="l">
              <a:lnSpc>
                <a:spcPct val="100000"/>
              </a:lnSpc>
              <a:spcBef>
                <a:spcPts val="600"/>
              </a:spcBef>
            </a:pPr>
            <a:r>
              <a:rPr sz="1340" b="0" i="0">
                <a:solidFill>
                  <a:srgbClr val="1B2B3C"/>
                </a:solidFill>
                <a:latin typeface="Aptos"/>
              </a:rPr>
              <a:t>•  The app supplies the durable work surface.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79008" y="2596896"/>
            <a:ext cx="1508760" cy="9144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79008" y="2596896"/>
            <a:ext cx="73152" cy="9144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25312" y="2688336"/>
            <a:ext cx="1252728" cy="76809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Human</a:t>
            </a:r>
          </a:p>
        </p:txBody>
      </p:sp>
      <p:sp>
        <p:nvSpPr>
          <p:cNvPr id="15" name="Rounded Rectangle 14"/>
          <p:cNvSpPr/>
          <p:nvPr/>
        </p:nvSpPr>
        <p:spPr>
          <a:xfrm>
            <a:off x="7836408" y="2093976"/>
            <a:ext cx="1600200" cy="9144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36408" y="2093976"/>
            <a:ext cx="73152" cy="9144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82712" y="2185416"/>
            <a:ext cx="1344168" cy="76809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a:t>
            </a:r>
          </a:p>
        </p:txBody>
      </p:sp>
      <p:sp>
        <p:nvSpPr>
          <p:cNvPr id="18" name="Rounded Rectangle 17"/>
          <p:cNvSpPr/>
          <p:nvPr/>
        </p:nvSpPr>
        <p:spPr>
          <a:xfrm>
            <a:off x="9985248" y="2596896"/>
            <a:ext cx="1508760" cy="91440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985248" y="2596896"/>
            <a:ext cx="73152" cy="91440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31552" y="2688336"/>
            <a:ext cx="1252728" cy="76809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App</a:t>
            </a:r>
          </a:p>
        </p:txBody>
      </p:sp>
      <p:sp>
        <p:nvSpPr>
          <p:cNvPr id="21" name="Right Arrow 20"/>
          <p:cNvSpPr/>
          <p:nvPr/>
        </p:nvSpPr>
        <p:spPr>
          <a:xfrm>
            <a:off x="7287768" y="2852928"/>
            <a:ext cx="502920" cy="219456"/>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9454896" y="2852928"/>
            <a:ext cx="502920" cy="219456"/>
          </a:xfrm>
          <a:prstGeom prst="rightArrow">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4288536"/>
            <a:ext cx="3310128" cy="749808"/>
          </a:xfrm>
          <a:prstGeom prst="roundRect">
            <a:avLst>
              <a:gd name="adj" fmla="val 12000"/>
            </a:avLst>
          </a:prstGeom>
          <a:solidFill>
            <a:srgbClr val="0A1628"/>
          </a:solidFill>
          <a:ln w="12700">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5472" y="4462272"/>
            <a:ext cx="2926080" cy="292608"/>
          </a:xfrm>
          <a:prstGeom prst="rect">
            <a:avLst/>
          </a:prstGeom>
          <a:noFill/>
        </p:spPr>
        <p:txBody>
          <a:bodyPr wrap="square" anchor="ctr" lIns="0" rIns="0" tIns="0" bIns="0">
            <a:normAutofit/>
          </a:bodyPr>
          <a:lstStyle/>
          <a:p>
            <a:pPr algn="ctr">
              <a:lnSpc>
                <a:spcPct val="105000"/>
              </a:lnSpc>
              <a:spcBef>
                <a:spcPts val="0"/>
              </a:spcBef>
            </a:pPr>
            <a:r>
              <a:rPr sz="1400" b="1" i="0">
                <a:solidFill>
                  <a:srgbClr val="FFFFFF"/>
                </a:solidFill>
                <a:latin typeface="Aptos"/>
              </a:rPr>
              <a:t>Outcome: completed work, not generated chat</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Frame the product around the completed job, not the presence of AI.</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969264"/>
            <a:ext cx="2743200" cy="320040"/>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Aptos Display"/>
              </a:rPr>
              <a:t>SECTION 02</a:t>
            </a:r>
          </a:p>
        </p:txBody>
      </p:sp>
      <p:sp>
        <p:nvSpPr>
          <p:cNvPr id="5" name="TextBox 4"/>
          <p:cNvSpPr txBox="1"/>
          <p:nvPr/>
        </p:nvSpPr>
        <p:spPr>
          <a:xfrm>
            <a:off x="658368" y="1371600"/>
            <a:ext cx="8961120" cy="1225296"/>
          </a:xfrm>
          <a:prstGeom prst="rect">
            <a:avLst/>
          </a:prstGeom>
          <a:noFill/>
        </p:spPr>
        <p:txBody>
          <a:bodyPr wrap="square" anchor="t" lIns="0" rIns="0" tIns="0" bIns="0">
            <a:normAutofit/>
          </a:bodyPr>
          <a:lstStyle/>
          <a:p>
            <a:pPr algn="l">
              <a:lnSpc>
                <a:spcPct val="105000"/>
              </a:lnSpc>
              <a:spcBef>
                <a:spcPts val="0"/>
              </a:spcBef>
            </a:pPr>
            <a:r>
              <a:rPr sz="3800" b="1" i="0">
                <a:solidFill>
                  <a:srgbClr val="FFFFFF"/>
                </a:solidFill>
                <a:latin typeface="Aptos Display"/>
              </a:rPr>
              <a:t>Architecture makes it real</a:t>
            </a:r>
          </a:p>
        </p:txBody>
      </p:sp>
      <p:sp>
        <p:nvSpPr>
          <p:cNvPr id="6" name="Rectangle 5"/>
          <p:cNvSpPr/>
          <p:nvPr/>
        </p:nvSpPr>
        <p:spPr>
          <a:xfrm>
            <a:off x="658368" y="2615184"/>
            <a:ext cx="164592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07792"/>
            <a:ext cx="7406640" cy="585216"/>
          </a:xfrm>
          <a:prstGeom prst="rect">
            <a:avLst/>
          </a:prstGeom>
          <a:noFill/>
        </p:spPr>
        <p:txBody>
          <a:bodyPr wrap="square" anchor="t" lIns="0" rIns="0" tIns="0" bIns="0">
            <a:normAutofit/>
          </a:bodyPr>
          <a:lstStyle/>
          <a:p>
            <a:pPr algn="l">
              <a:lnSpc>
                <a:spcPct val="105000"/>
              </a:lnSpc>
              <a:spcBef>
                <a:spcPts val="0"/>
              </a:spcBef>
            </a:pPr>
            <a:r>
              <a:rPr sz="1900" b="0" i="0">
                <a:solidFill>
                  <a:srgbClr val="E0F7F1"/>
                </a:solidFill>
                <a:latin typeface="Aptos"/>
              </a:rPr>
              <a:t>A strong agent-native app has four building blocks.</a:t>
            </a:r>
          </a:p>
        </p:txBody>
      </p:sp>
      <p:sp>
        <p:nvSpPr>
          <p:cNvPr id="8" name="Rounded Rectangle 7"/>
          <p:cNvSpPr/>
          <p:nvPr/>
        </p:nvSpPr>
        <p:spPr>
          <a:xfrm>
            <a:off x="749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1. Context</a:t>
            </a:r>
          </a:p>
        </p:txBody>
      </p:sp>
      <p:sp>
        <p:nvSpPr>
          <p:cNvPr id="11" name="TextBox 10"/>
          <p:cNvSpPr txBox="1"/>
          <p:nvPr/>
        </p:nvSpPr>
        <p:spPr>
          <a:xfrm>
            <a:off x="914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What the agent knows.</a:t>
            </a:r>
          </a:p>
        </p:txBody>
      </p:sp>
      <p:sp>
        <p:nvSpPr>
          <p:cNvPr id="12" name="Rounded Rectangle 11"/>
          <p:cNvSpPr/>
          <p:nvPr/>
        </p:nvSpPr>
        <p:spPr>
          <a:xfrm>
            <a:off x="4178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3977639"/>
            <a:ext cx="73152" cy="11155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2. Tools</a:t>
            </a:r>
          </a:p>
        </p:txBody>
      </p:sp>
      <p:sp>
        <p:nvSpPr>
          <p:cNvPr id="15" name="TextBox 14"/>
          <p:cNvSpPr txBox="1"/>
          <p:nvPr/>
        </p:nvSpPr>
        <p:spPr>
          <a:xfrm>
            <a:off x="4343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What the agent can do.</a:t>
            </a:r>
          </a:p>
        </p:txBody>
      </p:sp>
      <p:sp>
        <p:nvSpPr>
          <p:cNvPr id="16" name="Rounded Rectangle 15"/>
          <p:cNvSpPr/>
          <p:nvPr/>
        </p:nvSpPr>
        <p:spPr>
          <a:xfrm>
            <a:off x="7607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3. Surface</a:t>
            </a:r>
          </a:p>
        </p:txBody>
      </p:sp>
      <p:sp>
        <p:nvSpPr>
          <p:cNvPr id="19" name="TextBox 18"/>
          <p:cNvSpPr txBox="1"/>
          <p:nvPr/>
        </p:nvSpPr>
        <p:spPr>
          <a:xfrm>
            <a:off x="7772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Where work stays visible.</a:t>
            </a:r>
          </a:p>
        </p:txBody>
      </p:sp>
      <p:sp>
        <p:nvSpPr>
          <p:cNvPr id="20" name="TextBox 1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Four building blocks matter most</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architecture is simple, but the details matter.</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Agent-native architecture combines context, connectivity, collaboration, and compounding memory. Weak products usually miss one of these blocks and collapse back into a chatbot or brittle automation.</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Context prevents repeated prompting.</a:t>
            </a:r>
          </a:p>
          <a:p>
            <a:pPr algn="l">
              <a:lnSpc>
                <a:spcPct val="100000"/>
              </a:lnSpc>
              <a:spcBef>
                <a:spcPts val="600"/>
              </a:spcBef>
            </a:pPr>
            <a:r>
              <a:rPr sz="1340" b="0" i="0">
                <a:solidFill>
                  <a:srgbClr val="1B2B3C"/>
                </a:solidFill>
                <a:latin typeface="Aptos"/>
              </a:rPr>
              <a:t>•  Connectivity turns suggestions into actions.</a:t>
            </a:r>
          </a:p>
          <a:p>
            <a:pPr algn="l">
              <a:lnSpc>
                <a:spcPct val="100000"/>
              </a:lnSpc>
              <a:spcBef>
                <a:spcPts val="600"/>
              </a:spcBef>
            </a:pPr>
            <a:r>
              <a:rPr sz="1340" b="0" i="0">
                <a:solidFill>
                  <a:srgbClr val="1B2B3C"/>
                </a:solidFill>
                <a:latin typeface="Aptos"/>
              </a:rPr>
              <a:t>•  Compounding memory improves future runs.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04688" y="1682496"/>
            <a:ext cx="2852928" cy="11155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04688" y="1682496"/>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1773936"/>
            <a:ext cx="2578608"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Context</a:t>
            </a:r>
          </a:p>
        </p:txBody>
      </p:sp>
      <p:sp>
        <p:nvSpPr>
          <p:cNvPr id="15" name="TextBox 14"/>
          <p:cNvSpPr txBox="1"/>
          <p:nvPr/>
        </p:nvSpPr>
        <p:spPr>
          <a:xfrm>
            <a:off x="5669280" y="2231136"/>
            <a:ext cx="2560320"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What the agent needs to know before acting.</a:t>
            </a:r>
          </a:p>
        </p:txBody>
      </p:sp>
      <p:sp>
        <p:nvSpPr>
          <p:cNvPr id="16" name="Rounded Rectangle 15"/>
          <p:cNvSpPr/>
          <p:nvPr/>
        </p:nvSpPr>
        <p:spPr>
          <a:xfrm>
            <a:off x="8659368" y="1682496"/>
            <a:ext cx="2852928" cy="11155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59368" y="1682496"/>
            <a:ext cx="73152" cy="11155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23960" y="1773936"/>
            <a:ext cx="2578608"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Connectivity</a:t>
            </a:r>
          </a:p>
        </p:txBody>
      </p:sp>
      <p:sp>
        <p:nvSpPr>
          <p:cNvPr id="19" name="TextBox 18"/>
          <p:cNvSpPr txBox="1"/>
          <p:nvPr/>
        </p:nvSpPr>
        <p:spPr>
          <a:xfrm>
            <a:off x="8823960" y="2231136"/>
            <a:ext cx="2560320"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How the agent reads, writes, and invokes.</a:t>
            </a:r>
          </a:p>
        </p:txBody>
      </p:sp>
      <p:sp>
        <p:nvSpPr>
          <p:cNvPr id="20" name="Rounded Rectangle 19"/>
          <p:cNvSpPr/>
          <p:nvPr/>
        </p:nvSpPr>
        <p:spPr>
          <a:xfrm>
            <a:off x="5504688" y="3273552"/>
            <a:ext cx="2852928" cy="11155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04688" y="3273552"/>
            <a:ext cx="73152" cy="111556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3364992"/>
            <a:ext cx="2578608"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Collaboration</a:t>
            </a:r>
          </a:p>
        </p:txBody>
      </p:sp>
      <p:sp>
        <p:nvSpPr>
          <p:cNvPr id="23" name="TextBox 22"/>
          <p:cNvSpPr txBox="1"/>
          <p:nvPr/>
        </p:nvSpPr>
        <p:spPr>
          <a:xfrm>
            <a:off x="5669280" y="3822192"/>
            <a:ext cx="2560320"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Where human and agent see the same object.</a:t>
            </a:r>
          </a:p>
        </p:txBody>
      </p:sp>
      <p:sp>
        <p:nvSpPr>
          <p:cNvPr id="24" name="Rounded Rectangle 23"/>
          <p:cNvSpPr/>
          <p:nvPr/>
        </p:nvSpPr>
        <p:spPr>
          <a:xfrm>
            <a:off x="8659368" y="3273552"/>
            <a:ext cx="2852928" cy="11155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59368" y="3273552"/>
            <a:ext cx="73152" cy="111556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3364992"/>
            <a:ext cx="2578608"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Aptos Display"/>
              </a:rPr>
              <a:t>Compounding</a:t>
            </a:r>
          </a:p>
        </p:txBody>
      </p:sp>
      <p:sp>
        <p:nvSpPr>
          <p:cNvPr id="27" name="TextBox 26"/>
          <p:cNvSpPr txBox="1"/>
          <p:nvPr/>
        </p:nvSpPr>
        <p:spPr>
          <a:xfrm>
            <a:off x="8823960" y="3822192"/>
            <a:ext cx="2560320"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5B6B7C"/>
                </a:solidFill>
                <a:latin typeface="Aptos"/>
              </a:rPr>
              <a:t>How approved work becomes future memory.</a:t>
            </a:r>
          </a:p>
        </p:txBody>
      </p:sp>
      <p:sp>
        <p:nvSpPr>
          <p:cNvPr id="28" name="Rectangle 27"/>
          <p:cNvSpPr/>
          <p:nvPr/>
        </p:nvSpPr>
        <p:spPr>
          <a:xfrm>
            <a:off x="8540496" y="1865376"/>
            <a:ext cx="54864" cy="301752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41848" y="3118104"/>
            <a:ext cx="5943600" cy="54864"/>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If one block is missing, the agent cannot reliably finish real work.</a:t>
            </a:r>
          </a:p>
        </p:txBody>
      </p:sp>
      <p:sp>
        <p:nvSpPr>
          <p:cNvPr id="32" name="TextBox 31"/>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Reference architecture is a loop</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product should be designed as an operating cycle.</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agent reads context, plans work, invokes tools, edits the shared surface, then writes approved outcomes back to memory. That loop is the core system, regardless of the specific domain.</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The agent host is not the whole product.</a:t>
            </a:r>
          </a:p>
          <a:p>
            <a:pPr algn="l">
              <a:lnSpc>
                <a:spcPct val="100000"/>
              </a:lnSpc>
              <a:spcBef>
                <a:spcPts val="600"/>
              </a:spcBef>
            </a:pPr>
            <a:r>
              <a:rPr sz="1340" b="0" i="0">
                <a:solidFill>
                  <a:srgbClr val="1B2B3C"/>
                </a:solidFill>
                <a:latin typeface="Aptos"/>
              </a:rPr>
              <a:t>•  The tool layer should be explicit and testable.</a:t>
            </a:r>
          </a:p>
          <a:p>
            <a:pPr algn="l">
              <a:lnSpc>
                <a:spcPct val="100000"/>
              </a:lnSpc>
              <a:spcBef>
                <a:spcPts val="600"/>
              </a:spcBef>
            </a:pPr>
            <a:r>
              <a:rPr sz="1340" b="0" i="0">
                <a:solidFill>
                  <a:srgbClr val="1B2B3C"/>
                </a:solidFill>
                <a:latin typeface="Aptos"/>
              </a:rPr>
              <a:t>•  The shared surface makes progress inspectable.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88736" y="1819656"/>
            <a:ext cx="539496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88736" y="1819656"/>
            <a:ext cx="73152" cy="5029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1911096"/>
            <a:ext cx="513892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1. Context sources</a:t>
            </a:r>
          </a:p>
        </p:txBody>
      </p:sp>
      <p:sp>
        <p:nvSpPr>
          <p:cNvPr id="15" name="Right Arrow 14"/>
          <p:cNvSpPr/>
          <p:nvPr/>
        </p:nvSpPr>
        <p:spPr>
          <a:xfrm rot="5400000">
            <a:off x="8293608" y="2350008"/>
            <a:ext cx="292608"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88736" y="2532888"/>
            <a:ext cx="539496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88736" y="2532888"/>
            <a:ext cx="73152" cy="5029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2624328"/>
            <a:ext cx="513892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2. Agent host</a:t>
            </a:r>
          </a:p>
        </p:txBody>
      </p:sp>
      <p:sp>
        <p:nvSpPr>
          <p:cNvPr id="19" name="Right Arrow 18"/>
          <p:cNvSpPr/>
          <p:nvPr/>
        </p:nvSpPr>
        <p:spPr>
          <a:xfrm rot="5400000">
            <a:off x="8293608" y="3063240"/>
            <a:ext cx="292608"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888736" y="3246120"/>
            <a:ext cx="539496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88736" y="3246120"/>
            <a:ext cx="73152" cy="50292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3337560"/>
            <a:ext cx="513892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3. Tool layer</a:t>
            </a:r>
          </a:p>
        </p:txBody>
      </p:sp>
      <p:sp>
        <p:nvSpPr>
          <p:cNvPr id="23" name="Right Arrow 22"/>
          <p:cNvSpPr/>
          <p:nvPr/>
        </p:nvSpPr>
        <p:spPr>
          <a:xfrm rot="5400000">
            <a:off x="8293608" y="3776472"/>
            <a:ext cx="292608"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88736" y="3959352"/>
            <a:ext cx="539496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88736" y="3959352"/>
            <a:ext cx="73152" cy="50292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4050792"/>
            <a:ext cx="513892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4. Shared surface</a:t>
            </a:r>
          </a:p>
        </p:txBody>
      </p:sp>
      <p:sp>
        <p:nvSpPr>
          <p:cNvPr id="27" name="Right Arrow 26"/>
          <p:cNvSpPr/>
          <p:nvPr/>
        </p:nvSpPr>
        <p:spPr>
          <a:xfrm rot="5400000">
            <a:off x="8293608" y="4489704"/>
            <a:ext cx="292608"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88736" y="4672584"/>
            <a:ext cx="539496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88736" y="4672584"/>
            <a:ext cx="73152" cy="5029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4764024"/>
            <a:ext cx="513892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5. Write-back</a:t>
            </a:r>
          </a:p>
        </p:txBody>
      </p:sp>
      <p:sp>
        <p:nvSpPr>
          <p:cNvPr id="31" name="Rectangle 30"/>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Design the loop first; feature lists come after.</a:t>
            </a:r>
          </a:p>
        </p:txBody>
      </p:sp>
      <p:sp>
        <p:nvSpPr>
          <p:cNvPr id="33" name="TextBox 32"/>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Context is the first product layer</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Files and project truth are not optional.</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biggest advantage of bring-your-own-agent software is that the agent can start with the user's actual project materials: local markdown, code, screenshots, brand rules, customer notes, and prior decisions.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Use predictable folders and filenames.</a:t>
            </a:r>
          </a:p>
          <a:p>
            <a:pPr algn="l">
              <a:lnSpc>
                <a:spcPct val="100000"/>
              </a:lnSpc>
              <a:spcBef>
                <a:spcPts val="600"/>
              </a:spcBef>
            </a:pPr>
            <a:r>
              <a:rPr sz="1340" b="0" i="0">
                <a:solidFill>
                  <a:srgbClr val="1B2B3C"/>
                </a:solidFill>
                <a:latin typeface="Aptos"/>
              </a:rPr>
              <a:t>•  Keep durable project context in markdown or structured data.</a:t>
            </a:r>
          </a:p>
          <a:p>
            <a:pPr algn="l">
              <a:lnSpc>
                <a:spcPct val="100000"/>
              </a:lnSpc>
              <a:spcBef>
                <a:spcPts val="600"/>
              </a:spcBef>
            </a:pPr>
            <a:r>
              <a:rPr sz="1340" b="0" i="0">
                <a:solidFill>
                  <a:srgbClr val="1B2B3C"/>
                </a:solidFill>
                <a:latin typeface="Aptos"/>
              </a:rPr>
              <a:t>•  Write decisions back after approval.</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9048" y="2002536"/>
            <a:ext cx="51663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9048" y="2002536"/>
            <a:ext cx="73152" cy="6583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2093976"/>
            <a:ext cx="49103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Project files</a:t>
            </a:r>
          </a:p>
        </p:txBody>
      </p:sp>
      <p:sp>
        <p:nvSpPr>
          <p:cNvPr id="15" name="Rounded Rectangle 14"/>
          <p:cNvSpPr/>
          <p:nvPr/>
        </p:nvSpPr>
        <p:spPr>
          <a:xfrm>
            <a:off x="6355080" y="2660903"/>
            <a:ext cx="51663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2660903"/>
            <a:ext cx="73152" cy="6583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1384" y="2752343"/>
            <a:ext cx="49103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Strategy docs</a:t>
            </a:r>
          </a:p>
        </p:txBody>
      </p:sp>
      <p:sp>
        <p:nvSpPr>
          <p:cNvPr id="18" name="Rounded Rectangle 17"/>
          <p:cNvSpPr/>
          <p:nvPr/>
        </p:nvSpPr>
        <p:spPr>
          <a:xfrm>
            <a:off x="6611112" y="3319272"/>
            <a:ext cx="51663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11112" y="3319272"/>
            <a:ext cx="73152" cy="65836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57416" y="3410712"/>
            <a:ext cx="49103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Reference assets</a:t>
            </a:r>
          </a:p>
        </p:txBody>
      </p:sp>
      <p:sp>
        <p:nvSpPr>
          <p:cNvPr id="21" name="Rounded Rectangle 20"/>
          <p:cNvSpPr/>
          <p:nvPr/>
        </p:nvSpPr>
        <p:spPr>
          <a:xfrm>
            <a:off x="6867144" y="3977640"/>
            <a:ext cx="5166360" cy="6583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67144" y="3977640"/>
            <a:ext cx="73152" cy="65836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4069080"/>
            <a:ext cx="4910328" cy="51206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Local memory</a:t>
            </a:r>
          </a:p>
        </p:txBody>
      </p:sp>
      <p:sp>
        <p:nvSpPr>
          <p:cNvPr id="24" name="TextBox 23"/>
          <p:cNvSpPr txBox="1"/>
          <p:nvPr/>
        </p:nvSpPr>
        <p:spPr>
          <a:xfrm>
            <a:off x="6373368" y="4928616"/>
            <a:ext cx="4663440" cy="310896"/>
          </a:xfrm>
          <a:prstGeom prst="rect">
            <a:avLst/>
          </a:prstGeom>
          <a:noFill/>
        </p:spPr>
        <p:txBody>
          <a:bodyPr wrap="square" anchor="ctr" lIns="0" rIns="0" tIns="0" bIns="0">
            <a:normAutofit/>
          </a:bodyPr>
          <a:lstStyle/>
          <a:p>
            <a:pPr algn="ctr">
              <a:lnSpc>
                <a:spcPct val="105000"/>
              </a:lnSpc>
              <a:spcBef>
                <a:spcPts val="0"/>
              </a:spcBef>
            </a:pPr>
            <a:r>
              <a:rPr sz="1460" b="1" i="0">
                <a:solidFill>
                  <a:srgbClr val="0A1628"/>
                </a:solidFill>
                <a:latin typeface="Aptos"/>
              </a:rPr>
              <a:t>Context is the product's operating memory</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Context turns the app from a blank surface into a project-aware workspace.</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Tools convert intent into work</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MCP, CLI, API, and browser actions are the execution layer.</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Tool access is where agent-native products become useful. The agent needs small, composable primitives that map to real app operations, with safe permissions and clear results.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Expose read and write capabilities intentionally.</a:t>
            </a:r>
          </a:p>
          <a:p>
            <a:pPr algn="l">
              <a:lnSpc>
                <a:spcPct val="100000"/>
              </a:lnSpc>
              <a:spcBef>
                <a:spcPts val="600"/>
              </a:spcBef>
            </a:pPr>
            <a:r>
              <a:rPr sz="1340" b="0" i="0">
                <a:solidFill>
                  <a:srgbClr val="1B2B3C"/>
                </a:solidFill>
                <a:latin typeface="Aptos"/>
              </a:rPr>
              <a:t>•  Prefer complete CRUD for important entities.</a:t>
            </a:r>
          </a:p>
          <a:p>
            <a:pPr algn="l">
              <a:lnSpc>
                <a:spcPct val="100000"/>
              </a:lnSpc>
              <a:spcBef>
                <a:spcPts val="600"/>
              </a:spcBef>
            </a:pPr>
            <a:r>
              <a:rPr sz="1340" b="0" i="0">
                <a:solidFill>
                  <a:srgbClr val="1B2B3C"/>
                </a:solidFill>
                <a:latin typeface="Aptos"/>
              </a:rPr>
              <a:t>•  Use confirmation for risky operations.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62672" y="3099816"/>
            <a:ext cx="1920240" cy="78638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62672" y="3099816"/>
            <a:ext cx="73152" cy="78638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08976" y="3191256"/>
            <a:ext cx="1664208" cy="64008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a:t>
            </a:r>
          </a:p>
        </p:txBody>
      </p:sp>
      <p:sp>
        <p:nvSpPr>
          <p:cNvPr id="15" name="Rounded Rectangle 14"/>
          <p:cNvSpPr/>
          <p:nvPr/>
        </p:nvSpPr>
        <p:spPr>
          <a:xfrm>
            <a:off x="5687568" y="2002536"/>
            <a:ext cx="1572768"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87568" y="2002536"/>
            <a:ext cx="73152"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93976"/>
            <a:ext cx="131673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MCP</a:t>
            </a:r>
          </a:p>
        </p:txBody>
      </p:sp>
      <p:sp>
        <p:nvSpPr>
          <p:cNvPr id="18" name="Rounded Rectangle 17"/>
          <p:cNvSpPr/>
          <p:nvPr/>
        </p:nvSpPr>
        <p:spPr>
          <a:xfrm>
            <a:off x="10030968" y="2002536"/>
            <a:ext cx="1572768"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030968" y="2002536"/>
            <a:ext cx="73152" cy="74980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77272" y="2093976"/>
            <a:ext cx="131673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CLI</a:t>
            </a:r>
          </a:p>
        </p:txBody>
      </p:sp>
      <p:sp>
        <p:nvSpPr>
          <p:cNvPr id="21" name="Rounded Rectangle 20"/>
          <p:cNvSpPr/>
          <p:nvPr/>
        </p:nvSpPr>
        <p:spPr>
          <a:xfrm>
            <a:off x="5687568" y="4425696"/>
            <a:ext cx="1572768"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87568" y="4425696"/>
            <a:ext cx="73152" cy="74980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33872" y="4517136"/>
            <a:ext cx="131673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API</a:t>
            </a:r>
          </a:p>
        </p:txBody>
      </p:sp>
      <p:sp>
        <p:nvSpPr>
          <p:cNvPr id="24" name="Rounded Rectangle 23"/>
          <p:cNvSpPr/>
          <p:nvPr/>
        </p:nvSpPr>
        <p:spPr>
          <a:xfrm>
            <a:off x="10030968" y="4425696"/>
            <a:ext cx="1572768"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030968" y="4425696"/>
            <a:ext cx="73152" cy="74980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77272" y="4517136"/>
            <a:ext cx="1316736"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Browser</a:t>
            </a:r>
          </a:p>
        </p:txBody>
      </p:sp>
      <p:sp>
        <p:nvSpPr>
          <p:cNvPr id="27" name="Right Arrow 26"/>
          <p:cNvSpPr/>
          <p:nvPr/>
        </p:nvSpPr>
        <p:spPr>
          <a:xfrm>
            <a:off x="7260336" y="2249424"/>
            <a:ext cx="640080" cy="201168"/>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rot="10800000">
            <a:off x="9573768" y="2249424"/>
            <a:ext cx="640080" cy="201168"/>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7260336" y="4672584"/>
            <a:ext cx="640080" cy="201168"/>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rot="10800000">
            <a:off x="9573768" y="4672584"/>
            <a:ext cx="640080" cy="201168"/>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Do not hide the app behind one workflow-shaped tool; expose useful primitives.</a:t>
            </a:r>
          </a:p>
        </p:txBody>
      </p:sp>
      <p:sp>
        <p:nvSpPr>
          <p:cNvPr id="33" name="TextBox 32"/>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The surface must be shared</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Human and agent need to see the same object.</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 shared surface can be a design canvas, Notion page, spreadsheet, dashboard, board, or operational console. What matters is that both human and agent work on the same visible state.</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Visual state makes mistakes easy to catch.</a:t>
            </a:r>
          </a:p>
          <a:p>
            <a:pPr algn="l">
              <a:lnSpc>
                <a:spcPct val="100000"/>
              </a:lnSpc>
              <a:spcBef>
                <a:spcPts val="600"/>
              </a:spcBef>
            </a:pPr>
            <a:r>
              <a:rPr sz="1340" b="0" i="0">
                <a:solidFill>
                  <a:srgbClr val="1B2B3C"/>
                </a:solidFill>
                <a:latin typeface="Aptos"/>
              </a:rPr>
              <a:t>•  The user can intervene without resetting the workflow.</a:t>
            </a:r>
          </a:p>
          <a:p>
            <a:pPr algn="l">
              <a:lnSpc>
                <a:spcPct val="100000"/>
              </a:lnSpc>
              <a:spcBef>
                <a:spcPts val="600"/>
              </a:spcBef>
            </a:pPr>
            <a:r>
              <a:rPr sz="1340" b="0" i="0">
                <a:solidFill>
                  <a:srgbClr val="1B2B3C"/>
                </a:solidFill>
                <a:latin typeface="Aptos"/>
              </a:rPr>
              <a:t>•  The agent can use the surface as feedback.</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22008" y="2185416"/>
            <a:ext cx="3474720" cy="2331720"/>
          </a:xfrm>
          <a:prstGeom prst="roundRect">
            <a:avLst>
              <a:gd name="adj" fmla="val 12000"/>
            </a:avLst>
          </a:prstGeom>
          <a:solidFill>
            <a:srgbClr val="F4F7F8"/>
          </a:solidFill>
          <a:ln w="12700">
            <a:solidFill>
              <a:srgbClr val="00C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3488" y="2395728"/>
            <a:ext cx="2651760" cy="274320"/>
          </a:xfrm>
          <a:prstGeom prst="rect">
            <a:avLst/>
          </a:prstGeom>
          <a:noFill/>
        </p:spPr>
        <p:txBody>
          <a:bodyPr wrap="square" anchor="ctr" lIns="0" rIns="0" tIns="0" bIns="0">
            <a:normAutofit/>
          </a:bodyPr>
          <a:lstStyle/>
          <a:p>
            <a:pPr algn="ctr">
              <a:lnSpc>
                <a:spcPct val="105000"/>
              </a:lnSpc>
              <a:spcBef>
                <a:spcPts val="0"/>
              </a:spcBef>
            </a:pPr>
            <a:r>
              <a:rPr sz="1420" b="1" i="0">
                <a:solidFill>
                  <a:srgbClr val="0A1628"/>
                </a:solidFill>
                <a:latin typeface="Aptos"/>
              </a:rPr>
              <a:t>Shared work surface</a:t>
            </a:r>
          </a:p>
        </p:txBody>
      </p:sp>
      <p:sp>
        <p:nvSpPr>
          <p:cNvPr id="14" name="Rounded Rectangle 13"/>
          <p:cNvSpPr/>
          <p:nvPr/>
        </p:nvSpPr>
        <p:spPr>
          <a:xfrm>
            <a:off x="7351776" y="2852928"/>
            <a:ext cx="2560320" cy="512064"/>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51776" y="2852928"/>
            <a:ext cx="7315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944368"/>
            <a:ext cx="2304288" cy="365760"/>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Canvas / doc / sheet</a:t>
            </a:r>
          </a:p>
        </p:txBody>
      </p:sp>
      <p:sp>
        <p:nvSpPr>
          <p:cNvPr id="17" name="Rounded Rectangle 16"/>
          <p:cNvSpPr/>
          <p:nvPr/>
        </p:nvSpPr>
        <p:spPr>
          <a:xfrm>
            <a:off x="5733288" y="2916936"/>
            <a:ext cx="960120"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33288" y="2916936"/>
            <a:ext cx="73152" cy="74980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9592" y="3008376"/>
            <a:ext cx="704088"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Human</a:t>
            </a:r>
          </a:p>
        </p:txBody>
      </p:sp>
      <p:sp>
        <p:nvSpPr>
          <p:cNvPr id="20" name="Rounded Rectangle 19"/>
          <p:cNvSpPr/>
          <p:nvPr/>
        </p:nvSpPr>
        <p:spPr>
          <a:xfrm>
            <a:off x="10643616" y="2916936"/>
            <a:ext cx="960120" cy="74980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643616" y="2916936"/>
            <a:ext cx="73152" cy="7498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0" y="3008376"/>
            <a:ext cx="704088" cy="60350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a:t>
            </a:r>
          </a:p>
        </p:txBody>
      </p:sp>
      <p:sp>
        <p:nvSpPr>
          <p:cNvPr id="23" name="Right Arrow 22"/>
          <p:cNvSpPr/>
          <p:nvPr/>
        </p:nvSpPr>
        <p:spPr>
          <a:xfrm>
            <a:off x="6675120" y="3145536"/>
            <a:ext cx="438912" cy="201168"/>
          </a:xfrm>
          <a:prstGeom prst="rightArrow">
            <a:avLst/>
          </a:prstGeom>
          <a:solidFill>
            <a:srgbClr val="E05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rot="10800000">
            <a:off x="10149840" y="3145536"/>
            <a:ext cx="438912" cy="201168"/>
          </a:xfrm>
          <a:prstGeom prst="rightArrow">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4864608"/>
            <a:ext cx="4572000" cy="402336"/>
          </a:xfrm>
          <a:prstGeom prst="rect">
            <a:avLst/>
          </a:prstGeom>
          <a:noFill/>
        </p:spPr>
        <p:txBody>
          <a:bodyPr wrap="square" anchor="ctr" lIns="0" rIns="0" tIns="0" bIns="0">
            <a:normAutofit/>
          </a:bodyPr>
          <a:lstStyle/>
          <a:p>
            <a:pPr algn="ctr">
              <a:lnSpc>
                <a:spcPct val="105000"/>
              </a:lnSpc>
              <a:spcBef>
                <a:spcPts val="0"/>
              </a:spcBef>
            </a:pPr>
            <a:r>
              <a:rPr sz="1360" b="1" i="0">
                <a:solidFill>
                  <a:srgbClr val="009B82"/>
                </a:solidFill>
                <a:latin typeface="Aptos"/>
              </a:rPr>
              <a:t>Visible state makes correction cheap</a:t>
            </a:r>
          </a:p>
        </p:txBody>
      </p:sp>
      <p:sp>
        <p:nvSpPr>
          <p:cNvPr id="26" name="Rectangle 25"/>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Visible collaboration is the trust mechanism.</a:t>
            </a:r>
          </a:p>
        </p:txBody>
      </p:sp>
      <p:sp>
        <p:nvSpPr>
          <p:cNvPr id="28" name="TextBox 27"/>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Memory makes quality compound</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Approved work should improve the next run.</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Agent-native software gets stronger when completed work becomes reusable context: brand choices, page structures, prompt corrections, customer rules, and workflow decisions should feed the next task.</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Capture decisions, not every token.</a:t>
            </a:r>
          </a:p>
          <a:p>
            <a:pPr algn="l">
              <a:lnSpc>
                <a:spcPct val="100000"/>
              </a:lnSpc>
              <a:spcBef>
                <a:spcPts val="600"/>
              </a:spcBef>
            </a:pPr>
            <a:r>
              <a:rPr sz="1340" b="0" i="0">
                <a:solidFill>
                  <a:srgbClr val="1B2B3C"/>
                </a:solidFill>
                <a:latin typeface="Aptos"/>
              </a:rPr>
              <a:t>•  Separate durable memory from raw logs.</a:t>
            </a:r>
          </a:p>
          <a:p>
            <a:pPr algn="l">
              <a:lnSpc>
                <a:spcPct val="100000"/>
              </a:lnSpc>
              <a:spcBef>
                <a:spcPts val="600"/>
              </a:spcBef>
            </a:pPr>
            <a:r>
              <a:rPr sz="1340" b="0" i="0">
                <a:solidFill>
                  <a:srgbClr val="1B2B3C"/>
                </a:solidFill>
                <a:latin typeface="Aptos"/>
              </a:rPr>
              <a:t>•  Make write-back explicit and reviewable.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96128" y="3008376"/>
            <a:ext cx="1170432"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96128" y="3008376"/>
            <a:ext cx="73152" cy="8229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42432" y="3099816"/>
            <a:ext cx="914400"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Prompt</a:t>
            </a:r>
          </a:p>
        </p:txBody>
      </p:sp>
      <p:sp>
        <p:nvSpPr>
          <p:cNvPr id="15" name="Right Arrow 14"/>
          <p:cNvSpPr/>
          <p:nvPr/>
        </p:nvSpPr>
        <p:spPr>
          <a:xfrm>
            <a:off x="6775704" y="3291840"/>
            <a:ext cx="347472"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04888" y="3008376"/>
            <a:ext cx="1170432"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04888" y="3008376"/>
            <a:ext cx="73152" cy="82296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51192" y="3099816"/>
            <a:ext cx="914400"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Work</a:t>
            </a:r>
          </a:p>
        </p:txBody>
      </p:sp>
      <p:sp>
        <p:nvSpPr>
          <p:cNvPr id="19" name="Right Arrow 18"/>
          <p:cNvSpPr/>
          <p:nvPr/>
        </p:nvSpPr>
        <p:spPr>
          <a:xfrm>
            <a:off x="8284464" y="3291840"/>
            <a:ext cx="347472"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13648" y="3008376"/>
            <a:ext cx="1170432"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13648" y="3008376"/>
            <a:ext cx="73152" cy="82296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59952" y="3099816"/>
            <a:ext cx="914400"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Review</a:t>
            </a:r>
          </a:p>
        </p:txBody>
      </p:sp>
      <p:sp>
        <p:nvSpPr>
          <p:cNvPr id="23" name="Right Arrow 22"/>
          <p:cNvSpPr/>
          <p:nvPr/>
        </p:nvSpPr>
        <p:spPr>
          <a:xfrm>
            <a:off x="9793224" y="3291840"/>
            <a:ext cx="347472"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22407" y="3008376"/>
            <a:ext cx="1170432"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22407" y="3008376"/>
            <a:ext cx="73152" cy="82296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68711" y="3099816"/>
            <a:ext cx="914400"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Write-back</a:t>
            </a:r>
          </a:p>
        </p:txBody>
      </p:sp>
      <p:sp>
        <p:nvSpPr>
          <p:cNvPr id="27" name="Right Arrow 26"/>
          <p:cNvSpPr/>
          <p:nvPr/>
        </p:nvSpPr>
        <p:spPr>
          <a:xfrm rot="5400000">
            <a:off x="10607040" y="3895344"/>
            <a:ext cx="411480" cy="182880"/>
          </a:xfrm>
          <a:prstGeom prst="rightArrow">
            <a:avLst/>
          </a:prstGeom>
          <a:solidFill>
            <a:srgbClr val="E05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rot="10800000">
            <a:off x="6217920" y="4370832"/>
            <a:ext cx="4462272"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0488" y="4718304"/>
            <a:ext cx="4937760" cy="402336"/>
          </a:xfrm>
          <a:prstGeom prst="rect">
            <a:avLst/>
          </a:prstGeom>
          <a:noFill/>
        </p:spPr>
        <p:txBody>
          <a:bodyPr wrap="square" anchor="ctr" lIns="0" rIns="0" tIns="0" bIns="0">
            <a:normAutofit/>
          </a:bodyPr>
          <a:lstStyle/>
          <a:p>
            <a:pPr algn="ctr">
              <a:lnSpc>
                <a:spcPct val="105000"/>
              </a:lnSpc>
              <a:spcBef>
                <a:spcPts val="0"/>
              </a:spcBef>
            </a:pPr>
            <a:r>
              <a:rPr sz="1360" b="1" i="0">
                <a:solidFill>
                  <a:srgbClr val="0A1628"/>
                </a:solidFill>
                <a:latin typeface="Aptos"/>
              </a:rPr>
              <a:t>Approved work becomes reusable context</a:t>
            </a:r>
          </a:p>
        </p:txBody>
      </p:sp>
      <p:sp>
        <p:nvSpPr>
          <p:cNvPr id="30" name="Rectangle 29"/>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product gets better when the project remembers what worked.</a:t>
            </a:r>
          </a:p>
        </p:txBody>
      </p:sp>
      <p:sp>
        <p:nvSpPr>
          <p:cNvPr id="32" name="TextBox 31"/>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Trust needs visible approval gates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MCP spec's human-in-loop guidance is product design advice.</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External tool use should be legible: users need to know which tools are exposed, when tools are invoked, and when a sensitive action requires confirmation. That is not bureaucracy; it is the interface for trust.</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Show available tools and permissions.</a:t>
            </a:r>
          </a:p>
          <a:p>
            <a:pPr algn="l">
              <a:lnSpc>
                <a:spcPct val="100000"/>
              </a:lnSpc>
              <a:spcBef>
                <a:spcPts val="600"/>
              </a:spcBef>
            </a:pPr>
            <a:r>
              <a:rPr sz="1340" b="0" i="0">
                <a:solidFill>
                  <a:srgbClr val="1B2B3C"/>
                </a:solidFill>
                <a:latin typeface="Aptos"/>
              </a:rPr>
              <a:t>•  Make tool invocation visible in the UI.</a:t>
            </a:r>
          </a:p>
          <a:p>
            <a:pPr algn="l">
              <a:lnSpc>
                <a:spcPct val="100000"/>
              </a:lnSpc>
              <a:spcBef>
                <a:spcPts val="600"/>
              </a:spcBef>
            </a:pPr>
            <a:r>
              <a:rPr sz="1340" b="0" i="0">
                <a:solidFill>
                  <a:srgbClr val="1B2B3C"/>
                </a:solidFill>
                <a:latin typeface="Aptos"/>
              </a:rPr>
              <a:t>•  Require confirmation for irreversible actions.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87568" y="2734056"/>
            <a:ext cx="1133856" cy="89611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87568" y="2734056"/>
            <a:ext cx="73152" cy="89611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2825496"/>
            <a:ext cx="877824" cy="74980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Expose</a:t>
            </a:r>
          </a:p>
        </p:txBody>
      </p:sp>
      <p:sp>
        <p:nvSpPr>
          <p:cNvPr id="15" name="Oval 14"/>
          <p:cNvSpPr/>
          <p:nvPr/>
        </p:nvSpPr>
        <p:spPr>
          <a:xfrm>
            <a:off x="6089904" y="2249424"/>
            <a:ext cx="310896" cy="310896"/>
          </a:xfrm>
          <a:prstGeom prst="ellipse">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1</a:t>
            </a:r>
          </a:p>
        </p:txBody>
      </p:sp>
      <p:sp>
        <p:nvSpPr>
          <p:cNvPr id="16" name="Right Arrow 15"/>
          <p:cNvSpPr/>
          <p:nvPr/>
        </p:nvSpPr>
        <p:spPr>
          <a:xfrm>
            <a:off x="6830568" y="3054096"/>
            <a:ext cx="329184"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68896" y="2734056"/>
            <a:ext cx="1133856" cy="89611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68896" y="2734056"/>
            <a:ext cx="73152" cy="89611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2825496"/>
            <a:ext cx="877824" cy="74980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Invoke</a:t>
            </a:r>
          </a:p>
        </p:txBody>
      </p:sp>
      <p:sp>
        <p:nvSpPr>
          <p:cNvPr id="20" name="Oval 19"/>
          <p:cNvSpPr/>
          <p:nvPr/>
        </p:nvSpPr>
        <p:spPr>
          <a:xfrm>
            <a:off x="7571232" y="2249424"/>
            <a:ext cx="310896" cy="310896"/>
          </a:xfrm>
          <a:prstGeom prst="ellipse">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2</a:t>
            </a:r>
          </a:p>
        </p:txBody>
      </p:sp>
      <p:sp>
        <p:nvSpPr>
          <p:cNvPr id="21" name="Right Arrow 20"/>
          <p:cNvSpPr/>
          <p:nvPr/>
        </p:nvSpPr>
        <p:spPr>
          <a:xfrm>
            <a:off x="8311896" y="3054096"/>
            <a:ext cx="329184"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50224" y="2734056"/>
            <a:ext cx="1133856" cy="89611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50224" y="2734056"/>
            <a:ext cx="73152" cy="89611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96528" y="2825496"/>
            <a:ext cx="877824" cy="74980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Confirm</a:t>
            </a:r>
          </a:p>
        </p:txBody>
      </p:sp>
      <p:sp>
        <p:nvSpPr>
          <p:cNvPr id="25" name="Oval 24"/>
          <p:cNvSpPr/>
          <p:nvPr/>
        </p:nvSpPr>
        <p:spPr>
          <a:xfrm>
            <a:off x="9052560" y="2249424"/>
            <a:ext cx="310896" cy="310896"/>
          </a:xfrm>
          <a:prstGeom prst="ellipse">
            <a:avLst/>
          </a:prstGeom>
          <a:solidFill>
            <a:srgbClr val="E05A6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3</a:t>
            </a:r>
          </a:p>
        </p:txBody>
      </p:sp>
      <p:sp>
        <p:nvSpPr>
          <p:cNvPr id="26" name="Right Arrow 25"/>
          <p:cNvSpPr/>
          <p:nvPr/>
        </p:nvSpPr>
        <p:spPr>
          <a:xfrm>
            <a:off x="9793224" y="3054096"/>
            <a:ext cx="329184"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31552" y="2734056"/>
            <a:ext cx="1133856" cy="89611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131552" y="2734056"/>
            <a:ext cx="73152" cy="89611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77856" y="2825496"/>
            <a:ext cx="877824" cy="74980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Apply</a:t>
            </a:r>
          </a:p>
        </p:txBody>
      </p:sp>
      <p:sp>
        <p:nvSpPr>
          <p:cNvPr id="30" name="Oval 29"/>
          <p:cNvSpPr/>
          <p:nvPr/>
        </p:nvSpPr>
        <p:spPr>
          <a:xfrm>
            <a:off x="10533888" y="2249424"/>
            <a:ext cx="310896" cy="310896"/>
          </a:xfrm>
          <a:prstGeom prst="ellipse">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100" b="1">
                <a:solidFill>
                  <a:srgbClr val="FFFFFF"/>
                </a:solidFill>
                <a:latin typeface="Aptos"/>
              </a:rPr>
              <a:t>4</a:t>
            </a:r>
          </a:p>
        </p:txBody>
      </p:sp>
      <p:sp>
        <p:nvSpPr>
          <p:cNvPr id="31" name="TextBox 30"/>
          <p:cNvSpPr txBox="1"/>
          <p:nvPr/>
        </p:nvSpPr>
        <p:spPr>
          <a:xfrm>
            <a:off x="6099048" y="4590288"/>
            <a:ext cx="5303520" cy="402336"/>
          </a:xfrm>
          <a:prstGeom prst="rect">
            <a:avLst/>
          </a:prstGeom>
          <a:noFill/>
        </p:spPr>
        <p:txBody>
          <a:bodyPr wrap="square" anchor="ctr" lIns="0" rIns="0" tIns="0" bIns="0">
            <a:normAutofit/>
          </a:bodyPr>
          <a:lstStyle/>
          <a:p>
            <a:pPr algn="ctr">
              <a:lnSpc>
                <a:spcPct val="105000"/>
              </a:lnSpc>
              <a:spcBef>
                <a:spcPts val="0"/>
              </a:spcBef>
            </a:pPr>
            <a:r>
              <a:rPr sz="1370" b="1" i="0">
                <a:solidFill>
                  <a:srgbClr val="0A1628"/>
                </a:solidFill>
                <a:latin typeface="Aptos"/>
              </a:rPr>
              <a:t>Trust is designed into the interface</a:t>
            </a:r>
          </a:p>
        </p:txBody>
      </p:sp>
      <p:sp>
        <p:nvSpPr>
          <p:cNvPr id="32" name="Rectangle 31"/>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Trust is built through observable actions and reversible loops.</a:t>
            </a:r>
          </a:p>
        </p:txBody>
      </p:sp>
      <p:sp>
        <p:nvSpPr>
          <p:cNvPr id="34" name="TextBox 33"/>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5" name="TextBox 3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969264"/>
            <a:ext cx="2743200" cy="320040"/>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Aptos Display"/>
              </a:rPr>
              <a:t>SECTION 03</a:t>
            </a:r>
          </a:p>
        </p:txBody>
      </p:sp>
      <p:sp>
        <p:nvSpPr>
          <p:cNvPr id="5" name="TextBox 4"/>
          <p:cNvSpPr txBox="1"/>
          <p:nvPr/>
        </p:nvSpPr>
        <p:spPr>
          <a:xfrm>
            <a:off x="658368" y="1371600"/>
            <a:ext cx="8961120" cy="1225296"/>
          </a:xfrm>
          <a:prstGeom prst="rect">
            <a:avLst/>
          </a:prstGeom>
          <a:noFill/>
        </p:spPr>
        <p:txBody>
          <a:bodyPr wrap="square" anchor="t" lIns="0" rIns="0" tIns="0" bIns="0">
            <a:normAutofit/>
          </a:bodyPr>
          <a:lstStyle/>
          <a:p>
            <a:pPr algn="l">
              <a:lnSpc>
                <a:spcPct val="105000"/>
              </a:lnSpc>
              <a:spcBef>
                <a:spcPts val="0"/>
              </a:spcBef>
            </a:pPr>
            <a:r>
              <a:rPr sz="3800" b="1" i="0">
                <a:solidFill>
                  <a:srgbClr val="FFFFFF"/>
                </a:solidFill>
                <a:latin typeface="Aptos Display"/>
              </a:rPr>
              <a:t>Where the wedges are</a:t>
            </a:r>
          </a:p>
        </p:txBody>
      </p:sp>
      <p:sp>
        <p:nvSpPr>
          <p:cNvPr id="6" name="Rectangle 5"/>
          <p:cNvSpPr/>
          <p:nvPr/>
        </p:nvSpPr>
        <p:spPr>
          <a:xfrm>
            <a:off x="658368" y="2615184"/>
            <a:ext cx="164592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07792"/>
            <a:ext cx="7406640" cy="585216"/>
          </a:xfrm>
          <a:prstGeom prst="rect">
            <a:avLst/>
          </a:prstGeom>
          <a:noFill/>
        </p:spPr>
        <p:txBody>
          <a:bodyPr wrap="square" anchor="t" lIns="0" rIns="0" tIns="0" bIns="0">
            <a:normAutofit/>
          </a:bodyPr>
          <a:lstStyle/>
          <a:p>
            <a:pPr algn="l">
              <a:lnSpc>
                <a:spcPct val="105000"/>
              </a:lnSpc>
              <a:spcBef>
                <a:spcPts val="0"/>
              </a:spcBef>
            </a:pPr>
            <a:r>
              <a:rPr sz="1900" b="0" i="0">
                <a:solidFill>
                  <a:srgbClr val="E0F7F1"/>
                </a:solidFill>
                <a:latin typeface="Aptos"/>
              </a:rPr>
              <a:t>The strongest opportunities look like familiar tools rebuilt for agents.</a:t>
            </a:r>
          </a:p>
        </p:txBody>
      </p:sp>
      <p:sp>
        <p:nvSpPr>
          <p:cNvPr id="8" name="Rounded Rectangle 7"/>
          <p:cNvSpPr/>
          <p:nvPr/>
        </p:nvSpPr>
        <p:spPr>
          <a:xfrm>
            <a:off x="749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1. Design</a:t>
            </a:r>
          </a:p>
        </p:txBody>
      </p:sp>
      <p:sp>
        <p:nvSpPr>
          <p:cNvPr id="11" name="TextBox 10"/>
          <p:cNvSpPr txBox="1"/>
          <p:nvPr/>
        </p:nvSpPr>
        <p:spPr>
          <a:xfrm>
            <a:off x="914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Canvas work is visual and reviewable.</a:t>
            </a:r>
          </a:p>
        </p:txBody>
      </p:sp>
      <p:sp>
        <p:nvSpPr>
          <p:cNvPr id="12" name="Rounded Rectangle 11"/>
          <p:cNvSpPr/>
          <p:nvPr/>
        </p:nvSpPr>
        <p:spPr>
          <a:xfrm>
            <a:off x="4178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3977639"/>
            <a:ext cx="73152" cy="11155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2. Knowledge</a:t>
            </a:r>
          </a:p>
        </p:txBody>
      </p:sp>
      <p:sp>
        <p:nvSpPr>
          <p:cNvPr id="15" name="TextBox 14"/>
          <p:cNvSpPr txBox="1"/>
          <p:nvPr/>
        </p:nvSpPr>
        <p:spPr>
          <a:xfrm>
            <a:off x="4343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Docs already hold context.</a:t>
            </a:r>
          </a:p>
        </p:txBody>
      </p:sp>
      <p:sp>
        <p:nvSpPr>
          <p:cNvPr id="16" name="Rounded Rectangle 15"/>
          <p:cNvSpPr/>
          <p:nvPr/>
        </p:nvSpPr>
        <p:spPr>
          <a:xfrm>
            <a:off x="7607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3. Operations</a:t>
            </a:r>
          </a:p>
        </p:txBody>
      </p:sp>
      <p:sp>
        <p:nvSpPr>
          <p:cNvPr id="19" name="TextBox 18"/>
          <p:cNvSpPr txBox="1"/>
          <p:nvPr/>
        </p:nvSpPr>
        <p:spPr>
          <a:xfrm>
            <a:off x="7772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Sheets and boards already drive action.</a:t>
            </a:r>
          </a:p>
        </p:txBody>
      </p:sp>
      <p:sp>
        <p:nvSpPr>
          <p:cNvPr id="20" name="TextBox 1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Design tools show the pattern</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MagicPath-style workflows make the agent useful without owning all context.</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In the transcript's example, the agent reads local design and brand context, operates a design canvas in the browser, then can bring the resulting direction back to the codebase. The design tool is the surface, not the only brain.</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The app provides visual canvas state.</a:t>
            </a:r>
          </a:p>
          <a:p>
            <a:pPr algn="l">
              <a:lnSpc>
                <a:spcPct val="100000"/>
              </a:lnSpc>
              <a:spcBef>
                <a:spcPts val="600"/>
              </a:spcBef>
            </a:pPr>
            <a:r>
              <a:rPr sz="1340" b="0" i="0">
                <a:solidFill>
                  <a:srgbClr val="1B2B3C"/>
                </a:solidFill>
                <a:latin typeface="Aptos"/>
              </a:rPr>
              <a:t>•  The agent brings local files and project rules.</a:t>
            </a:r>
          </a:p>
          <a:p>
            <a:pPr algn="l">
              <a:lnSpc>
                <a:spcPct val="100000"/>
              </a:lnSpc>
              <a:spcBef>
                <a:spcPts val="600"/>
              </a:spcBef>
            </a:pPr>
            <a:r>
              <a:rPr sz="1340" b="0" i="0">
                <a:solidFill>
                  <a:srgbClr val="1B2B3C"/>
                </a:solidFill>
                <a:latin typeface="Aptos"/>
              </a:rPr>
              <a:t>•  The human reviews the design while it forms.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14416" y="2916936"/>
            <a:ext cx="1188720"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14416" y="2916936"/>
            <a:ext cx="73152" cy="8412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0" y="3008376"/>
            <a:ext cx="932688"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design.md</a:t>
            </a:r>
          </a:p>
        </p:txBody>
      </p:sp>
      <p:sp>
        <p:nvSpPr>
          <p:cNvPr id="15" name="Right Arrow 14"/>
          <p:cNvSpPr/>
          <p:nvPr/>
        </p:nvSpPr>
        <p:spPr>
          <a:xfrm>
            <a:off x="6812280" y="3200400"/>
            <a:ext cx="310896"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14031" y="2916936"/>
            <a:ext cx="1188720"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14031" y="2916936"/>
            <a:ext cx="73152" cy="8412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0335" y="3008376"/>
            <a:ext cx="932688"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 host</a:t>
            </a:r>
          </a:p>
        </p:txBody>
      </p:sp>
      <p:sp>
        <p:nvSpPr>
          <p:cNvPr id="19" name="Right Arrow 18"/>
          <p:cNvSpPr/>
          <p:nvPr/>
        </p:nvSpPr>
        <p:spPr>
          <a:xfrm>
            <a:off x="8311896" y="3200400"/>
            <a:ext cx="310896"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13648" y="2916936"/>
            <a:ext cx="1188720"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13648" y="2916936"/>
            <a:ext cx="73152" cy="84124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59952" y="3008376"/>
            <a:ext cx="932688"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MagicPath</a:t>
            </a:r>
          </a:p>
        </p:txBody>
      </p:sp>
      <p:sp>
        <p:nvSpPr>
          <p:cNvPr id="23" name="Right Arrow 22"/>
          <p:cNvSpPr/>
          <p:nvPr/>
        </p:nvSpPr>
        <p:spPr>
          <a:xfrm>
            <a:off x="9811512" y="3200400"/>
            <a:ext cx="310896"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13264" y="2916936"/>
            <a:ext cx="1188720"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13264" y="2916936"/>
            <a:ext cx="73152" cy="84124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59568" y="3008376"/>
            <a:ext cx="932688"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Codebase</a:t>
            </a:r>
          </a:p>
        </p:txBody>
      </p:sp>
      <p:sp>
        <p:nvSpPr>
          <p:cNvPr id="27" name="TextBox 26"/>
          <p:cNvSpPr txBox="1"/>
          <p:nvPr/>
        </p:nvSpPr>
        <p:spPr>
          <a:xfrm>
            <a:off x="5980176" y="4535424"/>
            <a:ext cx="5394960" cy="402336"/>
          </a:xfrm>
          <a:prstGeom prst="rect">
            <a:avLst/>
          </a:prstGeom>
          <a:noFill/>
        </p:spPr>
        <p:txBody>
          <a:bodyPr wrap="square" anchor="ctr" lIns="0" rIns="0" tIns="0" bIns="0">
            <a:normAutofit/>
          </a:bodyPr>
          <a:lstStyle/>
          <a:p>
            <a:pPr algn="ctr">
              <a:lnSpc>
                <a:spcPct val="105000"/>
              </a:lnSpc>
              <a:spcBef>
                <a:spcPts val="0"/>
              </a:spcBef>
            </a:pPr>
            <a:r>
              <a:rPr sz="1360" b="1" i="0">
                <a:solidFill>
                  <a:srgbClr val="009B82"/>
                </a:solidFill>
                <a:latin typeface="Aptos"/>
              </a:rPr>
              <a:t>The agent brings the context</a:t>
            </a:r>
          </a:p>
        </p:txBody>
      </p:sp>
      <p:sp>
        <p:nvSpPr>
          <p:cNvPr id="28" name="Rectangle 27"/>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Design is a strong wedge because output is visible, iterative, and context-heavy.</a:t>
            </a:r>
          </a:p>
        </p:txBody>
      </p:sp>
      <p:sp>
        <p:nvSpPr>
          <p:cNvPr id="30" name="TextBox 2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Knowledge tools become live systems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Notion-style workspaces are more than repositories.</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When an agent can read and write a knowledge workspace with permission, documents become operational surfaces. The app can hold plans, customer notes, specs, and task boards while the user's agent coordinates updates.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Notion MCP provides a read/write bridge based on permissions.</a:t>
            </a:r>
          </a:p>
          <a:p>
            <a:pPr algn="l">
              <a:lnSpc>
                <a:spcPct val="100000"/>
              </a:lnSpc>
              <a:spcBef>
                <a:spcPts val="600"/>
              </a:spcBef>
            </a:pPr>
            <a:r>
              <a:rPr sz="1340" b="0" i="0">
                <a:solidFill>
                  <a:srgbClr val="1B2B3C"/>
                </a:solidFill>
                <a:latin typeface="Aptos"/>
              </a:rPr>
              <a:t>•  Pages and databases become agent-operable entities.</a:t>
            </a:r>
          </a:p>
          <a:p>
            <a:pPr algn="l">
              <a:lnSpc>
                <a:spcPct val="100000"/>
              </a:lnSpc>
              <a:spcBef>
                <a:spcPts val="600"/>
              </a:spcBef>
            </a:pPr>
            <a:r>
              <a:rPr sz="1340" b="0" i="0">
                <a:solidFill>
                  <a:srgbClr val="1B2B3C"/>
                </a:solidFill>
                <a:latin typeface="Aptos"/>
              </a:rPr>
              <a:t>•  The human still owns review and workspace structure.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24728" y="2368296"/>
            <a:ext cx="1554480"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24728" y="2368296"/>
            <a:ext cx="73152" cy="8229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71032" y="2459736"/>
            <a:ext cx="1298448"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Project folder</a:t>
            </a:r>
          </a:p>
        </p:txBody>
      </p:sp>
      <p:sp>
        <p:nvSpPr>
          <p:cNvPr id="15" name="Rounded Rectangle 14"/>
          <p:cNvSpPr/>
          <p:nvPr/>
        </p:nvSpPr>
        <p:spPr>
          <a:xfrm>
            <a:off x="7882128" y="2368296"/>
            <a:ext cx="1554480"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82128" y="2368296"/>
            <a:ext cx="73152" cy="82296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2" y="2459736"/>
            <a:ext cx="1298448"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a:t>
            </a:r>
          </a:p>
        </p:txBody>
      </p:sp>
      <p:sp>
        <p:nvSpPr>
          <p:cNvPr id="18" name="Rounded Rectangle 17"/>
          <p:cNvSpPr/>
          <p:nvPr/>
        </p:nvSpPr>
        <p:spPr>
          <a:xfrm>
            <a:off x="9939528" y="2368296"/>
            <a:ext cx="1554480"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939528" y="2368296"/>
            <a:ext cx="73152" cy="82296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85832" y="2459736"/>
            <a:ext cx="1298448"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Notion MCP</a:t>
            </a:r>
          </a:p>
        </p:txBody>
      </p:sp>
      <p:sp>
        <p:nvSpPr>
          <p:cNvPr id="21" name="Right Arrow 20"/>
          <p:cNvSpPr/>
          <p:nvPr/>
        </p:nvSpPr>
        <p:spPr>
          <a:xfrm>
            <a:off x="7388352" y="2651760"/>
            <a:ext cx="457200"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9454896" y="2651760"/>
            <a:ext cx="457200" cy="182880"/>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10528" y="4014216"/>
            <a:ext cx="4389120" cy="713232"/>
          </a:xfrm>
          <a:prstGeom prst="roundRect">
            <a:avLst>
              <a:gd name="adj" fmla="val 12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4114800"/>
            <a:ext cx="4069080" cy="384048"/>
          </a:xfrm>
          <a:prstGeom prst="rect">
            <a:avLst/>
          </a:prstGeom>
          <a:noFill/>
        </p:spPr>
        <p:txBody>
          <a:bodyPr wrap="square" anchor="ctr" lIns="0" rIns="0" tIns="0" bIns="0">
            <a:normAutofit/>
          </a:bodyPr>
          <a:lstStyle/>
          <a:p>
            <a:pPr algn="ctr">
              <a:lnSpc>
                <a:spcPct val="105000"/>
              </a:lnSpc>
              <a:spcBef>
                <a:spcPts val="0"/>
              </a:spcBef>
            </a:pPr>
            <a:r>
              <a:rPr sz="1300" b="1" i="0">
                <a:solidFill>
                  <a:srgbClr val="0A1628"/>
                </a:solidFill>
                <a:latin typeface="Aptos"/>
              </a:rPr>
              <a:t>Docs become agent-operable state</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Knowledge apps are attractive because the context and work surface already coexist.</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Sheets can become control planes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Rows are visible, structured, and easy to verify.</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Spreadsheets are often the operating layer for small businesses. Agent-native sheet tools can let an agent reconcile, explain, classify, forecast, or trigger follow-up while every row remains inspectable.</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Structured rows make state explicit.</a:t>
            </a:r>
          </a:p>
          <a:p>
            <a:pPr algn="l">
              <a:lnSpc>
                <a:spcPct val="100000"/>
              </a:lnSpc>
              <a:spcBef>
                <a:spcPts val="600"/>
              </a:spcBef>
            </a:pPr>
            <a:r>
              <a:rPr sz="1340" b="0" i="0">
                <a:solidFill>
                  <a:srgbClr val="1B2B3C"/>
                </a:solidFill>
                <a:latin typeface="Aptos"/>
              </a:rPr>
              <a:t>•  Humans can review before bulk changes.</a:t>
            </a:r>
          </a:p>
          <a:p>
            <a:pPr algn="l">
              <a:lnSpc>
                <a:spcPct val="100000"/>
              </a:lnSpc>
              <a:spcBef>
                <a:spcPts val="600"/>
              </a:spcBef>
            </a:pPr>
            <a:r>
              <a:rPr sz="1340" b="0" i="0">
                <a:solidFill>
                  <a:srgbClr val="1B2B3C"/>
                </a:solidFill>
                <a:latin typeface="Aptos"/>
              </a:rPr>
              <a:t>•  Actions can be scoped to small reversible batches.</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53328" y="2157984"/>
            <a:ext cx="2743200" cy="384048"/>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212848"/>
            <a:ext cx="2011680" cy="201168"/>
          </a:xfrm>
          <a:prstGeom prst="rect">
            <a:avLst/>
          </a:prstGeom>
          <a:noFill/>
        </p:spPr>
        <p:txBody>
          <a:bodyPr wrap="square" anchor="t" lIns="0" rIns="0" tIns="0" bIns="0">
            <a:normAutofit/>
          </a:bodyPr>
          <a:lstStyle/>
          <a:p>
            <a:pPr algn="l">
              <a:lnSpc>
                <a:spcPct val="105000"/>
              </a:lnSpc>
              <a:spcBef>
                <a:spcPts val="0"/>
              </a:spcBef>
            </a:pPr>
            <a:r>
              <a:rPr sz="940" b="0" i="0">
                <a:solidFill>
                  <a:srgbClr val="1B2B3C"/>
                </a:solidFill>
                <a:latin typeface="Aptos"/>
              </a:rPr>
              <a:t>Lead queue</a:t>
            </a:r>
          </a:p>
        </p:txBody>
      </p:sp>
      <p:sp>
        <p:nvSpPr>
          <p:cNvPr id="14" name="Rectangle 13"/>
          <p:cNvSpPr/>
          <p:nvPr/>
        </p:nvSpPr>
        <p:spPr>
          <a:xfrm>
            <a:off x="6053328" y="2633472"/>
            <a:ext cx="274320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688336"/>
            <a:ext cx="2011680" cy="201168"/>
          </a:xfrm>
          <a:prstGeom prst="rect">
            <a:avLst/>
          </a:prstGeom>
          <a:noFill/>
        </p:spPr>
        <p:txBody>
          <a:bodyPr wrap="square" anchor="t" lIns="0" rIns="0" tIns="0" bIns="0">
            <a:normAutofit/>
          </a:bodyPr>
          <a:lstStyle/>
          <a:p>
            <a:pPr algn="l">
              <a:lnSpc>
                <a:spcPct val="105000"/>
              </a:lnSpc>
              <a:spcBef>
                <a:spcPts val="0"/>
              </a:spcBef>
            </a:pPr>
            <a:r>
              <a:rPr sz="940" b="0" i="0">
                <a:solidFill>
                  <a:srgbClr val="1B2B3C"/>
                </a:solidFill>
                <a:latin typeface="Aptos"/>
              </a:rPr>
              <a:t>Invoice exceptions</a:t>
            </a:r>
          </a:p>
        </p:txBody>
      </p:sp>
      <p:sp>
        <p:nvSpPr>
          <p:cNvPr id="16" name="Rectangle 15"/>
          <p:cNvSpPr/>
          <p:nvPr/>
        </p:nvSpPr>
        <p:spPr>
          <a:xfrm>
            <a:off x="6053328" y="3108960"/>
            <a:ext cx="2743200" cy="384048"/>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3163824"/>
            <a:ext cx="2011680" cy="201168"/>
          </a:xfrm>
          <a:prstGeom prst="rect">
            <a:avLst/>
          </a:prstGeom>
          <a:noFill/>
        </p:spPr>
        <p:txBody>
          <a:bodyPr wrap="square" anchor="t" lIns="0" rIns="0" tIns="0" bIns="0">
            <a:normAutofit/>
          </a:bodyPr>
          <a:lstStyle/>
          <a:p>
            <a:pPr algn="l">
              <a:lnSpc>
                <a:spcPct val="105000"/>
              </a:lnSpc>
              <a:spcBef>
                <a:spcPts val="0"/>
              </a:spcBef>
            </a:pPr>
            <a:r>
              <a:rPr sz="940" b="0" i="0">
                <a:solidFill>
                  <a:srgbClr val="1B2B3C"/>
                </a:solidFill>
                <a:latin typeface="Aptos"/>
              </a:rPr>
              <a:t>Content pipeline</a:t>
            </a:r>
          </a:p>
        </p:txBody>
      </p:sp>
      <p:sp>
        <p:nvSpPr>
          <p:cNvPr id="18" name="Rectangle 17"/>
          <p:cNvSpPr/>
          <p:nvPr/>
        </p:nvSpPr>
        <p:spPr>
          <a:xfrm>
            <a:off x="6053328" y="3584448"/>
            <a:ext cx="274320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639312"/>
            <a:ext cx="2011680" cy="201168"/>
          </a:xfrm>
          <a:prstGeom prst="rect">
            <a:avLst/>
          </a:prstGeom>
          <a:noFill/>
        </p:spPr>
        <p:txBody>
          <a:bodyPr wrap="square" anchor="t" lIns="0" rIns="0" tIns="0" bIns="0">
            <a:normAutofit/>
          </a:bodyPr>
          <a:lstStyle/>
          <a:p>
            <a:pPr algn="l">
              <a:lnSpc>
                <a:spcPct val="105000"/>
              </a:lnSpc>
              <a:spcBef>
                <a:spcPts val="0"/>
              </a:spcBef>
            </a:pPr>
            <a:r>
              <a:rPr sz="940" b="0" i="0">
                <a:solidFill>
                  <a:srgbClr val="1B2B3C"/>
                </a:solidFill>
                <a:latin typeface="Aptos"/>
              </a:rPr>
              <a:t>Ops forecast</a:t>
            </a:r>
          </a:p>
        </p:txBody>
      </p:sp>
      <p:sp>
        <p:nvSpPr>
          <p:cNvPr id="20" name="Rounded Rectangle 19"/>
          <p:cNvSpPr/>
          <p:nvPr/>
        </p:nvSpPr>
        <p:spPr>
          <a:xfrm>
            <a:off x="9345168" y="2505456"/>
            <a:ext cx="1737360" cy="82296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45168" y="2505456"/>
            <a:ext cx="73152" cy="8229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91472" y="2596896"/>
            <a:ext cx="1481328" cy="67665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 actions</a:t>
            </a:r>
          </a:p>
        </p:txBody>
      </p:sp>
      <p:sp>
        <p:nvSpPr>
          <p:cNvPr id="23" name="Right Arrow 22"/>
          <p:cNvSpPr/>
          <p:nvPr/>
        </p:nvSpPr>
        <p:spPr>
          <a:xfrm>
            <a:off x="8906256" y="2871216"/>
            <a:ext cx="411480" cy="182880"/>
          </a:xfrm>
          <a:prstGeom prst="rightArrow">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4590288"/>
            <a:ext cx="4937760" cy="402336"/>
          </a:xfrm>
          <a:prstGeom prst="rect">
            <a:avLst/>
          </a:prstGeom>
          <a:noFill/>
        </p:spPr>
        <p:txBody>
          <a:bodyPr wrap="square" anchor="ctr" lIns="0" rIns="0" tIns="0" bIns="0">
            <a:normAutofit/>
          </a:bodyPr>
          <a:lstStyle/>
          <a:p>
            <a:pPr algn="ctr">
              <a:lnSpc>
                <a:spcPct val="105000"/>
              </a:lnSpc>
              <a:spcBef>
                <a:spcPts val="0"/>
              </a:spcBef>
            </a:pPr>
            <a:r>
              <a:rPr sz="1360" b="1" i="0">
                <a:solidFill>
                  <a:srgbClr val="009B82"/>
                </a:solidFill>
                <a:latin typeface="Aptos"/>
              </a:rPr>
              <a:t>Rows become action surfaces</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Operational surfaces are good wedges when every action leaves a visible trace.</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Legacy surfaces are exposed</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opportunity is not limited to new categories.</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Many incumbent tools still assume the human will manually move every object through the interface. Agent-native alternatives can start by targeting a narrow repeated workflow inside those surfaces.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Prioritize high-context, repeated work.</a:t>
            </a:r>
          </a:p>
          <a:p>
            <a:pPr algn="l">
              <a:lnSpc>
                <a:spcPct val="100000"/>
              </a:lnSpc>
              <a:spcBef>
                <a:spcPts val="600"/>
              </a:spcBef>
            </a:pPr>
            <a:r>
              <a:rPr sz="1340" b="0" i="0">
                <a:solidFill>
                  <a:srgbClr val="1B2B3C"/>
                </a:solidFill>
                <a:latin typeface="Aptos"/>
              </a:rPr>
              <a:t>•  Avoid tasks where correctness is invisible.</a:t>
            </a:r>
          </a:p>
          <a:p>
            <a:pPr algn="l">
              <a:lnSpc>
                <a:spcPct val="100000"/>
              </a:lnSpc>
              <a:spcBef>
                <a:spcPts val="600"/>
              </a:spcBef>
            </a:pPr>
            <a:r>
              <a:rPr sz="1340" b="0" i="0">
                <a:solidFill>
                  <a:srgbClr val="1B2B3C"/>
                </a:solidFill>
                <a:latin typeface="Aptos"/>
              </a:rPr>
              <a:t>•  Start where existing tools force context switching.</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87568" y="2093976"/>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87568" y="2093976"/>
            <a:ext cx="73152" cy="8412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2185416"/>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Design suites</a:t>
            </a:r>
          </a:p>
        </p:txBody>
      </p:sp>
      <p:sp>
        <p:nvSpPr>
          <p:cNvPr id="15" name="Rounded Rectangle 14"/>
          <p:cNvSpPr/>
          <p:nvPr/>
        </p:nvSpPr>
        <p:spPr>
          <a:xfrm>
            <a:off x="7626096" y="2093976"/>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26096" y="2093976"/>
            <a:ext cx="73152" cy="8412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85416"/>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Whiteboards</a:t>
            </a:r>
          </a:p>
        </p:txBody>
      </p:sp>
      <p:sp>
        <p:nvSpPr>
          <p:cNvPr id="18" name="Rounded Rectangle 17"/>
          <p:cNvSpPr/>
          <p:nvPr/>
        </p:nvSpPr>
        <p:spPr>
          <a:xfrm>
            <a:off x="9564624" y="2093976"/>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64624" y="2093976"/>
            <a:ext cx="73152" cy="84124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0928" y="2185416"/>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Spreadsheets</a:t>
            </a:r>
          </a:p>
        </p:txBody>
      </p:sp>
      <p:sp>
        <p:nvSpPr>
          <p:cNvPr id="21" name="Rounded Rectangle 20"/>
          <p:cNvSpPr/>
          <p:nvPr/>
        </p:nvSpPr>
        <p:spPr>
          <a:xfrm>
            <a:off x="5687568" y="3392424"/>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87568" y="3392424"/>
            <a:ext cx="73152" cy="84124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33872" y="3483864"/>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CRMs</a:t>
            </a:r>
          </a:p>
        </p:txBody>
      </p:sp>
      <p:sp>
        <p:nvSpPr>
          <p:cNvPr id="24" name="Rounded Rectangle 23"/>
          <p:cNvSpPr/>
          <p:nvPr/>
        </p:nvSpPr>
        <p:spPr>
          <a:xfrm>
            <a:off x="7626096" y="3392424"/>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26096" y="3392424"/>
            <a:ext cx="73152" cy="8412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3483864"/>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Finance ops</a:t>
            </a:r>
          </a:p>
        </p:txBody>
      </p:sp>
      <p:sp>
        <p:nvSpPr>
          <p:cNvPr id="27" name="Rounded Rectangle 26"/>
          <p:cNvSpPr/>
          <p:nvPr/>
        </p:nvSpPr>
        <p:spPr>
          <a:xfrm>
            <a:off x="9564624" y="3392424"/>
            <a:ext cx="1609344" cy="84124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64624" y="3392424"/>
            <a:ext cx="73152" cy="8412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10928" y="3483864"/>
            <a:ext cx="1353312" cy="69494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Research tools</a:t>
            </a:r>
          </a:p>
        </p:txBody>
      </p:sp>
      <p:sp>
        <p:nvSpPr>
          <p:cNvPr id="30" name="TextBox 29"/>
          <p:cNvSpPr txBox="1"/>
          <p:nvPr/>
        </p:nvSpPr>
        <p:spPr>
          <a:xfrm>
            <a:off x="6007608" y="4864608"/>
            <a:ext cx="5303520" cy="402336"/>
          </a:xfrm>
          <a:prstGeom prst="rect">
            <a:avLst/>
          </a:prstGeom>
          <a:noFill/>
        </p:spPr>
        <p:txBody>
          <a:bodyPr wrap="square" anchor="ctr" lIns="0" rIns="0" tIns="0" bIns="0">
            <a:normAutofit/>
          </a:bodyPr>
          <a:lstStyle/>
          <a:p>
            <a:pPr algn="ctr">
              <a:lnSpc>
                <a:spcPct val="105000"/>
              </a:lnSpc>
              <a:spcBef>
                <a:spcPts val="0"/>
              </a:spcBef>
            </a:pPr>
            <a:r>
              <a:rPr sz="1360" b="1" i="0">
                <a:solidFill>
                  <a:srgbClr val="0A1628"/>
                </a:solidFill>
                <a:latin typeface="Aptos"/>
              </a:rPr>
              <a:t>Manual UI steps are the wedge</a:t>
            </a:r>
          </a:p>
        </p:txBody>
      </p:sp>
      <p:sp>
        <p:nvSpPr>
          <p:cNvPr id="31" name="Rectangle 30"/>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best startup wedge may be a familiar surface redesigned for user-owned agents.</a:t>
            </a:r>
          </a:p>
        </p:txBody>
      </p:sp>
      <p:sp>
        <p:nvSpPr>
          <p:cNvPr id="33" name="TextBox 32"/>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Pick repeatable visible work</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wedge should be easy to review before it is trusted.</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strongest opportunities sit where the work happens often and the resulting state is visible. That lets the agent create leverage while the human can still understand and correct the output.</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High repetition creates habit and ROI.</a:t>
            </a:r>
          </a:p>
          <a:p>
            <a:pPr algn="l">
              <a:lnSpc>
                <a:spcPct val="100000"/>
              </a:lnSpc>
              <a:spcBef>
                <a:spcPts val="600"/>
              </a:spcBef>
            </a:pPr>
            <a:r>
              <a:rPr sz="1340" b="0" i="0">
                <a:solidFill>
                  <a:srgbClr val="1B2B3C"/>
                </a:solidFill>
                <a:latin typeface="Aptos"/>
              </a:rPr>
              <a:t>•  Visible state reduces trust friction.</a:t>
            </a:r>
          </a:p>
          <a:p>
            <a:pPr algn="l">
              <a:lnSpc>
                <a:spcPct val="100000"/>
              </a:lnSpc>
              <a:spcBef>
                <a:spcPts val="600"/>
              </a:spcBef>
            </a:pPr>
            <a:r>
              <a:rPr sz="1340" b="0" i="0">
                <a:solidFill>
                  <a:srgbClr val="1B2B3C"/>
                </a:solidFill>
                <a:latin typeface="Aptos"/>
              </a:rPr>
              <a:t>•  Domain context creates defensibility.</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44768" y="2185416"/>
            <a:ext cx="4663440" cy="2834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76488" y="2185416"/>
            <a:ext cx="2331720" cy="141732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76488" y="3602736"/>
            <a:ext cx="23317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3602736"/>
            <a:ext cx="233172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44768" y="2185416"/>
            <a:ext cx="4663440" cy="36576"/>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76488" y="2185416"/>
            <a:ext cx="36576" cy="2834640"/>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0808" y="2487168"/>
            <a:ext cx="1600200" cy="256032"/>
          </a:xfrm>
          <a:prstGeom prst="rect">
            <a:avLst/>
          </a:prstGeom>
          <a:noFill/>
        </p:spPr>
        <p:txBody>
          <a:bodyPr wrap="square" anchor="ctr" lIns="0" rIns="0" tIns="0" bIns="0">
            <a:normAutofit/>
          </a:bodyPr>
          <a:lstStyle/>
          <a:p>
            <a:pPr algn="ctr">
              <a:lnSpc>
                <a:spcPct val="105000"/>
              </a:lnSpc>
              <a:spcBef>
                <a:spcPts val="0"/>
              </a:spcBef>
            </a:pPr>
            <a:r>
              <a:rPr sz="1380" b="1" i="0">
                <a:solidFill>
                  <a:srgbClr val="009B82"/>
                </a:solidFill>
                <a:latin typeface="Aptos"/>
              </a:rPr>
              <a:t>Best wedge</a:t>
            </a:r>
          </a:p>
        </p:txBody>
      </p:sp>
      <p:sp>
        <p:nvSpPr>
          <p:cNvPr id="19" name="TextBox 18"/>
          <p:cNvSpPr txBox="1"/>
          <p:nvPr/>
        </p:nvSpPr>
        <p:spPr>
          <a:xfrm>
            <a:off x="8631936" y="2825496"/>
            <a:ext cx="1874519" cy="237744"/>
          </a:xfrm>
          <a:prstGeom prst="rect">
            <a:avLst/>
          </a:prstGeom>
          <a:noFill/>
        </p:spPr>
        <p:txBody>
          <a:bodyPr wrap="square" anchor="ctr" lIns="0" rIns="0" tIns="0" bIns="0">
            <a:normAutofit/>
          </a:bodyPr>
          <a:lstStyle/>
          <a:p>
            <a:pPr algn="ctr">
              <a:lnSpc>
                <a:spcPct val="105000"/>
              </a:lnSpc>
              <a:spcBef>
                <a:spcPts val="0"/>
              </a:spcBef>
            </a:pPr>
            <a:r>
              <a:rPr sz="1120" b="0" i="0">
                <a:solidFill>
                  <a:srgbClr val="1B2B3C"/>
                </a:solidFill>
                <a:latin typeface="Aptos"/>
              </a:rPr>
              <a:t>Repeatable + visible</a:t>
            </a:r>
          </a:p>
        </p:txBody>
      </p:sp>
      <p:sp>
        <p:nvSpPr>
          <p:cNvPr id="20" name="TextBox 19"/>
          <p:cNvSpPr txBox="1"/>
          <p:nvPr/>
        </p:nvSpPr>
        <p:spPr>
          <a:xfrm>
            <a:off x="6492240" y="2542032"/>
            <a:ext cx="1554480" cy="219456"/>
          </a:xfrm>
          <a:prstGeom prst="rect">
            <a:avLst/>
          </a:prstGeom>
          <a:noFill/>
        </p:spPr>
        <p:txBody>
          <a:bodyPr wrap="square" anchor="ctr" lIns="0" rIns="0" tIns="0" bIns="0">
            <a:normAutofit/>
          </a:bodyPr>
          <a:lstStyle/>
          <a:p>
            <a:pPr algn="ctr">
              <a:lnSpc>
                <a:spcPct val="105000"/>
              </a:lnSpc>
              <a:spcBef>
                <a:spcPts val="0"/>
              </a:spcBef>
            </a:pPr>
            <a:r>
              <a:rPr sz="1130" b="0" i="0">
                <a:solidFill>
                  <a:srgbClr val="5B6B7C"/>
                </a:solidFill>
                <a:latin typeface="Aptos"/>
              </a:rPr>
              <a:t>Hard to review</a:t>
            </a:r>
          </a:p>
        </p:txBody>
      </p:sp>
      <p:sp>
        <p:nvSpPr>
          <p:cNvPr id="21" name="TextBox 20"/>
          <p:cNvSpPr txBox="1"/>
          <p:nvPr/>
        </p:nvSpPr>
        <p:spPr>
          <a:xfrm>
            <a:off x="6492240" y="4169664"/>
            <a:ext cx="1554480" cy="219456"/>
          </a:xfrm>
          <a:prstGeom prst="rect">
            <a:avLst/>
          </a:prstGeom>
          <a:noFill/>
        </p:spPr>
        <p:txBody>
          <a:bodyPr wrap="square" anchor="ctr" lIns="0" rIns="0" tIns="0" bIns="0">
            <a:normAutofit/>
          </a:bodyPr>
          <a:lstStyle/>
          <a:p>
            <a:pPr algn="ctr">
              <a:lnSpc>
                <a:spcPct val="105000"/>
              </a:lnSpc>
              <a:spcBef>
                <a:spcPts val="0"/>
              </a:spcBef>
            </a:pPr>
            <a:r>
              <a:rPr sz="1130" b="0" i="0">
                <a:solidFill>
                  <a:srgbClr val="5B6B7C"/>
                </a:solidFill>
                <a:latin typeface="Aptos"/>
              </a:rPr>
              <a:t>One-off work</a:t>
            </a:r>
          </a:p>
        </p:txBody>
      </p:sp>
      <p:sp>
        <p:nvSpPr>
          <p:cNvPr id="22" name="TextBox 21"/>
          <p:cNvSpPr txBox="1"/>
          <p:nvPr/>
        </p:nvSpPr>
        <p:spPr>
          <a:xfrm>
            <a:off x="7379207" y="5175504"/>
            <a:ext cx="2011680" cy="201168"/>
          </a:xfrm>
          <a:prstGeom prst="rect">
            <a:avLst/>
          </a:prstGeom>
          <a:noFill/>
        </p:spPr>
        <p:txBody>
          <a:bodyPr wrap="square" anchor="ctr" lIns="0" rIns="0" tIns="0" bIns="0">
            <a:normAutofit/>
          </a:bodyPr>
          <a:lstStyle/>
          <a:p>
            <a:pPr algn="ctr">
              <a:lnSpc>
                <a:spcPct val="105000"/>
              </a:lnSpc>
              <a:spcBef>
                <a:spcPts val="0"/>
              </a:spcBef>
            </a:pPr>
            <a:r>
              <a:rPr sz="1080" b="0" i="0">
                <a:solidFill>
                  <a:srgbClr val="5B6B7C"/>
                </a:solidFill>
                <a:latin typeface="Aptos"/>
              </a:rPr>
              <a:t>Visible state -&gt;</a:t>
            </a:r>
          </a:p>
        </p:txBody>
      </p:sp>
      <p:sp>
        <p:nvSpPr>
          <p:cNvPr id="23" name="Rectangle 22"/>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If users cannot see whether the agent is right, the wedge is too risky for v1.</a:t>
            </a:r>
          </a:p>
        </p:txBody>
      </p:sp>
      <p:sp>
        <p:nvSpPr>
          <p:cNvPr id="25" name="TextBox 24"/>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Use a simple wedge rubric</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Score candidates before writing code.</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 good first product should score well on repetition, visible state, context richness, actionability, and manageable risk. These are judgment scores, not invented market metrics.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Favor workflows with repeated review cycles.</a:t>
            </a:r>
          </a:p>
          <a:p>
            <a:pPr algn="l">
              <a:lnSpc>
                <a:spcPct val="100000"/>
              </a:lnSpc>
              <a:spcBef>
                <a:spcPts val="600"/>
              </a:spcBef>
            </a:pPr>
            <a:r>
              <a:rPr sz="1340" b="0" i="0">
                <a:solidFill>
                  <a:srgbClr val="1B2B3C"/>
                </a:solidFill>
                <a:latin typeface="Aptos"/>
              </a:rPr>
              <a:t>•  Prefer surfaces where partial progress is useful.</a:t>
            </a:r>
          </a:p>
          <a:p>
            <a:pPr algn="l">
              <a:lnSpc>
                <a:spcPct val="100000"/>
              </a:lnSpc>
              <a:spcBef>
                <a:spcPts val="600"/>
              </a:spcBef>
            </a:pPr>
            <a:r>
              <a:rPr sz="1340" b="0" i="0">
                <a:solidFill>
                  <a:srgbClr val="1B2B3C"/>
                </a:solidFill>
                <a:latin typeface="Aptos"/>
              </a:rPr>
              <a:t>•  Deprioritize irreversible high-stakes automation.</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2121408"/>
            <a:ext cx="749808" cy="31089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2552" y="2176272"/>
            <a:ext cx="694944" cy="109728"/>
          </a:xfrm>
          <a:prstGeom prst="rect">
            <a:avLst/>
          </a:prstGeom>
          <a:noFill/>
        </p:spPr>
        <p:txBody>
          <a:bodyPr wrap="square" anchor="ctr" lIns="0" rIns="0" tIns="0" bIns="0">
            <a:normAutofit/>
          </a:bodyPr>
          <a:lstStyle/>
          <a:p>
            <a:pPr algn="ctr">
              <a:lnSpc>
                <a:spcPct val="105000"/>
              </a:lnSpc>
              <a:spcBef>
                <a:spcPts val="0"/>
              </a:spcBef>
            </a:pPr>
            <a:r>
              <a:rPr sz="780" b="1" i="0">
                <a:solidFill>
                  <a:srgbClr val="FFFFFF"/>
                </a:solidFill>
                <a:latin typeface="Aptos"/>
              </a:rPr>
              <a:t>Repeat</a:t>
            </a:r>
          </a:p>
        </p:txBody>
      </p:sp>
      <p:sp>
        <p:nvSpPr>
          <p:cNvPr id="14" name="Rectangle 13"/>
          <p:cNvSpPr/>
          <p:nvPr/>
        </p:nvSpPr>
        <p:spPr>
          <a:xfrm>
            <a:off x="7516368" y="2121408"/>
            <a:ext cx="749808" cy="31089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2176272"/>
            <a:ext cx="694944" cy="109728"/>
          </a:xfrm>
          <a:prstGeom prst="rect">
            <a:avLst/>
          </a:prstGeom>
          <a:noFill/>
        </p:spPr>
        <p:txBody>
          <a:bodyPr wrap="square" anchor="ctr" lIns="0" rIns="0" tIns="0" bIns="0">
            <a:normAutofit/>
          </a:bodyPr>
          <a:lstStyle/>
          <a:p>
            <a:pPr algn="ctr">
              <a:lnSpc>
                <a:spcPct val="105000"/>
              </a:lnSpc>
              <a:spcBef>
                <a:spcPts val="0"/>
              </a:spcBef>
            </a:pPr>
            <a:r>
              <a:rPr sz="780" b="1" i="0">
                <a:solidFill>
                  <a:srgbClr val="FFFFFF"/>
                </a:solidFill>
                <a:latin typeface="Aptos"/>
              </a:rPr>
              <a:t>Visible</a:t>
            </a:r>
          </a:p>
        </p:txBody>
      </p:sp>
      <p:sp>
        <p:nvSpPr>
          <p:cNvPr id="16" name="Rectangle 15"/>
          <p:cNvSpPr/>
          <p:nvPr/>
        </p:nvSpPr>
        <p:spPr>
          <a:xfrm>
            <a:off x="8357616" y="2121408"/>
            <a:ext cx="749808" cy="31089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176272"/>
            <a:ext cx="694944" cy="109728"/>
          </a:xfrm>
          <a:prstGeom prst="rect">
            <a:avLst/>
          </a:prstGeom>
          <a:noFill/>
        </p:spPr>
        <p:txBody>
          <a:bodyPr wrap="square" anchor="ctr" lIns="0" rIns="0" tIns="0" bIns="0">
            <a:normAutofit/>
          </a:bodyPr>
          <a:lstStyle/>
          <a:p>
            <a:pPr algn="ctr">
              <a:lnSpc>
                <a:spcPct val="105000"/>
              </a:lnSpc>
              <a:spcBef>
                <a:spcPts val="0"/>
              </a:spcBef>
            </a:pPr>
            <a:r>
              <a:rPr sz="780" b="1" i="0">
                <a:solidFill>
                  <a:srgbClr val="FFFFFF"/>
                </a:solidFill>
                <a:latin typeface="Aptos"/>
              </a:rPr>
              <a:t>Context</a:t>
            </a:r>
          </a:p>
        </p:txBody>
      </p:sp>
      <p:sp>
        <p:nvSpPr>
          <p:cNvPr id="18" name="Rectangle 17"/>
          <p:cNvSpPr/>
          <p:nvPr/>
        </p:nvSpPr>
        <p:spPr>
          <a:xfrm>
            <a:off x="9198864" y="2121408"/>
            <a:ext cx="749808" cy="31089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26296" y="2176272"/>
            <a:ext cx="694944" cy="109728"/>
          </a:xfrm>
          <a:prstGeom prst="rect">
            <a:avLst/>
          </a:prstGeom>
          <a:noFill/>
        </p:spPr>
        <p:txBody>
          <a:bodyPr wrap="square" anchor="ctr" lIns="0" rIns="0" tIns="0" bIns="0">
            <a:normAutofit/>
          </a:bodyPr>
          <a:lstStyle/>
          <a:p>
            <a:pPr algn="ctr">
              <a:lnSpc>
                <a:spcPct val="105000"/>
              </a:lnSpc>
              <a:spcBef>
                <a:spcPts val="0"/>
              </a:spcBef>
            </a:pPr>
            <a:r>
              <a:rPr sz="780" b="1" i="0">
                <a:solidFill>
                  <a:srgbClr val="FFFFFF"/>
                </a:solidFill>
                <a:latin typeface="Aptos"/>
              </a:rPr>
              <a:t>Action</a:t>
            </a:r>
          </a:p>
        </p:txBody>
      </p:sp>
      <p:sp>
        <p:nvSpPr>
          <p:cNvPr id="20" name="Rectangle 19"/>
          <p:cNvSpPr/>
          <p:nvPr/>
        </p:nvSpPr>
        <p:spPr>
          <a:xfrm>
            <a:off x="10040112" y="2121408"/>
            <a:ext cx="749808" cy="31089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67544" y="2176272"/>
            <a:ext cx="694944" cy="109728"/>
          </a:xfrm>
          <a:prstGeom prst="rect">
            <a:avLst/>
          </a:prstGeom>
          <a:noFill/>
        </p:spPr>
        <p:txBody>
          <a:bodyPr wrap="square" anchor="ctr" lIns="0" rIns="0" tIns="0" bIns="0">
            <a:normAutofit/>
          </a:bodyPr>
          <a:lstStyle/>
          <a:p>
            <a:pPr algn="ctr">
              <a:lnSpc>
                <a:spcPct val="105000"/>
              </a:lnSpc>
              <a:spcBef>
                <a:spcPts val="0"/>
              </a:spcBef>
            </a:pPr>
            <a:r>
              <a:rPr sz="780" b="1" i="0">
                <a:solidFill>
                  <a:srgbClr val="FFFFFF"/>
                </a:solidFill>
                <a:latin typeface="Aptos"/>
              </a:rPr>
              <a:t>Risk</a:t>
            </a:r>
          </a:p>
        </p:txBody>
      </p:sp>
      <p:sp>
        <p:nvSpPr>
          <p:cNvPr id="22" name="TextBox 21"/>
          <p:cNvSpPr txBox="1"/>
          <p:nvPr/>
        </p:nvSpPr>
        <p:spPr>
          <a:xfrm>
            <a:off x="5596128" y="2596896"/>
            <a:ext cx="960120" cy="201168"/>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Aptos"/>
              </a:rPr>
              <a:t>Design review</a:t>
            </a:r>
          </a:p>
        </p:txBody>
      </p:sp>
      <p:sp>
        <p:nvSpPr>
          <p:cNvPr id="23" name="Rectangle 22"/>
          <p:cNvSpPr/>
          <p:nvPr/>
        </p:nvSpPr>
        <p:spPr>
          <a:xfrm>
            <a:off x="6748272" y="2532888"/>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615184"/>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25" name="Rectangle 24"/>
          <p:cNvSpPr/>
          <p:nvPr/>
        </p:nvSpPr>
        <p:spPr>
          <a:xfrm>
            <a:off x="7589520" y="2532888"/>
            <a:ext cx="502920"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53528" y="2615184"/>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H</a:t>
            </a:r>
          </a:p>
        </p:txBody>
      </p:sp>
      <p:sp>
        <p:nvSpPr>
          <p:cNvPr id="27" name="Rectangle 26"/>
          <p:cNvSpPr/>
          <p:nvPr/>
        </p:nvSpPr>
        <p:spPr>
          <a:xfrm>
            <a:off x="8430768" y="2532888"/>
            <a:ext cx="502920" cy="34747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94776" y="2615184"/>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29" name="Rectangle 28"/>
          <p:cNvSpPr/>
          <p:nvPr/>
        </p:nvSpPr>
        <p:spPr>
          <a:xfrm>
            <a:off x="9272016" y="2532888"/>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36024" y="2615184"/>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31" name="Rectangle 30"/>
          <p:cNvSpPr/>
          <p:nvPr/>
        </p:nvSpPr>
        <p:spPr>
          <a:xfrm>
            <a:off x="10113264" y="2532888"/>
            <a:ext cx="502920" cy="34747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77272" y="2615184"/>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M</a:t>
            </a:r>
          </a:p>
        </p:txBody>
      </p:sp>
      <p:sp>
        <p:nvSpPr>
          <p:cNvPr id="33" name="TextBox 32"/>
          <p:cNvSpPr txBox="1"/>
          <p:nvPr/>
        </p:nvSpPr>
        <p:spPr>
          <a:xfrm>
            <a:off x="5596128" y="3255264"/>
            <a:ext cx="960120" cy="201168"/>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Aptos"/>
              </a:rPr>
              <a:t>Ops sheet</a:t>
            </a:r>
          </a:p>
        </p:txBody>
      </p:sp>
      <p:sp>
        <p:nvSpPr>
          <p:cNvPr id="34" name="Rectangle 33"/>
          <p:cNvSpPr/>
          <p:nvPr/>
        </p:nvSpPr>
        <p:spPr>
          <a:xfrm>
            <a:off x="6748272" y="3191256"/>
            <a:ext cx="502920"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12280" y="3273552"/>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H</a:t>
            </a:r>
          </a:p>
        </p:txBody>
      </p:sp>
      <p:sp>
        <p:nvSpPr>
          <p:cNvPr id="36" name="Rectangle 35"/>
          <p:cNvSpPr/>
          <p:nvPr/>
        </p:nvSpPr>
        <p:spPr>
          <a:xfrm>
            <a:off x="7589520" y="3191256"/>
            <a:ext cx="502920" cy="34747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53528" y="3273552"/>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38" name="Rectangle 37"/>
          <p:cNvSpPr/>
          <p:nvPr/>
        </p:nvSpPr>
        <p:spPr>
          <a:xfrm>
            <a:off x="8430768" y="3191256"/>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94776" y="3273552"/>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40" name="Rectangle 39"/>
          <p:cNvSpPr/>
          <p:nvPr/>
        </p:nvSpPr>
        <p:spPr>
          <a:xfrm>
            <a:off x="9272016" y="3191256"/>
            <a:ext cx="502920" cy="34747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36024" y="3273552"/>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M</a:t>
            </a:r>
          </a:p>
        </p:txBody>
      </p:sp>
      <p:sp>
        <p:nvSpPr>
          <p:cNvPr id="42" name="Rectangle 41"/>
          <p:cNvSpPr/>
          <p:nvPr/>
        </p:nvSpPr>
        <p:spPr>
          <a:xfrm>
            <a:off x="10113264" y="3191256"/>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77272" y="3273552"/>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44" name="TextBox 43"/>
          <p:cNvSpPr txBox="1"/>
          <p:nvPr/>
        </p:nvSpPr>
        <p:spPr>
          <a:xfrm>
            <a:off x="5596128" y="3913632"/>
            <a:ext cx="960120" cy="201168"/>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Aptos"/>
              </a:rPr>
              <a:t>Legal drafting</a:t>
            </a:r>
          </a:p>
        </p:txBody>
      </p:sp>
      <p:sp>
        <p:nvSpPr>
          <p:cNvPr id="45" name="Rectangle 44"/>
          <p:cNvSpPr/>
          <p:nvPr/>
        </p:nvSpPr>
        <p:spPr>
          <a:xfrm>
            <a:off x="6748272" y="3849624"/>
            <a:ext cx="502920" cy="34747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2280" y="3931920"/>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47" name="Rectangle 46"/>
          <p:cNvSpPr/>
          <p:nvPr/>
        </p:nvSpPr>
        <p:spPr>
          <a:xfrm>
            <a:off x="7589520" y="3849624"/>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53528" y="3931920"/>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49" name="Rectangle 48"/>
          <p:cNvSpPr/>
          <p:nvPr/>
        </p:nvSpPr>
        <p:spPr>
          <a:xfrm>
            <a:off x="8430768" y="3849624"/>
            <a:ext cx="502920" cy="34747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4776" y="3931920"/>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M</a:t>
            </a:r>
          </a:p>
        </p:txBody>
      </p:sp>
      <p:sp>
        <p:nvSpPr>
          <p:cNvPr id="51" name="Rectangle 50"/>
          <p:cNvSpPr/>
          <p:nvPr/>
        </p:nvSpPr>
        <p:spPr>
          <a:xfrm>
            <a:off x="9272016" y="3849624"/>
            <a:ext cx="502920" cy="34747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36024" y="3931920"/>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FFFFFF"/>
                </a:solidFill>
                <a:latin typeface="Aptos"/>
              </a:rPr>
              <a:t>H</a:t>
            </a:r>
          </a:p>
        </p:txBody>
      </p:sp>
      <p:sp>
        <p:nvSpPr>
          <p:cNvPr id="53" name="Rectangle 52"/>
          <p:cNvSpPr/>
          <p:nvPr/>
        </p:nvSpPr>
        <p:spPr>
          <a:xfrm>
            <a:off x="10113264" y="3849624"/>
            <a:ext cx="502920" cy="34747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77272" y="3931920"/>
            <a:ext cx="365760" cy="109728"/>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H</a:t>
            </a:r>
          </a:p>
        </p:txBody>
      </p:sp>
      <p:sp>
        <p:nvSpPr>
          <p:cNvPr id="55" name="TextBox 54"/>
          <p:cNvSpPr txBox="1"/>
          <p:nvPr/>
        </p:nvSpPr>
        <p:spPr>
          <a:xfrm>
            <a:off x="6419088" y="4864608"/>
            <a:ext cx="4480560" cy="402336"/>
          </a:xfrm>
          <a:prstGeom prst="rect">
            <a:avLst/>
          </a:prstGeom>
          <a:noFill/>
        </p:spPr>
        <p:txBody>
          <a:bodyPr wrap="square" anchor="ctr" lIns="0" rIns="0" tIns="0" bIns="0">
            <a:normAutofit/>
          </a:bodyPr>
          <a:lstStyle/>
          <a:p>
            <a:pPr algn="ctr">
              <a:lnSpc>
                <a:spcPct val="105000"/>
              </a:lnSpc>
              <a:spcBef>
                <a:spcPts val="0"/>
              </a:spcBef>
            </a:pPr>
            <a:r>
              <a:rPr sz="1310" b="1" i="0">
                <a:solidFill>
                  <a:srgbClr val="009B82"/>
                </a:solidFill>
                <a:latin typeface="Aptos"/>
              </a:rPr>
              <a:t>Score, then test with tasks</a:t>
            </a:r>
          </a:p>
        </p:txBody>
      </p:sp>
      <p:sp>
        <p:nvSpPr>
          <p:cNvPr id="56" name="Rectangle 55"/>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A narrow but reviewable wedge beats a broad agent that users cannot trust.</a:t>
            </a:r>
          </a:p>
        </p:txBody>
      </p:sp>
      <p:sp>
        <p:nvSpPr>
          <p:cNvPr id="58" name="TextBox 57"/>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59" name="TextBox 5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969264"/>
            <a:ext cx="2743200" cy="320040"/>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Aptos Display"/>
              </a:rPr>
              <a:t>SECTION 04</a:t>
            </a:r>
          </a:p>
        </p:txBody>
      </p:sp>
      <p:sp>
        <p:nvSpPr>
          <p:cNvPr id="5" name="TextBox 4"/>
          <p:cNvSpPr txBox="1"/>
          <p:nvPr/>
        </p:nvSpPr>
        <p:spPr>
          <a:xfrm>
            <a:off x="658368" y="1371600"/>
            <a:ext cx="8961120" cy="1225296"/>
          </a:xfrm>
          <a:prstGeom prst="rect">
            <a:avLst/>
          </a:prstGeom>
          <a:noFill/>
        </p:spPr>
        <p:txBody>
          <a:bodyPr wrap="square" anchor="t" lIns="0" rIns="0" tIns="0" bIns="0">
            <a:normAutofit/>
          </a:bodyPr>
          <a:lstStyle/>
          <a:p>
            <a:pPr algn="l">
              <a:lnSpc>
                <a:spcPct val="105000"/>
              </a:lnSpc>
              <a:spcBef>
                <a:spcPts val="0"/>
              </a:spcBef>
            </a:pPr>
            <a:r>
              <a:rPr sz="3800" b="1" i="0">
                <a:solidFill>
                  <a:srgbClr val="FFFFFF"/>
                </a:solidFill>
                <a:latin typeface="Aptos Display"/>
              </a:rPr>
              <a:t>How to build it</a:t>
            </a:r>
          </a:p>
        </p:txBody>
      </p:sp>
      <p:sp>
        <p:nvSpPr>
          <p:cNvPr id="6" name="Rectangle 5"/>
          <p:cNvSpPr/>
          <p:nvPr/>
        </p:nvSpPr>
        <p:spPr>
          <a:xfrm>
            <a:off x="658368" y="2615184"/>
            <a:ext cx="164592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07792"/>
            <a:ext cx="7406640" cy="585216"/>
          </a:xfrm>
          <a:prstGeom prst="rect">
            <a:avLst/>
          </a:prstGeom>
          <a:noFill/>
        </p:spPr>
        <p:txBody>
          <a:bodyPr wrap="square" anchor="t" lIns="0" rIns="0" tIns="0" bIns="0">
            <a:normAutofit/>
          </a:bodyPr>
          <a:lstStyle/>
          <a:p>
            <a:pPr algn="l">
              <a:lnSpc>
                <a:spcPct val="105000"/>
              </a:lnSpc>
              <a:spcBef>
                <a:spcPts val="0"/>
              </a:spcBef>
            </a:pPr>
            <a:r>
              <a:rPr sz="1900" b="0" i="0">
                <a:solidFill>
                  <a:srgbClr val="E0F7F1"/>
                </a:solidFill>
                <a:latin typeface="Aptos"/>
              </a:rPr>
              <a:t>Start with the job, then the surface, then the tool contract.</a:t>
            </a:r>
          </a:p>
        </p:txBody>
      </p:sp>
      <p:sp>
        <p:nvSpPr>
          <p:cNvPr id="8" name="Rounded Rectangle 7"/>
          <p:cNvSpPr/>
          <p:nvPr/>
        </p:nvSpPr>
        <p:spPr>
          <a:xfrm>
            <a:off x="749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1. Job</a:t>
            </a:r>
          </a:p>
        </p:txBody>
      </p:sp>
      <p:sp>
        <p:nvSpPr>
          <p:cNvPr id="11" name="TextBox 10"/>
          <p:cNvSpPr txBox="1"/>
          <p:nvPr/>
        </p:nvSpPr>
        <p:spPr>
          <a:xfrm>
            <a:off x="914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Define the outcome.</a:t>
            </a:r>
          </a:p>
        </p:txBody>
      </p:sp>
      <p:sp>
        <p:nvSpPr>
          <p:cNvPr id="12" name="Rounded Rectangle 11"/>
          <p:cNvSpPr/>
          <p:nvPr/>
        </p:nvSpPr>
        <p:spPr>
          <a:xfrm>
            <a:off x="4178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3977639"/>
            <a:ext cx="73152" cy="11155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2. Surface</a:t>
            </a:r>
          </a:p>
        </p:txBody>
      </p:sp>
      <p:sp>
        <p:nvSpPr>
          <p:cNvPr id="15" name="TextBox 14"/>
          <p:cNvSpPr txBox="1"/>
          <p:nvPr/>
        </p:nvSpPr>
        <p:spPr>
          <a:xfrm>
            <a:off x="4343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Make work visible.</a:t>
            </a:r>
          </a:p>
        </p:txBody>
      </p:sp>
      <p:sp>
        <p:nvSpPr>
          <p:cNvPr id="16" name="Rounded Rectangle 15"/>
          <p:cNvSpPr/>
          <p:nvPr/>
        </p:nvSpPr>
        <p:spPr>
          <a:xfrm>
            <a:off x="7607808" y="3977639"/>
            <a:ext cx="3063240" cy="1115568"/>
          </a:xfrm>
          <a:prstGeom prst="roundRect">
            <a:avLst>
              <a:gd name="adj" fmla="val 8000"/>
            </a:avLst>
          </a:prstGeom>
          <a:solidFill>
            <a:srgbClr val="12243A"/>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07808" y="3977639"/>
            <a:ext cx="73152" cy="11155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069079"/>
            <a:ext cx="2788920" cy="384048"/>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Aptos Display"/>
              </a:rPr>
              <a:t>3. Contract</a:t>
            </a:r>
          </a:p>
        </p:txBody>
      </p:sp>
      <p:sp>
        <p:nvSpPr>
          <p:cNvPr id="19" name="TextBox 18"/>
          <p:cNvSpPr txBox="1"/>
          <p:nvPr/>
        </p:nvSpPr>
        <p:spPr>
          <a:xfrm>
            <a:off x="7772400" y="4526279"/>
            <a:ext cx="2770632" cy="475488"/>
          </a:xfrm>
          <a:prstGeom prst="rect">
            <a:avLst/>
          </a:prstGeom>
          <a:noFill/>
        </p:spPr>
        <p:txBody>
          <a:bodyPr wrap="square" anchor="t" lIns="0" rIns="0" tIns="0" bIns="0">
            <a:normAutofit/>
          </a:bodyPr>
          <a:lstStyle/>
          <a:p>
            <a:pPr algn="l">
              <a:lnSpc>
                <a:spcPct val="105000"/>
              </a:lnSpc>
              <a:spcBef>
                <a:spcPts val="0"/>
              </a:spcBef>
            </a:pPr>
            <a:r>
              <a:rPr sz="1130" b="0" i="0">
                <a:solidFill>
                  <a:srgbClr val="E0F7F1"/>
                </a:solidFill>
                <a:latin typeface="Aptos"/>
              </a:rPr>
              <a:t>Expose safe actions.</a:t>
            </a:r>
          </a:p>
        </p:txBody>
      </p:sp>
      <p:sp>
        <p:nvSpPr>
          <p:cNvPr id="20" name="TextBox 1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Step one is the job</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Define what human and agent achieve together.</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Start with a concrete job-to-be-done: create a page design, reconcile a list, update a campaign plan, draft a board, or prepare a report. Then specify what the human and agent each contribute.</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Name the completed artifact.</a:t>
            </a:r>
          </a:p>
          <a:p>
            <a:pPr algn="l">
              <a:lnSpc>
                <a:spcPct val="100000"/>
              </a:lnSpc>
              <a:spcBef>
                <a:spcPts val="600"/>
              </a:spcBef>
            </a:pPr>
            <a:r>
              <a:rPr sz="1340" b="0" i="0">
                <a:solidFill>
                  <a:srgbClr val="1B2B3C"/>
                </a:solidFill>
                <a:latin typeface="Aptos"/>
              </a:rPr>
              <a:t>•  Define what good looks like.</a:t>
            </a:r>
          </a:p>
          <a:p>
            <a:pPr algn="l">
              <a:lnSpc>
                <a:spcPct val="100000"/>
              </a:lnSpc>
              <a:spcBef>
                <a:spcPts val="600"/>
              </a:spcBef>
            </a:pPr>
            <a:r>
              <a:rPr sz="1340" b="0" i="0">
                <a:solidFill>
                  <a:srgbClr val="1B2B3C"/>
                </a:solidFill>
                <a:latin typeface="Aptos"/>
              </a:rPr>
              <a:t>•  List the decisions that require human judgment.</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15584" y="2816352"/>
            <a:ext cx="1627632" cy="9875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15584" y="2816352"/>
            <a:ext cx="73152" cy="98755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1888" y="2907792"/>
            <a:ext cx="1371600" cy="8412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Job</a:t>
            </a:r>
          </a:p>
        </p:txBody>
      </p:sp>
      <p:sp>
        <p:nvSpPr>
          <p:cNvPr id="15" name="Right Arrow 14"/>
          <p:cNvSpPr/>
          <p:nvPr/>
        </p:nvSpPr>
        <p:spPr>
          <a:xfrm>
            <a:off x="7461504" y="3163824"/>
            <a:ext cx="320040"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54112" y="2816352"/>
            <a:ext cx="1627632" cy="9875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54112" y="2816352"/>
            <a:ext cx="73152" cy="98755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416" y="2907792"/>
            <a:ext cx="1371600" cy="8412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Surface</a:t>
            </a:r>
          </a:p>
        </p:txBody>
      </p:sp>
      <p:sp>
        <p:nvSpPr>
          <p:cNvPr id="19" name="Right Arrow 18"/>
          <p:cNvSpPr/>
          <p:nvPr/>
        </p:nvSpPr>
        <p:spPr>
          <a:xfrm>
            <a:off x="9400032" y="3163824"/>
            <a:ext cx="320040" cy="164592"/>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92640" y="2816352"/>
            <a:ext cx="1627632" cy="9875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92640" y="2816352"/>
            <a:ext cx="73152" cy="98755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38944" y="2907792"/>
            <a:ext cx="1371600" cy="8412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 role</a:t>
            </a:r>
          </a:p>
        </p:txBody>
      </p:sp>
      <p:sp>
        <p:nvSpPr>
          <p:cNvPr id="23" name="TextBox 22"/>
          <p:cNvSpPr txBox="1"/>
          <p:nvPr/>
        </p:nvSpPr>
        <p:spPr>
          <a:xfrm>
            <a:off x="6373368" y="4590288"/>
            <a:ext cx="4617720" cy="402336"/>
          </a:xfrm>
          <a:prstGeom prst="rect">
            <a:avLst/>
          </a:prstGeom>
          <a:noFill/>
        </p:spPr>
        <p:txBody>
          <a:bodyPr wrap="square" anchor="ctr" lIns="0" rIns="0" tIns="0" bIns="0">
            <a:normAutofit/>
          </a:bodyPr>
          <a:lstStyle/>
          <a:p>
            <a:pPr algn="ctr">
              <a:lnSpc>
                <a:spcPct val="105000"/>
              </a:lnSpc>
              <a:spcBef>
                <a:spcPts val="0"/>
              </a:spcBef>
            </a:pPr>
            <a:r>
              <a:rPr sz="1350" b="1" i="0">
                <a:solidFill>
                  <a:srgbClr val="0A1628"/>
                </a:solidFill>
                <a:latin typeface="Aptos"/>
              </a:rPr>
              <a:t>Vague job means vague tools</a:t>
            </a:r>
          </a:p>
        </p:txBody>
      </p:sp>
      <p:sp>
        <p:nvSpPr>
          <p:cNvPr id="24" name="Rectangle 23"/>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app architecture should follow the job, not the AI demo.</a:t>
            </a:r>
          </a:p>
        </p:txBody>
      </p:sp>
      <p:sp>
        <p:nvSpPr>
          <p:cNvPr id="26" name="TextBox 25"/>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Step two is the tool contract</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agent needs complete, safe primitives.</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Plan the MCP, CLI, API, and browser operations from day one. For each important entity, define how the agent can read, create, update, delete, validate, and explain changes.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Map tools to user vocabulary.</a:t>
            </a:r>
          </a:p>
          <a:p>
            <a:pPr algn="l">
              <a:lnSpc>
                <a:spcPct val="100000"/>
              </a:lnSpc>
              <a:spcBef>
                <a:spcPts val="600"/>
              </a:spcBef>
            </a:pPr>
            <a:r>
              <a:rPr sz="1340" b="0" i="0">
                <a:solidFill>
                  <a:srgbClr val="1B2B3C"/>
                </a:solidFill>
                <a:latin typeface="Aptos"/>
              </a:rPr>
              <a:t>•  Separate safe actions from approval-required actions.</a:t>
            </a:r>
          </a:p>
          <a:p>
            <a:pPr algn="l">
              <a:lnSpc>
                <a:spcPct val="100000"/>
              </a:lnSpc>
              <a:spcBef>
                <a:spcPts val="600"/>
              </a:spcBef>
            </a:pPr>
            <a:r>
              <a:rPr sz="1340" b="0" i="0">
                <a:solidFill>
                  <a:srgbClr val="1B2B3C"/>
                </a:solidFill>
                <a:latin typeface="Aptos"/>
              </a:rPr>
              <a:t>•  Return structured results the agent can reason about.</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07608" y="2093976"/>
            <a:ext cx="521208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07608" y="2093976"/>
            <a:ext cx="73152" cy="5029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3912" y="2185416"/>
            <a:ext cx="495604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Entity</a:t>
            </a:r>
          </a:p>
        </p:txBody>
      </p:sp>
      <p:sp>
        <p:nvSpPr>
          <p:cNvPr id="15" name="Rounded Rectangle 14"/>
          <p:cNvSpPr/>
          <p:nvPr/>
        </p:nvSpPr>
        <p:spPr>
          <a:xfrm>
            <a:off x="6007608" y="2825496"/>
            <a:ext cx="521208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07608" y="2825496"/>
            <a:ext cx="73152" cy="50292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53912" y="2916936"/>
            <a:ext cx="495604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CRUD</a:t>
            </a:r>
          </a:p>
        </p:txBody>
      </p:sp>
      <p:sp>
        <p:nvSpPr>
          <p:cNvPr id="18" name="Rounded Rectangle 17"/>
          <p:cNvSpPr/>
          <p:nvPr/>
        </p:nvSpPr>
        <p:spPr>
          <a:xfrm>
            <a:off x="6007608" y="3557016"/>
            <a:ext cx="521208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07608" y="3557016"/>
            <a:ext cx="73152" cy="50292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53912" y="3648456"/>
            <a:ext cx="495604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Permission</a:t>
            </a:r>
          </a:p>
        </p:txBody>
      </p:sp>
      <p:sp>
        <p:nvSpPr>
          <p:cNvPr id="21" name="Rounded Rectangle 20"/>
          <p:cNvSpPr/>
          <p:nvPr/>
        </p:nvSpPr>
        <p:spPr>
          <a:xfrm>
            <a:off x="6007608" y="4288536"/>
            <a:ext cx="5212080" cy="50292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07608" y="4288536"/>
            <a:ext cx="73152" cy="50292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53912" y="4379976"/>
            <a:ext cx="4956048" cy="35661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Output</a:t>
            </a:r>
          </a:p>
        </p:txBody>
      </p:sp>
      <p:sp>
        <p:nvSpPr>
          <p:cNvPr id="24" name="TextBox 23"/>
          <p:cNvSpPr txBox="1"/>
          <p:nvPr/>
        </p:nvSpPr>
        <p:spPr>
          <a:xfrm>
            <a:off x="6419088" y="5047488"/>
            <a:ext cx="4572000" cy="402336"/>
          </a:xfrm>
          <a:prstGeom prst="rect">
            <a:avLst/>
          </a:prstGeom>
          <a:noFill/>
        </p:spPr>
        <p:txBody>
          <a:bodyPr wrap="square" anchor="ctr" lIns="0" rIns="0" tIns="0" bIns="0">
            <a:normAutofit/>
          </a:bodyPr>
          <a:lstStyle/>
          <a:p>
            <a:pPr algn="ctr">
              <a:lnSpc>
                <a:spcPct val="105000"/>
              </a:lnSpc>
              <a:spcBef>
                <a:spcPts val="0"/>
              </a:spcBef>
            </a:pPr>
            <a:r>
              <a:rPr sz="1350" b="1" i="0">
                <a:solidFill>
                  <a:srgbClr val="009B82"/>
                </a:solidFill>
                <a:latin typeface="Aptos"/>
              </a:rPr>
              <a:t>Tool contract = agent API</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The tool contract is the hidden product surface for agents.</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Step three is the harness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Test inside the actual agent workspace.</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Do not test only in your own app. Test inside Codex, Cursor, or the agent host your customer uses. The core question is whether the user's agent can complete the job with your surface and tools.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Open the app where the agent can see it.</a:t>
            </a:r>
          </a:p>
          <a:p>
            <a:pPr algn="l">
              <a:lnSpc>
                <a:spcPct val="100000"/>
              </a:lnSpc>
              <a:spcBef>
                <a:spcPts val="600"/>
              </a:spcBef>
            </a:pPr>
            <a:r>
              <a:rPr sz="1340" b="0" i="0">
                <a:solidFill>
                  <a:srgbClr val="1B2B3C"/>
                </a:solidFill>
                <a:latin typeface="Aptos"/>
              </a:rPr>
              <a:t>•  Run task prompts against real project context.</a:t>
            </a:r>
          </a:p>
          <a:p>
            <a:pPr algn="l">
              <a:lnSpc>
                <a:spcPct val="100000"/>
              </a:lnSpc>
              <a:spcBef>
                <a:spcPts val="600"/>
              </a:spcBef>
            </a:pPr>
            <a:r>
              <a:rPr sz="1340" b="0" i="0">
                <a:solidFill>
                  <a:srgbClr val="1B2B3C"/>
                </a:solidFill>
                <a:latin typeface="Aptos"/>
              </a:rPr>
              <a:t>•  Capture logs, diffs, approvals, and write-back.</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63056" y="2185416"/>
            <a:ext cx="4937760" cy="5303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63056" y="2185416"/>
            <a:ext cx="73152" cy="53035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276856"/>
            <a:ext cx="4681728" cy="3840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Agent host</a:t>
            </a:r>
          </a:p>
        </p:txBody>
      </p:sp>
      <p:sp>
        <p:nvSpPr>
          <p:cNvPr id="15" name="Right Arrow 14"/>
          <p:cNvSpPr/>
          <p:nvPr/>
        </p:nvSpPr>
        <p:spPr>
          <a:xfrm rot="5400000">
            <a:off x="8412480" y="2734056"/>
            <a:ext cx="292608"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63056" y="2953512"/>
            <a:ext cx="4937760" cy="5303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63056" y="2953512"/>
            <a:ext cx="73152" cy="530352"/>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044952"/>
            <a:ext cx="4681728" cy="3840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Browser surface</a:t>
            </a:r>
          </a:p>
        </p:txBody>
      </p:sp>
      <p:sp>
        <p:nvSpPr>
          <p:cNvPr id="19" name="Right Arrow 18"/>
          <p:cNvSpPr/>
          <p:nvPr/>
        </p:nvSpPr>
        <p:spPr>
          <a:xfrm rot="5400000">
            <a:off x="8412480" y="3502151"/>
            <a:ext cx="292608"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63056" y="3721608"/>
            <a:ext cx="4937760" cy="5303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21608"/>
            <a:ext cx="73152" cy="53035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813048"/>
            <a:ext cx="4681728" cy="3840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Tool bridge</a:t>
            </a:r>
          </a:p>
        </p:txBody>
      </p:sp>
      <p:sp>
        <p:nvSpPr>
          <p:cNvPr id="23" name="Right Arrow 22"/>
          <p:cNvSpPr/>
          <p:nvPr/>
        </p:nvSpPr>
        <p:spPr>
          <a:xfrm rot="5400000">
            <a:off x="8412480" y="4270248"/>
            <a:ext cx="292608"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63056" y="4489704"/>
            <a:ext cx="4937760" cy="53035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3056" y="4489704"/>
            <a:ext cx="73152" cy="53035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4581144"/>
            <a:ext cx="4681728" cy="38404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Audit trail</a:t>
            </a:r>
          </a:p>
        </p:txBody>
      </p:sp>
      <p:sp>
        <p:nvSpPr>
          <p:cNvPr id="27" name="Rectangle 26"/>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If it only works in your demo harness, it is not yet agent-native.</a:t>
            </a:r>
          </a:p>
        </p:txBody>
      </p:sp>
      <p:sp>
        <p:nvSpPr>
          <p:cNvPr id="29" name="TextBox 28"/>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Avoid fake agent-native patterns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Some AI products look modern but keep the old architecture.</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most common failure is using an agent as a router for hard-coded workflows. The product may talk like an agent, but it cannot handle new outcomes, share state, or compose tools in unexpected ways.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Avoid one giant workflow tool.</a:t>
            </a:r>
          </a:p>
          <a:p>
            <a:pPr algn="l">
              <a:lnSpc>
                <a:spcPct val="100000"/>
              </a:lnSpc>
              <a:spcBef>
                <a:spcPts val="600"/>
              </a:spcBef>
            </a:pPr>
            <a:r>
              <a:rPr sz="1340" b="0" i="0">
                <a:solidFill>
                  <a:srgbClr val="1B2B3C"/>
                </a:solidFill>
                <a:latin typeface="Aptos"/>
              </a:rPr>
              <a:t>•  Avoid silent actions that users cannot inspect.</a:t>
            </a:r>
          </a:p>
          <a:p>
            <a:pPr algn="l">
              <a:lnSpc>
                <a:spcPct val="100000"/>
              </a:lnSpc>
              <a:spcBef>
                <a:spcPts val="600"/>
              </a:spcBef>
            </a:pPr>
            <a:r>
              <a:rPr sz="1340" b="0" i="0">
                <a:solidFill>
                  <a:srgbClr val="1B2B3C"/>
                </a:solidFill>
                <a:latin typeface="Aptos"/>
              </a:rPr>
              <a:t>•  Avoid UI actions with no matching agent capability.</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24728" y="2734056"/>
            <a:ext cx="1572768" cy="107899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24728" y="2734056"/>
            <a:ext cx="73152" cy="107899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71032" y="2825496"/>
            <a:ext cx="1316736" cy="93268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Router agent</a:t>
            </a:r>
          </a:p>
        </p:txBody>
      </p:sp>
      <p:sp>
        <p:nvSpPr>
          <p:cNvPr id="15" name="Rounded Rectangle 14"/>
          <p:cNvSpPr/>
          <p:nvPr/>
        </p:nvSpPr>
        <p:spPr>
          <a:xfrm>
            <a:off x="7699248" y="2734056"/>
            <a:ext cx="1572768" cy="107899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99248" y="2734056"/>
            <a:ext cx="73152" cy="107899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45552" y="2825496"/>
            <a:ext cx="1316736" cy="93268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Silent actions</a:t>
            </a:r>
          </a:p>
        </p:txBody>
      </p:sp>
      <p:sp>
        <p:nvSpPr>
          <p:cNvPr id="18" name="Rounded Rectangle 17"/>
          <p:cNvSpPr/>
          <p:nvPr/>
        </p:nvSpPr>
        <p:spPr>
          <a:xfrm>
            <a:off x="9573767" y="2734056"/>
            <a:ext cx="1572768" cy="1078992"/>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73767" y="2734056"/>
            <a:ext cx="73152" cy="1078992"/>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1" y="2825496"/>
            <a:ext cx="1316736" cy="932688"/>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No parity</a:t>
            </a:r>
          </a:p>
        </p:txBody>
      </p:sp>
      <p:sp>
        <p:nvSpPr>
          <p:cNvPr id="21" name="TextBox 20"/>
          <p:cNvSpPr txBox="1"/>
          <p:nvPr/>
        </p:nvSpPr>
        <p:spPr>
          <a:xfrm>
            <a:off x="6071616" y="4636008"/>
            <a:ext cx="5212080" cy="402336"/>
          </a:xfrm>
          <a:prstGeom prst="rect">
            <a:avLst/>
          </a:prstGeom>
          <a:noFill/>
        </p:spPr>
        <p:txBody>
          <a:bodyPr wrap="square" anchor="ctr" lIns="0" rIns="0" tIns="0" bIns="0">
            <a:normAutofit/>
          </a:bodyPr>
          <a:lstStyle/>
          <a:p>
            <a:pPr algn="ctr">
              <a:lnSpc>
                <a:spcPct val="105000"/>
              </a:lnSpc>
              <a:spcBef>
                <a:spcPts val="0"/>
              </a:spcBef>
            </a:pPr>
            <a:r>
              <a:rPr sz="1340" b="1" i="0">
                <a:solidFill>
                  <a:srgbClr val="E05A6B"/>
                </a:solidFill>
                <a:latin typeface="Aptos"/>
              </a:rPr>
              <a:t>Fake agentic = brittle automation</a:t>
            </a:r>
          </a:p>
        </p:txBody>
      </p:sp>
      <p:sp>
        <p:nvSpPr>
          <p:cNvPr id="22" name="Rectangle 21"/>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Agent-native products expose capability; they do not trap intelligence behind brittle flows.</a:t>
            </a:r>
          </a:p>
        </p:txBody>
      </p:sp>
      <p:sp>
        <p:nvSpPr>
          <p:cNvPr id="24" name="TextBox 23"/>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Launch only after parity checks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The acceptance test is a real agent task.</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A launchable agent-native app should pass a simple test: can the user's agent accomplish a valuable outcome inside the app, using real context, while the human can see and approve the important changes?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Every UI action needs an agent path.</a:t>
            </a:r>
          </a:p>
          <a:p>
            <a:pPr algn="l">
              <a:lnSpc>
                <a:spcPct val="100000"/>
              </a:lnSpc>
              <a:spcBef>
                <a:spcPts val="600"/>
              </a:spcBef>
            </a:pPr>
            <a:r>
              <a:rPr sz="1340" b="0" i="0">
                <a:solidFill>
                  <a:srgbClr val="1B2B3C"/>
                </a:solidFill>
                <a:latin typeface="Aptos"/>
              </a:rPr>
              <a:t>•  Every key entity needs complete CRUD.</a:t>
            </a:r>
          </a:p>
          <a:p>
            <a:pPr algn="l">
              <a:lnSpc>
                <a:spcPct val="100000"/>
              </a:lnSpc>
              <a:spcBef>
                <a:spcPts val="600"/>
              </a:spcBef>
            </a:pPr>
            <a:r>
              <a:rPr sz="1340" b="0" i="0">
                <a:solidFill>
                  <a:srgbClr val="1B2B3C"/>
                </a:solidFill>
                <a:latin typeface="Aptos"/>
              </a:rPr>
              <a:t>•  Every risky operation needs an approval gate.</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70448" y="2185416"/>
            <a:ext cx="2331720" cy="51206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8" y="234086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UI parity</a:t>
            </a:r>
          </a:p>
        </p:txBody>
      </p:sp>
      <p:sp>
        <p:nvSpPr>
          <p:cNvPr id="14" name="Rectangle 13"/>
          <p:cNvSpPr/>
          <p:nvPr/>
        </p:nvSpPr>
        <p:spPr>
          <a:xfrm>
            <a:off x="8659367" y="2185416"/>
            <a:ext cx="2331720"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87967" y="234086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Full CRUD</a:t>
            </a:r>
          </a:p>
        </p:txBody>
      </p:sp>
      <p:sp>
        <p:nvSpPr>
          <p:cNvPr id="16" name="Rectangle 15"/>
          <p:cNvSpPr/>
          <p:nvPr/>
        </p:nvSpPr>
        <p:spPr>
          <a:xfrm>
            <a:off x="5870448" y="3008376"/>
            <a:ext cx="2331720" cy="51206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316382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Visible tool use</a:t>
            </a:r>
          </a:p>
        </p:txBody>
      </p:sp>
      <p:sp>
        <p:nvSpPr>
          <p:cNvPr id="18" name="Rectangle 17"/>
          <p:cNvSpPr/>
          <p:nvPr/>
        </p:nvSpPr>
        <p:spPr>
          <a:xfrm>
            <a:off x="8659367" y="3008376"/>
            <a:ext cx="2331720"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87967" y="316382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Approval gates</a:t>
            </a:r>
          </a:p>
        </p:txBody>
      </p:sp>
      <p:sp>
        <p:nvSpPr>
          <p:cNvPr id="20" name="Rectangle 19"/>
          <p:cNvSpPr/>
          <p:nvPr/>
        </p:nvSpPr>
        <p:spPr>
          <a:xfrm>
            <a:off x="5870448" y="3831336"/>
            <a:ext cx="2331720" cy="51206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8" y="398678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Shared state</a:t>
            </a:r>
          </a:p>
        </p:txBody>
      </p:sp>
      <p:sp>
        <p:nvSpPr>
          <p:cNvPr id="22" name="Rectangle 21"/>
          <p:cNvSpPr/>
          <p:nvPr/>
        </p:nvSpPr>
        <p:spPr>
          <a:xfrm>
            <a:off x="8659367" y="3831336"/>
            <a:ext cx="2331720"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87967" y="3986784"/>
            <a:ext cx="1874519" cy="128016"/>
          </a:xfrm>
          <a:prstGeom prst="rect">
            <a:avLst/>
          </a:prstGeom>
          <a:noFill/>
        </p:spPr>
        <p:txBody>
          <a:bodyPr wrap="square" anchor="ctr" lIns="0" rIns="0" tIns="0" bIns="0">
            <a:normAutofit/>
          </a:bodyPr>
          <a:lstStyle/>
          <a:p>
            <a:pPr algn="ctr">
              <a:lnSpc>
                <a:spcPct val="105000"/>
              </a:lnSpc>
              <a:spcBef>
                <a:spcPts val="0"/>
              </a:spcBef>
            </a:pPr>
            <a:r>
              <a:rPr sz="880" b="1" i="0">
                <a:solidFill>
                  <a:srgbClr val="0A1628"/>
                </a:solidFill>
                <a:latin typeface="Aptos"/>
              </a:rPr>
              <a:t>Memory write-back</a:t>
            </a:r>
          </a:p>
        </p:txBody>
      </p:sp>
      <p:sp>
        <p:nvSpPr>
          <p:cNvPr id="24" name="TextBox 23"/>
          <p:cNvSpPr txBox="1"/>
          <p:nvPr/>
        </p:nvSpPr>
        <p:spPr>
          <a:xfrm>
            <a:off x="6190488" y="4818888"/>
            <a:ext cx="5074920" cy="402336"/>
          </a:xfrm>
          <a:prstGeom prst="rect">
            <a:avLst/>
          </a:prstGeom>
          <a:noFill/>
        </p:spPr>
        <p:txBody>
          <a:bodyPr wrap="square" anchor="ctr" lIns="0" rIns="0" tIns="0" bIns="0">
            <a:normAutofit/>
          </a:bodyPr>
          <a:lstStyle/>
          <a:p>
            <a:pPr algn="ctr">
              <a:lnSpc>
                <a:spcPct val="105000"/>
              </a:lnSpc>
              <a:spcBef>
                <a:spcPts val="0"/>
              </a:spcBef>
            </a:pPr>
            <a:r>
              <a:rPr sz="1340" b="1" i="0">
                <a:solidFill>
                  <a:srgbClr val="009B82"/>
                </a:solidFill>
                <a:latin typeface="Aptos"/>
              </a:rPr>
              <a:t>Launch when the agent completes a real job</a:t>
            </a:r>
          </a:p>
        </p:txBody>
      </p:sp>
      <p:sp>
        <p:nvSpPr>
          <p:cNvPr id="25" name="Rectangle 24"/>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Treat parity, visibility, and approval as launch requirements.</a:t>
            </a:r>
          </a:p>
        </p:txBody>
      </p:sp>
      <p:sp>
        <p:nvSpPr>
          <p:cNvPr id="27" name="TextBox 26"/>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Recommendation: build the narrow loop</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One wedge, one surface, one agent workflow.</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The right next move is a narrow v1: choose one repeated job, design the shared surface, expose the smallest complete tool contract, and test it inside the agent host your buyer already uses.</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Do not start with a general-purpose agent.</a:t>
            </a:r>
          </a:p>
          <a:p>
            <a:pPr algn="l">
              <a:lnSpc>
                <a:spcPct val="100000"/>
              </a:lnSpc>
              <a:spcBef>
                <a:spcPts val="600"/>
              </a:spcBef>
            </a:pPr>
            <a:r>
              <a:rPr sz="1340" b="0" i="0">
                <a:solidFill>
                  <a:srgbClr val="1B2B3C"/>
                </a:solidFill>
                <a:latin typeface="Aptos"/>
              </a:rPr>
              <a:t>•  Do not over-invest in decorative AI UX.</a:t>
            </a:r>
          </a:p>
          <a:p>
            <a:pPr algn="l">
              <a:lnSpc>
                <a:spcPct val="100000"/>
              </a:lnSpc>
              <a:spcBef>
                <a:spcPts val="600"/>
              </a:spcBef>
            </a:pPr>
            <a:r>
              <a:rPr sz="1340" b="0" i="0">
                <a:solidFill>
                  <a:srgbClr val="1B2B3C"/>
                </a:solidFill>
                <a:latin typeface="Aptos"/>
              </a:rPr>
              <a:t>•  Do build the loop users can trust and repeat.</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80" y="2761488"/>
            <a:ext cx="1152144" cy="86868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0" y="2761488"/>
            <a:ext cx="73152" cy="86868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15584" y="2852928"/>
            <a:ext cx="896112" cy="72237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Week 1</a:t>
            </a:r>
          </a:p>
        </p:txBody>
      </p:sp>
      <p:sp>
        <p:nvSpPr>
          <p:cNvPr id="15" name="Right Arrow 14"/>
          <p:cNvSpPr/>
          <p:nvPr/>
        </p:nvSpPr>
        <p:spPr>
          <a:xfrm>
            <a:off x="6839712" y="3054096"/>
            <a:ext cx="320040"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50608" y="2761488"/>
            <a:ext cx="1152144" cy="86868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50608" y="2761488"/>
            <a:ext cx="73152" cy="86868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96912" y="2852928"/>
            <a:ext cx="896112" cy="72237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Week 2</a:t>
            </a:r>
          </a:p>
        </p:txBody>
      </p:sp>
      <p:sp>
        <p:nvSpPr>
          <p:cNvPr id="19" name="Right Arrow 18"/>
          <p:cNvSpPr/>
          <p:nvPr/>
        </p:nvSpPr>
        <p:spPr>
          <a:xfrm>
            <a:off x="8321040" y="3054096"/>
            <a:ext cx="320040"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31936" y="2761488"/>
            <a:ext cx="1152144" cy="86868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31936" y="2761488"/>
            <a:ext cx="73152" cy="868680"/>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2852928"/>
            <a:ext cx="896112" cy="72237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Week 3</a:t>
            </a:r>
          </a:p>
        </p:txBody>
      </p:sp>
      <p:sp>
        <p:nvSpPr>
          <p:cNvPr id="23" name="Right Arrow 22"/>
          <p:cNvSpPr/>
          <p:nvPr/>
        </p:nvSpPr>
        <p:spPr>
          <a:xfrm>
            <a:off x="9802368" y="3054096"/>
            <a:ext cx="320040" cy="146304"/>
          </a:xfrm>
          <a:prstGeom prst="rightArrow">
            <a:avLst/>
          </a:prstGeom>
          <a:solidFill>
            <a:srgbClr val="D9DF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13264" y="2761488"/>
            <a:ext cx="1152144" cy="868680"/>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13264" y="2761488"/>
            <a:ext cx="73152" cy="86868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59568" y="2852928"/>
            <a:ext cx="896112" cy="722376"/>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Week 4</a:t>
            </a:r>
          </a:p>
        </p:txBody>
      </p:sp>
      <p:sp>
        <p:nvSpPr>
          <p:cNvPr id="27" name="TextBox 26"/>
          <p:cNvSpPr txBox="1"/>
          <p:nvPr/>
        </p:nvSpPr>
        <p:spPr>
          <a:xfrm>
            <a:off x="6345936" y="4590288"/>
            <a:ext cx="4572000" cy="402336"/>
          </a:xfrm>
          <a:prstGeom prst="rect">
            <a:avLst/>
          </a:prstGeom>
          <a:noFill/>
        </p:spPr>
        <p:txBody>
          <a:bodyPr wrap="square" anchor="ctr" lIns="0" rIns="0" tIns="0" bIns="0">
            <a:normAutofit/>
          </a:bodyPr>
          <a:lstStyle/>
          <a:p>
            <a:pPr algn="ctr">
              <a:lnSpc>
                <a:spcPct val="105000"/>
              </a:lnSpc>
              <a:spcBef>
                <a:spcPts val="0"/>
              </a:spcBef>
            </a:pPr>
            <a:r>
              <a:rPr sz="1370" b="1" i="0">
                <a:solidFill>
                  <a:srgbClr val="0A1628"/>
                </a:solidFill>
                <a:latin typeface="Aptos"/>
              </a:rPr>
              <a:t>One job, one surface, one loop</a:t>
            </a:r>
          </a:p>
        </p:txBody>
      </p:sp>
      <p:sp>
        <p:nvSpPr>
          <p:cNvPr id="28" name="Rectangle 27"/>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Win the first workflow, then let context and tool coverage expand.</a:t>
            </a:r>
          </a:p>
        </p:txBody>
      </p:sp>
      <p:sp>
        <p:nvSpPr>
          <p:cNvPr id="30" name="TextBox 29"/>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530352"/>
          </a:xfrm>
          <a:prstGeom prst="rect">
            <a:avLst/>
          </a:prstGeom>
          <a:noFill/>
        </p:spPr>
        <p:txBody>
          <a:bodyPr wrap="square" anchor="t" lIns="0" rIns="0" tIns="0" bIns="0">
            <a:normAutofit/>
          </a:bodyPr>
          <a:lstStyle/>
          <a:p>
            <a:pPr algn="l">
              <a:lnSpc>
                <a:spcPct val="105000"/>
              </a:lnSpc>
              <a:spcBef>
                <a:spcPts val="0"/>
              </a:spcBef>
            </a:pPr>
            <a:r>
              <a:rPr sz="2900" b="1" i="0">
                <a:solidFill>
                  <a:srgbClr val="0A1628"/>
                </a:solidFill>
                <a:latin typeface="Aptos Display"/>
              </a:rPr>
              <a:t>Sources and validation notes</a:t>
            </a:r>
          </a:p>
        </p:txBody>
      </p:sp>
      <p:sp>
        <p:nvSpPr>
          <p:cNvPr id="5" name="Rectangle 4"/>
          <p:cNvSpPr/>
          <p:nvPr/>
        </p:nvSpPr>
        <p:spPr>
          <a:xfrm>
            <a:off x="566928" y="960120"/>
            <a:ext cx="118872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69848"/>
            <a:ext cx="11057839" cy="329184"/>
          </a:xfrm>
          <a:prstGeom prst="rect">
            <a:avLst/>
          </a:prstGeom>
          <a:noFill/>
        </p:spPr>
        <p:txBody>
          <a:bodyPr wrap="square" anchor="t" lIns="0" rIns="0" tIns="0" bIns="0">
            <a:normAutofit/>
          </a:bodyPr>
          <a:lstStyle/>
          <a:p>
            <a:pPr algn="l">
              <a:lnSpc>
                <a:spcPct val="105000"/>
              </a:lnSpc>
              <a:spcBef>
                <a:spcPts val="0"/>
              </a:spcBef>
            </a:pPr>
            <a:r>
              <a:rPr sz="1440" b="0" i="0">
                <a:solidFill>
                  <a:srgbClr val="5B6B7C"/>
                </a:solidFill>
                <a:latin typeface="Aptos"/>
              </a:rPr>
              <a:t>Claims are grounded in the transcript plus official product/protocol docs.</a:t>
            </a:r>
          </a:p>
        </p:txBody>
      </p:sp>
      <p:sp>
        <p:nvSpPr>
          <p:cNvPr id="7" name="Rounded Rectangle 6"/>
          <p:cNvSpPr/>
          <p:nvPr/>
        </p:nvSpPr>
        <p:spPr>
          <a:xfrm>
            <a:off x="566928" y="1444752"/>
            <a:ext cx="4526280" cy="4315968"/>
          </a:xfrm>
          <a:prstGeom prst="roundRect">
            <a:avLst>
              <a:gd name="adj" fmla="val 8000"/>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794760" cy="256032"/>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Aptos Display"/>
              </a:rPr>
              <a:t>Narrative</a:t>
            </a:r>
          </a:p>
        </p:txBody>
      </p:sp>
      <p:sp>
        <p:nvSpPr>
          <p:cNvPr id="9" name="TextBox 8"/>
          <p:cNvSpPr txBox="1"/>
          <p:nvPr/>
        </p:nvSpPr>
        <p:spPr>
          <a:xfrm>
            <a:off x="822960" y="1975104"/>
            <a:ext cx="3950208" cy="1664208"/>
          </a:xfrm>
          <a:prstGeom prst="rect">
            <a:avLst/>
          </a:prstGeom>
          <a:noFill/>
        </p:spPr>
        <p:txBody>
          <a:bodyPr wrap="square" anchor="t" lIns="0" rIns="0" tIns="0" bIns="0">
            <a:noAutofit/>
          </a:bodyPr>
          <a:lstStyle/>
          <a:p>
            <a:pPr algn="l">
              <a:lnSpc>
                <a:spcPct val="102000"/>
              </a:lnSpc>
              <a:spcBef>
                <a:spcPts val="0"/>
              </a:spcBef>
            </a:pPr>
            <a:r>
              <a:rPr sz="1480" b="0" i="0">
                <a:solidFill>
                  <a:srgbClr val="1B2B3C"/>
                </a:solidFill>
                <a:latin typeface="Aptos"/>
              </a:rPr>
              <a:t>This deck uses the supplied video transcript for the core thesis and current official documentation for product/protocol claims. No market-size numbers or adoption statistics were invented.</a:t>
            </a:r>
          </a:p>
        </p:txBody>
      </p:sp>
      <p:sp>
        <p:nvSpPr>
          <p:cNvPr id="10" name="TextBox 9"/>
          <p:cNvSpPr txBox="1"/>
          <p:nvPr/>
        </p:nvSpPr>
        <p:spPr>
          <a:xfrm>
            <a:off x="841248" y="3730752"/>
            <a:ext cx="3858768" cy="1755648"/>
          </a:xfrm>
          <a:prstGeom prst="rect">
            <a:avLst/>
          </a:prstGeom>
          <a:noFill/>
        </p:spPr>
        <p:txBody>
          <a:bodyPr wrap="square" anchor="t" lIns="0" rIns="0" tIns="0" bIns="0">
            <a:noAutofit/>
          </a:bodyPr>
          <a:lstStyle/>
          <a:p>
            <a:pPr algn="l">
              <a:lnSpc>
                <a:spcPct val="100000"/>
              </a:lnSpc>
              <a:spcBef>
                <a:spcPts val="600"/>
              </a:spcBef>
            </a:pPr>
            <a:r>
              <a:rPr sz="1340" b="0" i="0">
                <a:solidFill>
                  <a:srgbClr val="1B2B3C"/>
                </a:solidFill>
                <a:latin typeface="Aptos"/>
              </a:rPr>
              <a:t>•  OpenAI Codex docs and GitHub repo.</a:t>
            </a:r>
          </a:p>
          <a:p>
            <a:pPr algn="l">
              <a:lnSpc>
                <a:spcPct val="100000"/>
              </a:lnSpc>
              <a:spcBef>
                <a:spcPts val="600"/>
              </a:spcBef>
            </a:pPr>
            <a:r>
              <a:rPr sz="1340" b="0" i="0">
                <a:solidFill>
                  <a:srgbClr val="1B2B3C"/>
                </a:solidFill>
                <a:latin typeface="Aptos"/>
              </a:rPr>
              <a:t>•  Model Context Protocol docs and tools specification.</a:t>
            </a:r>
          </a:p>
          <a:p>
            <a:pPr algn="l">
              <a:lnSpc>
                <a:spcPct val="100000"/>
              </a:lnSpc>
              <a:spcBef>
                <a:spcPts val="600"/>
              </a:spcBef>
            </a:pPr>
            <a:r>
              <a:rPr sz="1340" b="0" i="0">
                <a:solidFill>
                  <a:srgbClr val="1B2B3C"/>
                </a:solidFill>
                <a:latin typeface="Aptos"/>
              </a:rPr>
              <a:t>•  Notion MCP and Cursor documentation.</a:t>
            </a:r>
          </a:p>
        </p:txBody>
      </p:sp>
      <p:sp>
        <p:nvSpPr>
          <p:cNvPr id="11" name="Rounded Rectangle 10"/>
          <p:cNvSpPr/>
          <p:nvPr/>
        </p:nvSpPr>
        <p:spPr>
          <a:xfrm>
            <a:off x="5349240" y="1444752"/>
            <a:ext cx="6263640" cy="431596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60720" y="2322576"/>
            <a:ext cx="2651760" cy="9326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0" y="2322576"/>
            <a:ext cx="73152" cy="93268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024" y="2414016"/>
            <a:ext cx="2395728" cy="78638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OpenAI Codex</a:t>
            </a:r>
          </a:p>
        </p:txBody>
      </p:sp>
      <p:sp>
        <p:nvSpPr>
          <p:cNvPr id="15" name="Rounded Rectangle 14"/>
          <p:cNvSpPr/>
          <p:nvPr/>
        </p:nvSpPr>
        <p:spPr>
          <a:xfrm>
            <a:off x="8705088" y="2322576"/>
            <a:ext cx="2651760" cy="9326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05088" y="2322576"/>
            <a:ext cx="73152" cy="9326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51392" y="2414016"/>
            <a:ext cx="2395728" cy="78638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MCP docs/spec</a:t>
            </a:r>
          </a:p>
        </p:txBody>
      </p:sp>
      <p:sp>
        <p:nvSpPr>
          <p:cNvPr id="18" name="Rounded Rectangle 17"/>
          <p:cNvSpPr/>
          <p:nvPr/>
        </p:nvSpPr>
        <p:spPr>
          <a:xfrm>
            <a:off x="5760720" y="3648456"/>
            <a:ext cx="2651760" cy="9326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0" y="3648456"/>
            <a:ext cx="73152" cy="93268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07024" y="3739896"/>
            <a:ext cx="2395728" cy="78638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Notion MCP</a:t>
            </a:r>
          </a:p>
        </p:txBody>
      </p:sp>
      <p:sp>
        <p:nvSpPr>
          <p:cNvPr id="21" name="Rounded Rectangle 20"/>
          <p:cNvSpPr/>
          <p:nvPr/>
        </p:nvSpPr>
        <p:spPr>
          <a:xfrm>
            <a:off x="8705088" y="3648456"/>
            <a:ext cx="2651760" cy="932688"/>
          </a:xfrm>
          <a:prstGeom prst="roundRect">
            <a:avLst>
              <a:gd name="adj" fmla="val 80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05088" y="3648456"/>
            <a:ext cx="73152" cy="93268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51392" y="3739896"/>
            <a:ext cx="2395728" cy="786384"/>
          </a:xfrm>
          <a:prstGeom prst="rect">
            <a:avLst/>
          </a:prstGeom>
          <a:noFill/>
        </p:spPr>
        <p:txBody>
          <a:bodyPr wrap="square" anchor="ctr" lIns="0" rIns="0" tIns="0" bIns="0">
            <a:normAutofit/>
          </a:bodyPr>
          <a:lstStyle/>
          <a:p>
            <a:pPr algn="l">
              <a:lnSpc>
                <a:spcPct val="105000"/>
              </a:lnSpc>
              <a:spcBef>
                <a:spcPts val="0"/>
              </a:spcBef>
            </a:pPr>
            <a:r>
              <a:rPr sz="1100" b="1" i="0">
                <a:solidFill>
                  <a:srgbClr val="0A1628"/>
                </a:solidFill>
                <a:latin typeface="Aptos Display"/>
              </a:rPr>
              <a:t>Cursor docs</a:t>
            </a:r>
          </a:p>
        </p:txBody>
      </p:sp>
      <p:sp>
        <p:nvSpPr>
          <p:cNvPr id="24" name="Rectangle 23"/>
          <p:cNvSpPr/>
          <p:nvPr/>
        </p:nvSpPr>
        <p:spPr>
          <a:xfrm>
            <a:off x="566928" y="5870448"/>
            <a:ext cx="11045952" cy="49377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952744"/>
            <a:ext cx="10625328" cy="292608"/>
          </a:xfrm>
          <a:prstGeom prst="rect">
            <a:avLst/>
          </a:prstGeom>
          <a:noFill/>
        </p:spPr>
        <p:txBody>
          <a:bodyPr wrap="square" anchor="t" lIns="0" rIns="0" tIns="0" bIns="0">
            <a:normAutofit/>
          </a:bodyPr>
          <a:lstStyle/>
          <a:p>
            <a:pPr algn="l">
              <a:lnSpc>
                <a:spcPct val="105000"/>
              </a:lnSpc>
              <a:spcBef>
                <a:spcPts val="0"/>
              </a:spcBef>
            </a:pPr>
            <a:r>
              <a:rPr sz="1280" b="1" i="0">
                <a:solidFill>
                  <a:srgbClr val="FFFFFF"/>
                </a:solidFill>
                <a:latin typeface="Aptos Display"/>
              </a:rPr>
              <a:t>Source-backed narrative matters more than unsupported hype.</a:t>
            </a:r>
          </a:p>
        </p:txBody>
      </p:sp>
      <p:sp>
        <p:nvSpPr>
          <p:cNvPr id="26" name="TextBox 25"/>
          <p:cNvSpPr txBox="1"/>
          <p:nvPr/>
        </p:nvSpPr>
        <p:spPr>
          <a:xfrm>
            <a:off x="566928"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Aptos"/>
              </a:rPr>
              <a:t>Agent-Native Apps Opportunity | Local reviewed rebuild | June 2026</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Aptos"/>
              </a:rP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10912</Words>
  <Application>Microsoft Office PowerPoint</Application>
  <PresentationFormat>Widescreen</PresentationFormat>
  <Paragraphs>1188</Paragraphs>
  <Slides>46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sheker kamma</dc:creator>
  <cp:keywords/>
  <dc:description>generated using python-pptx</dc:description>
  <cp:lastModifiedBy>sheker kamma</cp:lastModifiedBy>
  <cp:revision>1</cp:revision>
  <dcterms:created xsi:type="dcterms:W3CDTF">2013-01-27T09:14:16Z</dcterms:created>
  <dcterms:modified xsi:type="dcterms:W3CDTF">2026-05-25T15:25:33Z</dcterms:modified>
  <cp:category/>
</cp:coreProperties>
</file>