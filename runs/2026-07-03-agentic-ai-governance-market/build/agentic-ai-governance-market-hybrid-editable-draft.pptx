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414327"/>
            <a:ext cx="346001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BA9B4"/>
                </a:solidFill>
                <a:latin typeface="Consolas"/>
              </a:rPr>
              <a:t>EXECUTIVE MARKET MAP ·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757218"/>
            <a:ext cx="10591535" cy="30616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</a:pPr>
            <a:r>
              <a:rPr sz="6150" b="1">
                <a:solidFill>
                  <a:srgbClr val="EDF2F5"/>
                </a:solidFill>
                <a:latin typeface="Segoe UI"/>
              </a:rPr>
              <a:t>Do not sell governance software.</a:t>
            </a:r>
          </a:p>
          <a:p>
            <a:pPr algn="l">
              <a:lnSpc>
                <a:spcPct val="98000"/>
              </a:lnSpc>
            </a:pPr>
            <a:r>
              <a:rPr sz="6150" b="1">
                <a:solidFill>
                  <a:srgbClr val="36D3C1"/>
                </a:solidFill>
                <a:latin typeface="Segoe UI"/>
              </a:rPr>
              <a:t>Operate governed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4009329"/>
            <a:ext cx="7999014" cy="8572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BA9B4"/>
                </a:solidFill>
                <a:latin typeface="Segoe UI"/>
              </a:rPr>
              <a:t>Agent governance is being bundled into the platforms customers already own. The durable opening for HDS is a productized managed service for regulated, asset-heavy agent fleets.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5314221"/>
            <a:ext cx="2501738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50" y="5457093"/>
            <a:ext cx="2501738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HDS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5204" y="5314221"/>
            <a:ext cx="2501887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5204" y="5457093"/>
            <a:ext cx="2501887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July 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9508" y="5314221"/>
            <a:ext cx="2501738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9508" y="5457093"/>
            <a:ext cx="2501738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Enter as managed service, not standalone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50" y="6041675"/>
            <a:ext cx="8210195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50" y="6184546"/>
            <a:ext cx="8210195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Governed Agent Operations: neutral, cross-runtime, regulator-grade operations for OT-adjacent industries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582003"/>
            <a:ext cx="206851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01</a:t>
            </a:r>
            <a:r>
              <a:rPr sz="900" b="0">
                <a:solidFill>
                  <a:srgbClr val="9BA9B4"/>
                </a:solidFill>
                <a:latin typeface="Consolas"/>
              </a:rPr>
              <a:t> THE ANSWER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82003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867746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Enter the market, but avoid the software trap.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967856"/>
            <a:ext cx="7138511" cy="8411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420" b="0">
                <a:solidFill>
                  <a:srgbClr val="9BA9B4"/>
                </a:solidFill>
                <a:latin typeface="Segoe UI"/>
              </a:rPr>
              <a:t>The control-plane fight is being won by hyperscalers and SaaS suites through bundling. HDS should unbundle HARC AMS into a named, priced managed service sold per agent under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99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WHERE NOT TO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99" y="4513844"/>
            <a:ext cx="3028874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Standalone governance license SKU competing with Microsoft, ServiceNow, Salesforce, Google, and GRC incumbents.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410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WHERE TO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410" y="4513844"/>
            <a:ext cx="3028874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Cross-runtime operations for regulated, asset-heavy agent fleets touching plant, grid, maintenance, and safety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2720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HOW TO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2720" y="4513844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Sell paid pilots in 90 days at pricing that implies at least </a:t>
            </a:r>
            <a:r>
              <a:rPr sz="1050" b="1">
                <a:solidFill>
                  <a:srgbClr val="EDF2F5"/>
                </a:solidFill>
                <a:latin typeface="Segoe UI"/>
              </a:rPr>
              <a:t>$150K ARR</a:t>
            </a:r>
            <a:r>
              <a:rPr sz="1050" b="0">
                <a:solidFill>
                  <a:srgbClr val="9BA9B4"/>
                </a:solidFill>
                <a:latin typeface="Segoe UI"/>
              </a:rPr>
              <a:t> per account.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910161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02</a:t>
            </a:r>
            <a:r>
              <a:rPr sz="900" b="0">
                <a:solidFill>
                  <a:srgbClr val="E7B877"/>
                </a:solidFill>
                <a:latin typeface="Consolas"/>
              </a:rPr>
              <a:t> FIVE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910161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195904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map is crowded, but only one lane fits HDS.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51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Platform control planes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51" y="3960663"/>
            <a:ext cx="1741096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Microsoft, ServiceNow, Salesforce, Google, and Boomi are making governance a suite feature pulled toward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088" y="3534133"/>
            <a:ext cx="1741096" cy="1751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GRC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4088" y="3785497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Credo AI, Holistic AI, IBM, OneTrust, Collibra, and ModelOp split a small standalone software pool.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224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Observability and 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5224" y="3960663"/>
            <a:ext cx="1741096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Arize, Galileo, LangSmith, Langfuse, Fiddler, Braintrust, Maxim, AgentOps, and Datadog fight a developer-led PLG market.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361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Security and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361" y="3960663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AI TRiSM is the highest-budget lane, but buyers are CISOs and category power is consolidating fast.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7498" y="3534133"/>
            <a:ext cx="1741245" cy="1751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E4D7"/>
                </a:solidFill>
                <a:latin typeface="Segoe UI"/>
              </a:rPr>
              <a:t>Fellow 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7498" y="3785497"/>
            <a:ext cx="1741245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Accenture, Infosys, Deloitte, and Cognizant use agent platforms as services pull-through, not standalone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891904"/>
            <a:ext cx="235038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03</a:t>
            </a:r>
            <a:r>
              <a:rPr sz="900" b="0">
                <a:solidFill>
                  <a:srgbClr val="E7B877"/>
                </a:solidFill>
                <a:latin typeface="Consolas"/>
              </a:rPr>
              <a:t> PLATFORM GRAVITY WELLS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891904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177647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Governance is being bundled toward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277757"/>
            <a:ext cx="7138511" cy="8411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420" b="0">
                <a:solidFill>
                  <a:srgbClr val="9BA9B4"/>
                </a:solidFill>
                <a:latin typeface="Segoe UI"/>
              </a:rPr>
              <a:t>The largest vendors are not maximizing governance license revenue. They are using governance to make their agent runtime, workflow layer, and suite renewal harder to displace.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50" y="3585626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50" y="4004715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 365 monthly user price cited in the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2270" y="3585626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2270" y="4004715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Bundled M365 E7 price cited for unlimited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3491" y="3585626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$0.10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3491" y="4004715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Agentforce action-style pricing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4711" y="3585626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F6B6B"/>
                </a:solidFill>
                <a:latin typeface="Segoe UI"/>
              </a:rP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4711" y="4004715"/>
            <a:ext cx="2185932" cy="5384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Direction of travel when governance is packaged into the 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990826"/>
            <a:ext cx="7926238" cy="10131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1950" b="0">
                <a:solidFill>
                  <a:srgbClr val="EDF2F5"/>
                </a:solidFill>
                <a:latin typeface="Segoe UI"/>
              </a:rPr>
              <a:t>The pattern is clear: governance is a platform attachment, not a clean standalone product category.</a:t>
            </a:r>
            <a:r>
              <a:rPr sz="1950" b="0">
                <a:solidFill>
                  <a:srgbClr val="65727E"/>
                </a:solidFill>
                <a:latin typeface="Segoe UI"/>
              </a:rPr>
              <a:t>Implication for HDS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199" y="5811741"/>
            <a:ext cx="7688119" cy="1541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65727E"/>
                </a:solidFill>
                <a:latin typeface="Consolas"/>
              </a:rPr>
              <a:t>IMPLICATION FOR HDS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465920"/>
            <a:ext cx="169272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04</a:t>
            </a:r>
            <a:r>
              <a:rPr sz="900" b="0">
                <a:solidFill>
                  <a:srgbClr val="9BA9B4"/>
                </a:solidFill>
                <a:latin typeface="Consolas"/>
              </a:rPr>
              <a:t> MONEY VS.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465920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51663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noise is software. The money is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$492M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50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Standalone governance platform spend cited for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2270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15–20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2270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Governance software vendors splitting the small software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491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36D3C1"/>
                </a:solidFill>
                <a:latin typeface="Segoe UI"/>
              </a:rPr>
              <a:t>$13.8B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3491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AI TRiSM market estimate cited for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4711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36D3C1"/>
                </a:solidFill>
                <a:latin typeface="Segoe UI"/>
              </a:rPr>
              <a:t>$10B+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4711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Agentic services market context around deployment and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99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AVOID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99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 governance software SKU where platform vendors bundle comparable capability.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410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410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Security and identity budgets, but partner rather than fight category leaders.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720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720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The execution gap: run the governed agent fleet after tools are bought.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159044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05</a:t>
            </a:r>
            <a:r>
              <a:rPr sz="900" b="0">
                <a:solidFill>
                  <a:srgbClr val="7FE4D7"/>
                </a:solidFill>
                <a:latin typeface="Consolas"/>
              </a:rPr>
              <a:t> EXECUTION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159044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444787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Enterprise adoption is ahead of governance maturity.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813" y="3798296"/>
            <a:ext cx="361345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80" b="1">
                <a:solidFill>
                  <a:srgbClr val="0A0E13"/>
                </a:solidFill>
                <a:latin typeface="Consolas"/>
              </a:rPr>
              <a:t>72%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5390419"/>
            <a:ext cx="1580812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980" b="1">
                <a:solidFill>
                  <a:srgbClr val="EDF2F5"/>
                </a:solidFill>
                <a:latin typeface="Segoe UI"/>
              </a:rPr>
              <a:t>Enterprises</a:t>
            </a:r>
          </a:p>
          <a:p>
            <a:pPr algn="ctr">
              <a:lnSpc>
                <a:spcPct val="140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with agents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4734" y="3546187"/>
            <a:ext cx="852763" cy="21906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FF6B6B"/>
                </a:solidFill>
                <a:latin typeface="Consolas"/>
              </a:rPr>
              <a:t>51 pt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8650" y="4905847"/>
            <a:ext cx="361345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80" b="1">
                <a:solidFill>
                  <a:srgbClr val="0A0E13"/>
                </a:solidFill>
                <a:latin typeface="Consolas"/>
              </a:rPr>
              <a:t>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1340" y="5390419"/>
            <a:ext cx="1916114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980" b="1">
                <a:solidFill>
                  <a:srgbClr val="EDF2F5"/>
                </a:solidFill>
                <a:latin typeface="Segoe UI"/>
              </a:rPr>
              <a:t>Enterprises</a:t>
            </a:r>
          </a:p>
          <a:p>
            <a:pPr algn="ctr">
              <a:lnSpc>
                <a:spcPct val="140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with mature agent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1296" y="3781330"/>
            <a:ext cx="5270318" cy="664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9BA9B4"/>
                </a:solidFill>
                <a:latin typeface="Segoe UI"/>
              </a:rPr>
              <a:t>That gap is not solved by another dashboard. It requires runbooks, human escalation, runtime monitoring, incident response, evidence packs, and ownership.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1296" y="4579029"/>
            <a:ext cx="5270318" cy="4429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9BA9B4"/>
                </a:solidFill>
                <a:latin typeface="Segoe UI"/>
              </a:rPr>
              <a:t>Those are operations problems. Operations is where HDS has permission to win.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757218"/>
            <a:ext cx="122289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06</a:t>
            </a:r>
            <a:r>
              <a:rPr sz="900" b="0">
                <a:solidFill>
                  <a:srgbClr val="7FE4D7"/>
                </a:solidFill>
                <a:latin typeface="Consolas"/>
              </a:rPr>
              <a:t> WHITESPACE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757218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042961"/>
            <a:ext cx="6097038" cy="1857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Own cross-runtime governance where agents touch physical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199" y="3290805"/>
            <a:ext cx="1011529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PLATFORM CONTROL PLANES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99" y="3471775"/>
            <a:ext cx="10115297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EDF2F5"/>
                </a:solidFill>
                <a:latin typeface="Segoe UI"/>
              </a:rPr>
              <a:t>Govern the suite and the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99" y="3786092"/>
            <a:ext cx="10115297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9BA9B4"/>
                </a:solidFill>
                <a:latin typeface="Consolas"/>
              </a:rPr>
              <a:t>Agent 365 · AI Control Tower · Agentforce · Gemini Enterprise · Agentstudio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4903" y="4195657"/>
            <a:ext cx="4001739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19" b="0">
                <a:solidFill>
                  <a:srgbClr val="FF6B6B"/>
                </a:solidFill>
                <a:latin typeface="Consolas"/>
              </a:rPr>
              <a:t>PLANT, GRID, MAINTENANCE, SAFETY, REGULATED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99" y="4700469"/>
            <a:ext cx="1011529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HDS GOVERNED AGENT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199" y="4881440"/>
            <a:ext cx="10115297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EDF2F5"/>
                </a:solidFill>
                <a:latin typeface="Segoe UI"/>
              </a:rPr>
              <a:t>Run the fleet across runtime and regulator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99" y="5195757"/>
            <a:ext cx="10115297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9BA9B4"/>
                </a:solidFill>
                <a:latin typeface="Consolas"/>
              </a:rPr>
              <a:t>MES · SCADA · historians · work orders · maintenance agents · compliance packs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5710094"/>
            <a:ext cx="6726416" cy="4286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120" b="0">
                <a:solidFill>
                  <a:srgbClr val="65727E"/>
                </a:solidFill>
                <a:latin typeface="Segoe UI"/>
              </a:rPr>
              <a:t>The wedge is neutrality plus operations: govern and run every agent fleet to the standard of the buyer’s regulator.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345670"/>
            <a:ext cx="141085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07</a:t>
            </a:r>
            <a:r>
              <a:rPr sz="900" b="0">
                <a:solidFill>
                  <a:srgbClr val="7FE4D7"/>
                </a:solidFill>
                <a:latin typeface="Consolas"/>
              </a:rPr>
              <a:t> OFFER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345670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631413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Package HARC AMS as Governed Agent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00" y="3376825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00" y="3529221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EDF2F5"/>
                </a:solidFill>
                <a:latin typeface="Segoe UI"/>
              </a:rPr>
              <a:t>$/agent-under-management/month</a:t>
            </a:r>
            <a:r>
              <a:rPr sz="1050" b="0">
                <a:solidFill>
                  <a:srgbClr val="9BA9B4"/>
                </a:solidFill>
                <a:latin typeface="Segoe UI"/>
              </a:rPr>
              <a:t>, not a software seat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00" y="4122584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CORE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00" y="4274981"/>
            <a:ext cx="4513844" cy="3866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24/7 governed operations across Copilot Studio, Agentspace, Lyzr, Ema, and client runtimes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00" y="5061666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IP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00" y="5214063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Vertical packs: NERC CIP, IEC 62443, FDA 21 CFR Part 11, aviation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9231" y="3395875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WHY IT FITS HDS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9231" y="3605420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The economics look recurring and software-like, but delivery runs through an operating model HDS already understands.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9231" y="4443599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FF6B6B"/>
                </a:solidFill>
                <a:latin typeface="Consolas"/>
              </a:rPr>
              <a:t>WHAT TO AVOID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9231" y="4653143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Do not create a license SKU that enters procurement bake-offs against bundled Microsoft or ServiceNow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942802"/>
            <a:ext cx="131679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08</a:t>
            </a:r>
            <a:r>
              <a:rPr sz="900" b="0">
                <a:solidFill>
                  <a:srgbClr val="9BA9B4"/>
                </a:solidFill>
                <a:latin typeface="Consolas"/>
              </a:rPr>
              <a:t> BUYER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942802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228545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Sell to the risk owner, not only the delivery sponsor.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149" y="3097779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CIO / platform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844" y="3045393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F0B35A"/>
                </a:solidFill>
                <a:latin typeface="Consolas"/>
              </a:rPr>
              <a:t>SUITE PULL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9054" y="2993007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Already owns Microsoft, ServiceNow, Salesforce, Google, or Boomi. Default instinct is to turn on the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49" y="3935959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CISO / CRO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9844" y="3883572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36D3C1"/>
                </a:solidFill>
                <a:latin typeface="Consolas"/>
              </a:rPr>
              <a:t>RISK PULL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9054" y="3831186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Owns incident exposure, identity risk, regulated workflows, and evidence expectations when agents take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49" y="4774138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Plant / ops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844" y="4721751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36D3C1"/>
                </a:solidFill>
                <a:latin typeface="Consolas"/>
              </a:rPr>
              <a:t>RUNTIME PULL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9054" y="4669365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Needs governed automation in maintenance, grid ops, production, and safety-critical processes.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5421821"/>
            <a:ext cx="8726318" cy="5313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EDF2F5"/>
                </a:solidFill>
                <a:latin typeface="Segoe UI"/>
              </a:rPr>
              <a:t>The service should be sold with a second buying center: CISO, CRO, and operations leaders who do not trust a suite checkbox to cover regulated runtime exposure.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764313"/>
            <a:ext cx="263225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6B6B"/>
                </a:solidFill>
                <a:latin typeface="Consolas"/>
              </a:rPr>
              <a:t>09</a:t>
            </a:r>
            <a:r>
              <a:rPr sz="900" b="0">
                <a:solidFill>
                  <a:srgbClr val="FF9A9A"/>
                </a:solidFill>
                <a:latin typeface="Consolas"/>
              </a:rPr>
              <a:t> STRONGEST COUNTERARGUMENT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764313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6B6B"/>
                </a:solidFill>
                <a:latin typeface="Consola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050056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neutral-control-plane story may already be gone.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51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ServiceNow claims cross-system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51" y="4279148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AI Control Tower now positions itself as governance for agents across any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088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Microsoft partnership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4088" y="4279148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Agent 365 integration weakens the outsider-neutrality argument before HDS can own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224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Customers already own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5224" y="4279148"/>
            <a:ext cx="1741096" cy="5179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Governance as a suite feature can make third-party spend look duplicative.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361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SI software risk is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361" y="4279148"/>
            <a:ext cx="1741096" cy="5179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Product roadmaps starve when services utilization pressure returns.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7498" y="4103981"/>
            <a:ext cx="1741245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The standalone market size signal argues against building another governance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577836"/>
            <a:ext cx="206851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10</a:t>
            </a:r>
            <a:r>
              <a:rPr sz="900" b="0">
                <a:solidFill>
                  <a:srgbClr val="7FE4D7"/>
                </a:solidFill>
                <a:latin typeface="Consolas"/>
              </a:rPr>
              <a:t> CHEAPEST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77836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863579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Do not build first. Try to sell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00" y="3144659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00" y="3890418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00" y="4042814"/>
            <a:ext cx="4513844" cy="3866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EDF2F5"/>
                </a:solidFill>
                <a:latin typeface="Segoe UI"/>
              </a:rPr>
              <a:t>10 accounts</a:t>
            </a:r>
            <a:r>
              <a:rPr sz="1050" b="0">
                <a:solidFill>
                  <a:srgbClr val="9BA9B4"/>
                </a:solidFill>
                <a:latin typeface="Segoe UI"/>
              </a:rPr>
              <a:t>: five current HARC clients, five cold CISO or compliance buyers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00" y="4829500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00" y="4981896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Start with NERC CIP for utilities, then expand only after paid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9231" y="3163709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9231" y="3373253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At least </a:t>
            </a:r>
            <a:r>
              <a:rPr sz="1050" b="1">
                <a:solidFill>
                  <a:srgbClr val="EDF2F5"/>
                </a:solidFill>
                <a:latin typeface="Segoe UI"/>
              </a:rPr>
              <a:t>3</a:t>
            </a:r>
            <a:r>
              <a:rPr sz="1050" b="0">
                <a:solidFill>
                  <a:srgbClr val="EDF2F5"/>
                </a:solidFill>
                <a:latin typeface="Segoe UI"/>
              </a:rPr>
              <a:t> signed paid pilots at pricing that implies </a:t>
            </a:r>
            <a:r>
              <a:rPr sz="1050" b="1">
                <a:solidFill>
                  <a:srgbClr val="EDF2F5"/>
                </a:solidFill>
                <a:latin typeface="Segoe UI"/>
              </a:rPr>
              <a:t>$150K ARR</a:t>
            </a:r>
            <a:r>
              <a:rPr sz="1050" b="0">
                <a:solidFill>
                  <a:srgbClr val="EDF2F5"/>
                </a:solidFill>
                <a:latin typeface="Segoe UI"/>
              </a:rPr>
              <a:t> each, with one buyer outside the existing delivery sponsor.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9231" y="4211432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FF6B6B"/>
                </a:solidFill>
                <a:latin typeface="Consolas"/>
              </a:rPr>
              <a:t>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9231" y="4420977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Zero takers at real pricing. Keep AMS as engagement glue and invest in security or identity partnerships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671149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6B6B"/>
                </a:solidFill>
                <a:latin typeface="Consolas"/>
              </a:rPr>
              <a:t>11</a:t>
            </a:r>
            <a:r>
              <a:rPr sz="900" b="0">
                <a:solidFill>
                  <a:srgbClr val="FF9A9A"/>
                </a:solidFill>
                <a:latin typeface="Consolas"/>
              </a:rPr>
              <a:t> 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671149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6B6B"/>
                </a:solidFill>
                <a:latin typeface="Consola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956892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market will tell us if this is IP or collateral.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446" y="3409418"/>
            <a:ext cx="9924801" cy="308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EDF2F5"/>
                </a:solidFill>
                <a:latin typeface="Segoe UI"/>
              </a:rPr>
              <a:t>If three paid pilots do not close in 90 days at a real price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46" y="3870327"/>
            <a:ext cx="9924801" cy="4875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9BA9B4"/>
                </a:solidFill>
                <a:latin typeface="Segoe UI"/>
              </a:rPr>
              <a:t>the correct conclusion is not “build more product.” It is that HARC AMS works best as pull-through collateral inside services engagements.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46" y="4529321"/>
            <a:ext cx="992480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EDF2F5"/>
                </a:solidFill>
                <a:latin typeface="Segoe UI"/>
              </a:rPr>
              <a:t>The discipline: no standalone productization spend until buyers prove they will pay for governance operations separately from people.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435411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12</a:t>
            </a:r>
            <a:r>
              <a:rPr sz="900" b="0">
                <a:solidFill>
                  <a:srgbClr val="9BA9B4"/>
                </a:solidFill>
                <a:latin typeface="Consolas"/>
              </a:rPr>
              <a:t> EVIDENCE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435411"/>
            <a:ext cx="18796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21154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Claims are anchored to the supplied market brief.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04" y="3352269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Gartner AI governance platform market estimate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728" y="3352269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ServiceNow AI Control Tower expansion and Microsoft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3969295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Agent 365 licensing and pricing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6728" y="3969295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Credo AI, OneTrust, and AI governance vendor pricing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4586321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LLM observability vendor and market comparisons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728" y="4586321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AI TRiSM market estimate and cybersecurity M&amp;A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04" y="5023418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HFS Agentic Services model and SI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728" y="5023418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Deloitte and Agentic AI Institute governance-gap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