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5029200" cy="228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950" b="1">
                <a:solidFill>
                  <a:srgbClr val="00A88F"/>
                </a:solidFill>
                <a:latin typeface="Arial"/>
              </a:rPr>
              <a:t>QUALIFIED REDDIT MARKET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97280"/>
            <a:ext cx="9784080" cy="10972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rial"/>
              </a:rPr>
              <a:t>YC Agentic AI verticals: where Reddit supports the 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87168"/>
            <a:ext cx="54864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Consulting-exhibit draft | Not a raw scrape deck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251960"/>
            <a:ext cx="2057400" cy="713232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50292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4443984"/>
            <a:ext cx="1078992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qualified support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4251960"/>
            <a:ext cx="2057400" cy="713232"/>
          </a:xfrm>
          <a:prstGeom prst="rect">
            <a:avLst/>
          </a:prstGeom>
          <a:solidFill>
            <a:srgbClr val="D4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79" y="4389120"/>
            <a:ext cx="50292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4443984"/>
            <a:ext cx="1078992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weak signal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4251960"/>
            <a:ext cx="2057400" cy="713232"/>
          </a:xfrm>
          <a:prstGeom prst="rect">
            <a:avLst/>
          </a:prstGeom>
          <a:solidFill>
            <a:srgbClr val="C7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4389120"/>
            <a:ext cx="50292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8" y="4443984"/>
            <a:ext cx="1078992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rial"/>
              </a:rPr>
              <a:t>evidence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989320"/>
            <a:ext cx="411480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800" b="1">
                <a:solidFill>
                  <a:srgbClr val="00A88F"/>
                </a:solidFill>
                <a:latin typeface="Arial"/>
              </a:rPr>
              <a:t>Built 2026-06-24 | Draft for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20" b="0">
                <a:solidFill>
                  <a:srgbClr val="5F6C7A"/>
                </a:solidFill>
                <a:latin typeface="Arial"/>
              </a:rPr>
              <a:t>Sources: YC local directory export; Reddit HTML extraction; qualification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73952"/>
            <a:ext cx="59436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650" b="0">
                <a:solidFill>
                  <a:srgbClr val="5F6C7A"/>
                </a:solidFill>
                <a:latin typeface="Arial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11064240" cy="7132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650" b="1">
                <a:solidFill>
                  <a:srgbClr val="0A1628"/>
                </a:solidFill>
                <a:latin typeface="Arial"/>
              </a:rPr>
              <a:t>Reddit narrows the investable set to a small number of vertical workflow wedges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9536"/>
            <a:ext cx="107899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80" b="0">
                <a:solidFill>
                  <a:srgbClr val="5F6C7A"/>
                </a:solidFill>
                <a:latin typeface="Arial"/>
              </a:rPr>
              <a:t>Qualified Reddit evidence supports market pain in two wedges; the rest should be treated as hypotheses pending better sourcing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51560" cy="36576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81328"/>
            <a:ext cx="32461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91440" cy="987552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27632"/>
            <a:ext cx="713232" cy="43891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800" b="1">
                <a:solidFill>
                  <a:srgbClr val="0F9D58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627632"/>
            <a:ext cx="141732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50" b="1">
                <a:solidFill>
                  <a:srgbClr val="0A1628"/>
                </a:solidFill>
                <a:latin typeface="Arial"/>
              </a:rPr>
              <a:t>Qualified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938528"/>
            <a:ext cx="132588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850" b="0">
                <a:solidFill>
                  <a:srgbClr val="5F6C7A"/>
                </a:solidFill>
                <a:latin typeface="Arial"/>
              </a:rPr>
              <a:t>Use in narrative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481328"/>
            <a:ext cx="32461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481328"/>
            <a:ext cx="91440" cy="987552"/>
          </a:xfrm>
          <a:prstGeom prst="rect">
            <a:avLst/>
          </a:prstGeom>
          <a:solidFill>
            <a:srgbClr val="D4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627632"/>
            <a:ext cx="713232" cy="43891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800" b="1">
                <a:solidFill>
                  <a:srgbClr val="D48B00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1627632"/>
            <a:ext cx="141732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50" b="1">
                <a:solidFill>
                  <a:srgbClr val="0A1628"/>
                </a:solidFill>
                <a:latin typeface="Arial"/>
              </a:rPr>
              <a:t>Weak signal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1938528"/>
            <a:ext cx="132588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850" b="0">
                <a:solidFill>
                  <a:srgbClr val="5F6C7A"/>
                </a:solidFill>
                <a:latin typeface="Arial"/>
              </a:rPr>
              <a:t>Re-test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1481328"/>
            <a:ext cx="324612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1481328"/>
            <a:ext cx="91440" cy="987552"/>
          </a:xfrm>
          <a:prstGeom prst="rect">
            <a:avLst/>
          </a:prstGeom>
          <a:solidFill>
            <a:srgbClr val="C7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627632"/>
            <a:ext cx="713232" cy="43891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800" b="1">
                <a:solidFill>
                  <a:srgbClr val="C73E3A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1627632"/>
            <a:ext cx="141732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50" b="1">
                <a:solidFill>
                  <a:srgbClr val="0A1628"/>
                </a:solidFill>
                <a:latin typeface="Arial"/>
              </a:rPr>
              <a:t>Evidence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938528"/>
            <a:ext cx="132588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850" b="0">
                <a:solidFill>
                  <a:srgbClr val="5F6C7A"/>
                </a:solidFill>
                <a:latin typeface="Arial"/>
              </a:rPr>
              <a:t>Do not claim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971800"/>
            <a:ext cx="1097280" cy="21945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Arial"/>
              </a:rPr>
              <a:t>Implication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328416"/>
            <a:ext cx="9875520" cy="1554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800"/>
              </a:spcBef>
            </a:pPr>
            <a:r>
              <a:rPr sz="1019" b="0">
                <a:solidFill>
                  <a:srgbClr val="1B2B3C"/>
                </a:solidFill>
                <a:latin typeface="Arial"/>
              </a:rPr>
              <a:t>- Prioritize property management and construction review for deeper validation because Reddit contains qualified operator pain.</a:t>
            </a:r>
          </a:p>
          <a:p>
            <a:pPr algn="l">
              <a:spcBef>
                <a:spcPts val="800"/>
              </a:spcBef>
            </a:pPr>
            <a:r>
              <a:rPr sz="1019" b="0">
                <a:solidFill>
                  <a:srgbClr val="1B2B3C"/>
                </a:solidFill>
                <a:latin typeface="Arial"/>
              </a:rPr>
              <a:t>- Treat clinic communications and hotel operations as plausible but thin; collect more targeted operator threads before using them as proof.</a:t>
            </a:r>
          </a:p>
          <a:p>
            <a:pPr algn="l">
              <a:spcBef>
                <a:spcPts val="800"/>
              </a:spcBef>
            </a:pPr>
            <a:r>
              <a:rPr sz="1019" b="0">
                <a:solidFill>
                  <a:srgbClr val="1B2B3C"/>
                </a:solidFill>
                <a:latin typeface="Arial"/>
              </a:rPr>
              <a:t>- Avoid validating mortgage servicing, AR/accounting, insurance claims, and lending from this Reddit run; the current evidence pack does not support them.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20" b="0">
                <a:solidFill>
                  <a:srgbClr val="5F6C7A"/>
                </a:solidFill>
                <a:latin typeface="Arial"/>
              </a:rPr>
              <a:t>Sources: YC local directory export; qualified Reddit evidence pack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73952"/>
            <a:ext cx="59436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650" b="0">
                <a:solidFill>
                  <a:srgbClr val="5F6C7A"/>
                </a:solidFill>
                <a:latin typeface="Arial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11064240" cy="7132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650" b="1">
                <a:solidFill>
                  <a:srgbClr val="0A1628"/>
                </a:solidFill>
                <a:latin typeface="Arial"/>
              </a:rPr>
              <a:t>The evidence gate prevents raw Reddit search results from becoming false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9536"/>
            <a:ext cx="107899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80" b="0">
                <a:solidFill>
                  <a:srgbClr val="5F6C7A"/>
                </a:solidFill>
                <a:latin typeface="Arial"/>
              </a:rPr>
              <a:t>Accepted items must match workflow, persona, and concrete pain signal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51560" cy="36576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64208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47088"/>
            <a:ext cx="233172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2200" b="1">
                <a:solidFill>
                  <a:srgbClr val="1F5FB8"/>
                </a:solidFill>
                <a:latin typeface="Arial"/>
              </a:rPr>
              <a:t>14,100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67712"/>
            <a:ext cx="233172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0A1628"/>
                </a:solidFill>
                <a:latin typeface="Arial"/>
              </a:rPr>
              <a:t>Raw Reddit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78608"/>
            <a:ext cx="224028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730" b="0">
                <a:solidFill>
                  <a:srgbClr val="5F6C7A"/>
                </a:solidFill>
                <a:latin typeface="Arial"/>
              </a:rPr>
              <a:t>Posts/comments from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03120"/>
            <a:ext cx="32004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2000" b="1">
                <a:solidFill>
                  <a:srgbClr val="5F6C7A"/>
                </a:solidFill>
                <a:latin typeface="Arial"/>
              </a:rP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64208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3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847088"/>
            <a:ext cx="233172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2200" b="1">
                <a:solidFill>
                  <a:srgbClr val="C73E3A"/>
                </a:solidFill>
                <a:latin typeface="Arial"/>
              </a:rPr>
              <a:t>14,087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267712"/>
            <a:ext cx="233172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0A1628"/>
                </a:solidFill>
                <a:latin typeface="Arial"/>
              </a:rPr>
              <a:t>Rejected as noise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78608"/>
            <a:ext cx="224028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730" b="0">
                <a:solidFill>
                  <a:srgbClr val="5F6C7A"/>
                </a:solidFill>
                <a:latin typeface="Arial"/>
              </a:rPr>
              <a:t>Wrong subreddit, weak context, or generic keyword match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103120"/>
            <a:ext cx="32004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2000" b="1">
                <a:solidFill>
                  <a:srgbClr val="5F6C7A"/>
                </a:solidFill>
                <a:latin typeface="Arial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1664208"/>
            <a:ext cx="2834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9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847088"/>
            <a:ext cx="233172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2200" b="1">
                <a:solidFill>
                  <a:srgbClr val="0F9D58"/>
                </a:solidFill>
                <a:latin typeface="Arial"/>
              </a:rPr>
              <a:t>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267712"/>
            <a:ext cx="233172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000" b="1">
                <a:solidFill>
                  <a:srgbClr val="0A1628"/>
                </a:solidFill>
                <a:latin typeface="Arial"/>
              </a:rPr>
              <a:t>Qualified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2578608"/>
            <a:ext cx="224028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730" b="0">
                <a:solidFill>
                  <a:srgbClr val="5F6C7A"/>
                </a:solidFill>
                <a:latin typeface="Arial"/>
              </a:rPr>
              <a:t>Workflow/persona/pain match retained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4023360"/>
            <a:ext cx="2423160" cy="585216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39" y="4142232"/>
            <a:ext cx="77724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819" b="1">
                <a:solidFill>
                  <a:srgbClr val="0A1628"/>
                </a:solidFill>
                <a:latin typeface="Arial"/>
              </a:rPr>
              <a:t>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56232" y="4105656"/>
            <a:ext cx="1225296" cy="2377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580" b="0">
                <a:solidFill>
                  <a:srgbClr val="5F6C7A"/>
                </a:solidFill>
                <a:latin typeface="Arial"/>
              </a:rPr>
              <a:t>same operating process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39" y="4023360"/>
            <a:ext cx="2423160" cy="585216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599" y="4142232"/>
            <a:ext cx="77724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819" b="1">
                <a:solidFill>
                  <a:srgbClr val="0A1628"/>
                </a:solidFill>
                <a:latin typeface="Arial"/>
              </a:rPr>
              <a:t>Persona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4105656"/>
            <a:ext cx="1225296" cy="2377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580" b="0">
                <a:solidFill>
                  <a:srgbClr val="5F6C7A"/>
                </a:solidFill>
                <a:latin typeface="Arial"/>
              </a:rPr>
              <a:t>operator / practitioner context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4023360"/>
            <a:ext cx="2423160" cy="585216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4142232"/>
            <a:ext cx="77724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819" b="1">
                <a:solidFill>
                  <a:srgbClr val="0A1628"/>
                </a:solidFill>
                <a:latin typeface="Arial"/>
              </a:rPr>
              <a:t>Pain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59752" y="4105656"/>
            <a:ext cx="1225296" cy="2377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580" b="0">
                <a:solidFill>
                  <a:srgbClr val="5F6C7A"/>
                </a:solidFill>
                <a:latin typeface="Arial"/>
              </a:rPr>
              <a:t>manual work, delay, rework, workaround, objection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823960" y="4023360"/>
            <a:ext cx="2423160" cy="585216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4142232"/>
            <a:ext cx="77724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819" b="1">
                <a:solidFill>
                  <a:srgbClr val="0A1628"/>
                </a:solidFill>
                <a:latin typeface="Arial"/>
              </a:rPr>
              <a:t>Traceability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1512" y="4105656"/>
            <a:ext cx="1225296" cy="23774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580" b="0">
                <a:solidFill>
                  <a:srgbClr val="5F6C7A"/>
                </a:solidFill>
                <a:latin typeface="Arial"/>
              </a:rPr>
              <a:t>subreddit, permalink, source JSON retained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20" b="0">
                <a:solidFill>
                  <a:srgbClr val="5F6C7A"/>
                </a:solidFill>
                <a:latin typeface="Arial"/>
              </a:rPr>
              <a:t>Sources: YC local directory export; qualified Reddit evidence pack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0" y="6473952"/>
            <a:ext cx="59436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650" b="0">
                <a:solidFill>
                  <a:srgbClr val="5F6C7A"/>
                </a:solidFill>
                <a:latin typeface="Arial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11064240" cy="7132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650" b="1">
                <a:solidFill>
                  <a:srgbClr val="0A1628"/>
                </a:solidFill>
                <a:latin typeface="Arial"/>
              </a:rPr>
              <a:t>Five operating wedges are plausible, but only one has qualified Reddit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9536"/>
            <a:ext cx="107899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80" b="0">
                <a:solidFill>
                  <a:srgbClr val="5F6C7A"/>
                </a:solidFill>
                <a:latin typeface="Arial"/>
              </a:rPr>
              <a:t>YC facts are source fields; Reddit status is separate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51560" cy="36576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25296"/>
            <a:ext cx="96012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70" b="1">
                <a:solidFill>
                  <a:srgbClr val="5F6C7A"/>
                </a:solidFill>
                <a:latin typeface="Arial"/>
              </a:rPr>
              <a:t>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25296"/>
            <a:ext cx="1078992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70" b="1">
                <a:solidFill>
                  <a:srgbClr val="5F6C7A"/>
                </a:solidFill>
                <a:latin typeface="Arial"/>
              </a:rPr>
              <a:t>YC 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225296"/>
            <a:ext cx="1627632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70" b="1">
                <a:solidFill>
                  <a:srgbClr val="5F6C7A"/>
                </a:solidFill>
                <a:latin typeface="Arial"/>
              </a:rPr>
              <a:t>Workflow wedge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225296"/>
            <a:ext cx="178308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70" b="1">
                <a:solidFill>
                  <a:srgbClr val="5F6C7A"/>
                </a:solidFill>
                <a:latin typeface="Arial"/>
              </a:rPr>
              <a:t>Qualified Reddit readout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8272" y="1225296"/>
            <a:ext cx="443484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70" b="1">
                <a:solidFill>
                  <a:srgbClr val="5F6C7A"/>
                </a:solidFill>
                <a:latin typeface="Arial"/>
              </a:rPr>
              <a:t>Analyst implication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63039"/>
            <a:ext cx="11018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63039"/>
            <a:ext cx="64008" cy="658368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554480"/>
            <a:ext cx="96012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60" b="1">
                <a:solidFill>
                  <a:srgbClr val="0A1628"/>
                </a:solidFill>
                <a:latin typeface="Arial"/>
              </a:rPr>
              <a:t>CentralComs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554480"/>
            <a:ext cx="1078992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10" b="0">
                <a:solidFill>
                  <a:srgbClr val="1B2B3C"/>
                </a:solidFill>
                <a:latin typeface="Arial"/>
              </a:rPr>
              <a:t>Sp 2026 | team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1554480"/>
            <a:ext cx="1627632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40" b="1">
                <a:solidFill>
                  <a:srgbClr val="1B2B3C"/>
                </a:solidFill>
                <a:latin typeface="Arial"/>
              </a:rPr>
              <a:t>Property management maintenance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1554480"/>
            <a:ext cx="178308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40" b="1">
                <a:solidFill>
                  <a:srgbClr val="0F9D58"/>
                </a:solidFill>
                <a:latin typeface="Arial"/>
              </a:rPr>
              <a:t>Qualified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1545336"/>
            <a:ext cx="443484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580" b="0">
                <a:solidFill>
                  <a:srgbClr val="1B2B3C"/>
                </a:solidFill>
                <a:latin typeface="Arial"/>
              </a:rPr>
              <a:t>Vertical agent for the messy middle of rental operations: maintenance intake, ticket follow-up, stakeholder updates,.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267712"/>
            <a:ext cx="11018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267712"/>
            <a:ext cx="64008" cy="658368"/>
          </a:xfrm>
          <a:prstGeom prst="rect">
            <a:avLst/>
          </a:prstGeom>
          <a:solidFill>
            <a:srgbClr val="D4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359152"/>
            <a:ext cx="96012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60" b="1">
                <a:solidFill>
                  <a:srgbClr val="0A1628"/>
                </a:solidFill>
                <a:latin typeface="Arial"/>
              </a:rPr>
              <a:t>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2359152"/>
            <a:ext cx="1078992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10" b="0">
                <a:solidFill>
                  <a:srgbClr val="1B2B3C"/>
                </a:solidFill>
                <a:latin typeface="Arial"/>
              </a:rPr>
              <a:t>W 2026 | team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2359152"/>
            <a:ext cx="1627632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40" b="1">
                <a:solidFill>
                  <a:srgbClr val="1B2B3C"/>
                </a:solidFill>
                <a:latin typeface="Arial"/>
              </a:rPr>
              <a:t>Hotel call handling and guest 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359152"/>
            <a:ext cx="178308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40" b="1">
                <a:solidFill>
                  <a:srgbClr val="D48B00"/>
                </a:solidFill>
                <a:latin typeface="Arial"/>
              </a:rPr>
              <a:t>Weak 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2" y="2350008"/>
            <a:ext cx="443484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580" b="0">
                <a:solidFill>
                  <a:srgbClr val="1B2B3C"/>
                </a:solidFill>
                <a:latin typeface="Arial"/>
              </a:rPr>
              <a:t>Computer-use agent layer for hotel operations, positioned around phone volume, bookings, guest support, and operation.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072384"/>
            <a:ext cx="11018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072384"/>
            <a:ext cx="64008" cy="658368"/>
          </a:xfrm>
          <a:prstGeom prst="rect">
            <a:avLst/>
          </a:prstGeom>
          <a:solidFill>
            <a:srgbClr val="C7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163824"/>
            <a:ext cx="96012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60" b="1">
                <a:solidFill>
                  <a:srgbClr val="0A1628"/>
                </a:solidFill>
                <a:latin typeface="Arial"/>
              </a:rPr>
              <a:t>Klarify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163824"/>
            <a:ext cx="1078992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10" b="0">
                <a:solidFill>
                  <a:srgbClr val="1B2B3C"/>
                </a:solidFill>
                <a:latin typeface="Arial"/>
              </a:rPr>
              <a:t>Sp 2026 | team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3163824"/>
            <a:ext cx="1627632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40" b="1">
                <a:solidFill>
                  <a:srgbClr val="1B2B3C"/>
                </a:solidFill>
                <a:latin typeface="Arial"/>
              </a:rPr>
              <a:t>Therapist administration and documentation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3163824"/>
            <a:ext cx="178308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40" b="1">
                <a:solidFill>
                  <a:srgbClr val="C73E3A"/>
                </a:solidFill>
                <a:latin typeface="Arial"/>
              </a:rPr>
              <a:t>Evidence gap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3154679"/>
            <a:ext cx="443484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580" b="0">
                <a:solidFill>
                  <a:srgbClr val="1B2B3C"/>
                </a:solidFill>
                <a:latin typeface="Arial"/>
              </a:rPr>
              <a:t>Practice-operations agent for therapists, targeting the non-therapy workload that sits outside client sessions and is.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877056"/>
            <a:ext cx="11018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3877056"/>
            <a:ext cx="64008" cy="658368"/>
          </a:xfrm>
          <a:prstGeom prst="rect">
            <a:avLst/>
          </a:prstGeom>
          <a:solidFill>
            <a:srgbClr val="D4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3968496"/>
            <a:ext cx="96012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60" b="1">
                <a:solidFill>
                  <a:srgbClr val="0A1628"/>
                </a:solidFill>
                <a:latin typeface="Arial"/>
              </a:rPr>
              <a:t>Dodo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3968496"/>
            <a:ext cx="1078992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10" b="0">
                <a:solidFill>
                  <a:srgbClr val="1B2B3C"/>
                </a:solidFill>
                <a:latin typeface="Arial"/>
              </a:rPr>
              <a:t>S 2024 | team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3968496"/>
            <a:ext cx="1627632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40" b="1">
                <a:solidFill>
                  <a:srgbClr val="1B2B3C"/>
                </a:solidFill>
                <a:latin typeface="Arial"/>
              </a:rPr>
              <a:t>Clinic communications and front-office au.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3968496"/>
            <a:ext cx="178308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40" b="1">
                <a:solidFill>
                  <a:srgbClr val="D48B00"/>
                </a:solidFill>
                <a:latin typeface="Arial"/>
              </a:rPr>
              <a:t>Weak signal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8272" y="3959352"/>
            <a:ext cx="443484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580" b="0">
                <a:solidFill>
                  <a:srgbClr val="1B2B3C"/>
                </a:solidFill>
                <a:latin typeface="Arial"/>
              </a:rPr>
              <a:t>Multi-agent clinic communication layer that converts patient communication into completed workflow rather than anothe.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681728"/>
            <a:ext cx="11018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4681728"/>
            <a:ext cx="64008" cy="658368"/>
          </a:xfrm>
          <a:prstGeom prst="rect">
            <a:avLst/>
          </a:prstGeom>
          <a:solidFill>
            <a:srgbClr val="C7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4773168"/>
            <a:ext cx="96012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60" b="1">
                <a:solidFill>
                  <a:srgbClr val="0A1628"/>
                </a:solidFill>
                <a:latin typeface="Arial"/>
              </a:rPr>
              <a:t>Kastle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45920" y="4773168"/>
            <a:ext cx="1078992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10" b="0">
                <a:solidFill>
                  <a:srgbClr val="1B2B3C"/>
                </a:solidFill>
                <a:latin typeface="Arial"/>
              </a:rPr>
              <a:t>S 2024 | team 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80360" y="4773168"/>
            <a:ext cx="1627632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40" b="1">
                <a:solidFill>
                  <a:srgbClr val="1B2B3C"/>
                </a:solidFill>
                <a:latin typeface="Arial"/>
              </a:rPr>
              <a:t>Mortgage servicing voice workflows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60" y="4773168"/>
            <a:ext cx="178308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40" b="1">
                <a:solidFill>
                  <a:srgbClr val="C73E3A"/>
                </a:solidFill>
                <a:latin typeface="Arial"/>
              </a:rPr>
              <a:t>Evidence gap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8272" y="4764024"/>
            <a:ext cx="443484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580" b="0">
                <a:solidFill>
                  <a:srgbClr val="1B2B3C"/>
                </a:solidFill>
                <a:latin typeface="Arial"/>
              </a:rPr>
              <a:t>Voice-agent interface for mortgage servicing where legacy lenders need better phone infrastructure for borrower commu.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20" b="0">
                <a:solidFill>
                  <a:srgbClr val="5F6C7A"/>
                </a:solidFill>
                <a:latin typeface="Arial"/>
              </a:rPr>
              <a:t>Sources: YC local directory export; qualified Reddit evidence pack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18520" y="6473952"/>
            <a:ext cx="59436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650" b="0">
                <a:solidFill>
                  <a:srgbClr val="5F6C7A"/>
                </a:solidFill>
                <a:latin typeface="Arial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11064240" cy="7132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650" b="1">
                <a:solidFill>
                  <a:srgbClr val="0A1628"/>
                </a:solidFill>
                <a:latin typeface="Arial"/>
              </a:rPr>
              <a:t>Finance, claims, and lending wedges need stronger external proof before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9536"/>
            <a:ext cx="107899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80" b="0">
                <a:solidFill>
                  <a:srgbClr val="5F6C7A"/>
                </a:solidFill>
                <a:latin typeface="Arial"/>
              </a:rPr>
              <a:t>YC facts are source fields; Reddit status is separate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51560" cy="36576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25296"/>
            <a:ext cx="96012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70" b="1">
                <a:solidFill>
                  <a:srgbClr val="5F6C7A"/>
                </a:solidFill>
                <a:latin typeface="Arial"/>
              </a:rPr>
              <a:t>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25296"/>
            <a:ext cx="1078992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70" b="1">
                <a:solidFill>
                  <a:srgbClr val="5F6C7A"/>
                </a:solidFill>
                <a:latin typeface="Arial"/>
              </a:rPr>
              <a:t>YC facts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225296"/>
            <a:ext cx="1627632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70" b="1">
                <a:solidFill>
                  <a:srgbClr val="5F6C7A"/>
                </a:solidFill>
                <a:latin typeface="Arial"/>
              </a:rPr>
              <a:t>Workflow wedge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1225296"/>
            <a:ext cx="178308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70" b="1">
                <a:solidFill>
                  <a:srgbClr val="5F6C7A"/>
                </a:solidFill>
                <a:latin typeface="Arial"/>
              </a:rPr>
              <a:t>Qualified Reddit readout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8272" y="1225296"/>
            <a:ext cx="443484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70" b="1">
                <a:solidFill>
                  <a:srgbClr val="5F6C7A"/>
                </a:solidFill>
                <a:latin typeface="Arial"/>
              </a:rPr>
              <a:t>Analyst implication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463039"/>
            <a:ext cx="11018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463039"/>
            <a:ext cx="64008" cy="658368"/>
          </a:xfrm>
          <a:prstGeom prst="rect">
            <a:avLst/>
          </a:prstGeom>
          <a:solidFill>
            <a:srgbClr val="C7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554480"/>
            <a:ext cx="96012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60" b="1">
                <a:solidFill>
                  <a:srgbClr val="0A1628"/>
                </a:solidFill>
                <a:latin typeface="Arial"/>
              </a:rPr>
              <a:t>Fazeshift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554480"/>
            <a:ext cx="1078992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10" b="0">
                <a:solidFill>
                  <a:srgbClr val="1B2B3C"/>
                </a:solidFill>
                <a:latin typeface="Arial"/>
              </a:rPr>
              <a:t>S 2024 | team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1554480"/>
            <a:ext cx="1627632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40" b="1">
                <a:solidFill>
                  <a:srgbClr val="1B2B3C"/>
                </a:solidFill>
                <a:latin typeface="Arial"/>
              </a:rPr>
              <a:t>Accounts receivable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1554480"/>
            <a:ext cx="178308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40" b="1">
                <a:solidFill>
                  <a:srgbClr val="C73E3A"/>
                </a:solidFill>
                <a:latin typeface="Arial"/>
              </a:rPr>
              <a:t>Evidence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1545336"/>
            <a:ext cx="443484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580" b="0">
                <a:solidFill>
                  <a:srgbClr val="1B2B3C"/>
                </a:solidFill>
                <a:latin typeface="Arial"/>
              </a:rPr>
              <a:t>AR agent for the fragmented quote-to-cash data layer, aimed at replacing manual finance-team follow-up across disconn.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267712"/>
            <a:ext cx="11018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2267712"/>
            <a:ext cx="64008" cy="658368"/>
          </a:xfrm>
          <a:prstGeom prst="rect">
            <a:avLst/>
          </a:prstGeom>
          <a:solidFill>
            <a:srgbClr val="C7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359152"/>
            <a:ext cx="96012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60" b="1">
                <a:solidFill>
                  <a:srgbClr val="0A1628"/>
                </a:solidFill>
                <a:latin typeface="Arial"/>
              </a:rPr>
              <a:t>Basepilot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2359152"/>
            <a:ext cx="1078992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10" b="0">
                <a:solidFill>
                  <a:srgbClr val="1B2B3C"/>
                </a:solidFill>
                <a:latin typeface="Arial"/>
              </a:rPr>
              <a:t>W 2024 | team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2359152"/>
            <a:ext cx="1627632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40" b="1">
                <a:solidFill>
                  <a:srgbClr val="1B2B3C"/>
                </a:solidFill>
                <a:latin typeface="Arial"/>
              </a:rPr>
              <a:t>Insurance claims 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359152"/>
            <a:ext cx="178308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40" b="1">
                <a:solidFill>
                  <a:srgbClr val="C73E3A"/>
                </a:solidFill>
                <a:latin typeface="Arial"/>
              </a:rPr>
              <a:t>Evidence gap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48272" y="2350008"/>
            <a:ext cx="443484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580" b="0">
                <a:solidFill>
                  <a:srgbClr val="1B2B3C"/>
                </a:solidFill>
                <a:latin typeface="Arial"/>
              </a:rPr>
              <a:t>Claims-operations agent platform for regulated insurance workflows where generic automation needs line-of-business co.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072384"/>
            <a:ext cx="11018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072384"/>
            <a:ext cx="64008" cy="658368"/>
          </a:xfrm>
          <a:prstGeom prst="rect">
            <a:avLst/>
          </a:prstGeom>
          <a:solidFill>
            <a:srgbClr val="C7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163824"/>
            <a:ext cx="96012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60" b="1">
                <a:solidFill>
                  <a:srgbClr val="0A1628"/>
                </a:solidFill>
                <a:latin typeface="Arial"/>
              </a:rPr>
              <a:t>ProcIndex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163824"/>
            <a:ext cx="1078992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10" b="0">
                <a:solidFill>
                  <a:srgbClr val="1B2B3C"/>
                </a:solidFill>
                <a:latin typeface="Arial"/>
              </a:rPr>
              <a:t>S 2025 | team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3163824"/>
            <a:ext cx="1627632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40" b="1">
                <a:solidFill>
                  <a:srgbClr val="1B2B3C"/>
                </a:solidFill>
                <a:latin typeface="Arial"/>
              </a:rPr>
              <a:t>Accounting operations agent suite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3163824"/>
            <a:ext cx="178308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40" b="1">
                <a:solidFill>
                  <a:srgbClr val="C73E3A"/>
                </a:solidFill>
                <a:latin typeface="Arial"/>
              </a:rPr>
              <a:t>Evidence gap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3154679"/>
            <a:ext cx="443484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580" b="0">
                <a:solidFill>
                  <a:srgbClr val="1B2B3C"/>
                </a:solidFill>
                <a:latin typeface="Arial"/>
              </a:rPr>
              <a:t>Full-stack AI accounting firm positioned around end-to-end back-office execution, not just document extraction or tas.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877056"/>
            <a:ext cx="11018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3877056"/>
            <a:ext cx="64008" cy="658368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3968496"/>
            <a:ext cx="96012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60" b="1">
                <a:solidFill>
                  <a:srgbClr val="0A1628"/>
                </a:solidFill>
                <a:latin typeface="Arial"/>
              </a:rPr>
              <a:t>InspectMind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3968496"/>
            <a:ext cx="1078992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10" b="0">
                <a:solidFill>
                  <a:srgbClr val="1B2B3C"/>
                </a:solidFill>
                <a:latin typeface="Arial"/>
              </a:rPr>
              <a:t>W 2024 | team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3968496"/>
            <a:ext cx="1627632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40" b="1">
                <a:solidFill>
                  <a:srgbClr val="1B2B3C"/>
                </a:solidFill>
                <a:latin typeface="Arial"/>
              </a:rPr>
              <a:t>Construction drawing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3968496"/>
            <a:ext cx="178308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40" b="1">
                <a:solidFill>
                  <a:srgbClr val="0F9D58"/>
                </a:solidFill>
                <a:latin typeface="Arial"/>
              </a:rPr>
              <a:t>Qualified support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8272" y="3959352"/>
            <a:ext cx="443484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580" b="0">
                <a:solidFill>
                  <a:srgbClr val="1B2B3C"/>
                </a:solidFill>
                <a:latin typeface="Arial"/>
              </a:rPr>
              <a:t>Pre-construction quality-control agent for catching coordination errors early, before they turn into rework, schedule.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681728"/>
            <a:ext cx="11018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4681728"/>
            <a:ext cx="64008" cy="658368"/>
          </a:xfrm>
          <a:prstGeom prst="rect">
            <a:avLst/>
          </a:prstGeom>
          <a:solidFill>
            <a:srgbClr val="C7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4773168"/>
            <a:ext cx="96012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60" b="1">
                <a:solidFill>
                  <a:srgbClr val="0A1628"/>
                </a:solidFill>
                <a:latin typeface="Arial"/>
              </a:rPr>
              <a:t>Veritus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45920" y="4773168"/>
            <a:ext cx="1078992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10" b="0">
                <a:solidFill>
                  <a:srgbClr val="1B2B3C"/>
                </a:solidFill>
                <a:latin typeface="Arial"/>
              </a:rPr>
              <a:t>S 2025 | team 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80360" y="4773168"/>
            <a:ext cx="1627632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40" b="1">
                <a:solidFill>
                  <a:srgbClr val="1B2B3C"/>
                </a:solidFill>
                <a:latin typeface="Arial"/>
              </a:rPr>
              <a:t>Loan servicing and collections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60" y="4773168"/>
            <a:ext cx="178308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40" b="1">
                <a:solidFill>
                  <a:srgbClr val="C73E3A"/>
                </a:solidFill>
                <a:latin typeface="Arial"/>
              </a:rPr>
              <a:t>Evidence gap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8272" y="4764024"/>
            <a:ext cx="443484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580" b="0">
                <a:solidFill>
                  <a:srgbClr val="1B2B3C"/>
                </a:solidFill>
                <a:latin typeface="Arial"/>
              </a:rPr>
              <a:t>Regulated collections and servicing agent platform, focused on reducing cost-to-collect while improving borrower foll.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20" b="0">
                <a:solidFill>
                  <a:srgbClr val="5F6C7A"/>
                </a:solidFill>
                <a:latin typeface="Arial"/>
              </a:rPr>
              <a:t>Sources: YC local directory export; qualified Reddit evidence pack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18520" y="6473952"/>
            <a:ext cx="59436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650" b="0">
                <a:solidFill>
                  <a:srgbClr val="5F6C7A"/>
                </a:solidFill>
                <a:latin typeface="Arial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11064240" cy="7132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650" b="1">
                <a:solidFill>
                  <a:srgbClr val="0A1628"/>
                </a:solidFill>
                <a:latin typeface="Arial"/>
              </a:rPr>
              <a:t>Only two wedges have enough qualified Reddit evidence to use as proof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9536"/>
            <a:ext cx="107899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80" b="0">
                <a:solidFill>
                  <a:srgbClr val="5F6C7A"/>
                </a:solidFill>
                <a:latin typeface="Arial"/>
              </a:rPr>
              <a:t>These should be framed as qualitative market evidence, not market-size or revenue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51560" cy="36576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44752"/>
            <a:ext cx="5230368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44752"/>
            <a:ext cx="5230368" cy="9144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554480" cy="228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CentralComs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783080"/>
            <a:ext cx="265176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50" b="0">
                <a:solidFill>
                  <a:srgbClr val="5F6C7A"/>
                </a:solidFill>
                <a:latin typeface="Arial"/>
              </a:rPr>
              <a:t>Property management maintenance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86000"/>
            <a:ext cx="114300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00" b="1">
                <a:solidFill>
                  <a:srgbClr val="1F5FB8"/>
                </a:solidFill>
                <a:latin typeface="Arial"/>
              </a:rPr>
              <a:t>YC wedge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276856"/>
            <a:ext cx="3429000" cy="34747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00" b="0">
                <a:solidFill>
                  <a:srgbClr val="1B2B3C"/>
                </a:solidFill>
                <a:latin typeface="Arial"/>
              </a:rPr>
              <a:t>Tracks maintenance calls, chases open tickets, and keeps owners, tenants, and vendors updated.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18688"/>
            <a:ext cx="114300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00" b="1">
                <a:solidFill>
                  <a:srgbClr val="1F5FB8"/>
                </a:solidFill>
                <a:latin typeface="Arial"/>
              </a:rPr>
              <a:t>Reddit 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209544"/>
            <a:ext cx="3429000" cy="34747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00" b="0">
                <a:solidFill>
                  <a:srgbClr val="1B2B3C"/>
                </a:solidFill>
                <a:latin typeface="Arial"/>
              </a:rPr>
              <a:t>[General US-PA] What software/tools do you actually use to manage your rental properties? Looking for recommendations Hey everyone, I'm currently man.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51376"/>
            <a:ext cx="114300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00" b="1">
                <a:solidFill>
                  <a:srgbClr val="1F5FB8"/>
                </a:solidFill>
                <a:latin typeface="Arial"/>
              </a:rPr>
              <a:t>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142232"/>
            <a:ext cx="3429000" cy="34747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00" b="0">
                <a:solidFill>
                  <a:srgbClr val="1B2B3C"/>
                </a:solidFill>
                <a:latin typeface="Arial"/>
              </a:rPr>
              <a:t>Pain is observable in operator discussion; proceed to targeted interviews and primary-source sizing.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029200"/>
            <a:ext cx="448056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20" b="0">
                <a:solidFill>
                  <a:srgbClr val="5F6C7A"/>
                </a:solidFill>
                <a:latin typeface="Arial"/>
              </a:rPr>
              <a:t>Source: r/Landlord; 1,071 raw items rejected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444752"/>
            <a:ext cx="5230368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444752"/>
            <a:ext cx="5230368" cy="9144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737360"/>
            <a:ext cx="1554480" cy="2286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Arial"/>
              </a:rPr>
              <a:t>InspectMind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1783080"/>
            <a:ext cx="265176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50" b="0">
                <a:solidFill>
                  <a:srgbClr val="5F6C7A"/>
                </a:solidFill>
                <a:latin typeface="Arial"/>
              </a:rPr>
              <a:t>Construction drawing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286000"/>
            <a:ext cx="114300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00" b="1">
                <a:solidFill>
                  <a:srgbClr val="1F5FB8"/>
                </a:solidFill>
                <a:latin typeface="Arial"/>
              </a:rPr>
              <a:t>YC wedge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2276856"/>
            <a:ext cx="3429000" cy="34747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00" b="0">
                <a:solidFill>
                  <a:srgbClr val="1B2B3C"/>
                </a:solidFill>
                <a:latin typeface="Arial"/>
              </a:rPr>
              <a:t>Catches issues in construction drawings before they become costly rework and project delays.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18688"/>
            <a:ext cx="114300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00" b="1">
                <a:solidFill>
                  <a:srgbClr val="1F5FB8"/>
                </a:solidFill>
                <a:latin typeface="Arial"/>
              </a:rPr>
              <a:t>Reddit observation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3209544"/>
            <a:ext cx="3429000" cy="34747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00" b="0">
                <a:solidFill>
                  <a:srgbClr val="1B2B3C"/>
                </a:solidFill>
                <a:latin typeface="Arial"/>
              </a:rPr>
              <a:t>Frustrated New Build Owner Sorry for the long post….. AITA or a very tired homeowner trying not to get burned at the finish line? Quick backstory. Af.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151376"/>
            <a:ext cx="114300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00" b="1">
                <a:solidFill>
                  <a:srgbClr val="1F5FB8"/>
                </a:solidFill>
                <a:latin typeface="Arial"/>
              </a:rPr>
              <a:t>Implication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4142232"/>
            <a:ext cx="3429000" cy="34747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00" b="0">
                <a:solidFill>
                  <a:srgbClr val="1B2B3C"/>
                </a:solidFill>
                <a:latin typeface="Arial"/>
              </a:rPr>
              <a:t>Pain is observable in operator discussion; proceed to targeted interviews and primary-source sizing.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5029200"/>
            <a:ext cx="448056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20" b="0">
                <a:solidFill>
                  <a:srgbClr val="5F6C7A"/>
                </a:solidFill>
                <a:latin typeface="Arial"/>
              </a:rPr>
              <a:t>Source: r/Homebuilding; 1,082 raw items rejected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20" b="0">
                <a:solidFill>
                  <a:srgbClr val="5F6C7A"/>
                </a:solidFill>
                <a:latin typeface="Arial"/>
              </a:rPr>
              <a:t>Sources: YC local directory export; qualified Reddit evidence pack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473952"/>
            <a:ext cx="59436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650" b="0">
                <a:solidFill>
                  <a:srgbClr val="5F6C7A"/>
                </a:solidFill>
                <a:latin typeface="Arial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11064240" cy="7132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650" b="1">
                <a:solidFill>
                  <a:srgbClr val="0A1628"/>
                </a:solidFill>
                <a:latin typeface="Arial"/>
              </a:rPr>
              <a:t>Several companies still require targeted proof before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9536"/>
            <a:ext cx="107899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80" b="0">
                <a:solidFill>
                  <a:srgbClr val="5F6C7A"/>
                </a:solidFill>
                <a:latin typeface="Arial"/>
              </a:rPr>
              <a:t>Weak Reddit signal is directionally useful; evidence gaps should stay out of the validated narrative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51560" cy="36576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502920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50" b="1">
                <a:solidFill>
                  <a:srgbClr val="D48B00"/>
                </a:solidFill>
                <a:latin typeface="Arial"/>
              </a:rPr>
              <a:t>Weak signals: re-test with narrower subreddit queries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64208"/>
            <a:ext cx="5166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46504"/>
            <a:ext cx="100584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70" b="1">
                <a:solidFill>
                  <a:srgbClr val="0A1628"/>
                </a:solidFill>
                <a:latin typeface="Arial"/>
              </a:rPr>
              <a:t>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746504"/>
            <a:ext cx="333756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10" b="0">
                <a:solidFill>
                  <a:srgbClr val="1B2B3C"/>
                </a:solidFill>
                <a:latin typeface="Arial"/>
              </a:rPr>
              <a:t>Hotel call handling and guest operations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103120"/>
            <a:ext cx="5166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85415"/>
            <a:ext cx="100584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70" b="1">
                <a:solidFill>
                  <a:srgbClr val="0A1628"/>
                </a:solidFill>
                <a:latin typeface="Arial"/>
              </a:rPr>
              <a:t>Dodo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185415"/>
            <a:ext cx="333756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10" b="0">
                <a:solidFill>
                  <a:srgbClr val="1B2B3C"/>
                </a:solidFill>
                <a:latin typeface="Arial"/>
              </a:rPr>
              <a:t>Clinic communications and front-office automation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542032"/>
            <a:ext cx="5166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24327"/>
            <a:ext cx="100584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70" b="1">
                <a:solidFill>
                  <a:srgbClr val="0A1628"/>
                </a:solidFill>
                <a:latin typeface="Arial"/>
              </a:rPr>
              <a:t>claim-011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624327"/>
            <a:ext cx="333756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10" b="0">
                <a:solidFill>
                  <a:srgbClr val="1B2B3C"/>
                </a:solidFill>
                <a:latin typeface="Arial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980944"/>
            <a:ext cx="5166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63239"/>
            <a:ext cx="100584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70" b="1">
                <a:solidFill>
                  <a:srgbClr val="0A1628"/>
                </a:solidFill>
                <a:latin typeface="Arial"/>
              </a:rPr>
              <a:t>claim-012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063239"/>
            <a:ext cx="333756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10" b="0">
                <a:solidFill>
                  <a:srgbClr val="1B2B3C"/>
                </a:solidFill>
                <a:latin typeface="Arial"/>
              </a:rPr>
              <a:t/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419856"/>
            <a:ext cx="5166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502151"/>
            <a:ext cx="100584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70" b="1">
                <a:solidFill>
                  <a:srgbClr val="0A1628"/>
                </a:solidFill>
                <a:latin typeface="Arial"/>
              </a:rPr>
              <a:t>claim-013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502151"/>
            <a:ext cx="333756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10" b="0">
                <a:solidFill>
                  <a:srgbClr val="1B2B3C"/>
                </a:solidFill>
                <a:latin typeface="Arial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298448"/>
            <a:ext cx="4297680" cy="20116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050" b="1">
                <a:solidFill>
                  <a:srgbClr val="C73E3A"/>
                </a:solidFill>
                <a:latin typeface="Arial"/>
              </a:rPr>
              <a:t>Evidence gaps: do not claim Reddit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46520" y="1664208"/>
            <a:ext cx="4617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1746504"/>
            <a:ext cx="100584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70" b="1">
                <a:solidFill>
                  <a:srgbClr val="0A1628"/>
                </a:solidFill>
                <a:latin typeface="Arial"/>
              </a:rPr>
              <a:t>Klarify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54112" y="1746504"/>
            <a:ext cx="201168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10" b="1">
                <a:solidFill>
                  <a:srgbClr val="C73E3A"/>
                </a:solidFill>
                <a:latin typeface="Arial"/>
              </a:rPr>
              <a:t>1,086 raw items rejected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46520" y="2103120"/>
            <a:ext cx="4617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2185415"/>
            <a:ext cx="100584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70" b="1">
                <a:solidFill>
                  <a:srgbClr val="0A1628"/>
                </a:solidFill>
                <a:latin typeface="Arial"/>
              </a:rPr>
              <a:t>Kastle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4112" y="2185415"/>
            <a:ext cx="201168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10" b="1">
                <a:solidFill>
                  <a:srgbClr val="C73E3A"/>
                </a:solidFill>
                <a:latin typeface="Arial"/>
              </a:rPr>
              <a:t>1,087 raw items rejected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2542032"/>
            <a:ext cx="4617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624327"/>
            <a:ext cx="100584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70" b="1">
                <a:solidFill>
                  <a:srgbClr val="0A1628"/>
                </a:solidFill>
                <a:latin typeface="Arial"/>
              </a:rPr>
              <a:t>Fazeshift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2" y="2624327"/>
            <a:ext cx="201168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10" b="1">
                <a:solidFill>
                  <a:srgbClr val="C73E3A"/>
                </a:solidFill>
                <a:latin typeface="Arial"/>
              </a:rPr>
              <a:t>1,087 raw items rejected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2980944"/>
            <a:ext cx="4617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3063239"/>
            <a:ext cx="100584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70" b="1">
                <a:solidFill>
                  <a:srgbClr val="0A1628"/>
                </a:solidFill>
                <a:latin typeface="Arial"/>
              </a:rPr>
              <a:t>Basepilot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112" y="3063239"/>
            <a:ext cx="201168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10" b="1">
                <a:solidFill>
                  <a:srgbClr val="C73E3A"/>
                </a:solidFill>
                <a:latin typeface="Arial"/>
              </a:rPr>
              <a:t>1,087 raw items rejected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46520" y="3419856"/>
            <a:ext cx="4617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3502151"/>
            <a:ext cx="100584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70" b="1">
                <a:solidFill>
                  <a:srgbClr val="0A1628"/>
                </a:solidFill>
                <a:latin typeface="Arial"/>
              </a:rPr>
              <a:t>ProcIndex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54112" y="3502151"/>
            <a:ext cx="201168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10" b="1">
                <a:solidFill>
                  <a:srgbClr val="C73E3A"/>
                </a:solidFill>
                <a:latin typeface="Arial"/>
              </a:rPr>
              <a:t>1,087 raw items rejected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46520" y="3858768"/>
            <a:ext cx="4617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3941063"/>
            <a:ext cx="100584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70" b="1">
                <a:solidFill>
                  <a:srgbClr val="0A1628"/>
                </a:solidFill>
                <a:latin typeface="Arial"/>
              </a:rPr>
              <a:t>Veritus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4112" y="3941063"/>
            <a:ext cx="201168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10" b="1">
                <a:solidFill>
                  <a:srgbClr val="C73E3A"/>
                </a:solidFill>
                <a:latin typeface="Arial"/>
              </a:rPr>
              <a:t>1,087 raw items rejected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5230368"/>
            <a:ext cx="10378440" cy="512064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94960"/>
            <a:ext cx="9692640" cy="14630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850" b="1">
                <a:solidFill>
                  <a:srgbClr val="0A1628"/>
                </a:solidFill>
                <a:latin typeface="Arial"/>
              </a:rPr>
              <a:t>Next step: targeted operator evidence collection by vertical, then update the deck only when new items pass the same qualification gate.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20" b="0">
                <a:solidFill>
                  <a:srgbClr val="5F6C7A"/>
                </a:solidFill>
                <a:latin typeface="Arial"/>
              </a:rPr>
              <a:t>Sources: YC local directory export; qualified Reddit evidence pack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18520" y="6473952"/>
            <a:ext cx="59436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650" b="0">
                <a:solidFill>
                  <a:srgbClr val="5F6C7A"/>
                </a:solidFill>
                <a:latin typeface="Arial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11064240" cy="7132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650" b="1">
                <a:solidFill>
                  <a:srgbClr val="0A1628"/>
                </a:solidFill>
                <a:latin typeface="Arial"/>
              </a:rPr>
              <a:t>The next sprint should collect fewer, higher-quality operator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9536"/>
            <a:ext cx="107899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80" b="0">
                <a:solidFill>
                  <a:srgbClr val="5F6C7A"/>
                </a:solidFill>
                <a:latin typeface="Arial"/>
              </a:rPr>
              <a:t>The goal is not more Reddit volume; it is better-matched practitioner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51560" cy="36576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53312"/>
            <a:ext cx="10378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53312"/>
            <a:ext cx="73152" cy="64008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08760"/>
            <a:ext cx="164592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819" b="1">
                <a:solidFill>
                  <a:srgbClr val="0A1628"/>
                </a:solidFill>
                <a:latin typeface="Arial"/>
              </a:rPr>
              <a:t>Property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508760"/>
            <a:ext cx="77724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20" b="1">
                <a:solidFill>
                  <a:srgbClr val="0F9D58"/>
                </a:solidFill>
                <a:latin typeface="Arial"/>
              </a:rPr>
              <a:t>Deepen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499616"/>
            <a:ext cx="685800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10" b="0">
                <a:solidFill>
                  <a:srgbClr val="1B2B3C"/>
                </a:solidFill>
                <a:latin typeface="Arial"/>
              </a:rPr>
              <a:t>Interview property managers; target r/PropertyManagement and r/Landlord around maintenance/tickets.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39696"/>
            <a:ext cx="10378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139696"/>
            <a:ext cx="73152" cy="640080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295144"/>
            <a:ext cx="164592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819" b="1">
                <a:solidFill>
                  <a:srgbClr val="0A1628"/>
                </a:solidFill>
                <a:latin typeface="Arial"/>
              </a:rPr>
              <a:t>Construction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295144"/>
            <a:ext cx="77724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20" b="1">
                <a:solidFill>
                  <a:srgbClr val="0F9D58"/>
                </a:solidFill>
                <a:latin typeface="Arial"/>
              </a:rPr>
              <a:t>Deepen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286000"/>
            <a:ext cx="685800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10" b="0">
                <a:solidFill>
                  <a:srgbClr val="1B2B3C"/>
                </a:solidFill>
                <a:latin typeface="Arial"/>
              </a:rPr>
              <a:t>Collect contractor, architect, owner threads on drawing errors, rework, punch lists, and delays.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926079"/>
            <a:ext cx="10378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2926079"/>
            <a:ext cx="73152" cy="640080"/>
          </a:xfrm>
          <a:prstGeom prst="rect">
            <a:avLst/>
          </a:prstGeom>
          <a:solidFill>
            <a:srgbClr val="D4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081527"/>
            <a:ext cx="164592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819" b="1">
                <a:solidFill>
                  <a:srgbClr val="0A1628"/>
                </a:solidFill>
                <a:latin typeface="Arial"/>
              </a:rPr>
              <a:t>Clinic communications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081527"/>
            <a:ext cx="77724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20" b="1">
                <a:solidFill>
                  <a:srgbClr val="D48B00"/>
                </a:solidFill>
                <a:latin typeface="Arial"/>
              </a:rPr>
              <a:t>Re-test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072384"/>
            <a:ext cx="685800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10" b="0">
                <a:solidFill>
                  <a:srgbClr val="1B2B3C"/>
                </a:solidFill>
                <a:latin typeface="Arial"/>
              </a:rPr>
              <a:t>Target clinic managers/front desk workflows; separate dental, PT, and physician office evidence.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712463"/>
            <a:ext cx="10378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712463"/>
            <a:ext cx="73152" cy="640080"/>
          </a:xfrm>
          <a:prstGeom prst="rect">
            <a:avLst/>
          </a:prstGeom>
          <a:solidFill>
            <a:srgbClr val="D4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3867911"/>
            <a:ext cx="164592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819" b="1">
                <a:solidFill>
                  <a:srgbClr val="0A1628"/>
                </a:solidFill>
                <a:latin typeface="Arial"/>
              </a:rPr>
              <a:t>Hotel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3867911"/>
            <a:ext cx="77724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20" b="1">
                <a:solidFill>
                  <a:srgbClr val="D48B00"/>
                </a:solidFill>
                <a:latin typeface="Arial"/>
              </a:rPr>
              <a:t>Re-test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3858768"/>
            <a:ext cx="685800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10" b="0">
                <a:solidFill>
                  <a:srgbClr val="1B2B3C"/>
                </a:solidFill>
                <a:latin typeface="Arial"/>
              </a:rPr>
              <a:t>Target front-desk and revenue operations threads; filter out guest anecdote noise.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498848"/>
            <a:ext cx="103784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4498848"/>
            <a:ext cx="73152" cy="640080"/>
          </a:xfrm>
          <a:prstGeom prst="rect">
            <a:avLst/>
          </a:prstGeom>
          <a:solidFill>
            <a:srgbClr val="C7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4654296"/>
            <a:ext cx="164592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819" b="1">
                <a:solidFill>
                  <a:srgbClr val="0A1628"/>
                </a:solidFill>
                <a:latin typeface="Arial"/>
              </a:rPr>
              <a:t>Mortgage / ins. / finance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4654296"/>
            <a:ext cx="77724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20" b="1">
                <a:solidFill>
                  <a:srgbClr val="C73E3A"/>
                </a:solidFill>
                <a:latin typeface="Arial"/>
              </a:rPr>
              <a:t>Rebuild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4645152"/>
            <a:ext cx="685800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10" b="0">
                <a:solidFill>
                  <a:srgbClr val="1B2B3C"/>
                </a:solidFill>
                <a:latin typeface="Arial"/>
              </a:rPr>
              <a:t>Use trade forums, primary sources, and customer proof before using Reddit as evidence.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20" b="0">
                <a:solidFill>
                  <a:srgbClr val="5F6C7A"/>
                </a:solidFill>
                <a:latin typeface="Arial"/>
              </a:rPr>
              <a:t>Sources: YC local directory export; qualified Reddit evidence pack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473952"/>
            <a:ext cx="59436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650" b="0">
                <a:solidFill>
                  <a:srgbClr val="5F6C7A"/>
                </a:solidFill>
                <a:latin typeface="Arial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11064240" cy="7132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1650" b="1">
                <a:solidFill>
                  <a:srgbClr val="0A1628"/>
                </a:solidFill>
                <a:latin typeface="Arial"/>
              </a:rPr>
              <a:t>Appendix: qualified source traceability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59536"/>
            <a:ext cx="1078992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780" b="0">
                <a:solidFill>
                  <a:srgbClr val="5F6C7A"/>
                </a:solidFill>
                <a:latin typeface="Arial"/>
              </a:rPr>
              <a:t>The full report and JSON evidence pack remain in the run folder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15568"/>
            <a:ext cx="1051560" cy="36576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35024"/>
            <a:ext cx="10378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35024"/>
            <a:ext cx="73152" cy="438912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453895"/>
            <a:ext cx="45720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40" b="1">
                <a:solidFill>
                  <a:srgbClr val="0A1628"/>
                </a:solidFill>
                <a:latin typeface="Arial"/>
              </a:rPr>
              <a:t>C-001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453895"/>
            <a:ext cx="155448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30" b="1">
                <a:solidFill>
                  <a:srgbClr val="1F5FB8"/>
                </a:solidFill>
                <a:latin typeface="Arial"/>
              </a:rPr>
              <a:t>r/Landlord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453895"/>
            <a:ext cx="132588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30" b="1">
                <a:solidFill>
                  <a:srgbClr val="0F9D58"/>
                </a:solidFill>
                <a:latin typeface="Arial"/>
              </a:rPr>
              <a:t>Qualified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426464"/>
            <a:ext cx="571500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570" b="0">
                <a:solidFill>
                  <a:srgbClr val="1B2B3C"/>
                </a:solidFill>
                <a:latin typeface="Arial"/>
              </a:rPr>
              <a:t>[General US-PA] What software/tools do you actually use to manage your rental properties? Looking for recommendations Hey everyon.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865376"/>
            <a:ext cx="10378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865376"/>
            <a:ext cx="73152" cy="438912"/>
          </a:xfrm>
          <a:prstGeom prst="rect">
            <a:avLst/>
          </a:prstGeom>
          <a:solidFill>
            <a:srgbClr val="D4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1984248"/>
            <a:ext cx="45720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40" b="1">
                <a:solidFill>
                  <a:srgbClr val="0A1628"/>
                </a:solidFill>
                <a:latin typeface="Arial"/>
              </a:rPr>
              <a:t>C-002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1984248"/>
            <a:ext cx="155448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30" b="1">
                <a:solidFill>
                  <a:srgbClr val="1F5FB8"/>
                </a:solidFill>
                <a:latin typeface="Arial"/>
              </a:rPr>
              <a:t>r/TalesFromTheFrontDesk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984248"/>
            <a:ext cx="132588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30" b="1">
                <a:solidFill>
                  <a:srgbClr val="D48B00"/>
                </a:solidFill>
                <a:latin typeface="Arial"/>
              </a:rPr>
              <a:t>Weak signal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956816"/>
            <a:ext cx="571500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570" b="0">
                <a:solidFill>
                  <a:srgbClr val="1B2B3C"/>
                </a:solidFill>
                <a:latin typeface="Arial"/>
              </a:rPr>
              <a:t>College kids and parents learn lesson the hard way... 2nd attempt First, and foremost, I want to apologize to all of you for the.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395728"/>
            <a:ext cx="10378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395728"/>
            <a:ext cx="73152" cy="438912"/>
          </a:xfrm>
          <a:prstGeom prst="rect">
            <a:avLst/>
          </a:prstGeom>
          <a:solidFill>
            <a:srgbClr val="D4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2514600"/>
            <a:ext cx="45720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40" b="1">
                <a:solidFill>
                  <a:srgbClr val="0A1628"/>
                </a:solidFill>
                <a:latin typeface="Arial"/>
              </a:rPr>
              <a:t>C-004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2514600"/>
            <a:ext cx="155448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30" b="1">
                <a:solidFill>
                  <a:srgbClr val="1F5FB8"/>
                </a:solidFill>
                <a:latin typeface="Arial"/>
              </a:rPr>
              <a:t>r/AllAboutPT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2514600"/>
            <a:ext cx="132588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30" b="1">
                <a:solidFill>
                  <a:srgbClr val="D48B00"/>
                </a:solidFill>
                <a:latin typeface="Arial"/>
              </a:rPr>
              <a:t>Weak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2487168"/>
            <a:ext cx="571500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570" b="0">
                <a:solidFill>
                  <a:srgbClr val="1B2B3C"/>
                </a:solidFill>
                <a:latin typeface="Arial"/>
              </a:rPr>
              <a:t>How do physical therapy clinics collect patient reviews consistently without disrupting front desk operations? Online reviews hav.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2926080"/>
            <a:ext cx="10378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2926080"/>
            <a:ext cx="73152" cy="438912"/>
          </a:xfrm>
          <a:prstGeom prst="rect">
            <a:avLst/>
          </a:prstGeom>
          <a:solidFill>
            <a:srgbClr val="0F9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044952"/>
            <a:ext cx="45720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40" b="1">
                <a:solidFill>
                  <a:srgbClr val="0A1628"/>
                </a:solidFill>
                <a:latin typeface="Arial"/>
              </a:rPr>
              <a:t>C-009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3044952"/>
            <a:ext cx="155448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30" b="1">
                <a:solidFill>
                  <a:srgbClr val="1F5FB8"/>
                </a:solidFill>
                <a:latin typeface="Arial"/>
              </a:rPr>
              <a:t>r/Homebuilding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3044952"/>
            <a:ext cx="132588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30" b="1">
                <a:solidFill>
                  <a:srgbClr val="0F9D58"/>
                </a:solidFill>
                <a:latin typeface="Arial"/>
              </a:rPr>
              <a:t>Qualified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3017520"/>
            <a:ext cx="571500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570" b="0">
                <a:solidFill>
                  <a:srgbClr val="1B2B3C"/>
                </a:solidFill>
                <a:latin typeface="Arial"/>
              </a:rPr>
              <a:t>Frustrated New Build Owner Sorry for the long post….. AITA or a very tired homeowner trying not to get burned at the finish line?.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456432"/>
            <a:ext cx="10378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5800" y="3456432"/>
            <a:ext cx="73152" cy="438912"/>
          </a:xfrm>
          <a:prstGeom prst="rect">
            <a:avLst/>
          </a:prstGeom>
          <a:solidFill>
            <a:srgbClr val="D4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3575304"/>
            <a:ext cx="45720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40" b="1">
                <a:solidFill>
                  <a:srgbClr val="0A1628"/>
                </a:solidFill>
                <a:latin typeface="Arial"/>
              </a:rPr>
              <a:t>C-011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3575304"/>
            <a:ext cx="155448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30" b="1">
                <a:solidFill>
                  <a:srgbClr val="1F5FB8"/>
                </a:solidFill>
                <a:latin typeface="Arial"/>
              </a:rPr>
              <a:t>r/PropertyManagement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3575304"/>
            <a:ext cx="132588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30" b="1">
                <a:solidFill>
                  <a:srgbClr val="D48B00"/>
                </a:solidFill>
                <a:latin typeface="Arial"/>
              </a:rPr>
              <a:t>Weak signal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3547872"/>
            <a:ext cx="571500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570" b="0">
                <a:solidFill>
                  <a:srgbClr val="1B2B3C"/>
                </a:solidFill>
                <a:latin typeface="Arial"/>
              </a:rPr>
              <a:t>I don’t manage rentals personally, but I’ve been working with property management clients for about 7 years now, so I get to see.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3986784"/>
            <a:ext cx="10378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" y="3986784"/>
            <a:ext cx="73152" cy="438912"/>
          </a:xfrm>
          <a:prstGeom prst="rect">
            <a:avLst/>
          </a:prstGeom>
          <a:solidFill>
            <a:srgbClr val="D4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4105656"/>
            <a:ext cx="45720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40" b="1">
                <a:solidFill>
                  <a:srgbClr val="0A1628"/>
                </a:solidFill>
                <a:latin typeface="Arial"/>
              </a:rPr>
              <a:t>C-012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81328" y="4105656"/>
            <a:ext cx="155448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30" b="1">
                <a:solidFill>
                  <a:srgbClr val="1F5FB8"/>
                </a:solidFill>
                <a:latin typeface="Arial"/>
              </a:rPr>
              <a:t>r/TalesFromTheFrontDesk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46120" y="4105656"/>
            <a:ext cx="132588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30" b="1">
                <a:solidFill>
                  <a:srgbClr val="D48B00"/>
                </a:solidFill>
                <a:latin typeface="Arial"/>
              </a:rPr>
              <a:t>Weak signal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4078224"/>
            <a:ext cx="571500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570" b="0">
                <a:solidFill>
                  <a:srgbClr val="1B2B3C"/>
                </a:solidFill>
                <a:latin typeface="Arial"/>
              </a:rPr>
              <a:t>College kids and parents learn lesson the hard way... 2nd attempt First, and foremost, I want to apologize to all of you for the.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4517136"/>
            <a:ext cx="103784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85800" y="4517136"/>
            <a:ext cx="73152" cy="438912"/>
          </a:xfrm>
          <a:prstGeom prst="rect">
            <a:avLst/>
          </a:prstGeom>
          <a:solidFill>
            <a:srgbClr val="D4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6112" y="4636008"/>
            <a:ext cx="45720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40" b="1">
                <a:solidFill>
                  <a:srgbClr val="0A1628"/>
                </a:solidFill>
                <a:latin typeface="Arial"/>
              </a:rPr>
              <a:t>C-013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81328" y="4636008"/>
            <a:ext cx="155448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30" b="1">
                <a:solidFill>
                  <a:srgbClr val="1F5FB8"/>
                </a:solidFill>
                <a:latin typeface="Arial"/>
              </a:rPr>
              <a:t>r/AllAboutPT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46120" y="4636008"/>
            <a:ext cx="1325880" cy="1280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30" b="1">
                <a:solidFill>
                  <a:srgbClr val="D48B00"/>
                </a:solidFill>
                <a:latin typeface="Arial"/>
              </a:rPr>
              <a:t>Weak signal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00600" y="4608576"/>
            <a:ext cx="5715000" cy="182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570" b="0">
                <a:solidFill>
                  <a:srgbClr val="1B2B3C"/>
                </a:solidFill>
                <a:latin typeface="Arial"/>
              </a:rPr>
              <a:t>How do physical therapy clinics collect patient reviews consistently without disrupting front desk operations? Online reviews hav.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73952"/>
            <a:ext cx="804672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/>
            <a:r>
              <a:rPr sz="620" b="0">
                <a:solidFill>
                  <a:srgbClr val="5F6C7A"/>
                </a:solidFill>
                <a:latin typeface="Arial"/>
              </a:rPr>
              <a:t>Sources: YC local directory export; qualified Reddit evidence pack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18520" y="6473952"/>
            <a:ext cx="594360" cy="16459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/>
            <a:r>
              <a:rPr sz="650" b="0">
                <a:solidFill>
                  <a:srgbClr val="5F6C7A"/>
                </a:solidFill>
                <a:latin typeface="Arial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10912</Words>
  <Application>Microsoft Office PowerPoint</Application>
  <PresentationFormat>Widescreen</PresentationFormat>
  <Paragraphs>1188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sheker kamma</dc:creator>
  <cp:keywords/>
  <dc:description>generated using python-pptx</dc:description>
  <cp:lastModifiedBy>sheker kamma</cp:lastModifiedBy>
  <cp:revision>1</cp:revision>
  <dcterms:created xsi:type="dcterms:W3CDTF">2013-01-27T09:14:16Z</dcterms:created>
  <dcterms:modified xsi:type="dcterms:W3CDTF">2026-05-25T15:25:33Z</dcterms:modified>
  <cp:category/>
</cp:coreProperties>
</file>