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749808"/>
            <a:ext cx="56692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0C9A7"/>
                </a:solidFill>
                <a:latin typeface="Calibri"/>
              </a:rPr>
              <a:t>QUALIFIED REDDIT MARKET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662940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YC Agentic AI Vertical Signals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8716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98064"/>
            <a:ext cx="6126480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40" b="0">
                <a:solidFill>
                  <a:srgbClr val="FFFFFF"/>
                </a:solidFill>
                <a:latin typeface="Calibri"/>
              </a:rPr>
              <a:t>Reddit data is useful only after qualification. This deck separates real operator workflow evidence from raw search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2286000" cy="384048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069079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alibri"/>
              </a:rPr>
              <a:t>2  strong qualified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53127"/>
            <a:ext cx="2286000" cy="384048"/>
          </a:xfrm>
          <a:prstGeom prst="round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544567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40" b="1">
                <a:solidFill>
                  <a:srgbClr val="0A1628"/>
                </a:solidFill>
                <a:latin typeface="Calibri"/>
              </a:rPr>
              <a:t>5  weak signals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28615"/>
            <a:ext cx="2286000" cy="384048"/>
          </a:xfrm>
          <a:prstGeom prst="round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020055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Calibri"/>
              </a:rPr>
              <a:t>6  evidence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39319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FFB800"/>
                </a:solidFill>
                <a:latin typeface="Calibri"/>
              </a:rPr>
              <a:t>Built 2026-06-24 | Status: DRAFT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502920"/>
            <a:ext cx="3063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Evidence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35331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13 claims scored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88366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14,087 raw items rejected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2414016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Raw Reddit is not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0768" y="5687568"/>
            <a:ext cx="224028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13064" y="5760720"/>
            <a:ext cx="2029968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6473952"/>
            <a:ext cx="44805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Calibri"/>
              </a:rPr>
              <a:t>Qualified Reddit market evidence | client-ready 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6473952"/>
            <a:ext cx="7315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0"/>
            <a:ext cx="8083296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292608"/>
            <a:ext cx="694944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Calibri"/>
              </a:rPr>
              <a:t>Executive Verdict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786384"/>
            <a:ext cx="66751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1B2B3C"/>
                </a:solidFill>
                <a:latin typeface="Calibri"/>
              </a:rPr>
              <a:t>Use Reddit as a market-signal filter, not as blanket proof for every niche company.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1243584"/>
            <a:ext cx="2121408" cy="8412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1371600"/>
            <a:ext cx="6400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4440" y="1353312"/>
            <a:ext cx="1060704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qualified support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1243584"/>
            <a:ext cx="2121408" cy="8412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89504" y="1371600"/>
            <a:ext cx="6400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F2A83B"/>
                </a:solidFill>
                <a:latin typeface="Calibr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6160" y="1353312"/>
            <a:ext cx="1060704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weak signal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74920" y="1243584"/>
            <a:ext cx="2121408" cy="8412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21224" y="1371600"/>
            <a:ext cx="6400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E05A6B"/>
                </a:solidFill>
                <a:latin typeface="Calibr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1353312"/>
            <a:ext cx="1060704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Calibri"/>
              </a:rPr>
              <a:t>unsupported by qualified Reddit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" y="2395728"/>
            <a:ext cx="658368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800"/>
              </a:spcBef>
            </a:pPr>
            <a:r>
              <a:rPr sz="1050" b="0">
                <a:solidFill>
                  <a:srgbClr val="1B2B3C"/>
                </a:solidFill>
                <a:latin typeface="Calibri"/>
              </a:rPr>
              <a:t>- Strongest qualified evidence: property management and construction review pain.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1B2B3C"/>
                </a:solidFill>
                <a:latin typeface="Calibri"/>
              </a:rPr>
              <a:t>- Weak signals: clinic communications and hotel operations need better targeted threads before they are investment-grade evidence.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1B2B3C"/>
                </a:solidFill>
                <a:latin typeface="Calibri"/>
              </a:rPr>
              <a:t>- No qualified Reddit support yet: therapy admin, mortgage servicing, AR/accounting, insurance claims, and consumer lending claims.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1B2B3C"/>
                </a:solidFill>
                <a:latin typeface="Calibri"/>
              </a:rPr>
              <a:t>- Recommendation: ship no broad validation claim until a vertical has multiple qualified operator threads plus primary-source corroboration.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30768" y="502920"/>
            <a:ext cx="3063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So what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0768" y="135331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Prioritize evidence-rich wedges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188366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Mark gaps explicitly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2414016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Avoid Reddit-shaped filler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30768" y="5687568"/>
            <a:ext cx="224028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13064" y="5760720"/>
            <a:ext cx="2029968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8" y="6473952"/>
            <a:ext cx="44805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B6B7C"/>
                </a:solidFill>
                <a:latin typeface="Calibri"/>
              </a:rPr>
              <a:t>Qualified Reddit market evidence | client-ready draft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01968" y="6473952"/>
            <a:ext cx="7315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B6B7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0"/>
            <a:ext cx="8083296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292608"/>
            <a:ext cx="70408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Calibri"/>
              </a:rPr>
              <a:t>How The Evidence Was Qualified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1078992"/>
            <a:ext cx="6537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8368" y="1243584"/>
            <a:ext cx="384048" cy="384048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1344168"/>
            <a:ext cx="182880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7008" y="1188719"/>
            <a:ext cx="17373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  <a:latin typeface="Calibri"/>
              </a:rPr>
              <a:t>Workflow match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16352" y="1188719"/>
            <a:ext cx="397763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1B2B3C"/>
                </a:solidFill>
                <a:latin typeface="Calibri"/>
              </a:rPr>
              <a:t>The post/comment must discuss the same operating workflow, not just a generic company or AI term.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066543"/>
            <a:ext cx="6537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8368" y="2231136"/>
            <a:ext cx="384048" cy="384048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2331720"/>
            <a:ext cx="182880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7008" y="2176272"/>
            <a:ext cx="17373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  <a:latin typeface="Calibri"/>
              </a:rPr>
              <a:t>Persona match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16352" y="2176272"/>
            <a:ext cx="397763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1B2B3C"/>
                </a:solidFill>
                <a:latin typeface="Calibri"/>
              </a:rPr>
              <a:t>The source must plausibly come from or address the operator, practitioner, buyer, or affected user.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054096"/>
            <a:ext cx="6537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8368" y="3218688"/>
            <a:ext cx="384048" cy="384048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" y="3319272"/>
            <a:ext cx="182880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07008" y="3163824"/>
            <a:ext cx="17373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  <a:latin typeface="Calibri"/>
              </a:rPr>
              <a:t>Pain signal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16352" y="3163824"/>
            <a:ext cx="397763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1B2B3C"/>
                </a:solidFill>
                <a:latin typeface="Calibri"/>
              </a:rPr>
              <a:t>Accepted evidence must contain a concrete pain, workaround, delay, objection, manual process, or adoption signal.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041648"/>
            <a:ext cx="6537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8368" y="4206240"/>
            <a:ext cx="384048" cy="384048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" y="4306824"/>
            <a:ext cx="182880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07008" y="4151376"/>
            <a:ext cx="17373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0A1628"/>
                </a:solidFill>
                <a:latin typeface="Calibri"/>
              </a:rPr>
              <a:t>Noise rejection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16352" y="4151376"/>
            <a:ext cx="397763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1B2B3C"/>
                </a:solidFill>
                <a:latin typeface="Calibri"/>
              </a:rPr>
              <a:t>Broad or irrelevant Reddit threads are counted as rejected discovery, not as evidence.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30768" y="502920"/>
            <a:ext cx="3063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Decision rule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135331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No qualified item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188366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= evidence gap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0768" y="2414016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One item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0768" y="2944368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= weak signal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0768" y="3474720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Multiple items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30768" y="400507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= qualified support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30768" y="5687568"/>
            <a:ext cx="224028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13064" y="5760720"/>
            <a:ext cx="2029968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2608" y="6473952"/>
            <a:ext cx="44805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B6B7C"/>
                </a:solidFill>
                <a:latin typeface="Calibri"/>
              </a:rPr>
              <a:t>Qualified Reddit market evidence | client-ready draft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01968" y="6473952"/>
            <a:ext cx="7315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B6B7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0"/>
            <a:ext cx="8083296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256032"/>
            <a:ext cx="7040880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Company Profiles: Operating Wedges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713232"/>
            <a:ext cx="66751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19" b="0">
                <a:solidFill>
                  <a:srgbClr val="5B6B7C"/>
                </a:solidFill>
                <a:latin typeface="Calibri"/>
              </a:rPr>
              <a:t>Each profile uses YC source fields for facts and a separate qualified Reddit status for market evidence.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" y="1115568"/>
            <a:ext cx="65653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1225295"/>
            <a:ext cx="10058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>
                <a:solidFill>
                  <a:srgbClr val="0A1628"/>
                </a:solidFill>
                <a:latin typeface="Calibri"/>
              </a:rPr>
              <a:t>CentralComs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1499616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5B6B7C"/>
                </a:solidFill>
                <a:latin typeface="Calibri"/>
              </a:rPr>
              <a:t>Spring 2026 | team 2 | Active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1225295"/>
            <a:ext cx="11430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20" b="1">
                <a:solidFill>
                  <a:srgbClr val="00C9A7"/>
                </a:solidFill>
                <a:latin typeface="Calibri"/>
              </a:rPr>
              <a:t>Qualified Reddit support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4448" y="1225295"/>
            <a:ext cx="14630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Property management maintenance operations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4448" y="1499616"/>
            <a:ext cx="3063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30" b="0">
                <a:solidFill>
                  <a:srgbClr val="1B2B3C"/>
                </a:solidFill>
                <a:latin typeface="Calibri"/>
              </a:rPr>
              <a:t>Vertical agent for the messy middle of rental operations: maintenance intake, ticket follow-up, stakeholder updates, and system...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" y="2048256"/>
            <a:ext cx="65653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2A8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2157984"/>
            <a:ext cx="10058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>
                <a:solidFill>
                  <a:srgbClr val="0A1628"/>
                </a:solidFill>
                <a:latin typeface="Calibri"/>
              </a:rPr>
              <a:t>Lance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2432304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5B6B7C"/>
                </a:solidFill>
                <a:latin typeface="Calibri"/>
              </a:rPr>
              <a:t>Winter 2026 | team 10 | Active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2157984"/>
            <a:ext cx="11430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20" b="1">
                <a:solidFill>
                  <a:srgbClr val="F2A83B"/>
                </a:solidFill>
                <a:latin typeface="Calibri"/>
              </a:rPr>
              <a:t>Weak qualified signal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4448" y="2157984"/>
            <a:ext cx="14630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Hotel call handling and guest operations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4448" y="2432304"/>
            <a:ext cx="3063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30" b="0">
                <a:solidFill>
                  <a:srgbClr val="1B2B3C"/>
                </a:solidFill>
                <a:latin typeface="Calibri"/>
              </a:rPr>
              <a:t>Computer-use agent layer for hotel operations, positioned around phone volume, bookings, guest support, and operational task ex...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" y="2980944"/>
            <a:ext cx="65653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090672"/>
            <a:ext cx="10058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>
                <a:solidFill>
                  <a:srgbClr val="0A1628"/>
                </a:solidFill>
                <a:latin typeface="Calibri"/>
              </a:rPr>
              <a:t>Klarify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64992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5B6B7C"/>
                </a:solidFill>
                <a:latin typeface="Calibri"/>
              </a:rPr>
              <a:t>Spring 2026 | team 4 | Active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3090672"/>
            <a:ext cx="11430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20" b="1">
                <a:solidFill>
                  <a:srgbClr val="E05A6B"/>
                </a:solidFill>
                <a:latin typeface="Calibri"/>
              </a:rPr>
              <a:t>No qualified Reddit evidence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84448" y="3090672"/>
            <a:ext cx="14630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Therapist administration and documentation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84448" y="3364992"/>
            <a:ext cx="3063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30" b="0">
                <a:solidFill>
                  <a:srgbClr val="1B2B3C"/>
                </a:solidFill>
                <a:latin typeface="Calibri"/>
              </a:rPr>
              <a:t>Practice-operations agent for therapists, targeting the non-therapy workload that sits outside client sessions and is poorly se...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" y="3913632"/>
            <a:ext cx="65653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2A8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023360"/>
            <a:ext cx="10058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>
                <a:solidFill>
                  <a:srgbClr val="0A1628"/>
                </a:solidFill>
                <a:latin typeface="Calibri"/>
              </a:rPr>
              <a:t>Dodo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297680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5B6B7C"/>
                </a:solidFill>
                <a:latin typeface="Calibri"/>
              </a:rPr>
              <a:t>Summer 2024 | team 6 | Active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4023360"/>
            <a:ext cx="11430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20" b="1">
                <a:solidFill>
                  <a:srgbClr val="F2A83B"/>
                </a:solidFill>
                <a:latin typeface="Calibri"/>
              </a:rPr>
              <a:t>Weak qualified signal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84448" y="4023360"/>
            <a:ext cx="14630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Clinic communications and front-office au...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84448" y="4297680"/>
            <a:ext cx="3063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30" b="0">
                <a:solidFill>
                  <a:srgbClr val="1B2B3C"/>
                </a:solidFill>
                <a:latin typeface="Calibri"/>
              </a:rPr>
              <a:t>Multi-agent clinic communication layer that converts patient communication into completed workflow rather than another inbox fo...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" y="4846320"/>
            <a:ext cx="65653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956048"/>
            <a:ext cx="10058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>
                <a:solidFill>
                  <a:srgbClr val="0A1628"/>
                </a:solidFill>
                <a:latin typeface="Calibri"/>
              </a:rPr>
              <a:t>Kastle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230368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5B6B7C"/>
                </a:solidFill>
                <a:latin typeface="Calibri"/>
              </a:rPr>
              <a:t>Summer 2024 | team 10 | Active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7440" y="4956048"/>
            <a:ext cx="11430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20" b="1">
                <a:solidFill>
                  <a:srgbClr val="E05A6B"/>
                </a:solidFill>
                <a:latin typeface="Calibri"/>
              </a:rPr>
              <a:t>No qualified Reddit evidence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84448" y="4956048"/>
            <a:ext cx="14630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Mortgage servicing voice workflows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84448" y="5230368"/>
            <a:ext cx="3063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30" b="0">
                <a:solidFill>
                  <a:srgbClr val="1B2B3C"/>
                </a:solidFill>
                <a:latin typeface="Calibri"/>
              </a:rPr>
              <a:t>Voice-agent interface for mortgage servicing where legacy lenders need better phone infrastructure for borrower communication a...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30768" y="502920"/>
            <a:ext cx="3063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Readout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30768" y="135331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YC facts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30768" y="188366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Analyst wedge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30768" y="2414016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Reddit status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30768" y="2944368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No raw scrape text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30768" y="5687568"/>
            <a:ext cx="224028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13064" y="5760720"/>
            <a:ext cx="2029968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2608" y="6473952"/>
            <a:ext cx="44805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B6B7C"/>
                </a:solidFill>
                <a:latin typeface="Calibri"/>
              </a:rPr>
              <a:t>Qualified Reddit market evidence | client-ready draft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01968" y="6473952"/>
            <a:ext cx="7315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B6B7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0"/>
            <a:ext cx="8083296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256032"/>
            <a:ext cx="7040880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Company Profiles: Finance, Claims, Construction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713232"/>
            <a:ext cx="66751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19" b="0">
                <a:solidFill>
                  <a:srgbClr val="5B6B7C"/>
                </a:solidFill>
                <a:latin typeface="Calibri"/>
              </a:rPr>
              <a:t>Each profile uses YC source fields for facts and a separate qualified Reddit status for market evidence.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" y="1115568"/>
            <a:ext cx="65653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1225295"/>
            <a:ext cx="10058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>
                <a:solidFill>
                  <a:srgbClr val="0A1628"/>
                </a:solidFill>
                <a:latin typeface="Calibri"/>
              </a:rPr>
              <a:t>Fazeshift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1499616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5B6B7C"/>
                </a:solidFill>
                <a:latin typeface="Calibri"/>
              </a:rPr>
              <a:t>Summer 2024 | team 8 | Active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1225295"/>
            <a:ext cx="11430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20" b="1">
                <a:solidFill>
                  <a:srgbClr val="E05A6B"/>
                </a:solidFill>
                <a:latin typeface="Calibri"/>
              </a:rPr>
              <a:t>No qualified Reddit 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4448" y="1225295"/>
            <a:ext cx="14630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Accounts receivable automation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4448" y="1499616"/>
            <a:ext cx="3063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30" b="0">
                <a:solidFill>
                  <a:srgbClr val="1B2B3C"/>
                </a:solidFill>
                <a:latin typeface="Calibri"/>
              </a:rPr>
              <a:t>AR agent for the fragmented quote-to-cash data layer, aimed at replacing manual finance-team follow-up across disconnected syst...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" y="2048256"/>
            <a:ext cx="65653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2157984"/>
            <a:ext cx="10058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>
                <a:solidFill>
                  <a:srgbClr val="0A1628"/>
                </a:solidFill>
                <a:latin typeface="Calibri"/>
              </a:rPr>
              <a:t>Basepilot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2432304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5B6B7C"/>
                </a:solidFill>
                <a:latin typeface="Calibri"/>
              </a:rPr>
              <a:t>Winter 2024 | team 2 | Active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2157984"/>
            <a:ext cx="11430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20" b="1">
                <a:solidFill>
                  <a:srgbClr val="E05A6B"/>
                </a:solidFill>
                <a:latin typeface="Calibri"/>
              </a:rPr>
              <a:t>No qualified Reddit evidence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84448" y="2157984"/>
            <a:ext cx="14630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Insurance claims operations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84448" y="2432304"/>
            <a:ext cx="3063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30" b="0">
                <a:solidFill>
                  <a:srgbClr val="1B2B3C"/>
                </a:solidFill>
                <a:latin typeface="Calibri"/>
              </a:rPr>
              <a:t>Claims-operations agent platform for regulated insurance workflows where generic automation needs line-of-business context.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" y="2980944"/>
            <a:ext cx="65653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3090672"/>
            <a:ext cx="10058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>
                <a:solidFill>
                  <a:srgbClr val="0A1628"/>
                </a:solidFill>
                <a:latin typeface="Calibri"/>
              </a:rPr>
              <a:t>ProcIndex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3364992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5B6B7C"/>
                </a:solidFill>
                <a:latin typeface="Calibri"/>
              </a:rPr>
              <a:t>Summer 2025 | team 4 | Active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3090672"/>
            <a:ext cx="11430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20" b="1">
                <a:solidFill>
                  <a:srgbClr val="E05A6B"/>
                </a:solidFill>
                <a:latin typeface="Calibri"/>
              </a:rPr>
              <a:t>No qualified Reddit evidence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84448" y="3090672"/>
            <a:ext cx="14630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Accounting operations agent suite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84448" y="3364992"/>
            <a:ext cx="3063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30" b="0">
                <a:solidFill>
                  <a:srgbClr val="1B2B3C"/>
                </a:solidFill>
                <a:latin typeface="Calibri"/>
              </a:rPr>
              <a:t>Full-stack AI accounting firm positioned around end-to-end back-office execution, not just document extraction or task suggesti...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" y="3913632"/>
            <a:ext cx="65653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023360"/>
            <a:ext cx="10058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>
                <a:solidFill>
                  <a:srgbClr val="0A1628"/>
                </a:solidFill>
                <a:latin typeface="Calibri"/>
              </a:rPr>
              <a:t>InspectMind AI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4297680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5B6B7C"/>
                </a:solidFill>
                <a:latin typeface="Calibri"/>
              </a:rPr>
              <a:t>Winter 2024 | team 3 | Active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7440" y="4023360"/>
            <a:ext cx="11430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20" b="1">
                <a:solidFill>
                  <a:srgbClr val="00C9A7"/>
                </a:solidFill>
                <a:latin typeface="Calibri"/>
              </a:rPr>
              <a:t>Qualified Reddit support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84448" y="4023360"/>
            <a:ext cx="14630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Construction drawing review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84448" y="4297680"/>
            <a:ext cx="3063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30" b="0">
                <a:solidFill>
                  <a:srgbClr val="1B2B3C"/>
                </a:solidFill>
                <a:latin typeface="Calibri"/>
              </a:rPr>
              <a:t>Pre-construction quality-control agent for catching coordination errors early, before they turn into rework, schedule slippage,...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5488" y="4846320"/>
            <a:ext cx="656539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4956048"/>
            <a:ext cx="10058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40" b="1">
                <a:solidFill>
                  <a:srgbClr val="0A1628"/>
                </a:solidFill>
                <a:latin typeface="Calibri"/>
              </a:rPr>
              <a:t>Veritus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5230368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5B6B7C"/>
                </a:solidFill>
                <a:latin typeface="Calibri"/>
              </a:rPr>
              <a:t>Summer 2025 | team 10 | Active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77440" y="4956048"/>
            <a:ext cx="11430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20" b="1">
                <a:solidFill>
                  <a:srgbClr val="E05A6B"/>
                </a:solidFill>
                <a:latin typeface="Calibri"/>
              </a:rPr>
              <a:t>No qualified Reddit evidence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84448" y="4956048"/>
            <a:ext cx="14630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Loan servicing and collections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84448" y="5230368"/>
            <a:ext cx="3063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30" b="0">
                <a:solidFill>
                  <a:srgbClr val="1B2B3C"/>
                </a:solidFill>
                <a:latin typeface="Calibri"/>
              </a:rPr>
              <a:t>Regulated collections and servicing agent platform, focused on reducing cost-to-collect while improving borrower follow-up and...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30768" y="502920"/>
            <a:ext cx="3063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Readout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30768" y="135331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YC facts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30768" y="188366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Analyst wedge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30768" y="2414016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Reddit status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30768" y="2944368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No raw scrape text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30768" y="5687568"/>
            <a:ext cx="224028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13064" y="5760720"/>
            <a:ext cx="2029968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6473952"/>
            <a:ext cx="44805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B6B7C"/>
                </a:solidFill>
                <a:latin typeface="Calibri"/>
              </a:rPr>
              <a:t>Qualified Reddit market evidence | client-ready draft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01968" y="6473952"/>
            <a:ext cx="7315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B6B7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8083296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92608"/>
            <a:ext cx="70408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0A1628"/>
                </a:solidFill>
                <a:latin typeface="Calibri"/>
              </a:rPr>
              <a:t>Where Reddit Actually Supports The Thesis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042415"/>
            <a:ext cx="6583680" cy="1508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207007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0C9A7"/>
                </a:solidFill>
                <a:latin typeface="Calibri"/>
              </a:rPr>
              <a:t>CentralComs | Property management maintenance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545336"/>
            <a:ext cx="2743200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>
                <a:solidFill>
                  <a:srgbClr val="FFFFFF"/>
                </a:solidFill>
                <a:latin typeface="Calibri"/>
              </a:rPr>
              <a:t>Vertical agent for the messy middle of rental operations: maintenance intake, ticket follow-up, stakeholder updates, and system-of-record coordination.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1225295"/>
            <a:ext cx="14630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FFB800"/>
                </a:solidFill>
                <a:latin typeface="Calibri"/>
              </a:rPr>
              <a:t>Qualified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1499616"/>
            <a:ext cx="3063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Calibri"/>
              </a:rPr>
              <a:t>[General US-PA] What software/tools do you actually use to manage your rental properties? Looking for recommendations Hey everyone, I'm currently managing 3 rental properties and honestly, I'm drowning in spre...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139696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80" b="0">
                <a:solidFill>
                  <a:srgbClr val="FFB800"/>
                </a:solidFill>
                <a:latin typeface="Calibri"/>
              </a:rPr>
              <a:t>r/Landlord | rejected raw items: 1,071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89504"/>
            <a:ext cx="6583680" cy="1508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054096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00C9A7"/>
                </a:solidFill>
                <a:latin typeface="Calibri"/>
              </a:rPr>
              <a:t>InspectMind AI | Construction drawing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392424"/>
            <a:ext cx="2743200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80" b="0">
                <a:solidFill>
                  <a:srgbClr val="FFFFFF"/>
                </a:solidFill>
                <a:latin typeface="Calibri"/>
              </a:rPr>
              <a:t>Pre-construction quality-control agent for catching coordination errors early, before they turn into rework, schedule slippage, and owner disputes.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3072384"/>
            <a:ext cx="14630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FFB800"/>
                </a:solidFill>
                <a:latin typeface="Calibri"/>
              </a:rPr>
              <a:t>Qualified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3346704"/>
            <a:ext cx="30632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20" b="0">
                <a:solidFill>
                  <a:srgbClr val="FFFFFF"/>
                </a:solidFill>
                <a:latin typeface="Calibri"/>
              </a:rPr>
              <a:t>Frustrated New Build Owner Sorry for the long post….. AITA or a very tired homeowner trying not to get burned at the finish line? Quick backstory. After almost two years of design revisions for a custom modern...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986784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80" b="0">
                <a:solidFill>
                  <a:srgbClr val="FFB800"/>
                </a:solidFill>
                <a:latin typeface="Calibri"/>
              </a:rPr>
              <a:t>r/Homebuilding | rejected raw items: 1,082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502920"/>
            <a:ext cx="3063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Use in narrative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35331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Operator pain exists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188366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Cite as qualitative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2414016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Still avoid TAM/funding claims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30768" y="5687568"/>
            <a:ext cx="224028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3064" y="5760720"/>
            <a:ext cx="2029968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" y="6473952"/>
            <a:ext cx="44805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B6B7C"/>
                </a:solidFill>
                <a:latin typeface="Calibri"/>
              </a:rPr>
              <a:t>Qualified Reddit market evidence | client-ready draft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6473952"/>
            <a:ext cx="7315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B6B7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0"/>
            <a:ext cx="8083296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292608"/>
            <a:ext cx="70408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Calibri"/>
              </a:rPr>
              <a:t>What Should Not Be Claimed Yet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1051560"/>
            <a:ext cx="25603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2A83B"/>
                </a:solidFill>
                <a:latin typeface="Calibri"/>
              </a:rPr>
              <a:t>Weak signals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1417320"/>
            <a:ext cx="6309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>
                <a:solidFill>
                  <a:srgbClr val="1B2B3C"/>
                </a:solidFill>
                <a:latin typeface="Calibri"/>
              </a:rPr>
              <a:t>C-002 Lance: College kids and parents learn lesson the hard way... 2nd attempt First, and foremos...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1801368"/>
            <a:ext cx="6309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>
                <a:solidFill>
                  <a:srgbClr val="1B2B3C"/>
                </a:solidFill>
                <a:latin typeface="Calibri"/>
              </a:rPr>
              <a:t>C-004 Dodo: How do physical therapy clinics collect patient reviews consistently without disrupt...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2185416"/>
            <a:ext cx="6309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>
                <a:solidFill>
                  <a:srgbClr val="1B2B3C"/>
                </a:solidFill>
                <a:latin typeface="Calibri"/>
              </a:rPr>
              <a:t>C-011 CentralComs wedge: I don’t manage rentals personally, but I’ve been working with property management cl...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2569464"/>
            <a:ext cx="6309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>
                <a:solidFill>
                  <a:srgbClr val="1B2B3C"/>
                </a:solidFill>
                <a:latin typeface="Calibri"/>
              </a:rPr>
              <a:t>C-012 Lance wedge: College kids and parents learn lesson the hard way... 2nd attempt First, and foremos...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2953512"/>
            <a:ext cx="6309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50" b="0">
                <a:solidFill>
                  <a:srgbClr val="1B2B3C"/>
                </a:solidFill>
                <a:latin typeface="Calibri"/>
              </a:rPr>
              <a:t>C-013 Dodo wedge: How do physical therapy clinics collect patient reviews consistently without disrupt...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3584448"/>
            <a:ext cx="25603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E05A6B"/>
                </a:solidFill>
                <a:latin typeface="Calibri"/>
              </a:rPr>
              <a:t>Evidence gaps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3931920"/>
            <a:ext cx="63093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10" b="0">
                <a:solidFill>
                  <a:srgbClr val="1B2B3C"/>
                </a:solidFill>
                <a:latin typeface="Calibri"/>
              </a:rPr>
              <a:t>C-003 Klarify: no qualified Reddit item after 1,086 rejects.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4242816"/>
            <a:ext cx="63093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10" b="0">
                <a:solidFill>
                  <a:srgbClr val="1B2B3C"/>
                </a:solidFill>
                <a:latin typeface="Calibri"/>
              </a:rPr>
              <a:t>C-005 Kastle: no qualified Reddit item after 1,087 rejects.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4553712"/>
            <a:ext cx="63093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10" b="0">
                <a:solidFill>
                  <a:srgbClr val="1B2B3C"/>
                </a:solidFill>
                <a:latin typeface="Calibri"/>
              </a:rPr>
              <a:t>C-006 Fazeshift: no qualified Reddit item after 1,087 rejects.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4864607"/>
            <a:ext cx="63093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10" b="0">
                <a:solidFill>
                  <a:srgbClr val="1B2B3C"/>
                </a:solidFill>
                <a:latin typeface="Calibri"/>
              </a:rPr>
              <a:t>C-007 Basepilot: no qualified Reddit item after 1,087 rejects.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5175503"/>
            <a:ext cx="63093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10" b="0">
                <a:solidFill>
                  <a:srgbClr val="1B2B3C"/>
                </a:solidFill>
                <a:latin typeface="Calibri"/>
              </a:rPr>
              <a:t>C-008 ProcIndex: no qualified Reddit item after 1,087 rejects.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5486399"/>
            <a:ext cx="63093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10" b="0">
                <a:solidFill>
                  <a:srgbClr val="1B2B3C"/>
                </a:solidFill>
                <a:latin typeface="Calibri"/>
              </a:rPr>
              <a:t>C-010 Veritus: no qualified Reddit item after 1,087 rejects.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30768" y="502920"/>
            <a:ext cx="3063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135331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Re-query targeted subreddits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188366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Collect primary sources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0768" y="2414016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Do not label as validated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30768" y="5687568"/>
            <a:ext cx="224028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13064" y="5760720"/>
            <a:ext cx="2029968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2608" y="6473952"/>
            <a:ext cx="44805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B6B7C"/>
                </a:solidFill>
                <a:latin typeface="Calibri"/>
              </a:rPr>
              <a:t>Qualified Reddit market evidence | client-ready draft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01968" y="6473952"/>
            <a:ext cx="7315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B6B7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0"/>
            <a:ext cx="8083296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292608"/>
            <a:ext cx="70408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Calibri"/>
              </a:rPr>
              <a:t>Recommended Next Research Sprint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1097280"/>
            <a:ext cx="6583680" cy="713232"/>
          </a:xfrm>
          <a:prstGeom prst="rect">
            <a:avLst/>
          </a:prstGeom>
          <a:solidFill>
            <a:srgbClr val="F4F7F8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1207007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Property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04288" y="1207007"/>
            <a:ext cx="7772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80" b="1">
                <a:solidFill>
                  <a:srgbClr val="00C9A7"/>
                </a:solidFill>
                <a:latin typeface="Calibri"/>
              </a:rPr>
              <a:t>Keep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27248" y="1188720"/>
            <a:ext cx="3675887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0">
                <a:solidFill>
                  <a:srgbClr val="1B2B3C"/>
                </a:solidFill>
                <a:latin typeface="Calibri"/>
              </a:rPr>
              <a:t>Reddit shows real workflow pain around spreadsheets, maintenance, tenant/vendor coordination.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1901952"/>
            <a:ext cx="6583680" cy="713232"/>
          </a:xfrm>
          <a:prstGeom prst="rect">
            <a:avLst/>
          </a:prstGeom>
          <a:solidFill>
            <a:srgbClr val="F4F7F8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2011680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Construction 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04288" y="2011680"/>
            <a:ext cx="7772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80" b="1">
                <a:solidFill>
                  <a:srgbClr val="00C9A7"/>
                </a:solidFill>
                <a:latin typeface="Calibri"/>
              </a:rPr>
              <a:t>Keep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27248" y="1993392"/>
            <a:ext cx="3675887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0">
                <a:solidFill>
                  <a:srgbClr val="1B2B3C"/>
                </a:solidFill>
                <a:latin typeface="Calibri"/>
              </a:rPr>
              <a:t>Reddit shows delay, rework, punch-list, and contract friction in construction workflows.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2706624"/>
            <a:ext cx="6583680" cy="713232"/>
          </a:xfrm>
          <a:prstGeom prst="rect">
            <a:avLst/>
          </a:prstGeom>
          <a:solidFill>
            <a:srgbClr val="F4F7F8"/>
          </a:solidFill>
          <a:ln w="12700">
            <a:solidFill>
              <a:srgbClr val="F2A8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2816352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Clinic communications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04288" y="2816352"/>
            <a:ext cx="7772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80" b="1">
                <a:solidFill>
                  <a:srgbClr val="F2A83B"/>
                </a:solidFill>
                <a:latin typeface="Calibri"/>
              </a:rPr>
              <a:t>Re-test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27248" y="2798064"/>
            <a:ext cx="3675887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0">
                <a:solidFill>
                  <a:srgbClr val="1B2B3C"/>
                </a:solidFill>
                <a:latin typeface="Calibri"/>
              </a:rPr>
              <a:t>Current source is plausible but thin; collect more clinic/front-desk operator threads.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511296"/>
            <a:ext cx="6583680" cy="713232"/>
          </a:xfrm>
          <a:prstGeom prst="rect">
            <a:avLst/>
          </a:prstGeom>
          <a:solidFill>
            <a:srgbClr val="F4F7F8"/>
          </a:solidFill>
          <a:ln w="12700">
            <a:solidFill>
              <a:srgbClr val="F2A8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3621024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Hotel operations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04288" y="3621024"/>
            <a:ext cx="7772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80" b="1">
                <a:solidFill>
                  <a:srgbClr val="F2A83B"/>
                </a:solidFill>
                <a:latin typeface="Calibri"/>
              </a:rPr>
              <a:t>Re-test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27248" y="3602736"/>
            <a:ext cx="3675887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0">
                <a:solidFill>
                  <a:srgbClr val="1B2B3C"/>
                </a:solidFill>
                <a:latin typeface="Calibri"/>
              </a:rPr>
              <a:t>Weak signal is not enough; collect call, booking, and guest workflow evidence specifically.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4315968"/>
            <a:ext cx="6583680" cy="713232"/>
          </a:xfrm>
          <a:prstGeom prst="rect">
            <a:avLst/>
          </a:prstGeom>
          <a:solidFill>
            <a:srgbClr val="F4F7F8"/>
          </a:solidFill>
          <a:ln w="1270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4425696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1">
                <a:solidFill>
                  <a:srgbClr val="0A1628"/>
                </a:solidFill>
                <a:latin typeface="Calibri"/>
              </a:rPr>
              <a:t>Mortgage / insurance / 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04288" y="4425696"/>
            <a:ext cx="7772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80" b="1">
                <a:solidFill>
                  <a:srgbClr val="E05A6B"/>
                </a:solidFill>
                <a:latin typeface="Calibri"/>
              </a:rPr>
              <a:t>Gap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27248" y="4407407"/>
            <a:ext cx="3675887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660" b="0">
                <a:solidFill>
                  <a:srgbClr val="1B2B3C"/>
                </a:solidFill>
                <a:latin typeface="Calibri"/>
              </a:rPr>
              <a:t>Current Reddit run did not produce qualified evidence for these wedges.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30768" y="502920"/>
            <a:ext cx="3063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Deck rule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30768" y="135331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Only qualified evidence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30768" y="188366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No raw Reddit filler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30768" y="2414016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Primary facts remain separate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30768" y="5687568"/>
            <a:ext cx="224028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13064" y="5760720"/>
            <a:ext cx="2029968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8" y="6473952"/>
            <a:ext cx="44805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B6B7C"/>
                </a:solidFill>
                <a:latin typeface="Calibri"/>
              </a:rPr>
              <a:t>Qualified Reddit market evidence | client-ready draft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01968" y="6473952"/>
            <a:ext cx="7315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B6B7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0"/>
            <a:ext cx="8083296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292608"/>
            <a:ext cx="70408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Calibri"/>
              </a:rPr>
              <a:t>Source Appendix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786384"/>
            <a:ext cx="66751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40" b="0">
                <a:solidFill>
                  <a:srgbClr val="5B6B7C"/>
                </a:solidFill>
                <a:latin typeface="Calibri"/>
              </a:rPr>
              <a:t>Top qualified sources retained after the evidence gate. Full JSON and Markdown report remain in the run folder.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1234440"/>
            <a:ext cx="6583680" cy="438912"/>
          </a:xfrm>
          <a:prstGeom prst="rect">
            <a:avLst/>
          </a:prstGeom>
          <a:solidFill>
            <a:srgbClr val="F4F7F8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1344168"/>
            <a:ext cx="5029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20" b="1">
                <a:solidFill>
                  <a:srgbClr val="0A1628"/>
                </a:solidFill>
                <a:latin typeface="Calibri"/>
              </a:rPr>
              <a:t>C-001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61872" y="1325880"/>
            <a:ext cx="11430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1">
                <a:solidFill>
                  <a:srgbClr val="00C9A7"/>
                </a:solidFill>
                <a:latin typeface="Calibri"/>
              </a:rPr>
              <a:t>r/Landlord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14016" y="1344168"/>
            <a:ext cx="4297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Calibri"/>
              </a:rPr>
              <a:t>qualified score 0.359 | raw file retained in audit trail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1764792"/>
            <a:ext cx="6583680" cy="438912"/>
          </a:xfrm>
          <a:prstGeom prst="rect">
            <a:avLst/>
          </a:prstGeom>
          <a:solidFill>
            <a:srgbClr val="F4F7F8"/>
          </a:solidFill>
          <a:ln w="12700">
            <a:solidFill>
              <a:srgbClr val="F2A8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1874520"/>
            <a:ext cx="5029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20" b="1">
                <a:solidFill>
                  <a:srgbClr val="0A1628"/>
                </a:solidFill>
                <a:latin typeface="Calibri"/>
              </a:rPr>
              <a:t>C-002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61872" y="1856232"/>
            <a:ext cx="11430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1">
                <a:solidFill>
                  <a:srgbClr val="00C9A7"/>
                </a:solidFill>
                <a:latin typeface="Calibri"/>
              </a:rPr>
              <a:t>r/TalesFromTheFr.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14016" y="1874520"/>
            <a:ext cx="4297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Calibri"/>
              </a:rPr>
              <a:t>qualified score 0.463 | raw file retained in audit trail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2295144"/>
            <a:ext cx="6583680" cy="438912"/>
          </a:xfrm>
          <a:prstGeom prst="rect">
            <a:avLst/>
          </a:prstGeom>
          <a:solidFill>
            <a:srgbClr val="F4F7F8"/>
          </a:solidFill>
          <a:ln w="12700">
            <a:solidFill>
              <a:srgbClr val="F2A8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2404872"/>
            <a:ext cx="5029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20" b="1">
                <a:solidFill>
                  <a:srgbClr val="0A1628"/>
                </a:solidFill>
                <a:latin typeface="Calibri"/>
              </a:rPr>
              <a:t>C-004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61872" y="2386584"/>
            <a:ext cx="11430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1">
                <a:solidFill>
                  <a:srgbClr val="00C9A7"/>
                </a:solidFill>
                <a:latin typeface="Calibri"/>
              </a:rPr>
              <a:t>r/AllAboutPT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14016" y="2404872"/>
            <a:ext cx="4297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Calibri"/>
              </a:rPr>
              <a:t>qualified score 0.334 | raw file retained in audit trail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2825496"/>
            <a:ext cx="6583680" cy="438912"/>
          </a:xfrm>
          <a:prstGeom prst="rect">
            <a:avLst/>
          </a:prstGeom>
          <a:solidFill>
            <a:srgbClr val="F4F7F8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2935224"/>
            <a:ext cx="5029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20" b="1">
                <a:solidFill>
                  <a:srgbClr val="0A1628"/>
                </a:solidFill>
                <a:latin typeface="Calibri"/>
              </a:rPr>
              <a:t>C-009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61872" y="2916936"/>
            <a:ext cx="11430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1">
                <a:solidFill>
                  <a:srgbClr val="00C9A7"/>
                </a:solidFill>
                <a:latin typeface="Calibri"/>
              </a:rPr>
              <a:t>r/Homebuilding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14016" y="2935224"/>
            <a:ext cx="4297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Calibri"/>
              </a:rPr>
              <a:t>qualified score 0.587 | raw file retained in audit trail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3355848"/>
            <a:ext cx="6583680" cy="438912"/>
          </a:xfrm>
          <a:prstGeom prst="rect">
            <a:avLst/>
          </a:prstGeom>
          <a:solidFill>
            <a:srgbClr val="F4F7F8"/>
          </a:solidFill>
          <a:ln w="12700">
            <a:solidFill>
              <a:srgbClr val="F2A8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3465576"/>
            <a:ext cx="5029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20" b="1">
                <a:solidFill>
                  <a:srgbClr val="0A1628"/>
                </a:solidFill>
                <a:latin typeface="Calibri"/>
              </a:rPr>
              <a:t>C-011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61872" y="3447288"/>
            <a:ext cx="11430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1">
                <a:solidFill>
                  <a:srgbClr val="00C9A7"/>
                </a:solidFill>
                <a:latin typeface="Calibri"/>
              </a:rPr>
              <a:t>r/PropertyManage.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14016" y="3465576"/>
            <a:ext cx="4297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Calibri"/>
              </a:rPr>
              <a:t>qualified score 0.418 | raw file retained in audit trail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3886200"/>
            <a:ext cx="6583680" cy="438912"/>
          </a:xfrm>
          <a:prstGeom prst="rect">
            <a:avLst/>
          </a:prstGeom>
          <a:solidFill>
            <a:srgbClr val="F4F7F8"/>
          </a:solidFill>
          <a:ln w="12700">
            <a:solidFill>
              <a:srgbClr val="F2A8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3995928"/>
            <a:ext cx="5029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20" b="1">
                <a:solidFill>
                  <a:srgbClr val="0A1628"/>
                </a:solidFill>
                <a:latin typeface="Calibri"/>
              </a:rPr>
              <a:t>C-012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61872" y="3977639"/>
            <a:ext cx="11430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1">
                <a:solidFill>
                  <a:srgbClr val="00C9A7"/>
                </a:solidFill>
                <a:latin typeface="Calibri"/>
              </a:rPr>
              <a:t>r/TalesFromTheFr.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14016" y="3995928"/>
            <a:ext cx="4297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Calibri"/>
              </a:rPr>
              <a:t>qualified score 0.319 | raw file retained in audit trail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4416552"/>
            <a:ext cx="6583680" cy="438912"/>
          </a:xfrm>
          <a:prstGeom prst="rect">
            <a:avLst/>
          </a:prstGeom>
          <a:solidFill>
            <a:srgbClr val="F4F7F8"/>
          </a:solidFill>
          <a:ln w="12700">
            <a:solidFill>
              <a:srgbClr val="F2A8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4526280"/>
            <a:ext cx="502920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20" b="1">
                <a:solidFill>
                  <a:srgbClr val="0A1628"/>
                </a:solidFill>
                <a:latin typeface="Calibri"/>
              </a:rPr>
              <a:t>C-013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61872" y="4507992"/>
            <a:ext cx="11430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1">
                <a:solidFill>
                  <a:srgbClr val="00C9A7"/>
                </a:solidFill>
                <a:latin typeface="Calibri"/>
              </a:rPr>
              <a:t>r/AllAboutPT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14016" y="4526280"/>
            <a:ext cx="429768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Calibri"/>
              </a:rPr>
              <a:t>qualified score 0.417 | raw file retained in audit trail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83296" y="0"/>
            <a:ext cx="4105656" cy="6858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83296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30768" y="502920"/>
            <a:ext cx="3063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Audit trail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30768" y="1353312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reddit-evidence-pack.json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30768" y="1883664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reddit-factcheck-report.md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30768" y="2414016"/>
            <a:ext cx="309067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builder script retained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30768" y="5687568"/>
            <a:ext cx="224028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13064" y="5760720"/>
            <a:ext cx="2029968" cy="146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8" y="6473952"/>
            <a:ext cx="44805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B6B7C"/>
                </a:solidFill>
                <a:latin typeface="Calibri"/>
              </a:rPr>
              <a:t>Qualified Reddit market evidence | client-ready draft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01968" y="6473952"/>
            <a:ext cx="7315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750" b="0">
                <a:solidFill>
                  <a:srgbClr val="5B6B7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10912</Words>
  <Application>Microsoft Office PowerPoint</Application>
  <PresentationFormat>Widescreen</PresentationFormat>
  <Paragraphs>1188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sheker kamma</dc:creator>
  <cp:keywords/>
  <dc:description>generated using python-pptx</dc:description>
  <cp:lastModifiedBy>sheker kamma</cp:lastModifiedBy>
  <cp:revision>1</cp:revision>
  <dcterms:created xsi:type="dcterms:W3CDTF">2013-01-27T09:14:16Z</dcterms:created>
  <dcterms:modified xsi:type="dcterms:W3CDTF">2026-05-25T15:25:33Z</dcterms:modified>
  <cp:category/>
</cp:coreProperties>
</file>