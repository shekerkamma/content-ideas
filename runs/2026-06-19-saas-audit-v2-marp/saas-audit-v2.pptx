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DD4BF"/>
                </a:solidFill>
              </a:rPr>
              <a:t>SAAS REPLACEMENT AUDIT · 15 TOOLS · $33,288/YR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0" b="1" i="0">
                <a:solidFill>
                  <a:srgbClr val="2DD4BF"/>
                </a:solidFill>
              </a:rPr>
              <a:t>$30,500 is sitting
in your SaaS stack.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9601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AEB8C7"/>
                </a:solidFill>
              </a:rPr>
              <a:t>$16,318 of your annual SaaS spend is replaceable or renegotiable.
Here's the exit plan — month by month, with the math.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9748A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DD4BF"/>
                </a:solidFill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300" b="1" i="0">
                <a:solidFill>
                  <a:srgbClr val="EEF2F7"/>
                </a:solidFill>
              </a:rPr>
              <a:t>You're paying $1,360/mo for things you could own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2316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700">
                <a:solidFill>
                  <a:srgbClr val="EEF2F7"/>
                </a:solidFill>
              </a:rPr>
              <a:t>→  Retool: $600/mo to display a table your engineers built in a day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EEF2F7"/>
                </a:solidFill>
              </a:rPr>
              <a:t>→  Zapier: $199/mo for 10 HTTP calls between services you own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EEF2F7"/>
                </a:solidFill>
              </a:rPr>
              <a:t>→  Airtable: $240/mo for a spreadsheet masquerading as a CRM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EEF2F7"/>
                </a:solidFill>
              </a:rPr>
              <a:t>→  Mixpanel: $89/mo for data you're already paying Segment to collect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4754880"/>
            <a:ext cx="45720" cy="9144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7548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AEB8C7"/>
                </a:solidFill>
              </a:rPr>
              <a:t>"You don't have a SaaS problem. You have a build-vs-buy decision you never made."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9748A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DD4BF"/>
                </a:solidFill>
              </a:rPr>
              <a:t>15 TOOLS · 5 VERDICTS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EF2F7"/>
                </a:solidFill>
              </a:rPr>
              <a:t>Only 5 tools actually earn their invoice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1371600" cy="329184"/>
          </a:xfrm>
          <a:prstGeom prst="rect">
            <a:avLst/>
          </a:prstGeom>
          <a:solidFill>
            <a:srgbClr val="0F1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05740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DD4BF"/>
                </a:solidFill>
              </a:rPr>
              <a:t>TOOL</a:t>
            </a:r>
          </a:p>
        </p:txBody>
      </p:sp>
      <p:sp>
        <p:nvSpPr>
          <p:cNvPr id="8" name="Rectangle 7"/>
          <p:cNvSpPr/>
          <p:nvPr/>
        </p:nvSpPr>
        <p:spPr>
          <a:xfrm>
            <a:off x="2103120" y="2011680"/>
            <a:ext cx="777240" cy="329184"/>
          </a:xfrm>
          <a:prstGeom prst="rect">
            <a:avLst/>
          </a:prstGeom>
          <a:solidFill>
            <a:srgbClr val="0F1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94560" y="2057400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DD4BF"/>
                </a:solidFill>
              </a:rPr>
              <a:t>$/MO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80360" y="2011680"/>
            <a:ext cx="1554480" cy="329184"/>
          </a:xfrm>
          <a:prstGeom prst="rect">
            <a:avLst/>
          </a:prstGeom>
          <a:solidFill>
            <a:srgbClr val="0F1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71800" y="205740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DD4BF"/>
                </a:solidFill>
              </a:rPr>
              <a:t>VERDICT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34840" y="2011680"/>
            <a:ext cx="6583680" cy="329184"/>
          </a:xfrm>
          <a:prstGeom prst="rect">
            <a:avLst/>
          </a:prstGeom>
          <a:solidFill>
            <a:srgbClr val="0F1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2057400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DD4BF"/>
                </a:solidFill>
              </a:rPr>
              <a:t>ONE-LINE REASON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2340864"/>
            <a:ext cx="1371600" cy="457200"/>
          </a:xfrm>
          <a:prstGeom prst="rect">
            <a:avLst/>
          </a:prstGeom>
          <a:solidFill>
            <a:srgbClr val="0F1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2423160"/>
            <a:ext cx="118872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EF2F7"/>
                </a:solidFill>
              </a:rPr>
              <a:t>Retool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103120" y="2340864"/>
            <a:ext cx="777240" cy="457200"/>
          </a:xfrm>
          <a:prstGeom prst="rect">
            <a:avLst/>
          </a:prstGeom>
          <a:solidFill>
            <a:srgbClr val="0F1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94560" y="2423160"/>
            <a:ext cx="59436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D4BF"/>
                </a:solidFill>
              </a:rPr>
              <a:t>$600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80360" y="2340864"/>
            <a:ext cx="1554480" cy="457200"/>
          </a:xfrm>
          <a:prstGeom prst="rect">
            <a:avLst/>
          </a:prstGeom>
          <a:solidFill>
            <a:srgbClr val="0F1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71800" y="2423160"/>
            <a:ext cx="13716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D4BF"/>
                </a:solidFill>
              </a:rPr>
              <a:t>REPLACE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34840" y="2340864"/>
            <a:ext cx="6583680" cy="457200"/>
          </a:xfrm>
          <a:prstGeom prst="rect">
            <a:avLst/>
          </a:prstGeom>
          <a:solidFill>
            <a:srgbClr val="0F1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26280" y="2423160"/>
            <a:ext cx="64008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EF2F7"/>
                </a:solidFill>
              </a:rPr>
              <a:t>Paying $600/mo to host a table. Own it for $8,700 once.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2825496"/>
            <a:ext cx="1371600" cy="457200"/>
          </a:xfrm>
          <a:prstGeom prst="rect">
            <a:avLst/>
          </a:prstGeom>
          <a:solidFill>
            <a:srgbClr val="080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2907792"/>
            <a:ext cx="118872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EF2F7"/>
                </a:solidFill>
              </a:rPr>
              <a:t>Airtable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103120" y="2825496"/>
            <a:ext cx="777240" cy="457200"/>
          </a:xfrm>
          <a:prstGeom prst="rect">
            <a:avLst/>
          </a:prstGeom>
          <a:solidFill>
            <a:srgbClr val="080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94560" y="2907792"/>
            <a:ext cx="59436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D4BF"/>
                </a:solidFill>
              </a:rPr>
              <a:t>$240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880360" y="2825496"/>
            <a:ext cx="1554480" cy="457200"/>
          </a:xfrm>
          <a:prstGeom prst="rect">
            <a:avLst/>
          </a:prstGeom>
          <a:solidFill>
            <a:srgbClr val="080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71800" y="2907792"/>
            <a:ext cx="13716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D4BF"/>
                </a:solidFill>
              </a:rPr>
              <a:t>REPLACE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34840" y="2825496"/>
            <a:ext cx="6583680" cy="457200"/>
          </a:xfrm>
          <a:prstGeom prst="rect">
            <a:avLst/>
          </a:prstGeom>
          <a:solidFill>
            <a:srgbClr val="080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26280" y="2907792"/>
            <a:ext cx="64008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EF2F7"/>
                </a:solidFill>
              </a:rPr>
              <a:t>Spreadsheet as CRM. A Supabase schema and an afternoon.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3310128"/>
            <a:ext cx="1371600" cy="457200"/>
          </a:xfrm>
          <a:prstGeom prst="rect">
            <a:avLst/>
          </a:prstGeom>
          <a:solidFill>
            <a:srgbClr val="0F1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3392424"/>
            <a:ext cx="118872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EF2F7"/>
                </a:solidFill>
              </a:rPr>
              <a:t>Zapier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103120" y="3310128"/>
            <a:ext cx="777240" cy="457200"/>
          </a:xfrm>
          <a:prstGeom prst="rect">
            <a:avLst/>
          </a:prstGeom>
          <a:solidFill>
            <a:srgbClr val="0F1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194560" y="3392424"/>
            <a:ext cx="59436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D4BF"/>
                </a:solidFill>
              </a:rPr>
              <a:t>$199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880360" y="3310128"/>
            <a:ext cx="1554480" cy="457200"/>
          </a:xfrm>
          <a:prstGeom prst="rect">
            <a:avLst/>
          </a:prstGeom>
          <a:solidFill>
            <a:srgbClr val="0F1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971800" y="3392424"/>
            <a:ext cx="13716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D4BF"/>
                </a:solidFill>
              </a:rPr>
              <a:t>REPLACE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434840" y="3310128"/>
            <a:ext cx="6583680" cy="457200"/>
          </a:xfrm>
          <a:prstGeom prst="rect">
            <a:avLst/>
          </a:prstGeom>
          <a:solidFill>
            <a:srgbClr val="0F1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26280" y="3392424"/>
            <a:ext cx="64008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EF2F7"/>
                </a:solidFill>
              </a:rPr>
              <a:t>10 HTTP calls. n8n, $5/mo VPS, 3 days.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1520" y="3794760"/>
            <a:ext cx="1371600" cy="457200"/>
          </a:xfrm>
          <a:prstGeom prst="rect">
            <a:avLst/>
          </a:prstGeom>
          <a:solidFill>
            <a:srgbClr val="080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960" y="3877056"/>
            <a:ext cx="118872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EF2F7"/>
                </a:solidFill>
              </a:rPr>
              <a:t>Segment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103120" y="3794760"/>
            <a:ext cx="777240" cy="457200"/>
          </a:xfrm>
          <a:prstGeom prst="rect">
            <a:avLst/>
          </a:prstGeom>
          <a:solidFill>
            <a:srgbClr val="080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194560" y="3877056"/>
            <a:ext cx="59436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D4BF"/>
                </a:solidFill>
              </a:rPr>
              <a:t>$120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880360" y="3794760"/>
            <a:ext cx="1554480" cy="457200"/>
          </a:xfrm>
          <a:prstGeom prst="rect">
            <a:avLst/>
          </a:prstGeom>
          <a:solidFill>
            <a:srgbClr val="080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971800" y="3877056"/>
            <a:ext cx="13716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D4BF"/>
                </a:solidFill>
              </a:rPr>
              <a:t>REPLACE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434840" y="3794760"/>
            <a:ext cx="6583680" cy="457200"/>
          </a:xfrm>
          <a:prstGeom prst="rect">
            <a:avLst/>
          </a:prstGeom>
          <a:solidFill>
            <a:srgbClr val="080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26280" y="3877056"/>
            <a:ext cx="64008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EF2F7"/>
                </a:solidFill>
              </a:rPr>
              <a:t>200 lines of code + Supabase insert. Paying for a pipe.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31520" y="4279392"/>
            <a:ext cx="1371600" cy="457200"/>
          </a:xfrm>
          <a:prstGeom prst="rect">
            <a:avLst/>
          </a:prstGeom>
          <a:solidFill>
            <a:srgbClr val="0F1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2960" y="4361688"/>
            <a:ext cx="118872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EF2F7"/>
                </a:solidFill>
              </a:rPr>
              <a:t>Intercom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103120" y="4279392"/>
            <a:ext cx="777240" cy="457200"/>
          </a:xfrm>
          <a:prstGeom prst="rect">
            <a:avLst/>
          </a:prstGeom>
          <a:solidFill>
            <a:srgbClr val="0F1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194560" y="4361688"/>
            <a:ext cx="59436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D4BF"/>
                </a:solidFill>
              </a:rPr>
              <a:t>$299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880360" y="4279392"/>
            <a:ext cx="1554480" cy="457200"/>
          </a:xfrm>
          <a:prstGeom prst="rect">
            <a:avLst/>
          </a:prstGeom>
          <a:solidFill>
            <a:srgbClr val="0F1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971800" y="4361688"/>
            <a:ext cx="13716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6B94B"/>
                </a:solidFill>
              </a:rPr>
              <a:t>NEGOTIATE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434840" y="4279392"/>
            <a:ext cx="6583680" cy="457200"/>
          </a:xfrm>
          <a:prstGeom prst="rect">
            <a:avLst/>
          </a:prstGeom>
          <a:solidFill>
            <a:srgbClr val="0F1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526280" y="4361688"/>
            <a:ext cx="64008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EF2F7"/>
                </a:solidFill>
              </a:rPr>
              <a:t>Crisp exists at $25/mo. One call saves $718/yr.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31520" y="4764024"/>
            <a:ext cx="1371600" cy="457200"/>
          </a:xfrm>
          <a:prstGeom prst="rect">
            <a:avLst/>
          </a:prstGeom>
          <a:solidFill>
            <a:srgbClr val="080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22960" y="4846320"/>
            <a:ext cx="118872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EF2F7"/>
                </a:solidFill>
              </a:rPr>
              <a:t>Datadog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103120" y="4764024"/>
            <a:ext cx="777240" cy="457200"/>
          </a:xfrm>
          <a:prstGeom prst="rect">
            <a:avLst/>
          </a:prstGeom>
          <a:solidFill>
            <a:srgbClr val="080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194560" y="4846320"/>
            <a:ext cx="59436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D4BF"/>
                </a:solidFill>
              </a:rPr>
              <a:t>$410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880360" y="4764024"/>
            <a:ext cx="1554480" cy="457200"/>
          </a:xfrm>
          <a:prstGeom prst="rect">
            <a:avLst/>
          </a:prstGeom>
          <a:solidFill>
            <a:srgbClr val="080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971800" y="4846320"/>
            <a:ext cx="13716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6B94B"/>
                </a:solidFill>
              </a:rPr>
              <a:t>NEGOTIATE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434840" y="4764024"/>
            <a:ext cx="6583680" cy="457200"/>
          </a:xfrm>
          <a:prstGeom prst="rect">
            <a:avLst/>
          </a:prstGeom>
          <a:solidFill>
            <a:srgbClr val="080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526280" y="4846320"/>
            <a:ext cx="64008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EF2F7"/>
                </a:solidFill>
              </a:rPr>
              <a:t>Vercel + Supabase covers 80%. Push for startup tier.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31520" y="5248656"/>
            <a:ext cx="1371600" cy="457200"/>
          </a:xfrm>
          <a:prstGeom prst="rect">
            <a:avLst/>
          </a:prstGeom>
          <a:solidFill>
            <a:srgbClr val="0F1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22960" y="5330952"/>
            <a:ext cx="118872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EF2F7"/>
                </a:solidFill>
              </a:rPr>
              <a:t>Mixpanel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103120" y="5248656"/>
            <a:ext cx="777240" cy="457200"/>
          </a:xfrm>
          <a:prstGeom prst="rect">
            <a:avLst/>
          </a:prstGeom>
          <a:solidFill>
            <a:srgbClr val="0F1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194560" y="5330952"/>
            <a:ext cx="59436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D4BF"/>
                </a:solidFill>
              </a:rPr>
              <a:t>$89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880360" y="5248656"/>
            <a:ext cx="1554480" cy="457200"/>
          </a:xfrm>
          <a:prstGeom prst="rect">
            <a:avLst/>
          </a:prstGeom>
          <a:solidFill>
            <a:srgbClr val="0F1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971800" y="5330952"/>
            <a:ext cx="13716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8BDF8"/>
                </a:solidFill>
              </a:rPr>
              <a:t>CONSOLIDATE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434840" y="5248656"/>
            <a:ext cx="6583680" cy="457200"/>
          </a:xfrm>
          <a:prstGeom prst="rect">
            <a:avLst/>
          </a:prstGeom>
          <a:solidFill>
            <a:srgbClr val="0F1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526280" y="5330952"/>
            <a:ext cx="64008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EF2F7"/>
                </a:solidFill>
              </a:rPr>
              <a:t>Paying twice for event tracking. Cancel this week.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31520" y="5733288"/>
            <a:ext cx="1371600" cy="457200"/>
          </a:xfrm>
          <a:prstGeom prst="rect">
            <a:avLst/>
          </a:prstGeom>
          <a:solidFill>
            <a:srgbClr val="080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22960" y="5815584"/>
            <a:ext cx="118872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EF2F7"/>
                </a:solidFill>
              </a:rPr>
              <a:t>Algolia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103120" y="5733288"/>
            <a:ext cx="777240" cy="457200"/>
          </a:xfrm>
          <a:prstGeom prst="rect">
            <a:avLst/>
          </a:prstGeom>
          <a:solidFill>
            <a:srgbClr val="080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94560" y="5815584"/>
            <a:ext cx="59436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D4BF"/>
                </a:solidFill>
              </a:rPr>
              <a:t>$500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880360" y="5733288"/>
            <a:ext cx="1554480" cy="457200"/>
          </a:xfrm>
          <a:prstGeom prst="rect">
            <a:avLst/>
          </a:prstGeom>
          <a:solidFill>
            <a:srgbClr val="080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971800" y="5815584"/>
            <a:ext cx="13716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9748A"/>
                </a:solidFill>
              </a:rPr>
              <a:t>KEEP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434840" y="5733288"/>
            <a:ext cx="6583680" cy="457200"/>
          </a:xfrm>
          <a:prstGeom prst="rect">
            <a:avLst/>
          </a:prstGeom>
          <a:solidFill>
            <a:srgbClr val="080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526280" y="5815584"/>
            <a:ext cx="64008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EF2F7"/>
                </a:solidFill>
              </a:rPr>
              <a:t>Search is core. Supabase FTS breaks at 50K rows.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9748A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DD4BF"/>
                </a:solidFill>
              </a:rPr>
              <a:t>REPLACE · RANKED BY SAVINGS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EEF2F7"/>
                </a:solidFill>
              </a:rPr>
              <a:t>3 builds. $26,839 back over 3 years.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286000"/>
            <a:ext cx="457200" cy="329184"/>
          </a:xfrm>
          <a:prstGeom prst="rect">
            <a:avLst/>
          </a:prstGeom>
          <a:solidFill>
            <a:srgbClr val="0F1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331720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DD4BF"/>
                </a:solidFill>
              </a:rPr>
              <a:t>#</a:t>
            </a:r>
          </a:p>
        </p:txBody>
      </p:sp>
      <p:sp>
        <p:nvSpPr>
          <p:cNvPr id="8" name="Rectangle 7"/>
          <p:cNvSpPr/>
          <p:nvPr/>
        </p:nvSpPr>
        <p:spPr>
          <a:xfrm>
            <a:off x="1188720" y="2286000"/>
            <a:ext cx="3200400" cy="329184"/>
          </a:xfrm>
          <a:prstGeom prst="rect">
            <a:avLst/>
          </a:prstGeom>
          <a:solidFill>
            <a:srgbClr val="0F1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2331720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DD4BF"/>
                </a:solidFill>
              </a:rPr>
              <a:t>REPLACE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2286000"/>
            <a:ext cx="1554480" cy="329184"/>
          </a:xfrm>
          <a:prstGeom prst="rect">
            <a:avLst/>
          </a:prstGeom>
          <a:solidFill>
            <a:srgbClr val="0F1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233172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DD4BF"/>
                </a:solidFill>
              </a:rPr>
              <a:t>ANNUAL SAAS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2286000"/>
            <a:ext cx="1737360" cy="329184"/>
          </a:xfrm>
          <a:prstGeom prst="rect">
            <a:avLst/>
          </a:prstGeom>
          <a:solidFill>
            <a:srgbClr val="0F1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2331720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DD4BF"/>
                </a:solidFill>
              </a:rPr>
              <a:t>BUILD COST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80960" y="2286000"/>
            <a:ext cx="1828800" cy="329184"/>
          </a:xfrm>
          <a:prstGeom prst="rect">
            <a:avLst/>
          </a:prstGeom>
          <a:solidFill>
            <a:srgbClr val="0F1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0" y="233172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DD4BF"/>
                </a:solidFill>
              </a:rPr>
              <a:t>BREAK-EVEN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509760" y="2286000"/>
            <a:ext cx="1554480" cy="329184"/>
          </a:xfrm>
          <a:prstGeom prst="rect">
            <a:avLst/>
          </a:prstGeom>
          <a:solidFill>
            <a:srgbClr val="0F1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0" y="233172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DD4BF"/>
                </a:solidFill>
              </a:rPr>
              <a:t>3-YR SAVINGS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2615184"/>
            <a:ext cx="457200" cy="457200"/>
          </a:xfrm>
          <a:prstGeom prst="rect">
            <a:avLst/>
          </a:prstGeom>
          <a:solidFill>
            <a:srgbClr val="0F1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2697480"/>
            <a:ext cx="27432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EF2F7"/>
                </a:solidFill>
              </a:rPr>
              <a:t>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88720" y="2615184"/>
            <a:ext cx="3200400" cy="457200"/>
          </a:xfrm>
          <a:prstGeom prst="rect">
            <a:avLst/>
          </a:prstGeom>
          <a:solidFill>
            <a:srgbClr val="0F1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80160" y="2697480"/>
            <a:ext cx="301752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EF2F7"/>
                </a:solidFill>
              </a:rPr>
              <a:t>Retool → Next.js admin panel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89120" y="2615184"/>
            <a:ext cx="1554480" cy="457200"/>
          </a:xfrm>
          <a:prstGeom prst="rect">
            <a:avLst/>
          </a:prstGeom>
          <a:solidFill>
            <a:srgbClr val="0F1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80560" y="2697480"/>
            <a:ext cx="13716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D4BF"/>
                </a:solidFill>
              </a:rPr>
              <a:t>$7,200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0" y="2615184"/>
            <a:ext cx="1737360" cy="457200"/>
          </a:xfrm>
          <a:prstGeom prst="rect">
            <a:avLst/>
          </a:prstGeom>
          <a:solidFill>
            <a:srgbClr val="0F1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0" y="2697480"/>
            <a:ext cx="155448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D4BF"/>
                </a:solidFill>
              </a:rPr>
              <a:t>$8,700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680960" y="2615184"/>
            <a:ext cx="1828800" cy="457200"/>
          </a:xfrm>
          <a:prstGeom prst="rect">
            <a:avLst/>
          </a:prstGeom>
          <a:solidFill>
            <a:srgbClr val="0F1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0" y="2697480"/>
            <a:ext cx="164592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EF2F7"/>
                </a:solidFill>
              </a:rPr>
              <a:t>Month 17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509760" y="2615184"/>
            <a:ext cx="1554480" cy="457200"/>
          </a:xfrm>
          <a:prstGeom prst="rect">
            <a:avLst/>
          </a:prstGeom>
          <a:solidFill>
            <a:srgbClr val="0F1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0" y="2697480"/>
            <a:ext cx="13716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D4BF"/>
                </a:solidFill>
              </a:rPr>
              <a:t>$15,132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3099816"/>
            <a:ext cx="457200" cy="457200"/>
          </a:xfrm>
          <a:prstGeom prst="rect">
            <a:avLst/>
          </a:prstGeom>
          <a:solidFill>
            <a:srgbClr val="080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3182112"/>
            <a:ext cx="27432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EF2F7"/>
                </a:solidFill>
              </a:rPr>
              <a:t>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88720" y="3099816"/>
            <a:ext cx="3200400" cy="457200"/>
          </a:xfrm>
          <a:prstGeom prst="rect">
            <a:avLst/>
          </a:prstGeom>
          <a:solidFill>
            <a:srgbClr val="080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80160" y="3182112"/>
            <a:ext cx="301752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EF2F7"/>
                </a:solidFill>
              </a:rPr>
              <a:t>Zapier → n8n self-hosted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89120" y="3099816"/>
            <a:ext cx="1554480" cy="457200"/>
          </a:xfrm>
          <a:prstGeom prst="rect">
            <a:avLst/>
          </a:prstGeom>
          <a:solidFill>
            <a:srgbClr val="080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80560" y="3182112"/>
            <a:ext cx="13716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D4BF"/>
                </a:solidFill>
              </a:rPr>
              <a:t>$2,388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43600" y="3099816"/>
            <a:ext cx="1737360" cy="457200"/>
          </a:xfrm>
          <a:prstGeom prst="rect">
            <a:avLst/>
          </a:prstGeom>
          <a:solidFill>
            <a:srgbClr val="080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35040" y="3182112"/>
            <a:ext cx="155448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D4BF"/>
                </a:solidFill>
              </a:rPr>
              <a:t>$1,380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680960" y="3099816"/>
            <a:ext cx="1828800" cy="457200"/>
          </a:xfrm>
          <a:prstGeom prst="rect">
            <a:avLst/>
          </a:prstGeom>
          <a:solidFill>
            <a:srgbClr val="080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72400" y="3182112"/>
            <a:ext cx="164592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EF2F7"/>
                </a:solidFill>
              </a:rPr>
              <a:t>Month 8 ← fastest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509760" y="3099816"/>
            <a:ext cx="1554480" cy="457200"/>
          </a:xfrm>
          <a:prstGeom prst="rect">
            <a:avLst/>
          </a:prstGeom>
          <a:solidFill>
            <a:srgbClr val="080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601200" y="3182112"/>
            <a:ext cx="13716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D4BF"/>
                </a:solidFill>
              </a:rPr>
              <a:t>$6,524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31520" y="3584448"/>
            <a:ext cx="457200" cy="457200"/>
          </a:xfrm>
          <a:prstGeom prst="rect">
            <a:avLst/>
          </a:prstGeom>
          <a:solidFill>
            <a:srgbClr val="0F1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2960" y="3666744"/>
            <a:ext cx="27432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EF2F7"/>
                </a:solidFill>
              </a:rPr>
              <a:t>3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188720" y="3584448"/>
            <a:ext cx="3200400" cy="457200"/>
          </a:xfrm>
          <a:prstGeom prst="rect">
            <a:avLst/>
          </a:prstGeom>
          <a:solidFill>
            <a:srgbClr val="0F1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80160" y="3666744"/>
            <a:ext cx="301752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EF2F7"/>
                </a:solidFill>
              </a:rPr>
              <a:t>Airtable → Supabase CRM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89120" y="3584448"/>
            <a:ext cx="1554480" cy="457200"/>
          </a:xfrm>
          <a:prstGeom prst="rect">
            <a:avLst/>
          </a:prstGeom>
          <a:solidFill>
            <a:srgbClr val="0F1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80560" y="3666744"/>
            <a:ext cx="13716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D4BF"/>
                </a:solidFill>
              </a:rPr>
              <a:t>$2,880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43600" y="3584448"/>
            <a:ext cx="1737360" cy="457200"/>
          </a:xfrm>
          <a:prstGeom prst="rect">
            <a:avLst/>
          </a:prstGeom>
          <a:solidFill>
            <a:srgbClr val="0F1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035040" y="3666744"/>
            <a:ext cx="155448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D4BF"/>
                </a:solidFill>
              </a:rPr>
              <a:t>$4,350→$1,500*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680960" y="3584448"/>
            <a:ext cx="1828800" cy="457200"/>
          </a:xfrm>
          <a:prstGeom prst="rect">
            <a:avLst/>
          </a:prstGeom>
          <a:solidFill>
            <a:srgbClr val="0F1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772400" y="3666744"/>
            <a:ext cx="164592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EF2F7"/>
                </a:solidFill>
              </a:rPr>
              <a:t>Month 22→Month 7*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509760" y="3584448"/>
            <a:ext cx="1554480" cy="457200"/>
          </a:xfrm>
          <a:prstGeom prst="rect">
            <a:avLst/>
          </a:prstGeom>
          <a:solidFill>
            <a:srgbClr val="0F1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601200" y="3666744"/>
            <a:ext cx="13716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D4BF"/>
                </a:solidFill>
              </a:rPr>
              <a:t>$5,183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1520" y="5074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9748A"/>
                </a:solidFill>
              </a:rPr>
              <a:t>*Build #3 alongside #1 — shared scaffold cuts $2,850 off the cost and moves break-even from month 22 to month 7.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9748A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DD4BF"/>
                </a:solidFill>
              </a:rPr>
              <a:t>THE MATH · BUILD #2 · FASTEST WIN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300" b="1" i="0">
                <a:solidFill>
                  <a:srgbClr val="EEF2F7"/>
                </a:solidFill>
              </a:rPr>
              <a:t>Zapier → n8n: $6,524 back, break-even month 8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423160"/>
            <a:ext cx="10515600" cy="2798064"/>
          </a:xfrm>
          <a:prstGeom prst="rect">
            <a:avLst/>
          </a:prstGeom>
          <a:solidFill>
            <a:srgbClr val="071E1B"/>
          </a:solidFill>
          <a:ln>
            <a:solidFill>
              <a:srgbClr val="1A6B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624328"/>
            <a:ext cx="10058400" cy="2478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</a:pPr>
            <a:r>
              <a:rPr sz="1400" b="1">
                <a:solidFill>
                  <a:srgbClr val="2DD4BF"/>
                </a:solidFill>
              </a:rPr>
              <a:t>3-Year SaaS:   $199 × 12 = $2,388  →  × 1.10 = $2,627  →  × 1.10 = $2,890  →  Total: $7,905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AEB8C7"/>
                </a:solidFill>
              </a:rPr>
              <a:t/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AEB8C7"/>
                </a:solidFill>
              </a:rPr>
              <a:t>Build cost:    n8n VPS ($5/mo × 36)         =  $180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AEB8C7"/>
                </a:solidFill>
              </a:rPr>
              <a:t>               Migration (8hr × $150/hr)     =  $1,200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2DD4BF"/>
                </a:solidFill>
              </a:rPr>
              <a:t>               Total: $1,380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AEB8C7"/>
                </a:solidFill>
              </a:rPr>
              <a:t/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2DD4BF"/>
                </a:solidFill>
              </a:rPr>
              <a:t>Break-even:    $1,380 ÷ ($199 − $5) = 7.1 months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2DD4BF"/>
                </a:solidFill>
              </a:rPr>
              <a:t>After month 8: Zapier never touches your bank account again.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029200"/>
            <a:ext cx="45720" cy="9144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292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AEB8C7"/>
                </a:solidFill>
              </a:rPr>
              <a:t>"This is the fastest money in the stack. 3 days of work. Ship it this week."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9748A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DD4BF"/>
                </a:solidFill>
              </a:rPr>
              <a:t>THE MATH · BUILD #1 · HIGHEST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300" b="1" i="0">
                <a:solidFill>
                  <a:srgbClr val="EEF2F7"/>
                </a:solidFill>
              </a:rPr>
              <a:t>Retool → Next.js admin panel: $15,132 back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423160"/>
            <a:ext cx="10515600" cy="3090672"/>
          </a:xfrm>
          <a:prstGeom prst="rect">
            <a:avLst/>
          </a:prstGeom>
          <a:solidFill>
            <a:srgbClr val="071E1B"/>
          </a:solidFill>
          <a:ln>
            <a:solidFill>
              <a:srgbClr val="1A6B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624328"/>
            <a:ext cx="10058400" cy="27706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</a:pPr>
            <a:r>
              <a:rPr sz="1400" b="1">
                <a:solidFill>
                  <a:srgbClr val="2DD4BF"/>
                </a:solidFill>
              </a:rPr>
              <a:t>3-Year SaaS:   $600 × 12 = $7,200  →  × 1.10 = $7,920  →  × 1.10 = $8,712  →  Total: $23,832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AEB8C7"/>
                </a:solidFill>
              </a:rPr>
              <a:t/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AEB8C7"/>
                </a:solidFill>
              </a:rPr>
              <a:t>Build cost:    40hr × $150/hr = $6,000 one-time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AEB8C7"/>
                </a:solidFill>
              </a:rPr>
              <a:t>               Maintenance (15%/yr × 3yr) = $2,700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AEB8C7"/>
                </a:solidFill>
              </a:rPr>
              <a:t>               Hosting: $0 — existing Vercel deployment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2DD4BF"/>
                </a:solidFill>
              </a:rPr>
              <a:t>               Total: $8,700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AEB8C7"/>
                </a:solidFill>
              </a:rPr>
              <a:t/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2DD4BF"/>
                </a:solidFill>
              </a:rPr>
              <a:t>Break-even:    $8,700 ÷ ($600 − $75/mo maint) = Month 17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2DD4BF"/>
                </a:solidFill>
              </a:rPr>
              <a:t>After month 17: you own this forever.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8064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9748A"/>
                </a:solidFill>
              </a:rPr>
              <a:t>Stack: Next.js 14 + Supabase RLS + shadcn/ui + NextAuth admin role · 2 weeks · 1 engineer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9748A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DD4BF"/>
                </a:solidFill>
              </a:rPr>
              <a:t>BUILD PLAN #1 · RETOOL REPLACEMENT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300" b="1" i="0">
                <a:solidFill>
                  <a:srgbClr val="EEF2F7"/>
                </a:solidFill>
              </a:rPr>
              <a:t>Ship the 3 things CS actually uses — nothing else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377440"/>
            <a:ext cx="5029200" cy="3566160"/>
          </a:xfrm>
          <a:prstGeom prst="rect">
            <a:avLst/>
          </a:prstGeom>
          <a:solidFill>
            <a:srgbClr val="0F141D"/>
          </a:solidFill>
          <a:ln>
            <a:solidFill>
              <a:srgbClr val="222B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42032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DD4BF"/>
                </a:solidFill>
              </a:rPr>
              <a:t>WHAT SHIPS IN 30 DAYS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52928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EF2F7"/>
                </a:solidFill>
              </a:rPr>
              <a:t>Not all 10 Retool apps. These 3.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364992"/>
            <a:ext cx="46634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>
                <a:solidFill>
                  <a:srgbClr val="AEB8C7"/>
                </a:solidFill>
              </a:rPr>
              <a:t>→  User list — search, filter, impersonate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AEB8C7"/>
                </a:solidFill>
              </a:rPr>
              <a:t>→  Subscription management — plan, status, cancel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AEB8C7"/>
                </a:solidFill>
              </a:rPr>
              <a:t>→  Activity log — what they did, when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504688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DD4BF"/>
                </a:solidFill>
              </a:rPr>
              <a:t>2 WEEKS · 1 ENGINEER · $0 HOSTING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45352" y="2377440"/>
            <a:ext cx="5029200" cy="3566160"/>
          </a:xfrm>
          <a:prstGeom prst="rect">
            <a:avLst/>
          </a:prstGeom>
          <a:solidFill>
            <a:srgbClr val="0F141D"/>
          </a:solidFill>
          <a:ln>
            <a:solidFill>
              <a:srgbClr val="222B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2542032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DD4BF"/>
                </a:solidFill>
              </a:rPr>
              <a:t>MIGRATION — 4 STEPS, NO DATA LOSS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8232" y="2852928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EF2F7"/>
                </a:solidFill>
              </a:rPr>
              <a:t>Audit → Build → Shadow → Cancel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2" y="3364992"/>
            <a:ext cx="46634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>
                <a:solidFill>
                  <a:srgbClr val="AEB8C7"/>
                </a:solidFill>
              </a:rPr>
              <a:t>→  Audit: which Retool apps get opened weekly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AEB8C7"/>
                </a:solidFill>
              </a:rPr>
              <a:t>→  Build: replicate those 2–3, nothing else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AEB8C7"/>
                </a:solidFill>
              </a:rPr>
              <a:t>→  Shadow: run both for 2 weeks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AEB8C7"/>
                </a:solidFill>
              </a:rPr>
              <a:t>→  CS signs off → cancel Retool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8232" y="5504688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879F9"/>
                </a:solidFill>
              </a:rPr>
              <a:t>DAY 1: AUDIT.  MONTH 2: CANCEL.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9748A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DD4BF"/>
                </a:solidFill>
              </a:rPr>
              <a:t>QUICK WINS · ZERO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EF2F7"/>
                </a:solidFill>
              </a:rPr>
              <a:t>$4,450/yr this month — no engineers required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>
                <a:solidFill>
                  <a:srgbClr val="EEF2F7"/>
                </a:solidFill>
              </a:rPr>
              <a:t>→  Cancel Mixpanel this week. Segment already has this data. $1,068/yr gone immediately.</a:t>
            </a:r>
          </a:p>
          <a:p>
            <a:pPr>
              <a:spcAft>
                <a:spcPts val="500"/>
              </a:spcAft>
            </a:pPr>
            <a:r>
              <a:rPr sz="1600">
                <a:solidFill>
                  <a:srgbClr val="EEF2F7"/>
                </a:solidFill>
              </a:rPr>
              <a:t>→  Downgrade Postman to free. Email support. If someone objects, buy them one seat ($49/yr). Save $539.</a:t>
            </a:r>
          </a:p>
          <a:p>
            <a:pPr>
              <a:spcAft>
                <a:spcPts val="500"/>
              </a:spcAft>
            </a:pPr>
            <a:r>
              <a:rPr sz="1600">
                <a:solidFill>
                  <a:srgbClr val="EEF2F7"/>
                </a:solidFill>
              </a:rPr>
              <a:t>→  Call Intercom. Say Crisp costs $25/mo. They will negotiate. Target: $239/mo. Save $718/yr.</a:t>
            </a:r>
          </a:p>
          <a:p>
            <a:pPr>
              <a:spcAft>
                <a:spcPts val="500"/>
              </a:spcAft>
            </a:pPr>
            <a:r>
              <a:rPr sz="1600">
                <a:solidFill>
                  <a:srgbClr val="EEF2F7"/>
                </a:solidFill>
              </a:rPr>
              <a:t>→  Call Datadog. Say you're evaluating Grafana Cloud. Target: 30% reduction. Save $1,476/yr.</a:t>
            </a:r>
          </a:p>
          <a:p>
            <a:pPr>
              <a:spcAft>
                <a:spcPts val="500"/>
              </a:spcAft>
            </a:pPr>
            <a:r>
              <a:rPr sz="1600">
                <a:solidFill>
                  <a:srgbClr val="EEF2F7"/>
                </a:solidFill>
              </a:rPr>
              <a:t>→  Migrate to Resend — or call SendGrid and threaten to. Save $600/yr either way.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9748A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DD4BF"/>
                </a:solidFill>
              </a:rPr>
              <a:t>THE FULL PICTURE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EF2F7"/>
                </a:solidFill>
              </a:rPr>
              <a:t>From $33,288 to $16,370 — in 12 months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057400"/>
            <a:ext cx="1737360" cy="329184"/>
          </a:xfrm>
          <a:prstGeom prst="rect">
            <a:avLst/>
          </a:prstGeom>
          <a:solidFill>
            <a:srgbClr val="0F1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DD4BF"/>
                </a:solidFill>
              </a:rPr>
              <a:t>MONTH</a:t>
            </a:r>
          </a:p>
        </p:txBody>
      </p:sp>
      <p:sp>
        <p:nvSpPr>
          <p:cNvPr id="8" name="Rectangle 7"/>
          <p:cNvSpPr/>
          <p:nvPr/>
        </p:nvSpPr>
        <p:spPr>
          <a:xfrm>
            <a:off x="2468880" y="2057400"/>
            <a:ext cx="3931920" cy="329184"/>
          </a:xfrm>
          <a:prstGeom prst="rect">
            <a:avLst/>
          </a:prstGeom>
          <a:solidFill>
            <a:srgbClr val="0F1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60320" y="2103120"/>
            <a:ext cx="3749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DD4BF"/>
                </a:solidFill>
              </a:rPr>
              <a:t>THE MOVE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2057400"/>
            <a:ext cx="2468880" cy="329184"/>
          </a:xfrm>
          <a:prstGeom prst="rect">
            <a:avLst/>
          </a:prstGeom>
          <a:solidFill>
            <a:srgbClr val="0F1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210312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DD4BF"/>
                </a:solidFill>
              </a:rPr>
              <a:t>TOOL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869680" y="2057400"/>
            <a:ext cx="2194560" cy="329184"/>
          </a:xfrm>
          <a:prstGeom prst="rect">
            <a:avLst/>
          </a:prstGeom>
          <a:solidFill>
            <a:srgbClr val="0F1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0" y="210312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DD4BF"/>
                </a:solidFill>
              </a:rPr>
              <a:t>SAVES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2386584"/>
            <a:ext cx="1737360" cy="457200"/>
          </a:xfrm>
          <a:prstGeom prst="rect">
            <a:avLst/>
          </a:prstGeom>
          <a:solidFill>
            <a:srgbClr val="0F1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2468880"/>
            <a:ext cx="155448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EF2F7"/>
                </a:solidFill>
              </a:rPr>
              <a:t>This week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68880" y="2386584"/>
            <a:ext cx="3931920" cy="457200"/>
          </a:xfrm>
          <a:prstGeom prst="rect">
            <a:avLst/>
          </a:prstGeom>
          <a:solidFill>
            <a:srgbClr val="0F1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60320" y="2468880"/>
            <a:ext cx="374904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EF2F7"/>
                </a:solidFill>
              </a:rPr>
              <a:t>Cancel. No migration.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2386584"/>
            <a:ext cx="2468880" cy="457200"/>
          </a:xfrm>
          <a:prstGeom prst="rect">
            <a:avLst/>
          </a:prstGeom>
          <a:solidFill>
            <a:srgbClr val="0F1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2468880"/>
            <a:ext cx="22860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EF2F7"/>
                </a:solidFill>
              </a:rPr>
              <a:t>Mixpanel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869680" y="2386584"/>
            <a:ext cx="2194560" cy="457200"/>
          </a:xfrm>
          <a:prstGeom prst="rect">
            <a:avLst/>
          </a:prstGeom>
          <a:solidFill>
            <a:srgbClr val="0F1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0" y="2468880"/>
            <a:ext cx="201168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D4BF"/>
                </a:solidFill>
              </a:rPr>
              <a:t>$1,068/yr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2871216"/>
            <a:ext cx="1737360" cy="457200"/>
          </a:xfrm>
          <a:prstGeom prst="rect">
            <a:avLst/>
          </a:prstGeom>
          <a:solidFill>
            <a:srgbClr val="080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2953512"/>
            <a:ext cx="155448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EF2F7"/>
                </a:solidFill>
              </a:rPr>
              <a:t>Week 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68880" y="2871216"/>
            <a:ext cx="3931920" cy="457200"/>
          </a:xfrm>
          <a:prstGeom prst="rect">
            <a:avLst/>
          </a:prstGeom>
          <a:solidFill>
            <a:srgbClr val="080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60320" y="2953512"/>
            <a:ext cx="374904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EF2F7"/>
                </a:solidFill>
              </a:rPr>
              <a:t>One email to support.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2871216"/>
            <a:ext cx="2468880" cy="457200"/>
          </a:xfrm>
          <a:prstGeom prst="rect">
            <a:avLst/>
          </a:prstGeom>
          <a:solidFill>
            <a:srgbClr val="080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2953512"/>
            <a:ext cx="22860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EF2F7"/>
                </a:solidFill>
              </a:rPr>
              <a:t>Postman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69680" y="2871216"/>
            <a:ext cx="2194560" cy="457200"/>
          </a:xfrm>
          <a:prstGeom prst="rect">
            <a:avLst/>
          </a:prstGeom>
          <a:solidFill>
            <a:srgbClr val="080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61120" y="2953512"/>
            <a:ext cx="201168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D4BF"/>
                </a:solidFill>
              </a:rPr>
              <a:t>$588/yr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3355848"/>
            <a:ext cx="1737360" cy="457200"/>
          </a:xfrm>
          <a:prstGeom prst="rect">
            <a:avLst/>
          </a:prstGeom>
          <a:solidFill>
            <a:srgbClr val="0F1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3438144"/>
            <a:ext cx="155448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EF2F7"/>
                </a:solidFill>
              </a:rPr>
              <a:t>Month 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468880" y="3355848"/>
            <a:ext cx="3931920" cy="457200"/>
          </a:xfrm>
          <a:prstGeom prst="rect">
            <a:avLst/>
          </a:prstGeom>
          <a:solidFill>
            <a:srgbClr val="0F1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560320" y="3438144"/>
            <a:ext cx="374904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EF2F7"/>
                </a:solidFill>
              </a:rPr>
              <a:t>One call each. Name the competitor price.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3355848"/>
            <a:ext cx="2468880" cy="457200"/>
          </a:xfrm>
          <a:prstGeom prst="rect">
            <a:avLst/>
          </a:prstGeom>
          <a:solidFill>
            <a:srgbClr val="0F1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92240" y="3438144"/>
            <a:ext cx="22860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EF2F7"/>
                </a:solidFill>
              </a:rPr>
              <a:t>Intercom + Datadog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869680" y="3355848"/>
            <a:ext cx="2194560" cy="457200"/>
          </a:xfrm>
          <a:prstGeom prst="rect">
            <a:avLst/>
          </a:prstGeom>
          <a:solidFill>
            <a:srgbClr val="0F1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61120" y="3438144"/>
            <a:ext cx="201168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D4BF"/>
                </a:solidFill>
              </a:rPr>
              <a:t>$2,194/yr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1520" y="3840480"/>
            <a:ext cx="1737360" cy="457200"/>
          </a:xfrm>
          <a:prstGeom prst="rect">
            <a:avLst/>
          </a:prstGeom>
          <a:solidFill>
            <a:srgbClr val="080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960" y="3922776"/>
            <a:ext cx="155448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EF2F7"/>
                </a:solidFill>
              </a:rPr>
              <a:t>Months 2–3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468880" y="3840480"/>
            <a:ext cx="3931920" cy="457200"/>
          </a:xfrm>
          <a:prstGeom prst="rect">
            <a:avLst/>
          </a:prstGeom>
          <a:solidFill>
            <a:srgbClr val="080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560320" y="3922776"/>
            <a:ext cx="374904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EF2F7"/>
                </a:solidFill>
              </a:rPr>
              <a:t>Migrate to n8n. 3 days. Fastest money here.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0" y="3840480"/>
            <a:ext cx="2468880" cy="457200"/>
          </a:xfrm>
          <a:prstGeom prst="rect">
            <a:avLst/>
          </a:prstGeom>
          <a:solidFill>
            <a:srgbClr val="080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92240" y="3922776"/>
            <a:ext cx="22860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EF2F7"/>
                </a:solidFill>
              </a:rPr>
              <a:t>Zapier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869680" y="3840480"/>
            <a:ext cx="2194560" cy="457200"/>
          </a:xfrm>
          <a:prstGeom prst="rect">
            <a:avLst/>
          </a:prstGeom>
          <a:solidFill>
            <a:srgbClr val="080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961120" y="3922776"/>
            <a:ext cx="201168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D4BF"/>
                </a:solidFill>
              </a:rPr>
              <a:t>$2,388/yr from mo 4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31520" y="4325112"/>
            <a:ext cx="1737360" cy="457200"/>
          </a:xfrm>
          <a:prstGeom prst="rect">
            <a:avLst/>
          </a:prstGeom>
          <a:solidFill>
            <a:srgbClr val="0F1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2960" y="4407408"/>
            <a:ext cx="155448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EF2F7"/>
                </a:solidFill>
              </a:rPr>
              <a:t>Months 3–7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468880" y="4325112"/>
            <a:ext cx="3931920" cy="457200"/>
          </a:xfrm>
          <a:prstGeom prst="rect">
            <a:avLst/>
          </a:prstGeom>
          <a:solidFill>
            <a:srgbClr val="0F1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560320" y="4407408"/>
            <a:ext cx="374904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EF2F7"/>
                </a:solidFill>
              </a:rPr>
              <a:t>Build Next.js admin panel.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00800" y="4325112"/>
            <a:ext cx="2468880" cy="457200"/>
          </a:xfrm>
          <a:prstGeom prst="rect">
            <a:avLst/>
          </a:prstGeom>
          <a:solidFill>
            <a:srgbClr val="0F1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92240" y="4407408"/>
            <a:ext cx="22860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EF2F7"/>
                </a:solidFill>
              </a:rPr>
              <a:t>Retool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869680" y="4325112"/>
            <a:ext cx="2194560" cy="457200"/>
          </a:xfrm>
          <a:prstGeom prst="rect">
            <a:avLst/>
          </a:prstGeom>
          <a:solidFill>
            <a:srgbClr val="0F1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961120" y="4407408"/>
            <a:ext cx="201168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D4BF"/>
                </a:solidFill>
              </a:rPr>
              <a:t>$7,200/yr from mo 8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31520" y="4809744"/>
            <a:ext cx="1737360" cy="457200"/>
          </a:xfrm>
          <a:prstGeom prst="rect">
            <a:avLst/>
          </a:prstGeom>
          <a:solidFill>
            <a:srgbClr val="080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22960" y="4892040"/>
            <a:ext cx="155448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EF2F7"/>
                </a:solidFill>
              </a:rPr>
              <a:t>Months 4–7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468880" y="4809744"/>
            <a:ext cx="3931920" cy="457200"/>
          </a:xfrm>
          <a:prstGeom prst="rect">
            <a:avLst/>
          </a:prstGeom>
          <a:solidFill>
            <a:srgbClr val="080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560320" y="4892040"/>
            <a:ext cx="374904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EF2F7"/>
                </a:solidFill>
              </a:rPr>
              <a:t>Build Supabase CRM alongside it.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400800" y="4809744"/>
            <a:ext cx="2468880" cy="457200"/>
          </a:xfrm>
          <a:prstGeom prst="rect">
            <a:avLst/>
          </a:prstGeom>
          <a:solidFill>
            <a:srgbClr val="080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492240" y="4892040"/>
            <a:ext cx="22860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EF2F7"/>
                </a:solidFill>
              </a:rPr>
              <a:t>Airtable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869680" y="4809744"/>
            <a:ext cx="2194560" cy="457200"/>
          </a:xfrm>
          <a:prstGeom prst="rect">
            <a:avLst/>
          </a:prstGeom>
          <a:solidFill>
            <a:srgbClr val="080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961120" y="4892040"/>
            <a:ext cx="201168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D4BF"/>
                </a:solidFill>
              </a:rPr>
              <a:t>$2,880/yr from mo 8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31520" y="5294376"/>
            <a:ext cx="1737360" cy="457200"/>
          </a:xfrm>
          <a:prstGeom prst="rect">
            <a:avLst/>
          </a:prstGeom>
          <a:solidFill>
            <a:srgbClr val="0F1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22960" y="5376672"/>
            <a:ext cx="155448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EF2F7"/>
                </a:solidFill>
              </a:rPr>
              <a:t>Months 8–12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468880" y="5294376"/>
            <a:ext cx="3931920" cy="457200"/>
          </a:xfrm>
          <a:prstGeom prst="rect">
            <a:avLst/>
          </a:prstGeom>
          <a:solidFill>
            <a:srgbClr val="0F1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560320" y="5376672"/>
            <a:ext cx="374904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EF2F7"/>
                </a:solidFill>
              </a:rPr>
              <a:t>Build event pipeline when admin panel ships.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400800" y="5294376"/>
            <a:ext cx="2468880" cy="457200"/>
          </a:xfrm>
          <a:prstGeom prst="rect">
            <a:avLst/>
          </a:prstGeom>
          <a:solidFill>
            <a:srgbClr val="0F1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492240" y="5376672"/>
            <a:ext cx="22860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EF2F7"/>
                </a:solidFill>
              </a:rPr>
              <a:t>Segment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869680" y="5294376"/>
            <a:ext cx="2194560" cy="457200"/>
          </a:xfrm>
          <a:prstGeom prst="rect">
            <a:avLst/>
          </a:prstGeom>
          <a:solidFill>
            <a:srgbClr val="0F1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961120" y="5376672"/>
            <a:ext cx="201168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D4BF"/>
                </a:solidFill>
              </a:rPr>
              <a:t>$1,440/yr from mo 12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9748A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DD4BF"/>
                </a:solidFill>
              </a:rPr>
              <a:t>NEXT 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2DD4BF"/>
                </a:solidFill>
              </a:rPr>
              <a:t>Start with Zapier.
This week.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AEB8C7"/>
                </a:solidFill>
              </a:rPr>
              <a:t>3 days. $1,380 total cost. $6,524 back over 3 years. Break-even: month 8.
n8n on a $5/mo Hetzner VPS. One Docker command. The rest is just recreating HTTP calls you already own.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9748A"/>
                </a:solidFill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