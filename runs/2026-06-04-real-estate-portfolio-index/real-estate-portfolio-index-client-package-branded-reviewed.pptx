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48495" y="0"/>
            <a:ext cx="27432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48495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CLIENT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949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100" b="1" i="0">
                <a:solidFill>
                  <a:srgbClr val="FFFFFF"/>
                </a:solidFill>
                <a:latin typeface="Calibri"/>
              </a:rPr>
              <a:t>Real Estate Portfolio
Index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14600"/>
            <a:ext cx="146304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713232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FFFFFF"/>
                </a:solidFill>
                <a:latin typeface="Calibri"/>
              </a:rPr>
              <a:t>A branded portfolio-level index over five reviewed real-estate AI workflow decks: brokerage, leasing, commission, service ops, and title/escrow.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PORTFOLIO THESIS · LANE MAP · SELECTION MATRIX · BUYER GROUPING · NEXT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Portfolio Index | Client Package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Five reviewed lanes show a coherent real-estate AI engineering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Portfolio summary built from five reviewed client decks completed on June 4,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Where to 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Brokerage revenue workflows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Leasing and resident operations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Back-office, maintenance, and closing coordination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Why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All five lanes are operational, measurable, and already budget-adjacent.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Incumbent software proves buyer awareness while leaving room for workflow orchestration.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OpenHands creates a reusable internal execution layer across the whole portfolio.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What to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E0F7F1"/>
                </a:solidFill>
                <a:latin typeface="Calibri"/>
              </a:rPr>
              <a:t>•  Package the portfolio as a workflow-automation thesis, not isolated chatbot ideas.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E0F7F1"/>
                </a:solidFill>
                <a:latin typeface="Calibri"/>
              </a:rPr>
              <a:t>•  Lead with one narrow pilot per buyer group and one measurable operational outcome.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E0F7F1"/>
                </a:solidFill>
                <a:latin typeface="Calibri"/>
              </a:rPr>
              <a:t>•  Reuse branded decks, OpenHands patterns, and QA gates across lanes.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11094415" cy="56692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93792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THE ASK: use this index deck to choose the first real-estate wedge, then pair it with the matching reviewed lane deck.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Portfolio Index | Client Package |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portfolio spans five lanes across revenue, operations, back office, and 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Each lane is a reviewed client-ready artifact with a distinct buyer and a clear operational wedge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669280" cy="4069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PORTFOLIO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5266944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1. Brokerage lead routing and transaction follow-up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2. Multifamily leasing and resident communication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3. Brokerage commission and payout automation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4. Property service-request and maintenance operations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5. Title, escrow, and closing workflow automation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600200"/>
            <a:ext cx="5257800" cy="1874519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746504"/>
            <a:ext cx="48920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Score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05740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Four lanes scored 26/35 GO; one lane scored 25/35 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3657600"/>
            <a:ext cx="5257800" cy="1874519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3803904"/>
            <a:ext cx="48920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Shared posture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11480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Use incumbent systems as systems of action and OpenHands internally for orchestration.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Portfolio Index | Client Package |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five lanes can be compared directly by buyer, proof point, and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Matrix view for selecting the best first wedge by account or operating pain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2788920" cy="4114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783080"/>
            <a:ext cx="264261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Lane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691640"/>
            <a:ext cx="1325880" cy="4114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783080"/>
            <a:ext cx="117957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691640"/>
            <a:ext cx="2377440" cy="4114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783080"/>
            <a:ext cx="223113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Primary Buyer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691640"/>
            <a:ext cx="2560320" cy="4114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2" y="1783080"/>
            <a:ext cx="241401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Proof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1691640"/>
            <a:ext cx="2743200" cy="4114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1783080"/>
            <a:ext cx="259689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Outcome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48840"/>
            <a:ext cx="2788920" cy="8412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221992"/>
            <a:ext cx="264261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Brokerage Lead Routing &amp; Transaction Automation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2148840"/>
            <a:ext cx="1325880" cy="8412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0712" y="2221992"/>
            <a:ext cx="117957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25/35 — 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2148840"/>
            <a:ext cx="2377440" cy="8412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2221992"/>
            <a:ext cx="223113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Brokerage revenue and ops teams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2148840"/>
            <a:ext cx="2560320" cy="8412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2221992"/>
            <a:ext cx="241401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Compass, Zillow, Cloze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2148840"/>
            <a:ext cx="2743200" cy="8412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74352" y="2221992"/>
            <a:ext cx="259689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Faster speed-to-lead, better follow-up, cleaner transaction handoffs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035808"/>
            <a:ext cx="278892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108960"/>
            <a:ext cx="264261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Multifamily Leasing &amp; Resident Communication Automation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3035808"/>
            <a:ext cx="132588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0712" y="3108960"/>
            <a:ext cx="117957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26/35 — 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3035808"/>
            <a:ext cx="23774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36592" y="3108960"/>
            <a:ext cx="223113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Leasing, community, and regional ops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3035808"/>
            <a:ext cx="256032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14032" y="3108960"/>
            <a:ext cx="241401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AppFolio, Yardi, Greystar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3035808"/>
            <a:ext cx="274320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74352" y="3108960"/>
            <a:ext cx="259689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Better prospect response, renewal flow, and resident communication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922776"/>
            <a:ext cx="2788920" cy="8412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3995928"/>
            <a:ext cx="264261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Brokerage Commission &amp; Deal Payout Automation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37560" y="3922776"/>
            <a:ext cx="1325880" cy="8412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10712" y="3995928"/>
            <a:ext cx="117957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26/35 — GO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3922776"/>
            <a:ext cx="2377440" cy="8412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36592" y="3995928"/>
            <a:ext cx="223113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Brokerage ops and finance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0880" y="3922776"/>
            <a:ext cx="2560320" cy="8412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14032" y="3995928"/>
            <a:ext cx="241401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Brokermint, BoldTrail BackOffice, Docusign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0" y="3922776"/>
            <a:ext cx="2743200" cy="8412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74352" y="3995928"/>
            <a:ext cx="259689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Faster payouts, fewer exceptions, cleaner accounting handoffs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809744"/>
            <a:ext cx="278892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4882896"/>
            <a:ext cx="264261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Service Request &amp; Maintenance Automation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37560" y="4809744"/>
            <a:ext cx="132588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10712" y="4882896"/>
            <a:ext cx="117957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26/35 — GO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3440" y="4809744"/>
            <a:ext cx="23774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36592" y="4882896"/>
            <a:ext cx="223113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Property ops and maintenance teams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40880" y="4809744"/>
            <a:ext cx="256032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14032" y="4882896"/>
            <a:ext cx="241401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AppFolio, Buildium, Yardi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01200" y="4809744"/>
            <a:ext cx="274320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74352" y="4882896"/>
            <a:ext cx="259689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Faster routing, better queue visibility, stronger resident updates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5696712"/>
            <a:ext cx="2788920" cy="8412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" y="5769864"/>
            <a:ext cx="264261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Title, Escrow &amp; Closing Workflow Automation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37560" y="5696712"/>
            <a:ext cx="1325880" cy="8412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10712" y="5769864"/>
            <a:ext cx="117957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26/35 — GO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63440" y="5696712"/>
            <a:ext cx="2377440" cy="8412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36592" y="5769864"/>
            <a:ext cx="223113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Title, escrow, and closing teams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40880" y="5696712"/>
            <a:ext cx="2560320" cy="8412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14032" y="5769864"/>
            <a:ext cx="241401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Qualia, SoftPro, Docusign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01200" y="5696712"/>
            <a:ext cx="2743200" cy="8412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74352" y="5769864"/>
            <a:ext cx="2596896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Cleaner file setup, fewer missing items, better closing readiness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Portfolio Index | Client Package | June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Front-office and resident-growth lanes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Grouped lane view for buyer selection and next-step positioning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623560" cy="4251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10512"/>
            <a:ext cx="521208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Brokerage Lead Routing &amp; Transaction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31720"/>
            <a:ext cx="5212080" cy="2240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1B2B3C"/>
                </a:solidFill>
                <a:latin typeface="Calibri"/>
              </a:rPr>
              <a:t>•  Score: 25/35 — GO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1B2B3C"/>
                </a:solidFill>
                <a:latin typeface="Calibri"/>
              </a:rPr>
              <a:t>•  Buyer: Brokerage revenue and ops teams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1B2B3C"/>
                </a:solidFill>
                <a:latin typeface="Calibri"/>
              </a:rPr>
              <a:t>•  Proof: Compass, Zillow, Cloze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1B2B3C"/>
                </a:solidFill>
                <a:latin typeface="Calibri"/>
              </a:rPr>
              <a:t>•  Outcome: Faster speed-to-lead, better follow-up, cleaner transaction handoffs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736592"/>
            <a:ext cx="5230368" cy="65836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Use the reviewed lane deck for direct account follow-up and the portfolio deck for top-of-funnel selection.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27632"/>
            <a:ext cx="5623560" cy="4251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1810512"/>
            <a:ext cx="521208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Multifamily Leasing &amp; Resident Communication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2331720"/>
            <a:ext cx="5212080" cy="2240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E0F7F1"/>
                </a:solidFill>
                <a:latin typeface="Calibri"/>
              </a:rPr>
              <a:t>•  Score: 26/35 — GO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E0F7F1"/>
                </a:solidFill>
                <a:latin typeface="Calibri"/>
              </a:rPr>
              <a:t>•  Buyer: Leasing, community, and regional ops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E0F7F1"/>
                </a:solidFill>
                <a:latin typeface="Calibri"/>
              </a:rPr>
              <a:t>•  Proof: AppFolio, Yardi, Greystar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E0F7F1"/>
                </a:solidFill>
                <a:latin typeface="Calibri"/>
              </a:rPr>
              <a:t>•  Outcome: Better prospect response, renewal flow, and resident communication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93408" y="4736592"/>
            <a:ext cx="5230368" cy="65836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4919472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Use the reviewed lane deck for direct account follow-up and the portfolio deck for top-of-funnel selection.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Portfolio Index | Client Package | June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Back-office, service, and closing lanes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Grouped lane view for buyer selection and next-step positioning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623560" cy="42519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10512"/>
            <a:ext cx="521208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Brokerage Commission &amp; Deal Payout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31720"/>
            <a:ext cx="5212080" cy="2240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1B2B3C"/>
                </a:solidFill>
                <a:latin typeface="Calibri"/>
              </a:rPr>
              <a:t>•  Score: 26/35 — GO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1B2B3C"/>
                </a:solidFill>
                <a:latin typeface="Calibri"/>
              </a:rPr>
              <a:t>•  Buyer: Brokerage ops and finance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1B2B3C"/>
                </a:solidFill>
                <a:latin typeface="Calibri"/>
              </a:rPr>
              <a:t>•  Proof: Brokermint, BoldTrail BackOffice, Docusign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1B2B3C"/>
                </a:solidFill>
                <a:latin typeface="Calibri"/>
              </a:rPr>
              <a:t>•  Outcome: Faster payouts, fewer exceptions, cleaner accounting handoffs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736592"/>
            <a:ext cx="5230368" cy="65836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Use the reviewed lane deck for direct account follow-up and the portfolio deck for top-of-funnel selection.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27632"/>
            <a:ext cx="5623560" cy="4251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1810512"/>
            <a:ext cx="521208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Service Request &amp; Maintenance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2331720"/>
            <a:ext cx="5212080" cy="2240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E0F7F1"/>
                </a:solidFill>
                <a:latin typeface="Calibri"/>
              </a:rPr>
              <a:t>•  Score: 26/35 — GO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E0F7F1"/>
                </a:solidFill>
                <a:latin typeface="Calibri"/>
              </a:rPr>
              <a:t>•  Buyer: Property ops and maintenance teams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E0F7F1"/>
                </a:solidFill>
                <a:latin typeface="Calibri"/>
              </a:rPr>
              <a:t>•  Proof: AppFolio, Buildium, Yardi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E0F7F1"/>
                </a:solidFill>
                <a:latin typeface="Calibri"/>
              </a:rPr>
              <a:t>•  Outcome: Faster routing, better queue visibility, stronger resident updates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93408" y="4736592"/>
            <a:ext cx="5230368" cy="65836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4919472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Use the reviewed lane deck for direct account follow-up and the portfolio deck for top-of-funnel selection.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Portfolio Index | Client Package | June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Closing workflow lane deserves its own spotlight because it extends the portfolio into transaction-finance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Single-lane detail for title, escrow, and closing readiness buyers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11201400" cy="4297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47088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Title, Escrow &amp; Closing Workflow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31720"/>
            <a:ext cx="64008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Score: 26/35 — GO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Primary buyer: Title, escrow, and closing teams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Operator proof: Qualia, SoftPro, Docusign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Primary outcome: Cleaner file setup, fewer missing items, better closing readiness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Why it matters: this lane reaches title, escrow, and closing operators beyond brokerage and property-management teams.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Best portfolio use: position it as the transaction-coordination wedge when the buyer pain is missing-item backlog or closing readiness.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828800"/>
            <a:ext cx="3749039" cy="3611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993392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Portfolio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2359152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Expands the portfolio into closing operations.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Supports title, escrow, lender, and partner workflows.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•  Pairs well with Docusign- and Qualia-led account conversations.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Portfolio Index | Client Package |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The reviewed real-estate portfolio is now broad enough to support wedge selection by buyer, workflow pain, and account motion without rebuilding the strategy from scratch.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80360"/>
            <a:ext cx="1088136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996696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•  Use the portfolio deck for index-level selection and account mapping.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•  Use the reviewed lane decks for specific client conversations and follow-on customization.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•  Reuse OpenHands, branded deck, and QA patterns across every additional lane.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349240"/>
            <a:ext cx="5852160" cy="65836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016752"/>
            <a:ext cx="103327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Suggested next step: pick the first buyer lane, then pair this index deck with the corresponding reviewed use-case deck.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Portfolio Index | Client Package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