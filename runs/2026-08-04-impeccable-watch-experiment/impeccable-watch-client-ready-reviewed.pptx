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658368"/>
            <a:ext cx="5074920" cy="2148840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932688"/>
            <a:ext cx="438912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D8432F"/>
                </a:solidFill>
                <a:latin typeface="Calibri"/>
              </a:rPr>
              <a:t>IMPECCABLE 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298448"/>
            <a:ext cx="43891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100" b="1" i="0">
                <a:solidFill>
                  <a:srgbClr val="202120"/>
                </a:solidFill>
                <a:latin typeface="Calibri"/>
              </a:rPr>
              <a:t>Design with range,
taste, and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423160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686560"/>
                </a:solidFill>
                <a:latin typeface="Calibri"/>
              </a:rPr>
              <a:t>A visual reconstruction of the complete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FINAL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9326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202120"/>
                </a:solidFill>
                <a:latin typeface="Calibri"/>
              </a:rPr>
              <a:t>Impeccable is a loop, not a style button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4358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686560"/>
                </a:solidFill>
                <a:latin typeface="Calibri"/>
              </a:rPr>
              <a:t>The demonstration moves through five linked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679192"/>
            <a:ext cx="1828800" cy="4572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9626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686560"/>
                </a:solidFill>
                <a:latin typeface="Calibri"/>
              </a:rPr>
              <a:t>Start from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3512" y="224028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53512" y="2679192"/>
            <a:ext cx="1828800" cy="4572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53512" y="29626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EXPAND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345643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686560"/>
                </a:solidFill>
                <a:latin typeface="Calibri"/>
              </a:rPr>
              <a:t>Generate real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224028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93792" y="2679192"/>
            <a:ext cx="1828800" cy="4572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9626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SELECT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345643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686560"/>
                </a:solidFill>
                <a:latin typeface="Calibri"/>
              </a:rPr>
              <a:t>Compare visually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224028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34072" y="2679192"/>
            <a:ext cx="1828800" cy="45720"/>
          </a:xfrm>
          <a:prstGeom prst="rect">
            <a:avLst/>
          </a:prstGeom>
          <a:solidFill>
            <a:srgbClr val="C9C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29626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45643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686560"/>
                </a:solidFill>
                <a:latin typeface="Calibri"/>
              </a:rPr>
              <a:t>Remove defaults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4352" y="2240280"/>
            <a:ext cx="4114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2679192"/>
            <a:ext cx="182880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74352" y="29626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45643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400" b="0" i="0">
                <a:solidFill>
                  <a:srgbClr val="686560"/>
                </a:solidFill>
                <a:latin typeface="Calibri"/>
              </a:rPr>
              <a:t>Preserve the world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166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202120"/>
                </a:solidFill>
                <a:latin typeface="Calibri"/>
              </a:rPr>
              <a:t>The visual assets on the following pages remain the evidence; the template improves how they are seen.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SEQUENCE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02 / 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The problem is sameness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03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-tas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Taste has to enter the workflow before the first composition becomes the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Live Mode changes the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88720"/>
            <a:ext cx="8119872" cy="4736592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-liv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35024"/>
            <a:ext cx="7845552" cy="44131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3968496"/>
            <a:ext cx="1700784" cy="1773936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444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1874519"/>
            <a:ext cx="214884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176272"/>
            <a:ext cx="21945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700" b="1" i="0">
                <a:solidFill>
                  <a:srgbClr val="202120"/>
                </a:solidFill>
                <a:latin typeface="Calibri"/>
              </a:rPr>
              <a:t>Visual direction becomes something you inspect and choose—not merely describe.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5010912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686560"/>
                </a:solidFill>
                <a:latin typeface="Calibri"/>
              </a:rPr>
              <a:t>Same evidence. Stronger focus.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Worlds supply a complete visual grammar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05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43000"/>
            <a:ext cx="10936224" cy="489204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worl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71016"/>
            <a:ext cx="8193024" cy="4608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3986784"/>
            <a:ext cx="1554480" cy="173736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069080"/>
            <a:ext cx="3044952" cy="1636776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069080"/>
            <a:ext cx="64008" cy="16367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15384"/>
            <a:ext cx="2660904" cy="1362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202120"/>
                </a:solidFill>
                <a:latin typeface="Calibri"/>
              </a:rPr>
              <a:t>A world constrains composition, typography, material, rhythm, and interaction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Options respond to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-op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The system proposes directions grounded in the current surface instead of a generic style menu.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One skill exposes a design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88720"/>
            <a:ext cx="8119872" cy="4736592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-command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35024"/>
            <a:ext cx="7845552" cy="44131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3968496"/>
            <a:ext cx="1700784" cy="1773936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444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1874519"/>
            <a:ext cx="214884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176272"/>
            <a:ext cx="21945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700" b="1" i="0">
                <a:solidFill>
                  <a:srgbClr val="202120"/>
                </a:solidFill>
                <a:latin typeface="Calibri"/>
              </a:rPr>
              <a:t>Commands separate shaping, detection, refinement, documentation, and finish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5010912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686560"/>
                </a:solidFill>
                <a:latin typeface="Calibri"/>
              </a:rPr>
              <a:t>Same evidence. Stronger focus.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Anti-patterns become detectable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43000"/>
            <a:ext cx="10936224" cy="489204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patter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71016"/>
            <a:ext cx="8193024" cy="4608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3986784"/>
            <a:ext cx="1554480" cy="173736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069080"/>
            <a:ext cx="3044952" cy="1636776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069080"/>
            <a:ext cx="64008" cy="16367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15384"/>
            <a:ext cx="2660904" cy="1362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202120"/>
                </a:solidFill>
                <a:latin typeface="Calibri"/>
              </a:rPr>
              <a:t>Recurring machine-made defaults can be named, located, and removed deliberately.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Installation is deliberately lightweight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09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8-ins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The design system enters the existing workflow through one package command.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The example begins with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10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88720"/>
            <a:ext cx="8119872" cy="4736592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-bri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35024"/>
            <a:ext cx="7845552" cy="44131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3968496"/>
            <a:ext cx="1700784" cy="1773936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444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1874519"/>
            <a:ext cx="214884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176272"/>
            <a:ext cx="21945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700" b="1" i="0">
                <a:solidFill>
                  <a:srgbClr val="202120"/>
                </a:solidFill>
                <a:latin typeface="Calibri"/>
              </a:rPr>
              <a:t>The demonstration starts from the site's reason to exist before choosing its appearance.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5010912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686560"/>
                </a:solidFill>
                <a:latin typeface="Calibri"/>
              </a:rPr>
              <a:t>Same evidence. Stronger focus.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Compare directions before committing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11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43000"/>
            <a:ext cx="10936224" cy="489204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0-varia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71016"/>
            <a:ext cx="8193024" cy="4608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3986784"/>
            <a:ext cx="1554480" cy="173736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069080"/>
            <a:ext cx="3044952" cy="1636776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069080"/>
            <a:ext cx="64008" cy="16367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15384"/>
            <a:ext cx="2660904" cy="1362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202120"/>
                </a:solidFill>
                <a:latin typeface="Calibri"/>
              </a:rPr>
              <a:t>Multiple treatments expose range and make the design decision visual.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The first result is a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12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1-base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A complete first pass creates something concrete to inspect—not an excuse to stop iterating.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Live comparison creates a selection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13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88720"/>
            <a:ext cx="8119872" cy="4736592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2-comparis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35024"/>
            <a:ext cx="7845552" cy="44131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3968496"/>
            <a:ext cx="1700784" cy="1773936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4272" y="1444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34272" y="1874519"/>
            <a:ext cx="214884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176272"/>
            <a:ext cx="21945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700" b="1" i="0">
                <a:solidFill>
                  <a:srgbClr val="202120"/>
                </a:solidFill>
                <a:latin typeface="Calibri"/>
              </a:rPr>
              <a:t>Side-by-side alternatives make differences in hierarchy and character immediately visible.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5010912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686560"/>
                </a:solidFill>
                <a:latin typeface="Calibri"/>
              </a:rPr>
              <a:t>Same evidence. Stronger focus.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The next pass deliberately increases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14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43000"/>
            <a:ext cx="10936224" cy="489204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3-bol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71016"/>
            <a:ext cx="8193024" cy="4608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3986784"/>
            <a:ext cx="1554480" cy="173736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069080"/>
            <a:ext cx="3044952" cy="1636776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069080"/>
            <a:ext cx="64008" cy="16367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15384"/>
            <a:ext cx="2660904" cy="1362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202120"/>
                </a:solidFill>
                <a:latin typeface="Calibri"/>
              </a:rPr>
              <a:t>The workflow pushes beyond cautious polish to test a materially stronger direction.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Detection turns taste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15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-detect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The working design is checked against explicit visual anti-patterns.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The chosen world becomes a design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16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88720"/>
            <a:ext cx="8119872" cy="4736592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5-design-reco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335024"/>
            <a:ext cx="7845552" cy="441312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59168" y="3968496"/>
            <a:ext cx="1700784" cy="1773936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4920" y="3858768"/>
            <a:ext cx="3685032" cy="1883664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21808" y="4096512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DESIGN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4517136"/>
            <a:ext cx="306324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500" b="1" i="0">
                <a:solidFill>
                  <a:srgbClr val="202120"/>
                </a:solidFill>
                <a:latin typeface="Calibri"/>
              </a:rPr>
              <a:t>Palette · typography · composition · 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144475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D8432F"/>
                </a:solidFill>
                <a:latin typeface="Calibri"/>
              </a:rPr>
              <a:t>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34272" y="1874519"/>
            <a:ext cx="2148840" cy="45720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2176272"/>
            <a:ext cx="2194560" cy="2423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</a:pPr>
            <a:r>
              <a:rPr sz="1700" b="1" i="0">
                <a:solidFill>
                  <a:srgbClr val="202120"/>
                </a:solidFill>
                <a:latin typeface="Calibri"/>
              </a:rPr>
              <a:t>Documented decisions keep later iterations coherent instead of rediscovering taste each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5010912"/>
            <a:ext cx="21488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1">
                <a:solidFill>
                  <a:srgbClr val="686560"/>
                </a:solidFill>
                <a:latin typeface="Calibri"/>
              </a:rPr>
              <a:t>Same evidence. Stronger focus.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Outside references add specificity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17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43000"/>
            <a:ext cx="10936224" cy="489204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-referenc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71016"/>
            <a:ext cx="8193024" cy="46085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3986784"/>
            <a:ext cx="1554480" cy="173736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069080"/>
            <a:ext cx="3044952" cy="1636776"/>
          </a:xfrm>
          <a:prstGeom prst="roundRect">
            <a:avLst>
              <a:gd name="adj" fmla="val 2000"/>
            </a:avLst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069080"/>
            <a:ext cx="64008" cy="16367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15384"/>
            <a:ext cx="2660904" cy="136245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202120"/>
                </a:solidFill>
                <a:latin typeface="Calibri"/>
              </a:rPr>
              <a:t>Real visual references communicate proportion and texture that prose cannot fully encode.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84048"/>
            <a:ext cx="909828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700" b="1" i="0">
                <a:solidFill>
                  <a:srgbClr val="202120"/>
                </a:solidFill>
                <a:latin typeface="Calibri"/>
              </a:rPr>
              <a:t>Reference becomes interpretation—not 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WORKING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18 / 19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170432"/>
            <a:ext cx="10936224" cy="4846320"/>
          </a:xfrm>
          <a:prstGeom prst="rect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-reference-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8095488" cy="45537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50608" y="4041648"/>
            <a:ext cx="1554480" cy="1700784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47888" y="4133087"/>
            <a:ext cx="3044952" cy="1563624"/>
          </a:xfrm>
          <a:prstGeom prst="roundRect">
            <a:avLst>
              <a:gd name="adj" fmla="val 2000"/>
            </a:avLst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47888" y="4133087"/>
            <a:ext cx="64008" cy="1563624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4279391"/>
            <a:ext cx="2660904" cy="12893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</a:pPr>
            <a:r>
              <a:rPr sz="1200" b="1" i="0">
                <a:solidFill>
                  <a:srgbClr val="FFFCF6"/>
                </a:solidFill>
                <a:latin typeface="Calibri"/>
              </a:rPr>
              <a:t>The final pass translates the reference grammar into a distinct working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Impeccable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686560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969264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CF6"/>
                </a:solidFill>
                <a:latin typeface="Calibri"/>
              </a:rPr>
              <a:t>The template improved how the assets are seen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89888"/>
            <a:ext cx="731520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600" b="0" i="0">
                <a:solidFill>
                  <a:srgbClr val="C9C0B2"/>
                </a:solidFill>
                <a:latin typeface="Calibri"/>
              </a:rPr>
              <a:t>It did not replace what the video showed.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24028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ASSET PROMINENCE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660904"/>
            <a:ext cx="4754880" cy="365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898648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 i="0">
                <a:solidFill>
                  <a:srgbClr val="FFFCF6"/>
                </a:solidFill>
                <a:latin typeface="Calibri"/>
              </a:rPr>
              <a:t>Visuals occupy the field instead of becoming thumbnails.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40280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CONTEXT BINDING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660904"/>
            <a:ext cx="4754880" cy="365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898648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 i="0">
                <a:solidFill>
                  <a:srgbClr val="FFFCF6"/>
                </a:solidFill>
                <a:latin typeface="Calibri"/>
              </a:rPr>
              <a:t>Annotations sit on the presenter-obscured region they explain.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130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HIERARCHY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233672"/>
            <a:ext cx="4754880" cy="365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471416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 i="0">
                <a:solidFill>
                  <a:srgbClr val="FFFCF6"/>
                </a:solidFill>
                <a:latin typeface="Calibri"/>
              </a:rPr>
              <a:t>Each page has one proof, one title, and one attached interpretation.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13048"/>
            <a:ext cx="48006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D8432F"/>
                </a:solidFill>
                <a:latin typeface="Calibri"/>
              </a:rPr>
              <a:t>COHERENCE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33672"/>
            <a:ext cx="4754880" cy="36576"/>
          </a:xfrm>
          <a:prstGeom prst="rect">
            <a:avLst/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4800600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700" b="1" i="0">
                <a:solidFill>
                  <a:srgbClr val="FFFCF6"/>
                </a:solidFill>
                <a:latin typeface="Calibri"/>
              </a:rPr>
              <a:t>Three proof archetypes create rhythm without changing the sequence.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532120"/>
            <a:ext cx="93268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CF6"/>
                </a:solidFill>
                <a:latin typeface="Calibri"/>
              </a:rPr>
              <a:t>Decision: use the Impeccable treatment for client delivery.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256032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D8432F"/>
                </a:solidFill>
                <a:latin typeface="Calibri"/>
              </a:rPr>
              <a:t>CHOSEN PROOF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521207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686560"/>
                </a:solidFill>
                <a:latin typeface="Calibri"/>
              </a:rPr>
              <a:t>19 / 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Impeccable 4.0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