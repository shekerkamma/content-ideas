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66928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IMPECCABLE 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996696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4800" b="1" i="0">
                <a:solidFill>
                  <a:srgbClr val="F6F0E7"/>
                </a:solidFill>
                <a:latin typeface="Calibri"/>
              </a:rPr>
              <a:t>Taste becomes
an operating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94760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DC6BD"/>
                </a:solidFill>
                <a:latin typeface="Calibri"/>
              </a:rPr>
              <a:t>A source-led briefing on Worlds, Live Mode, iteration, and design control</a:t>
            </a:r>
          </a:p>
        </p:txBody>
      </p:sp>
      <p:sp>
        <p:nvSpPr>
          <p:cNvPr id="7" name="Rectangle 6"/>
          <p:cNvSpPr/>
          <p:nvPr/>
        </p:nvSpPr>
        <p:spPr>
          <a:xfrm>
            <a:off x="9555480" y="3822191"/>
            <a:ext cx="1143000" cy="1143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55480" y="4096512"/>
            <a:ext cx="114300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FFFFFF"/>
                </a:solidFill>
                <a:latin typeface="Calibri"/>
              </a:rPr>
              <a:t>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97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AFAAA2"/>
                </a:solidFill>
                <a:latin typeface="Calibri"/>
              </a:rPr>
              <a:t>CLIENT BRIEFING ·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B9B5AE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Impeccable changes the decision system—not just the styling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6E6A63"/>
                </a:solidFill>
                <a:latin typeface="Calibri"/>
              </a:rPr>
              <a:t>The old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0574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202220"/>
                </a:solidFill>
                <a:latin typeface="Calibri"/>
              </a:rP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39112"/>
            <a:ext cx="457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0574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202220"/>
                </a:solidFill>
                <a:latin typeface="Calibri"/>
              </a:rPr>
              <a:t>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4114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6E6A63"/>
                </a:solidFill>
                <a:latin typeface="Calibri"/>
              </a:rPr>
              <a:t>Accept the first plausible answer.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1463040"/>
            <a:ext cx="25400" cy="429768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15727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E33D2E"/>
                </a:solidFill>
                <a:latin typeface="Calibri"/>
              </a:rPr>
              <a:t>The Impeccable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01168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2120" y="205740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199339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EXPAND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993392"/>
            <a:ext cx="3474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6E6A63"/>
                </a:solidFill>
                <a:latin typeface="Calibri"/>
              </a:rPr>
              <a:t>See materially different worlds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288036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92608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86207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862072"/>
            <a:ext cx="3474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6E6A63"/>
                </a:solidFill>
                <a:latin typeface="Calibri"/>
              </a:rPr>
              <a:t>Commit to one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3749039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3794759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3730751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ITERATE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730751"/>
            <a:ext cx="3474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6E6A63"/>
                </a:solidFill>
                <a:latin typeface="Calibri"/>
              </a:rPr>
              <a:t>Compare variants visually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461772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466344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459943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202220"/>
                </a:solidFill>
                <a:latin typeface="Calibri"/>
              </a:rPr>
              <a:t>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599432"/>
            <a:ext cx="347472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6E6A63"/>
                </a:solidFill>
                <a:latin typeface="Calibri"/>
              </a:rPr>
              <a:t>Detect drift and defects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54864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315C4A"/>
                </a:solidFill>
                <a:latin typeface="Calibri"/>
              </a:rPr>
              <a:t>The product is a feedback architecture for taste.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7F2E9"/>
                </a:solidFill>
                <a:latin typeface="Calibri"/>
              </a:rPr>
              <a:t>The failure mode is 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98755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D0CBC3"/>
                </a:solidFill>
                <a:latin typeface="Calibri"/>
              </a:rPr>
              <a:t>Different prompts repeatedly settle on the same recognizable defaults.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B9B5AE"/>
                </a:solidFill>
                <a:latin typeface="Calibri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2ECE4"/>
                </a:solidFill>
                <a:latin typeface="Calibri"/>
              </a:rPr>
              <a:t>PURPLE GRADIENT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2487168"/>
            <a:ext cx="2697480" cy="12700"/>
          </a:xfrm>
          <a:prstGeom prst="rect">
            <a:avLst/>
          </a:prstGeom>
          <a:solidFill>
            <a:srgbClr val="5C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828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2ECE4"/>
                </a:solidFill>
                <a:latin typeface="Calibri"/>
              </a:rPr>
              <a:t>ROUNDED CARD 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39" y="2487168"/>
            <a:ext cx="2697480" cy="12700"/>
          </a:xfrm>
          <a:prstGeom prst="rect">
            <a:avLst/>
          </a:prstGeom>
          <a:solidFill>
            <a:srgbClr val="5C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82880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2ECE4"/>
                </a:solidFill>
                <a:latin typeface="Calibri"/>
              </a:rPr>
              <a:t>ICON CONFETTI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59" y="2487168"/>
            <a:ext cx="2697480" cy="12700"/>
          </a:xfrm>
          <a:prstGeom prst="rect">
            <a:avLst/>
          </a:prstGeom>
          <a:solidFill>
            <a:srgbClr val="5C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2ECE4"/>
                </a:solidFill>
                <a:latin typeface="Calibri"/>
              </a:rPr>
              <a:t>GENERIC HERO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904488"/>
            <a:ext cx="2697480" cy="12700"/>
          </a:xfrm>
          <a:prstGeom prst="rect">
            <a:avLst/>
          </a:prstGeom>
          <a:solidFill>
            <a:srgbClr val="5C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2461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2ECE4"/>
                </a:solidFill>
                <a:latin typeface="Calibri"/>
              </a:rPr>
              <a:t>SOFT-GLOW CHROME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39" y="3904488"/>
            <a:ext cx="2697480" cy="12700"/>
          </a:xfrm>
          <a:prstGeom prst="rect">
            <a:avLst/>
          </a:prstGeom>
          <a:solidFill>
            <a:srgbClr val="5C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2461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2ECE4"/>
                </a:solidFill>
                <a:latin typeface="Calibri"/>
              </a:rPr>
              <a:t>SAME HIERARCHY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59" y="3904488"/>
            <a:ext cx="2697480" cy="12700"/>
          </a:xfrm>
          <a:prstGeom prst="rect">
            <a:avLst/>
          </a:prstGeom>
          <a:solidFill>
            <a:srgbClr val="5C5F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42702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E33D2E"/>
                </a:solidFill>
                <a:latin typeface="Calibri"/>
              </a:rPr>
              <a:t>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42702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E33D2E"/>
                </a:solidFill>
                <a:latin typeface="Calibri"/>
              </a:rPr>
              <a:t>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2702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E33D2E"/>
                </a:solidFill>
                <a:latin typeface="Calibri"/>
              </a:rPr>
              <a:t>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4892040"/>
            <a:ext cx="4069080" cy="65836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69080" y="5074920"/>
            <a:ext cx="40690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PLAUSIBLE, POLISHED, INTERCHANGEABLE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Version 4.0 adds two decisive control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4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572768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202220"/>
                </a:solidFill>
                <a:latin typeface="Calibri"/>
              </a:rPr>
              <a:t>WORLDS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315C4A"/>
                </a:solidFill>
                <a:latin typeface="Calibri"/>
              </a:rPr>
              <a:t>Expand the option space before committing.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01568"/>
            <a:ext cx="201168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5800" b="1" i="0">
                <a:solidFill>
                  <a:srgbClr val="E33D2E"/>
                </a:solidFill>
                <a:latin typeface="Calibri"/>
              </a:rPr>
              <a:t>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35478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6E6A63"/>
                </a:solidFill>
                <a:latin typeface="Calibri"/>
              </a:rPr>
              <a:t>high-rated visual worlds
shown against the actual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463040"/>
            <a:ext cx="25400" cy="448056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61888" y="1572768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202220"/>
                </a:solidFill>
                <a:latin typeface="Calibri"/>
              </a:rPr>
              <a:t>LIVE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331720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315C4A"/>
                </a:solidFill>
                <a:latin typeface="Calibri"/>
              </a:rPr>
              <a:t>Move local iteration from terminal text to visual choice.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3429000"/>
            <a:ext cx="20574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PICK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941064"/>
            <a:ext cx="192024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429000"/>
            <a:ext cx="20574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REQUEST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941064"/>
            <a:ext cx="192024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4343400"/>
            <a:ext cx="20574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COMPARE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4855464"/>
            <a:ext cx="192024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20574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ACCEPT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4855464"/>
            <a:ext cx="192024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Worlds make direction selection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5 / 15</a:t>
            </a:r>
          </a:p>
        </p:txBody>
      </p:sp>
      <p:pic>
        <p:nvPicPr>
          <p:cNvPr id="5" name="Picture 4" descr="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3152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83879" y="1417320"/>
            <a:ext cx="3364992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58199" y="1965960"/>
            <a:ext cx="269748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199" y="2240280"/>
            <a:ext cx="269748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000" b="1" i="0">
                <a:solidFill>
                  <a:srgbClr val="F8F3EA"/>
                </a:solidFill>
                <a:latin typeface="Calibri"/>
              </a:rPr>
              <a:t>Choose the visual grammar before building the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199" y="4069080"/>
            <a:ext cx="2697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BC5BC"/>
                </a:solidFill>
                <a:latin typeface="Calibri"/>
              </a:rPr>
              <a:t>A world governs composition, type, material, rhythm, and interaction—not merely color.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Direction selection happens twice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24712"/>
            <a:ext cx="98755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First choose among worlds. Then compare variants inside the chosen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6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MANY POSSIBLE WORLDS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4389120" cy="41148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21992"/>
            <a:ext cx="4023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Editorial archive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2770632"/>
            <a:ext cx="4005072" cy="41148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843784"/>
            <a:ext cx="363931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Technical dossier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1288" y="3392424"/>
            <a:ext cx="3621024" cy="41148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3465576"/>
            <a:ext cx="3255264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Civic poster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3312" y="4014216"/>
            <a:ext cx="3236976" cy="41148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6192" y="4087368"/>
            <a:ext cx="2871216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Field notebook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45336" y="4636008"/>
            <a:ext cx="2852928" cy="41148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28216" y="4709160"/>
            <a:ext cx="248716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Quiet utility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3447288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822191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E33D2E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6420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ONE WORLD, MULTIPLE EXPRESSIONS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12848"/>
            <a:ext cx="566928" cy="56692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304288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202220"/>
                </a:solidFill>
                <a:latin typeface="Calibri"/>
              </a:rPr>
              <a:t>Constellation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236976"/>
            <a:ext cx="566928" cy="56692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355848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328416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202220"/>
                </a:solidFill>
                <a:latin typeface="Calibri"/>
              </a:rPr>
              <a:t>Dossier split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61104"/>
            <a:ext cx="566928" cy="56692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379976"/>
            <a:ext cx="566928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352544"/>
            <a:ext cx="29260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202220"/>
                </a:solidFill>
                <a:latin typeface="Calibri"/>
              </a:rPr>
              <a:t>Find the why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9496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315C4A"/>
                </a:solidFill>
                <a:latin typeface="Calibri"/>
              </a:rPr>
              <a:t>Range first. Refinement second.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7F2E9"/>
                </a:solidFill>
                <a:latin typeface="Calibri"/>
              </a:rPr>
              <a:t>Generality trades a higher ceiling for a lower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B9B5AE"/>
                </a:solidFill>
                <a:latin typeface="Calibri"/>
              </a:rPr>
              <a:t>7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C8C2BA"/>
                </a:solidFill>
                <a:latin typeface="Calibri"/>
              </a:rPr>
              <a:t>ONE-TRICK STYLE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6F0E7"/>
                </a:solidFill>
                <a:latin typeface="Calibri"/>
              </a:rPr>
              <a:t>Predictable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80360"/>
            <a:ext cx="3749039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800" b="0" i="0">
                <a:solidFill>
                  <a:srgbClr val="C8C2BA"/>
                </a:solidFill>
                <a:latin typeface="Calibri"/>
              </a:rPr>
              <a:t>Narrow range
Lower operator burden
Recognizable signature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40680" y="1463040"/>
            <a:ext cx="25400" cy="4480560"/>
          </a:xfrm>
          <a:prstGeom prst="rect">
            <a:avLst/>
          </a:prstGeom>
          <a:solidFill>
            <a:srgbClr val="565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1600200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33D2E"/>
                </a:solidFill>
                <a:latin typeface="Calibri"/>
              </a:rPr>
              <a:t>IMPECCABLE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148840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6F0E7"/>
                </a:solidFill>
                <a:latin typeface="Calibri"/>
              </a:rPr>
              <a:t>Adaptable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5312" y="28803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800" b="0" i="0">
                <a:solidFill>
                  <a:srgbClr val="C8C2BA"/>
                </a:solidFill>
                <a:latin typeface="Calibri"/>
              </a:rPr>
              <a:t>Wide range
Higher judgment burden
Potentially distinctive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E33D2E"/>
                </a:solidFill>
                <a:latin typeface="Calibri"/>
              </a:rPr>
              <a:t>The system creates room for taste; it does not supply taste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One-shot generation is the wrong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8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Define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71016" y="3566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20240" y="3785615"/>
            <a:ext cx="105156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4368" y="2148840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69748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Choose direction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7016" y="3566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785615"/>
            <a:ext cx="105156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2148840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69748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Create a first pass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3016" y="3566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3785615"/>
            <a:ext cx="105156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8" y="2148840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269748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Tune 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3566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3785615"/>
            <a:ext cx="105156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2148840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220"/>
                </a:solidFill>
                <a:latin typeface="Calibri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697480"/>
            <a:ext cx="16916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6E6A63"/>
                </a:solidFill>
                <a:latin typeface="Calibri"/>
              </a:rPr>
              <a:t>Close defects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15016" y="35661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8006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E33D2E"/>
                </a:solidFill>
                <a:latin typeface="Calibri"/>
              </a:rPr>
              <a:t>ITERATE  ·  ITERATE  ·  ITERATE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559552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315C4A"/>
                </a:solidFill>
                <a:latin typeface="Calibri"/>
              </a:rPr>
              <a:t>The first complete composition is a baseline, not a verdict.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Live Mode turns local changes into visual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9 / 15</a:t>
            </a:r>
          </a:p>
        </p:txBody>
      </p:sp>
      <p:pic>
        <p:nvPicPr>
          <p:cNvPr id="5" name="Picture 4" descr="live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53312"/>
            <a:ext cx="8290560" cy="4663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4709160"/>
            <a:ext cx="10881360" cy="1307592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5010912"/>
            <a:ext cx="192024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212080"/>
            <a:ext cx="489204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8F3EA"/>
                </a:solidFill>
                <a:latin typeface="Calibri"/>
              </a:rPr>
              <a:t>Select an element. Generate one to four variants. Tune. Accept.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44768" y="4992624"/>
            <a:ext cx="498348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0" i="0">
                <a:solidFill>
                  <a:srgbClr val="CBC5BC"/>
                </a:solidFill>
                <a:latin typeface="Calibri"/>
              </a:rPr>
              <a:t>Commands such as bolder, quieter, polish, and typeset can be applied to the selected region.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Use the right interface for the altitude of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10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72768"/>
            <a:ext cx="10744200" cy="1664208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828800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MACRO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773936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874519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8E3DA"/>
                </a:solidFill>
                <a:latin typeface="Calibri"/>
              </a:rPr>
              <a:t>New direction · layout reset · reference-driven rebuild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10744200" cy="1664208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822191"/>
            <a:ext cx="1371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MICRO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3767328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Calibri"/>
              </a:rPr>
              <a:t>Live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3867912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FFE8E3"/>
                </a:solidFill>
                <a:latin typeface="Calibri"/>
              </a:rPr>
              <a:t>Component variants · typography · polish · small adjustments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650992"/>
            <a:ext cx="69494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202220"/>
                </a:solidFill>
                <a:latin typeface="Calibri"/>
              </a:rPr>
              <a:t>Escalate when the problem is direction—not detail.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7F2E9"/>
                </a:solidFill>
                <a:latin typeface="Calibri"/>
              </a:rPr>
              <a:t>Taste becomes durable through memory and independent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B9B5AE"/>
                </a:solidFill>
                <a:latin typeface="Calibri"/>
              </a:rPr>
              <a:t>11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1600200"/>
            <a:ext cx="1600200" cy="621792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83080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618488"/>
            <a:ext cx="79095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4EEE5"/>
                </a:solidFill>
                <a:latin typeface="Calibri"/>
              </a:rPr>
              <a:t>Name recurring AI-default and production-defect patterns.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377440"/>
            <a:ext cx="7909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" y="2953512"/>
            <a:ext cx="1600200" cy="621792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136392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202220"/>
                </a:solidFill>
                <a:latin typeface="Calibri"/>
              </a:rPr>
              <a:t>DESIGN.MD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971800"/>
            <a:ext cx="79095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4EEE5"/>
                </a:solidFill>
                <a:latin typeface="Calibri"/>
              </a:rPr>
              <a:t>Preserve colors, components, controls, and the chosen visual grammar.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3730752"/>
            <a:ext cx="7909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" y="4306824"/>
            <a:ext cx="1600200" cy="621792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489704"/>
            <a:ext cx="16002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FINISH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325112"/>
            <a:ext cx="790956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F4EEE5"/>
                </a:solidFill>
                <a:latin typeface="Calibri"/>
              </a:rPr>
              <a:t>Use a fresh context as a second set of eyes before delivery.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5084064"/>
            <a:ext cx="7909560" cy="12700"/>
          </a:xfrm>
          <a:prstGeom prst="rect">
            <a:avLst/>
          </a:prstGeom>
          <a:solidFill>
            <a:srgbClr val="50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32704"/>
            <a:ext cx="1028700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E33D2E"/>
                </a:solidFill>
                <a:latin typeface="Calibri"/>
              </a:rPr>
              <a:t>A design system is the record of decisions—not the residue of a single output.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References are the escape hatch for a wrong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12 / 15</a:t>
            </a:r>
          </a:p>
        </p:txBody>
      </p:sp>
      <p:pic>
        <p:nvPicPr>
          <p:cNvPr id="5" name="Picture 4" descr="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1417320"/>
            <a:ext cx="73152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1417320"/>
            <a:ext cx="3364992" cy="466344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269748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697480" cy="1508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2000" b="1" i="0">
                <a:solidFill>
                  <a:srgbClr val="F8F3EA"/>
                </a:solidFill>
                <a:latin typeface="Calibri"/>
              </a:rPr>
              <a:t>When the world is wrong, stop polishing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2697480" cy="1051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0" i="0">
                <a:solidFill>
                  <a:srgbClr val="CBC5BC"/>
                </a:solidFill>
                <a:latin typeface="Calibri"/>
              </a:rPr>
              <a:t>Supply a real reference, reset the macro direction in the terminal, then return to Live Mode for local refinement.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A practical operating model for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13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23317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BRIEF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11680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Truth and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8104" y="1920240"/>
            <a:ext cx="3291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DED6C8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9584" y="1536192"/>
            <a:ext cx="23317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33D2E"/>
                </a:solidFill>
                <a:latin typeface="Calibri"/>
              </a:rPr>
              <a:t>WORLDS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9584" y="2011680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219456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Expand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6" y="1920240"/>
            <a:ext cx="3291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DED6C8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5936" y="1536192"/>
            <a:ext cx="23317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SELECT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2011680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19456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Commit visibly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1920240"/>
            <a:ext cx="3291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DED6C8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1536192"/>
            <a:ext cx="23317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62288" y="2011680"/>
            <a:ext cx="2331720" cy="25400"/>
          </a:xfrm>
          <a:prstGeom prst="rect">
            <a:avLst/>
          </a:prstGeom>
          <a:solidFill>
            <a:srgbClr val="C8A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2194560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Create the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93591"/>
            <a:ext cx="23317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33D2E"/>
                </a:solidFill>
                <a:latin typeface="Calibri"/>
              </a:rPr>
              <a:t>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069079"/>
            <a:ext cx="2331720" cy="254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251959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Refine locally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8104" y="3977639"/>
            <a:ext cx="3291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DED6C8"/>
                </a:solidFill>
                <a:latin typeface="Calibri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9584" y="3593591"/>
            <a:ext cx="23317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33D2E"/>
                </a:solidFill>
                <a:latin typeface="Calibri"/>
              </a:rPr>
              <a:t>DETECT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9584" y="4069079"/>
            <a:ext cx="2331720" cy="254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4" y="4251959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Remove defaults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4456" y="3977639"/>
            <a:ext cx="3291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DED6C8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3593591"/>
            <a:ext cx="23317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RECORD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5936" y="4069079"/>
            <a:ext cx="2331720" cy="254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4251959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Preserve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0808" y="3977639"/>
            <a:ext cx="32918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DED6C8"/>
                </a:solidFill>
                <a:latin typeface="Calibr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2288" y="3593591"/>
            <a:ext cx="23317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202220"/>
                </a:solidFill>
                <a:latin typeface="Calibri"/>
              </a:rPr>
              <a:t>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62288" y="4069079"/>
            <a:ext cx="2331720" cy="25400"/>
          </a:xfrm>
          <a:prstGeom prst="rect">
            <a:avLst/>
          </a:prstGeom>
          <a:solidFill>
            <a:srgbClr val="31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2288" y="4251959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6E6A63"/>
                </a:solidFill>
                <a:latin typeface="Calibri"/>
              </a:rPr>
              <a:t>Fresh-context QA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5696712"/>
            <a:ext cx="10561320" cy="384048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5769864"/>
            <a:ext cx="10561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Human judgment is present at every commitment 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61320" cy="685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202220"/>
                </a:solidFill>
                <a:latin typeface="Calibri"/>
              </a:rPr>
              <a:t>What Impeccable does not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6E6A63"/>
                </a:solidFill>
                <a:latin typeface="Calibri"/>
              </a:rPr>
              <a:t>14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4475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17904"/>
            <a:ext cx="438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426464"/>
            <a:ext cx="214884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202220"/>
                </a:solidFill>
                <a:latin typeface="Calibri"/>
              </a:rPr>
              <a:t>Weak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444752"/>
            <a:ext cx="6903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6E6A63"/>
                </a:solidFill>
                <a:latin typeface="Calibri"/>
              </a:rPr>
              <a:t>A visual world cannot repair missing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1328" y="2084832"/>
            <a:ext cx="932688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254203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15184"/>
            <a:ext cx="438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523744"/>
            <a:ext cx="214884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202220"/>
                </a:solidFill>
                <a:latin typeface="Calibri"/>
              </a:rPr>
              <a:t>Weak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542032"/>
            <a:ext cx="6903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6E6A63"/>
                </a:solidFill>
                <a:latin typeface="Calibri"/>
              </a:rPr>
              <a:t>A design system cannot decide what the audience must understand.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3182112"/>
            <a:ext cx="932688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363931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12464"/>
            <a:ext cx="438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621024"/>
            <a:ext cx="214884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202220"/>
                </a:solidFill>
                <a:latin typeface="Calibri"/>
              </a:rPr>
              <a:t>Blind imitation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639312"/>
            <a:ext cx="6903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6E6A63"/>
                </a:solidFill>
                <a:latin typeface="Calibri"/>
              </a:rPr>
              <a:t>A reference is visual grammar—not permission to copy.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4279392"/>
            <a:ext cx="932688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4736592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809744"/>
            <a:ext cx="43891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718304"/>
            <a:ext cx="214884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202220"/>
                </a:solidFill>
                <a:latin typeface="Calibri"/>
              </a:rPr>
              <a:t>Absent judgment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736592"/>
            <a:ext cx="69037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6E6A63"/>
                </a:solidFill>
                <a:latin typeface="Calibri"/>
              </a:rPr>
              <a:t>More options only help when someone is willing to choose.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81328" y="5376672"/>
            <a:ext cx="9326880" cy="12700"/>
          </a:xfrm>
          <a:prstGeom prst="rect">
            <a:avLst/>
          </a:prstGeom>
          <a:solidFill>
            <a:srgbClr val="DE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870448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315C4A"/>
                </a:solidFill>
                <a:latin typeface="Calibri"/>
              </a:rPr>
              <a:t>Design discipline complements content discipline. It never replaces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33D2E"/>
                </a:solidFill>
                <a:latin typeface="Calibri"/>
              </a:rPr>
              <a:t>THE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98448"/>
            <a:ext cx="10058400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700" b="1" i="0">
                <a:solidFill>
                  <a:srgbClr val="F6F0E7"/>
                </a:solidFill>
                <a:latin typeface="Calibri"/>
              </a:rPr>
              <a:t>Impeccable does not remove taste from the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06040"/>
            <a:ext cx="9601200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C8A46B"/>
                </a:solidFill>
                <a:latin typeface="Calibri"/>
              </a:rPr>
              <a:t>It gives taste somewhere to operate.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794760"/>
            <a:ext cx="10149840" cy="25400"/>
          </a:xfrm>
          <a:prstGeom prst="rect">
            <a:avLst/>
          </a:prstGeom>
          <a:solidFill>
            <a:srgbClr val="E3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078224"/>
            <a:ext cx="1005840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</a:pPr>
            <a:r>
              <a:rPr sz="2200" b="1" i="0">
                <a:solidFill>
                  <a:srgbClr val="F6F0E7"/>
                </a:solidFill>
                <a:latin typeface="Calibri"/>
              </a:rPr>
              <a:t>Expand options  →  commit visibly  →  iterate at the right altitude  →  record the system  →  review independently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897880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999B96"/>
                </a:solidFill>
                <a:latin typeface="Calibri"/>
              </a:rPr>
              <a:t>Prepared from the supplied Impeccable 4.0 demonstration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822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800" b="0" i="0">
                <a:solidFill>
                  <a:srgbClr val="B9B5AE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