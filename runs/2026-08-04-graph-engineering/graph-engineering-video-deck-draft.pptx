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0"/>
            <a:ext cx="11094415" cy="1828800"/>
          </a:xfrm>
          <a:prstGeom prst="rect">
            <a:avLst/>
          </a:prstGeom>
          <a:noFill/>
        </p:spPr>
        <p:txBody>
          <a:bodyPr wrap="square" anchor="t" lIns="0" rIns="0" tIns="0" bIns="0">
            <a:noAutofit/>
          </a:bodyPr>
          <a:lstStyle/>
          <a:p>
            <a:pPr algn="l">
              <a:lnSpc>
                <a:spcPct val="110000"/>
              </a:lnSpc>
              <a:spcBef>
                <a:spcPts val="0"/>
              </a:spcBef>
            </a:pPr>
            <a:r>
              <a:rPr sz="4400" b="1" i="0">
                <a:solidFill>
                  <a:srgbClr val="FFFFFF"/>
                </a:solidFill>
                <a:latin typeface="Calibri"/>
              </a:rPr>
              <a:t>Designing AI Workflows</a:t>
            </a:r>
          </a:p>
          <a:p>
            <a:pPr algn="l">
              <a:lnSpc>
                <a:spcPct val="110000"/>
              </a:lnSpc>
              <a:spcBef>
                <a:spcPts val="0"/>
              </a:spcBef>
            </a:pPr>
            <a:r>
              <a:rPr sz="4400" b="1" i="0">
                <a:solidFill>
                  <a:srgbClr val="FFFFFF"/>
                </a:solidFill>
                <a:latin typeface="Calibri"/>
              </a:rPr>
              <a:t>That Can Be Trusted</a:t>
            </a:r>
          </a:p>
        </p:txBody>
      </p:sp>
      <p:sp>
        <p:nvSpPr>
          <p:cNvPr id="5" name="Rectangle 4"/>
          <p:cNvSpPr/>
          <p:nvPr/>
        </p:nvSpPr>
        <p:spPr>
          <a:xfrm>
            <a:off x="548640" y="2697480"/>
            <a:ext cx="146304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880360"/>
            <a:ext cx="9601200" cy="914400"/>
          </a:xfrm>
          <a:prstGeom prst="rect">
            <a:avLst/>
          </a:prstGeom>
          <a:noFill/>
        </p:spPr>
        <p:txBody>
          <a:bodyPr wrap="square" anchor="t" lIns="0" rIns="0" tIns="0" bIns="0">
            <a:noAutofit/>
          </a:bodyPr>
          <a:lstStyle/>
          <a:p>
            <a:pPr algn="l">
              <a:lnSpc>
                <a:spcPct val="125000"/>
              </a:lnSpc>
              <a:spcBef>
                <a:spcPts val="0"/>
              </a:spcBef>
            </a:pPr>
            <a:r>
              <a:rPr sz="1700" b="0" i="0">
                <a:solidFill>
                  <a:srgbClr val="E0F7F1"/>
                </a:solidFill>
                <a:latin typeface="Calibri"/>
              </a:rPr>
              <a:t>The graph engineering pattern: jobs, arrows, and shared state — and when it earns its place</a:t>
            </a:r>
          </a:p>
        </p:txBody>
      </p:sp>
      <p:sp>
        <p:nvSpPr>
          <p:cNvPr id="7" name="TextBox 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Designing AI Workflows That Can Be Trusted</a:t>
            </a:r>
          </a:p>
        </p:txBody>
      </p:sp>
      <p:sp>
        <p:nvSpPr>
          <p:cNvPr id="8" name="TextBox 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One model, one pass — no way to check the work</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11-masked.png"/>
          <p:cNvPicPr>
            <a:picLocks noChangeAspect="1"/>
          </p:cNvPicPr>
          <p:nvPr/>
        </p:nvPicPr>
        <p:blipFill>
          <a:blip r:embed="rId2"/>
          <a:stretch>
            <a:fillRect/>
          </a:stretch>
        </p:blipFill>
        <p:spPr>
          <a:xfrm>
            <a:off x="548640" y="1554480"/>
            <a:ext cx="4846320" cy="2726055"/>
          </a:xfrm>
          <a:prstGeom prst="rect">
            <a:avLst/>
          </a:prstGeom>
        </p:spPr>
      </p:pic>
      <p:sp>
        <p:nvSpPr>
          <p:cNvPr id="7" name="Rounded Rectangle 6"/>
          <p:cNvSpPr/>
          <p:nvPr/>
        </p:nvSpPr>
        <p:spPr>
          <a:xfrm>
            <a:off x="571500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7103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597103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A single confident pass leaves no seam to check what evidence was used. Jobs, arrows, and shared state make the same work checkable at every step, not just at the end.</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Decision: run the six-condition test (slide 8) before scaling risky AI work — then start with a manual first rep, not a tooling purchase.</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vocabulary is having a very contested moment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45920"/>
            <a:ext cx="3515258" cy="1920240"/>
          </a:xfrm>
          <a:prstGeom prst="roundRect">
            <a:avLst>
              <a:gd name="adj" fmla="val 8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3515258" cy="914400"/>
          </a:xfrm>
          <a:prstGeom prst="rect">
            <a:avLst/>
          </a:prstGeom>
          <a:noFill/>
        </p:spPr>
        <p:txBody>
          <a:bodyPr wrap="square" anchor="t" lIns="0" rIns="0" tIns="0" bIns="0">
            <a:noAutofit/>
          </a:bodyPr>
          <a:lstStyle/>
          <a:p>
            <a:pPr algn="ctr">
              <a:lnSpc>
                <a:spcPct val="105000"/>
              </a:lnSpc>
              <a:spcBef>
                <a:spcPts val="0"/>
              </a:spcBef>
            </a:pPr>
            <a:r>
              <a:rPr sz="4800" b="1" i="0">
                <a:solidFill>
                  <a:srgbClr val="0A1628"/>
                </a:solidFill>
                <a:latin typeface="Calibri"/>
              </a:rPr>
              <a:t>48 hrs</a:t>
            </a:r>
          </a:p>
        </p:txBody>
      </p:sp>
      <p:sp>
        <p:nvSpPr>
          <p:cNvPr id="8" name="TextBox 7"/>
          <p:cNvSpPr txBox="1"/>
          <p:nvPr/>
        </p:nvSpPr>
        <p:spPr>
          <a:xfrm>
            <a:off x="777240" y="2788920"/>
            <a:ext cx="3058058" cy="731520"/>
          </a:xfrm>
          <a:prstGeom prst="rect">
            <a:avLst/>
          </a:prstGeom>
          <a:noFill/>
        </p:spPr>
        <p:txBody>
          <a:bodyPr wrap="square" anchor="t" lIns="0" rIns="0" tIns="0" bIns="0">
            <a:noAutofit/>
          </a:bodyPr>
          <a:lstStyle/>
          <a:p>
            <a:pPr algn="ctr">
              <a:lnSpc>
                <a:spcPct val="120000"/>
              </a:lnSpc>
              <a:spcBef>
                <a:spcPts val="0"/>
              </a:spcBef>
            </a:pPr>
            <a:r>
              <a:rPr sz="1400" b="0" i="0">
                <a:solidFill>
                  <a:srgbClr val="1B2B3C"/>
                </a:solidFill>
                <a:latin typeface="Calibri"/>
              </a:rPr>
              <a:t>from first post to three competing definitions</a:t>
            </a:r>
          </a:p>
        </p:txBody>
      </p:sp>
      <p:sp>
        <p:nvSpPr>
          <p:cNvPr id="9" name="Rounded Rectangle 8"/>
          <p:cNvSpPr/>
          <p:nvPr/>
        </p:nvSpPr>
        <p:spPr>
          <a:xfrm>
            <a:off x="4338218" y="1645920"/>
            <a:ext cx="3515258" cy="1920240"/>
          </a:xfrm>
          <a:prstGeom prst="roundRect">
            <a:avLst>
              <a:gd name="adj" fmla="val 8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38218" y="1828800"/>
            <a:ext cx="3515258" cy="914400"/>
          </a:xfrm>
          <a:prstGeom prst="rect">
            <a:avLst/>
          </a:prstGeom>
          <a:noFill/>
        </p:spPr>
        <p:txBody>
          <a:bodyPr wrap="square" anchor="t" lIns="0" rIns="0" tIns="0" bIns="0">
            <a:noAutofit/>
          </a:bodyPr>
          <a:lstStyle/>
          <a:p>
            <a:pPr algn="ctr">
              <a:lnSpc>
                <a:spcPct val="105000"/>
              </a:lnSpc>
              <a:spcBef>
                <a:spcPts val="0"/>
              </a:spcBef>
            </a:pPr>
            <a:r>
              <a:rPr sz="4800" b="1" i="0">
                <a:solidFill>
                  <a:srgbClr val="0A1628"/>
                </a:solidFill>
                <a:latin typeface="Calibri"/>
              </a:rPr>
              <a:t>3</a:t>
            </a:r>
          </a:p>
        </p:txBody>
      </p:sp>
      <p:sp>
        <p:nvSpPr>
          <p:cNvPr id="11" name="TextBox 10"/>
          <p:cNvSpPr txBox="1"/>
          <p:nvPr/>
        </p:nvSpPr>
        <p:spPr>
          <a:xfrm>
            <a:off x="4566818" y="2788920"/>
            <a:ext cx="3058058" cy="731520"/>
          </a:xfrm>
          <a:prstGeom prst="rect">
            <a:avLst/>
          </a:prstGeom>
          <a:noFill/>
        </p:spPr>
        <p:txBody>
          <a:bodyPr wrap="square" anchor="t" lIns="0" rIns="0" tIns="0" bIns="0">
            <a:noAutofit/>
          </a:bodyPr>
          <a:lstStyle/>
          <a:p>
            <a:pPr algn="ctr">
              <a:lnSpc>
                <a:spcPct val="120000"/>
              </a:lnSpc>
              <a:spcBef>
                <a:spcPts val="0"/>
              </a:spcBef>
            </a:pPr>
            <a:r>
              <a:rPr sz="1400" b="0" i="0">
                <a:solidFill>
                  <a:srgbClr val="1B2B3C"/>
                </a:solidFill>
                <a:latin typeface="Calibri"/>
              </a:rPr>
              <a:t>incompatible meanings of “graph” in circulation at once</a:t>
            </a:r>
          </a:p>
        </p:txBody>
      </p:sp>
      <p:sp>
        <p:nvSpPr>
          <p:cNvPr id="12" name="Rounded Rectangle 11"/>
          <p:cNvSpPr/>
          <p:nvPr/>
        </p:nvSpPr>
        <p:spPr>
          <a:xfrm>
            <a:off x="8127796" y="1645920"/>
            <a:ext cx="3515258" cy="1920240"/>
          </a:xfrm>
          <a:prstGeom prst="roundRect">
            <a:avLst>
              <a:gd name="adj" fmla="val 8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7796" y="1828800"/>
            <a:ext cx="3515258" cy="914400"/>
          </a:xfrm>
          <a:prstGeom prst="rect">
            <a:avLst/>
          </a:prstGeom>
          <a:noFill/>
        </p:spPr>
        <p:txBody>
          <a:bodyPr wrap="square" anchor="t" lIns="0" rIns="0" tIns="0" bIns="0">
            <a:noAutofit/>
          </a:bodyPr>
          <a:lstStyle/>
          <a:p>
            <a:pPr algn="ctr">
              <a:lnSpc>
                <a:spcPct val="105000"/>
              </a:lnSpc>
              <a:spcBef>
                <a:spcPts val="0"/>
              </a:spcBef>
            </a:pPr>
            <a:r>
              <a:rPr sz="4800" b="1" i="0">
                <a:solidFill>
                  <a:srgbClr val="0A1628"/>
                </a:solidFill>
                <a:latin typeface="Calibri"/>
              </a:rPr>
              <a:t>1</a:t>
            </a:r>
          </a:p>
        </p:txBody>
      </p:sp>
      <p:sp>
        <p:nvSpPr>
          <p:cNvPr id="14" name="TextBox 13"/>
          <p:cNvSpPr txBox="1"/>
          <p:nvPr/>
        </p:nvSpPr>
        <p:spPr>
          <a:xfrm>
            <a:off x="8356396" y="2788920"/>
            <a:ext cx="3058058" cy="731520"/>
          </a:xfrm>
          <a:prstGeom prst="rect">
            <a:avLst/>
          </a:prstGeom>
          <a:noFill/>
        </p:spPr>
        <p:txBody>
          <a:bodyPr wrap="square" anchor="t" lIns="0" rIns="0" tIns="0" bIns="0">
            <a:noAutofit/>
          </a:bodyPr>
          <a:lstStyle/>
          <a:p>
            <a:pPr algn="ctr">
              <a:lnSpc>
                <a:spcPct val="120000"/>
              </a:lnSpc>
              <a:spcBef>
                <a:spcPts val="0"/>
              </a:spcBef>
            </a:pPr>
            <a:r>
              <a:rPr sz="1400" b="0" i="0">
                <a:solidFill>
                  <a:srgbClr val="1B2B3C"/>
                </a:solidFill>
                <a:latin typeface="Calibri"/>
              </a:rPr>
              <a:t>widely shared founding study — confirmed fabricated</a:t>
            </a:r>
          </a:p>
        </p:txBody>
      </p:sp>
      <p:sp>
        <p:nvSpPr>
          <p:cNvPr id="15" name="Rounded Rectangle 14"/>
          <p:cNvSpPr/>
          <p:nvPr/>
        </p:nvSpPr>
        <p:spPr>
          <a:xfrm>
            <a:off x="548640" y="3931920"/>
            <a:ext cx="11094415" cy="137160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14800"/>
            <a:ext cx="10454335" cy="1005840"/>
          </a:xfrm>
          <a:prstGeom prst="rect">
            <a:avLst/>
          </a:prstGeom>
          <a:noFill/>
        </p:spPr>
        <p:txBody>
          <a:bodyPr wrap="square" anchor="t" lIns="0" rIns="0" tIns="0" bIns="0">
            <a:normAutofit/>
          </a:bodyPr>
          <a:lstStyle/>
          <a:p>
            <a:pPr algn="l">
              <a:lnSpc>
                <a:spcPct val="120000"/>
              </a:lnSpc>
              <a:spcBef>
                <a:spcPts val="0"/>
              </a:spcBef>
            </a:pPr>
            <a:r>
              <a:rPr sz="1600" b="1" i="0">
                <a:solidFill>
                  <a:srgbClr val="FFFFFF"/>
                </a:solidFill>
                <a:latin typeface="Calibri"/>
              </a:rPr>
              <a:t>The term is new and contested. The mechanics underneath it are not — treat the label with more skepticism than the pattern.</a:t>
            </a:r>
          </a:p>
        </p:txBody>
      </p:sp>
      <p:sp>
        <p:nvSpPr>
          <p:cNvPr id="17" name="TextBox 16"/>
          <p:cNvSpPr txBox="1"/>
          <p:nvPr/>
        </p:nvSpPr>
        <p:spPr>
          <a:xfrm>
            <a:off x="548640" y="5623560"/>
            <a:ext cx="7315200" cy="320040"/>
          </a:xfrm>
          <a:prstGeom prst="rect">
            <a:avLst/>
          </a:prstGeom>
          <a:noFill/>
        </p:spPr>
        <p:txBody>
          <a:bodyPr wrap="square" anchor="t" lIns="0" rIns="0" tIns="0" bIns="0">
            <a:noAutofit/>
          </a:bodyPr>
          <a:lstStyle/>
          <a:p>
            <a:pPr algn="l">
              <a:lnSpc>
                <a:spcPct val="105000"/>
              </a:lnSpc>
              <a:spcBef>
                <a:spcPts val="0"/>
              </a:spcBef>
            </a:pPr>
            <a:r>
              <a:rPr sz="1000" b="0" i="1">
                <a:solidFill>
                  <a:srgbClr val="5B6B7C"/>
                </a:solidFill>
                <a:latin typeface="Calibri"/>
              </a:rPr>
              <a:t>Source: independent industry reporting, July 2026 (see run sources)</a:t>
            </a:r>
          </a:p>
        </p:txBody>
      </p:sp>
      <p:sp>
        <p:nvSpPr>
          <p:cNvPr id="18" name="TextBox 1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9" name="TextBox 1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One active framing — not a settled progression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10-masked.png"/>
          <p:cNvPicPr>
            <a:picLocks noChangeAspect="1"/>
          </p:cNvPicPr>
          <p:nvPr/>
        </p:nvPicPr>
        <p:blipFill>
          <a:blip r:embed="rId2"/>
          <a:stretch>
            <a:fillRect/>
          </a:stretch>
        </p:blipFill>
        <p:spPr>
          <a:xfrm>
            <a:off x="6796735" y="1554480"/>
            <a:ext cx="4846320" cy="2726055"/>
          </a:xfrm>
          <a:prstGeom prst="rect">
            <a:avLst/>
          </a:prstGeom>
        </p:spPr>
      </p:pic>
      <p:sp>
        <p:nvSpPr>
          <p:cNvPr id="7" name="Rounded Rectangle 6"/>
          <p:cNvSpPr/>
          <p:nvPr/>
        </p:nvSpPr>
        <p:spPr>
          <a:xfrm>
            <a:off x="54864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80467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Prompt engineering is about wording, context engineering about information, graph engineering about how the work is designed — three levers, not an agreed sequence.</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Take the mechanics (design the work, not just the prompt) without adopting the trend-cycle framing wholesale.</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vocabulary: jobs, arrows, and one shared record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15-masked.png"/>
          <p:cNvPicPr>
            <a:picLocks noChangeAspect="1"/>
          </p:cNvPicPr>
          <p:nvPr/>
        </p:nvPicPr>
        <p:blipFill>
          <a:blip r:embed="rId2"/>
          <a:stretch>
            <a:fillRect/>
          </a:stretch>
        </p:blipFill>
        <p:spPr>
          <a:xfrm>
            <a:off x="548640" y="1554480"/>
            <a:ext cx="4846320" cy="2726055"/>
          </a:xfrm>
          <a:prstGeom prst="rect">
            <a:avLst/>
          </a:prstGeom>
        </p:spPr>
      </p:pic>
      <p:sp>
        <p:nvSpPr>
          <p:cNvPr id="7" name="Rounded Rectangle 6"/>
          <p:cNvSpPr/>
          <p:nvPr/>
        </p:nvSpPr>
        <p:spPr>
          <a:xfrm>
            <a:off x="571500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7103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597103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A job is one step with one owner and one output. An arrow says what has to happen before what. State is the shared record every job reads and writes. That's the entire vocabulary — nothing more exotic is required to start.</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This is the whole mental model. Everything else in this deck is this vocabulary applied to a real decision.</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Same report format — different shape of work behind it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13-masked.png"/>
          <p:cNvPicPr>
            <a:picLocks noChangeAspect="1"/>
          </p:cNvPicPr>
          <p:nvPr/>
        </p:nvPicPr>
        <p:blipFill>
          <a:blip r:embed="rId2"/>
          <a:stretch>
            <a:fillRect/>
          </a:stretch>
        </p:blipFill>
        <p:spPr>
          <a:xfrm>
            <a:off x="6796735" y="1554480"/>
            <a:ext cx="4846320" cy="2726055"/>
          </a:xfrm>
          <a:prstGeom prst="rect">
            <a:avLst/>
          </a:prstGeom>
        </p:spPr>
      </p:pic>
      <p:sp>
        <p:nvSpPr>
          <p:cNvPr id="7" name="Rounded Rectangle 6"/>
          <p:cNvSpPr/>
          <p:nvPr/>
        </p:nvSpPr>
        <p:spPr>
          <a:xfrm>
            <a:off x="54864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80467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A single chat and a structured graph can both hand back a report. Only one of them lets you see which claims were checked, by whom, before you trust the answer.</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Ask of any AI-produced recommendation: can I see the work behind it, or only the output?</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Don't confuse a knowledge graph with an agent graph</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17-masked.png"/>
          <p:cNvPicPr>
            <a:picLocks noChangeAspect="1"/>
          </p:cNvPicPr>
          <p:nvPr/>
        </p:nvPicPr>
        <p:blipFill>
          <a:blip r:embed="rId2"/>
          <a:stretch>
            <a:fillRect/>
          </a:stretch>
        </p:blipFill>
        <p:spPr>
          <a:xfrm>
            <a:off x="548640" y="1554480"/>
            <a:ext cx="4846320" cy="2726055"/>
          </a:xfrm>
          <a:prstGeom prst="rect">
            <a:avLst/>
          </a:prstGeom>
        </p:spPr>
      </p:pic>
      <p:sp>
        <p:nvSpPr>
          <p:cNvPr id="7" name="Rounded Rectangle 6"/>
          <p:cNvSpPr/>
          <p:nvPr/>
        </p:nvSpPr>
        <p:spPr>
          <a:xfrm>
            <a:off x="571500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7103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597103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A knowledge graph maps what your data means — customers, products, relationships. An agent graph maps how work should move, get checked, and get approved. This deck is about the second one.</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Buying or building a knowledge graph does not give you a checkable AI workflow — they solve different problems.</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qualifying test: when a graph earns its place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19-masked.png"/>
          <p:cNvPicPr>
            <a:picLocks noChangeAspect="1"/>
          </p:cNvPicPr>
          <p:nvPr/>
        </p:nvPicPr>
        <p:blipFill>
          <a:blip r:embed="rId2"/>
          <a:stretch>
            <a:fillRect/>
          </a:stretch>
        </p:blipFill>
        <p:spPr>
          <a:xfrm>
            <a:off x="6796735" y="1554480"/>
            <a:ext cx="4846320" cy="2726055"/>
          </a:xfrm>
          <a:prstGeom prst="rect">
            <a:avLst/>
          </a:prstGeom>
        </p:spPr>
      </p:pic>
      <p:sp>
        <p:nvSpPr>
          <p:cNvPr id="7" name="Rounded Rectangle 6"/>
          <p:cNvSpPr/>
          <p:nvPr/>
        </p:nvSpPr>
        <p:spPr>
          <a:xfrm>
            <a:off x="54864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80467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Multiple steps, multiple sources, parallel paths, real checks, real risk, required approvals — if none of these are true for a workflow, a graph is overhead, not sophistication.</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Run every candidate workflow through this test before reaching for any framework. Most AI work still doesn't need one.</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Worked example: AI bookkeeping for Shopify?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21-masked.png"/>
          <p:cNvPicPr>
            <a:picLocks noChangeAspect="1"/>
          </p:cNvPicPr>
          <p:nvPr/>
        </p:nvPicPr>
        <p:blipFill>
          <a:blip r:embed="rId2"/>
          <a:stretch>
            <a:fillRect/>
          </a:stretch>
        </p:blipFill>
        <p:spPr>
          <a:xfrm>
            <a:off x="548640" y="1554480"/>
            <a:ext cx="4846320" cy="2726055"/>
          </a:xfrm>
          <a:prstGeom prst="rect">
            <a:avLst/>
          </a:prstGeom>
        </p:spPr>
      </p:pic>
      <p:sp>
        <p:nvSpPr>
          <p:cNvPr id="7" name="Rounded Rectangle 6"/>
          <p:cNvSpPr/>
          <p:nvPr/>
        </p:nvSpPr>
        <p:spPr>
          <a:xfrm>
            <a:off x="571500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7103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597103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Three parallel researchers cover customer pain, competitors, and distribution. A skeptic attacks the findings. A merge step turns survivors into a one-page recommendation. A human picks the next move.</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The messy one-shot chat becomes a workflow you can actually inspect, challenge, and reuse on the next decision.</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pattern underneath: the Diamond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23-masked.png"/>
          <p:cNvPicPr>
            <a:picLocks noChangeAspect="1"/>
          </p:cNvPicPr>
          <p:nvPr/>
        </p:nvPicPr>
        <p:blipFill>
          <a:blip r:embed="rId2"/>
          <a:stretch>
            <a:fillRect/>
          </a:stretch>
        </p:blipFill>
        <p:spPr>
          <a:xfrm>
            <a:off x="6796735" y="1554480"/>
            <a:ext cx="4846320" cy="2726055"/>
          </a:xfrm>
          <a:prstGeom prst="rect">
            <a:avLst/>
          </a:prstGeom>
        </p:spPr>
      </p:pic>
      <p:sp>
        <p:nvSpPr>
          <p:cNvPr id="7" name="Rounded Rectangle 6"/>
          <p:cNvSpPr/>
          <p:nvPr/>
        </p:nvSpPr>
        <p:spPr>
          <a:xfrm>
            <a:off x="54864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80467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Planner fans out to parallel researchers, a skeptic checks their findings, then merge and human approval close the loop. This is the one shape worth learning first — every other pattern is a variation on it.</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Learn this one diagram before anything else. It generalizes to support, content, and code work (next slide).</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Three ready-made pipelines you can steal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27-masked.png"/>
          <p:cNvPicPr>
            <a:picLocks noChangeAspect="1"/>
          </p:cNvPicPr>
          <p:nvPr/>
        </p:nvPicPr>
        <p:blipFill>
          <a:blip r:embed="rId2"/>
          <a:stretch>
            <a:fillRect/>
          </a:stretch>
        </p:blipFill>
        <p:spPr>
          <a:xfrm>
            <a:off x="548640" y="1554480"/>
            <a:ext cx="4846320" cy="2726055"/>
          </a:xfrm>
          <a:prstGeom prst="rect">
            <a:avLst/>
          </a:prstGeom>
        </p:spPr>
      </p:pic>
      <p:sp>
        <p:nvSpPr>
          <p:cNvPr id="7" name="Rounded Rectangle 6"/>
          <p:cNvSpPr/>
          <p:nvPr/>
        </p:nvSpPr>
        <p:spPr>
          <a:xfrm>
            <a:off x="571500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7103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597103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Support, content, and code workflows all follow the same rule: the checker is never the same role as the writer. That one constraint is what makes each pipeline trustworthy enough to run unattended.</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Pick the lane closest to your own work and copy the structure — not the specific steps — into your first graph.</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Three levels of implementation — start manual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ame_0025-masked.png"/>
          <p:cNvPicPr>
            <a:picLocks noChangeAspect="1"/>
          </p:cNvPicPr>
          <p:nvPr/>
        </p:nvPicPr>
        <p:blipFill>
          <a:blip r:embed="rId2"/>
          <a:stretch>
            <a:fillRect/>
          </a:stretch>
        </p:blipFill>
        <p:spPr>
          <a:xfrm>
            <a:off x="6796735" y="1554480"/>
            <a:ext cx="4846320" cy="2726055"/>
          </a:xfrm>
          <a:prstGeom prst="rect">
            <a:avLst/>
          </a:prstGeom>
        </p:spPr>
      </p:pic>
      <p:sp>
        <p:nvSpPr>
          <p:cNvPr id="7" name="Rounded Rectangle 6"/>
          <p:cNvSpPr/>
          <p:nvPr/>
        </p:nvSpPr>
        <p:spPr>
          <a:xfrm>
            <a:off x="548640" y="1554480"/>
            <a:ext cx="5928055" cy="274320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54864" cy="27432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737360"/>
            <a:ext cx="5470855"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BUSINESS IMPLICATION</a:t>
            </a:r>
          </a:p>
        </p:txBody>
      </p:sp>
      <p:sp>
        <p:nvSpPr>
          <p:cNvPr id="10" name="TextBox 9"/>
          <p:cNvSpPr txBox="1"/>
          <p:nvPr/>
        </p:nvSpPr>
        <p:spPr>
          <a:xfrm>
            <a:off x="804672" y="2121408"/>
            <a:ext cx="5415991" cy="1993392"/>
          </a:xfrm>
          <a:prstGeom prst="rect">
            <a:avLst/>
          </a:prstGeom>
          <a:noFill/>
        </p:spPr>
        <p:txBody>
          <a:bodyPr wrap="square" anchor="t" lIns="0" rIns="0" tIns="0" bIns="0">
            <a:normAutofit/>
          </a:bodyPr>
          <a:lstStyle/>
          <a:p>
            <a:pPr algn="l">
              <a:lnSpc>
                <a:spcPct val="115000"/>
              </a:lnSpc>
              <a:spcBef>
                <a:spcPts val="0"/>
              </a:spcBef>
            </a:pPr>
            <a:r>
              <a:rPr sz="1400" b="0" i="0">
                <a:solidFill>
                  <a:srgbClr val="1B2B3C"/>
                </a:solidFill>
                <a:latin typeface="Calibri"/>
              </a:rPr>
              <a:t>Manual whiteboard lanes prove the shape works with no code at all. File trails make the run reusable. Real orchestration tooling only pays off after that — earn the tooling, don't start with it.</a:t>
            </a:r>
          </a:p>
        </p:txBody>
      </p:sp>
      <p:sp>
        <p:nvSpPr>
          <p:cNvPr id="11" name="Rounded Rectangle 10"/>
          <p:cNvSpPr/>
          <p:nvPr/>
        </p:nvSpPr>
        <p:spPr>
          <a:xfrm>
            <a:off x="548640" y="4526280"/>
            <a:ext cx="11094415" cy="123444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709160"/>
            <a:ext cx="10454335" cy="914400"/>
          </a:xfrm>
          <a:prstGeom prst="rect">
            <a:avLst/>
          </a:prstGeom>
          <a:noFill/>
        </p:spPr>
        <p:txBody>
          <a:bodyPr wrap="square" anchor="t" lIns="0" rIns="0" tIns="0" bIns="0">
            <a:normAutofit/>
          </a:bodyPr>
          <a:lstStyle/>
          <a:p>
            <a:pPr algn="l">
              <a:lnSpc>
                <a:spcPct val="120000"/>
              </a:lnSpc>
              <a:spcBef>
                <a:spcPts val="0"/>
              </a:spcBef>
            </a:pPr>
            <a:r>
              <a:rPr sz="1500" b="1" i="0">
                <a:solidFill>
                  <a:srgbClr val="FFFFFF"/>
                </a:solidFill>
                <a:latin typeface="Calibri"/>
              </a:rPr>
              <a:t>Do not buy or install anything before finishing Level 1 by hand at least once.</a:t>
            </a:r>
          </a:p>
        </p:txBody>
      </p:sp>
      <p:sp>
        <p:nvSpPr>
          <p:cNvPr id="13" name="TextBox 1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14" name="TextBox 1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Where the named tools actually fit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224028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Tool</a:t>
            </a:r>
          </a:p>
        </p:txBody>
      </p:sp>
      <p:sp>
        <p:nvSpPr>
          <p:cNvPr id="7" name="TextBox 6"/>
          <p:cNvSpPr txBox="1"/>
          <p:nvPr/>
        </p:nvSpPr>
        <p:spPr>
          <a:xfrm>
            <a:off x="2926080" y="1691640"/>
            <a:ext cx="470916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Best for</a:t>
            </a:r>
          </a:p>
        </p:txBody>
      </p:sp>
      <p:sp>
        <p:nvSpPr>
          <p:cNvPr id="8" name="TextBox 7"/>
          <p:cNvSpPr txBox="1"/>
          <p:nvPr/>
        </p:nvSpPr>
        <p:spPr>
          <a:xfrm>
            <a:off x="7772400" y="1691640"/>
            <a:ext cx="3611879" cy="365760"/>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Watch for</a:t>
            </a:r>
          </a:p>
        </p:txBody>
      </p:sp>
      <p:sp>
        <p:nvSpPr>
          <p:cNvPr id="9" name="Rectangle 8"/>
          <p:cNvSpPr/>
          <p:nvPr/>
        </p:nvSpPr>
        <p:spPr>
          <a:xfrm>
            <a:off x="548640" y="2075688"/>
            <a:ext cx="11094415" cy="19050"/>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2221992"/>
            <a:ext cx="11094415" cy="658368"/>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21992"/>
            <a:ext cx="2103120" cy="658368"/>
          </a:xfrm>
          <a:prstGeom prst="rect">
            <a:avLst/>
          </a:prstGeom>
          <a:noFill/>
        </p:spPr>
        <p:txBody>
          <a:bodyPr wrap="square" anchor="t" lIns="0" rIns="0" tIns="0" bIns="0">
            <a:normAutofit/>
          </a:bodyPr>
          <a:lstStyle/>
          <a:p>
            <a:pPr algn="l">
              <a:lnSpc>
                <a:spcPct val="110000"/>
              </a:lnSpc>
              <a:spcBef>
                <a:spcPts val="0"/>
              </a:spcBef>
            </a:pPr>
            <a:r>
              <a:rPr sz="1400" b="1" i="0">
                <a:solidFill>
                  <a:srgbClr val="0A1628"/>
                </a:solidFill>
                <a:latin typeface="Calibri"/>
              </a:rPr>
              <a:t>LangGraph</a:t>
            </a:r>
          </a:p>
        </p:txBody>
      </p:sp>
      <p:sp>
        <p:nvSpPr>
          <p:cNvPr id="12" name="TextBox 11"/>
          <p:cNvSpPr txBox="1"/>
          <p:nvPr/>
        </p:nvSpPr>
        <p:spPr>
          <a:xfrm>
            <a:off x="3108960" y="2221992"/>
            <a:ext cx="4572000" cy="658368"/>
          </a:xfrm>
          <a:prstGeom prst="rect">
            <a:avLst/>
          </a:prstGeom>
          <a:noFill/>
        </p:spPr>
        <p:txBody>
          <a:bodyPr wrap="square" anchor="t" lIns="0" rIns="0" tIns="0" bIns="0">
            <a:normAutofit/>
          </a:bodyPr>
          <a:lstStyle/>
          <a:p>
            <a:pPr algn="l">
              <a:lnSpc>
                <a:spcPct val="110000"/>
              </a:lnSpc>
              <a:spcBef>
                <a:spcPts val="0"/>
              </a:spcBef>
            </a:pPr>
            <a:r>
              <a:rPr sz="1400" b="0" i="0">
                <a:solidFill>
                  <a:srgbClr val="1B2B3C"/>
                </a:solidFill>
                <a:latin typeface="Calibri"/>
              </a:rPr>
              <a:t>Stateful multi-agent logic, human-approval gates</a:t>
            </a:r>
          </a:p>
        </p:txBody>
      </p:sp>
      <p:sp>
        <p:nvSpPr>
          <p:cNvPr id="13" name="TextBox 12"/>
          <p:cNvSpPr txBox="1"/>
          <p:nvPr/>
        </p:nvSpPr>
        <p:spPr>
          <a:xfrm>
            <a:off x="7955280" y="2221992"/>
            <a:ext cx="3474719" cy="658368"/>
          </a:xfrm>
          <a:prstGeom prst="rect">
            <a:avLst/>
          </a:prstGeom>
          <a:noFill/>
        </p:spPr>
        <p:txBody>
          <a:bodyPr wrap="square" anchor="t" lIns="0" rIns="0" tIns="0" bIns="0">
            <a:normAutofit/>
          </a:bodyPr>
          <a:lstStyle/>
          <a:p>
            <a:pPr algn="l">
              <a:lnSpc>
                <a:spcPct val="110000"/>
              </a:lnSpc>
              <a:spcBef>
                <a:spcPts val="0"/>
              </a:spcBef>
            </a:pPr>
            <a:r>
              <a:rPr sz="1400" b="0" i="0">
                <a:solidFill>
                  <a:srgbClr val="5B6B7C"/>
                </a:solidFill>
                <a:latin typeface="Calibri"/>
              </a:rPr>
              <a:t>Needs engineering capacity</a:t>
            </a:r>
          </a:p>
        </p:txBody>
      </p:sp>
      <p:sp>
        <p:nvSpPr>
          <p:cNvPr id="14" name="Rounded Rectangle 13"/>
          <p:cNvSpPr/>
          <p:nvPr/>
        </p:nvSpPr>
        <p:spPr>
          <a:xfrm>
            <a:off x="548640" y="2971800"/>
            <a:ext cx="11094415" cy="658368"/>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971800"/>
            <a:ext cx="2103120" cy="658368"/>
          </a:xfrm>
          <a:prstGeom prst="rect">
            <a:avLst/>
          </a:prstGeom>
          <a:noFill/>
        </p:spPr>
        <p:txBody>
          <a:bodyPr wrap="square" anchor="t" lIns="0" rIns="0" tIns="0" bIns="0">
            <a:normAutofit/>
          </a:bodyPr>
          <a:lstStyle/>
          <a:p>
            <a:pPr algn="l">
              <a:lnSpc>
                <a:spcPct val="110000"/>
              </a:lnSpc>
              <a:spcBef>
                <a:spcPts val="0"/>
              </a:spcBef>
            </a:pPr>
            <a:r>
              <a:rPr sz="1400" b="1" i="0">
                <a:solidFill>
                  <a:srgbClr val="0A1628"/>
                </a:solidFill>
                <a:latin typeface="Calibri"/>
              </a:rPr>
              <a:t>AutoGen GraphFlow</a:t>
            </a:r>
          </a:p>
        </p:txBody>
      </p:sp>
      <p:sp>
        <p:nvSpPr>
          <p:cNvPr id="16" name="TextBox 15"/>
          <p:cNvSpPr txBox="1"/>
          <p:nvPr/>
        </p:nvSpPr>
        <p:spPr>
          <a:xfrm>
            <a:off x="3108960" y="2971800"/>
            <a:ext cx="4572000" cy="658368"/>
          </a:xfrm>
          <a:prstGeom prst="rect">
            <a:avLst/>
          </a:prstGeom>
          <a:noFill/>
        </p:spPr>
        <p:txBody>
          <a:bodyPr wrap="square" anchor="t" lIns="0" rIns="0" tIns="0" bIns="0">
            <a:normAutofit/>
          </a:bodyPr>
          <a:lstStyle/>
          <a:p>
            <a:pPr algn="l">
              <a:lnSpc>
                <a:spcPct val="110000"/>
              </a:lnSpc>
              <a:spcBef>
                <a:spcPts val="0"/>
              </a:spcBef>
            </a:pPr>
            <a:r>
              <a:rPr sz="1400" b="0" i="0">
                <a:solidFill>
                  <a:srgbClr val="1B2B3C"/>
                </a:solidFill>
                <a:latin typeface="Calibri"/>
              </a:rPr>
              <a:t>Parallel fan-out, conditional/looping flows</a:t>
            </a:r>
          </a:p>
        </p:txBody>
      </p:sp>
      <p:sp>
        <p:nvSpPr>
          <p:cNvPr id="17" name="TextBox 16"/>
          <p:cNvSpPr txBox="1"/>
          <p:nvPr/>
        </p:nvSpPr>
        <p:spPr>
          <a:xfrm>
            <a:off x="7955280" y="2971800"/>
            <a:ext cx="3474719" cy="658368"/>
          </a:xfrm>
          <a:prstGeom prst="rect">
            <a:avLst/>
          </a:prstGeom>
          <a:noFill/>
        </p:spPr>
        <p:txBody>
          <a:bodyPr wrap="square" anchor="t" lIns="0" rIns="0" tIns="0" bIns="0">
            <a:normAutofit/>
          </a:bodyPr>
          <a:lstStyle/>
          <a:p>
            <a:pPr algn="l">
              <a:lnSpc>
                <a:spcPct val="110000"/>
              </a:lnSpc>
              <a:spcBef>
                <a:spcPts val="0"/>
              </a:spcBef>
            </a:pPr>
            <a:r>
              <a:rPr sz="1400" b="0" i="0">
                <a:solidFill>
                  <a:srgbClr val="5B6B7C"/>
                </a:solidFill>
                <a:latin typeface="Calibri"/>
              </a:rPr>
              <a:t>Code-first, Python</a:t>
            </a:r>
          </a:p>
        </p:txBody>
      </p:sp>
      <p:sp>
        <p:nvSpPr>
          <p:cNvPr id="18" name="Rounded Rectangle 17"/>
          <p:cNvSpPr/>
          <p:nvPr/>
        </p:nvSpPr>
        <p:spPr>
          <a:xfrm>
            <a:off x="548640" y="3721608"/>
            <a:ext cx="11094415" cy="658368"/>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721608"/>
            <a:ext cx="2103120" cy="658368"/>
          </a:xfrm>
          <a:prstGeom prst="rect">
            <a:avLst/>
          </a:prstGeom>
          <a:noFill/>
        </p:spPr>
        <p:txBody>
          <a:bodyPr wrap="square" anchor="t" lIns="0" rIns="0" tIns="0" bIns="0">
            <a:normAutofit/>
          </a:bodyPr>
          <a:lstStyle/>
          <a:p>
            <a:pPr algn="l">
              <a:lnSpc>
                <a:spcPct val="110000"/>
              </a:lnSpc>
              <a:spcBef>
                <a:spcPts val="0"/>
              </a:spcBef>
            </a:pPr>
            <a:r>
              <a:rPr sz="1400" b="1" i="0">
                <a:solidFill>
                  <a:srgbClr val="0A1628"/>
                </a:solidFill>
                <a:latin typeface="Calibri"/>
              </a:rPr>
              <a:t>n8n</a:t>
            </a:r>
          </a:p>
        </p:txBody>
      </p:sp>
      <p:sp>
        <p:nvSpPr>
          <p:cNvPr id="20" name="TextBox 19"/>
          <p:cNvSpPr txBox="1"/>
          <p:nvPr/>
        </p:nvSpPr>
        <p:spPr>
          <a:xfrm>
            <a:off x="3108960" y="3721608"/>
            <a:ext cx="4572000" cy="658368"/>
          </a:xfrm>
          <a:prstGeom prst="rect">
            <a:avLst/>
          </a:prstGeom>
          <a:noFill/>
        </p:spPr>
        <p:txBody>
          <a:bodyPr wrap="square" anchor="t" lIns="0" rIns="0" tIns="0" bIns="0">
            <a:normAutofit/>
          </a:bodyPr>
          <a:lstStyle/>
          <a:p>
            <a:pPr algn="l">
              <a:lnSpc>
                <a:spcPct val="110000"/>
              </a:lnSpc>
              <a:spcBef>
                <a:spcPts val="0"/>
              </a:spcBef>
            </a:pPr>
            <a:r>
              <a:rPr sz="1400" b="0" i="0">
                <a:solidFill>
                  <a:srgbClr val="1B2B3C"/>
                </a:solidFill>
                <a:latin typeface="Calibri"/>
              </a:rPr>
              <a:t>Self-hostable, AI-native automation</a:t>
            </a:r>
          </a:p>
        </p:txBody>
      </p:sp>
      <p:sp>
        <p:nvSpPr>
          <p:cNvPr id="21" name="TextBox 20"/>
          <p:cNvSpPr txBox="1"/>
          <p:nvPr/>
        </p:nvSpPr>
        <p:spPr>
          <a:xfrm>
            <a:off x="7955280" y="3721608"/>
            <a:ext cx="3474719" cy="658368"/>
          </a:xfrm>
          <a:prstGeom prst="rect">
            <a:avLst/>
          </a:prstGeom>
          <a:noFill/>
        </p:spPr>
        <p:txBody>
          <a:bodyPr wrap="square" anchor="t" lIns="0" rIns="0" tIns="0" bIns="0">
            <a:normAutofit/>
          </a:bodyPr>
          <a:lstStyle/>
          <a:p>
            <a:pPr algn="l">
              <a:lnSpc>
                <a:spcPct val="110000"/>
              </a:lnSpc>
              <a:spcBef>
                <a:spcPts val="0"/>
              </a:spcBef>
            </a:pPr>
            <a:r>
              <a:rPr sz="1400" b="0" i="0">
                <a:solidFill>
                  <a:srgbClr val="5B6B7C"/>
                </a:solidFill>
                <a:latin typeface="Calibri"/>
              </a:rPr>
              <a:t>Needs comfort with JSON/APIs</a:t>
            </a:r>
          </a:p>
        </p:txBody>
      </p:sp>
      <p:sp>
        <p:nvSpPr>
          <p:cNvPr id="22" name="Rounded Rectangle 21"/>
          <p:cNvSpPr/>
          <p:nvPr/>
        </p:nvSpPr>
        <p:spPr>
          <a:xfrm>
            <a:off x="548640" y="4471416"/>
            <a:ext cx="11094415" cy="658368"/>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471416"/>
            <a:ext cx="2103120" cy="658368"/>
          </a:xfrm>
          <a:prstGeom prst="rect">
            <a:avLst/>
          </a:prstGeom>
          <a:noFill/>
        </p:spPr>
        <p:txBody>
          <a:bodyPr wrap="square" anchor="t" lIns="0" rIns="0" tIns="0" bIns="0">
            <a:normAutofit/>
          </a:bodyPr>
          <a:lstStyle/>
          <a:p>
            <a:pPr algn="l">
              <a:lnSpc>
                <a:spcPct val="110000"/>
              </a:lnSpc>
              <a:spcBef>
                <a:spcPts val="0"/>
              </a:spcBef>
            </a:pPr>
            <a:r>
              <a:rPr sz="1400" b="1" i="0">
                <a:solidFill>
                  <a:srgbClr val="0A1628"/>
                </a:solidFill>
                <a:latin typeface="Calibri"/>
              </a:rPr>
              <a:t>Make.com</a:t>
            </a:r>
          </a:p>
        </p:txBody>
      </p:sp>
      <p:sp>
        <p:nvSpPr>
          <p:cNvPr id="24" name="TextBox 23"/>
          <p:cNvSpPr txBox="1"/>
          <p:nvPr/>
        </p:nvSpPr>
        <p:spPr>
          <a:xfrm>
            <a:off x="3108960" y="4471416"/>
            <a:ext cx="4572000" cy="658368"/>
          </a:xfrm>
          <a:prstGeom prst="rect">
            <a:avLst/>
          </a:prstGeom>
          <a:noFill/>
        </p:spPr>
        <p:txBody>
          <a:bodyPr wrap="square" anchor="t" lIns="0" rIns="0" tIns="0" bIns="0">
            <a:normAutofit/>
          </a:bodyPr>
          <a:lstStyle/>
          <a:p>
            <a:pPr algn="l">
              <a:lnSpc>
                <a:spcPct val="110000"/>
              </a:lnSpc>
              <a:spcBef>
                <a:spcPts val="0"/>
              </a:spcBef>
            </a:pPr>
            <a:r>
              <a:rPr sz="1400" b="0" i="0">
                <a:solidFill>
                  <a:srgbClr val="1B2B3C"/>
                </a:solidFill>
                <a:latin typeface="Calibri"/>
              </a:rPr>
              <a:t>Fully-hosted, non-technical automation</a:t>
            </a:r>
          </a:p>
        </p:txBody>
      </p:sp>
      <p:sp>
        <p:nvSpPr>
          <p:cNvPr id="25" name="TextBox 24"/>
          <p:cNvSpPr txBox="1"/>
          <p:nvPr/>
        </p:nvSpPr>
        <p:spPr>
          <a:xfrm>
            <a:off x="7955280" y="4471416"/>
            <a:ext cx="3474719" cy="658368"/>
          </a:xfrm>
          <a:prstGeom prst="rect">
            <a:avLst/>
          </a:prstGeom>
          <a:noFill/>
        </p:spPr>
        <p:txBody>
          <a:bodyPr wrap="square" anchor="t" lIns="0" rIns="0" tIns="0" bIns="0">
            <a:normAutofit/>
          </a:bodyPr>
          <a:lstStyle/>
          <a:p>
            <a:pPr algn="l">
              <a:lnSpc>
                <a:spcPct val="110000"/>
              </a:lnSpc>
              <a:spcBef>
                <a:spcPts val="0"/>
              </a:spcBef>
            </a:pPr>
            <a:r>
              <a:rPr sz="1400" b="0" i="0">
                <a:solidFill>
                  <a:srgbClr val="5B6B7C"/>
                </a:solidFill>
                <a:latin typeface="Calibri"/>
              </a:rPr>
              <a:t>Billing punishes looping agents</a:t>
            </a:r>
          </a:p>
        </p:txBody>
      </p:sp>
      <p:sp>
        <p:nvSpPr>
          <p:cNvPr id="26" name="TextBox 25"/>
          <p:cNvSpPr txBox="1"/>
          <p:nvPr/>
        </p:nvSpPr>
        <p:spPr>
          <a:xfrm>
            <a:off x="548640" y="5330952"/>
            <a:ext cx="11094415" cy="320040"/>
          </a:xfrm>
          <a:prstGeom prst="rect">
            <a:avLst/>
          </a:prstGeom>
          <a:noFill/>
        </p:spPr>
        <p:txBody>
          <a:bodyPr wrap="square" anchor="t" lIns="0" rIns="0" tIns="0" bIns="0">
            <a:noAutofit/>
          </a:bodyPr>
          <a:lstStyle/>
          <a:p>
            <a:pPr algn="l">
              <a:lnSpc>
                <a:spcPct val="105000"/>
              </a:lnSpc>
              <a:spcBef>
                <a:spcPts val="0"/>
              </a:spcBef>
            </a:pPr>
            <a:r>
              <a:rPr sz="1000" b="0" i="1">
                <a:solidFill>
                  <a:srgbClr val="5B6B7C"/>
                </a:solidFill>
                <a:latin typeface="Calibri"/>
              </a:rPr>
              <a:t>Most teams should start below all four — see “Three levels of implementation.” Source: industry reporting, July 2026.</a:t>
            </a:r>
          </a:p>
        </p:txBody>
      </p:sp>
      <p:sp>
        <p:nvSpPr>
          <p:cNvPr id="27" name="TextBox 2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Designing AI Workflows That Can Be Trusted</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094415" cy="914400"/>
          </a:xfrm>
          <a:prstGeom prst="rect">
            <a:avLst/>
          </a:prstGeom>
          <a:noFill/>
        </p:spPr>
        <p:txBody>
          <a:bodyPr wrap="square" anchor="t" lIns="0" rIns="0" tIns="0" bIns="0">
            <a:noAutofit/>
          </a:bodyPr>
          <a:lstStyle/>
          <a:p>
            <a:pPr algn="l">
              <a:lnSpc>
                <a:spcPct val="105000"/>
              </a:lnSpc>
              <a:spcBef>
                <a:spcPts val="0"/>
              </a:spcBef>
            </a:pPr>
            <a:r>
              <a:rPr sz="3400" b="1" i="0">
                <a:solidFill>
                  <a:srgbClr val="FFFFFF"/>
                </a:solidFill>
                <a:latin typeface="Calibri"/>
              </a:rPr>
              <a:t>Next move: draw one graph this week</a:t>
            </a:r>
          </a:p>
        </p:txBody>
      </p:sp>
      <p:sp>
        <p:nvSpPr>
          <p:cNvPr id="5" name="Rounded Rectangle 4"/>
          <p:cNvSpPr/>
          <p:nvPr/>
        </p:nvSpPr>
        <p:spPr>
          <a:xfrm>
            <a:off x="548640" y="2468880"/>
            <a:ext cx="457200" cy="457200"/>
          </a:xfrm>
          <a:prstGeom prst="roundRect">
            <a:avLst>
              <a:gd name="adj" fmla="val 50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505456"/>
            <a:ext cx="457200" cy="384048"/>
          </a:xfrm>
          <a:prstGeom prst="rect">
            <a:avLst/>
          </a:prstGeom>
          <a:noFill/>
        </p:spPr>
        <p:txBody>
          <a:bodyPr wrap="square" anchor="t" lIns="0" rIns="0" tIns="0" bIns="0">
            <a:noAutofit/>
          </a:bodyPr>
          <a:lstStyle/>
          <a:p>
            <a:pPr algn="ctr">
              <a:lnSpc>
                <a:spcPct val="105000"/>
              </a:lnSpc>
              <a:spcBef>
                <a:spcPts val="0"/>
              </a:spcBef>
            </a:pPr>
            <a:r>
              <a:rPr sz="1800" b="1" i="0">
                <a:solidFill>
                  <a:srgbClr val="0A1628"/>
                </a:solidFill>
                <a:latin typeface="Calibri"/>
              </a:rPr>
              <a:t>1</a:t>
            </a:r>
          </a:p>
        </p:txBody>
      </p:sp>
      <p:sp>
        <p:nvSpPr>
          <p:cNvPr id="7" name="TextBox 6"/>
          <p:cNvSpPr txBox="1"/>
          <p:nvPr/>
        </p:nvSpPr>
        <p:spPr>
          <a:xfrm>
            <a:off x="1188720" y="2496312"/>
            <a:ext cx="9601200" cy="457200"/>
          </a:xfrm>
          <a:prstGeom prst="rect">
            <a:avLst/>
          </a:prstGeom>
          <a:noFill/>
        </p:spPr>
        <p:txBody>
          <a:bodyPr wrap="square" anchor="t" lIns="0" rIns="0" tIns="0" bIns="0">
            <a:noAutofit/>
          </a:bodyPr>
          <a:lstStyle/>
          <a:p>
            <a:pPr algn="l">
              <a:lnSpc>
                <a:spcPct val="115000"/>
              </a:lnSpc>
              <a:spcBef>
                <a:spcPts val="0"/>
              </a:spcBef>
            </a:pPr>
            <a:r>
              <a:rPr sz="1700" b="0" i="0">
                <a:solidFill>
                  <a:srgbClr val="FFFFFF"/>
                </a:solidFill>
                <a:latin typeface="Calibri"/>
              </a:rPr>
              <a:t>Pick one workflow you already run.</a:t>
            </a:r>
          </a:p>
        </p:txBody>
      </p:sp>
      <p:sp>
        <p:nvSpPr>
          <p:cNvPr id="8" name="Rounded Rectangle 7"/>
          <p:cNvSpPr/>
          <p:nvPr/>
        </p:nvSpPr>
        <p:spPr>
          <a:xfrm>
            <a:off x="548640" y="3127248"/>
            <a:ext cx="457200" cy="457200"/>
          </a:xfrm>
          <a:prstGeom prst="roundRect">
            <a:avLst>
              <a:gd name="adj" fmla="val 50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63824"/>
            <a:ext cx="457200" cy="384048"/>
          </a:xfrm>
          <a:prstGeom prst="rect">
            <a:avLst/>
          </a:prstGeom>
          <a:noFill/>
        </p:spPr>
        <p:txBody>
          <a:bodyPr wrap="square" anchor="t" lIns="0" rIns="0" tIns="0" bIns="0">
            <a:noAutofit/>
          </a:bodyPr>
          <a:lstStyle/>
          <a:p>
            <a:pPr algn="ctr">
              <a:lnSpc>
                <a:spcPct val="105000"/>
              </a:lnSpc>
              <a:spcBef>
                <a:spcPts val="0"/>
              </a:spcBef>
            </a:pPr>
            <a:r>
              <a:rPr sz="1800" b="1" i="0">
                <a:solidFill>
                  <a:srgbClr val="0A1628"/>
                </a:solidFill>
                <a:latin typeface="Calibri"/>
              </a:rPr>
              <a:t>2</a:t>
            </a:r>
          </a:p>
        </p:txBody>
      </p:sp>
      <p:sp>
        <p:nvSpPr>
          <p:cNvPr id="10" name="TextBox 9"/>
          <p:cNvSpPr txBox="1"/>
          <p:nvPr/>
        </p:nvSpPr>
        <p:spPr>
          <a:xfrm>
            <a:off x="1188720" y="3154680"/>
            <a:ext cx="9601200" cy="457200"/>
          </a:xfrm>
          <a:prstGeom prst="rect">
            <a:avLst/>
          </a:prstGeom>
          <a:noFill/>
        </p:spPr>
        <p:txBody>
          <a:bodyPr wrap="square" anchor="t" lIns="0" rIns="0" tIns="0" bIns="0">
            <a:noAutofit/>
          </a:bodyPr>
          <a:lstStyle/>
          <a:p>
            <a:pPr algn="l">
              <a:lnSpc>
                <a:spcPct val="115000"/>
              </a:lnSpc>
              <a:spcBef>
                <a:spcPts val="0"/>
              </a:spcBef>
            </a:pPr>
            <a:r>
              <a:rPr sz="1700" b="0" i="0">
                <a:solidFill>
                  <a:srgbClr val="FFFFFF"/>
                </a:solidFill>
                <a:latin typeface="Calibri"/>
              </a:rPr>
              <a:t>Draw the jobs and the arrows between them.</a:t>
            </a:r>
          </a:p>
        </p:txBody>
      </p:sp>
      <p:sp>
        <p:nvSpPr>
          <p:cNvPr id="11" name="Rounded Rectangle 10"/>
          <p:cNvSpPr/>
          <p:nvPr/>
        </p:nvSpPr>
        <p:spPr>
          <a:xfrm>
            <a:off x="548640" y="3785616"/>
            <a:ext cx="457200" cy="457200"/>
          </a:xfrm>
          <a:prstGeom prst="roundRect">
            <a:avLst>
              <a:gd name="adj" fmla="val 50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822192"/>
            <a:ext cx="457200" cy="384048"/>
          </a:xfrm>
          <a:prstGeom prst="rect">
            <a:avLst/>
          </a:prstGeom>
          <a:noFill/>
        </p:spPr>
        <p:txBody>
          <a:bodyPr wrap="square" anchor="t" lIns="0" rIns="0" tIns="0" bIns="0">
            <a:noAutofit/>
          </a:bodyPr>
          <a:lstStyle/>
          <a:p>
            <a:pPr algn="ctr">
              <a:lnSpc>
                <a:spcPct val="105000"/>
              </a:lnSpc>
              <a:spcBef>
                <a:spcPts val="0"/>
              </a:spcBef>
            </a:pPr>
            <a:r>
              <a:rPr sz="1800" b="1" i="0">
                <a:solidFill>
                  <a:srgbClr val="0A1628"/>
                </a:solidFill>
                <a:latin typeface="Calibri"/>
              </a:rPr>
              <a:t>3</a:t>
            </a:r>
          </a:p>
        </p:txBody>
      </p:sp>
      <p:sp>
        <p:nvSpPr>
          <p:cNvPr id="13" name="TextBox 12"/>
          <p:cNvSpPr txBox="1"/>
          <p:nvPr/>
        </p:nvSpPr>
        <p:spPr>
          <a:xfrm>
            <a:off x="1188720" y="3813048"/>
            <a:ext cx="9601200" cy="457200"/>
          </a:xfrm>
          <a:prstGeom prst="rect">
            <a:avLst/>
          </a:prstGeom>
          <a:noFill/>
        </p:spPr>
        <p:txBody>
          <a:bodyPr wrap="square" anchor="t" lIns="0" rIns="0" tIns="0" bIns="0">
            <a:noAutofit/>
          </a:bodyPr>
          <a:lstStyle/>
          <a:p>
            <a:pPr algn="l">
              <a:lnSpc>
                <a:spcPct val="115000"/>
              </a:lnSpc>
              <a:spcBef>
                <a:spcPts val="0"/>
              </a:spcBef>
            </a:pPr>
            <a:r>
              <a:rPr sz="1700" b="0" i="0">
                <a:solidFill>
                  <a:srgbClr val="FFFFFF"/>
                </a:solidFill>
                <a:latin typeface="Calibri"/>
              </a:rPr>
              <a:t>Delete the fake sequential waiting — run independent jobs in parallel.</a:t>
            </a:r>
          </a:p>
        </p:txBody>
      </p:sp>
      <p:sp>
        <p:nvSpPr>
          <p:cNvPr id="14" name="Rounded Rectangle 13"/>
          <p:cNvSpPr/>
          <p:nvPr/>
        </p:nvSpPr>
        <p:spPr>
          <a:xfrm>
            <a:off x="548640" y="4443984"/>
            <a:ext cx="457200" cy="457200"/>
          </a:xfrm>
          <a:prstGeom prst="roundRect">
            <a:avLst>
              <a:gd name="adj" fmla="val 50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480560"/>
            <a:ext cx="457200" cy="384048"/>
          </a:xfrm>
          <a:prstGeom prst="rect">
            <a:avLst/>
          </a:prstGeom>
          <a:noFill/>
        </p:spPr>
        <p:txBody>
          <a:bodyPr wrap="square" anchor="t" lIns="0" rIns="0" tIns="0" bIns="0">
            <a:noAutofit/>
          </a:bodyPr>
          <a:lstStyle/>
          <a:p>
            <a:pPr algn="ctr">
              <a:lnSpc>
                <a:spcPct val="105000"/>
              </a:lnSpc>
              <a:spcBef>
                <a:spcPts val="0"/>
              </a:spcBef>
            </a:pPr>
            <a:r>
              <a:rPr sz="1800" b="1" i="0">
                <a:solidFill>
                  <a:srgbClr val="0A1628"/>
                </a:solidFill>
                <a:latin typeface="Calibri"/>
              </a:rPr>
              <a:t>4</a:t>
            </a:r>
          </a:p>
        </p:txBody>
      </p:sp>
      <p:sp>
        <p:nvSpPr>
          <p:cNvPr id="16" name="TextBox 15"/>
          <p:cNvSpPr txBox="1"/>
          <p:nvPr/>
        </p:nvSpPr>
        <p:spPr>
          <a:xfrm>
            <a:off x="1188720" y="4471416"/>
            <a:ext cx="9601200" cy="457200"/>
          </a:xfrm>
          <a:prstGeom prst="rect">
            <a:avLst/>
          </a:prstGeom>
          <a:noFill/>
        </p:spPr>
        <p:txBody>
          <a:bodyPr wrap="square" anchor="t" lIns="0" rIns="0" tIns="0" bIns="0">
            <a:noAutofit/>
          </a:bodyPr>
          <a:lstStyle/>
          <a:p>
            <a:pPr algn="l">
              <a:lnSpc>
                <a:spcPct val="115000"/>
              </a:lnSpc>
              <a:spcBef>
                <a:spcPts val="0"/>
              </a:spcBef>
            </a:pPr>
            <a:r>
              <a:rPr sz="1700" b="0" i="0">
                <a:solidFill>
                  <a:srgbClr val="FFFFFF"/>
                </a:solidFill>
                <a:latin typeface="Calibri"/>
              </a:rPr>
              <a:t>Add one skeptic step before anything ships.</a:t>
            </a:r>
          </a:p>
        </p:txBody>
      </p:sp>
      <p:sp>
        <p:nvSpPr>
          <p:cNvPr id="17" name="Rounded Rectangle 16"/>
          <p:cNvSpPr/>
          <p:nvPr/>
        </p:nvSpPr>
        <p:spPr>
          <a:xfrm>
            <a:off x="548640" y="5102352"/>
            <a:ext cx="457200" cy="457200"/>
          </a:xfrm>
          <a:prstGeom prst="roundRect">
            <a:avLst>
              <a:gd name="adj" fmla="val 50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38928"/>
            <a:ext cx="457200" cy="384048"/>
          </a:xfrm>
          <a:prstGeom prst="rect">
            <a:avLst/>
          </a:prstGeom>
          <a:noFill/>
        </p:spPr>
        <p:txBody>
          <a:bodyPr wrap="square" anchor="t" lIns="0" rIns="0" tIns="0" bIns="0">
            <a:noAutofit/>
          </a:bodyPr>
          <a:lstStyle/>
          <a:p>
            <a:pPr algn="ctr">
              <a:lnSpc>
                <a:spcPct val="105000"/>
              </a:lnSpc>
              <a:spcBef>
                <a:spcPts val="0"/>
              </a:spcBef>
            </a:pPr>
            <a:r>
              <a:rPr sz="1800" b="1" i="0">
                <a:solidFill>
                  <a:srgbClr val="0A1628"/>
                </a:solidFill>
                <a:latin typeface="Calibri"/>
              </a:rPr>
              <a:t>5</a:t>
            </a:r>
          </a:p>
        </p:txBody>
      </p:sp>
      <p:sp>
        <p:nvSpPr>
          <p:cNvPr id="19" name="TextBox 18"/>
          <p:cNvSpPr txBox="1"/>
          <p:nvPr/>
        </p:nvSpPr>
        <p:spPr>
          <a:xfrm>
            <a:off x="1188720" y="5129784"/>
            <a:ext cx="9601200" cy="457200"/>
          </a:xfrm>
          <a:prstGeom prst="rect">
            <a:avLst/>
          </a:prstGeom>
          <a:noFill/>
        </p:spPr>
        <p:txBody>
          <a:bodyPr wrap="square" anchor="t" lIns="0" rIns="0" tIns="0" bIns="0">
            <a:noAutofit/>
          </a:bodyPr>
          <a:lstStyle/>
          <a:p>
            <a:pPr algn="l">
              <a:lnSpc>
                <a:spcPct val="115000"/>
              </a:lnSpc>
              <a:spcBef>
                <a:spcPts val="0"/>
              </a:spcBef>
            </a:pPr>
            <a:r>
              <a:rPr sz="1700" b="0" i="0">
                <a:solidFill>
                  <a:srgbClr val="FFFFFF"/>
                </a:solidFill>
                <a:latin typeface="Calibri"/>
              </a:rPr>
              <a:t>Run it once, by hand, before automating anything.</a:t>
            </a:r>
          </a:p>
        </p:txBody>
      </p:sp>
      <p:sp>
        <p:nvSpPr>
          <p:cNvPr id="20" name="TextBox 1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Designing AI Workflows That Can Be Trusted</a:t>
            </a:r>
          </a:p>
        </p:txBody>
      </p:sp>
      <p:sp>
        <p:nvSpPr>
          <p:cNvPr id="21" name="TextBox 2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