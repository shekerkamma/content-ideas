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12022" y="2730431"/>
            <a:ext cx="146046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JetBrains Mono"/>
              </a:rPr>
              <a:t>DGRID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B7C7DE"/>
                </a:solidFill>
                <a:latin typeface="JetBrains Mono"/>
              </a:rPr>
              <a:t>ALPHA / 28nm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507987"/>
            <a:ext cx="3174920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DEEPGRID · SEMI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7" y="507987"/>
            <a:ext cx="253993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JetBrains Mono"/>
              </a:rPr>
              <a:t>PRE-SERIES A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96965"/>
            <a:ext cx="634984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INVESTOR + GTM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1727156"/>
            <a:ext cx="7111822" cy="1904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8F1FF"/>
                </a:solidFill>
                <a:latin typeface="Space Grotesk"/>
              </a:rPr>
              <a:t>Vertically integrated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E8F1FF"/>
                </a:solidFill>
                <a:latin typeface="Space Grotesk"/>
              </a:rPr>
              <a:t>edge-AI silicon for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22D3EE"/>
                </a:solidFill>
                <a:latin typeface="Space Grotesk"/>
              </a:rPr>
              <a:t>commercial vehicles.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924201"/>
            <a:ext cx="673083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Fabless custom-ASIC combo-die for autonomous and ADAS commercial fleets in India and the GCC. FPGA-validated architecture, a 28 nm ASIC path to a ~$30 board, and an evidence-led go-to-market plan built to survive contact with buyers.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225" y="5098922"/>
            <a:ext cx="223196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BLENDED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25" y="5253799"/>
            <a:ext cx="223196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₹55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25" y="5637964"/>
            <a:ext cx="2231969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₹45 Cr CCPS equity + ₹10 Cr CGTMSE debt (~$4.79M)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333" y="5098922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PRIMARY ICP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4333" y="5253799"/>
            <a:ext cx="222561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79.2</a:t>
            </a:r>
            <a:r>
              <a:rPr sz="2500" b="1">
                <a:solidFill>
                  <a:srgbClr val="7A8CA6"/>
                </a:solidFill>
                <a:latin typeface="Space Grotesk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333" y="5637964"/>
            <a:ext cx="2225619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Tactical Defense &amp; Off-Highway/Port, 3.96/5 weighted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092" y="5098922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092" y="5253799"/>
            <a:ext cx="222561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3–7</a:t>
            </a:r>
            <a:r>
              <a:rPr sz="2500" b="1">
                <a:solidFill>
                  <a:srgbClr val="7A8CA6"/>
                </a:solidFill>
                <a:latin typeface="Space Grotesk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092" y="5637964"/>
            <a:ext cx="2225619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vs imported ADAS stacks at equivalent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1850" y="5098922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GTM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1850" y="5279198"/>
            <a:ext cx="2225619" cy="4964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CD34D"/>
                </a:solidFill>
                <a:latin typeface="Space Grotesk"/>
              </a:rPr>
              <a:t>Proceed with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FCD34D"/>
                </a:solidFill>
                <a:latin typeface="Space Grotesk"/>
              </a:rPr>
              <a:t>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1850" y="5826475"/>
            <a:ext cx="2225619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5 conditions, day-90 re-scoring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01 · 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02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architecture works. The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board economics</a:t>
            </a:r>
            <a:r>
              <a:rPr sz="2600" b="1">
                <a:solidFill>
                  <a:srgbClr val="E8F1FF"/>
                </a:solidFill>
                <a:latin typeface="Space Grotesk"/>
              </a:rPr>
              <a:t> don't.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FPGA silicon proved the compute. It also proved the board cost has to come down by two orders of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 · 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Compute 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39.3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TOPS INT8 measured on FPGA.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64 × 512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MAC lattice, dual-issue at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600 MHz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0208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02 ·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0208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FPGA board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0208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F4444"/>
                </a:solidFill>
                <a:latin typeface="Space Grotesk"/>
              </a:rPr>
              <a:t>₹35,000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0208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Per unit. Uneconomic at any fleet volume — this is why the tapeout is the 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890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03 · 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890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28 nm ASIC 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890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$3.876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890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chips on TSMC 28 nm HPC+. Under four dollars, supplier-quoted.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573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04 ·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573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Board BOM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573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~$30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573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Once six functions collapse onto one combo-die. The squeeze zone stops being 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4711681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A validated architecture on an uneconomic board is a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research result, not a product.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The raise converts one into the other.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02 · EXEC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03 ·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Squeeze Zone.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pure-play autonomy stack in India inherits merchant-silicon economics — and prices itself out of its own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180278"/>
            <a:ext cx="267110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LAYER 1 · SOFTWARE PLAYERS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368193"/>
            <a:ext cx="2671100" cy="3960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Pure-Play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AI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64265"/>
            <a:ext cx="2671100" cy="5714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Minus Zero, Swaayatt Robots, RoshAI — algorithm-first and hardware-agnostic. Excellent perception IP, but silicon is treated as a black-box commodity.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0198" y="3104080"/>
            <a:ext cx="267119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LAYER 2 · WHERE VALUE 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0198" y="3291995"/>
            <a:ext cx="2671199" cy="3960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The Squeeze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0198" y="3688067"/>
            <a:ext cx="2671199" cy="7238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Merchant silicon (NVIDIA DRIVE, Ambarella, Mobileye, Qualcomm) drives per-vehicle BOM past </a:t>
            </a:r>
            <a:r>
              <a:rPr sz="800" b="1">
                <a:solidFill>
                  <a:srgbClr val="EF4444"/>
                </a:solidFill>
                <a:latin typeface="IBM Plex Sans"/>
              </a:rPr>
              <a:t>$6,000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Add radar, cameras, enclosure and integration and the stack cannot land under fleet payback thresholds.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8969" y="3180278"/>
            <a:ext cx="267110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LAYER 3 · MARKET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8969" y="3368193"/>
            <a:ext cx="2671100" cy="3960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Sales limited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to rich fleets.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8969" y="3764265"/>
            <a:ext cx="2671100" cy="5714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Only US, EU and GCC logistics majors can amortise that cost. Indian and cost-sensitive GCC fleets are shut out of the safety-mandate wave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773890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The constraint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structural, not algorithmic.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No amount of model quality moves a $6,000 bill of materials —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only owning the die does.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03 · CORE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04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DGrid Alpha — a single combo-die closes the BOM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Four proven engineering choices, one BOM slot, ~$30 board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056853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 · COMPUTE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244768"/>
            <a:ext cx="2152596" cy="3657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3D Systolic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Tensor Cube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915272"/>
            <a:ext cx="2152596" cy="876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64 × 512 MAC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lattice, dual-issue at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600 MHz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→ measured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39.3 TOPS INT8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Sized for one 8MP camera cluster plus 4-corner radar without off-chip DRAM thrash.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0208" y="3056853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02 ·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0208" y="3244768"/>
            <a:ext cx="2152596" cy="3657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Batch-dispatch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0208" y="3610480"/>
            <a:ext cx="2152596" cy="11810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Micro-batches perception ops across camera and radar streams for a measured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~200×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utilisation gain over naive per-frame dispatch on the same silicon.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reason the MAC array reaches its TOPS ceiling.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890" y="3056853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03 ·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890" y="3244768"/>
            <a:ext cx="2152596" cy="3657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Six chiplets,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one combo-die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890" y="3762876"/>
            <a:ext cx="2152596" cy="10286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ADAS, radar DSP, thermal and LiDAR DSP, secure enclave, telematics and driver-health in one package on 28 nm HPC+.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Replaces the four-to-six chip stack most Tier-1 designs still ship.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573" y="3056853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04 · COST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573" y="3244768"/>
            <a:ext cx="2152596" cy="3657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~$30 board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BOM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573" y="4220064"/>
            <a:ext cx="2152596" cy="57148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Die at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$3.876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, board around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$30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— against a merchant tier that starts near $3,500 and runs past $6,000.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04 ·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05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Six chiplets on one 28 nm combo-die.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Roughly 57.1 mm² of die on TSMC 28 nm HPC+, with a predicted 96.7% yield.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2673580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A100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2861496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ADAS &amp;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059532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inference engine.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39.3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TOPS INT8 across perception, fusion and planning.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9702" y="2673580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702" y="2861496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Radar DSP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702" y="3059532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77 GHz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radar signal processing on-die. Removes the discrete radar DSP from the kit.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979" y="2673580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T100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7979" y="2861496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Thermal &amp; LiDAR DSP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979" y="3059532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Thermal camera and LiDAR front-end processing for low-visibility and night operation.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25" y="4037407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D100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25" y="4225323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Secure enclave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25" y="4423358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Lockstep RISC-V safety island. The basis of the sovereign data-security argument.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702" y="4037407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9702" y="4225323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SDV telematics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9702" y="4423358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AIS-140-class telematics on-die, so the retrofit kit needs no secondary tracker.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7979" y="4037407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H100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7979" y="4225323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Driver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7979" y="4423358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Bio-ADC front end for drowsiness and fatigue detection, feeding the mandate functions.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0" y="5204389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Two of these six —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D100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and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S100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are what no merchant ADAS SoC bundles. They are the sovereignty and the no-second-tracker arguments.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05 ·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06 · WHAT THE MONEY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die cost is quoted. The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yield is not proven.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This is the single technical risk the raise exists to retire.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0409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1990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TSMC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28 nm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HPC+, roughly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57.1 mm²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of die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6568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DIE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18149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$3.876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at 1M chips — supplier-quoted, under $4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52726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PREDICTED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4308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96.7%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— a model output, not a 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3108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67390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Multi-project-wafer silicon confirms the FPGA-validated compute and the 28 nm yield model, so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$3.876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die cost survives contact with real wafers.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276122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430403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The full-die shuttle misses timing, power or yield.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$370K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is committed before that gate clears — 11.7% of the total tapeout budget.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06 · TAPEOUT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07 · CORRECTIONS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Four figures from earlier materials are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retracted.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Stated here rather than quietly swapped, because an investor who finds the discrepancy later discounts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77210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“₹25 Cr ask”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73449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SUPERSEDED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77130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Reconciled against Use of Funds: ₹45 Cr equity CCPS + ₹10 Cr CGTMSE debt =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₹55 Cr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blended.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3791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“Under $3 die”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3415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SUPERSEDED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37831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quoted die cost is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$3.876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at 1M chips — under four dollars, not three.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98611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“774× advantage”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94850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EF4444"/>
                </a:solidFill>
                <a:latin typeface="JetBrains Mono"/>
              </a:rPr>
              <a:t>RETRACTED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985319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Unsourced: it divided an unsourced $3,000 by our own cost. The sourced comparison is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12.9×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59311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“$8M NRE”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555515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EF4444"/>
                </a:solidFill>
                <a:latin typeface="JetBrains Mono"/>
              </a:rPr>
              <a:t>RETRACTED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592324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line-item build-up totals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$3.17M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The 3,636-unit break-even that figure implied is void.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5099021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Every correction appears on a slide, labelled, beside the figure it replaces.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No number in this deck is a silent swap.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07 · CORRECTIONS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08 · HOW THE SEGMENT WAS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beachhead was scored, not picked.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Ten weighted dimensions, five candidate segments, and an adversarial pass that found two real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63478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Source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59718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63399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34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claims classified fact, claim, inference or unknown before any scoring began.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24179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Segment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20418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24099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Ten weighted dimensions applied independently to five candidate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84879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Approval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81119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C55E"/>
                </a:solidFill>
                <a:latin typeface="JetBrains Mono"/>
              </a:rPr>
              <a:t>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84800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Scorecard signed off before any go-to-market design work started.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45580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Validation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41819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45500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27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-question buyer discovery guide and a paid-pilot charter.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126" y="50628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Challenge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0471" y="50252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2 GAPS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5062014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An adversarial pass found two real gaps. Both are still open and both are named in this deck.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08 ·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09 · SCORING DIMENSIONS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Five dimensions decide whether a segment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can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These are the qualifying gates — fail one badly and the segment cannot transact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42325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61117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Regulatory compulsion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71111"/>
            <a:ext cx="1612859" cy="65403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Is the purchase mandated or discretionary? Mandates convert cost-sensitive buyers into deadline-driven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42325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61117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Certification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90922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How much homologation and integration sits between a working part and a shipped vehicle.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42325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61117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Price elasticity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90922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The BOM ceiling the segment actually clears — not the price we would like to charge.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42325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61117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Sales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90922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Months from first contact to signed order. Long cycles burn a pre-revenue balance sheet.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42325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61117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ODD entropy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90922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How unconstrained the operating domain is. Constrained domains ship years earlier.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09 · DIMENSIONS 1/2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10 · SCORING DIMENSIONS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Five more decide whether it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compounds.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These separate a segment that can buy once from a segment that builds a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26126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1404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Budget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812087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Whether the person with the problem also controls the money to fix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326126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1404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Competitive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812087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How contested the segment already is, and by whom.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326126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51404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Unit-economics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812087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Gross margin the segment supports at the price it will actually clear.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326126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51404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Repeatability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673978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Whether a win is a template or a one-off. Lumpy revenue does not compound.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326126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51404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Evidence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812087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What we have actually observed in this segment, as opposed to modelled.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4551844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Weights — problem 15% · urgency 15% · budget 12% · fit 12% · certification friction 10% · sales cycle 10% · competitive pressure 8% · margin 8% · repeatability 5% · evidence 5%.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10 · DIMENSIONS 2/2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11 · WEIGHTED SCORECARD · 5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Defense scores highest on evidence, not enthusiasm.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founder's preferred segment came second — which is the point of scoring before choosing.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63478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Tactical Defense &amp;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59718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3.96 · 79.2%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63399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Wins evidence strength, budget authority and technical fit. Ships on FPGA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24179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3PL &amp; Fleet Retrofit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20418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3.40 · 68.0%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24099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scale story, and the working hypothesis. Zero signed customers.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84879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AD0 Owner-Operator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81119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2.62 · 52.4%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84800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Below threshold. Fragmented buying, no consolidated budget authority.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45580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OEM &amp; Tier-1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41819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2.32 · 46.4%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45500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Worst certification friction and sales cycle of any segment scored.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126" y="50628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Commercial Insurers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0471" y="50252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EF4444"/>
                </a:solidFill>
                <a:latin typeface="JetBrains Mono"/>
              </a:rPr>
              <a:t>2.15 · 43.0%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5062014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Lowest score. Carries an unverified premium-reduction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11 · SCORECARD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12 · PRIMARY ICP · 79.2%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Defense is the only segment with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revenue on the 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Cost-insensitive, sovereignty-driven, and reachable with the silicon that already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3584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5165"/>
            <a:ext cx="4617128" cy="1472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Sovereign UGVs, border surveillance, seaport AGVs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3393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WHY IT BUYS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14974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Cost-insensitive; buys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data sovereignty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via the D100 lockstep enclave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49552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1133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3.96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/ 5 — evidence 5/5, budget 5/5, fit 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628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70565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Sovereign buyers pay for sovereignty rather than price, and an on-die enclave is a differentiator they cannot satisfy with imported compute.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272947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427228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₹1 Cr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already booked turns out to be grant or subsidy, not a commercial sale. Defense and Fleet then become evidence-equal.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12 · ICP A ·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13 · SECONDARY EXPERIMENT · 68.0%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Fleet carries the scale story and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none of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This is the segment the FY32 model depends on, and it has not yet sold a single unit.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0409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1990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Medium and heavy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N2/N3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trucks, aftermarket retrofit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6568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PRICE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18149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₹2–2.5 Lakh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— a roadmap figure carried as an assumption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52726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4308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3.40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/ 5 — strongest on scale, weakest on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3108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67390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Mandate deadlines turn a cost-sensitive retrofit buyer into a non-discretionary one, and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₹2–2.5 Lakh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clears their ceiling.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428518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582799"/>
            <a:ext cx="51870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Fewer than one of the first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20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buyer interviews converts to a paid pilot inside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90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days. Fleet then stays secondary.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13 · ICP B · FLEET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14 · DEFERRED · 46.4%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OEM line-fit is the real scale, at the </a:t>
            </a:r>
            <a:r>
              <a:rPr sz="2600" b="1">
                <a:solidFill>
                  <a:srgbClr val="FCD34D"/>
                </a:solidFill>
                <a:latin typeface="Space Grotesk"/>
              </a:rPr>
              <a:t>worst timing.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Right destination, wrong sequence — and the friction scores say so unambiguously.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3584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5165"/>
            <a:ext cx="4617128" cy="1472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OEM factory line-fit and Tier-1 module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3393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14974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Certification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and sales cycle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— worst of any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49552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1133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2.32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/ 5 — real long-term scale, wrong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628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70565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A signed Tier-1 partnership shortcuts both the homologation burden and the sales cycle, because the partner already carries both.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42534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579624"/>
            <a:ext cx="51870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No Tier-1 signs. Any OEM go-to-market spend before that signature is dead capital, and the lane stays closed.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14 · ICP C · OEM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15 · DEFERRED AND ANTI-ICP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One segment is not a customer. It's a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partner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Naming an anti-ICP is what stops a plausible-sounding segment from absorbing a year of runway.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33791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OEM &amp; Tier-1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33415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DEFERRED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337831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Real long-term scale, worst near-term friction. No go-to-market spend until a Tier-1 partnership is signed.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98611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Commercial Insurers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94850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EF4444"/>
                </a:solidFill>
                <a:latin typeface="JetBrains Mono"/>
              </a:rPr>
              <a:t>ANTI-ICP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985319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Lowest score of the five. The premium-reduction benefit is unverified, and the financial model carries zero insurer revenue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" y="4492016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Insurers may be an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evidence partner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never a direct customer — until a pilot proves the premium mechanism against observed loss data.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Partners until they pay.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15 · ANTI-ICP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16 · SELECTION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Defense wins six months. It cannot win the decade.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Both segments are right about different things, which is why this resolves as a sequence rather than a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99196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Evidence · budget ·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95436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DEFENSE 5/5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99117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Booked revenue, cost-insensitive buyers, and silicon that ships on FPGA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59897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Repeatability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6136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DEFENSE 2/5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598177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Defense contracts are lumpy. They do not compound into the systems-revenue business the raise is built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4205976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Market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4168373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FLEET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420518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multi-million-truck market is where FY32 revenue comes from — and it has no signed customer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711879"/>
            <a:ext cx="10667733" cy="3345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Run Defense as resourced primary for six months to generate the missing Fleet evidence, with Fleet funded in parallel as an experiment.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This is a sequenced two-track plan, not a pivot.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The strongest counter-case — that a defense-first motion undercuts a narrative built on fleet scale — is exactly why the sequencing must stay explicit in every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16 ·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17 · BUYING COMMITTEE ·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In Defense, the blocker outranks the champion.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Five roles, and the one that can stop the deal is not the one that wants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46860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Economic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43099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46780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Defense procurement or port authority. Fears vendor lock-in.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07560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Technical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03800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INTEGRATOR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07481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Systems integration engineer. Fears undocumented failure modes.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68261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64500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UNIDENTIFIED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68181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Program manager — not yet named in any account. A gap, not a role.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28961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Blocker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25201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EF4444"/>
                </a:solidFill>
                <a:latin typeface="JetBrains Mono"/>
              </a:rP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28882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Security clearance and compliance office. A mandatory gate with no workaround.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126" y="489662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End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0471" y="485901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OPERATOR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489582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UGV and AGV operators. Judge reliability in the field.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5402524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Minimum proof to advance: a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second signed contract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, or an audited confirmation of the ₹1 Cr already booked.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17 · BUYERS · DEFENSE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18 · BUYING COMMITTEE ·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In Fleet, the mandate deadline is the champion.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safety officer facing an AIS deadline is the only role with a reason to move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46860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Economic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43099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FLEET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46780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Fleet owner or operator. Fears unproven return and payback.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07560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Technical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03800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TELEMATICS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07481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Maintenance and telematics manager. Fears integration downtime.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68261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64500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68181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Safety officer facing the AIS mandate deadline. The natural 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28961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Blocker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25201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PROCUREMENT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28882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Procurement, or the vehicle owner on attached fleets.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126" y="489662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End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0471" y="485901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489582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Cabin reliability and tolerance for false positives.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5402524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Minimum proof to advance: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one signed paid pilot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from the first twenty discovery interviews.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18 · BUYERS · FLEET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19 · POSITIONING · TWO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Two tracks, two sentences, two kill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Each statement ships with the condition that would disprove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3339718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3302115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SOVEREIGNTY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3262727"/>
            <a:ext cx="669273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“Sovereign edge-AI silicon with an on-die lockstep security enclave — no imported compute inside the trust boundary.” Kill criterion: a second signed contract, or the ₹1 Cr audited.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4025501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987898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PRICE · 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948509"/>
            <a:ext cx="6692732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“Mandate-ready ADAS retrofit at a domestic price point.” Carried as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pending validation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Kill criterion: one paid pilot from the first twenty interviews.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" y="4570794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Neither statement leaves the building without its kill criterion attached.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A positioning claim with no disproof condition is marketing, not strategy.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19 ·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20 · CLAIM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Five claims come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off the slides</a:t>
            </a:r>
            <a:r>
              <a:rPr sz="2600" b="1">
                <a:solidFill>
                  <a:srgbClr val="E8F1FF"/>
                </a:solidFill>
                <a:latin typeface="Space Grotesk"/>
              </a:rPr>
              <a:t>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Each one is either unreconciled, unmeasured, or a forecast being presented as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“84% ASIC margin”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836990"/>
            <a:ext cx="1612859" cy="5222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Unreconciled, and the surrounding text implies 92–93%. Use the modelled FY32 gross margin of </a:t>
            </a:r>
            <a:r>
              <a:rPr sz="720" b="1">
                <a:solidFill>
                  <a:srgbClr val="FCD34D"/>
                </a:solidFill>
                <a:latin typeface="IBM Plex Sans"/>
              </a:rPr>
              <a:t>88%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“Premium cut 10–15%”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84334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Unverified. The model carries zero insurer revenue rows. State the partner test, not a benefit.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“Mandate-ready”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84334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Unvalidated against the operative dates. State the target date, not readiness against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“Accident reduction %”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981449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Nothing has been measured. No vehicle trial has been run or published.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“5M+ trucks”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84334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A market forecast, not demand. Real pipeline is twenty interviews and one pilot gate.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20 · CLAIMS TO 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21 · PRICING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We don't have a price. We have a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plan to find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Manufacturing false precision here would be the fastest way to lose credibility in diligence.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3584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5165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₹2–2.5 Lakh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is a roadmap figure, not a quote or a tested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9743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21324"/>
            <a:ext cx="4617128" cy="1472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Contract-negotiated per sovereign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49552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KIT BUILD-UP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1133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~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$200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: ASIC $30 · radar $100 · cameras $50 · enclosure $20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628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70565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Willingness-to-pay questions inside the discovery guide return a defensible price band within the first twenty interviews.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272947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427228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Interviews return a ceiling below the kit's landed cost. The retrofit lane then needs a different configuration, not a different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21 ·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22 · 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Direct, until a partner earns the margin.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indirect channel stays closed until there is a reason — and a signature — to open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938289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Direct ·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900686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93749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Recommended primary motion. Sovereign buyers expect a direct technical relationship.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545294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Direct ·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07691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PILOT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54450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Recommended for the pilot phase, to keep discovery signal unfiltered by a reseller.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415230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System integrators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411469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NOT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415150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No partner identified. Revisit once the retrofit configuration is frozen.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75930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Defense primes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72170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AFTER 2 WINS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75851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Considered only after two signed Defense contracts of our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22 ·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23 · EXECUTION ·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Ninety days to turn evidence into a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Three phases, one hard gate, and a stop-doing list that protects the runway.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55494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WEEKS 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43409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41445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Audit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₹1 Cr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revenue back to its contract. Run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buyer interviews. Name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3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target accounts.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9702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WEEKS 5–9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702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702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Sell one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paid Fleet pilot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Advance one Defense technical evaluation. Open the second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979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WEEKS 10–13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7979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979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Re-score both segments against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same scorecard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Hard gate on Fleet at day 90.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522475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Stop-doing list — no OEM go-to-market spend until a Tier-1 signs · no insurer-facing sales motion · no AD0 resourcing pending the evidence check · no external claim that is not on the sourced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23 · 90-DAY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24 · ONE DISCIPLINE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One kill switch governs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both tracks.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Stated now, so that failing it later is a decision rather than a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073" y="3414329"/>
            <a:ext cx="10102597" cy="24764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If the ₹1 Cr is not a commercial sale </a:t>
            </a:r>
            <a:r>
              <a:rPr sz="1500" b="1">
                <a:solidFill>
                  <a:srgbClr val="EF4444"/>
                </a:solidFill>
                <a:latin typeface="Space Grotesk"/>
              </a:rPr>
              <a:t>and</a:t>
            </a:r>
            <a:r>
              <a:rPr sz="1500" b="1">
                <a:solidFill>
                  <a:srgbClr val="E8F1FF"/>
                </a:solidFill>
                <a:latin typeface="Space Grotesk"/>
              </a:rPr>
              <a:t> no Fleet pilot converts by day 90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073" y="3776270"/>
            <a:ext cx="10102597" cy="3657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900" b="0">
                <a:solidFill>
                  <a:srgbClr val="B7C7DE"/>
                </a:solidFill>
                <a:latin typeface="IBM Plex Sans"/>
              </a:rPr>
              <a:t>then neither track has evidence, and the ₹55 Cr case rests on a forecast alone. The honest response is to </a:t>
            </a:r>
            <a:r>
              <a:rPr sz="900" b="1">
                <a:solidFill>
                  <a:srgbClr val="E8F1FF"/>
                </a:solidFill>
                <a:latin typeface="IBM Plex Sans"/>
              </a:rPr>
              <a:t>raise a smaller bridge against the tapeout only</a:t>
            </a:r>
            <a:r>
              <a:rPr sz="900" b="0">
                <a:solidFill>
                  <a:srgbClr val="B7C7DE"/>
                </a:solidFill>
                <a:latin typeface="IBM Plex Sans"/>
              </a:rPr>
              <a:t> — funding the three MPW shuttles that de-risk the die — rather than a growth round against a market we have not yet sold into.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073" y="4268978"/>
            <a:ext cx="10102597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Space Grotesk"/>
              </a:rPr>
              <a:t>What we should </a:t>
            </a:r>
            <a:r>
              <a:rPr sz="1000" b="1">
                <a:solidFill>
                  <a:srgbClr val="EF4444"/>
                </a:solidFill>
                <a:latin typeface="Space Grotesk"/>
              </a:rPr>
              <a:t>not</a:t>
            </a:r>
            <a:r>
              <a:rPr sz="1000" b="1">
                <a:solidFill>
                  <a:srgbClr val="E8F1FF"/>
                </a:solidFill>
                <a:latin typeface="Space Grotesk"/>
              </a:rPr>
              <a:t> do is fund a two-segment go-to-market motion after both segments have failed their own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24 · KILL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25 · STRATEGIC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Every credible player picks </a:t>
            </a:r>
            <a:r>
              <a:rPr sz="2600" b="1">
                <a:solidFill>
                  <a:srgbClr val="FCD34D"/>
                </a:solidFill>
                <a:latin typeface="Space Grotesk"/>
              </a:rPr>
              <a:t>one lane.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None of them runs all three motions, and none of them does it at a ~$30 board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Aurora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836990"/>
            <a:ext cx="1612859" cy="5222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Heavy-OEM, long-haul Class-8. Dual NVIDIA DRIVE Thor. Board BOM past </a:t>
            </a:r>
            <a:r>
              <a:rPr sz="720" b="1">
                <a:solidFill>
                  <a:srgbClr val="EF4444"/>
                </a:solidFill>
                <a:latin typeface="IBM Plex Sans"/>
              </a:rPr>
              <a:t>$6,000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. Continental industrialises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USA · DOD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Kodiak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836990"/>
            <a:ext cx="1612859" cy="5222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Dual-use: highway freight plus DoD contracts. Ambarella </a:t>
            </a:r>
            <a:r>
              <a:rPr sz="720" b="1">
                <a:solidFill>
                  <a:srgbClr val="E8F1FF"/>
                </a:solidFill>
                <a:latin typeface="IBM Plex Sans"/>
              </a:rPr>
              <a:t>CV3-AD685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 as the compute.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Gatik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84334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Constrained middle-mile only. NVIDIA DRIVE AGX Orin. Isuzu box trucks for Walmart and Kroger.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CHINA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DeepWay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84334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China domestic fleets. High-compute NPU with Baidu Apollo, in “Xingtu” L4 electric trucks.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489138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67705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DeepGrid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836990"/>
            <a:ext cx="1612859" cy="5222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Own 28 nm combo-die at </a:t>
            </a:r>
            <a:r>
              <a:rPr sz="720" b="1">
                <a:solidFill>
                  <a:srgbClr val="22D3EE"/>
                </a:solidFill>
                <a:latin typeface="IBM Plex Sans"/>
              </a:rPr>
              <a:t>~$30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 board BOM. The only lane choice not set by a chip vendor.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25 · PLAYBOOKS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26 · SILICON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Four of five rent their compute.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Whoever owns the die owns the cost structure — and everyone else inherits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63478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Aurora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59718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63399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Two DRIVE Thor parts. BOM past $6,000. The roadmap moves when NVIDIA's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24179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Kodiak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20418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AMBARELLA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24099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CV3-AD685. Single-vendor dependency on a merchant ADAS SoC.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84879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Gatik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81119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NVIDIA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84800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DRIVE AGX Orin. Margin structure set by someone else's die price.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45580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DeepWay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41819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BAIDU · NPU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45500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Domestic Chinese stack. Vertically closer, but not export-positioned.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126" y="50628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DeepGrid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0471" y="50252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5062014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Own 28 nm combo-die. No chip vendor anywhere in the cost 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26 · 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27 · COST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Twelve-point-nine times, on a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sourced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number that replaced the retracted 774× claim — and where each half of it comes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DIE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vs Mobileye 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12.9×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Mobileye's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$50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ASP divided by our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$3.876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die cost at 1M chips.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0208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KIT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0208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vs imported 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0208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3–7×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0208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Against company-stated import bands of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₹5–18 Lakh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for equivalent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890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OUR DIE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890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At 1M chips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890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8F1FF"/>
                </a:solidFill>
                <a:latin typeface="Space Grotesk"/>
              </a:rPr>
              <a:t>$3.876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890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TSMC 28 nm HPC+, roughly 57.1 mm². Supplier-quoted.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573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OUR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573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After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573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8F1FF"/>
                </a:solidFill>
                <a:latin typeface="Space Grotesk"/>
              </a:rPr>
              <a:t>~$30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573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Six functions on one die removes four vendors' parts from the BOM.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4711681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The retracted 774× figure divided an unsourced $3,000 by our own cost.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That is not a comparison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and it is not used anywhere in this deck.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27 · COST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28 · DOMESTIC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India's silicon wave is real, and a year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A genuine lead, but a perishable one — the window is roughly twelve months wide.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55494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VISION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43409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Netrasemi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41445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A2000 SoC on TSMC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12 nm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₹125 Cr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raised. Launch expected mid-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2027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9702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RISC-V MCU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702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Mindgrove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702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RISC-V microcontroller on TSMC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28 nm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Bosch MoU signed.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$10.3M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raised.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979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GAN 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7979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Agnit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979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GaN devices for RF and power. Defense radar pilots running.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$7.47M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raised.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522475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None is shipping an ADAS combo-die today. The nearest domestic ASIC competitor reaches launch roughly twelve months behind DeepGrid's current position — a lead that is real but not durable.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28 · INDIA 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29 · SOFTWARE-FIRST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Better algorithms don't change the </a:t>
            </a:r>
            <a:r>
              <a:rPr sz="2600" b="1">
                <a:solidFill>
                  <a:srgbClr val="FCD34D"/>
                </a:solidFill>
                <a:latin typeface="Space Grotesk"/>
              </a:rPr>
              <a:t>die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Three credible Indian autonomy teams, all inheriting the same cost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55494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PERCEPTION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43409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Minus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41445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Hardware-agnostic autonomy stack. Inherits whatever the merchant SoC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9702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RESEARCH-LED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702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Swaayatt Robots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702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Constrained-route autonomy research. No silicon position of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979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7979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RoshAI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979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Fleet autonomy middleware. Runs on standard parts at standard prices.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522475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Hardware-agnostic autonomy inherits the squeeze zone by construction. Algorithm quality is a product advantage; it is not a cost-structure advantage — and this market is decided on cost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29 · SOFTWARE-FIRST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30 · COMPETITIVE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One position nobody else occupies.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claim is structural, and it is the only one worth defending in diligence.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99196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Vertical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95436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ONLY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99117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only Indian company with a single-die ADAS combo-die of its own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59897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Cost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6136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12.9×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598177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 ~$30 board BOM against a merchant tier that starts near $3,500 and runs past $6,000.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4205976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4168373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~12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420518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First mover on retrofittable, mandate-targeted ADAS for India and the GCC.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711879"/>
            <a:ext cx="10667733" cy="3345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The defensible claim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structural, not performance-based.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We are not asserting better perception than Mobileye. We are asserting a different cost structure than anyone else selling into this market — and cost structure is what this market decides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30 · COMPETITIVE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31 · ROADMAP · THREE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Three phases, each gated on the last one's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original pitch already sequenced Defense first. The scorecard confirms that sequence rather than inventing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55494"/>
            <a:ext cx="30520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MONTHS 0–6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43409"/>
            <a:ext cx="30520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Phase 1 ·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741445"/>
            <a:ext cx="30520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Tactical and off-highway deployments.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Audit and confirm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the ₹1 Cr already booked. Open the second contract.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9702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MONTHS 6–18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9702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Phase 2 ·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9702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Close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₹55 Cr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blended raise. TSMC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28 nm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MPW tape-out. Launch the retrofit kit.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979" y="3355494"/>
            <a:ext cx="3052190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MONTHS 18–36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7979" y="3543409"/>
            <a:ext cx="3052190" cy="19803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Phase 3 ·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7979" y="3741445"/>
            <a:ext cx="3052190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Tier-1 alliances and OEM line-fit. Shift toward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recurring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per-vehicle software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522475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Each phase has a named gate. Phase 2 does not start until the ₹1 Cr is audited; Phase 3 does not start until a Tier-1 signs.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31 ·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32 · PHASE 2 GATE · THE TAPEOUT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Only $370K is at risk before the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yield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Three shuttles de-risk the die before the expensive 88% of the budget is committed.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0409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AT RISK PRE-VALIDATION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1990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$370K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— 11.7% of the $3.17M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6568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MPW PHASING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18149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$69K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A100 ·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$69K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R100 ·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$232K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full-die shuttle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52726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COMMITTED AFTER THE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4308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$1.0M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backend to GDSII ·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$1.0M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mask ·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$800K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IP and 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3108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67390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Three shuttles de-risk the die before the mask set is ordered, so the expensive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88%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of the budget only spends after silicon proves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428518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582799"/>
            <a:ext cx="51870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The full-die shuttle misses timing, power or yield. The programme then stops at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$370K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rather than at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$3.17M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32 · TAPEOUT PHASING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33 · REGULATORY ·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mandate dates in earlier materials were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This matters because the entire Fleet timing argument is built on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99196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AIS-184 · AEBS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95436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1 OCT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99117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Autonomous emergency braking. Served by A100 compute with the R100 radar DSP.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59897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AIS-186 · ESC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6136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1 OCT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598177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Electronic stability control. A100 with the D100 lockstep safety enclave.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4205976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AIS-187 to 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4168373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1 JAN 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4205182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Lane keeping, curve speed, fatigue detection and telematics. A100 with S100 and H100.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711879"/>
            <a:ext cx="10667733" cy="3345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Earlier materials carried Apr/Oct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2026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dates. The operative dates are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1 October 2027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for AEBS and ESC, and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1 January 2028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for all four functions. Both must be confirmed against the final MoRTH Gazette before either is presented as settled.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33 · INDIA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34 · REGULATORY · GCC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GCC needs one chiplet we already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S100 turns a compliance requirement into a bill-of-materials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3584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SAUDI ARABIA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5165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TGA safety requirements plus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WASL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fleet-tracking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9743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THE S100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21324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On-die telematics removes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secondary tracker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from the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55901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7483"/>
            <a:ext cx="4617128" cy="1472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Phase 3. The beachhead stays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628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WHAT HAS TO BE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70565"/>
            <a:ext cx="51870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Removing a discrete tracker is a real BOM and installation-time advantage in a mandate-driven GCC fleet tender.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272947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WHAT PROVES IT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427228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GCC homologation treats an integrated tracker as non-compliant and requires a separately certified standalone unit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34 · GCC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35 · REVENUE · MANAGEMENT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Six years to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₹1,388 Cr</a:t>
            </a:r>
            <a:r>
              <a:rPr sz="2600" b="1">
                <a:solidFill>
                  <a:srgbClr val="E8F1FF"/>
                </a:solidFill>
                <a:latin typeface="Space Grotesk"/>
              </a:rPr>
              <a:t> on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Management projection, unaudited. This is model output, not observed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392005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FY28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57992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₹41.17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884316"/>
            <a:ext cx="1612859" cy="2397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First full year of retrofit-kit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392005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FY29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57992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₹144.73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884316"/>
            <a:ext cx="1612859" cy="2397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Net income turns positive this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392005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FY30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57992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₹351.35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746207"/>
            <a:ext cx="1612859" cy="377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Volume ramp against the mandate deadlines.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392005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FY31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57992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₹731.54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884316"/>
            <a:ext cx="1612859" cy="2397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OEM line-fit begins contributing.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392005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FY32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579921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₹1,387.95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739858"/>
            <a:ext cx="1612859" cy="38416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EBITDA </a:t>
            </a:r>
            <a:r>
              <a:rPr sz="720" b="1">
                <a:solidFill>
                  <a:srgbClr val="22D3EE"/>
                </a:solidFill>
                <a:latin typeface="IBM Plex Sans"/>
              </a:rPr>
              <a:t>₹536.63 Cr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 at 39% of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4485964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FY27 opens the ramp at ₹6.0 Cr. FY32 revenue was previously misstated as ₹1,128 Cr on a cover slide; the reconciled figure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₹1,387.95 Cr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, confirmed seven times in the workbook.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35 ·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36 · GROSS MARGIN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Margin expands because the </a:t>
            </a:r>
            <a:r>
              <a:rPr sz="2600" b="1">
                <a:solidFill>
                  <a:srgbClr val="22D3EE"/>
                </a:solidFill>
                <a:latin typeface="Space Grotesk"/>
              </a:rPr>
              <a:t>die gets cheaper.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Not because the retrofit price goes up — it stays inside the same band throughout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701064"/>
            <a:ext cx="87627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5090F"/>
                </a:solidFill>
                <a:latin typeface="JetBrains Mono"/>
              </a:rPr>
              <a:t>53%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4722992"/>
            <a:ext cx="952476" cy="40887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750" b="1">
                <a:solidFill>
                  <a:srgbClr val="E8F1FF"/>
                </a:solidFill>
                <a:latin typeface="IBM Plex Sans"/>
              </a:rPr>
              <a:t>FY27 gross margin</a:t>
            </a:r>
          </a:p>
          <a:p>
            <a:pPr algn="ctr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first silicon, low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3671" y="3226909"/>
            <a:ext cx="501935" cy="1968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+35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3019" y="3172142"/>
            <a:ext cx="87627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5090F"/>
                </a:solidFill>
                <a:latin typeface="JetBrains Mono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8654" y="4856338"/>
            <a:ext cx="884909" cy="2755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750" b="1">
                <a:solidFill>
                  <a:srgbClr val="E8F1FF"/>
                </a:solidFill>
                <a:latin typeface="IBM Plex Sans"/>
              </a:rPr>
              <a:t>FY32 gross margin</a:t>
            </a:r>
          </a:p>
          <a:p>
            <a:pPr algn="ctr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at volume on 28 nm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390" y="3614349"/>
            <a:ext cx="7048323" cy="3452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The walk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53 → 74 → 79 → 82 → 85 → 88%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. It is driven by wafer volume and test automation — not by raising the retrofit price, which stays inside the ₹2–2.5 Lakh band throughout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390" y="4061219"/>
            <a:ext cx="7048323" cy="1726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22D3EE"/>
                </a:solidFill>
                <a:latin typeface="IBM Plex Sans"/>
              </a:rPr>
              <a:t>FY32 EBITDA is ₹536.63 Cr, or 39% of revenue.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Net income ₹381.37 Cr, positive from FY2029.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36 · MARGIN WALK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37 ·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Break-even lands in the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final year of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Said plainly, because the earlier figure made it look four years earlier than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TOTAL 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Tapeout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8F1FF"/>
                </a:solidFill>
                <a:latin typeface="Space Grotesk"/>
              </a:rPr>
              <a:t>$3.17M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3930650"/>
            <a:ext cx="2152596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From the line-item build-up, with MPW phasing inside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0208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VOLUME TO RECOVER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0208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Chips at $18.12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0208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8F1FF"/>
                </a:solidFill>
                <a:latin typeface="Space Grotesk"/>
              </a:rPr>
              <a:t>174,908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0208" y="4083047"/>
            <a:ext cx="2152596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Per the reviewed analysis recomputation.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890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CROSSING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890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Break-even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890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F4444"/>
                </a:solidFill>
                <a:latin typeface="Space Grotesk"/>
              </a:rPr>
              <a:t>FY2032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890" y="4083047"/>
            <a:ext cx="2152596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The final year of the six-year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573" y="3166189"/>
            <a:ext cx="2152596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PRE-GATE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573" y="3354105"/>
            <a:ext cx="2152596" cy="1828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Committed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573" y="3638558"/>
            <a:ext cx="2152596" cy="2920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2D3EE"/>
                </a:solidFill>
                <a:latin typeface="Space Grotesk"/>
              </a:rPr>
              <a:t>11.7%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573" y="4083047"/>
            <a:ext cx="2152596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Only $370K spends before the yield gate.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0" y="4711681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The earlier “$8M NRE and 3,636-unit break-even” pairing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void in both halves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and is not used anywhere in this deck.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37 · BREAK-EVEN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38 · RECURRING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Software is the second half of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Per-vehicle subscription revenue, priced off a sovereignty constraint rather than a feature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307560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Base · ₹10,000/yr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303800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307481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Per vehicle. Telemetry capture and a basic fleet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682610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Advanced · ₹15,000/yr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645007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681816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Adds mandate compliance reporting and an insurer data interface.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4289615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Premium · ₹25,000/yr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4252012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4288821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Adds fleet analytics, over-the-air updates and data-governance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0" y="4795519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Behavioural data stays on-device inside the D100 enclave rather than leaving the vehicle.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The sovereignty constraint is the pricing argument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not a compliance cost to be absorbed.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38 ·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39 · CAPITAL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₹55 Cr blended. Subsidies are upside, not the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Sized to stand alone, so that no incentive decision sits on the critical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26" y="277210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Equity · ₹45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0471" y="273449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CCPS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2771308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Compulsorily convertible preference shares. Terms negotiable.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26" y="337910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Debt · ₹10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341504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22D3EE"/>
                </a:solidFill>
                <a:latin typeface="JetBrains Mono"/>
              </a:rPr>
              <a:t>CGTMSE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836" y="3378313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Drawn across the build; a 25% draw gives roughly ₹47.5 Cr funded.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26" y="3986112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P-DLI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0471" y="3948509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UPSIDE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6" y="3985319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Up to 50% design-cost reimbursement, capped at ₹15 Cr.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126" y="4593117"/>
            <a:ext cx="2031949" cy="150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E8F1FF"/>
                </a:solidFill>
                <a:latin typeface="Space Grotesk"/>
              </a:rPr>
              <a:t>Deployment incentive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0471" y="4555515"/>
            <a:ext cx="1269968" cy="2260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50" b="1">
                <a:solidFill>
                  <a:srgbClr val="FCD34D"/>
                </a:solidFill>
                <a:latin typeface="JetBrains Mono"/>
              </a:rPr>
              <a:t>UPSIDE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2836" y="4592324"/>
            <a:ext cx="669273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Four to six percent of net sales, capped at ₹30 Cr.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5099021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Capital raised to date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₹2.48 Cr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₹2 Cr angel, ₹0.36 Cr ARAI, ₹0.12 Cr HDFC. The raise is sized to stand alone at ₹55 Cr blended, with no incentive award assumed.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39 ·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40 · CHALLENGE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An adversarial pass found </a:t>
            </a:r>
            <a:r>
              <a:rPr sz="2600" b="1">
                <a:solidFill>
                  <a:srgbClr val="EF4444"/>
                </a:solidFill>
                <a:latin typeface="Space Grotesk"/>
              </a:rPr>
              <a:t>five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Printed here rather than in an appendix, because two of them gate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25" y="3416909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GAP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25" y="360482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Primes unassessed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25" y="391557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Indian defense primes were never benchmarked. A cleared incumbent is a different problem than Netrasemi.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0471" y="3416909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GAP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0471" y="360482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₹1 Cr unconfirmed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0471" y="391557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Commercial sale, or grant? If a grant, Defense and Fleet are evidence-equal and the sequencing argument fails.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9417" y="3416909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417" y="360482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Circular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9417" y="3915570"/>
            <a:ext cx="1612859" cy="5159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The scorecard rates Defense highest partly on evidence that is itself the unconfirmed ₹1 Cr.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8363" y="3416909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BALANCE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63" y="360482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Working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8363" y="3909220"/>
            <a:ext cx="1612859" cy="5222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1">
                <a:solidFill>
                  <a:srgbClr val="E8F1FF"/>
                </a:solidFill>
                <a:latin typeface="IBM Plex Sans"/>
              </a:rPr>
              <a:t>₹2.48 Cr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 raised against a </a:t>
            </a:r>
            <a:r>
              <a:rPr sz="720" b="1">
                <a:solidFill>
                  <a:srgbClr val="E8F1FF"/>
                </a:solidFill>
                <a:latin typeface="IBM Plex Sans"/>
              </a:rPr>
              <a:t>₹55 Cr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 ask, with government payment cycles of 90–180+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309" y="3416909"/>
            <a:ext cx="1612859" cy="9901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7309" y="3604824"/>
            <a:ext cx="1612859" cy="1599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8F1FF"/>
                </a:solidFill>
                <a:latin typeface="Space Grotesk"/>
              </a:rPr>
              <a:t>Yield disagreement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309" y="3764761"/>
            <a:ext cx="1612859" cy="66673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20" b="0">
                <a:solidFill>
                  <a:srgbClr val="B7C7DE"/>
                </a:solidFill>
                <a:latin typeface="IBM Plex Sans"/>
              </a:rPr>
              <a:t>The workbook models </a:t>
            </a:r>
            <a:r>
              <a:rPr sz="720" b="1">
                <a:solidFill>
                  <a:srgbClr val="E8F1FF"/>
                </a:solidFill>
                <a:latin typeface="IBM Plex Sans"/>
              </a:rPr>
              <a:t>94.5%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; the memorandum states </a:t>
            </a:r>
            <a:r>
              <a:rPr sz="720" b="1">
                <a:solidFill>
                  <a:srgbClr val="E8F1FF"/>
                </a:solidFill>
                <a:latin typeface="IBM Plex Sans"/>
              </a:rPr>
              <a:t>96.7%</a:t>
            </a:r>
            <a:r>
              <a:rPr sz="720" b="0">
                <a:solidFill>
                  <a:srgbClr val="B7C7DE"/>
                </a:solidFill>
                <a:latin typeface="IBM Plex Sans"/>
              </a:rPr>
              <a:t>. Immaterial to die cost — but print only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40 · RED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41 ·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Proceed — with five conditions, in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Not an unconditional go. Two of the five are evidence gates that could reopen the segment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103584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CONDITION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3245165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Confirm the nature of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₹1 Cr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revenue within one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26" y="3779743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CONDITION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921324"/>
            <a:ext cx="4617128" cy="1472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Add Indian defense primes to the competitive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449552"/>
            <a:ext cx="4617128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CONDITION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26" y="4591133"/>
            <a:ext cx="4617128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Model working-capital exposure to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90–180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day payment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542" y="311628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22D3EE"/>
                </a:solidFill>
                <a:latin typeface="JetBrains Mono"/>
              </a:rPr>
              <a:t>CONDITIONS 4 AND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8542" y="3270565"/>
            <a:ext cx="5187026" cy="304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Keep every external document in sequenced two-track framing, never a flat pivot narrative. Treat the day-90 checkpoint as a hard re-scoring gate against the same scorecard.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8542" y="4425343"/>
            <a:ext cx="5187026" cy="907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550" b="1">
                <a:solidFill>
                  <a:srgbClr val="EF4444"/>
                </a:solidFill>
                <a:latin typeface="JetBrains Mono"/>
              </a:rPr>
              <a:t>IF A CONDITION SLIPS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8542" y="4579624"/>
            <a:ext cx="51870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Any condition unmet at day 90 reopens the segment decision. The scorecard is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re-run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, not re-argued.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41 ·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42 ·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A defensible ask, on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Four numbers, five conditions, and one thing we are actually asking you to fund.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225" y="3327515"/>
            <a:ext cx="223196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BLENDED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4225" y="3482391"/>
            <a:ext cx="223196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₹55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225" y="3866557"/>
            <a:ext cx="2231969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₹45 Cr CCPS equity + ₹10 Cr CGTMSE debt (~$4.79M)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333" y="3327515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PRIMARY ICP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4333" y="3482391"/>
            <a:ext cx="222561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79.2</a:t>
            </a:r>
            <a:r>
              <a:rPr sz="2500" b="1">
                <a:solidFill>
                  <a:srgbClr val="7A8CA6"/>
                </a:solidFill>
                <a:latin typeface="Space Grotesk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333" y="3866557"/>
            <a:ext cx="2225619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Tactical Defense &amp; Off-Highway/Port, 3.96/5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092" y="3327515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FIRST PROFITABLE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092" y="3482391"/>
            <a:ext cx="2225619" cy="3333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8F1FF"/>
                </a:solidFill>
                <a:latin typeface="Space Grotesk"/>
              </a:rPr>
              <a:t>FY2029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092" y="3866557"/>
            <a:ext cx="2225619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Net income positive on the management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1850" y="3327515"/>
            <a:ext cx="2225619" cy="913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GTM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1850" y="3507791"/>
            <a:ext cx="2225619" cy="4964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CD34D"/>
                </a:solidFill>
                <a:latin typeface="Space Grotesk"/>
              </a:rPr>
              <a:t>Proceed with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FCD34D"/>
                </a:solidFill>
                <a:latin typeface="Space Grotesk"/>
              </a:rPr>
              <a:t>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1850" y="4055068"/>
            <a:ext cx="2225619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5 conditions, day-90 re-scoring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4563055"/>
            <a:ext cx="10667733" cy="16727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We are not asking you to believe the forecast. We are asking you to fund the </a:t>
            </a:r>
            <a:r>
              <a:rPr sz="850" b="0">
                <a:solidFill>
                  <a:srgbClr val="22D3EE"/>
                </a:solidFill>
                <a:latin typeface="IBM Plex Sans"/>
              </a:rPr>
              <a:t>three MPW shuttles that test it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$370K of at-risk capital against a $3.17M programme, with a hard gate before the mask set is ordered.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42 ·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82587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43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76278"/>
            <a:ext cx="9905752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Where the numbers come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9524761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figure in this deck traces to one of these; the evidence ledger carries the row-level detail.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27" y="3079673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Business Plan v2 workbook — P&amp;L, Use of Funds, Assumptions, CGTMSE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719" y="3079673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Reviewed Pre-Series A analysis — 132-row evidence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27" y="3503524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Tapeout Expenses sheet — NRE line-item build-up and MPW phasing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8719" y="3503524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Supplier die-cost quotation — TSMC 28 nm HPC+ at 1M chips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027" y="3927376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Information Memorandum, July 2026 — architecture, team, mandate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8719" y="3927376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MoRTH AIS standards — AIS-184, 186, 187, 188, 189, 190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027" y="4351228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Competitor public disclosures — Aurora, Kodiak, Gatik, DeepWay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8719" y="4351228"/>
            <a:ext cx="5184645" cy="41750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Domestic semiconductor funding announcements — Netrasemi, Mindgrove, Agnit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43 ·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