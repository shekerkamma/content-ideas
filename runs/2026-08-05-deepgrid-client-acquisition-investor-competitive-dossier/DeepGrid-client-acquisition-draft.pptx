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Price (₹ lakh)</c:v>
                </c:pt>
              </c:strCache>
            </c:strRef>
          </c:tx>
          <c:spPr>
            <a:solidFill>
              <a:srgbClr val="00C9A7"/>
            </a:solidFill>
          </c:spPr>
          <c:cat>
            <c:strRef>
              <c:f>Sheet1!$A$2:$A$8</c:f>
              <c:strCache>
                <c:ptCount val="7"/>
                <c:pt idx="0">
                  <c:v>AIS-140 GPS device</c:v>
                </c:pt>
                <c:pt idx="1">
                  <c:v>“AIS-compliant” ADAS box</c:v>
                </c:pt>
                <c:pt idx="2">
                  <c:v>DGrid full kit (AD2)</c:v>
                </c:pt>
                <c:pt idx="3">
                  <c:v>Mobileye EyeQ</c:v>
                </c:pt>
                <c:pt idx="4">
                  <c:v>Continental ARS</c:v>
                </c:pt>
                <c:pt idx="5">
                  <c:v>Qualcomm SA8295</c:v>
                </c:pt>
                <c:pt idx="6">
                  <c:v>Nvidia Orin</c:v>
                </c:pt>
              </c:strCache>
            </c:strRef>
          </c:cat>
          <c:val>
            <c:numRef>
              <c:f>Sheet1!$B$2:$B$8</c:f>
              <c:numCache>
                <c:formatCode>General</c:formatCode>
                <c:ptCount val="7"/>
                <c:pt idx="0">
                  <c:v>0.08</c:v>
                </c:pt>
                <c:pt idx="1">
                  <c:v>0.28</c:v>
                </c:pt>
                <c:pt idx="2">
                  <c:v>2.3</c:v>
                </c:pt>
                <c:pt idx="3">
                  <c:v>6.5</c:v>
                </c:pt>
                <c:pt idx="4">
                  <c:v>10.0</c:v>
                </c:pt>
                <c:pt idx="5">
                  <c:v>12.5</c:v>
                </c:pt>
                <c:pt idx="6">
                  <c:v>15.0</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FE5"/>
            </a:solidFill>
          </a:ln>
        </c:spPr>
        <c:txPr>
          <a:bodyPr/>
          <a:lstStyle/>
          <a:p>
            <a:pPr>
              <a:defRPr sz="900"/>
            </a:pPr>
          </a:p>
        </c:txPr>
        <c:crossAx val="-2113994440"/>
        <c:crosses val="autoZero"/>
        <c:auto val="1"/>
        <c:lblAlgn val="ctr"/>
        <c:lblOffset val="100"/>
        <c:noMultiLvlLbl val="0"/>
      </c:catAx>
      <c:valAx>
        <c:axId val="-2113994440"/>
        <c:scaling/>
        <c:delete val="0"/>
        <c:axPos val="b"/>
        <c:majorGridlines>
          <c:spPr>
            <a:ln w="6350">
              <a:solidFill>
                <a:srgbClr val="D9DFE5"/>
              </a:solidFill>
            </a:ln>
          </c:spPr>
        </c:majorGridlines>
        <c:numFmt formatCode="0.0&quot;L&quot;"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answers a commercial question, not an investor one: which clients to pursue, in what</a:t>
            </a:r>
          </a:p>
          <a:p>
            <a:r>
              <a:t>order, with which words.</a:t>
            </a:r>
          </a:p>
          <a:p>
            <a:r>
              <a:t>It stands on the July Pre-Series A corrected basis and enforces that deck's banned-claims list</a:t>
            </a:r>
          </a:p>
          <a:p>
            <a:r>
              <a:t>throughout. Where a market fact is new, it was verified independently this week and is</a:t>
            </a:r>
          </a:p>
          <a:p>
            <a:r>
              <a:t>sourced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two moves and the reason they are different.</a:t>
            </a:r>
          </a:p>
          <a:p>
            <a:r>
              <a:t>Track A is sellable today because its proof already exists — defence revenue, a GeM record,</a:t>
            </a:r>
          </a:p>
          <a:p>
            <a:r>
              <a:t>and silicon running on FPGA. It needs neither AIS certification nor the tapeout.</a:t>
            </a:r>
          </a:p>
          <a:p>
            <a:r>
              <a:t>Track B is the bigger market and the weaker position. Your own deck marks the statement</a:t>
            </a:r>
          </a:p>
          <a:p>
            <a:r>
              <a:t>pending validation with a 90-day kill criterion. Honour that.</a:t>
            </a:r>
          </a:p>
          <a:p>
            <a:r>
              <a:t>The third card is the new information in this deck and the reason not to sequence leisurely.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movement — the timing that drives urgency in every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useful correction in the deck for a commercial lead.</a:t>
            </a:r>
          </a:p>
          <a:p>
            <a:r>
              <a:t>Every DeepGrid document says the mandate is live since April 2026 and stops there. That is</a:t>
            </a:r>
          </a:p>
          <a:p>
            <a:r>
              <a:t>true but commercially misleading: April bound only newly introduced models. October 2026</a:t>
            </a:r>
          </a:p>
          <a:p>
            <a:r>
              <a:t>binds existing production models, which is the entire installed model range.</a:t>
            </a:r>
          </a:p>
          <a:p>
            <a:r>
              <a:t>So the demand event is eight weeks out, not four months past. That changes outreach urgency</a:t>
            </a:r>
          </a:p>
          <a:p>
            <a:r>
              <a:t>and it changes which buyer is feeling pressure right now.</a:t>
            </a:r>
          </a:p>
          <a:p>
            <a:r>
              <a:t>The red panel is the risk that comes with it: urgency you cannot serve goes to a competitor.</a:t>
            </a:r>
          </a:p>
          <a:p>
            <a:r>
              <a:t>If certification is not held by October, the forced buyer buys a ₹30,000 box. Say this</a:t>
            </a:r>
          </a:p>
          <a:p>
            <a:r>
              <a:t>internally; do not say it to a customer.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system, not the silicon. Buyers do not purchase a die — they purchase a</a:t>
            </a:r>
          </a:p>
          <a:p>
            <a:r>
              <a:t>certified box that does a job, and the chip is why you can price it where you do.</a:t>
            </a:r>
          </a:p>
          <a:p>
            <a:r>
              <a:t>The AD0 smart mirror is the underrated commercial asset. It is a cheap way into a fleet that</a:t>
            </a:r>
          </a:p>
          <a:p>
            <a:r>
              <a:t>establishes the relationship and the data-rights clause, and the upgrade ladder reuses it at</a:t>
            </a:r>
          </a:p>
          <a:p>
            <a:r>
              <a:t>every subsequent step.</a:t>
            </a:r>
          </a:p>
          <a:p>
            <a:r>
              <a:t>AD4 off-highway deserves attention because it sidesteps the certification gate entirely —</a:t>
            </a:r>
          </a:p>
          <a:p>
            <a:r>
              <a:t>private land, no homologation dependency. That is why it sits in Track A rather than Track 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are the positioning core, restated as things a buyer can act on rather than things</a:t>
            </a:r>
          </a:p>
          <a:p>
            <a:r>
              <a:t>a founder finds interesting.</a:t>
            </a:r>
          </a:p>
          <a:p>
            <a:r>
              <a:t>The instruction at the bottom is the one to internalise. Cost is your strongest fact and your</a:t>
            </a:r>
          </a:p>
          <a:p>
            <a:r>
              <a:t>weakest opener — leading with it invites the compliance-box comparison in a fleet room and</a:t>
            </a:r>
          </a:p>
          <a:p>
            <a:r>
              <a:t>signals commodity in a defence room.</a:t>
            </a:r>
          </a:p>
          <a:p>
            <a:r>
              <a:t>Capability and control are the openers. Cost is what you close on once the buyer already</a:t>
            </a:r>
          </a:p>
          <a:p>
            <a:r>
              <a:t>wants the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movement — the ICP and the positioning discipline.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segments, and the prioritisation is driven by one test: does this buyer require something</a:t>
            </a:r>
          </a:p>
          <a:p>
            <a:r>
              <a:t>we do not yet have?</a:t>
            </a:r>
          </a:p>
          <a:p>
            <a:r>
              <a:t>Government and yard operators do not. They can buy the FPGA product today, on indigenous</a:t>
            </a:r>
          </a:p>
          <a:p>
            <a:r>
              <a:t>supply and private-land grounds respectively.</a:t>
            </a:r>
          </a:p>
          <a:p>
            <a:r>
              <a:t>Everyone else is waiting on AIS certification, the tapeout, or an OEM relationship that does</a:t>
            </a:r>
          </a:p>
          <a:p>
            <a:r>
              <a:t>not exist yet. Start those conversations — especially OEM, which has the longest cycle — but</a:t>
            </a:r>
          </a:p>
          <a:p>
            <a:r>
              <a:t>do not forecast them as this quarter's revenue.</a:t>
            </a:r>
          </a:p>
          <a:p>
            <a:r>
              <a:t>The bottom row is the honest exclusion: 3.5 million operators the plan explicitly cannot</a:t>
            </a:r>
          </a:p>
          <a:p>
            <a:r>
              <a:t>reach directly.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Committees, not buyers. Every one of these people can stop a deal and only one of them can</a:t>
            </a:r>
          </a:p>
          <a:p>
            <a:r>
              <a:t>start it.</a:t>
            </a:r>
          </a:p>
          <a:p>
            <a:r>
              <a:t>The security officer in Track A is your ally once they understand the HSM argument, because</a:t>
            </a:r>
          </a:p>
          <a:p>
            <a:r>
              <a:t>you are handing them a defensible answer to a question they are usually forced to fudge.</a:t>
            </a:r>
          </a:p>
          <a:p>
            <a:r>
              <a:t>The driver and union point in Track B is the one most commonly missed. Driver-monitoring</a:t>
            </a:r>
          </a:p>
          <a:p>
            <a:r>
              <a:t>systems get torn out or taped over when they arrive framed as surveillance. Introduced as</a:t>
            </a:r>
          </a:p>
          <a:p>
            <a:r>
              <a:t>evidence that protects the driver from false blame in an accident, the same hardware is</a:t>
            </a:r>
          </a:p>
          <a:p>
            <a:r>
              <a:t>welcomed. That framing decision happens once, early, and is hard to reverse.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A is where the next contract most plausibly comes from, and the reason is structural</a:t>
            </a:r>
          </a:p>
          <a:p>
            <a:r>
              <a:t>rather than promotional: procurement rules exclude foreign silicon from government fleets, so</a:t>
            </a:r>
          </a:p>
          <a:p>
            <a:r>
              <a:t>DeepGrid is competing against a very short list.</a:t>
            </a:r>
          </a:p>
          <a:p>
            <a:r>
              <a:t>The on-die HSM claim is the strongest thing in the whole positioning set because it is a</a:t>
            </a:r>
          </a:p>
          <a:p>
            <a:r>
              <a:t>physical property, not a policy assurance. A buyer worried about exfiltration can be shown</a:t>
            </a:r>
          </a:p>
          <a:p>
            <a:r>
              <a:t>why it cannot happen.</a:t>
            </a:r>
          </a:p>
          <a:p>
            <a:r>
              <a:t>Note the kill criterion is already written and dated. One booked contract is traction; it is</a:t>
            </a:r>
          </a:p>
          <a:p>
            <a:r>
              <a:t>not yet a repeatable motion, and the second contract is what proves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disciplined about this one, because it is the larger market and therefore the more</a:t>
            </a:r>
          </a:p>
          <a:p>
            <a:r>
              <a:t>tempting story.</a:t>
            </a:r>
          </a:p>
          <a:p>
            <a:r>
              <a:t>The price argument that works against a ₹6.5L import does nothing against a ₹30,000 box. Both</a:t>
            </a:r>
          </a:p>
          <a:p>
            <a:r>
              <a:t>satisfy the inspector while enforcement is transitional. So leading with price in a fleet</a:t>
            </a:r>
          </a:p>
          <a:p>
            <a:r>
              <a:t>conversation loses on the buyer's own terms.</a:t>
            </a:r>
          </a:p>
          <a:p>
            <a:r>
              <a:t>The conversation that can win is capability — what the cheap box physically cannot do. That</a:t>
            </a:r>
          </a:p>
          <a:p>
            <a:r>
              <a:t>reframes the comparison away from compliance cost and toward accident exposure, which is also</a:t>
            </a:r>
          </a:p>
          <a:p>
            <a:r>
              <a:t>where the insurer motion eventually lives.</a:t>
            </a:r>
          </a:p>
          <a:p>
            <a:r>
              <a:t>Twenty interviews, ninety days, one paid pilot. If it does not land, retract the statement</a:t>
            </a:r>
          </a:p>
          <a:p>
            <a:r>
              <a:t>rather than softening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rule that is easiest to break under pressure, usually with the best intentions —</a:t>
            </a:r>
          </a:p>
          <a:p>
            <a:r>
              <a:t>you are in a fleet meeting, it is going badly, and the defence traction is right there as</a:t>
            </a:r>
          </a:p>
          <a:p>
            <a:r>
              <a:t>proof that somebody buys this.</a:t>
            </a:r>
          </a:p>
          <a:p>
            <a:r>
              <a:t>Resist it. The defence proof does not transfer; it actively signals that the fleet product is</a:t>
            </a:r>
          </a:p>
          <a:p>
            <a:r>
              <a:t>a side project.</a:t>
            </a:r>
          </a:p>
          <a:p>
            <a:r>
              <a:t>The same applies in reverse and is more dangerous, because a defence procurement officer who</a:t>
            </a:r>
          </a:p>
          <a:p>
            <a:r>
              <a:t>hears a price-per-unit retrofit pitch will re-categorise the whole conversation as commodity</a:t>
            </a:r>
          </a:p>
          <a:p>
            <a:r>
              <a:t>purchasing.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single most valuable page in the deck for someone about to walk into a</a:t>
            </a:r>
          </a:p>
          <a:p>
            <a:r>
              <a:t>customer meeting, and it came from your own July work rather than from me.</a:t>
            </a:r>
          </a:p>
          <a:p>
            <a:r>
              <a:t>Every banned claim shares a failure mode: it sounds like evidence and is not. A buyer's</a:t>
            </a:r>
          </a:p>
          <a:p>
            <a:r>
              <a:t>technical evaluator will test them, and being caught once on any of the five costs you the</a:t>
            </a:r>
          </a:p>
          <a:p>
            <a:r>
              <a:t>credibility of everything else in the room.</a:t>
            </a:r>
          </a:p>
          <a:p>
            <a:r>
              <a:t>The red panel is the live problem. The June Information Memorandum is the most polished</a:t>
            </a:r>
          </a:p>
          <a:p>
            <a:r>
              <a:t>artefact in the set and it repeats four banned claims. Anyone forwarding it is undoing the</a:t>
            </a:r>
          </a:p>
          <a:p>
            <a:r>
              <a:t>correction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page to keep open during call preparation.</a:t>
            </a:r>
          </a:p>
          <a:p>
            <a:r>
              <a:t>Everything above the line is showable, and the top three are contracted or measured — they</a:t>
            </a:r>
          </a:p>
          <a:p>
            <a:r>
              <a:t>survive a technical evaluator.</a:t>
            </a:r>
          </a:p>
          <a:p>
            <a:r>
              <a:t>Everything below is where salespeople get into trouble, because each gap has an adjacent</a:t>
            </a:r>
          </a:p>
          <a:p>
            <a:r>
              <a:t>claim that sounds reasonable and is not supported. Filed patents become "patented".</a:t>
            </a:r>
          </a:p>
          <a:p>
            <a:r>
              <a:t>Carla validation becomes "road-validated". A certification path becomes "certified".</a:t>
            </a:r>
          </a:p>
          <a:p>
            <a:r>
              <a:t>Say the state, not the aspiration. The evidence column is deliberately blunt so there is no</a:t>
            </a:r>
          </a:p>
          <a:p>
            <a:r>
              <a:t>ambiguity about which is which.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movement — arenas, the price ladder, and the closing whitespace.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is deliberately drawn on one axis so the asymmetry is visible: DeepGrid sits far</a:t>
            </a:r>
          </a:p>
          <a:p>
            <a:r>
              <a:t>closer to the compliance box than to the imports, but the buyer's mental anchor is the box.</a:t>
            </a:r>
          </a:p>
          <a:p>
            <a:r>
              <a:t>The practical instruction is the second bullet. Opening on price in a fleet room invites the</a:t>
            </a:r>
          </a:p>
          <a:p>
            <a:r>
              <a:t>comparison you lose. Opening on capability moves the conversation to ground where a ₹30,000</a:t>
            </a:r>
          </a:p>
          <a:p>
            <a:r>
              <a:t>device has no answer at all.</a:t>
            </a:r>
          </a:p>
          <a:p>
            <a:r>
              <a:t>Keep the import comparison for OEM and Tier-1 conversations, where the alternative bid really</a:t>
            </a:r>
          </a:p>
          <a:p>
            <a:r>
              <a:t>is ₹6.5 lakh and 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finding this run was for, and it needs to be delivered with its caveat attached.</a:t>
            </a:r>
          </a:p>
          <a:p>
            <a:r>
              <a:t>The headline: a peer your own map placed in 2027 is production-ready now, with three OEM</a:t>
            </a:r>
          </a:p>
          <a:p>
            <a:r>
              <a:t>trials and more capital than you are raising. The 30-month head-start that underwrites the</a:t>
            </a:r>
          </a:p>
          <a:p>
            <a:r>
              <a:t>sequencing is shorter than planned.</a:t>
            </a:r>
          </a:p>
          <a:p>
            <a:r>
              <a:t>The caveat, which matters just as much: the A2000 is a general edge-AI SoC for video</a:t>
            </a:r>
          </a:p>
          <a:p>
            <a:r>
              <a:t>analytics. Automotive is one of several target sectors. It is not an AIS-certified ADAS</a:t>
            </a:r>
          </a:p>
          <a:p>
            <a:r>
              <a:t>combo-die with drive-by-wire actuation, and calling it a direct competitor today would be the</a:t>
            </a:r>
          </a:p>
          <a:p>
            <a:r>
              <a:t>same evidence error the banned-claims list exists to prevent.</a:t>
            </a:r>
          </a:p>
          <a:p>
            <a:r>
              <a:t>Correct reading: the whitespace narrowed, the clock sped up, the differentiated position still</a:t>
            </a:r>
          </a:p>
          <a:p>
            <a:r>
              <a:t>exists — and it now has to be converted faster.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movement — execution.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drafted so that each answer opens by conceding the true part of the objection.</a:t>
            </a:r>
          </a:p>
          <a:p>
            <a:r>
              <a:t>That is not politeness, it is technique: a salesperson who concedes an accurate criticism is</a:t>
            </a:r>
          </a:p>
          <a:p>
            <a:r>
              <a:t>believed on the next sentence, and one who deflects is not.</a:t>
            </a:r>
          </a:p>
          <a:p>
            <a:r>
              <a:t>Objection two is the one people fudge. Do not. "Mandate-ready" is a banned claim precisely</a:t>
            </a:r>
          </a:p>
          <a:p>
            <a:r>
              <a:t>because a technical evaluator can check it and will.</a:t>
            </a:r>
          </a:p>
          <a:p>
            <a:r>
              <a:t>Objection five matters more after the Netrasemi finding — buyers who follow the sector will</a:t>
            </a:r>
          </a:p>
          <a:p>
            <a:r>
              <a:t>start asking about tapeout timing, and the honest answer is genuinely reassuring for Track 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channel is where this plan actually lives or dies, because the direct-sale segment is</a:t>
            </a:r>
          </a:p>
          <a:p>
            <a:r>
              <a:t>explicitly declared unreachable.</a:t>
            </a:r>
          </a:p>
          <a:p>
            <a:r>
              <a:t>The insurer card is the interesting tension. BP-1A leans on insurer co-funding as the answer</a:t>
            </a:r>
          </a:p>
          <a:p>
            <a:r>
              <a:t>to the price problem, while the July deck bans any premium-reduction percentage until</a:t>
            </a:r>
          </a:p>
          <a:p>
            <a:r>
              <a:t>measured. Both are right, and the resolution is on the gold band: sell the measurement</a:t>
            </a:r>
          </a:p>
          <a:p>
            <a:r>
              <a:t>mechanism rather than the promised outcome.</a:t>
            </a:r>
          </a:p>
          <a:p>
            <a:r>
              <a:t>That is a stronger sales position than an invented number anyway — it gives the insurer a</a:t>
            </a:r>
          </a:p>
          <a:p>
            <a:r>
              <a:t>reason to participate rather than something to disprove.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Sequenced against the October wave rather than against internal convenience.</a:t>
            </a:r>
          </a:p>
          <a:p>
            <a:r>
              <a:t>Item one is free and urgent. The June IM is the most polished document in the set and the</a:t>
            </a:r>
          </a:p>
          <a:p>
            <a:r>
              <a:t>least compliant with your own rules; every copy in circulation is a liability.</a:t>
            </a:r>
          </a:p>
          <a:p>
            <a:r>
              <a:t>Items two and three are not new — they are the kill criteria already written into the July</a:t>
            </a:r>
          </a:p>
          <a:p>
            <a:r>
              <a:t>deck. What this plan adds is refusing to let them drift, because the Netrasemi finding says</a:t>
            </a:r>
          </a:p>
          <a:p>
            <a:r>
              <a:t>the window is shorter than assumed.</a:t>
            </a:r>
          </a:p>
          <a:p>
            <a:r>
              <a:t>Item seven is the highest-value and slowest: BP-1A concedes there is no OEM contact yet, and</a:t>
            </a:r>
          </a:p>
          <a:p>
            <a:r>
              <a:t>OEM line-fit is where the volume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triggers rather than exhortation, because the two that matter are already written</a:t>
            </a:r>
          </a:p>
          <a:p>
            <a:r>
              <a:t>down and dated in your own deck.</a:t>
            </a:r>
          </a:p>
          <a:p>
            <a:r>
              <a:t>The third and fourth rows are new and come from this week's research. Both are watch items</a:t>
            </a:r>
          </a:p>
          <a:p>
            <a:r>
              <a:t>rather than immediate decisions, but both have the property that you will not notice them</a:t>
            </a:r>
          </a:p>
          <a:p>
            <a:r>
              <a:t>passing unless someone is explicitly looking.</a:t>
            </a:r>
          </a:p>
          <a:p>
            <a:r>
              <a:t>The summary line is the whole deck: the position is genuinely differentiated and genuinely</a:t>
            </a:r>
          </a:p>
          <a:p>
            <a:r>
              <a:t>perishable.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eck_image1.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768096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CLIENT ACQUISITION STRATEGY</a:t>
            </a:r>
          </a:p>
        </p:txBody>
      </p:sp>
      <p:sp>
        <p:nvSpPr>
          <p:cNvPr id="6" name="TextBox 5"/>
          <p:cNvSpPr txBox="1"/>
          <p:nvPr/>
        </p:nvSpPr>
        <p:spPr>
          <a:xfrm>
            <a:off x="777240" y="2148840"/>
            <a:ext cx="7498079" cy="146304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Who to sell to, what to say,
and what never to say</a:t>
            </a:r>
          </a:p>
        </p:txBody>
      </p:sp>
      <p:sp>
        <p:nvSpPr>
          <p:cNvPr id="7" name="Rectangle 6"/>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069080"/>
            <a:ext cx="7680960" cy="45720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DeepGrid Semi · commercial lead briefing · built on the July-corrected basis</a:t>
            </a:r>
          </a:p>
        </p:txBody>
      </p:sp>
      <p:sp>
        <p:nvSpPr>
          <p:cNvPr id="9" name="Rounded Rectangle 8"/>
          <p:cNvSpPr/>
          <p:nvPr/>
        </p:nvSpPr>
        <p:spPr>
          <a:xfrm>
            <a:off x="777240" y="4892040"/>
            <a:ext cx="2240280" cy="402336"/>
          </a:xfrm>
          <a:prstGeom prst="roundRect">
            <a:avLst>
              <a:gd name="adj" fmla="val 25000"/>
            </a:avLst>
          </a:prstGeom>
          <a:solidFill>
            <a:srgbClr val="12243A"/>
          </a:solidFill>
          <a:ln w="12700">
            <a:solidFill>
              <a:srgbClr val="009B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001768"/>
            <a:ext cx="2240280" cy="237744"/>
          </a:xfrm>
          <a:prstGeom prst="rect">
            <a:avLst/>
          </a:prstGeom>
          <a:noFill/>
        </p:spPr>
        <p:txBody>
          <a:bodyPr wrap="square" anchor="t" lIns="0" rIns="0" tIns="0" bIns="0">
            <a:noAutofit/>
          </a:bodyPr>
          <a:lstStyle/>
          <a:p>
            <a:pPr algn="ctr">
              <a:lnSpc>
                <a:spcPct val="105000"/>
              </a:lnSpc>
              <a:spcBef>
                <a:spcPts val="0"/>
              </a:spcBef>
            </a:pPr>
            <a:r>
              <a:rPr sz="1000" b="0" i="0">
                <a:solidFill>
                  <a:srgbClr val="E0F7F1"/>
                </a:solidFill>
                <a:latin typeface="Calibri"/>
              </a:rPr>
              <a:t>Oct 2026 is the real deadline</a:t>
            </a:r>
          </a:p>
        </p:txBody>
      </p:sp>
      <p:sp>
        <p:nvSpPr>
          <p:cNvPr id="11" name="Rounded Rectangle 10"/>
          <p:cNvSpPr/>
          <p:nvPr/>
        </p:nvSpPr>
        <p:spPr>
          <a:xfrm>
            <a:off x="3154680" y="4892040"/>
            <a:ext cx="2240280" cy="402336"/>
          </a:xfrm>
          <a:prstGeom prst="roundRect">
            <a:avLst>
              <a:gd name="adj" fmla="val 25000"/>
            </a:avLst>
          </a:prstGeom>
          <a:solidFill>
            <a:srgbClr val="12243A"/>
          </a:solidFill>
          <a:ln w="12700">
            <a:solidFill>
              <a:srgbClr val="009B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80" y="5001768"/>
            <a:ext cx="2240280" cy="237744"/>
          </a:xfrm>
          <a:prstGeom prst="rect">
            <a:avLst/>
          </a:prstGeom>
          <a:noFill/>
        </p:spPr>
        <p:txBody>
          <a:bodyPr wrap="square" anchor="t" lIns="0" rIns="0" tIns="0" bIns="0">
            <a:noAutofit/>
          </a:bodyPr>
          <a:lstStyle/>
          <a:p>
            <a:pPr algn="ctr">
              <a:lnSpc>
                <a:spcPct val="105000"/>
              </a:lnSpc>
              <a:spcBef>
                <a:spcPts val="0"/>
              </a:spcBef>
            </a:pPr>
            <a:r>
              <a:rPr sz="1000" b="0" i="0">
                <a:solidFill>
                  <a:srgbClr val="E0F7F1"/>
                </a:solidFill>
                <a:latin typeface="Calibri"/>
              </a:rPr>
              <a:t>2 tracks</a:t>
            </a:r>
          </a:p>
        </p:txBody>
      </p:sp>
      <p:sp>
        <p:nvSpPr>
          <p:cNvPr id="13" name="Rounded Rectangle 12"/>
          <p:cNvSpPr/>
          <p:nvPr/>
        </p:nvSpPr>
        <p:spPr>
          <a:xfrm>
            <a:off x="5532120" y="4892040"/>
            <a:ext cx="2240280" cy="402336"/>
          </a:xfrm>
          <a:prstGeom prst="roundRect">
            <a:avLst>
              <a:gd name="adj" fmla="val 25000"/>
            </a:avLst>
          </a:prstGeom>
          <a:solidFill>
            <a:srgbClr val="12243A"/>
          </a:solidFill>
          <a:ln w="12700">
            <a:solidFill>
              <a:srgbClr val="009B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32120" y="5001768"/>
            <a:ext cx="2240280" cy="237744"/>
          </a:xfrm>
          <a:prstGeom prst="rect">
            <a:avLst/>
          </a:prstGeom>
          <a:noFill/>
        </p:spPr>
        <p:txBody>
          <a:bodyPr wrap="square" anchor="t" lIns="0" rIns="0" tIns="0" bIns="0">
            <a:noAutofit/>
          </a:bodyPr>
          <a:lstStyle/>
          <a:p>
            <a:pPr algn="ctr">
              <a:lnSpc>
                <a:spcPct val="105000"/>
              </a:lnSpc>
              <a:spcBef>
                <a:spcPts val="0"/>
              </a:spcBef>
            </a:pPr>
            <a:r>
              <a:rPr sz="1000" b="0" i="0">
                <a:solidFill>
                  <a:srgbClr val="E0F7F1"/>
                </a:solidFill>
                <a:latin typeface="Calibri"/>
              </a:rPr>
              <a:t>5 banned claims</a:t>
            </a:r>
          </a:p>
        </p:txBody>
      </p:sp>
      <p:sp>
        <p:nvSpPr>
          <p:cNvPr id="15" name="Rounded Rectangle 14"/>
          <p:cNvSpPr/>
          <p:nvPr/>
        </p:nvSpPr>
        <p:spPr>
          <a:xfrm>
            <a:off x="7909560" y="4892040"/>
            <a:ext cx="2240280" cy="402336"/>
          </a:xfrm>
          <a:prstGeom prst="roundRect">
            <a:avLst>
              <a:gd name="adj" fmla="val 25000"/>
            </a:avLst>
          </a:prstGeom>
          <a:solidFill>
            <a:srgbClr val="12243A"/>
          </a:solidFill>
          <a:ln w="12700">
            <a:solidFill>
              <a:srgbClr val="009B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5001768"/>
            <a:ext cx="2240280" cy="237744"/>
          </a:xfrm>
          <a:prstGeom prst="rect">
            <a:avLst/>
          </a:prstGeom>
          <a:noFill/>
        </p:spPr>
        <p:txBody>
          <a:bodyPr wrap="square" anchor="t" lIns="0" rIns="0" tIns="0" bIns="0">
            <a:noAutofit/>
          </a:bodyPr>
          <a:lstStyle/>
          <a:p>
            <a:pPr algn="ctr">
              <a:lnSpc>
                <a:spcPct val="105000"/>
              </a:lnSpc>
              <a:spcBef>
                <a:spcPts val="0"/>
              </a:spcBef>
            </a:pPr>
            <a:r>
              <a:rPr sz="1000" b="0" i="0">
                <a:solidFill>
                  <a:srgbClr val="E0F7F1"/>
                </a:solidFill>
                <a:latin typeface="Calibri"/>
              </a:rPr>
              <a:t>whitespace closing</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 July-corrected basis · 5 Aug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Sell Track A now on proof you already hold; validate Track B against a clock</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Executive summary — the commercial answer</a:t>
            </a:r>
          </a:p>
        </p:txBody>
      </p:sp>
      <p:sp>
        <p:nvSpPr>
          <p:cNvPr id="6" name="Rounded Rectangle 5"/>
          <p:cNvSpPr/>
          <p:nvPr/>
        </p:nvSpPr>
        <p:spPr>
          <a:xfrm>
            <a:off x="548640" y="1627632"/>
            <a:ext cx="11094415" cy="86868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55648"/>
            <a:ext cx="9144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00C9A7"/>
                </a:solidFill>
                <a:latin typeface="Calibri"/>
              </a:rPr>
              <a:t>BLUF</a:t>
            </a:r>
          </a:p>
        </p:txBody>
      </p:sp>
      <p:sp>
        <p:nvSpPr>
          <p:cNvPr id="8" name="TextBox 7"/>
          <p:cNvSpPr txBox="1"/>
          <p:nvPr/>
        </p:nvSpPr>
        <p:spPr>
          <a:xfrm>
            <a:off x="1783080" y="1719072"/>
            <a:ext cx="9631375" cy="694944"/>
          </a:xfrm>
          <a:prstGeom prst="rect">
            <a:avLst/>
          </a:prstGeom>
          <a:noFill/>
        </p:spPr>
        <p:txBody>
          <a:bodyPr wrap="square" anchor="t" lIns="0" rIns="0" tIns="0" bIns="0">
            <a:normAutofit/>
          </a:bodyPr>
          <a:lstStyle/>
          <a:p>
            <a:pPr algn="l">
              <a:lnSpc>
                <a:spcPct val="105000"/>
              </a:lnSpc>
              <a:spcBef>
                <a:spcPts val="0"/>
              </a:spcBef>
            </a:pPr>
            <a:r>
              <a:rPr sz="1300" b="0" i="0">
                <a:solidFill>
                  <a:srgbClr val="FFFFFF"/>
                </a:solidFill>
                <a:latin typeface="Calibri"/>
              </a:rPr>
              <a:t>The mandate wave that matters commercially is October 2026 — existing production models — not the April date the decks lead with. And the low-BOM vertically-integrated whitespace is closing about 18 months earlier than assumed. Both push the same conclusion: sell what is provable now, and put a date on what is not.</a:t>
            </a:r>
          </a:p>
        </p:txBody>
      </p:sp>
      <p:sp>
        <p:nvSpPr>
          <p:cNvPr id="9" name="Rounded Rectangle 8"/>
          <p:cNvSpPr/>
          <p:nvPr/>
        </p:nvSpPr>
        <p:spPr>
          <a:xfrm>
            <a:off x="548640" y="2670048"/>
            <a:ext cx="3564026" cy="19659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70048"/>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852928"/>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Track A — sell now</a:t>
            </a:r>
          </a:p>
        </p:txBody>
      </p:sp>
      <p:sp>
        <p:nvSpPr>
          <p:cNvPr id="12" name="TextBox 11"/>
          <p:cNvSpPr txBox="1"/>
          <p:nvPr/>
        </p:nvSpPr>
        <p:spPr>
          <a:xfrm>
            <a:off x="713232" y="3310128"/>
            <a:ext cx="3234842" cy="11795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Sovereign defence, border surveillance and port AGV. On-die HSM, Indian-designed, shipping on FPGA today. Backed by a live GeM record and ₹23.01L delivered — the only line needing neither the certificate nor the tapeout.</a:t>
            </a:r>
          </a:p>
        </p:txBody>
      </p:sp>
      <p:sp>
        <p:nvSpPr>
          <p:cNvPr id="13" name="Rounded Rectangle 12"/>
          <p:cNvSpPr/>
          <p:nvPr/>
        </p:nvSpPr>
        <p:spPr>
          <a:xfrm>
            <a:off x="4313834" y="2670048"/>
            <a:ext cx="3564026" cy="19659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3834" y="2670048"/>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8426" y="2852928"/>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Track B — validate, don't promise</a:t>
            </a:r>
          </a:p>
        </p:txBody>
      </p:sp>
      <p:sp>
        <p:nvSpPr>
          <p:cNvPr id="16" name="TextBox 15"/>
          <p:cNvSpPr txBox="1"/>
          <p:nvPr/>
        </p:nvSpPr>
        <p:spPr>
          <a:xfrm>
            <a:off x="4478426" y="3310128"/>
            <a:ext cx="3234842" cy="11795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3PL and dedicated fleet retrofit against the Oct 2026 deadline. Positioning is marked PENDING VALIDATION in your own deck. Twenty buyer interviews, one paid pilot, 90 days — or the statement is retracted.</a:t>
            </a:r>
          </a:p>
        </p:txBody>
      </p:sp>
      <p:sp>
        <p:nvSpPr>
          <p:cNvPr id="17" name="Rounded Rectangle 16"/>
          <p:cNvSpPr/>
          <p:nvPr/>
        </p:nvSpPr>
        <p:spPr>
          <a:xfrm>
            <a:off x="8079028" y="2670048"/>
            <a:ext cx="3564026" cy="19659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9028" y="2670048"/>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3620" y="2852928"/>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The clock that changed</a:t>
            </a:r>
          </a:p>
        </p:txBody>
      </p:sp>
      <p:sp>
        <p:nvSpPr>
          <p:cNvPr id="20" name="TextBox 19"/>
          <p:cNvSpPr txBox="1"/>
          <p:nvPr/>
        </p:nvSpPr>
        <p:spPr>
          <a:xfrm>
            <a:off x="8243620" y="3310128"/>
            <a:ext cx="3234842" cy="11795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Netrasemi went production-ready in May 2026 with three OEM trials, on ₹107 Cr. Your July map placed them in 2027. The head-start is shorter than the 30-month runway assumes.</a:t>
            </a:r>
          </a:p>
        </p:txBody>
      </p:sp>
      <p:sp>
        <p:nvSpPr>
          <p:cNvPr id="21" name="Rounded Rectangle 20"/>
          <p:cNvSpPr/>
          <p:nvPr/>
        </p:nvSpPr>
        <p:spPr>
          <a:xfrm>
            <a:off x="548640" y="4864608"/>
            <a:ext cx="11094415" cy="566928"/>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864608"/>
            <a:ext cx="54864" cy="56692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92624"/>
            <a:ext cx="10637215"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1B2B3C"/>
                </a:solidFill>
                <a:latin typeface="Calibri"/>
              </a:rPr>
              <a:t>Discipline rule from the July deck, unchanged: the retrofit-price line never appears in a defence conversation, and the sovereign-data line never appears in a fleet one.</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54864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01</a:t>
            </a:r>
          </a:p>
        </p:txBody>
      </p:sp>
      <p:sp>
        <p:nvSpPr>
          <p:cNvPr id="5" name="TextBox 4"/>
          <p:cNvSpPr txBox="1"/>
          <p:nvPr/>
        </p:nvSpPr>
        <p:spPr>
          <a:xfrm>
            <a:off x="777240" y="2788920"/>
            <a:ext cx="10058400" cy="91440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The demand clock</a:t>
            </a:r>
          </a:p>
        </p:txBody>
      </p:sp>
      <p:sp>
        <p:nvSpPr>
          <p:cNvPr id="6" name="Rectangle 5"/>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041648"/>
            <a:ext cx="9601200" cy="54864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When the buyer is actually forced to act</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 July-corrected basis · 5 Aug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October 2026 is the deadline that creates buyers — not April</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GSR 184(E) is phased; the decks lead with the wrong date</a:t>
            </a:r>
          </a:p>
        </p:txBody>
      </p:sp>
      <p:sp>
        <p:nvSpPr>
          <p:cNvPr id="6" name="Rectangle 5"/>
          <p:cNvSpPr/>
          <p:nvPr/>
        </p:nvSpPr>
        <p:spPr>
          <a:xfrm>
            <a:off x="548640" y="1664208"/>
            <a:ext cx="11094415" cy="4572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1682496" cy="384048"/>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When</a:t>
            </a:r>
          </a:p>
        </p:txBody>
      </p:sp>
      <p:sp>
        <p:nvSpPr>
          <p:cNvPr id="8" name="TextBox 7"/>
          <p:cNvSpPr txBox="1"/>
          <p:nvPr/>
        </p:nvSpPr>
        <p:spPr>
          <a:xfrm>
            <a:off x="2468880" y="1709928"/>
            <a:ext cx="2779776"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a:t>
            </a:r>
          </a:p>
        </p:txBody>
      </p:sp>
      <p:sp>
        <p:nvSpPr>
          <p:cNvPr id="9" name="TextBox 8"/>
          <p:cNvSpPr txBox="1"/>
          <p:nvPr/>
        </p:nvSpPr>
        <p:spPr>
          <a:xfrm>
            <a:off x="5394960" y="1709928"/>
            <a:ext cx="4791456"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Scope</a:t>
            </a:r>
          </a:p>
        </p:txBody>
      </p:sp>
      <p:sp>
        <p:nvSpPr>
          <p:cNvPr id="10" name="TextBox 9"/>
          <p:cNvSpPr txBox="1"/>
          <p:nvPr/>
        </p:nvSpPr>
        <p:spPr>
          <a:xfrm>
            <a:off x="10332720" y="1709928"/>
            <a:ext cx="1252728"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Status</a:t>
            </a:r>
          </a:p>
        </p:txBody>
      </p:sp>
      <p:sp>
        <p:nvSpPr>
          <p:cNvPr id="11" name="Rectangle 10"/>
          <p:cNvSpPr/>
          <p:nvPr/>
        </p:nvSpPr>
        <p:spPr>
          <a:xfrm>
            <a:off x="548640" y="2121408"/>
            <a:ext cx="11094415" cy="457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167128"/>
            <a:ext cx="168249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March 2025</a:t>
            </a:r>
          </a:p>
        </p:txBody>
      </p:sp>
      <p:sp>
        <p:nvSpPr>
          <p:cNvPr id="13" name="TextBox 12"/>
          <p:cNvSpPr txBox="1"/>
          <p:nvPr/>
        </p:nvSpPr>
        <p:spPr>
          <a:xfrm>
            <a:off x="2468880" y="2167128"/>
            <a:ext cx="277977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GSR 184(E) notified</a:t>
            </a:r>
          </a:p>
        </p:txBody>
      </p:sp>
      <p:sp>
        <p:nvSpPr>
          <p:cNvPr id="14" name="TextBox 13"/>
          <p:cNvSpPr txBox="1"/>
          <p:nvPr/>
        </p:nvSpPr>
        <p:spPr>
          <a:xfrm>
            <a:off x="5394960" y="2167128"/>
            <a:ext cx="47914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AIS-162/184/186/187/188 for M2, M3, N2, N3</a:t>
            </a:r>
          </a:p>
        </p:txBody>
      </p:sp>
      <p:sp>
        <p:nvSpPr>
          <p:cNvPr id="15" name="TextBox 14"/>
          <p:cNvSpPr txBox="1"/>
          <p:nvPr/>
        </p:nvSpPr>
        <p:spPr>
          <a:xfrm>
            <a:off x="10332720" y="2167128"/>
            <a:ext cx="1252728" cy="384048"/>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Done</a:t>
            </a:r>
          </a:p>
        </p:txBody>
      </p:sp>
      <p:sp>
        <p:nvSpPr>
          <p:cNvPr id="16" name="Rectangle 15"/>
          <p:cNvSpPr/>
          <p:nvPr/>
        </p:nvSpPr>
        <p:spPr>
          <a:xfrm>
            <a:off x="548640" y="2578608"/>
            <a:ext cx="11094415"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624328"/>
            <a:ext cx="168249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April 2026</a:t>
            </a:r>
          </a:p>
        </p:txBody>
      </p:sp>
      <p:sp>
        <p:nvSpPr>
          <p:cNvPr id="18" name="TextBox 17"/>
          <p:cNvSpPr txBox="1"/>
          <p:nvPr/>
        </p:nvSpPr>
        <p:spPr>
          <a:xfrm>
            <a:off x="2468880" y="2624328"/>
            <a:ext cx="277977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New models must comply</a:t>
            </a:r>
          </a:p>
        </p:txBody>
      </p:sp>
      <p:sp>
        <p:nvSpPr>
          <p:cNvPr id="19" name="TextBox 18"/>
          <p:cNvSpPr txBox="1"/>
          <p:nvPr/>
        </p:nvSpPr>
        <p:spPr>
          <a:xfrm>
            <a:off x="5394960" y="2624328"/>
            <a:ext cx="47914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Applies to newly introduced models only</a:t>
            </a:r>
          </a:p>
        </p:txBody>
      </p:sp>
      <p:sp>
        <p:nvSpPr>
          <p:cNvPr id="20" name="TextBox 19"/>
          <p:cNvSpPr txBox="1"/>
          <p:nvPr/>
        </p:nvSpPr>
        <p:spPr>
          <a:xfrm>
            <a:off x="10332720" y="2624328"/>
            <a:ext cx="1252728" cy="384048"/>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Passed</a:t>
            </a:r>
          </a:p>
        </p:txBody>
      </p:sp>
      <p:sp>
        <p:nvSpPr>
          <p:cNvPr id="21" name="Rectangle 20"/>
          <p:cNvSpPr/>
          <p:nvPr/>
        </p:nvSpPr>
        <p:spPr>
          <a:xfrm>
            <a:off x="548640" y="3035808"/>
            <a:ext cx="11094415" cy="457200"/>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035808"/>
            <a:ext cx="50292" cy="45720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081528"/>
            <a:ext cx="1682496" cy="384048"/>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October 2026</a:t>
            </a:r>
          </a:p>
        </p:txBody>
      </p:sp>
      <p:sp>
        <p:nvSpPr>
          <p:cNvPr id="24" name="TextBox 23"/>
          <p:cNvSpPr txBox="1"/>
          <p:nvPr/>
        </p:nvSpPr>
        <p:spPr>
          <a:xfrm>
            <a:off x="2468880" y="3081528"/>
            <a:ext cx="277977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Existing production models</a:t>
            </a:r>
          </a:p>
        </p:txBody>
      </p:sp>
      <p:sp>
        <p:nvSpPr>
          <p:cNvPr id="25" name="TextBox 24"/>
          <p:cNvSpPr txBox="1"/>
          <p:nvPr/>
        </p:nvSpPr>
        <p:spPr>
          <a:xfrm>
            <a:off x="5394960" y="3081528"/>
            <a:ext cx="47914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volume wave — every model in production</a:t>
            </a:r>
          </a:p>
        </p:txBody>
      </p:sp>
      <p:sp>
        <p:nvSpPr>
          <p:cNvPr id="26" name="TextBox 25"/>
          <p:cNvSpPr txBox="1"/>
          <p:nvPr/>
        </p:nvSpPr>
        <p:spPr>
          <a:xfrm>
            <a:off x="10332720" y="3081528"/>
            <a:ext cx="1252728" cy="384048"/>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2 months</a:t>
            </a:r>
          </a:p>
        </p:txBody>
      </p:sp>
      <p:sp>
        <p:nvSpPr>
          <p:cNvPr id="27" name="Rectangle 26"/>
          <p:cNvSpPr/>
          <p:nvPr/>
        </p:nvSpPr>
        <p:spPr>
          <a:xfrm>
            <a:off x="548640" y="3493008"/>
            <a:ext cx="11094415"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538728"/>
            <a:ext cx="168249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2027 – Jan 2028</a:t>
            </a:r>
          </a:p>
        </p:txBody>
      </p:sp>
      <p:sp>
        <p:nvSpPr>
          <p:cNvPr id="29" name="TextBox 28"/>
          <p:cNvSpPr txBox="1"/>
          <p:nvPr/>
        </p:nvSpPr>
        <p:spPr>
          <a:xfrm>
            <a:off x="2468880" y="3538728"/>
            <a:ext cx="277977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Further systems phase in</a:t>
            </a:r>
          </a:p>
        </p:txBody>
      </p:sp>
      <p:sp>
        <p:nvSpPr>
          <p:cNvPr id="30" name="TextBox 29"/>
          <p:cNvSpPr txBox="1"/>
          <p:nvPr/>
        </p:nvSpPr>
        <p:spPr>
          <a:xfrm>
            <a:off x="5394960" y="3538728"/>
            <a:ext cx="47914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Additional ADAS functions layered on</a:t>
            </a:r>
          </a:p>
        </p:txBody>
      </p:sp>
      <p:sp>
        <p:nvSpPr>
          <p:cNvPr id="31" name="TextBox 30"/>
          <p:cNvSpPr txBox="1"/>
          <p:nvPr/>
        </p:nvSpPr>
        <p:spPr>
          <a:xfrm>
            <a:off x="10332720" y="3538728"/>
            <a:ext cx="1252728" cy="384048"/>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Runway</a:t>
            </a:r>
          </a:p>
        </p:txBody>
      </p:sp>
      <p:sp>
        <p:nvSpPr>
          <p:cNvPr id="32" name="Rounded Rectangle 31"/>
          <p:cNvSpPr/>
          <p:nvPr/>
        </p:nvSpPr>
        <p:spPr>
          <a:xfrm>
            <a:off x="548640" y="4069080"/>
            <a:ext cx="5852160" cy="160020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4233672"/>
            <a:ext cx="5394960" cy="292608"/>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Why this changes the pitch</a:t>
            </a:r>
          </a:p>
        </p:txBody>
      </p:sp>
      <p:sp>
        <p:nvSpPr>
          <p:cNvPr id="34" name="TextBox 33"/>
          <p:cNvSpPr txBox="1"/>
          <p:nvPr/>
        </p:nvSpPr>
        <p:spPr>
          <a:xfrm>
            <a:off x="749808" y="4572000"/>
            <a:ext cx="5394960" cy="96012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April 2026 only bound new model introductions — a small population. October 2026 binds everything already in production. That is when fleet and OEM buyers are actually forced to move, and it is eight weeks away.</a:t>
            </a:r>
          </a:p>
        </p:txBody>
      </p:sp>
      <p:sp>
        <p:nvSpPr>
          <p:cNvPr id="35" name="Rounded Rectangle 34"/>
          <p:cNvSpPr/>
          <p:nvPr/>
        </p:nvSpPr>
        <p:spPr>
          <a:xfrm>
            <a:off x="6629400" y="4069080"/>
            <a:ext cx="5010912" cy="1600200"/>
          </a:xfrm>
          <a:prstGeom prst="roundRect">
            <a:avLst>
              <a:gd name="adj" fmla="val 4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29400" y="4069080"/>
            <a:ext cx="54864" cy="16002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39712" y="4233672"/>
            <a:ext cx="4572000"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The uncomfortable corollary</a:t>
            </a:r>
          </a:p>
        </p:txBody>
      </p:sp>
      <p:sp>
        <p:nvSpPr>
          <p:cNvPr id="38" name="TextBox 37"/>
          <p:cNvSpPr txBox="1"/>
          <p:nvPr/>
        </p:nvSpPr>
        <p:spPr>
          <a:xfrm>
            <a:off x="6839712" y="4572000"/>
            <a:ext cx="4572000" cy="960120"/>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AIS certification is a path, not held. If the October wave lands before certification does, the buyer who is forced to act cannot buy from DeepGrid — they buy the compliance box. Track A does not have this problem.</a:t>
            </a:r>
          </a:p>
        </p:txBody>
      </p:sp>
      <p:sp>
        <p:nvSpPr>
          <p:cNvPr id="39" name="Rounded Rectangle 38"/>
          <p:cNvSpPr/>
          <p:nvPr/>
        </p:nvSpPr>
        <p:spPr>
          <a:xfrm>
            <a:off x="548640" y="5833872"/>
            <a:ext cx="1188720" cy="274320"/>
          </a:xfrm>
          <a:prstGeom prst="roundRect">
            <a:avLst>
              <a:gd name="adj" fmla="val 30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875020"/>
            <a:ext cx="1188720" cy="219456"/>
          </a:xfrm>
          <a:prstGeom prst="rect">
            <a:avLst/>
          </a:prstGeom>
          <a:noFill/>
        </p:spPr>
        <p:txBody>
          <a:bodyPr wrap="square" anchor="t" lIns="0" rIns="0" tIns="0" bIns="0">
            <a:noAutofit/>
          </a:bodyPr>
          <a:lstStyle/>
          <a:p>
            <a:pPr algn="ctr">
              <a:lnSpc>
                <a:spcPct val="105000"/>
              </a:lnSpc>
              <a:spcBef>
                <a:spcPts val="0"/>
              </a:spcBef>
            </a:pPr>
            <a:r>
              <a:rPr sz="950" b="1" i="0">
                <a:solidFill>
                  <a:srgbClr val="FFFFFF"/>
                </a:solidFill>
                <a:latin typeface="Calibri"/>
              </a:rPr>
              <a:t>VERIFIED</a:t>
            </a:r>
          </a:p>
        </p:txBody>
      </p:sp>
      <p:sp>
        <p:nvSpPr>
          <p:cNvPr id="41" name="TextBox 40"/>
          <p:cNvSpPr txBox="1"/>
          <p:nvPr/>
        </p:nvSpPr>
        <p:spPr>
          <a:xfrm>
            <a:off x="1874519" y="5870448"/>
            <a:ext cx="8229600" cy="274320"/>
          </a:xfrm>
          <a:prstGeom prst="rect">
            <a:avLst/>
          </a:prstGeom>
          <a:noFill/>
        </p:spPr>
        <p:txBody>
          <a:bodyPr wrap="square" anchor="t" lIns="0" rIns="0" tIns="0" bIns="0">
            <a:noAutofit/>
          </a:bodyPr>
          <a:lstStyle/>
          <a:p>
            <a:pPr algn="l">
              <a:lnSpc>
                <a:spcPct val="105000"/>
              </a:lnSpc>
              <a:spcBef>
                <a:spcPts val="0"/>
              </a:spcBef>
            </a:pPr>
            <a:r>
              <a:rPr sz="1000" b="0" i="1">
                <a:solidFill>
                  <a:srgbClr val="5B6B7C"/>
                </a:solidFill>
                <a:latin typeface="Calibri"/>
              </a:rPr>
              <a:t>Phasing confirmed independently, Aug 2026 · electraytech.com; novushitech.com</a:t>
            </a:r>
          </a:p>
        </p:txBody>
      </p:sp>
      <p:sp>
        <p:nvSpPr>
          <p:cNvPr id="42" name="TextBox 4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43" name="TextBox 4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What you are selling: a certified system, not a chip</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One six-chiplet 28nm die underneath four product lines</a:t>
            </a:r>
          </a:p>
        </p:txBody>
      </p:sp>
      <p:pic>
        <p:nvPicPr>
          <p:cNvPr id="6" name="Picture 5" descr="module-m2_2743200x1737360.png"/>
          <p:cNvPicPr>
            <a:picLocks noChangeAspect="1"/>
          </p:cNvPicPr>
          <p:nvPr/>
        </p:nvPicPr>
        <p:blipFill>
          <a:blip r:embed="rId2"/>
          <a:stretch>
            <a:fillRect/>
          </a:stretch>
        </p:blipFill>
        <p:spPr>
          <a:xfrm>
            <a:off x="548640" y="1700784"/>
            <a:ext cx="2743200" cy="1737360"/>
          </a:xfrm>
          <a:prstGeom prst="rect">
            <a:avLst/>
          </a:prstGeom>
        </p:spPr>
      </p:pic>
      <p:pic>
        <p:nvPicPr>
          <p:cNvPr id="7" name="Picture 6" descr="compute-box_2743200x1737360.png"/>
          <p:cNvPicPr>
            <a:picLocks noChangeAspect="1"/>
          </p:cNvPicPr>
          <p:nvPr/>
        </p:nvPicPr>
        <p:blipFill>
          <a:blip r:embed="rId3"/>
          <a:stretch>
            <a:fillRect/>
          </a:stretch>
        </p:blipFill>
        <p:spPr>
          <a:xfrm>
            <a:off x="3456432" y="1700784"/>
            <a:ext cx="2743200" cy="1737360"/>
          </a:xfrm>
          <a:prstGeom prst="rect">
            <a:avLst/>
          </a:prstGeom>
        </p:spPr>
      </p:pic>
      <p:pic>
        <p:nvPicPr>
          <p:cNvPr id="8" name="Picture 7" descr="detection_2743200x1737360.png"/>
          <p:cNvPicPr>
            <a:picLocks noChangeAspect="1"/>
          </p:cNvPicPr>
          <p:nvPr/>
        </p:nvPicPr>
        <p:blipFill>
          <a:blip r:embed="rId4"/>
          <a:stretch>
            <a:fillRect/>
          </a:stretch>
        </p:blipFill>
        <p:spPr>
          <a:xfrm>
            <a:off x="6364224" y="1700784"/>
            <a:ext cx="2743200" cy="1737360"/>
          </a:xfrm>
          <a:prstGeom prst="rect">
            <a:avLst/>
          </a:prstGeom>
        </p:spPr>
      </p:pic>
      <p:pic>
        <p:nvPicPr>
          <p:cNvPr id="9" name="Picture 8" descr="robots_2368296x1737360.png"/>
          <p:cNvPicPr>
            <a:picLocks noChangeAspect="1"/>
          </p:cNvPicPr>
          <p:nvPr/>
        </p:nvPicPr>
        <p:blipFill>
          <a:blip r:embed="rId5"/>
          <a:stretch>
            <a:fillRect/>
          </a:stretch>
        </p:blipFill>
        <p:spPr>
          <a:xfrm>
            <a:off x="9272016" y="1700784"/>
            <a:ext cx="2368296" cy="1737360"/>
          </a:xfrm>
          <a:prstGeom prst="rect">
            <a:avLst/>
          </a:prstGeom>
        </p:spPr>
      </p:pic>
      <p:sp>
        <p:nvSpPr>
          <p:cNvPr id="10" name="TextBox 9"/>
          <p:cNvSpPr txBox="1"/>
          <p:nvPr/>
        </p:nvSpPr>
        <p:spPr>
          <a:xfrm>
            <a:off x="548640" y="3511296"/>
            <a:ext cx="2743200" cy="237744"/>
          </a:xfrm>
          <a:prstGeom prst="rect">
            <a:avLst/>
          </a:prstGeom>
          <a:noFill/>
        </p:spPr>
        <p:txBody>
          <a:bodyPr wrap="square" anchor="t" lIns="0" rIns="0" tIns="0" bIns="0">
            <a:normAutofit/>
          </a:bodyPr>
          <a:lstStyle/>
          <a:p>
            <a:pPr algn="ctr">
              <a:lnSpc>
                <a:spcPct val="105000"/>
              </a:lnSpc>
              <a:spcBef>
                <a:spcPts val="0"/>
              </a:spcBef>
            </a:pPr>
            <a:r>
              <a:rPr sz="1150" b="1" i="0">
                <a:solidFill>
                  <a:srgbClr val="0A1628"/>
                </a:solidFill>
                <a:latin typeface="Calibri"/>
              </a:rPr>
              <a:t>DGrid Alpha module</a:t>
            </a:r>
          </a:p>
        </p:txBody>
      </p:sp>
      <p:sp>
        <p:nvSpPr>
          <p:cNvPr id="11" name="TextBox 10"/>
          <p:cNvSpPr txBox="1"/>
          <p:nvPr/>
        </p:nvSpPr>
        <p:spPr>
          <a:xfrm>
            <a:off x="548640" y="3749039"/>
            <a:ext cx="2743200" cy="219456"/>
          </a:xfrm>
          <a:prstGeom prst="rect">
            <a:avLst/>
          </a:prstGeom>
          <a:noFill/>
        </p:spPr>
        <p:txBody>
          <a:bodyPr wrap="square" anchor="t" lIns="0" rIns="0" tIns="0" bIns="0">
            <a:normAutofit/>
          </a:bodyPr>
          <a:lstStyle/>
          <a:p>
            <a:pPr algn="ctr">
              <a:lnSpc>
                <a:spcPct val="105000"/>
              </a:lnSpc>
              <a:spcBef>
                <a:spcPts val="0"/>
              </a:spcBef>
            </a:pPr>
            <a:r>
              <a:rPr sz="1000" b="0" i="0">
                <a:solidFill>
                  <a:srgbClr val="5B6B7C"/>
                </a:solidFill>
                <a:latin typeface="Calibri"/>
              </a:rPr>
              <a:t>M.2 form factor</a:t>
            </a:r>
          </a:p>
        </p:txBody>
      </p:sp>
      <p:sp>
        <p:nvSpPr>
          <p:cNvPr id="12" name="TextBox 11"/>
          <p:cNvSpPr txBox="1"/>
          <p:nvPr/>
        </p:nvSpPr>
        <p:spPr>
          <a:xfrm>
            <a:off x="3456432" y="3511296"/>
            <a:ext cx="2743200" cy="237744"/>
          </a:xfrm>
          <a:prstGeom prst="rect">
            <a:avLst/>
          </a:prstGeom>
          <a:noFill/>
        </p:spPr>
        <p:txBody>
          <a:bodyPr wrap="square" anchor="t" lIns="0" rIns="0" tIns="0" bIns="0">
            <a:normAutofit/>
          </a:bodyPr>
          <a:lstStyle/>
          <a:p>
            <a:pPr algn="ctr">
              <a:lnSpc>
                <a:spcPct val="105000"/>
              </a:lnSpc>
              <a:spcBef>
                <a:spcPts val="0"/>
              </a:spcBef>
            </a:pPr>
            <a:r>
              <a:rPr sz="1150" b="1" i="0">
                <a:solidFill>
                  <a:srgbClr val="0A1628"/>
                </a:solidFill>
                <a:latin typeface="Calibri"/>
              </a:rPr>
              <a:t>A100 compute box</a:t>
            </a:r>
          </a:p>
        </p:txBody>
      </p:sp>
      <p:sp>
        <p:nvSpPr>
          <p:cNvPr id="13" name="TextBox 12"/>
          <p:cNvSpPr txBox="1"/>
          <p:nvPr/>
        </p:nvSpPr>
        <p:spPr>
          <a:xfrm>
            <a:off x="3456432" y="3749039"/>
            <a:ext cx="2743200" cy="219456"/>
          </a:xfrm>
          <a:prstGeom prst="rect">
            <a:avLst/>
          </a:prstGeom>
          <a:noFill/>
        </p:spPr>
        <p:txBody>
          <a:bodyPr wrap="square" anchor="t" lIns="0" rIns="0" tIns="0" bIns="0">
            <a:normAutofit/>
          </a:bodyPr>
          <a:lstStyle/>
          <a:p>
            <a:pPr algn="ctr">
              <a:lnSpc>
                <a:spcPct val="105000"/>
              </a:lnSpc>
              <a:spcBef>
                <a:spcPts val="0"/>
              </a:spcBef>
            </a:pPr>
            <a:r>
              <a:rPr sz="1000" b="0" i="0">
                <a:solidFill>
                  <a:srgbClr val="5B6B7C"/>
                </a:solidFill>
                <a:latin typeface="Calibri"/>
              </a:rPr>
              <a:t>1ch / 2ch / 4ch</a:t>
            </a:r>
          </a:p>
        </p:txBody>
      </p:sp>
      <p:sp>
        <p:nvSpPr>
          <p:cNvPr id="14" name="TextBox 13"/>
          <p:cNvSpPr txBox="1"/>
          <p:nvPr/>
        </p:nvSpPr>
        <p:spPr>
          <a:xfrm>
            <a:off x="6364224" y="3511296"/>
            <a:ext cx="2743200" cy="237744"/>
          </a:xfrm>
          <a:prstGeom prst="rect">
            <a:avLst/>
          </a:prstGeom>
          <a:noFill/>
        </p:spPr>
        <p:txBody>
          <a:bodyPr wrap="square" anchor="t" lIns="0" rIns="0" tIns="0" bIns="0">
            <a:normAutofit/>
          </a:bodyPr>
          <a:lstStyle/>
          <a:p>
            <a:pPr algn="ctr">
              <a:lnSpc>
                <a:spcPct val="105000"/>
              </a:lnSpc>
              <a:spcBef>
                <a:spcPts val="0"/>
              </a:spcBef>
            </a:pPr>
            <a:r>
              <a:rPr sz="1150" b="1" i="0">
                <a:solidFill>
                  <a:srgbClr val="0A1628"/>
                </a:solidFill>
                <a:latin typeface="Calibri"/>
              </a:rPr>
              <a:t>D-Drive perception</a:t>
            </a:r>
          </a:p>
        </p:txBody>
      </p:sp>
      <p:sp>
        <p:nvSpPr>
          <p:cNvPr id="15" name="TextBox 14"/>
          <p:cNvSpPr txBox="1"/>
          <p:nvPr/>
        </p:nvSpPr>
        <p:spPr>
          <a:xfrm>
            <a:off x="6364224" y="3749039"/>
            <a:ext cx="2743200" cy="219456"/>
          </a:xfrm>
          <a:prstGeom prst="rect">
            <a:avLst/>
          </a:prstGeom>
          <a:noFill/>
        </p:spPr>
        <p:txBody>
          <a:bodyPr wrap="square" anchor="t" lIns="0" rIns="0" tIns="0" bIns="0">
            <a:normAutofit/>
          </a:bodyPr>
          <a:lstStyle/>
          <a:p>
            <a:pPr algn="ctr">
              <a:lnSpc>
                <a:spcPct val="105000"/>
              </a:lnSpc>
              <a:spcBef>
                <a:spcPts val="0"/>
              </a:spcBef>
            </a:pPr>
            <a:r>
              <a:rPr sz="1000" b="0" i="0">
                <a:solidFill>
                  <a:srgbClr val="5B6B7C"/>
                </a:solidFill>
                <a:latin typeface="Calibri"/>
              </a:rPr>
              <a:t>transformer VLA, no HD maps</a:t>
            </a:r>
          </a:p>
        </p:txBody>
      </p:sp>
      <p:sp>
        <p:nvSpPr>
          <p:cNvPr id="16" name="TextBox 15"/>
          <p:cNvSpPr txBox="1"/>
          <p:nvPr/>
        </p:nvSpPr>
        <p:spPr>
          <a:xfrm>
            <a:off x="9272016" y="3511296"/>
            <a:ext cx="2368296" cy="237744"/>
          </a:xfrm>
          <a:prstGeom prst="rect">
            <a:avLst/>
          </a:prstGeom>
          <a:noFill/>
        </p:spPr>
        <p:txBody>
          <a:bodyPr wrap="square" anchor="t" lIns="0" rIns="0" tIns="0" bIns="0">
            <a:normAutofit/>
          </a:bodyPr>
          <a:lstStyle/>
          <a:p>
            <a:pPr algn="ctr">
              <a:lnSpc>
                <a:spcPct val="105000"/>
              </a:lnSpc>
              <a:spcBef>
                <a:spcPts val="0"/>
              </a:spcBef>
            </a:pPr>
            <a:r>
              <a:rPr sz="1150" b="1" i="0">
                <a:solidFill>
                  <a:srgbClr val="0A1628"/>
                </a:solidFill>
                <a:latin typeface="Calibri"/>
              </a:rPr>
              <a:t>Phase-3 autonomy</a:t>
            </a:r>
          </a:p>
        </p:txBody>
      </p:sp>
      <p:sp>
        <p:nvSpPr>
          <p:cNvPr id="17" name="TextBox 16"/>
          <p:cNvSpPr txBox="1"/>
          <p:nvPr/>
        </p:nvSpPr>
        <p:spPr>
          <a:xfrm>
            <a:off x="9272016" y="3749039"/>
            <a:ext cx="2368296" cy="219456"/>
          </a:xfrm>
          <a:prstGeom prst="rect">
            <a:avLst/>
          </a:prstGeom>
          <a:noFill/>
        </p:spPr>
        <p:txBody>
          <a:bodyPr wrap="square" anchor="t" lIns="0" rIns="0" tIns="0" bIns="0">
            <a:normAutofit/>
          </a:bodyPr>
          <a:lstStyle/>
          <a:p>
            <a:pPr algn="ctr">
              <a:lnSpc>
                <a:spcPct val="105000"/>
              </a:lnSpc>
              <a:spcBef>
                <a:spcPts val="0"/>
              </a:spcBef>
            </a:pPr>
            <a:r>
              <a:rPr sz="1000" b="0" i="0">
                <a:solidFill>
                  <a:srgbClr val="5B6B7C"/>
                </a:solidFill>
                <a:latin typeface="Calibri"/>
              </a:rPr>
              <a:t>yards, ports, defence</a:t>
            </a:r>
          </a:p>
        </p:txBody>
      </p:sp>
      <p:sp>
        <p:nvSpPr>
          <p:cNvPr id="18" name="Rectangle 17"/>
          <p:cNvSpPr/>
          <p:nvPr/>
        </p:nvSpPr>
        <p:spPr>
          <a:xfrm>
            <a:off x="548640" y="4114800"/>
            <a:ext cx="11094415" cy="4572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160520"/>
            <a:ext cx="676656" cy="384048"/>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Line</a:t>
            </a:r>
          </a:p>
        </p:txBody>
      </p:sp>
      <p:sp>
        <p:nvSpPr>
          <p:cNvPr id="20" name="TextBox 19"/>
          <p:cNvSpPr txBox="1"/>
          <p:nvPr/>
        </p:nvSpPr>
        <p:spPr>
          <a:xfrm>
            <a:off x="1463040" y="4160520"/>
            <a:ext cx="2596896"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Product</a:t>
            </a:r>
          </a:p>
        </p:txBody>
      </p:sp>
      <p:sp>
        <p:nvSpPr>
          <p:cNvPr id="21" name="TextBox 20"/>
          <p:cNvSpPr txBox="1"/>
          <p:nvPr/>
        </p:nvSpPr>
        <p:spPr>
          <a:xfrm>
            <a:off x="4206240" y="4160520"/>
            <a:ext cx="1591056"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Price</a:t>
            </a:r>
          </a:p>
        </p:txBody>
      </p:sp>
      <p:sp>
        <p:nvSpPr>
          <p:cNvPr id="22" name="TextBox 21"/>
          <p:cNvSpPr txBox="1"/>
          <p:nvPr/>
        </p:nvSpPr>
        <p:spPr>
          <a:xfrm>
            <a:off x="5943600" y="4160520"/>
            <a:ext cx="5641848"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it is for commercially</a:t>
            </a:r>
          </a:p>
        </p:txBody>
      </p:sp>
      <p:sp>
        <p:nvSpPr>
          <p:cNvPr id="23" name="Rectangle 22"/>
          <p:cNvSpPr/>
          <p:nvPr/>
        </p:nvSpPr>
        <p:spPr>
          <a:xfrm>
            <a:off x="548640" y="4572000"/>
            <a:ext cx="11094415" cy="457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617720"/>
            <a:ext cx="6766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AD0</a:t>
            </a:r>
          </a:p>
        </p:txBody>
      </p:sp>
      <p:sp>
        <p:nvSpPr>
          <p:cNvPr id="25" name="TextBox 24"/>
          <p:cNvSpPr txBox="1"/>
          <p:nvPr/>
        </p:nvSpPr>
        <p:spPr>
          <a:xfrm>
            <a:off x="1463040" y="4617720"/>
            <a:ext cx="259689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Smart mirror / 360</a:t>
            </a:r>
          </a:p>
        </p:txBody>
      </p:sp>
      <p:sp>
        <p:nvSpPr>
          <p:cNvPr id="26" name="TextBox 25"/>
          <p:cNvSpPr txBox="1"/>
          <p:nvPr/>
        </p:nvSpPr>
        <p:spPr>
          <a:xfrm>
            <a:off x="4206240" y="4617720"/>
            <a:ext cx="1591056" cy="384048"/>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₹0.50L</a:t>
            </a:r>
          </a:p>
        </p:txBody>
      </p:sp>
      <p:sp>
        <p:nvSpPr>
          <p:cNvPr id="27" name="TextBox 26"/>
          <p:cNvSpPr txBox="1"/>
          <p:nvPr/>
        </p:nvSpPr>
        <p:spPr>
          <a:xfrm>
            <a:off x="5943600" y="4617720"/>
            <a:ext cx="564184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Retrofit entry — the upgrade-ladder foot in the door</a:t>
            </a:r>
          </a:p>
        </p:txBody>
      </p:sp>
      <p:sp>
        <p:nvSpPr>
          <p:cNvPr id="28" name="Rectangle 27"/>
          <p:cNvSpPr/>
          <p:nvPr/>
        </p:nvSpPr>
        <p:spPr>
          <a:xfrm>
            <a:off x="548640" y="5029200"/>
            <a:ext cx="11094415" cy="457200"/>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029200"/>
            <a:ext cx="50292" cy="45720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074920"/>
            <a:ext cx="676656" cy="384048"/>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AD2</a:t>
            </a:r>
          </a:p>
        </p:txBody>
      </p:sp>
      <p:sp>
        <p:nvSpPr>
          <p:cNvPr id="31" name="TextBox 30"/>
          <p:cNvSpPr txBox="1"/>
          <p:nvPr/>
        </p:nvSpPr>
        <p:spPr>
          <a:xfrm>
            <a:off x="1463040" y="5074920"/>
            <a:ext cx="259689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Full truck ADAS kit</a:t>
            </a:r>
          </a:p>
        </p:txBody>
      </p:sp>
      <p:sp>
        <p:nvSpPr>
          <p:cNvPr id="32" name="TextBox 31"/>
          <p:cNvSpPr txBox="1"/>
          <p:nvPr/>
        </p:nvSpPr>
        <p:spPr>
          <a:xfrm>
            <a:off x="4206240" y="5074920"/>
            <a:ext cx="1591056" cy="384048"/>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₹2.0–2.5L</a:t>
            </a:r>
          </a:p>
        </p:txBody>
      </p:sp>
      <p:sp>
        <p:nvSpPr>
          <p:cNvPr id="33" name="TextBox 32"/>
          <p:cNvSpPr txBox="1"/>
          <p:nvPr/>
        </p:nvSpPr>
        <p:spPr>
          <a:xfrm>
            <a:off x="5943600" y="5074920"/>
            <a:ext cx="564184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mandate product — compute + software + sensors</a:t>
            </a:r>
          </a:p>
        </p:txBody>
      </p:sp>
      <p:sp>
        <p:nvSpPr>
          <p:cNvPr id="34" name="Rectangle 33"/>
          <p:cNvSpPr/>
          <p:nvPr/>
        </p:nvSpPr>
        <p:spPr>
          <a:xfrm>
            <a:off x="548640" y="5486400"/>
            <a:ext cx="11094415" cy="457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532120"/>
            <a:ext cx="6766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AD4</a:t>
            </a:r>
          </a:p>
        </p:txBody>
      </p:sp>
      <p:sp>
        <p:nvSpPr>
          <p:cNvPr id="36" name="TextBox 35"/>
          <p:cNvSpPr txBox="1"/>
          <p:nvPr/>
        </p:nvSpPr>
        <p:spPr>
          <a:xfrm>
            <a:off x="1463040" y="5532120"/>
            <a:ext cx="259689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Off-highway autonomy</a:t>
            </a:r>
          </a:p>
        </p:txBody>
      </p:sp>
      <p:sp>
        <p:nvSpPr>
          <p:cNvPr id="37" name="TextBox 36"/>
          <p:cNvSpPr txBox="1"/>
          <p:nvPr/>
        </p:nvSpPr>
        <p:spPr>
          <a:xfrm>
            <a:off x="4206240" y="5532120"/>
            <a:ext cx="1591056" cy="384048"/>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₹0.45–3.5 Cr</a:t>
            </a:r>
          </a:p>
        </p:txBody>
      </p:sp>
      <p:sp>
        <p:nvSpPr>
          <p:cNvPr id="38" name="TextBox 37"/>
          <p:cNvSpPr txBox="1"/>
          <p:nvPr/>
        </p:nvSpPr>
        <p:spPr>
          <a:xfrm>
            <a:off x="5943600" y="5532120"/>
            <a:ext cx="564184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Private land: yards, ports, defence — no FMVSS, no cert gate</a:t>
            </a:r>
          </a:p>
        </p:txBody>
      </p:sp>
      <p:sp>
        <p:nvSpPr>
          <p:cNvPr id="39" name="TextBox 38"/>
          <p:cNvSpPr txBox="1"/>
          <p:nvPr/>
        </p:nvSpPr>
        <p:spPr>
          <a:xfrm>
            <a:off x="548640" y="6053328"/>
            <a:ext cx="11094415" cy="274320"/>
          </a:xfrm>
          <a:prstGeom prst="rect">
            <a:avLst/>
          </a:prstGeom>
          <a:noFill/>
        </p:spPr>
        <p:txBody>
          <a:bodyPr wrap="square" anchor="t" lIns="0" rIns="0" tIns="0" bIns="0">
            <a:normAutofit/>
          </a:bodyPr>
          <a:lstStyle/>
          <a:p>
            <a:pPr algn="l">
              <a:lnSpc>
                <a:spcPct val="105000"/>
              </a:lnSpc>
              <a:spcBef>
                <a:spcPts val="0"/>
              </a:spcBef>
            </a:pPr>
            <a:r>
              <a:rPr sz="1050" b="0" i="1">
                <a:solidFill>
                  <a:srgbClr val="5B6B7C"/>
                </a:solidFill>
                <a:latin typeface="Calibri"/>
              </a:rPr>
              <a:t>TSMC 28nm HPC+ · 39.3 TOPS INT8 · 64 PCOREs · ~57.1 mm² die · 8.6 ms of a 33.3 ms frame budget (74% headroom)</a:t>
            </a:r>
          </a:p>
        </p:txBody>
      </p:sp>
      <p:sp>
        <p:nvSpPr>
          <p:cNvPr id="40" name="TextBox 3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41" name="TextBox 4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owning the silicon is the argument — in a buyer's language</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Four claims, each of which a competitor cannot simply match</a:t>
            </a:r>
          </a:p>
        </p:txBody>
      </p:sp>
      <p:sp>
        <p:nvSpPr>
          <p:cNvPr id="6" name="Rounded Rectangle 5"/>
          <p:cNvSpPr/>
          <p:nvPr/>
        </p:nvSpPr>
        <p:spPr>
          <a:xfrm>
            <a:off x="548640" y="1737360"/>
            <a:ext cx="5446623" cy="182880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5446623"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20240"/>
            <a:ext cx="5117439"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Cost — the one they feel</a:t>
            </a:r>
          </a:p>
        </p:txBody>
      </p:sp>
      <p:sp>
        <p:nvSpPr>
          <p:cNvPr id="9" name="TextBox 8"/>
          <p:cNvSpPr txBox="1"/>
          <p:nvPr/>
        </p:nvSpPr>
        <p:spPr>
          <a:xfrm>
            <a:off x="713232" y="2377440"/>
            <a:ext cx="5117439" cy="104241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₹2L kit against ₹6.5–15L imports, because the die is ~$30 of board BOM rather than a bought-in $6,000-class part. A merchant incumbent cannot shrink to that without cannibalising its own margin.</a:t>
            </a:r>
          </a:p>
        </p:txBody>
      </p:sp>
      <p:sp>
        <p:nvSpPr>
          <p:cNvPr id="10" name="Rounded Rectangle 9"/>
          <p:cNvSpPr/>
          <p:nvPr/>
        </p:nvSpPr>
        <p:spPr>
          <a:xfrm>
            <a:off x="6196431" y="1737360"/>
            <a:ext cx="5446623" cy="182880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6431" y="1737360"/>
            <a:ext cx="5446623"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1023" y="1920240"/>
            <a:ext cx="5117439"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Capability — the one they test</a:t>
            </a:r>
          </a:p>
        </p:txBody>
      </p:sp>
      <p:sp>
        <p:nvSpPr>
          <p:cNvPr id="13" name="TextBox 12"/>
          <p:cNvSpPr txBox="1"/>
          <p:nvPr/>
        </p:nvSpPr>
        <p:spPr>
          <a:xfrm>
            <a:off x="6361023" y="2377440"/>
            <a:ext cx="5117439" cy="104241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Heavy transformer VLA models run on-chip. A YOLO-class edge part cannot host them. This is the claim to lead with in a fleet room, because the ₹30,000 box has no answer.</a:t>
            </a:r>
          </a:p>
        </p:txBody>
      </p:sp>
      <p:sp>
        <p:nvSpPr>
          <p:cNvPr id="14" name="Rounded Rectangle 13"/>
          <p:cNvSpPr/>
          <p:nvPr/>
        </p:nvSpPr>
        <p:spPr>
          <a:xfrm>
            <a:off x="548640" y="3767328"/>
            <a:ext cx="5446623" cy="182880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767328"/>
            <a:ext cx="5446623"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950208"/>
            <a:ext cx="5117439"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India-fit — the one they believe</a:t>
            </a:r>
          </a:p>
        </p:txBody>
      </p:sp>
      <p:sp>
        <p:nvSpPr>
          <p:cNvPr id="17" name="TextBox 16"/>
          <p:cNvSpPr txBox="1"/>
          <p:nvPr/>
        </p:nvSpPr>
        <p:spPr>
          <a:xfrm>
            <a:off x="713232" y="4407408"/>
            <a:ext cx="5117439" cy="104241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Models and 12-bit radar trained on Indian road data — cattle, autos, unmarked lanes. A foreign chip vendor cannot reach that data, and every Indian fleet operator already knows why it matters.</a:t>
            </a:r>
          </a:p>
        </p:txBody>
      </p:sp>
      <p:sp>
        <p:nvSpPr>
          <p:cNvPr id="18" name="Rounded Rectangle 17"/>
          <p:cNvSpPr/>
          <p:nvPr/>
        </p:nvSpPr>
        <p:spPr>
          <a:xfrm>
            <a:off x="6196431" y="3767328"/>
            <a:ext cx="5446623" cy="182880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3767328"/>
            <a:ext cx="5446623"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1023" y="3950208"/>
            <a:ext cx="5117439"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Control — the one procurement asks</a:t>
            </a:r>
          </a:p>
        </p:txBody>
      </p:sp>
      <p:sp>
        <p:nvSpPr>
          <p:cNvPr id="21" name="TextBox 20"/>
          <p:cNvSpPr txBox="1"/>
          <p:nvPr/>
        </p:nvSpPr>
        <p:spPr>
          <a:xfrm>
            <a:off x="6361023" y="4407408"/>
            <a:ext cx="5117439" cy="104241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Indigenous supply, no import dependence, on-die HSM. In government and defence procurement this stops being a feature and becomes an eligibility criterion.</a:t>
            </a:r>
          </a:p>
        </p:txBody>
      </p:sp>
      <p:sp>
        <p:nvSpPr>
          <p:cNvPr id="22" name="Rounded Rectangle 21"/>
          <p:cNvSpPr/>
          <p:nvPr/>
        </p:nvSpPr>
        <p:spPr>
          <a:xfrm>
            <a:off x="548640" y="5705856"/>
            <a:ext cx="11094415" cy="56692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833872"/>
            <a:ext cx="10637215" cy="329184"/>
          </a:xfrm>
          <a:prstGeom prst="rect">
            <a:avLst/>
          </a:prstGeom>
          <a:noFill/>
        </p:spPr>
        <p:txBody>
          <a:bodyPr wrap="square" anchor="t" lIns="0" rIns="0" tIns="0" bIns="0">
            <a:normAutofit/>
          </a:bodyPr>
          <a:lstStyle/>
          <a:p>
            <a:pPr algn="l">
              <a:lnSpc>
                <a:spcPct val="105000"/>
              </a:lnSpc>
              <a:spcBef>
                <a:spcPts val="0"/>
              </a:spcBef>
            </a:pPr>
            <a:r>
              <a:rPr sz="1250" b="1" i="0">
                <a:solidFill>
                  <a:srgbClr val="FFFFFF"/>
                </a:solidFill>
                <a:latin typeface="Calibri"/>
              </a:rPr>
              <a:t>Sequence matters: capability opens a fleet conversation, control opens a defence one, and cost closes both. Cost never opens.</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54864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02</a:t>
            </a:r>
          </a:p>
        </p:txBody>
      </p:sp>
      <p:sp>
        <p:nvSpPr>
          <p:cNvPr id="5" name="TextBox 4"/>
          <p:cNvSpPr txBox="1"/>
          <p:nvPr/>
        </p:nvSpPr>
        <p:spPr>
          <a:xfrm>
            <a:off x="777240" y="2788920"/>
            <a:ext cx="10058400" cy="91440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Who to sell to</a:t>
            </a:r>
          </a:p>
        </p:txBody>
      </p:sp>
      <p:sp>
        <p:nvSpPr>
          <p:cNvPr id="6" name="Rectangle 5"/>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041648"/>
            <a:ext cx="9601200" cy="54864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Two tracks, two proof burdens, never the same room</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 July-corrected basis · 5 Aug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Six segments, five reachable — and only two worth this quarter</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Where the ₹2.3L price holds and where it does not</a:t>
            </a:r>
          </a:p>
        </p:txBody>
      </p:sp>
      <p:sp>
        <p:nvSpPr>
          <p:cNvPr id="6" name="Rectangle 5"/>
          <p:cNvSpPr/>
          <p:nvPr/>
        </p:nvSpPr>
        <p:spPr>
          <a:xfrm>
            <a:off x="548640" y="1664208"/>
            <a:ext cx="11094415"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2596896" cy="420624"/>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Segment</a:t>
            </a:r>
          </a:p>
        </p:txBody>
      </p:sp>
      <p:sp>
        <p:nvSpPr>
          <p:cNvPr id="8" name="TextBox 7"/>
          <p:cNvSpPr txBox="1"/>
          <p:nvPr/>
        </p:nvSpPr>
        <p:spPr>
          <a:xfrm>
            <a:off x="3383280" y="1709928"/>
            <a:ext cx="4151376" cy="420624"/>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Why it is addressable</a:t>
            </a:r>
          </a:p>
        </p:txBody>
      </p:sp>
      <p:sp>
        <p:nvSpPr>
          <p:cNvPr id="9" name="TextBox 8"/>
          <p:cNvSpPr txBox="1"/>
          <p:nvPr/>
        </p:nvSpPr>
        <p:spPr>
          <a:xfrm>
            <a:off x="7680960" y="1709928"/>
            <a:ext cx="2139696" cy="420624"/>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Does ₹2.3L hold?</a:t>
            </a:r>
          </a:p>
        </p:txBody>
      </p:sp>
      <p:sp>
        <p:nvSpPr>
          <p:cNvPr id="10" name="TextBox 9"/>
          <p:cNvSpPr txBox="1"/>
          <p:nvPr/>
        </p:nvSpPr>
        <p:spPr>
          <a:xfrm>
            <a:off x="9966960" y="1709928"/>
            <a:ext cx="1618488" cy="420624"/>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Priority</a:t>
            </a:r>
          </a:p>
        </p:txBody>
      </p:sp>
      <p:sp>
        <p:nvSpPr>
          <p:cNvPr id="11" name="Rectangle 10"/>
          <p:cNvSpPr/>
          <p:nvPr/>
        </p:nvSpPr>
        <p:spPr>
          <a:xfrm>
            <a:off x="548640" y="2157984"/>
            <a:ext cx="11094415" cy="493776"/>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57984"/>
            <a:ext cx="50292" cy="493776"/>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03704"/>
            <a:ext cx="2596896" cy="420624"/>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Government / PSU / defence</a:t>
            </a:r>
          </a:p>
        </p:txBody>
      </p:sp>
      <p:sp>
        <p:nvSpPr>
          <p:cNvPr id="14" name="TextBox 13"/>
          <p:cNvSpPr txBox="1"/>
          <p:nvPr/>
        </p:nvSpPr>
        <p:spPr>
          <a:xfrm>
            <a:off x="3383280" y="2203704"/>
            <a:ext cx="415137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Foreign silicon excluded; GeM record already held</a:t>
            </a:r>
          </a:p>
        </p:txBody>
      </p:sp>
      <p:sp>
        <p:nvSpPr>
          <p:cNvPr id="15" name="TextBox 14"/>
          <p:cNvSpPr txBox="1"/>
          <p:nvPr/>
        </p:nvSpPr>
        <p:spPr>
          <a:xfrm>
            <a:off x="7680960" y="2203704"/>
            <a:ext cx="21396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Yes, at a premium</a:t>
            </a:r>
          </a:p>
        </p:txBody>
      </p:sp>
      <p:sp>
        <p:nvSpPr>
          <p:cNvPr id="16" name="TextBox 15"/>
          <p:cNvSpPr txBox="1"/>
          <p:nvPr/>
        </p:nvSpPr>
        <p:spPr>
          <a:xfrm>
            <a:off x="9966960" y="2203704"/>
            <a:ext cx="1618488"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TRACK A — now</a:t>
            </a:r>
          </a:p>
        </p:txBody>
      </p:sp>
      <p:sp>
        <p:nvSpPr>
          <p:cNvPr id="17" name="Rectangle 16"/>
          <p:cNvSpPr/>
          <p:nvPr/>
        </p:nvSpPr>
        <p:spPr>
          <a:xfrm>
            <a:off x="548640" y="2651760"/>
            <a:ext cx="11094415" cy="493776"/>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651760"/>
            <a:ext cx="50292" cy="493776"/>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697480"/>
            <a:ext cx="2596896" cy="420624"/>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Plant and yard operators</a:t>
            </a:r>
          </a:p>
        </p:txBody>
      </p:sp>
      <p:sp>
        <p:nvSpPr>
          <p:cNvPr id="20" name="TextBox 19"/>
          <p:cNvSpPr txBox="1"/>
          <p:nvPr/>
        </p:nvSpPr>
        <p:spPr>
          <a:xfrm>
            <a:off x="3383280" y="2697480"/>
            <a:ext cx="415137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Own the land and the vehicles; become the Phase-3 customer</a:t>
            </a:r>
          </a:p>
        </p:txBody>
      </p:sp>
      <p:sp>
        <p:nvSpPr>
          <p:cNvPr id="21" name="TextBox 20"/>
          <p:cNvSpPr txBox="1"/>
          <p:nvPr/>
        </p:nvSpPr>
        <p:spPr>
          <a:xfrm>
            <a:off x="7680960" y="2697480"/>
            <a:ext cx="21396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Yes</a:t>
            </a:r>
          </a:p>
        </p:txBody>
      </p:sp>
      <p:sp>
        <p:nvSpPr>
          <p:cNvPr id="22" name="TextBox 21"/>
          <p:cNvSpPr txBox="1"/>
          <p:nvPr/>
        </p:nvSpPr>
        <p:spPr>
          <a:xfrm>
            <a:off x="9966960" y="2697480"/>
            <a:ext cx="1618488"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TRACK A — now</a:t>
            </a:r>
          </a:p>
        </p:txBody>
      </p:sp>
      <p:sp>
        <p:nvSpPr>
          <p:cNvPr id="23" name="Rectangle 22"/>
          <p:cNvSpPr/>
          <p:nvPr/>
        </p:nvSpPr>
        <p:spPr>
          <a:xfrm>
            <a:off x="548640" y="3145536"/>
            <a:ext cx="11094415" cy="49377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191256"/>
            <a:ext cx="25968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Large organised fleets (50+)</a:t>
            </a:r>
          </a:p>
        </p:txBody>
      </p:sp>
      <p:sp>
        <p:nvSpPr>
          <p:cNvPr id="25" name="TextBox 24"/>
          <p:cNvSpPr txBox="1"/>
          <p:nvPr/>
        </p:nvSpPr>
        <p:spPr>
          <a:xfrm>
            <a:off x="3383280" y="3191256"/>
            <a:ext cx="415137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Real safety P&amp;L, single decision-maker, can run a pilot</a:t>
            </a:r>
          </a:p>
        </p:txBody>
      </p:sp>
      <p:sp>
        <p:nvSpPr>
          <p:cNvPr id="26" name="TextBox 25"/>
          <p:cNvSpPr txBox="1"/>
          <p:nvPr/>
        </p:nvSpPr>
        <p:spPr>
          <a:xfrm>
            <a:off x="7680960" y="3191256"/>
            <a:ext cx="21396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Yes</a:t>
            </a:r>
          </a:p>
        </p:txBody>
      </p:sp>
      <p:sp>
        <p:nvSpPr>
          <p:cNvPr id="27" name="TextBox 26"/>
          <p:cNvSpPr txBox="1"/>
          <p:nvPr/>
        </p:nvSpPr>
        <p:spPr>
          <a:xfrm>
            <a:off x="9966960" y="3191256"/>
            <a:ext cx="1618488"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TRACK B — validate</a:t>
            </a:r>
          </a:p>
        </p:txBody>
      </p:sp>
      <p:sp>
        <p:nvSpPr>
          <p:cNvPr id="28" name="Rectangle 27"/>
          <p:cNvSpPr/>
          <p:nvPr/>
        </p:nvSpPr>
        <p:spPr>
          <a:xfrm>
            <a:off x="548640" y="3639312"/>
            <a:ext cx="11094415"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685032"/>
            <a:ext cx="25968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OEM / Tier-1 line-fit</a:t>
            </a:r>
          </a:p>
        </p:txBody>
      </p:sp>
      <p:sp>
        <p:nvSpPr>
          <p:cNvPr id="30" name="TextBox 29"/>
          <p:cNvSpPr txBox="1"/>
          <p:nvPr/>
        </p:nvSpPr>
        <p:spPr>
          <a:xfrm>
            <a:off x="3383280" y="3685032"/>
            <a:ext cx="415137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One relationship covers thousands of vehicles</a:t>
            </a:r>
          </a:p>
        </p:txBody>
      </p:sp>
      <p:sp>
        <p:nvSpPr>
          <p:cNvPr id="31" name="TextBox 30"/>
          <p:cNvSpPr txBox="1"/>
          <p:nvPr/>
        </p:nvSpPr>
        <p:spPr>
          <a:xfrm>
            <a:off x="7680960" y="3685032"/>
            <a:ext cx="21396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Yes — the volume engine</a:t>
            </a:r>
          </a:p>
        </p:txBody>
      </p:sp>
      <p:sp>
        <p:nvSpPr>
          <p:cNvPr id="32" name="TextBox 31"/>
          <p:cNvSpPr txBox="1"/>
          <p:nvPr/>
        </p:nvSpPr>
        <p:spPr>
          <a:xfrm>
            <a:off x="9966960" y="3685032"/>
            <a:ext cx="1618488"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Start now, closes late</a:t>
            </a:r>
          </a:p>
        </p:txBody>
      </p:sp>
      <p:sp>
        <p:nvSpPr>
          <p:cNvPr id="33" name="Rectangle 32"/>
          <p:cNvSpPr/>
          <p:nvPr/>
        </p:nvSpPr>
        <p:spPr>
          <a:xfrm>
            <a:off x="548640" y="4133088"/>
            <a:ext cx="11094415" cy="49377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178808"/>
            <a:ext cx="25968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3PL and freight aggregators</a:t>
            </a:r>
          </a:p>
        </p:txBody>
      </p:sp>
      <p:sp>
        <p:nvSpPr>
          <p:cNvPr id="35" name="TextBox 34"/>
          <p:cNvSpPr txBox="1"/>
          <p:nvPr/>
        </p:nvSpPr>
        <p:spPr>
          <a:xfrm>
            <a:off x="3383280" y="4178808"/>
            <a:ext cx="415137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Aggregate small operators into one contract</a:t>
            </a:r>
          </a:p>
        </p:txBody>
      </p:sp>
      <p:sp>
        <p:nvSpPr>
          <p:cNvPr id="36" name="TextBox 35"/>
          <p:cNvSpPr txBox="1"/>
          <p:nvPr/>
        </p:nvSpPr>
        <p:spPr>
          <a:xfrm>
            <a:off x="7680960" y="4178808"/>
            <a:ext cx="21396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Partly — will negotiate hard</a:t>
            </a:r>
          </a:p>
        </p:txBody>
      </p:sp>
      <p:sp>
        <p:nvSpPr>
          <p:cNvPr id="37" name="TextBox 36"/>
          <p:cNvSpPr txBox="1"/>
          <p:nvPr/>
        </p:nvSpPr>
        <p:spPr>
          <a:xfrm>
            <a:off x="9966960" y="4178808"/>
            <a:ext cx="1618488"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Later</a:t>
            </a:r>
          </a:p>
        </p:txBody>
      </p:sp>
      <p:sp>
        <p:nvSpPr>
          <p:cNvPr id="38" name="Rectangle 37"/>
          <p:cNvSpPr/>
          <p:nvPr/>
        </p:nvSpPr>
        <p:spPr>
          <a:xfrm>
            <a:off x="548640" y="4626864"/>
            <a:ext cx="11094415"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672584"/>
            <a:ext cx="25968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Sub-five-truck owner-operators</a:t>
            </a:r>
          </a:p>
        </p:txBody>
      </p:sp>
      <p:sp>
        <p:nvSpPr>
          <p:cNvPr id="40" name="TextBox 39"/>
          <p:cNvSpPr txBox="1"/>
          <p:nvPr/>
        </p:nvSpPr>
        <p:spPr>
          <a:xfrm>
            <a:off x="3383280" y="4672584"/>
            <a:ext cx="415137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~3.5M operators, no purchasing process, hard price anchor</a:t>
            </a:r>
          </a:p>
        </p:txBody>
      </p:sp>
      <p:sp>
        <p:nvSpPr>
          <p:cNvPr id="41" name="TextBox 40"/>
          <p:cNvSpPr txBox="1"/>
          <p:nvPr/>
        </p:nvSpPr>
        <p:spPr>
          <a:xfrm>
            <a:off x="7680960" y="4672584"/>
            <a:ext cx="2139696"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 — needs channel and a cheaper SKU</a:t>
            </a:r>
          </a:p>
        </p:txBody>
      </p:sp>
      <p:sp>
        <p:nvSpPr>
          <p:cNvPr id="42" name="TextBox 41"/>
          <p:cNvSpPr txBox="1"/>
          <p:nvPr/>
        </p:nvSpPr>
        <p:spPr>
          <a:xfrm>
            <a:off x="9966960" y="4672584"/>
            <a:ext cx="1618488" cy="42062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Not addressable</a:t>
            </a:r>
          </a:p>
        </p:txBody>
      </p:sp>
      <p:sp>
        <p:nvSpPr>
          <p:cNvPr id="43" name="Rounded Rectangle 42"/>
          <p:cNvSpPr/>
          <p:nvPr/>
        </p:nvSpPr>
        <p:spPr>
          <a:xfrm>
            <a:off x="548640" y="5230368"/>
            <a:ext cx="11094415" cy="868680"/>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5230368"/>
            <a:ext cx="54864" cy="86868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367528"/>
            <a:ext cx="640080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The two highlighted rows need neither the certificate nor the tapeout</a:t>
            </a:r>
          </a:p>
        </p:txBody>
      </p:sp>
      <p:sp>
        <p:nvSpPr>
          <p:cNvPr id="46" name="TextBox 45"/>
          <p:cNvSpPr txBox="1"/>
          <p:nvPr/>
        </p:nvSpPr>
        <p:spPr>
          <a:xfrm>
            <a:off x="777240" y="5669280"/>
            <a:ext cx="10637215" cy="384048"/>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That is the whole reason they are this quarter's targets. Every other segment is gated on something DeepGrid does not yet hold, and selling into a gate you cannot open burns the relationship you will need later.</a:t>
            </a:r>
          </a:p>
        </p:txBody>
      </p:sp>
      <p:sp>
        <p:nvSpPr>
          <p:cNvPr id="47" name="TextBox 4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48" name="TextBox 4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Who actually signs, and what each of them is afraid of</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Buyer committee by track — the fear is what you sell against</a:t>
            </a:r>
          </a:p>
        </p:txBody>
      </p:sp>
      <p:sp>
        <p:nvSpPr>
          <p:cNvPr id="6" name="TextBox 5"/>
          <p:cNvSpPr txBox="1"/>
          <p:nvPr/>
        </p:nvSpPr>
        <p:spPr>
          <a:xfrm>
            <a:off x="548640" y="1664208"/>
            <a:ext cx="5486400" cy="274320"/>
          </a:xfrm>
          <a:prstGeom prst="rect">
            <a:avLst/>
          </a:prstGeom>
          <a:noFill/>
        </p:spPr>
        <p:txBody>
          <a:bodyPr wrap="square" anchor="t" lIns="0" rIns="0" tIns="0" bIns="0">
            <a:noAutofit/>
          </a:bodyPr>
          <a:lstStyle/>
          <a:p>
            <a:pPr algn="l">
              <a:lnSpc>
                <a:spcPct val="105000"/>
              </a:lnSpc>
              <a:spcBef>
                <a:spcPts val="0"/>
              </a:spcBef>
            </a:pPr>
            <a:r>
              <a:rPr sz="1250" b="1" i="0">
                <a:solidFill>
                  <a:srgbClr val="00C9A7"/>
                </a:solidFill>
                <a:latin typeface="Calibri"/>
              </a:rPr>
              <a:t>TRACK A · defence / PSU / yard</a:t>
            </a:r>
          </a:p>
        </p:txBody>
      </p:sp>
      <p:sp>
        <p:nvSpPr>
          <p:cNvPr id="7" name="Rectangle 6"/>
          <p:cNvSpPr/>
          <p:nvPr/>
        </p:nvSpPr>
        <p:spPr>
          <a:xfrm>
            <a:off x="548640" y="1993392"/>
            <a:ext cx="5486400" cy="4572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39112"/>
            <a:ext cx="2322576" cy="384048"/>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Role</a:t>
            </a:r>
          </a:p>
        </p:txBody>
      </p:sp>
      <p:sp>
        <p:nvSpPr>
          <p:cNvPr id="9" name="TextBox 8"/>
          <p:cNvSpPr txBox="1"/>
          <p:nvPr/>
        </p:nvSpPr>
        <p:spPr>
          <a:xfrm>
            <a:off x="3108960" y="2039112"/>
            <a:ext cx="2871216"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they fear</a:t>
            </a:r>
          </a:p>
        </p:txBody>
      </p:sp>
      <p:sp>
        <p:nvSpPr>
          <p:cNvPr id="10" name="Rectangle 9"/>
          <p:cNvSpPr/>
          <p:nvPr/>
        </p:nvSpPr>
        <p:spPr>
          <a:xfrm>
            <a:off x="548640" y="2450592"/>
            <a:ext cx="5486400" cy="457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96312"/>
            <a:ext cx="232257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Programme / procurement officer</a:t>
            </a:r>
          </a:p>
        </p:txBody>
      </p:sp>
      <p:sp>
        <p:nvSpPr>
          <p:cNvPr id="12" name="TextBox 11"/>
          <p:cNvSpPr txBox="1"/>
          <p:nvPr/>
        </p:nvSpPr>
        <p:spPr>
          <a:xfrm>
            <a:off x="3108960" y="2496312"/>
            <a:ext cx="287121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Foreign dependency and audit exposure</a:t>
            </a:r>
          </a:p>
        </p:txBody>
      </p:sp>
      <p:sp>
        <p:nvSpPr>
          <p:cNvPr id="13" name="Rectangle 12"/>
          <p:cNvSpPr/>
          <p:nvPr/>
        </p:nvSpPr>
        <p:spPr>
          <a:xfrm>
            <a:off x="548640" y="2907792"/>
            <a:ext cx="54864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53512"/>
            <a:ext cx="232257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Security or data officer</a:t>
            </a:r>
          </a:p>
        </p:txBody>
      </p:sp>
      <p:sp>
        <p:nvSpPr>
          <p:cNvPr id="15" name="TextBox 14"/>
          <p:cNvSpPr txBox="1"/>
          <p:nvPr/>
        </p:nvSpPr>
        <p:spPr>
          <a:xfrm>
            <a:off x="3108960" y="2953512"/>
            <a:ext cx="287121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Exfiltration — answered physically by on-die HSM</a:t>
            </a:r>
          </a:p>
        </p:txBody>
      </p:sp>
      <p:sp>
        <p:nvSpPr>
          <p:cNvPr id="16" name="Rectangle 15"/>
          <p:cNvSpPr/>
          <p:nvPr/>
        </p:nvSpPr>
        <p:spPr>
          <a:xfrm>
            <a:off x="548640" y="3364992"/>
            <a:ext cx="5486400" cy="457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410712"/>
            <a:ext cx="232257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Operations lead</a:t>
            </a:r>
          </a:p>
        </p:txBody>
      </p:sp>
      <p:sp>
        <p:nvSpPr>
          <p:cNvPr id="18" name="TextBox 17"/>
          <p:cNvSpPr txBox="1"/>
          <p:nvPr/>
        </p:nvSpPr>
        <p:spPr>
          <a:xfrm>
            <a:off x="3108960" y="3410712"/>
            <a:ext cx="287121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 pilot that disrupts a working site</a:t>
            </a:r>
          </a:p>
        </p:txBody>
      </p:sp>
      <p:sp>
        <p:nvSpPr>
          <p:cNvPr id="19" name="Rectangle 18"/>
          <p:cNvSpPr/>
          <p:nvPr/>
        </p:nvSpPr>
        <p:spPr>
          <a:xfrm>
            <a:off x="548640" y="3822192"/>
            <a:ext cx="54864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867912"/>
            <a:ext cx="232257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Finance</a:t>
            </a:r>
          </a:p>
        </p:txBody>
      </p:sp>
      <p:sp>
        <p:nvSpPr>
          <p:cNvPr id="21" name="TextBox 20"/>
          <p:cNvSpPr txBox="1"/>
          <p:nvPr/>
        </p:nvSpPr>
        <p:spPr>
          <a:xfrm>
            <a:off x="3108960" y="3867912"/>
            <a:ext cx="287121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 capital line with no precedent to compare</a:t>
            </a:r>
          </a:p>
        </p:txBody>
      </p:sp>
      <p:sp>
        <p:nvSpPr>
          <p:cNvPr id="22" name="TextBox 21"/>
          <p:cNvSpPr txBox="1"/>
          <p:nvPr/>
        </p:nvSpPr>
        <p:spPr>
          <a:xfrm>
            <a:off x="6446520" y="1664208"/>
            <a:ext cx="5193792" cy="274320"/>
          </a:xfrm>
          <a:prstGeom prst="rect">
            <a:avLst/>
          </a:prstGeom>
          <a:noFill/>
        </p:spPr>
        <p:txBody>
          <a:bodyPr wrap="square" anchor="t" lIns="0" rIns="0" tIns="0" bIns="0">
            <a:noAutofit/>
          </a:bodyPr>
          <a:lstStyle/>
          <a:p>
            <a:pPr algn="l">
              <a:lnSpc>
                <a:spcPct val="105000"/>
              </a:lnSpc>
              <a:spcBef>
                <a:spcPts val="0"/>
              </a:spcBef>
            </a:pPr>
            <a:r>
              <a:rPr sz="1250" b="1" i="0">
                <a:solidFill>
                  <a:srgbClr val="FFB800"/>
                </a:solidFill>
                <a:latin typeface="Calibri"/>
              </a:rPr>
              <a:t>TRACK B · 3PL / dedicated fleet</a:t>
            </a:r>
          </a:p>
        </p:txBody>
      </p:sp>
      <p:sp>
        <p:nvSpPr>
          <p:cNvPr id="23" name="Rectangle 22"/>
          <p:cNvSpPr/>
          <p:nvPr/>
        </p:nvSpPr>
        <p:spPr>
          <a:xfrm>
            <a:off x="6446520" y="1993392"/>
            <a:ext cx="5193792" cy="4572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2039112"/>
            <a:ext cx="2231136" cy="384048"/>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Role</a:t>
            </a:r>
          </a:p>
        </p:txBody>
      </p:sp>
      <p:sp>
        <p:nvSpPr>
          <p:cNvPr id="25" name="TextBox 24"/>
          <p:cNvSpPr txBox="1"/>
          <p:nvPr/>
        </p:nvSpPr>
        <p:spPr>
          <a:xfrm>
            <a:off x="8915400" y="2039112"/>
            <a:ext cx="2670048"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they fear</a:t>
            </a:r>
          </a:p>
        </p:txBody>
      </p:sp>
      <p:sp>
        <p:nvSpPr>
          <p:cNvPr id="26" name="Rectangle 25"/>
          <p:cNvSpPr/>
          <p:nvPr/>
        </p:nvSpPr>
        <p:spPr>
          <a:xfrm>
            <a:off x="6446520" y="2450592"/>
            <a:ext cx="5193792" cy="457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60" y="2496312"/>
            <a:ext cx="223113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Fleet owner / promoter</a:t>
            </a:r>
          </a:p>
        </p:txBody>
      </p:sp>
      <p:sp>
        <p:nvSpPr>
          <p:cNvPr id="28" name="TextBox 27"/>
          <p:cNvSpPr txBox="1"/>
          <p:nvPr/>
        </p:nvSpPr>
        <p:spPr>
          <a:xfrm>
            <a:off x="8915400" y="2496312"/>
            <a:ext cx="267004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Spending ₹2.3L when ₹30k passes inspection</a:t>
            </a:r>
          </a:p>
        </p:txBody>
      </p:sp>
      <p:sp>
        <p:nvSpPr>
          <p:cNvPr id="29" name="Rectangle 28"/>
          <p:cNvSpPr/>
          <p:nvPr/>
        </p:nvSpPr>
        <p:spPr>
          <a:xfrm>
            <a:off x="6446520" y="2907792"/>
            <a:ext cx="5193792"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2953512"/>
            <a:ext cx="223113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Safety / compliance head</a:t>
            </a:r>
          </a:p>
        </p:txBody>
      </p:sp>
      <p:sp>
        <p:nvSpPr>
          <p:cNvPr id="31" name="TextBox 30"/>
          <p:cNvSpPr txBox="1"/>
          <p:nvPr/>
        </p:nvSpPr>
        <p:spPr>
          <a:xfrm>
            <a:off x="8915400" y="2953512"/>
            <a:ext cx="267004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Being non-compliant in October</a:t>
            </a:r>
          </a:p>
        </p:txBody>
      </p:sp>
      <p:sp>
        <p:nvSpPr>
          <p:cNvPr id="32" name="Rectangle 31"/>
          <p:cNvSpPr/>
          <p:nvPr/>
        </p:nvSpPr>
        <p:spPr>
          <a:xfrm>
            <a:off x="6446520" y="3364992"/>
            <a:ext cx="5193792" cy="457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3410712"/>
            <a:ext cx="223113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Finance / NBFC partner</a:t>
            </a:r>
          </a:p>
        </p:txBody>
      </p:sp>
      <p:sp>
        <p:nvSpPr>
          <p:cNvPr id="34" name="TextBox 33"/>
          <p:cNvSpPr txBox="1"/>
          <p:nvPr/>
        </p:nvSpPr>
        <p:spPr>
          <a:xfrm>
            <a:off x="8915400" y="3410712"/>
            <a:ext cx="267004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Capital outlay without a payback story</a:t>
            </a:r>
          </a:p>
        </p:txBody>
      </p:sp>
      <p:sp>
        <p:nvSpPr>
          <p:cNvPr id="35" name="Rectangle 34"/>
          <p:cNvSpPr/>
          <p:nvPr/>
        </p:nvSpPr>
        <p:spPr>
          <a:xfrm>
            <a:off x="6446520" y="3822192"/>
            <a:ext cx="5193792"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37960" y="3867912"/>
            <a:ext cx="223113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Driver / union</a:t>
            </a:r>
          </a:p>
        </p:txBody>
      </p:sp>
      <p:sp>
        <p:nvSpPr>
          <p:cNvPr id="37" name="TextBox 36"/>
          <p:cNvSpPr txBox="1"/>
          <p:nvPr/>
        </p:nvSpPr>
        <p:spPr>
          <a:xfrm>
            <a:off x="8915400" y="3867912"/>
            <a:ext cx="267004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Surveillance framing of driver monitoring</a:t>
            </a:r>
          </a:p>
        </p:txBody>
      </p:sp>
      <p:sp>
        <p:nvSpPr>
          <p:cNvPr id="38" name="Rounded Rectangle 37"/>
          <p:cNvSpPr/>
          <p:nvPr/>
        </p:nvSpPr>
        <p:spPr>
          <a:xfrm>
            <a:off x="548640" y="4434840"/>
            <a:ext cx="11094415" cy="128016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599432"/>
            <a:ext cx="5486400" cy="292608"/>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The two hardest people in the room</a:t>
            </a:r>
          </a:p>
        </p:txBody>
      </p:sp>
      <p:sp>
        <p:nvSpPr>
          <p:cNvPr id="40" name="TextBox 39"/>
          <p:cNvSpPr txBox="1"/>
          <p:nvPr/>
        </p:nvSpPr>
        <p:spPr>
          <a:xfrm>
            <a:off x="777240" y="4937760"/>
            <a:ext cx="10637215" cy="68580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In Track A it is the security officer — and they are the easiest to win, because on-die HSM is a physical answer rather than a policy assurance. In Track B it is the driver and the union: driver monitoring reads as surveillance unless it is introduced as protection from false blame. Get that framing wrong once and the pilot dies on the shop floor rather than in the boardroom.</a:t>
            </a:r>
          </a:p>
        </p:txBody>
      </p:sp>
      <p:sp>
        <p:nvSpPr>
          <p:cNvPr id="41" name="TextBox 4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42" name="TextBox 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Track A — sovereign defence and off-highway: sell this now</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Primary track · the only line needing neither the certificate nor the tapeout</a:t>
            </a:r>
          </a:p>
        </p:txBody>
      </p:sp>
      <p:sp>
        <p:nvSpPr>
          <p:cNvPr id="6" name="Rounded Rectangle 5"/>
          <p:cNvSpPr/>
          <p:nvPr/>
        </p:nvSpPr>
        <p:spPr>
          <a:xfrm>
            <a:off x="548640" y="1664208"/>
            <a:ext cx="6766560" cy="12344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10512"/>
            <a:ext cx="36576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00C9A7"/>
                </a:solidFill>
                <a:latin typeface="Calibri"/>
              </a:rPr>
              <a:t>POSITIONING STATEMENT</a:t>
            </a:r>
          </a:p>
        </p:txBody>
      </p:sp>
      <p:sp>
        <p:nvSpPr>
          <p:cNvPr id="8" name="TextBox 7"/>
          <p:cNvSpPr txBox="1"/>
          <p:nvPr/>
        </p:nvSpPr>
        <p:spPr>
          <a:xfrm>
            <a:off x="777240" y="2103120"/>
            <a:ext cx="6309360" cy="713232"/>
          </a:xfrm>
          <a:prstGeom prst="rect">
            <a:avLst/>
          </a:prstGeom>
          <a:noFill/>
        </p:spPr>
        <p:txBody>
          <a:bodyPr wrap="square" anchor="t" lIns="0" rIns="0" tIns="0" bIns="0">
            <a:normAutofit/>
          </a:bodyPr>
          <a:lstStyle/>
          <a:p>
            <a:pPr algn="l">
              <a:lnSpc>
                <a:spcPct val="105000"/>
              </a:lnSpc>
              <a:spcBef>
                <a:spcPts val="0"/>
              </a:spcBef>
            </a:pPr>
            <a:r>
              <a:rPr sz="1250" b="0" i="1">
                <a:solidFill>
                  <a:srgbClr val="FFFFFF"/>
                </a:solidFill>
                <a:latin typeface="Calibri"/>
              </a:rPr>
              <a:t>“For sovereign UGV, border-surveillance and port-AGV programs where data cannot leave Indian soil, DGrid Alpha is the only Indian-designed combo-die whose on-die HSM makes data-exfil physically impossible — shipping today on FPGA, ASIC drop-in next.”</a:t>
            </a:r>
          </a:p>
        </p:txBody>
      </p:sp>
      <p:pic>
        <p:nvPicPr>
          <p:cNvPr id="9" name="Picture 8" descr="truck_4187952x1234440.png"/>
          <p:cNvPicPr>
            <a:picLocks noChangeAspect="1"/>
          </p:cNvPicPr>
          <p:nvPr/>
        </p:nvPicPr>
        <p:blipFill>
          <a:blip r:embed="rId2"/>
          <a:stretch>
            <a:fillRect/>
          </a:stretch>
        </p:blipFill>
        <p:spPr>
          <a:xfrm>
            <a:off x="7452360" y="1664208"/>
            <a:ext cx="4187952" cy="1234440"/>
          </a:xfrm>
          <a:prstGeom prst="rect">
            <a:avLst/>
          </a:prstGeom>
        </p:spPr>
      </p:pic>
      <p:sp>
        <p:nvSpPr>
          <p:cNvPr id="10" name="Rounded Rectangle 9"/>
          <p:cNvSpPr/>
          <p:nvPr/>
        </p:nvSpPr>
        <p:spPr>
          <a:xfrm>
            <a:off x="548640" y="3108960"/>
            <a:ext cx="3564026" cy="21945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10896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29184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Why it closes</a:t>
            </a:r>
          </a:p>
        </p:txBody>
      </p:sp>
      <p:sp>
        <p:nvSpPr>
          <p:cNvPr id="13" name="TextBox 12"/>
          <p:cNvSpPr txBox="1"/>
          <p:nvPr/>
        </p:nvSpPr>
        <p:spPr>
          <a:xfrm>
            <a:off x="713232" y="3749040"/>
            <a:ext cx="3234842" cy="14081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Data sovereignty is a procurement rule, not a preference. Foreign silicon is excluded from government fleets outright, so the comparison set is small and the on-die HSM is a physical answer rather than a policy promise.</a:t>
            </a:r>
          </a:p>
        </p:txBody>
      </p:sp>
      <p:sp>
        <p:nvSpPr>
          <p:cNvPr id="14" name="Rounded Rectangle 13"/>
          <p:cNvSpPr/>
          <p:nvPr/>
        </p:nvSpPr>
        <p:spPr>
          <a:xfrm>
            <a:off x="4313834" y="3108960"/>
            <a:ext cx="3564026" cy="21945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3834" y="310896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8426" y="329184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What you can prove today</a:t>
            </a:r>
          </a:p>
        </p:txBody>
      </p:sp>
      <p:sp>
        <p:nvSpPr>
          <p:cNvPr id="17" name="TextBox 16"/>
          <p:cNvSpPr txBox="1"/>
          <p:nvPr/>
        </p:nvSpPr>
        <p:spPr>
          <a:xfrm>
            <a:off x="4478426" y="3749040"/>
            <a:ext cx="3234842" cy="14081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₹23.01L delivered on a GeM Robot Training contract · a GeM record held · perception on FPGA at measured 40fps. Note the contract sits in Deepgrid Datacentre and its IP is MCEME-owned — it proves procurement access, not ADAS revenue.</a:t>
            </a:r>
          </a:p>
        </p:txBody>
      </p:sp>
      <p:sp>
        <p:nvSpPr>
          <p:cNvPr id="18" name="Rounded Rectangle 17"/>
          <p:cNvSpPr/>
          <p:nvPr/>
        </p:nvSpPr>
        <p:spPr>
          <a:xfrm>
            <a:off x="8079028" y="3108960"/>
            <a:ext cx="3564026" cy="21945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9028" y="310896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3620" y="329184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Kill criterion — from your own deck</a:t>
            </a:r>
          </a:p>
        </p:txBody>
      </p:sp>
      <p:sp>
        <p:nvSpPr>
          <p:cNvPr id="21" name="TextBox 20"/>
          <p:cNvSpPr txBox="1"/>
          <p:nvPr/>
        </p:nvSpPr>
        <p:spPr>
          <a:xfrm>
            <a:off x="8243620" y="3749040"/>
            <a:ext cx="3234842" cy="14081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Track drops from primary if Month 6 arrives without either a second signed contract, or audited confirmation of the ₹1 Cr revenue's commercial nature.</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Track B — fleet retrofit: run it as an experiment, not a promise</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Secondary track · your own deck marks this PENDING VALIDATION</a:t>
            </a:r>
          </a:p>
        </p:txBody>
      </p:sp>
      <p:sp>
        <p:nvSpPr>
          <p:cNvPr id="6" name="Rounded Rectangle 5"/>
          <p:cNvSpPr/>
          <p:nvPr/>
        </p:nvSpPr>
        <p:spPr>
          <a:xfrm>
            <a:off x="548640" y="1664208"/>
            <a:ext cx="6766560" cy="12344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10512"/>
            <a:ext cx="50292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FFB800"/>
                </a:solidFill>
                <a:latin typeface="Calibri"/>
              </a:rPr>
              <a:t>POSITIONING STATEMENT · PENDING VALIDATION</a:t>
            </a:r>
          </a:p>
        </p:txBody>
      </p:sp>
      <p:sp>
        <p:nvSpPr>
          <p:cNvPr id="8" name="TextBox 7"/>
          <p:cNvSpPr txBox="1"/>
          <p:nvPr/>
        </p:nvSpPr>
        <p:spPr>
          <a:xfrm>
            <a:off x="777240" y="2103120"/>
            <a:ext cx="6309360" cy="713232"/>
          </a:xfrm>
          <a:prstGeom prst="rect">
            <a:avLst/>
          </a:prstGeom>
          <a:noFill/>
        </p:spPr>
        <p:txBody>
          <a:bodyPr wrap="square" anchor="t" lIns="0" rIns="0" tIns="0" bIns="0">
            <a:normAutofit/>
          </a:bodyPr>
          <a:lstStyle/>
          <a:p>
            <a:pPr algn="l">
              <a:lnSpc>
                <a:spcPct val="105000"/>
              </a:lnSpc>
              <a:spcBef>
                <a:spcPts val="0"/>
              </a:spcBef>
            </a:pPr>
            <a:r>
              <a:rPr sz="1250" b="0" i="1">
                <a:solidFill>
                  <a:srgbClr val="FFFFFF"/>
                </a:solidFill>
                <a:latin typeface="Calibri"/>
              </a:rPr>
              <a:t>“For N2/N3 fleet operators facing 2027–28 ADAS mandate deadlines, DGrid Alpha ships one retrofit kit that satisfies AEBS, LDW, DMS and BSD at roughly 1/3 the imported-stack price — pending first paid pilot.”</a:t>
            </a:r>
          </a:p>
        </p:txBody>
      </p:sp>
      <p:pic>
        <p:nvPicPr>
          <p:cNvPr id="9" name="Picture 8" descr="compute-box_4187952x1234440.png"/>
          <p:cNvPicPr>
            <a:picLocks noChangeAspect="1"/>
          </p:cNvPicPr>
          <p:nvPr/>
        </p:nvPicPr>
        <p:blipFill>
          <a:blip r:embed="rId2"/>
          <a:stretch>
            <a:fillRect/>
          </a:stretch>
        </p:blipFill>
        <p:spPr>
          <a:xfrm>
            <a:off x="7452360" y="1664208"/>
            <a:ext cx="4187952" cy="1234440"/>
          </a:xfrm>
          <a:prstGeom prst="rect">
            <a:avLst/>
          </a:prstGeom>
        </p:spPr>
      </p:pic>
      <p:sp>
        <p:nvSpPr>
          <p:cNvPr id="10" name="Rounded Rectangle 9"/>
          <p:cNvSpPr/>
          <p:nvPr/>
        </p:nvSpPr>
        <p:spPr>
          <a:xfrm>
            <a:off x="548640" y="3108960"/>
            <a:ext cx="3564026" cy="21945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10896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29184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Why it is not yet sellable as stated</a:t>
            </a:r>
          </a:p>
        </p:txBody>
      </p:sp>
      <p:sp>
        <p:nvSpPr>
          <p:cNvPr id="13" name="TextBox 12"/>
          <p:cNvSpPr txBox="1"/>
          <p:nvPr/>
        </p:nvSpPr>
        <p:spPr>
          <a:xfrm>
            <a:off x="713232" y="3749040"/>
            <a:ext cx="3234842" cy="14081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No paid pilot has closed. The price claim is real against imports and irrelevant against the ₹15–40k compliance box that satisfies the same inspector. Nothing in the documents shows a buyer who chose ₹2.3L over ₹30,000.</a:t>
            </a:r>
          </a:p>
        </p:txBody>
      </p:sp>
      <p:sp>
        <p:nvSpPr>
          <p:cNvPr id="14" name="Rounded Rectangle 13"/>
          <p:cNvSpPr/>
          <p:nvPr/>
        </p:nvSpPr>
        <p:spPr>
          <a:xfrm>
            <a:off x="4313834" y="3108960"/>
            <a:ext cx="3564026" cy="21945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3834" y="310896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8426" y="329184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What makes it convert</a:t>
            </a:r>
          </a:p>
        </p:txBody>
      </p:sp>
      <p:sp>
        <p:nvSpPr>
          <p:cNvPr id="17" name="TextBox 16"/>
          <p:cNvSpPr txBox="1"/>
          <p:nvPr/>
        </p:nvSpPr>
        <p:spPr>
          <a:xfrm>
            <a:off x="4478426" y="3749040"/>
            <a:ext cx="3234842" cy="14081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Not price. The buyer must want capability — which means the conversation is about what a compliance box cannot do: transformer perception, driver monitoring, and a certified latency budget on one part.</a:t>
            </a:r>
          </a:p>
        </p:txBody>
      </p:sp>
      <p:sp>
        <p:nvSpPr>
          <p:cNvPr id="18" name="Rounded Rectangle 17"/>
          <p:cNvSpPr/>
          <p:nvPr/>
        </p:nvSpPr>
        <p:spPr>
          <a:xfrm>
            <a:off x="8079028" y="3108960"/>
            <a:ext cx="3564026" cy="21945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9028" y="310896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3620" y="329184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Kill criterion — from your own deck</a:t>
            </a:r>
          </a:p>
        </p:txBody>
      </p:sp>
      <p:sp>
        <p:nvSpPr>
          <p:cNvPr id="21" name="TextBox 20"/>
          <p:cNvSpPr txBox="1"/>
          <p:nvPr/>
        </p:nvSpPr>
        <p:spPr>
          <a:xfrm>
            <a:off x="8243620" y="3749040"/>
            <a:ext cx="3234842" cy="14081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The statement is retracted from decks, site and sales collateral if the first 20 buyer interviews fail to produce one paid pilot in 90 days.</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One story per buyer — the two tracks never meet</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Positioning discipline · carried unchanged from the July deck</a:t>
            </a:r>
          </a:p>
        </p:txBody>
      </p:sp>
      <p:sp>
        <p:nvSpPr>
          <p:cNvPr id="6" name="Rounded Rectangle 5"/>
          <p:cNvSpPr/>
          <p:nvPr/>
        </p:nvSpPr>
        <p:spPr>
          <a:xfrm>
            <a:off x="548640" y="1737360"/>
            <a:ext cx="5623560" cy="228600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512064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IN A DEFENCE ROOM</a:t>
            </a:r>
          </a:p>
        </p:txBody>
      </p:sp>
      <p:sp>
        <p:nvSpPr>
          <p:cNvPr id="8" name="TextBox 7"/>
          <p:cNvSpPr txBox="1"/>
          <p:nvPr/>
        </p:nvSpPr>
        <p:spPr>
          <a:xfrm>
            <a:off x="777240" y="2286000"/>
            <a:ext cx="5120640" cy="1600200"/>
          </a:xfrm>
          <a:prstGeom prst="rect">
            <a:avLst/>
          </a:prstGeom>
          <a:noFill/>
        </p:spPr>
        <p:txBody>
          <a:bodyPr wrap="square" anchor="t" lIns="0" rIns="0" tIns="0" bIns="0">
            <a:normAutofit/>
          </a:bodyPr>
          <a:lstStyle/>
          <a:p>
            <a:pPr algn="l">
              <a:lnSpc>
                <a:spcPct val="105000"/>
              </a:lnSpc>
              <a:spcBef>
                <a:spcPts val="0"/>
              </a:spcBef>
            </a:pPr>
            <a:r>
              <a:rPr sz="1200" b="0" i="0">
                <a:solidFill>
                  <a:srgbClr val="FFFFFF"/>
                </a:solidFill>
                <a:latin typeface="Calibri"/>
              </a:rPr>
              <a:t>Say: data sovereignty, on-die HSM, Indian-designed, shipping on FPGA, GeM record, ₹1 Cr booked.</a:t>
            </a:r>
          </a:p>
          <a:p>
            <a:pPr algn="l">
              <a:lnSpc>
                <a:spcPct val="105000"/>
              </a:lnSpc>
              <a:spcBef>
                <a:spcPts val="1200"/>
              </a:spcBef>
            </a:pPr>
            <a:r>
              <a:rPr sz="1200" b="0" i="0">
                <a:solidFill>
                  <a:srgbClr val="E05A6B"/>
                </a:solidFill>
                <a:latin typeface="Calibri"/>
              </a:rPr>
              <a:t>Never say: the retrofit price line, the 1/3-of-imports comparison, fleet ROI, or anything about insurance.</a:t>
            </a:r>
          </a:p>
        </p:txBody>
      </p:sp>
      <p:sp>
        <p:nvSpPr>
          <p:cNvPr id="9" name="Rounded Rectangle 8"/>
          <p:cNvSpPr/>
          <p:nvPr/>
        </p:nvSpPr>
        <p:spPr>
          <a:xfrm>
            <a:off x="6446520" y="1737360"/>
            <a:ext cx="5193792" cy="228600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920240"/>
            <a:ext cx="4663440"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IN A FLEET ROOM</a:t>
            </a:r>
          </a:p>
        </p:txBody>
      </p:sp>
      <p:sp>
        <p:nvSpPr>
          <p:cNvPr id="11" name="TextBox 10"/>
          <p:cNvSpPr txBox="1"/>
          <p:nvPr/>
        </p:nvSpPr>
        <p:spPr>
          <a:xfrm>
            <a:off x="6675120" y="2286000"/>
            <a:ext cx="4663440" cy="1600200"/>
          </a:xfrm>
          <a:prstGeom prst="rect">
            <a:avLst/>
          </a:prstGeom>
          <a:noFill/>
        </p:spPr>
        <p:txBody>
          <a:bodyPr wrap="square" anchor="t" lIns="0" rIns="0" tIns="0" bIns="0">
            <a:normAutofit/>
          </a:bodyPr>
          <a:lstStyle/>
          <a:p>
            <a:pPr algn="l">
              <a:lnSpc>
                <a:spcPct val="105000"/>
              </a:lnSpc>
              <a:spcBef>
                <a:spcPts val="0"/>
              </a:spcBef>
            </a:pPr>
            <a:r>
              <a:rPr sz="1200" b="0" i="0">
                <a:solidFill>
                  <a:srgbClr val="FFFFFF"/>
                </a:solidFill>
                <a:latin typeface="Calibri"/>
              </a:rPr>
              <a:t>Say: mandate deadline, one kit covers AEBS/LDW/DMS/BSD, install time, capability the cheap box cannot match.</a:t>
            </a:r>
          </a:p>
          <a:p>
            <a:pPr algn="l">
              <a:lnSpc>
                <a:spcPct val="105000"/>
              </a:lnSpc>
              <a:spcBef>
                <a:spcPts val="1200"/>
              </a:spcBef>
            </a:pPr>
            <a:r>
              <a:rPr sz="1200" b="0" i="0">
                <a:solidFill>
                  <a:srgbClr val="E05A6B"/>
                </a:solidFill>
                <a:latin typeface="Calibri"/>
              </a:rPr>
              <a:t>Never say: sovereign data, HSM exfiltration, defence customers, or anything implying a government-only product.</a:t>
            </a:r>
          </a:p>
        </p:txBody>
      </p:sp>
      <p:sp>
        <p:nvSpPr>
          <p:cNvPr id="12" name="Rounded Rectangle 11"/>
          <p:cNvSpPr/>
          <p:nvPr/>
        </p:nvSpPr>
        <p:spPr>
          <a:xfrm>
            <a:off x="548640" y="4251960"/>
            <a:ext cx="11094415" cy="1325880"/>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51960"/>
            <a:ext cx="54864" cy="132588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407408"/>
            <a:ext cx="548640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Why this matters more than it sounds</a:t>
            </a:r>
          </a:p>
        </p:txBody>
      </p:sp>
      <p:sp>
        <p:nvSpPr>
          <p:cNvPr id="15" name="TextBox 14"/>
          <p:cNvSpPr txBox="1"/>
          <p:nvPr/>
        </p:nvSpPr>
        <p:spPr>
          <a:xfrm>
            <a:off x="777240" y="4718304"/>
            <a:ext cx="10637215" cy="731520"/>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A blurred positioning statement reads as a company that has not chosen. A defence buyer who hears a fleet-price pitch concludes the product is a commodity; a fleet buyer who hears a sovereignty pitch concludes it is not for them. The two stories are individually strong and jointly weak.</a:t>
            </a:r>
          </a:p>
        </p:txBody>
      </p:sp>
      <p:sp>
        <p:nvSpPr>
          <p:cNvPr id="16" name="TextBox 1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17" name="TextBox 1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Five claims you may not make — and what to say instead</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Enforced from the July deck · unreconciled math, unmeasured effect, or forecast-as-demand</a:t>
            </a:r>
          </a:p>
        </p:txBody>
      </p:sp>
      <p:sp>
        <p:nvSpPr>
          <p:cNvPr id="6" name="Rectangle 5"/>
          <p:cNvSpPr/>
          <p:nvPr/>
        </p:nvSpPr>
        <p:spPr>
          <a:xfrm>
            <a:off x="548640" y="1664208"/>
            <a:ext cx="11094415" cy="56692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402336" cy="493776"/>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a:t>
            </a:r>
          </a:p>
        </p:txBody>
      </p:sp>
      <p:sp>
        <p:nvSpPr>
          <p:cNvPr id="8" name="TextBox 7"/>
          <p:cNvSpPr txBox="1"/>
          <p:nvPr/>
        </p:nvSpPr>
        <p:spPr>
          <a:xfrm>
            <a:off x="1188720" y="1709928"/>
            <a:ext cx="2688336" cy="49377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Banned claim</a:t>
            </a:r>
          </a:p>
        </p:txBody>
      </p:sp>
      <p:sp>
        <p:nvSpPr>
          <p:cNvPr id="9" name="TextBox 8"/>
          <p:cNvSpPr txBox="1"/>
          <p:nvPr/>
        </p:nvSpPr>
        <p:spPr>
          <a:xfrm>
            <a:off x="4023360" y="1709928"/>
            <a:ext cx="3511296" cy="49377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Why</a:t>
            </a:r>
          </a:p>
        </p:txBody>
      </p:sp>
      <p:sp>
        <p:nvSpPr>
          <p:cNvPr id="10" name="TextBox 9"/>
          <p:cNvSpPr txBox="1"/>
          <p:nvPr/>
        </p:nvSpPr>
        <p:spPr>
          <a:xfrm>
            <a:off x="7680960" y="1709928"/>
            <a:ext cx="3904487" cy="49377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Use instead</a:t>
            </a:r>
          </a:p>
        </p:txBody>
      </p:sp>
      <p:sp>
        <p:nvSpPr>
          <p:cNvPr id="11" name="Rectangle 10"/>
          <p:cNvSpPr/>
          <p:nvPr/>
        </p:nvSpPr>
        <p:spPr>
          <a:xfrm>
            <a:off x="548640" y="2231136"/>
            <a:ext cx="11094415" cy="56692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31136"/>
            <a:ext cx="50292" cy="56692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76856"/>
            <a:ext cx="402336" cy="49377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01</a:t>
            </a:r>
          </a:p>
        </p:txBody>
      </p:sp>
      <p:sp>
        <p:nvSpPr>
          <p:cNvPr id="14" name="TextBox 13"/>
          <p:cNvSpPr txBox="1"/>
          <p:nvPr/>
        </p:nvSpPr>
        <p:spPr>
          <a:xfrm>
            <a:off x="1188720" y="2276856"/>
            <a:ext cx="26883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“84% ASIC gross margin”</a:t>
            </a:r>
          </a:p>
        </p:txBody>
      </p:sp>
      <p:sp>
        <p:nvSpPr>
          <p:cNvPr id="15" name="TextBox 14"/>
          <p:cNvSpPr txBox="1"/>
          <p:nvPr/>
        </p:nvSpPr>
        <p:spPr>
          <a:xfrm>
            <a:off x="4023360" y="2276856"/>
            <a:ext cx="351129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Unreconciled arithmetic — retracted until reconciled</a:t>
            </a:r>
          </a:p>
        </p:txBody>
      </p:sp>
      <p:sp>
        <p:nvSpPr>
          <p:cNvPr id="16" name="TextBox 15"/>
          <p:cNvSpPr txBox="1"/>
          <p:nvPr/>
        </p:nvSpPr>
        <p:spPr>
          <a:xfrm>
            <a:off x="7680960" y="2276856"/>
            <a:ext cx="3904487"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“Chip-level margin curve; blended systems margin FY32 88%. We publish the arithmetic.”</a:t>
            </a:r>
          </a:p>
        </p:txBody>
      </p:sp>
      <p:sp>
        <p:nvSpPr>
          <p:cNvPr id="17" name="Rectangle 16"/>
          <p:cNvSpPr/>
          <p:nvPr/>
        </p:nvSpPr>
        <p:spPr>
          <a:xfrm>
            <a:off x="548640" y="2798064"/>
            <a:ext cx="11094415" cy="56692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798064"/>
            <a:ext cx="50292" cy="56692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843784"/>
            <a:ext cx="402336" cy="49377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02</a:t>
            </a:r>
          </a:p>
        </p:txBody>
      </p:sp>
      <p:sp>
        <p:nvSpPr>
          <p:cNvPr id="20" name="TextBox 19"/>
          <p:cNvSpPr txBox="1"/>
          <p:nvPr/>
        </p:nvSpPr>
        <p:spPr>
          <a:xfrm>
            <a:off x="1188720" y="2843784"/>
            <a:ext cx="26883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Any insurance-premium-reduction %</a:t>
            </a:r>
          </a:p>
        </p:txBody>
      </p:sp>
      <p:sp>
        <p:nvSpPr>
          <p:cNvPr id="21" name="TextBox 20"/>
          <p:cNvSpPr txBox="1"/>
          <p:nvPr/>
        </p:nvSpPr>
        <p:spPr>
          <a:xfrm>
            <a:off x="4023360" y="2843784"/>
            <a:ext cx="351129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 actuarial partner, no signed data-share, no baseline</a:t>
            </a:r>
          </a:p>
        </p:txBody>
      </p:sp>
      <p:sp>
        <p:nvSpPr>
          <p:cNvPr id="22" name="TextBox 21"/>
          <p:cNvSpPr txBox="1"/>
          <p:nvPr/>
        </p:nvSpPr>
        <p:spPr>
          <a:xfrm>
            <a:off x="7680960" y="2843784"/>
            <a:ext cx="3904487"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Silence — until a pilot produces a delta an insurer will co-sign</a:t>
            </a:r>
          </a:p>
        </p:txBody>
      </p:sp>
      <p:sp>
        <p:nvSpPr>
          <p:cNvPr id="23" name="Rectangle 22"/>
          <p:cNvSpPr/>
          <p:nvPr/>
        </p:nvSpPr>
        <p:spPr>
          <a:xfrm>
            <a:off x="548640" y="3364992"/>
            <a:ext cx="11094415" cy="56692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410712"/>
            <a:ext cx="4023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03</a:t>
            </a:r>
          </a:p>
        </p:txBody>
      </p:sp>
      <p:sp>
        <p:nvSpPr>
          <p:cNvPr id="25" name="TextBox 24"/>
          <p:cNvSpPr txBox="1"/>
          <p:nvPr/>
        </p:nvSpPr>
        <p:spPr>
          <a:xfrm>
            <a:off x="1188720" y="3410712"/>
            <a:ext cx="26883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“Mandate-ready” for AD2</a:t>
            </a:r>
          </a:p>
        </p:txBody>
      </p:sp>
      <p:sp>
        <p:nvSpPr>
          <p:cNvPr id="26" name="TextBox 25"/>
          <p:cNvSpPr txBox="1"/>
          <p:nvPr/>
        </p:nvSpPr>
        <p:spPr>
          <a:xfrm>
            <a:off x="4023360" y="3410712"/>
            <a:ext cx="351129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Not mapped 1:1 to chiplets in a public homologation doc</a:t>
            </a:r>
          </a:p>
        </p:txBody>
      </p:sp>
      <p:sp>
        <p:nvSpPr>
          <p:cNvPr id="27" name="TextBox 26"/>
          <p:cNvSpPr txBox="1"/>
          <p:nvPr/>
        </p:nvSpPr>
        <p:spPr>
          <a:xfrm>
            <a:off x="7680960" y="3410712"/>
            <a:ext cx="3904487"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“AIS-184/186/187/188 addressable by design; AIS-140 native via S100.”</a:t>
            </a:r>
          </a:p>
        </p:txBody>
      </p:sp>
      <p:sp>
        <p:nvSpPr>
          <p:cNvPr id="28" name="Rectangle 27"/>
          <p:cNvSpPr/>
          <p:nvPr/>
        </p:nvSpPr>
        <p:spPr>
          <a:xfrm>
            <a:off x="548640" y="3931920"/>
            <a:ext cx="11094415"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977640"/>
            <a:ext cx="4023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04</a:t>
            </a:r>
          </a:p>
        </p:txBody>
      </p:sp>
      <p:sp>
        <p:nvSpPr>
          <p:cNvPr id="30" name="TextBox 29"/>
          <p:cNvSpPr txBox="1"/>
          <p:nvPr/>
        </p:nvSpPr>
        <p:spPr>
          <a:xfrm>
            <a:off x="1188720" y="3977640"/>
            <a:ext cx="26883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Any accident-reduction %</a:t>
            </a:r>
          </a:p>
        </p:txBody>
      </p:sp>
      <p:sp>
        <p:nvSpPr>
          <p:cNvPr id="31" name="TextBox 30"/>
          <p:cNvSpPr txBox="1"/>
          <p:nvPr/>
        </p:nvSpPr>
        <p:spPr>
          <a:xfrm>
            <a:off x="4023360" y="3977640"/>
            <a:ext cx="351129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Nothing measured — no fleet baseline exists yet</a:t>
            </a:r>
          </a:p>
        </p:txBody>
      </p:sp>
      <p:sp>
        <p:nvSpPr>
          <p:cNvPr id="32" name="TextBox 31"/>
          <p:cNvSpPr txBox="1"/>
          <p:nvPr/>
        </p:nvSpPr>
        <p:spPr>
          <a:xfrm>
            <a:off x="7680960" y="3977640"/>
            <a:ext cx="3904487"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“Pilot design targets a measurable delta; here is the measurement plan.”</a:t>
            </a:r>
          </a:p>
        </p:txBody>
      </p:sp>
      <p:sp>
        <p:nvSpPr>
          <p:cNvPr id="33" name="Rectangle 32"/>
          <p:cNvSpPr/>
          <p:nvPr/>
        </p:nvSpPr>
        <p:spPr>
          <a:xfrm>
            <a:off x="548640" y="4498848"/>
            <a:ext cx="11094415" cy="56692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544568"/>
            <a:ext cx="4023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05</a:t>
            </a:r>
          </a:p>
        </p:txBody>
      </p:sp>
      <p:sp>
        <p:nvSpPr>
          <p:cNvPr id="35" name="TextBox 34"/>
          <p:cNvSpPr txBox="1"/>
          <p:nvPr/>
        </p:nvSpPr>
        <p:spPr>
          <a:xfrm>
            <a:off x="1188720" y="4544568"/>
            <a:ext cx="26883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“5M+ truck TAM” as pipeline</a:t>
            </a:r>
          </a:p>
        </p:txBody>
      </p:sp>
      <p:sp>
        <p:nvSpPr>
          <p:cNvPr id="36" name="TextBox 35"/>
          <p:cNvSpPr txBox="1"/>
          <p:nvPr/>
        </p:nvSpPr>
        <p:spPr>
          <a:xfrm>
            <a:off x="4023360" y="4544568"/>
            <a:ext cx="351129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TAM ≠ SAM ≠ SOM ≠ pipeline</a:t>
            </a:r>
          </a:p>
        </p:txBody>
      </p:sp>
      <p:sp>
        <p:nvSpPr>
          <p:cNvPr id="37" name="TextBox 36"/>
          <p:cNvSpPr txBox="1"/>
          <p:nvPr/>
        </p:nvSpPr>
        <p:spPr>
          <a:xfrm>
            <a:off x="7680960" y="4544568"/>
            <a:ext cx="3904487"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“TAM 5M+; addressable at our BOM ~1.2M; pipeline is what has a name.”</a:t>
            </a:r>
          </a:p>
        </p:txBody>
      </p:sp>
      <p:sp>
        <p:nvSpPr>
          <p:cNvPr id="38" name="Rounded Rectangle 37"/>
          <p:cNvSpPr/>
          <p:nvPr/>
        </p:nvSpPr>
        <p:spPr>
          <a:xfrm>
            <a:off x="548640" y="5175504"/>
            <a:ext cx="11094415" cy="868680"/>
          </a:xfrm>
          <a:prstGeom prst="roundRect">
            <a:avLst>
              <a:gd name="adj" fmla="val 4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5175504"/>
            <a:ext cx="54864" cy="86868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312664"/>
            <a:ext cx="640080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The June IM still contains four of these five</a:t>
            </a:r>
          </a:p>
        </p:txBody>
      </p:sp>
      <p:sp>
        <p:nvSpPr>
          <p:cNvPr id="41" name="TextBox 40"/>
          <p:cNvSpPr txBox="1"/>
          <p:nvPr/>
        </p:nvSpPr>
        <p:spPr>
          <a:xfrm>
            <a:off x="777240" y="5614416"/>
            <a:ext cx="10637215" cy="384048"/>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It leads with “84% gross margin”, “&lt;$3 die”, “5M+ Trucks” as a headline metric and “₹2–2.5L mandate-ready kit”. If that document is still in circulation, withdraw it — it contradicts your own corrections ledger.</a:t>
            </a:r>
          </a:p>
        </p:txBody>
      </p:sp>
      <p:sp>
        <p:nvSpPr>
          <p:cNvPr id="42" name="TextBox 4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43" name="TextBox 4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What you can put in front of a buyer today</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proof kit — and the honest gaps beside it</a:t>
            </a:r>
          </a:p>
        </p:txBody>
      </p:sp>
      <p:sp>
        <p:nvSpPr>
          <p:cNvPr id="6" name="Rectangle 5"/>
          <p:cNvSpPr/>
          <p:nvPr/>
        </p:nvSpPr>
        <p:spPr>
          <a:xfrm>
            <a:off x="548640" y="1664208"/>
            <a:ext cx="11094415" cy="347472"/>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877056" cy="274320"/>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Asset</a:t>
            </a:r>
          </a:p>
        </p:txBody>
      </p:sp>
      <p:sp>
        <p:nvSpPr>
          <p:cNvPr id="8" name="TextBox 7"/>
          <p:cNvSpPr txBox="1"/>
          <p:nvPr/>
        </p:nvSpPr>
        <p:spPr>
          <a:xfrm>
            <a:off x="4663440" y="1709928"/>
            <a:ext cx="1682496" cy="274320"/>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State</a:t>
            </a:r>
          </a:p>
        </p:txBody>
      </p:sp>
      <p:sp>
        <p:nvSpPr>
          <p:cNvPr id="9" name="TextBox 8"/>
          <p:cNvSpPr txBox="1"/>
          <p:nvPr/>
        </p:nvSpPr>
        <p:spPr>
          <a:xfrm>
            <a:off x="6492240" y="1709928"/>
            <a:ext cx="5093208" cy="274320"/>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How to use it</a:t>
            </a:r>
          </a:p>
        </p:txBody>
      </p:sp>
      <p:sp>
        <p:nvSpPr>
          <p:cNvPr id="10" name="Rectangle 9"/>
          <p:cNvSpPr/>
          <p:nvPr/>
        </p:nvSpPr>
        <p:spPr>
          <a:xfrm>
            <a:off x="548640" y="2011680"/>
            <a:ext cx="11094415" cy="347472"/>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011680"/>
            <a:ext cx="50292" cy="34747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57400"/>
            <a:ext cx="3877056" cy="274320"/>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₹23.01L delivered — Robot Training</a:t>
            </a:r>
          </a:p>
        </p:txBody>
      </p:sp>
      <p:sp>
        <p:nvSpPr>
          <p:cNvPr id="13" name="TextBox 12"/>
          <p:cNvSpPr txBox="1"/>
          <p:nvPr/>
        </p:nvSpPr>
        <p:spPr>
          <a:xfrm>
            <a:off x="4663440" y="2057400"/>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CONTRACTED</a:t>
            </a:r>
          </a:p>
        </p:txBody>
      </p:sp>
      <p:sp>
        <p:nvSpPr>
          <p:cNvPr id="14" name="TextBox 13"/>
          <p:cNvSpPr txBox="1"/>
          <p:nvPr/>
        </p:nvSpPr>
        <p:spPr>
          <a:xfrm>
            <a:off x="6492240" y="2057400"/>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Sits in Deepgrid Datacentre, NOT Semi. IP is MCEME-owned (Cl. 27)</a:t>
            </a:r>
          </a:p>
        </p:txBody>
      </p:sp>
      <p:sp>
        <p:nvSpPr>
          <p:cNvPr id="15" name="Rectangle 14"/>
          <p:cNvSpPr/>
          <p:nvPr/>
        </p:nvSpPr>
        <p:spPr>
          <a:xfrm>
            <a:off x="548640" y="2359152"/>
            <a:ext cx="11094415" cy="347472"/>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359152"/>
            <a:ext cx="50292" cy="34747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404872"/>
            <a:ext cx="3877056" cy="274320"/>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₹78.39L Robotics Assistant</a:t>
            </a:r>
          </a:p>
        </p:txBody>
      </p:sp>
      <p:sp>
        <p:nvSpPr>
          <p:cNvPr id="18" name="TextBox 17"/>
          <p:cNvSpPr txBox="1"/>
          <p:nvPr/>
        </p:nvSpPr>
        <p:spPr>
          <a:xfrm>
            <a:off x="4663440" y="2404872"/>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L1 ONLY</a:t>
            </a:r>
          </a:p>
        </p:txBody>
      </p:sp>
      <p:sp>
        <p:nvSpPr>
          <p:cNvPr id="19" name="TextBox 18"/>
          <p:cNvSpPr txBox="1"/>
          <p:nvPr/>
        </p:nvSpPr>
        <p:spPr>
          <a:xfrm>
            <a:off x="6492240" y="2404872"/>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Lowest bidder, not an award. Never call this revenue</a:t>
            </a:r>
          </a:p>
        </p:txBody>
      </p:sp>
      <p:sp>
        <p:nvSpPr>
          <p:cNvPr id="20" name="Rectangle 19"/>
          <p:cNvSpPr/>
          <p:nvPr/>
        </p:nvSpPr>
        <p:spPr>
          <a:xfrm>
            <a:off x="548640" y="2706624"/>
            <a:ext cx="11094415" cy="347472"/>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706624"/>
            <a:ext cx="50292" cy="34747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752344"/>
            <a:ext cx="3877056" cy="274320"/>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GeM record</a:t>
            </a:r>
          </a:p>
        </p:txBody>
      </p:sp>
      <p:sp>
        <p:nvSpPr>
          <p:cNvPr id="23" name="TextBox 22"/>
          <p:cNvSpPr txBox="1"/>
          <p:nvPr/>
        </p:nvSpPr>
        <p:spPr>
          <a:xfrm>
            <a:off x="4663440" y="2752344"/>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CONTRACTED</a:t>
            </a:r>
          </a:p>
        </p:txBody>
      </p:sp>
      <p:sp>
        <p:nvSpPr>
          <p:cNvPr id="24" name="TextBox 23"/>
          <p:cNvSpPr txBox="1"/>
          <p:nvPr/>
        </p:nvSpPr>
        <p:spPr>
          <a:xfrm>
            <a:off x="6492240" y="2752344"/>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Procurement eligibility already established</a:t>
            </a:r>
          </a:p>
        </p:txBody>
      </p:sp>
      <p:sp>
        <p:nvSpPr>
          <p:cNvPr id="25" name="Rectangle 24"/>
          <p:cNvSpPr/>
          <p:nvPr/>
        </p:nvSpPr>
        <p:spPr>
          <a:xfrm>
            <a:off x="548640" y="3054096"/>
            <a:ext cx="1109441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099816"/>
            <a:ext cx="3877056"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DGS001 module running on FPGA</a:t>
            </a:r>
          </a:p>
        </p:txBody>
      </p:sp>
      <p:sp>
        <p:nvSpPr>
          <p:cNvPr id="27" name="TextBox 26"/>
          <p:cNvSpPr txBox="1"/>
          <p:nvPr/>
        </p:nvSpPr>
        <p:spPr>
          <a:xfrm>
            <a:off x="4663440" y="3099816"/>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SILICON</a:t>
            </a:r>
          </a:p>
        </p:txBody>
      </p:sp>
      <p:sp>
        <p:nvSpPr>
          <p:cNvPr id="28" name="TextBox 27"/>
          <p:cNvSpPr txBox="1"/>
          <p:nvPr/>
        </p:nvSpPr>
        <p:spPr>
          <a:xfrm>
            <a:off x="6492240" y="3099816"/>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Live demo — perception measured at 40fps</a:t>
            </a:r>
          </a:p>
        </p:txBody>
      </p:sp>
      <p:sp>
        <p:nvSpPr>
          <p:cNvPr id="29" name="Rectangle 28"/>
          <p:cNvSpPr/>
          <p:nvPr/>
        </p:nvSpPr>
        <p:spPr>
          <a:xfrm>
            <a:off x="548640" y="3401568"/>
            <a:ext cx="11094415" cy="347472"/>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447288"/>
            <a:ext cx="3877056"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YOLOv11n at 40fps on FPGA</a:t>
            </a:r>
          </a:p>
        </p:txBody>
      </p:sp>
      <p:sp>
        <p:nvSpPr>
          <p:cNvPr id="31" name="TextBox 30"/>
          <p:cNvSpPr txBox="1"/>
          <p:nvPr/>
        </p:nvSpPr>
        <p:spPr>
          <a:xfrm>
            <a:off x="4663440" y="3447288"/>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MEASURED</a:t>
            </a:r>
          </a:p>
        </p:txBody>
      </p:sp>
      <p:sp>
        <p:nvSpPr>
          <p:cNvPr id="32" name="TextBox 31"/>
          <p:cNvSpPr txBox="1"/>
          <p:nvPr/>
        </p:nvSpPr>
        <p:spPr>
          <a:xfrm>
            <a:off x="6492240" y="3447288"/>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 number you may quote; it was measured</a:t>
            </a:r>
          </a:p>
        </p:txBody>
      </p:sp>
      <p:sp>
        <p:nvSpPr>
          <p:cNvPr id="33" name="Rectangle 32"/>
          <p:cNvSpPr/>
          <p:nvPr/>
        </p:nvSpPr>
        <p:spPr>
          <a:xfrm>
            <a:off x="548640" y="3749040"/>
            <a:ext cx="1109441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3794760"/>
            <a:ext cx="3877056"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15 provisional patents filed Mar 2026</a:t>
            </a:r>
          </a:p>
        </p:txBody>
      </p:sp>
      <p:sp>
        <p:nvSpPr>
          <p:cNvPr id="35" name="TextBox 34"/>
          <p:cNvSpPr txBox="1"/>
          <p:nvPr/>
        </p:nvSpPr>
        <p:spPr>
          <a:xfrm>
            <a:off x="4663440" y="3794760"/>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FILED</a:t>
            </a:r>
          </a:p>
        </p:txBody>
      </p:sp>
      <p:sp>
        <p:nvSpPr>
          <p:cNvPr id="36" name="TextBox 35"/>
          <p:cNvSpPr txBox="1"/>
          <p:nvPr/>
        </p:nvSpPr>
        <p:spPr>
          <a:xfrm>
            <a:off x="6492240" y="3794760"/>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Filed, not granted — say filed</a:t>
            </a:r>
          </a:p>
        </p:txBody>
      </p:sp>
      <p:sp>
        <p:nvSpPr>
          <p:cNvPr id="37" name="Rectangle 36"/>
          <p:cNvSpPr/>
          <p:nvPr/>
        </p:nvSpPr>
        <p:spPr>
          <a:xfrm>
            <a:off x="548640" y="4096512"/>
            <a:ext cx="11094415" cy="347472"/>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142232"/>
            <a:ext cx="3877056"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Carla-validated D-Drive loop</a:t>
            </a:r>
          </a:p>
        </p:txBody>
      </p:sp>
      <p:sp>
        <p:nvSpPr>
          <p:cNvPr id="39" name="TextBox 38"/>
          <p:cNvSpPr txBox="1"/>
          <p:nvPr/>
        </p:nvSpPr>
        <p:spPr>
          <a:xfrm>
            <a:off x="4663440" y="4142232"/>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VALIDATION</a:t>
            </a:r>
          </a:p>
        </p:txBody>
      </p:sp>
      <p:sp>
        <p:nvSpPr>
          <p:cNvPr id="40" name="TextBox 39"/>
          <p:cNvSpPr txBox="1"/>
          <p:nvPr/>
        </p:nvSpPr>
        <p:spPr>
          <a:xfrm>
            <a:off x="6492240" y="4142232"/>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Simulation, not road. Say so</a:t>
            </a:r>
          </a:p>
        </p:txBody>
      </p:sp>
      <p:sp>
        <p:nvSpPr>
          <p:cNvPr id="41" name="Rectangle 40"/>
          <p:cNvSpPr/>
          <p:nvPr/>
        </p:nvSpPr>
        <p:spPr>
          <a:xfrm>
            <a:off x="548640" y="4443984"/>
            <a:ext cx="1109441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4489704"/>
            <a:ext cx="3877056"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AIS-162/188 certification</a:t>
            </a:r>
          </a:p>
        </p:txBody>
      </p:sp>
      <p:sp>
        <p:nvSpPr>
          <p:cNvPr id="43" name="TextBox 42"/>
          <p:cNvSpPr txBox="1"/>
          <p:nvPr/>
        </p:nvSpPr>
        <p:spPr>
          <a:xfrm>
            <a:off x="4663440" y="4489704"/>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NOT HELD</a:t>
            </a:r>
          </a:p>
        </p:txBody>
      </p:sp>
      <p:sp>
        <p:nvSpPr>
          <p:cNvPr id="44" name="TextBox 43"/>
          <p:cNvSpPr txBox="1"/>
          <p:nvPr/>
        </p:nvSpPr>
        <p:spPr>
          <a:xfrm>
            <a:off x="6492240" y="4489704"/>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 path via NATRAX. Never imply otherwise</a:t>
            </a:r>
          </a:p>
        </p:txBody>
      </p:sp>
      <p:sp>
        <p:nvSpPr>
          <p:cNvPr id="45" name="Rectangle 44"/>
          <p:cNvSpPr/>
          <p:nvPr/>
        </p:nvSpPr>
        <p:spPr>
          <a:xfrm>
            <a:off x="548640" y="4791456"/>
            <a:ext cx="11094415" cy="347472"/>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4837176"/>
            <a:ext cx="3877056"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28nm ASIC silicon</a:t>
            </a:r>
          </a:p>
        </p:txBody>
      </p:sp>
      <p:sp>
        <p:nvSpPr>
          <p:cNvPr id="47" name="TextBox 46"/>
          <p:cNvSpPr txBox="1"/>
          <p:nvPr/>
        </p:nvSpPr>
        <p:spPr>
          <a:xfrm>
            <a:off x="4663440" y="4837176"/>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ROADMAP</a:t>
            </a:r>
          </a:p>
        </p:txBody>
      </p:sp>
      <p:sp>
        <p:nvSpPr>
          <p:cNvPr id="48" name="TextBox 47"/>
          <p:cNvSpPr txBox="1"/>
          <p:nvPr/>
        </p:nvSpPr>
        <p:spPr>
          <a:xfrm>
            <a:off x="6492240" y="4837176"/>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Tapes out ~Q1–mid 2027. FPGA ships today</a:t>
            </a:r>
          </a:p>
        </p:txBody>
      </p:sp>
      <p:sp>
        <p:nvSpPr>
          <p:cNvPr id="49" name="Rectangle 48"/>
          <p:cNvSpPr/>
          <p:nvPr/>
        </p:nvSpPr>
        <p:spPr>
          <a:xfrm>
            <a:off x="548640" y="5138928"/>
            <a:ext cx="11094415"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5184648"/>
            <a:ext cx="3877056"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Fleet accident-reduction data</a:t>
            </a:r>
          </a:p>
        </p:txBody>
      </p:sp>
      <p:sp>
        <p:nvSpPr>
          <p:cNvPr id="51" name="TextBox 50"/>
          <p:cNvSpPr txBox="1"/>
          <p:nvPr/>
        </p:nvSpPr>
        <p:spPr>
          <a:xfrm>
            <a:off x="4663440" y="5184648"/>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NONE</a:t>
            </a:r>
          </a:p>
        </p:txBody>
      </p:sp>
      <p:sp>
        <p:nvSpPr>
          <p:cNvPr id="52" name="TextBox 51"/>
          <p:cNvSpPr txBox="1"/>
          <p:nvPr/>
        </p:nvSpPr>
        <p:spPr>
          <a:xfrm>
            <a:off x="6492240" y="5184648"/>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 baseline exists. Banned claim #4</a:t>
            </a:r>
          </a:p>
        </p:txBody>
      </p:sp>
      <p:sp>
        <p:nvSpPr>
          <p:cNvPr id="53" name="Rectangle 52"/>
          <p:cNvSpPr/>
          <p:nvPr/>
        </p:nvSpPr>
        <p:spPr>
          <a:xfrm>
            <a:off x="548640" y="5486400"/>
            <a:ext cx="11094415" cy="347472"/>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 y="5532120"/>
            <a:ext cx="3877056"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Insurer premium-reduction data</a:t>
            </a:r>
          </a:p>
        </p:txBody>
      </p:sp>
      <p:sp>
        <p:nvSpPr>
          <p:cNvPr id="55" name="TextBox 54"/>
          <p:cNvSpPr txBox="1"/>
          <p:nvPr/>
        </p:nvSpPr>
        <p:spPr>
          <a:xfrm>
            <a:off x="4663440" y="5532120"/>
            <a:ext cx="1682496" cy="274320"/>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NONE</a:t>
            </a:r>
          </a:p>
        </p:txBody>
      </p:sp>
      <p:sp>
        <p:nvSpPr>
          <p:cNvPr id="56" name="TextBox 55"/>
          <p:cNvSpPr txBox="1"/>
          <p:nvPr/>
        </p:nvSpPr>
        <p:spPr>
          <a:xfrm>
            <a:off x="6492240" y="5532120"/>
            <a:ext cx="5093208" cy="27432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 actuarial partner. Banned claim #2</a:t>
            </a:r>
          </a:p>
        </p:txBody>
      </p:sp>
      <p:sp>
        <p:nvSpPr>
          <p:cNvPr id="57" name="Rounded Rectangle 56"/>
          <p:cNvSpPr/>
          <p:nvPr/>
        </p:nvSpPr>
        <p:spPr>
          <a:xfrm>
            <a:off x="548640" y="5614416"/>
            <a:ext cx="11094415" cy="50292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7240" y="5724144"/>
            <a:ext cx="10637215" cy="292608"/>
          </a:xfrm>
          <a:prstGeom prst="rect">
            <a:avLst/>
          </a:prstGeom>
          <a:noFill/>
        </p:spPr>
        <p:txBody>
          <a:bodyPr wrap="square" anchor="t" lIns="0" rIns="0" tIns="0" bIns="0">
            <a:normAutofit/>
          </a:bodyPr>
          <a:lstStyle/>
          <a:p>
            <a:pPr algn="l">
              <a:lnSpc>
                <a:spcPct val="105000"/>
              </a:lnSpc>
              <a:spcBef>
                <a:spcPts val="0"/>
              </a:spcBef>
            </a:pPr>
            <a:r>
              <a:rPr sz="1250" b="1" i="0">
                <a:solidFill>
                  <a:srgbClr val="FFFFFF"/>
                </a:solidFill>
                <a:latin typeface="Calibri"/>
              </a:rPr>
              <a:t>BP-1A states it plainly: “none of it is trucking/ADAS revenue.” Quote ₹23.01L delivered, in the right entity — never “₹1 Cr defence revenue”.</a:t>
            </a:r>
          </a:p>
        </p:txBody>
      </p:sp>
      <p:sp>
        <p:nvSpPr>
          <p:cNvPr id="59" name="TextBox 5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60" name="TextBox 5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54864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03</a:t>
            </a:r>
          </a:p>
        </p:txBody>
      </p:sp>
      <p:sp>
        <p:nvSpPr>
          <p:cNvPr id="5" name="TextBox 4"/>
          <p:cNvSpPr txBox="1"/>
          <p:nvPr/>
        </p:nvSpPr>
        <p:spPr>
          <a:xfrm>
            <a:off x="777240" y="2788920"/>
            <a:ext cx="10058400" cy="91440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The competitive ground</a:t>
            </a:r>
          </a:p>
        </p:txBody>
      </p:sp>
      <p:sp>
        <p:nvSpPr>
          <p:cNvPr id="6" name="Rectangle 5"/>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041648"/>
            <a:ext cx="9601200" cy="54864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What you are actually being compared against</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 July-corrected basis · 5 Aug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Two contests, not one — and only one of them is won</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price ladder the buyer actually sees</a:t>
            </a:r>
          </a:p>
        </p:txBody>
      </p:sp>
      <p:graphicFrame>
        <p:nvGraphicFramePr>
          <p:cNvPr id="6" name="Chart 5"/>
          <p:cNvGraphicFramePr>
            <a:graphicFrameLocks noGrp="1"/>
          </p:cNvGraphicFramePr>
          <p:nvPr/>
        </p:nvGraphicFramePr>
        <p:xfrm>
          <a:off x="548640" y="1664208"/>
          <a:ext cx="6675120" cy="3931920"/>
        </p:xfrm>
        <a:graphic>
          <a:graphicData uri="http://schemas.openxmlformats.org/drawingml/2006/chart">
            <c:chart xmlns:c="http://schemas.openxmlformats.org/drawingml/2006/chart" r:id="rId2"/>
          </a:graphicData>
        </a:graphic>
      </p:graphicFrame>
      <p:sp>
        <p:nvSpPr>
          <p:cNvPr id="7" name="Rounded Rectangle 6"/>
          <p:cNvSpPr/>
          <p:nvPr/>
        </p:nvSpPr>
        <p:spPr>
          <a:xfrm>
            <a:off x="7452360" y="1664208"/>
            <a:ext cx="4187952" cy="393192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62672" y="1865376"/>
            <a:ext cx="3749039" cy="310896"/>
          </a:xfrm>
          <a:prstGeom prst="rect">
            <a:avLst/>
          </a:prstGeom>
          <a:noFill/>
        </p:spPr>
        <p:txBody>
          <a:bodyPr wrap="square" anchor="t" lIns="0" rIns="0" tIns="0" bIns="0">
            <a:noAutofit/>
          </a:bodyPr>
          <a:lstStyle/>
          <a:p>
            <a:pPr algn="l">
              <a:lnSpc>
                <a:spcPct val="105000"/>
              </a:lnSpc>
              <a:spcBef>
                <a:spcPts val="0"/>
              </a:spcBef>
            </a:pPr>
            <a:r>
              <a:rPr sz="1500" b="1" i="0">
                <a:solidFill>
                  <a:srgbClr val="00C9A7"/>
                </a:solidFill>
                <a:latin typeface="Calibri"/>
              </a:rPr>
              <a:t>How to use this in a room</a:t>
            </a:r>
          </a:p>
        </p:txBody>
      </p:sp>
      <p:sp>
        <p:nvSpPr>
          <p:cNvPr id="9" name="TextBox 8"/>
          <p:cNvSpPr txBox="1"/>
          <p:nvPr/>
        </p:nvSpPr>
        <p:spPr>
          <a:xfrm>
            <a:off x="7662672" y="2304288"/>
            <a:ext cx="3749039" cy="3108960"/>
          </a:xfrm>
          <a:prstGeom prst="rect">
            <a:avLst/>
          </a:prstGeom>
          <a:noFill/>
        </p:spPr>
        <p:txBody>
          <a:bodyPr wrap="square" anchor="t" lIns="0" rIns="0" tIns="0" bIns="0">
            <a:normAutofit/>
          </a:bodyPr>
          <a:lstStyle/>
          <a:p>
            <a:pPr algn="l">
              <a:lnSpc>
                <a:spcPct val="105000"/>
              </a:lnSpc>
              <a:spcBef>
                <a:spcPts val="0"/>
              </a:spcBef>
            </a:pPr>
            <a:r>
              <a:rPr sz="1150" b="0" i="0">
                <a:solidFill>
                  <a:srgbClr val="FFFFFF"/>
                </a:solidFill>
                <a:latin typeface="Calibri"/>
              </a:rPr>
              <a:t>Against imports: you win, 2.8–6.5×. This contest is already settled and does not need re-arguing.</a:t>
            </a:r>
          </a:p>
          <a:p>
            <a:pPr algn="l">
              <a:lnSpc>
                <a:spcPct val="105000"/>
              </a:lnSpc>
              <a:spcBef>
                <a:spcPts val="1000"/>
              </a:spcBef>
            </a:pPr>
            <a:r>
              <a:rPr sz="1150" b="0" i="0">
                <a:solidFill>
                  <a:srgbClr val="FFB800"/>
                </a:solidFill>
                <a:latin typeface="Calibri"/>
              </a:rPr>
              <a:t>Against the compliance box: you are ~20× the ₹4,500–11,000 anchor. Price is not an argument you can win here.</a:t>
            </a:r>
          </a:p>
          <a:p>
            <a:pPr algn="l">
              <a:lnSpc>
                <a:spcPct val="105000"/>
              </a:lnSpc>
              <a:spcBef>
                <a:spcPts val="1000"/>
              </a:spcBef>
            </a:pPr>
            <a:r>
              <a:rPr sz="1100" b="0" i="0">
                <a:solidFill>
                  <a:srgbClr val="E0F7F1"/>
                </a:solidFill>
                <a:latin typeface="Calibri"/>
              </a:rPr>
              <a:t>So never open a fleet conversation on price. Open on what the ₹30,000 box physically cannot do — transformer perception, driver monitoring, and a certified latency budget on one part.</a:t>
            </a:r>
          </a:p>
          <a:p>
            <a:pPr algn="l">
              <a:lnSpc>
                <a:spcPct val="105000"/>
              </a:lnSpc>
              <a:spcBef>
                <a:spcPts val="1000"/>
              </a:spcBef>
            </a:pPr>
            <a:r>
              <a:rPr sz="1100" b="0" i="0">
                <a:solidFill>
                  <a:srgbClr val="E0F7F1"/>
                </a:solidFill>
                <a:latin typeface="Calibri"/>
              </a:rPr>
              <a:t>The import comparison is for OEM and Tier-1 rooms, where the incumbent bid actually is ₹6.5L+.</a:t>
            </a:r>
          </a:p>
        </p:txBody>
      </p:sp>
      <p:sp>
        <p:nvSpPr>
          <p:cNvPr id="10" name="Rounded Rectangle 9"/>
          <p:cNvSpPr/>
          <p:nvPr/>
        </p:nvSpPr>
        <p:spPr>
          <a:xfrm>
            <a:off x="548640" y="5742432"/>
            <a:ext cx="1188720" cy="274320"/>
          </a:xfrm>
          <a:prstGeom prst="roundRect">
            <a:avLst>
              <a:gd name="adj" fmla="val 30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783580"/>
            <a:ext cx="1188720" cy="219456"/>
          </a:xfrm>
          <a:prstGeom prst="rect">
            <a:avLst/>
          </a:prstGeom>
          <a:noFill/>
        </p:spPr>
        <p:txBody>
          <a:bodyPr wrap="square" anchor="t" lIns="0" rIns="0" tIns="0" bIns="0">
            <a:noAutofit/>
          </a:bodyPr>
          <a:lstStyle/>
          <a:p>
            <a:pPr algn="ctr">
              <a:lnSpc>
                <a:spcPct val="105000"/>
              </a:lnSpc>
              <a:spcBef>
                <a:spcPts val="0"/>
              </a:spcBef>
            </a:pPr>
            <a:r>
              <a:rPr sz="950" b="1" i="0">
                <a:solidFill>
                  <a:srgbClr val="FFFFFF"/>
                </a:solidFill>
                <a:latin typeface="Calibri"/>
              </a:rPr>
              <a:t>VERIFIED</a:t>
            </a:r>
          </a:p>
        </p:txBody>
      </p:sp>
      <p:sp>
        <p:nvSpPr>
          <p:cNvPr id="12" name="TextBox 11"/>
          <p:cNvSpPr txBox="1"/>
          <p:nvPr/>
        </p:nvSpPr>
        <p:spPr>
          <a:xfrm>
            <a:off x="1874519" y="5779008"/>
            <a:ext cx="9144000" cy="274320"/>
          </a:xfrm>
          <a:prstGeom prst="rect">
            <a:avLst/>
          </a:prstGeom>
          <a:noFill/>
        </p:spPr>
        <p:txBody>
          <a:bodyPr wrap="square" anchor="t" lIns="0" rIns="0" tIns="0" bIns="0">
            <a:noAutofit/>
          </a:bodyPr>
          <a:lstStyle/>
          <a:p>
            <a:pPr algn="l">
              <a:lnSpc>
                <a:spcPct val="105000"/>
              </a:lnSpc>
              <a:spcBef>
                <a:spcPts val="0"/>
              </a:spcBef>
            </a:pPr>
            <a:r>
              <a:rPr sz="1000" b="0" i="1">
                <a:solidFill>
                  <a:srgbClr val="5B6B7C"/>
                </a:solidFill>
                <a:latin typeface="Calibri"/>
              </a:rPr>
              <a:t>AIS-140 street pricing confirmed independently Aug 2026; import prices per company deck, not independently benchmarked</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whitespace is closing about 18 months earlier than mapped</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Finding · verified independently this week · this is new information</a:t>
            </a:r>
          </a:p>
        </p:txBody>
      </p:sp>
      <p:sp>
        <p:nvSpPr>
          <p:cNvPr id="6" name="Rectangle 5"/>
          <p:cNvSpPr/>
          <p:nvPr/>
        </p:nvSpPr>
        <p:spPr>
          <a:xfrm>
            <a:off x="548640" y="1664208"/>
            <a:ext cx="11094415" cy="60350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1591056" cy="530352"/>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Player</a:t>
            </a:r>
          </a:p>
        </p:txBody>
      </p:sp>
      <p:sp>
        <p:nvSpPr>
          <p:cNvPr id="8" name="TextBox 7"/>
          <p:cNvSpPr txBox="1"/>
          <p:nvPr/>
        </p:nvSpPr>
        <p:spPr>
          <a:xfrm>
            <a:off x="2377440" y="1709928"/>
            <a:ext cx="2505456" cy="53035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July deck position</a:t>
            </a:r>
          </a:p>
        </p:txBody>
      </p:sp>
      <p:sp>
        <p:nvSpPr>
          <p:cNvPr id="9" name="TextBox 8"/>
          <p:cNvSpPr txBox="1"/>
          <p:nvPr/>
        </p:nvSpPr>
        <p:spPr>
          <a:xfrm>
            <a:off x="5029200" y="1709928"/>
            <a:ext cx="5340096" cy="53035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is true in Aug 2026</a:t>
            </a:r>
          </a:p>
        </p:txBody>
      </p:sp>
      <p:sp>
        <p:nvSpPr>
          <p:cNvPr id="10" name="TextBox 9"/>
          <p:cNvSpPr txBox="1"/>
          <p:nvPr/>
        </p:nvSpPr>
        <p:spPr>
          <a:xfrm>
            <a:off x="10515600" y="1709928"/>
            <a:ext cx="1069848" cy="53035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Evidence state</a:t>
            </a:r>
          </a:p>
        </p:txBody>
      </p:sp>
      <p:sp>
        <p:nvSpPr>
          <p:cNvPr id="11" name="Rectangle 10"/>
          <p:cNvSpPr/>
          <p:nvPr/>
        </p:nvSpPr>
        <p:spPr>
          <a:xfrm>
            <a:off x="548640" y="2267712"/>
            <a:ext cx="11094415" cy="60350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67712"/>
            <a:ext cx="50292" cy="60350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13432"/>
            <a:ext cx="1591056" cy="53035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Netrasemi</a:t>
            </a:r>
          </a:p>
        </p:txBody>
      </p:sp>
      <p:sp>
        <p:nvSpPr>
          <p:cNvPr id="14" name="TextBox 13"/>
          <p:cNvSpPr txBox="1"/>
          <p:nvPr/>
        </p:nvSpPr>
        <p:spPr>
          <a:xfrm>
            <a:off x="2377440" y="2313432"/>
            <a:ext cx="250545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Mapped “(2027)” in the July deck</a:t>
            </a:r>
          </a:p>
        </p:txBody>
      </p:sp>
      <p:sp>
        <p:nvSpPr>
          <p:cNvPr id="15" name="TextBox 14"/>
          <p:cNvSpPr txBox="1"/>
          <p:nvPr/>
        </p:nvSpPr>
        <p:spPr>
          <a:xfrm>
            <a:off x="5029200" y="2313432"/>
            <a:ext cx="534009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A2000 production-ready May 2026 · 3 OEM trials live incl. automotive · ₹107 Cr Series A led by Zoho</a:t>
            </a:r>
          </a:p>
        </p:txBody>
      </p:sp>
      <p:sp>
        <p:nvSpPr>
          <p:cNvPr id="16" name="TextBox 15"/>
          <p:cNvSpPr txBox="1"/>
          <p:nvPr/>
        </p:nvSpPr>
        <p:spPr>
          <a:xfrm>
            <a:off x="10515600" y="2313432"/>
            <a:ext cx="1069848" cy="53035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Validation</a:t>
            </a:r>
          </a:p>
        </p:txBody>
      </p:sp>
      <p:sp>
        <p:nvSpPr>
          <p:cNvPr id="17" name="Rectangle 16"/>
          <p:cNvSpPr/>
          <p:nvPr/>
        </p:nvSpPr>
        <p:spPr>
          <a:xfrm>
            <a:off x="548640" y="2871216"/>
            <a:ext cx="11094415"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916936"/>
            <a:ext cx="159105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Netrasemi A4000</a:t>
            </a:r>
          </a:p>
        </p:txBody>
      </p:sp>
      <p:sp>
        <p:nvSpPr>
          <p:cNvPr id="19" name="TextBox 18"/>
          <p:cNvSpPr txBox="1"/>
          <p:nvPr/>
        </p:nvSpPr>
        <p:spPr>
          <a:xfrm>
            <a:off x="2377440" y="2916936"/>
            <a:ext cx="250545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Not mapped</a:t>
            </a:r>
          </a:p>
        </p:txBody>
      </p:sp>
      <p:sp>
        <p:nvSpPr>
          <p:cNvPr id="20" name="TextBox 19"/>
          <p:cNvSpPr txBox="1"/>
          <p:nvPr/>
        </p:nvSpPr>
        <p:spPr>
          <a:xfrm>
            <a:off x="5029200" y="2916936"/>
            <a:ext cx="534009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Edge-AI server chip targeting fab readiness Q2 2027</a:t>
            </a:r>
          </a:p>
        </p:txBody>
      </p:sp>
      <p:sp>
        <p:nvSpPr>
          <p:cNvPr id="21" name="TextBox 20"/>
          <p:cNvSpPr txBox="1"/>
          <p:nvPr/>
        </p:nvSpPr>
        <p:spPr>
          <a:xfrm>
            <a:off x="10515600" y="2916936"/>
            <a:ext cx="1069848" cy="53035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Roadmap</a:t>
            </a:r>
          </a:p>
        </p:txBody>
      </p:sp>
      <p:sp>
        <p:nvSpPr>
          <p:cNvPr id="22" name="Rectangle 21"/>
          <p:cNvSpPr/>
          <p:nvPr/>
        </p:nvSpPr>
        <p:spPr>
          <a:xfrm>
            <a:off x="548640" y="3474720"/>
            <a:ext cx="11094415" cy="60350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520440"/>
            <a:ext cx="159105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RoshAI</a:t>
            </a:r>
          </a:p>
        </p:txBody>
      </p:sp>
      <p:sp>
        <p:nvSpPr>
          <p:cNvPr id="24" name="TextBox 23"/>
          <p:cNvSpPr txBox="1"/>
          <p:nvPr/>
        </p:nvSpPr>
        <p:spPr>
          <a:xfrm>
            <a:off x="2377440" y="3520440"/>
            <a:ext cx="250545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Mapped as software-first</a:t>
            </a:r>
          </a:p>
        </p:txBody>
      </p:sp>
      <p:sp>
        <p:nvSpPr>
          <p:cNvPr id="25" name="TextBox 24"/>
          <p:cNvSpPr txBox="1"/>
          <p:nvPr/>
        </p:nvSpPr>
        <p:spPr>
          <a:xfrm>
            <a:off x="5029200" y="3520440"/>
            <a:ext cx="534009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Raised ₹22 Cr for autonomous vehicles in industrial use — adjacent to Phase-3 yards</a:t>
            </a:r>
          </a:p>
        </p:txBody>
      </p:sp>
      <p:sp>
        <p:nvSpPr>
          <p:cNvPr id="26" name="TextBox 25"/>
          <p:cNvSpPr txBox="1"/>
          <p:nvPr/>
        </p:nvSpPr>
        <p:spPr>
          <a:xfrm>
            <a:off x="10515600" y="3520440"/>
            <a:ext cx="1069848" cy="53035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Validation</a:t>
            </a:r>
          </a:p>
        </p:txBody>
      </p:sp>
      <p:sp>
        <p:nvSpPr>
          <p:cNvPr id="27" name="Rectangle 26"/>
          <p:cNvSpPr/>
          <p:nvPr/>
        </p:nvSpPr>
        <p:spPr>
          <a:xfrm>
            <a:off x="548640" y="4078224"/>
            <a:ext cx="11094415"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123944"/>
            <a:ext cx="159105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Mobileye</a:t>
            </a:r>
          </a:p>
        </p:txBody>
      </p:sp>
      <p:sp>
        <p:nvSpPr>
          <p:cNvPr id="29" name="TextBox 28"/>
          <p:cNvSpPr txBox="1"/>
          <p:nvPr/>
        </p:nvSpPr>
        <p:spPr>
          <a:xfrm>
            <a:off x="2377440" y="4123944"/>
            <a:ext cx="250545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Import comparison only</a:t>
            </a:r>
          </a:p>
        </p:txBody>
      </p:sp>
      <p:sp>
        <p:nvSpPr>
          <p:cNvPr id="30" name="TextBox 29"/>
          <p:cNvSpPr txBox="1"/>
          <p:nvPr/>
        </p:nvSpPr>
        <p:spPr>
          <a:xfrm>
            <a:off x="5029200" y="4123944"/>
            <a:ext cx="534009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Selected by Mahindra for ADAS across six future models</a:t>
            </a:r>
          </a:p>
        </p:txBody>
      </p:sp>
      <p:sp>
        <p:nvSpPr>
          <p:cNvPr id="31" name="TextBox 30"/>
          <p:cNvSpPr txBox="1"/>
          <p:nvPr/>
        </p:nvSpPr>
        <p:spPr>
          <a:xfrm>
            <a:off x="10515600" y="4123944"/>
            <a:ext cx="1069848" cy="53035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Production</a:t>
            </a:r>
          </a:p>
        </p:txBody>
      </p:sp>
      <p:sp>
        <p:nvSpPr>
          <p:cNvPr id="32" name="Rounded Rectangle 31"/>
          <p:cNvSpPr/>
          <p:nvPr/>
        </p:nvSpPr>
        <p:spPr>
          <a:xfrm>
            <a:off x="548640" y="4791456"/>
            <a:ext cx="5852160" cy="1463040"/>
          </a:xfrm>
          <a:prstGeom prst="roundRect">
            <a:avLst>
              <a:gd name="adj" fmla="val 4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791456"/>
            <a:ext cx="54864" cy="146304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946904"/>
            <a:ext cx="539496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What this does to the runway thesis</a:t>
            </a:r>
          </a:p>
        </p:txBody>
      </p:sp>
      <p:sp>
        <p:nvSpPr>
          <p:cNvPr id="35" name="TextBox 34"/>
          <p:cNvSpPr txBox="1"/>
          <p:nvPr/>
        </p:nvSpPr>
        <p:spPr>
          <a:xfrm>
            <a:off x="777240" y="5257800"/>
            <a:ext cx="5394960" cy="914400"/>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Slide 25 of the July deck says the whitespace has a shelf life and that by 2027–28 at least one peer becomes a real competitor. That is arriving early. Netrasemi is production-ready now, on roughly twice the capital DeepGrid is raising.</a:t>
            </a:r>
          </a:p>
        </p:txBody>
      </p:sp>
      <p:sp>
        <p:nvSpPr>
          <p:cNvPr id="36" name="Rounded Rectangle 35"/>
          <p:cNvSpPr/>
          <p:nvPr/>
        </p:nvSpPr>
        <p:spPr>
          <a:xfrm>
            <a:off x="6629400" y="4791456"/>
            <a:ext cx="5010912" cy="14630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39712" y="4946904"/>
            <a:ext cx="457200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But read the evidence state carefully</a:t>
            </a:r>
          </a:p>
        </p:txBody>
      </p:sp>
      <p:sp>
        <p:nvSpPr>
          <p:cNvPr id="38" name="TextBox 37"/>
          <p:cNvSpPr txBox="1"/>
          <p:nvPr/>
        </p:nvSpPr>
        <p:spPr>
          <a:xfrm>
            <a:off x="6839712" y="5257800"/>
            <a:ext cx="4572000" cy="91440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Netrasemi's A2000 is an edge-AI SoC for video analytics across IoT, healthcare and surveillance — automotive is one target sector, not the product. It is not a certified ADAS combo-die with drive-by-wire. The whitespace narrowed; it did not close.</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54864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04</a:t>
            </a:r>
          </a:p>
        </p:txBody>
      </p:sp>
      <p:sp>
        <p:nvSpPr>
          <p:cNvPr id="5" name="TextBox 4"/>
          <p:cNvSpPr txBox="1"/>
          <p:nvPr/>
        </p:nvSpPr>
        <p:spPr>
          <a:xfrm>
            <a:off x="777240" y="2788920"/>
            <a:ext cx="10058400" cy="91440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Running the motion</a:t>
            </a:r>
          </a:p>
        </p:txBody>
      </p:sp>
      <p:sp>
        <p:nvSpPr>
          <p:cNvPr id="6" name="Rectangle 5"/>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041648"/>
            <a:ext cx="9601200" cy="54864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Objections, channel, and the next 90 days</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 July-corrected basis · 5 Aug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five objections you will hear, and the honest answer</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Battlecards · every answer stays inside the banned-claims rules</a:t>
            </a:r>
          </a:p>
        </p:txBody>
      </p:sp>
      <p:sp>
        <p:nvSpPr>
          <p:cNvPr id="6" name="Rectangle 5"/>
          <p:cNvSpPr/>
          <p:nvPr/>
        </p:nvSpPr>
        <p:spPr>
          <a:xfrm>
            <a:off x="548640" y="1664208"/>
            <a:ext cx="11094415" cy="60350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968496" cy="530352"/>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Objection</a:t>
            </a:r>
          </a:p>
        </p:txBody>
      </p:sp>
      <p:sp>
        <p:nvSpPr>
          <p:cNvPr id="8" name="TextBox 7"/>
          <p:cNvSpPr txBox="1"/>
          <p:nvPr/>
        </p:nvSpPr>
        <p:spPr>
          <a:xfrm>
            <a:off x="4754880" y="1709928"/>
            <a:ext cx="6830568" cy="53035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The answer</a:t>
            </a:r>
          </a:p>
        </p:txBody>
      </p:sp>
      <p:sp>
        <p:nvSpPr>
          <p:cNvPr id="9" name="Rectangle 8"/>
          <p:cNvSpPr/>
          <p:nvPr/>
        </p:nvSpPr>
        <p:spPr>
          <a:xfrm>
            <a:off x="548640" y="2267712"/>
            <a:ext cx="11094415" cy="60350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67712"/>
            <a:ext cx="50292" cy="60350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13432"/>
            <a:ext cx="3968496" cy="53035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“A ₹30,000 box passes the same inspection.”</a:t>
            </a:r>
          </a:p>
        </p:txBody>
      </p:sp>
      <p:sp>
        <p:nvSpPr>
          <p:cNvPr id="12" name="TextBox 11"/>
          <p:cNvSpPr txBox="1"/>
          <p:nvPr/>
        </p:nvSpPr>
        <p:spPr>
          <a:xfrm>
            <a:off x="4754880" y="2313432"/>
            <a:ext cx="6830568"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Correct today, while enforcement is transitional. It cannot do transformer perception, driver monitoring or a certified latency budget. Move to capability, never argue price.</a:t>
            </a:r>
          </a:p>
        </p:txBody>
      </p:sp>
      <p:sp>
        <p:nvSpPr>
          <p:cNvPr id="13" name="Rectangle 12"/>
          <p:cNvSpPr/>
          <p:nvPr/>
        </p:nvSpPr>
        <p:spPr>
          <a:xfrm>
            <a:off x="548640" y="2871216"/>
            <a:ext cx="11094415"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16936"/>
            <a:ext cx="396849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“Are you actually AIS certified?”</a:t>
            </a:r>
          </a:p>
        </p:txBody>
      </p:sp>
      <p:sp>
        <p:nvSpPr>
          <p:cNvPr id="15" name="TextBox 14"/>
          <p:cNvSpPr txBox="1"/>
          <p:nvPr/>
        </p:nvSpPr>
        <p:spPr>
          <a:xfrm>
            <a:off x="4754880" y="2916936"/>
            <a:ext cx="6830568"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 — certification is a path, not held. Say so plainly and point to the NATRAX route. Never say “mandate-ready”.</a:t>
            </a:r>
          </a:p>
        </p:txBody>
      </p:sp>
      <p:sp>
        <p:nvSpPr>
          <p:cNvPr id="16" name="Rectangle 15"/>
          <p:cNvSpPr/>
          <p:nvPr/>
        </p:nvSpPr>
        <p:spPr>
          <a:xfrm>
            <a:off x="548640" y="3474720"/>
            <a:ext cx="11094415" cy="60350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520440"/>
            <a:ext cx="396849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“Why not Mobileye? Mahindra chose them.”</a:t>
            </a:r>
          </a:p>
        </p:txBody>
      </p:sp>
      <p:sp>
        <p:nvSpPr>
          <p:cNvPr id="18" name="TextBox 17"/>
          <p:cNvSpPr txBox="1"/>
          <p:nvPr/>
        </p:nvSpPr>
        <p:spPr>
          <a:xfrm>
            <a:off x="4754880" y="3520440"/>
            <a:ext cx="6830568"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True, and for OEM line-fit they have the relationships. Our ground is indigenous supply, sovereign data, and price at 2.8–6.5× below — strongest where foreign silicon is excluded.</a:t>
            </a:r>
          </a:p>
        </p:txBody>
      </p:sp>
      <p:sp>
        <p:nvSpPr>
          <p:cNvPr id="19" name="Rectangle 18"/>
          <p:cNvSpPr/>
          <p:nvPr/>
        </p:nvSpPr>
        <p:spPr>
          <a:xfrm>
            <a:off x="548640" y="4078224"/>
            <a:ext cx="11094415"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123944"/>
            <a:ext cx="396849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“What premium reduction will my insurer give?”</a:t>
            </a:r>
          </a:p>
        </p:txBody>
      </p:sp>
      <p:sp>
        <p:nvSpPr>
          <p:cNvPr id="21" name="TextBox 20"/>
          <p:cNvSpPr txBox="1"/>
          <p:nvPr/>
        </p:nvSpPr>
        <p:spPr>
          <a:xfrm>
            <a:off x="4754880" y="4123944"/>
            <a:ext cx="6830568"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We do not have an actuarial partner or a measured baseline, so we will not quote a number. Here is the pilot measurement plan instead.</a:t>
            </a:r>
          </a:p>
        </p:txBody>
      </p:sp>
      <p:sp>
        <p:nvSpPr>
          <p:cNvPr id="22" name="Rectangle 21"/>
          <p:cNvSpPr/>
          <p:nvPr/>
        </p:nvSpPr>
        <p:spPr>
          <a:xfrm>
            <a:off x="548640" y="4681728"/>
            <a:ext cx="11094415" cy="60350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727448"/>
            <a:ext cx="3968496"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“What if you don't tape out?”</a:t>
            </a:r>
          </a:p>
        </p:txBody>
      </p:sp>
      <p:sp>
        <p:nvSpPr>
          <p:cNvPr id="24" name="TextBox 23"/>
          <p:cNvSpPr txBox="1"/>
          <p:nvPr/>
        </p:nvSpPr>
        <p:spPr>
          <a:xfrm>
            <a:off x="4754880" y="4727448"/>
            <a:ext cx="6830568" cy="53035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FPGA product ships today and Track A revenue does not depend on the tapeout. The ASIC changes cost, not capability.</a:t>
            </a:r>
          </a:p>
        </p:txBody>
      </p:sp>
      <p:sp>
        <p:nvSpPr>
          <p:cNvPr id="25" name="Rounded Rectangle 24"/>
          <p:cNvSpPr/>
          <p:nvPr/>
        </p:nvSpPr>
        <p:spPr>
          <a:xfrm>
            <a:off x="548640" y="5413248"/>
            <a:ext cx="11094415" cy="56692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541264"/>
            <a:ext cx="10637215" cy="329184"/>
          </a:xfrm>
          <a:prstGeom prst="rect">
            <a:avLst/>
          </a:prstGeom>
          <a:noFill/>
        </p:spPr>
        <p:txBody>
          <a:bodyPr wrap="square" anchor="t" lIns="0" rIns="0" tIns="0" bIns="0">
            <a:normAutofit/>
          </a:bodyPr>
          <a:lstStyle/>
          <a:p>
            <a:pPr algn="l">
              <a:lnSpc>
                <a:spcPct val="105000"/>
              </a:lnSpc>
              <a:spcBef>
                <a:spcPts val="0"/>
              </a:spcBef>
            </a:pPr>
            <a:r>
              <a:rPr sz="1250" b="1" i="0">
                <a:solidFill>
                  <a:srgbClr val="FFFFFF"/>
                </a:solidFill>
                <a:latin typeface="Calibri"/>
              </a:rPr>
              <a:t>Every one of these concedes something true. That is deliberate — a conceded weakness buys credibility for the claim that follows it.</a:t>
            </a:r>
          </a:p>
        </p:txBody>
      </p:sp>
      <p:sp>
        <p:nvSpPr>
          <p:cNvPr id="27" name="TextBox 2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Channel is the business model, not a sales motion</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Dealers, NBFCs and insurers — and the one thing you cannot yet say</a:t>
            </a:r>
          </a:p>
        </p:txBody>
      </p:sp>
      <p:sp>
        <p:nvSpPr>
          <p:cNvPr id="6" name="Rounded Rectangle 5"/>
          <p:cNvSpPr/>
          <p:nvPr/>
        </p:nvSpPr>
        <p:spPr>
          <a:xfrm>
            <a:off x="548640" y="1719072"/>
            <a:ext cx="3564026" cy="224028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19072"/>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01952"/>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Dealers — reach</a:t>
            </a:r>
          </a:p>
        </p:txBody>
      </p:sp>
      <p:sp>
        <p:nvSpPr>
          <p:cNvPr id="9" name="TextBox 8"/>
          <p:cNvSpPr txBox="1"/>
          <p:nvPr/>
        </p:nvSpPr>
        <p:spPr>
          <a:xfrm>
            <a:off x="713232" y="2359152"/>
            <a:ext cx="3234842" cy="145389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The only way to touch operators below the organised segment. 75–80% of operators own fewer than five trucks and cannot be sold to directly at any sane acquisition cost.</a:t>
            </a:r>
          </a:p>
        </p:txBody>
      </p:sp>
      <p:sp>
        <p:nvSpPr>
          <p:cNvPr id="10" name="Rounded Rectangle 9"/>
          <p:cNvSpPr/>
          <p:nvPr/>
        </p:nvSpPr>
        <p:spPr>
          <a:xfrm>
            <a:off x="4313834" y="1719072"/>
            <a:ext cx="3564026" cy="224028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13834" y="1719072"/>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8426" y="1901952"/>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NBFCs — affordability</a:t>
            </a:r>
          </a:p>
        </p:txBody>
      </p:sp>
      <p:sp>
        <p:nvSpPr>
          <p:cNvPr id="13" name="TextBox 12"/>
          <p:cNvSpPr txBox="1"/>
          <p:nvPr/>
        </p:nvSpPr>
        <p:spPr>
          <a:xfrm>
            <a:off x="4478426" y="2359152"/>
            <a:ext cx="3234842" cy="145389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They already finance the truck. Financing the kit alongside it converts a ₹2.3L capital decision into a monthly line, which is the only framing in which the compliance-box comparison stops mattering.</a:t>
            </a:r>
          </a:p>
        </p:txBody>
      </p:sp>
      <p:sp>
        <p:nvSpPr>
          <p:cNvPr id="14" name="Rounded Rectangle 13"/>
          <p:cNvSpPr/>
          <p:nvPr/>
        </p:nvSpPr>
        <p:spPr>
          <a:xfrm>
            <a:off x="8079028" y="1719072"/>
            <a:ext cx="3564026" cy="224028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79028" y="1719072"/>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3620" y="1901952"/>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Insurers — the unlock, unquantified</a:t>
            </a:r>
          </a:p>
        </p:txBody>
      </p:sp>
      <p:sp>
        <p:nvSpPr>
          <p:cNvPr id="17" name="TextBox 16"/>
          <p:cNvSpPr txBox="1"/>
          <p:nvPr/>
        </p:nvSpPr>
        <p:spPr>
          <a:xfrm>
            <a:off x="8243620" y="2359152"/>
            <a:ext cx="3234842" cy="145389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An insurer subsidising part of the kit against a premium discount is the strongest commercial idea in the plan. It is also where banned claim #2 applies: no percentage may be quoted until a pilot produces a delta an insurer co-signs.</a:t>
            </a:r>
          </a:p>
        </p:txBody>
      </p:sp>
      <p:sp>
        <p:nvSpPr>
          <p:cNvPr id="18" name="Rounded Rectangle 17"/>
          <p:cNvSpPr/>
          <p:nvPr/>
        </p:nvSpPr>
        <p:spPr>
          <a:xfrm>
            <a:off x="548640" y="4206240"/>
            <a:ext cx="11094415" cy="1371600"/>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206240"/>
            <a:ext cx="54864" cy="137160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70832"/>
            <a:ext cx="6400800" cy="292608"/>
          </a:xfrm>
          <a:prstGeom prst="rect">
            <a:avLst/>
          </a:prstGeom>
          <a:noFill/>
        </p:spPr>
        <p:txBody>
          <a:bodyPr wrap="square" anchor="t" lIns="0" rIns="0" tIns="0" bIns="0">
            <a:noAutofit/>
          </a:bodyPr>
          <a:lstStyle/>
          <a:p>
            <a:pPr algn="l">
              <a:lnSpc>
                <a:spcPct val="105000"/>
              </a:lnSpc>
              <a:spcBef>
                <a:spcPts val="0"/>
              </a:spcBef>
            </a:pPr>
            <a:r>
              <a:rPr sz="1350" b="1" i="0">
                <a:solidFill>
                  <a:srgbClr val="0A1628"/>
                </a:solidFill>
                <a:latin typeface="Calibri"/>
              </a:rPr>
              <a:t>How to sell the insurer motion without quoting a number</a:t>
            </a:r>
          </a:p>
        </p:txBody>
      </p:sp>
      <p:sp>
        <p:nvSpPr>
          <p:cNvPr id="21" name="TextBox 20"/>
          <p:cNvSpPr txBox="1"/>
          <p:nvPr/>
        </p:nvSpPr>
        <p:spPr>
          <a:xfrm>
            <a:off x="777240" y="4718304"/>
            <a:ext cx="10637215" cy="731520"/>
          </a:xfrm>
          <a:prstGeom prst="rect">
            <a:avLst/>
          </a:prstGeom>
          <a:noFill/>
        </p:spPr>
        <p:txBody>
          <a:bodyPr wrap="square" anchor="t" lIns="0" rIns="0" tIns="0" bIns="0">
            <a:normAutofit/>
          </a:bodyPr>
          <a:lstStyle/>
          <a:p>
            <a:pPr algn="l">
              <a:lnSpc>
                <a:spcPct val="105000"/>
              </a:lnSpc>
              <a:spcBef>
                <a:spcPts val="0"/>
              </a:spcBef>
            </a:pPr>
            <a:r>
              <a:rPr sz="1250" b="0" i="0">
                <a:solidFill>
                  <a:srgbClr val="1B2B3C"/>
                </a:solidFill>
                <a:latin typeface="Calibri"/>
              </a:rPr>
              <a:t>Sell the mechanism, not the outcome: “we instrument the fleet, we measure the delta, and we bring your insurer the data.” That is a real offer, it is fully supportable today, and it sets up the actuarial partnership that eventually makes the percentage sayable. Quoting a number now costs you the partnership later.</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next 90 days</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Sequenced so the October wave is not missed</a:t>
            </a:r>
          </a:p>
        </p:txBody>
      </p:sp>
      <p:sp>
        <p:nvSpPr>
          <p:cNvPr id="6" name="Rectangle 5"/>
          <p:cNvSpPr/>
          <p:nvPr/>
        </p:nvSpPr>
        <p:spPr>
          <a:xfrm>
            <a:off x="548640" y="1664208"/>
            <a:ext cx="11094415" cy="47548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5661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a:t>
            </a:r>
          </a:p>
        </p:txBody>
      </p:sp>
      <p:sp>
        <p:nvSpPr>
          <p:cNvPr id="8" name="TextBox 7"/>
          <p:cNvSpPr txBox="1"/>
          <p:nvPr/>
        </p:nvSpPr>
        <p:spPr>
          <a:xfrm>
            <a:off x="1143000" y="1709928"/>
            <a:ext cx="4608576" cy="40233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Action</a:t>
            </a:r>
          </a:p>
        </p:txBody>
      </p:sp>
      <p:sp>
        <p:nvSpPr>
          <p:cNvPr id="9" name="TextBox 8"/>
          <p:cNvSpPr txBox="1"/>
          <p:nvPr/>
        </p:nvSpPr>
        <p:spPr>
          <a:xfrm>
            <a:off x="5897880" y="1709928"/>
            <a:ext cx="1591056" cy="40233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When</a:t>
            </a:r>
          </a:p>
        </p:txBody>
      </p:sp>
      <p:sp>
        <p:nvSpPr>
          <p:cNvPr id="10" name="TextBox 9"/>
          <p:cNvSpPr txBox="1"/>
          <p:nvPr/>
        </p:nvSpPr>
        <p:spPr>
          <a:xfrm>
            <a:off x="7635240" y="1709928"/>
            <a:ext cx="3950208" cy="40233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Why now</a:t>
            </a:r>
          </a:p>
        </p:txBody>
      </p:sp>
      <p:sp>
        <p:nvSpPr>
          <p:cNvPr id="11" name="Rectangle 10"/>
          <p:cNvSpPr/>
          <p:nvPr/>
        </p:nvSpPr>
        <p:spPr>
          <a:xfrm>
            <a:off x="548640" y="2139696"/>
            <a:ext cx="11094415" cy="47548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39696"/>
            <a:ext cx="50292" cy="4754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185416"/>
            <a:ext cx="35661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1</a:t>
            </a:r>
          </a:p>
        </p:txBody>
      </p:sp>
      <p:sp>
        <p:nvSpPr>
          <p:cNvPr id="14" name="TextBox 13"/>
          <p:cNvSpPr txBox="1"/>
          <p:nvPr/>
        </p:nvSpPr>
        <p:spPr>
          <a:xfrm>
            <a:off x="1143000" y="2185416"/>
            <a:ext cx="460857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Withdraw the June IM from circulation</a:t>
            </a:r>
          </a:p>
        </p:txBody>
      </p:sp>
      <p:sp>
        <p:nvSpPr>
          <p:cNvPr id="15" name="TextBox 14"/>
          <p:cNvSpPr txBox="1"/>
          <p:nvPr/>
        </p:nvSpPr>
        <p:spPr>
          <a:xfrm>
            <a:off x="5897880" y="2185416"/>
            <a:ext cx="1591056"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 1</a:t>
            </a:r>
          </a:p>
        </p:txBody>
      </p:sp>
      <p:sp>
        <p:nvSpPr>
          <p:cNvPr id="16" name="TextBox 15"/>
          <p:cNvSpPr txBox="1"/>
          <p:nvPr/>
        </p:nvSpPr>
        <p:spPr>
          <a:xfrm>
            <a:off x="7635240" y="2185416"/>
            <a:ext cx="3950208"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It repeats four banned claims</a:t>
            </a:r>
          </a:p>
        </p:txBody>
      </p:sp>
      <p:sp>
        <p:nvSpPr>
          <p:cNvPr id="17" name="Rectangle 16"/>
          <p:cNvSpPr/>
          <p:nvPr/>
        </p:nvSpPr>
        <p:spPr>
          <a:xfrm>
            <a:off x="548640" y="2615184"/>
            <a:ext cx="11094415" cy="47548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615184"/>
            <a:ext cx="50292" cy="4754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660904"/>
            <a:ext cx="35661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2</a:t>
            </a:r>
          </a:p>
        </p:txBody>
      </p:sp>
      <p:sp>
        <p:nvSpPr>
          <p:cNvPr id="20" name="TextBox 19"/>
          <p:cNvSpPr txBox="1"/>
          <p:nvPr/>
        </p:nvSpPr>
        <p:spPr>
          <a:xfrm>
            <a:off x="1143000" y="2660904"/>
            <a:ext cx="460857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Second defence contract — Track A proof</a:t>
            </a:r>
          </a:p>
        </p:txBody>
      </p:sp>
      <p:sp>
        <p:nvSpPr>
          <p:cNvPr id="21" name="TextBox 20"/>
          <p:cNvSpPr txBox="1"/>
          <p:nvPr/>
        </p:nvSpPr>
        <p:spPr>
          <a:xfrm>
            <a:off x="5897880" y="2660904"/>
            <a:ext cx="1591056"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Weeks 1–8</a:t>
            </a:r>
          </a:p>
        </p:txBody>
      </p:sp>
      <p:sp>
        <p:nvSpPr>
          <p:cNvPr id="22" name="TextBox 21"/>
          <p:cNvSpPr txBox="1"/>
          <p:nvPr/>
        </p:nvSpPr>
        <p:spPr>
          <a:xfrm>
            <a:off x="7635240" y="2660904"/>
            <a:ext cx="3950208"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Kill criterion is Month 6; do not wait</a:t>
            </a:r>
          </a:p>
        </p:txBody>
      </p:sp>
      <p:sp>
        <p:nvSpPr>
          <p:cNvPr id="23" name="Rectangle 22"/>
          <p:cNvSpPr/>
          <p:nvPr/>
        </p:nvSpPr>
        <p:spPr>
          <a:xfrm>
            <a:off x="548640" y="3090672"/>
            <a:ext cx="11094415" cy="47548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090672"/>
            <a:ext cx="50292" cy="4754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136392"/>
            <a:ext cx="35661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3</a:t>
            </a:r>
          </a:p>
        </p:txBody>
      </p:sp>
      <p:sp>
        <p:nvSpPr>
          <p:cNvPr id="26" name="TextBox 25"/>
          <p:cNvSpPr txBox="1"/>
          <p:nvPr/>
        </p:nvSpPr>
        <p:spPr>
          <a:xfrm>
            <a:off x="1143000" y="3136392"/>
            <a:ext cx="460857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20 fleet buyer interviews, 1 paid pilot</a:t>
            </a:r>
          </a:p>
        </p:txBody>
      </p:sp>
      <p:sp>
        <p:nvSpPr>
          <p:cNvPr id="27" name="TextBox 26"/>
          <p:cNvSpPr txBox="1"/>
          <p:nvPr/>
        </p:nvSpPr>
        <p:spPr>
          <a:xfrm>
            <a:off x="5897880" y="3136392"/>
            <a:ext cx="1591056"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Weeks 1–12</a:t>
            </a:r>
          </a:p>
        </p:txBody>
      </p:sp>
      <p:sp>
        <p:nvSpPr>
          <p:cNvPr id="28" name="TextBox 27"/>
          <p:cNvSpPr txBox="1"/>
          <p:nvPr/>
        </p:nvSpPr>
        <p:spPr>
          <a:xfrm>
            <a:off x="7635240" y="3136392"/>
            <a:ext cx="3950208"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Track B kill criterion, already dated</a:t>
            </a:r>
          </a:p>
        </p:txBody>
      </p:sp>
      <p:sp>
        <p:nvSpPr>
          <p:cNvPr id="29" name="Rectangle 28"/>
          <p:cNvSpPr/>
          <p:nvPr/>
        </p:nvSpPr>
        <p:spPr>
          <a:xfrm>
            <a:off x="548640" y="3566160"/>
            <a:ext cx="1109441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611880"/>
            <a:ext cx="35661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4</a:t>
            </a:r>
          </a:p>
        </p:txBody>
      </p:sp>
      <p:sp>
        <p:nvSpPr>
          <p:cNvPr id="31" name="TextBox 30"/>
          <p:cNvSpPr txBox="1"/>
          <p:nvPr/>
        </p:nvSpPr>
        <p:spPr>
          <a:xfrm>
            <a:off x="1143000" y="3611880"/>
            <a:ext cx="460857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Certification status letter for buyers</a:t>
            </a:r>
          </a:p>
        </p:txBody>
      </p:sp>
      <p:sp>
        <p:nvSpPr>
          <p:cNvPr id="32" name="TextBox 31"/>
          <p:cNvSpPr txBox="1"/>
          <p:nvPr/>
        </p:nvSpPr>
        <p:spPr>
          <a:xfrm>
            <a:off x="5897880" y="3611880"/>
            <a:ext cx="1591056"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 2</a:t>
            </a:r>
          </a:p>
        </p:txBody>
      </p:sp>
      <p:sp>
        <p:nvSpPr>
          <p:cNvPr id="33" name="TextBox 32"/>
          <p:cNvSpPr txBox="1"/>
          <p:nvPr/>
        </p:nvSpPr>
        <p:spPr>
          <a:xfrm>
            <a:off x="7635240" y="3611880"/>
            <a:ext cx="3950208"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Removes the “are you certified” fudge</a:t>
            </a:r>
          </a:p>
        </p:txBody>
      </p:sp>
      <p:sp>
        <p:nvSpPr>
          <p:cNvPr id="34" name="Rectangle 33"/>
          <p:cNvSpPr/>
          <p:nvPr/>
        </p:nvSpPr>
        <p:spPr>
          <a:xfrm>
            <a:off x="548640" y="4041648"/>
            <a:ext cx="11094415" cy="47548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4087368"/>
            <a:ext cx="35661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5</a:t>
            </a:r>
          </a:p>
        </p:txBody>
      </p:sp>
      <p:sp>
        <p:nvSpPr>
          <p:cNvPr id="36" name="TextBox 35"/>
          <p:cNvSpPr txBox="1"/>
          <p:nvPr/>
        </p:nvSpPr>
        <p:spPr>
          <a:xfrm>
            <a:off x="1143000" y="4087368"/>
            <a:ext cx="460857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One NBFC and one insurer conversation</a:t>
            </a:r>
          </a:p>
        </p:txBody>
      </p:sp>
      <p:sp>
        <p:nvSpPr>
          <p:cNvPr id="37" name="TextBox 36"/>
          <p:cNvSpPr txBox="1"/>
          <p:nvPr/>
        </p:nvSpPr>
        <p:spPr>
          <a:xfrm>
            <a:off x="5897880" y="4087368"/>
            <a:ext cx="1591056"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Weeks 2–6</a:t>
            </a:r>
          </a:p>
        </p:txBody>
      </p:sp>
      <p:sp>
        <p:nvSpPr>
          <p:cNvPr id="38" name="TextBox 37"/>
          <p:cNvSpPr txBox="1"/>
          <p:nvPr/>
        </p:nvSpPr>
        <p:spPr>
          <a:xfrm>
            <a:off x="7635240" y="4087368"/>
            <a:ext cx="3950208"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Sell the measurement mechanism, no %</a:t>
            </a:r>
          </a:p>
        </p:txBody>
      </p:sp>
      <p:sp>
        <p:nvSpPr>
          <p:cNvPr id="39" name="Rectangle 38"/>
          <p:cNvSpPr/>
          <p:nvPr/>
        </p:nvSpPr>
        <p:spPr>
          <a:xfrm>
            <a:off x="548640" y="4517136"/>
            <a:ext cx="1109441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562856"/>
            <a:ext cx="35661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6</a:t>
            </a:r>
          </a:p>
        </p:txBody>
      </p:sp>
      <p:sp>
        <p:nvSpPr>
          <p:cNvPr id="41" name="TextBox 40"/>
          <p:cNvSpPr txBox="1"/>
          <p:nvPr/>
        </p:nvSpPr>
        <p:spPr>
          <a:xfrm>
            <a:off x="1143000" y="4562856"/>
            <a:ext cx="460857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Re-map the whitespace against Netrasemi</a:t>
            </a:r>
          </a:p>
        </p:txBody>
      </p:sp>
      <p:sp>
        <p:nvSpPr>
          <p:cNvPr id="42" name="TextBox 41"/>
          <p:cNvSpPr txBox="1"/>
          <p:nvPr/>
        </p:nvSpPr>
        <p:spPr>
          <a:xfrm>
            <a:off x="5897880" y="4562856"/>
            <a:ext cx="1591056"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 3</a:t>
            </a:r>
          </a:p>
        </p:txBody>
      </p:sp>
      <p:sp>
        <p:nvSpPr>
          <p:cNvPr id="43" name="TextBox 42"/>
          <p:cNvSpPr txBox="1"/>
          <p:nvPr/>
        </p:nvSpPr>
        <p:spPr>
          <a:xfrm>
            <a:off x="7635240" y="4562856"/>
            <a:ext cx="3950208"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2027 assumption no longer holds</a:t>
            </a:r>
          </a:p>
        </p:txBody>
      </p:sp>
      <p:sp>
        <p:nvSpPr>
          <p:cNvPr id="44" name="Rectangle 43"/>
          <p:cNvSpPr/>
          <p:nvPr/>
        </p:nvSpPr>
        <p:spPr>
          <a:xfrm>
            <a:off x="548640" y="4992624"/>
            <a:ext cx="11094415" cy="47548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5038344"/>
            <a:ext cx="35661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7</a:t>
            </a:r>
          </a:p>
        </p:txBody>
      </p:sp>
      <p:sp>
        <p:nvSpPr>
          <p:cNvPr id="46" name="TextBox 45"/>
          <p:cNvSpPr txBox="1"/>
          <p:nvPr/>
        </p:nvSpPr>
        <p:spPr>
          <a:xfrm>
            <a:off x="1143000" y="5038344"/>
            <a:ext cx="460857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OEM/Tier-1 first meeting</a:t>
            </a:r>
          </a:p>
        </p:txBody>
      </p:sp>
      <p:sp>
        <p:nvSpPr>
          <p:cNvPr id="47" name="TextBox 46"/>
          <p:cNvSpPr txBox="1"/>
          <p:nvPr/>
        </p:nvSpPr>
        <p:spPr>
          <a:xfrm>
            <a:off x="5897880" y="5038344"/>
            <a:ext cx="1591056"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Weeks 4–12</a:t>
            </a:r>
          </a:p>
        </p:txBody>
      </p:sp>
      <p:sp>
        <p:nvSpPr>
          <p:cNvPr id="48" name="TextBox 47"/>
          <p:cNvSpPr txBox="1"/>
          <p:nvPr/>
        </p:nvSpPr>
        <p:spPr>
          <a:xfrm>
            <a:off x="7635240" y="5038344"/>
            <a:ext cx="3950208"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BP-1A concedes no contact exists yet</a:t>
            </a:r>
          </a:p>
        </p:txBody>
      </p:sp>
      <p:sp>
        <p:nvSpPr>
          <p:cNvPr id="49" name="Rounded Rectangle 48"/>
          <p:cNvSpPr/>
          <p:nvPr/>
        </p:nvSpPr>
        <p:spPr>
          <a:xfrm>
            <a:off x="548640" y="5577840"/>
            <a:ext cx="11094415" cy="56692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5705856"/>
            <a:ext cx="10637215" cy="329184"/>
          </a:xfrm>
          <a:prstGeom prst="rect">
            <a:avLst/>
          </a:prstGeom>
          <a:noFill/>
        </p:spPr>
        <p:txBody>
          <a:bodyPr wrap="square" anchor="t" lIns="0" rIns="0" tIns="0" bIns="0">
            <a:normAutofit/>
          </a:bodyPr>
          <a:lstStyle/>
          <a:p>
            <a:pPr algn="l">
              <a:lnSpc>
                <a:spcPct val="105000"/>
              </a:lnSpc>
              <a:spcBef>
                <a:spcPts val="0"/>
              </a:spcBef>
            </a:pPr>
            <a:r>
              <a:rPr sz="1250" b="1" i="0">
                <a:solidFill>
                  <a:srgbClr val="FFFFFF"/>
                </a:solidFill>
                <a:latin typeface="Calibri"/>
              </a:rPr>
              <a:t>Items 2 and 3 are the two kill criteria your own deck already set. Everything else exists to make those two land.</a:t>
            </a:r>
          </a:p>
        </p:txBody>
      </p:sp>
      <p:sp>
        <p:nvSpPr>
          <p:cNvPr id="51" name="TextBox 5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52" name="TextBox 5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What would change this strategy</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Kill criteria and watch items</a:t>
            </a:r>
          </a:p>
        </p:txBody>
      </p:sp>
      <p:sp>
        <p:nvSpPr>
          <p:cNvPr id="6" name="Rectangle 5"/>
          <p:cNvSpPr/>
          <p:nvPr/>
        </p:nvSpPr>
        <p:spPr>
          <a:xfrm>
            <a:off x="548640" y="1664208"/>
            <a:ext cx="11094415" cy="51206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785616" cy="438912"/>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Trigger</a:t>
            </a:r>
          </a:p>
        </p:txBody>
      </p:sp>
      <p:sp>
        <p:nvSpPr>
          <p:cNvPr id="8" name="TextBox 7"/>
          <p:cNvSpPr txBox="1"/>
          <p:nvPr/>
        </p:nvSpPr>
        <p:spPr>
          <a:xfrm>
            <a:off x="4572000" y="1709928"/>
            <a:ext cx="4882896" cy="43891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it means</a:t>
            </a:r>
          </a:p>
        </p:txBody>
      </p:sp>
      <p:sp>
        <p:nvSpPr>
          <p:cNvPr id="9" name="TextBox 8"/>
          <p:cNvSpPr txBox="1"/>
          <p:nvPr/>
        </p:nvSpPr>
        <p:spPr>
          <a:xfrm>
            <a:off x="9601200" y="1709928"/>
            <a:ext cx="1984248" cy="43891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Source</a:t>
            </a:r>
          </a:p>
        </p:txBody>
      </p:sp>
      <p:sp>
        <p:nvSpPr>
          <p:cNvPr id="10" name="Rectangle 9"/>
          <p:cNvSpPr/>
          <p:nvPr/>
        </p:nvSpPr>
        <p:spPr>
          <a:xfrm>
            <a:off x="548640" y="2176272"/>
            <a:ext cx="11094415" cy="51206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176272"/>
            <a:ext cx="50292" cy="5120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21992"/>
            <a:ext cx="3785616" cy="43891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No second defence contract by Month 6</a:t>
            </a:r>
          </a:p>
        </p:txBody>
      </p:sp>
      <p:sp>
        <p:nvSpPr>
          <p:cNvPr id="13" name="TextBox 12"/>
          <p:cNvSpPr txBox="1"/>
          <p:nvPr/>
        </p:nvSpPr>
        <p:spPr>
          <a:xfrm>
            <a:off x="4572000" y="2221992"/>
            <a:ext cx="48828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Track A drops from primary</a:t>
            </a:r>
          </a:p>
        </p:txBody>
      </p:sp>
      <p:sp>
        <p:nvSpPr>
          <p:cNvPr id="14" name="TextBox 13"/>
          <p:cNvSpPr txBox="1"/>
          <p:nvPr/>
        </p:nvSpPr>
        <p:spPr>
          <a:xfrm>
            <a:off x="9601200" y="2221992"/>
            <a:ext cx="19842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Your own kill criterion</a:t>
            </a:r>
          </a:p>
        </p:txBody>
      </p:sp>
      <p:sp>
        <p:nvSpPr>
          <p:cNvPr id="15" name="Rectangle 14"/>
          <p:cNvSpPr/>
          <p:nvPr/>
        </p:nvSpPr>
        <p:spPr>
          <a:xfrm>
            <a:off x="548640" y="2688336"/>
            <a:ext cx="11094415" cy="51206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88336"/>
            <a:ext cx="50292" cy="5120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734056"/>
            <a:ext cx="3785616" cy="43891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No paid fleet pilot in 90 days</a:t>
            </a:r>
          </a:p>
        </p:txBody>
      </p:sp>
      <p:sp>
        <p:nvSpPr>
          <p:cNvPr id="18" name="TextBox 17"/>
          <p:cNvSpPr txBox="1"/>
          <p:nvPr/>
        </p:nvSpPr>
        <p:spPr>
          <a:xfrm>
            <a:off x="4572000" y="2734056"/>
            <a:ext cx="48828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Track B statement is retracted everywhere</a:t>
            </a:r>
          </a:p>
        </p:txBody>
      </p:sp>
      <p:sp>
        <p:nvSpPr>
          <p:cNvPr id="19" name="TextBox 18"/>
          <p:cNvSpPr txBox="1"/>
          <p:nvPr/>
        </p:nvSpPr>
        <p:spPr>
          <a:xfrm>
            <a:off x="9601200" y="2734056"/>
            <a:ext cx="19842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Your own kill criterion</a:t>
            </a:r>
          </a:p>
        </p:txBody>
      </p:sp>
      <p:sp>
        <p:nvSpPr>
          <p:cNvPr id="20" name="Rectangle 19"/>
          <p:cNvSpPr/>
          <p:nvPr/>
        </p:nvSpPr>
        <p:spPr>
          <a:xfrm>
            <a:off x="548640" y="3200400"/>
            <a:ext cx="11094415" cy="51206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246120"/>
            <a:ext cx="378561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AIS certification slips past October 2026</a:t>
            </a:r>
          </a:p>
        </p:txBody>
      </p:sp>
      <p:sp>
        <p:nvSpPr>
          <p:cNvPr id="22" name="TextBox 21"/>
          <p:cNvSpPr txBox="1"/>
          <p:nvPr/>
        </p:nvSpPr>
        <p:spPr>
          <a:xfrm>
            <a:off x="4572000" y="3246120"/>
            <a:ext cx="48828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forced-buyer wave goes to compliance boxes</a:t>
            </a:r>
          </a:p>
        </p:txBody>
      </p:sp>
      <p:sp>
        <p:nvSpPr>
          <p:cNvPr id="23" name="TextBox 22"/>
          <p:cNvSpPr txBox="1"/>
          <p:nvPr/>
        </p:nvSpPr>
        <p:spPr>
          <a:xfrm>
            <a:off x="9601200" y="3246120"/>
            <a:ext cx="19842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New — from the mandate phasing</a:t>
            </a:r>
          </a:p>
        </p:txBody>
      </p:sp>
      <p:sp>
        <p:nvSpPr>
          <p:cNvPr id="24" name="Rectangle 23"/>
          <p:cNvSpPr/>
          <p:nvPr/>
        </p:nvSpPr>
        <p:spPr>
          <a:xfrm>
            <a:off x="548640" y="3712464"/>
            <a:ext cx="11094415"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758184"/>
            <a:ext cx="378561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Netrasemi announces a certified ADAS part</a:t>
            </a:r>
          </a:p>
        </p:txBody>
      </p:sp>
      <p:sp>
        <p:nvSpPr>
          <p:cNvPr id="26" name="TextBox 25"/>
          <p:cNvSpPr txBox="1"/>
          <p:nvPr/>
        </p:nvSpPr>
        <p:spPr>
          <a:xfrm>
            <a:off x="4572000" y="3758184"/>
            <a:ext cx="48828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differentiated position closes, not narrows</a:t>
            </a:r>
          </a:p>
        </p:txBody>
      </p:sp>
      <p:sp>
        <p:nvSpPr>
          <p:cNvPr id="27" name="TextBox 26"/>
          <p:cNvSpPr txBox="1"/>
          <p:nvPr/>
        </p:nvSpPr>
        <p:spPr>
          <a:xfrm>
            <a:off x="9601200" y="3758184"/>
            <a:ext cx="19842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New — watch quarterly</a:t>
            </a:r>
          </a:p>
        </p:txBody>
      </p:sp>
      <p:sp>
        <p:nvSpPr>
          <p:cNvPr id="28" name="Rectangle 27"/>
          <p:cNvSpPr/>
          <p:nvPr/>
        </p:nvSpPr>
        <p:spPr>
          <a:xfrm>
            <a:off x="548640" y="4224528"/>
            <a:ext cx="11094415" cy="51206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270248"/>
            <a:ext cx="378561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An insurer declines the measurement pilot</a:t>
            </a:r>
          </a:p>
        </p:txBody>
      </p:sp>
      <p:sp>
        <p:nvSpPr>
          <p:cNvPr id="30" name="TextBox 29"/>
          <p:cNvSpPr txBox="1"/>
          <p:nvPr/>
        </p:nvSpPr>
        <p:spPr>
          <a:xfrm>
            <a:off x="4572000" y="4270248"/>
            <a:ext cx="48828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channel's affordability answer weakens</a:t>
            </a:r>
          </a:p>
        </p:txBody>
      </p:sp>
      <p:sp>
        <p:nvSpPr>
          <p:cNvPr id="31" name="TextBox 30"/>
          <p:cNvSpPr txBox="1"/>
          <p:nvPr/>
        </p:nvSpPr>
        <p:spPr>
          <a:xfrm>
            <a:off x="9601200" y="4270248"/>
            <a:ext cx="19842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Channel dependency</a:t>
            </a:r>
          </a:p>
        </p:txBody>
      </p:sp>
      <p:sp>
        <p:nvSpPr>
          <p:cNvPr id="32" name="Rounded Rectangle 31"/>
          <p:cNvSpPr/>
          <p:nvPr/>
        </p:nvSpPr>
        <p:spPr>
          <a:xfrm>
            <a:off x="548640" y="4864608"/>
            <a:ext cx="11094415" cy="1143000"/>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864608"/>
            <a:ext cx="54864" cy="114300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029200"/>
            <a:ext cx="548640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The one-line summary</a:t>
            </a:r>
          </a:p>
        </p:txBody>
      </p:sp>
      <p:sp>
        <p:nvSpPr>
          <p:cNvPr id="35" name="TextBox 34"/>
          <p:cNvSpPr txBox="1"/>
          <p:nvPr/>
        </p:nvSpPr>
        <p:spPr>
          <a:xfrm>
            <a:off x="777240" y="5340096"/>
            <a:ext cx="10637215" cy="594360"/>
          </a:xfrm>
          <a:prstGeom prst="rect">
            <a:avLst/>
          </a:prstGeom>
          <a:noFill/>
        </p:spPr>
        <p:txBody>
          <a:bodyPr wrap="square" anchor="t" lIns="0" rIns="0" tIns="0" bIns="0">
            <a:normAutofit/>
          </a:bodyPr>
          <a:lstStyle/>
          <a:p>
            <a:pPr algn="l">
              <a:lnSpc>
                <a:spcPct val="105000"/>
              </a:lnSpc>
              <a:spcBef>
                <a:spcPts val="0"/>
              </a:spcBef>
            </a:pPr>
            <a:r>
              <a:rPr sz="1250" b="0" i="0">
                <a:solidFill>
                  <a:srgbClr val="1B2B3C"/>
                </a:solidFill>
                <a:latin typeface="Calibri"/>
              </a:rPr>
              <a:t>Sell Track A now on proof that already exists, run Track B as a dated experiment, withdraw the June IM today, and treat the October wave as the deadline it actually is. The differentiated position is real — it is just worth less every quarter it goes unconverted.</a:t>
            </a:r>
          </a:p>
        </p:txBody>
      </p:sp>
      <p:sp>
        <p:nvSpPr>
          <p:cNvPr id="36" name="TextBox 3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 July-corrected basis · 5 Aug 2026</a:t>
            </a:r>
          </a:p>
        </p:txBody>
      </p:sp>
      <p:sp>
        <p:nvSpPr>
          <p:cNvPr id="37" name="TextBox 3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