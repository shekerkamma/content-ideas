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version two. Version one was built on vendor blogs that described a draft rule as if it</a:t>
            </a:r>
          </a:p>
          <a:p>
            <a:r>
              <a:t>were law, and it got the central timing claim wrong by roughly eighteen months.</a:t>
            </a:r>
          </a:p>
          <a:p>
            <a:r>
              <a:t>Independent citation verification against the gazette, plus five independent analytical</a:t>
            </a:r>
          </a:p>
          <a:p>
            <a:r>
              <a:t>lenses, produced fourteen contradictions — almost all of them between DeepGrid's own</a:t>
            </a:r>
          </a:p>
          <a:p>
            <a:r>
              <a:t>documents. This deck is rebuilt on what survived.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messages, and the second is the uncomfortable one.</a:t>
            </a:r>
          </a:p>
          <a:p>
            <a:r>
              <a:t>The good news is real: eighteen months of additional runway before the perception mandate</a:t>
            </a:r>
          </a:p>
          <a:p>
            <a:r>
              <a:t>binds. That is time to certify, to tape out, and to build the reference accounts.</a:t>
            </a:r>
          </a:p>
          <a:p>
            <a:r>
              <a:t>The bad news is that the current claim set cannot be used. Nine statements in circulation are</a:t>
            </a:r>
          </a:p>
          <a:p>
            <a:r>
              <a:t>either arithmetically impossible, physically infeasible, or describe a different legal entity.</a:t>
            </a:r>
          </a:p>
          <a:p>
            <a:r>
              <a:t>A salesperson who repeats them will be caught by the first competent technical evaluator, and</a:t>
            </a:r>
          </a:p>
          <a:p>
            <a:r>
              <a:t>the cost of that is not one deal — it is the credibility of everything else in the room.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page that matters most, and it should be read before any customer contact.</a:t>
            </a:r>
          </a:p>
          <a:p>
            <a:r>
              <a:t>Three are highlighted because they are the ones most likely to be repeated by someone acting</a:t>
            </a:r>
          </a:p>
          <a:p>
            <a:r>
              <a:t>in good faith: the TOPS number appears on three slides of the July deck, the defence revenue</a:t>
            </a:r>
          </a:p>
          <a:p>
            <a:r>
              <a:t>is the headline proof asset, and the mandate date is in every document.</a:t>
            </a:r>
          </a:p>
          <a:p>
            <a:r>
              <a:t>Note what this list is not. It is not a claim that the technology is bad or the market is</a:t>
            </a:r>
          </a:p>
          <a:p>
            <a:r>
              <a:t>wrong. It is a claim that these specific statements cannot survive scrutiny, and that using</a:t>
            </a:r>
          </a:p>
          <a:p>
            <a:r>
              <a:t>them converts a technical conversation into a credibility problem.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movement — corrected timing, and what the domestic precedent predicts.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 correction of my own previous work, and it should be presented as such if</a:t>
            </a:r>
          </a:p>
          <a:p>
            <a:r>
              <a:t>anyone saw version one.</a:t>
            </a:r>
          </a:p>
          <a:p>
            <a:r>
              <a:t>The failure mode is worth naming because it will recur: five independent-looking sources</a:t>
            </a:r>
          </a:p>
          <a:p>
            <a:r>
              <a:t>agreed, and all five were downstream of the same draft notification. Agreement is not</a:t>
            </a:r>
          </a:p>
          <a:p>
            <a:r>
              <a:t>corroboration when the sources share an upstream.</a:t>
            </a:r>
          </a:p>
          <a:p>
            <a:r>
              <a:t>The rule for regulatory claims from here: the gazette or the ministry, or it does not go on a</a:t>
            </a:r>
          </a:p>
          <a:p>
            <a:r>
              <a:t>slide. Vendor blogs are for discovery 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finding a commercial lead should argue with hardest, because it cuts against the</a:t>
            </a:r>
          </a:p>
          <a:p>
            <a:r>
              <a:t>whole premise of selling a premium kit.</a:t>
            </a:r>
          </a:p>
          <a:p>
            <a:r>
              <a:t>AIS-140 is the same ministry, the same buyer, the same enforcement machinery. It took eight</a:t>
            </a:r>
          </a:p>
          <a:p>
            <a:r>
              <a:t>years and produced no consolidation. Prices stayed spread three to fourfold, which tells you</a:t>
            </a:r>
          </a:p>
          <a:p>
            <a:r>
              <a:t>the market never rewarded a better box.</a:t>
            </a:r>
          </a:p>
          <a:p>
            <a:r>
              <a:t>What it did reward was whoever ended up holding the ongoing compliance relationship. That is</a:t>
            </a:r>
          </a:p>
          <a:p>
            <a:r>
              <a:t>recurring, defensible, and largely absent from DeepGrid's current commercial design — the</a:t>
            </a:r>
          </a:p>
          <a:p>
            <a:r>
              <a:t>plan sells a kit and treats software as a later phase.</a:t>
            </a:r>
          </a:p>
          <a:p>
            <a:r>
              <a:t>The practical instruction is to put the recurring layer into the first contract, even at a</a:t>
            </a:r>
          </a:p>
          <a:p>
            <a:r>
              <a:t>token price, rather than sequencing it after hardware scale.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movement — the defensible claim set.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open during call preparation. It replaces the version-one proof kit, which</a:t>
            </a:r>
          </a:p>
          <a:p>
            <a:r>
              <a:t>overstated the defence revenue and omitted the power question entirely.</a:t>
            </a:r>
          </a:p>
          <a:p>
            <a:r>
              <a:t>The two measured numbers — 40 fps YOLOv11n and the 24.25 ms attention head — are genuinely</a:t>
            </a:r>
          </a:p>
          <a:p>
            <a:r>
              <a:t>good and genuinely defensible. Lead with them. They are also more persuasive to an engineer</a:t>
            </a:r>
          </a:p>
          <a:p>
            <a:r>
              <a:t>than a derived TOPS figure, because they describe an outcome rather than a capability.</a:t>
            </a:r>
          </a:p>
          <a:p>
            <a:r>
              <a:t>The last row is the one nobody has prepared for. No document states a power or thermal</a:t>
            </a:r>
          </a:p>
          <a:p>
            <a:r>
              <a:t>envelope, and for an M.2 module in a truck cabin at 28nm that is the first question a</a:t>
            </a:r>
          </a:p>
          <a:p>
            <a:r>
              <a:t>serious integrator asks.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one-line argument you should be able to make from memory, because a sharp buyer or</a:t>
            </a:r>
          </a:p>
          <a:p>
            <a:r>
              <a:t>investor will do it in their head.</a:t>
            </a:r>
          </a:p>
          <a:p>
            <a:r>
              <a:t>A blended margin cannot exceed the margin of its best component. The truck kit is roughly two</a:t>
            </a:r>
          </a:p>
          <a:p>
            <a:r>
              <a:t>thirds of revenue. If it earns 72%, there is no arrangement of the remaining third that gets</a:t>
            </a:r>
          </a:p>
          <a:p>
            <a:r>
              <a:t>the blend to 88%.</a:t>
            </a:r>
          </a:p>
          <a:p>
            <a:r>
              <a:t>The approved formulation is deliberately modest: quote the kit number, cite your own unit</a:t>
            </a:r>
          </a:p>
          <a:p>
            <a:r>
              <a:t>economics, and decline to give a blended figure. Declining is stronger than guessing, and it</a:t>
            </a:r>
          </a:p>
          <a:p>
            <a:r>
              <a:t>signals that the numbers you do give have been checked.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claim needed rebuilding because it compares a competitor's price to our cost, which</a:t>
            </a:r>
          </a:p>
          <a:p>
            <a:r>
              <a:t>is the exact error the Corrections Ledger retracted 774× for. Restating it as 12.9× did not</a:t>
            </a:r>
          </a:p>
          <a:p>
            <a:r>
              <a:t>fix the category error, only the magnitude.</a:t>
            </a:r>
          </a:p>
          <a:p>
            <a:r>
              <a:t>Loaded properly, the advantage is about 2.3×. That is still a real advantage and it is</a:t>
            </a:r>
          </a:p>
          <a:p>
            <a:r>
              <a:t>defensible under audit — which the 12.9× is not.</a:t>
            </a:r>
          </a:p>
          <a:p>
            <a:r>
              <a:t>The more useful reframing is in the gold text. The durable asymmetry is not cost, it is that</a:t>
            </a:r>
          </a:p>
          <a:p>
            <a:r>
              <a:t>DeepGrid has no global price book to protect. Mobileye cannot sell at ₹2.3L in India without</a:t>
            </a:r>
          </a:p>
          <a:p>
            <a:r>
              <a:t>answering for it everywhere else. That argument survives scrutiny and does not require</a:t>
            </a:r>
          </a:p>
          <a:p>
            <a:r>
              <a:t>winning a cost comparison you would lose.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movement — targets and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actionable change in the rebuild and it came from the economist lens.</a:t>
            </a:r>
          </a:p>
          <a:p>
            <a:r>
              <a:t>Neither DeepGrid document prices by function. Everything is quoted as a kit, which forces a</a:t>
            </a:r>
          </a:p>
          <a:p>
            <a:r>
              <a:t>bundle-versus-box comparison the cheap box wins on price.</a:t>
            </a:r>
          </a:p>
          <a:p>
            <a:r>
              <a:t>Split it. AEBS is the function that requires radar, brake actuation and proving-ground</a:t>
            </a:r>
          </a:p>
          <a:p>
            <a:r>
              <a:t>homologation — a ₹30,000 camera cannot deliver it at any price. Driver monitoring is</a:t>
            </a:r>
          </a:p>
          <a:p>
            <a:r>
              <a:t>similarly hard to approximate. Those two carry the price.</a:t>
            </a:r>
          </a:p>
          <a:p>
            <a:r>
              <a:t>The warning functions are what the cheap box does adequately. Giving them away costs nothing</a:t>
            </a:r>
          </a:p>
          <a:p>
            <a:r>
              <a:t>and removes the buyer's strongest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prioritisation test is deliberately narrow: what does this buyer require us to already</a:t>
            </a:r>
          </a:p>
          <a:p>
            <a:r>
              <a:t>hold?</a:t>
            </a:r>
          </a:p>
          <a:p>
            <a:r>
              <a:t>Government and yard operators require eligibility and a working demonstration. Both exist.</a:t>
            </a:r>
          </a:p>
          <a:p>
            <a:r>
              <a:t>Everything else requires certified AEBS, which arrives with the 2027 rule, or an OEM</a:t>
            </a:r>
          </a:p>
          <a:p>
            <a:r>
              <a:t>relationship that BP-1A concedes does not exist.</a:t>
            </a:r>
          </a:p>
          <a:p>
            <a:r>
              <a:t>Start the OEM conversations now anyway — the historian's evidence puts fabless-to-design-in at</a:t>
            </a:r>
          </a:p>
          <a:p>
            <a:r>
              <a:t>five to eight years, with two to three years of relationship before the design-in. It will</a:t>
            </a:r>
          </a:p>
          <a:p>
            <a:r>
              <a:t>never be too early; it can easily be too late.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 A survives the verification better than anything else in the strategy, but its weakness</a:t>
            </a:r>
          </a:p>
          <a:p>
            <a:r>
              <a:t>moved.</a:t>
            </a:r>
          </a:p>
          <a:p>
            <a:r>
              <a:t>The proposition is sound: eligibility is real, the HSM argument is physical, and neither</a:t>
            </a:r>
          </a:p>
          <a:p>
            <a:r>
              <a:t>certification nor the tapeout gates this track.</a:t>
            </a:r>
          </a:p>
          <a:p>
            <a:r>
              <a:t>What the practitioner lens found is that there is no pipeline. No named defence programme, no</a:t>
            </a:r>
          </a:p>
          <a:p>
            <a:r>
              <a:t>SI partner for ports. A UGV procurement cycle is multi-year, so the original Month-6</a:t>
            </a:r>
          </a:p>
          <a:p>
            <a:r>
              <a:t>second-contract test could realistically only be met by taking more non-silicon services work</a:t>
            </a:r>
          </a:p>
          <a:p>
            <a:r>
              <a:t>— which is how the ₹1 Cr came to be robotics training in the first place.</a:t>
            </a:r>
          </a:p>
          <a:p>
            <a:r>
              <a:t>Hence the revised criterion: name the programme and the partner by Month 3. That is</a:t>
            </a:r>
          </a:p>
          <a:p>
            <a:r>
              <a:t>achievable and it tests the right thing.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 B needed the biggest rethink, because its entire urgency argument rested on the wrong</a:t>
            </a:r>
          </a:p>
          <a:p>
            <a:r>
              <a:t>date.</a:t>
            </a:r>
          </a:p>
          <a:p>
            <a:r>
              <a:t>Selling compliance in 2026 against a 2027 rule makes you look either uninformed or</a:t>
            </a:r>
          </a:p>
          <a:p>
            <a:r>
              <a:t>opportunistic, and a fleet operator who has read the notification will know.</a:t>
            </a:r>
          </a:p>
          <a:p>
            <a:r>
              <a:t>Design-partner framing is more honest and, in this window, more effective: you are asking for</a:t>
            </a:r>
          </a:p>
          <a:p>
            <a:r>
              <a:t>fleet access and a measurement baseline in exchange for influence over a product they will be</a:t>
            </a:r>
          </a:p>
          <a:p>
            <a:r>
              <a:t>legally required to buy in eighteen months. That is a real trade.</a:t>
            </a:r>
          </a:p>
          <a:p>
            <a:r>
              <a:t>It also fixes the pilot economics problem — a design partnership does not require you to sell</a:t>
            </a:r>
          </a:p>
          <a:p>
            <a:r>
              <a:t>a contribution-negative FPGA unit to prove intent.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movement — competitive reality and route to market.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corrections in one slide, pulling in opposite directions.</a:t>
            </a:r>
          </a:p>
          <a:p>
            <a:r>
              <a:t>The deck understates them on timing — they declared production readiness in May 2026, not</a:t>
            </a:r>
          </a:p>
          <a:p>
            <a:r>
              <a:t>mid-2027 — and overstates their capital at ₹125 Cr when it is ₹107 Cr.</a:t>
            </a:r>
          </a:p>
          <a:p>
            <a:r>
              <a:t>But the independent reporting is more sober than the company declaration: engineering samples,</a:t>
            </a:r>
          </a:p>
          <a:p>
            <a:r>
              <a:t>pre-revenue, full mask mid-2027. So they are ahead of where the deck puts them and behind</a:t>
            </a:r>
          </a:p>
          <a:p>
            <a:r>
              <a:t>their own headline.</a:t>
            </a:r>
          </a:p>
          <a:p>
            <a:r>
              <a:t>The right competitive read is the right-hand panel. In the segments Track A targets, an</a:t>
            </a:r>
          </a:p>
          <a:p>
            <a:r>
              <a:t>uncertified video-analytics SoC is not a substitute. The threat is not this quarter's deal —</a:t>
            </a:r>
          </a:p>
          <a:p>
            <a:r>
              <a:t>it is the design-in race in the certification window.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channel model needs sequencing, not abandoning.</a:t>
            </a:r>
          </a:p>
          <a:p>
            <a:r>
              <a:t>The arithmetic is stark: at FPGA-phase margins a normal dealer cut takes the unit</a:t>
            </a:r>
          </a:p>
          <a:p>
            <a:r>
              <a:t>contribution-negative, and the volume required to absorb it is five to eight times the FY27</a:t>
            </a:r>
          </a:p>
          <a:p>
            <a:r>
              <a:t>plan. Recruiting dealers now would mean signing partners you cannot pay properly.</a:t>
            </a:r>
          </a:p>
          <a:p>
            <a:r>
              <a:t>Sell direct through the FPGA phase. It is slower and it is the only affordable option.</a:t>
            </a:r>
          </a:p>
          <a:p>
            <a:r>
              <a:t>The insurer point needs a decision from the founders rather than a salesperson working around</a:t>
            </a:r>
          </a:p>
          <a:p>
            <a:r>
              <a:t>it — the two documents give opposite instructions, and at realistic subsidy levels the</a:t>
            </a:r>
          </a:p>
          <a:p>
            <a:r>
              <a:t>mechanism improves margin rather than solving the price gap.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Fifth movement — execution.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sequencing changed because the timing changed. With the wall in late 2027 there is no</a:t>
            </a:r>
          </a:p>
          <a:p>
            <a:r>
              <a:t>reason to rush into buyer meetings with a claim set that will not survive them.</a:t>
            </a:r>
          </a:p>
          <a:p>
            <a:r>
              <a:t>Items one and two are cheap and they gate the rest. An approved-claims one-pager is an</a:t>
            </a:r>
          </a:p>
          <a:p>
            <a:r>
              <a:t>afternoon's work and it is the difference between a salesperson who is trusted and one who is</a:t>
            </a:r>
          </a:p>
          <a:p>
            <a:r>
              <a:t>corrected in the room.</a:t>
            </a:r>
          </a:p>
          <a:p>
            <a:r>
              <a:t>Item five is the quiet one. No document states a power envelope, and for an M.2 module in a</a:t>
            </a:r>
          </a:p>
          <a:p>
            <a:r>
              <a:t>truck cabin that is the first thing a serious integrator asks. Not having an answer reads as</a:t>
            </a:r>
          </a:p>
          <a:p>
            <a:r>
              <a:t>inexperience regardless of how good the silicon is.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triggers, and on the honest summary.</a:t>
            </a:r>
          </a:p>
          <a:p>
            <a:r>
              <a:t>The first two are revised from the July deck because verification showed the original tests</a:t>
            </a:r>
          </a:p>
          <a:p>
            <a:r>
              <a:t>were either unreachable or measuring the wrong thing.</a:t>
            </a:r>
          </a:p>
          <a:p>
            <a:r>
              <a:t>The last one is the sleeper. AIS-140 took eight years from notification to broad enforcement,</a:t>
            </a:r>
          </a:p>
          <a:p>
            <a:r>
              <a:t>gated on state backend readiness rather than on suppliers. The same ministry is behind this</a:t>
            </a:r>
          </a:p>
          <a:p>
            <a:r>
              <a:t>rule. Build a plan that survives the dates moving right, because on the domestic precedent</a:t>
            </a:r>
          </a:p>
          <a:p>
            <a:r>
              <a:t>that is the base case rather than the pessimistic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eck_image1.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0"/>
            <a:ext cx="8229600"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CLIENT ACQUISITION STRATEGY  ·  v2, POST-VERIFICATION</a:t>
            </a:r>
          </a:p>
        </p:txBody>
      </p:sp>
      <p:sp>
        <p:nvSpPr>
          <p:cNvPr id="6" name="TextBox 5"/>
          <p:cNvSpPr txBox="1"/>
          <p:nvPr/>
        </p:nvSpPr>
        <p:spPr>
          <a:xfrm>
            <a:off x="777240" y="2103120"/>
            <a:ext cx="7498079" cy="1463040"/>
          </a:xfrm>
          <a:prstGeom prst="rect">
            <a:avLst/>
          </a:prstGeom>
          <a:noFill/>
        </p:spPr>
        <p:txBody>
          <a:bodyPr wrap="square" anchor="t" lIns="0" rIns="0" tIns="0" bIns="0">
            <a:normAutofit/>
          </a:bodyPr>
          <a:lstStyle/>
          <a:p>
            <a:pPr algn="l">
              <a:lnSpc>
                <a:spcPct val="105000"/>
              </a:lnSpc>
              <a:spcBef>
                <a:spcPts val="0"/>
              </a:spcBef>
            </a:pPr>
            <a:r>
              <a:rPr sz="4000" b="1" i="0">
                <a:solidFill>
                  <a:srgbClr val="FFFFFF"/>
                </a:solidFill>
                <a:latin typeface="Calibri"/>
              </a:rPr>
              <a:t>Fix the claims first,
then run the motion</a:t>
            </a:r>
          </a:p>
        </p:txBody>
      </p:sp>
      <p:sp>
        <p:nvSpPr>
          <p:cNvPr id="7" name="Rectangle 6"/>
          <p:cNvSpPr/>
          <p:nvPr/>
        </p:nvSpPr>
        <p:spPr>
          <a:xfrm>
            <a:off x="777240" y="3749039"/>
            <a:ext cx="146304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023360"/>
            <a:ext cx="8229600" cy="548640"/>
          </a:xfrm>
          <a:prstGeom prst="rect">
            <a:avLst/>
          </a:prstGeom>
          <a:noFill/>
        </p:spPr>
        <p:txBody>
          <a:bodyPr wrap="square" anchor="t" lIns="0" rIns="0" tIns="0" bIns="0">
            <a:normAutofit/>
          </a:bodyPr>
          <a:lstStyle/>
          <a:p>
            <a:pPr algn="l">
              <a:lnSpc>
                <a:spcPct val="105000"/>
              </a:lnSpc>
              <a:spcBef>
                <a:spcPts val="0"/>
              </a:spcBef>
            </a:pPr>
            <a:r>
              <a:rPr sz="1450" b="0" i="0">
                <a:solidFill>
                  <a:srgbClr val="E0F7F1"/>
                </a:solidFill>
                <a:latin typeface="Calibri"/>
              </a:rPr>
              <a:t>DeepGrid Semi · commercial lead briefing · rebuilt after independent verification contradicted the previous version</a:t>
            </a:r>
          </a:p>
        </p:txBody>
      </p:sp>
      <p:sp>
        <p:nvSpPr>
          <p:cNvPr id="9" name="Rounded Rectangle 8"/>
          <p:cNvSpPr/>
          <p:nvPr/>
        </p:nvSpPr>
        <p:spPr>
          <a:xfrm>
            <a:off x="777240" y="4892040"/>
            <a:ext cx="2240280" cy="402336"/>
          </a:xfrm>
          <a:prstGeom prst="roundRect">
            <a:avLst>
              <a:gd name="adj" fmla="val 25000"/>
            </a:avLst>
          </a:prstGeom>
          <a:solidFill>
            <a:srgbClr val="12243A"/>
          </a:solidFill>
          <a:ln w="12700">
            <a:solidFill>
              <a:srgbClr val="009B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001768"/>
            <a:ext cx="2240280" cy="237744"/>
          </a:xfrm>
          <a:prstGeom prst="rect">
            <a:avLst/>
          </a:prstGeom>
          <a:noFill/>
        </p:spPr>
        <p:txBody>
          <a:bodyPr wrap="square" anchor="t" lIns="0" rIns="0" tIns="0" bIns="0">
            <a:noAutofit/>
          </a:bodyPr>
          <a:lstStyle/>
          <a:p>
            <a:pPr algn="ctr">
              <a:lnSpc>
                <a:spcPct val="105000"/>
              </a:lnSpc>
              <a:spcBef>
                <a:spcPts val="0"/>
              </a:spcBef>
            </a:pPr>
            <a:r>
              <a:rPr sz="1000" b="0" i="0">
                <a:solidFill>
                  <a:srgbClr val="E0F7F1"/>
                </a:solidFill>
                <a:latin typeface="Calibri"/>
              </a:rPr>
              <a:t>Oct 2027, not Oct 2026</a:t>
            </a:r>
          </a:p>
        </p:txBody>
      </p:sp>
      <p:sp>
        <p:nvSpPr>
          <p:cNvPr id="11" name="Rounded Rectangle 10"/>
          <p:cNvSpPr/>
          <p:nvPr/>
        </p:nvSpPr>
        <p:spPr>
          <a:xfrm>
            <a:off x="3154680" y="4892040"/>
            <a:ext cx="2240280" cy="402336"/>
          </a:xfrm>
          <a:prstGeom prst="roundRect">
            <a:avLst>
              <a:gd name="adj" fmla="val 25000"/>
            </a:avLst>
          </a:prstGeom>
          <a:solidFill>
            <a:srgbClr val="12243A"/>
          </a:solidFill>
          <a:ln w="12700">
            <a:solidFill>
              <a:srgbClr val="009B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54680" y="5001768"/>
            <a:ext cx="2240280" cy="237744"/>
          </a:xfrm>
          <a:prstGeom prst="rect">
            <a:avLst/>
          </a:prstGeom>
          <a:noFill/>
        </p:spPr>
        <p:txBody>
          <a:bodyPr wrap="square" anchor="t" lIns="0" rIns="0" tIns="0" bIns="0">
            <a:noAutofit/>
          </a:bodyPr>
          <a:lstStyle/>
          <a:p>
            <a:pPr algn="ctr">
              <a:lnSpc>
                <a:spcPct val="105000"/>
              </a:lnSpc>
              <a:spcBef>
                <a:spcPts val="0"/>
              </a:spcBef>
            </a:pPr>
            <a:r>
              <a:rPr sz="1000" b="0" i="0">
                <a:solidFill>
                  <a:srgbClr val="E0F7F1"/>
                </a:solidFill>
                <a:latin typeface="Calibri"/>
              </a:rPr>
              <a:t>9 claims to retire</a:t>
            </a:r>
          </a:p>
        </p:txBody>
      </p:sp>
      <p:sp>
        <p:nvSpPr>
          <p:cNvPr id="13" name="Rounded Rectangle 12"/>
          <p:cNvSpPr/>
          <p:nvPr/>
        </p:nvSpPr>
        <p:spPr>
          <a:xfrm>
            <a:off x="5532120" y="4892040"/>
            <a:ext cx="2240280" cy="402336"/>
          </a:xfrm>
          <a:prstGeom prst="roundRect">
            <a:avLst>
              <a:gd name="adj" fmla="val 25000"/>
            </a:avLst>
          </a:prstGeom>
          <a:solidFill>
            <a:srgbClr val="12243A"/>
          </a:solidFill>
          <a:ln w="12700">
            <a:solidFill>
              <a:srgbClr val="009B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32120" y="5001768"/>
            <a:ext cx="2240280" cy="237744"/>
          </a:xfrm>
          <a:prstGeom prst="rect">
            <a:avLst/>
          </a:prstGeom>
          <a:noFill/>
        </p:spPr>
        <p:txBody>
          <a:bodyPr wrap="square" anchor="t" lIns="0" rIns="0" tIns="0" bIns="0">
            <a:noAutofit/>
          </a:bodyPr>
          <a:lstStyle/>
          <a:p>
            <a:pPr algn="ctr">
              <a:lnSpc>
                <a:spcPct val="105000"/>
              </a:lnSpc>
              <a:spcBef>
                <a:spcPts val="0"/>
              </a:spcBef>
            </a:pPr>
            <a:r>
              <a:rPr sz="1000" b="0" i="0">
                <a:solidFill>
                  <a:srgbClr val="E0F7F1"/>
                </a:solidFill>
                <a:latin typeface="Calibri"/>
              </a:rPr>
              <a:t>72% kit only</a:t>
            </a:r>
          </a:p>
        </p:txBody>
      </p:sp>
      <p:sp>
        <p:nvSpPr>
          <p:cNvPr id="15" name="Rounded Rectangle 14"/>
          <p:cNvSpPr/>
          <p:nvPr/>
        </p:nvSpPr>
        <p:spPr>
          <a:xfrm>
            <a:off x="7909560" y="4892040"/>
            <a:ext cx="2240280" cy="402336"/>
          </a:xfrm>
          <a:prstGeom prst="roundRect">
            <a:avLst>
              <a:gd name="adj" fmla="val 25000"/>
            </a:avLst>
          </a:prstGeom>
          <a:solidFill>
            <a:srgbClr val="12243A"/>
          </a:solidFill>
          <a:ln w="12700">
            <a:solidFill>
              <a:srgbClr val="009B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5001768"/>
            <a:ext cx="2240280" cy="237744"/>
          </a:xfrm>
          <a:prstGeom prst="rect">
            <a:avLst/>
          </a:prstGeom>
          <a:noFill/>
        </p:spPr>
        <p:txBody>
          <a:bodyPr wrap="square" anchor="t" lIns="0" rIns="0" tIns="0" bIns="0">
            <a:noAutofit/>
          </a:bodyPr>
          <a:lstStyle/>
          <a:p>
            <a:pPr algn="ctr">
              <a:lnSpc>
                <a:spcPct val="105000"/>
              </a:lnSpc>
              <a:spcBef>
                <a:spcPts val="0"/>
              </a:spcBef>
            </a:pPr>
            <a:r>
              <a:rPr sz="1000" b="0" i="0">
                <a:solidFill>
                  <a:srgbClr val="E0F7F1"/>
                </a:solidFill>
                <a:latin typeface="Calibri"/>
              </a:rPr>
              <a:t>sell by function</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DeepGrid Semi — client acquisition strategy v2 · post-verification · 5 Aug 2026</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 /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You have 18 months more runway than assumed — and less to say than assumed</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Executive summary</a:t>
            </a:r>
          </a:p>
        </p:txBody>
      </p:sp>
      <p:sp>
        <p:nvSpPr>
          <p:cNvPr id="6" name="Rounded Rectangle 5"/>
          <p:cNvSpPr/>
          <p:nvPr/>
        </p:nvSpPr>
        <p:spPr>
          <a:xfrm>
            <a:off x="548640" y="1627632"/>
            <a:ext cx="11094415" cy="86868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755648"/>
            <a:ext cx="9144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00C9A7"/>
                </a:solidFill>
                <a:latin typeface="Calibri"/>
              </a:rPr>
              <a:t>BLUF</a:t>
            </a:r>
          </a:p>
        </p:txBody>
      </p:sp>
      <p:sp>
        <p:nvSpPr>
          <p:cNvPr id="8" name="TextBox 7"/>
          <p:cNvSpPr txBox="1"/>
          <p:nvPr/>
        </p:nvSpPr>
        <p:spPr>
          <a:xfrm>
            <a:off x="1783080" y="1719072"/>
            <a:ext cx="9631375" cy="694944"/>
          </a:xfrm>
          <a:prstGeom prst="rect">
            <a:avLst/>
          </a:prstGeom>
          <a:noFill/>
        </p:spPr>
        <p:txBody>
          <a:bodyPr wrap="square" anchor="t" lIns="0" rIns="0" tIns="0" bIns="0">
            <a:normAutofit/>
          </a:bodyPr>
          <a:lstStyle/>
          <a:p>
            <a:pPr algn="l">
              <a:lnSpc>
                <a:spcPct val="105000"/>
              </a:lnSpc>
              <a:spcBef>
                <a:spcPts val="0"/>
              </a:spcBef>
            </a:pPr>
            <a:r>
              <a:rPr sz="1300" b="0" i="0">
                <a:solidFill>
                  <a:srgbClr val="FFFFFF"/>
                </a:solidFill>
                <a:latin typeface="Calibri"/>
              </a:rPr>
              <a:t>The ADAS perception mandate lands 1 Oct 2027, not Oct 2026 — GSR 184(E) was a draft. That buys time, and time is what the claim set needs: nine statements currently in circulation fail on first technical contact. Fix those before anyone carries this into a buyer meeting.</a:t>
            </a:r>
          </a:p>
        </p:txBody>
      </p:sp>
      <p:sp>
        <p:nvSpPr>
          <p:cNvPr id="9" name="Rounded Rectangle 8"/>
          <p:cNvSpPr/>
          <p:nvPr/>
        </p:nvSpPr>
        <p:spPr>
          <a:xfrm>
            <a:off x="548640" y="2670048"/>
            <a:ext cx="3564026" cy="196596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670048"/>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852928"/>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What changed</a:t>
            </a:r>
          </a:p>
        </p:txBody>
      </p:sp>
      <p:sp>
        <p:nvSpPr>
          <p:cNvPr id="12" name="TextBox 11"/>
          <p:cNvSpPr txBox="1"/>
          <p:nvPr/>
        </p:nvSpPr>
        <p:spPr>
          <a:xfrm>
            <a:off x="713232" y="3310128"/>
            <a:ext cx="3234842" cy="117957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The notified rule is G.S.R. 834(E), Nov 2025. AEBS binds 1 Jan 2027 (new) and 1 Oct 2027 (all); perception functions 1 Oct 2027 and 1 Jan 2028. The compliance wall is later — so is the revenue.</a:t>
            </a:r>
          </a:p>
        </p:txBody>
      </p:sp>
      <p:sp>
        <p:nvSpPr>
          <p:cNvPr id="13" name="Rounded Rectangle 12"/>
          <p:cNvSpPr/>
          <p:nvPr/>
        </p:nvSpPr>
        <p:spPr>
          <a:xfrm>
            <a:off x="4313834" y="2670048"/>
            <a:ext cx="3564026" cy="196596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3834" y="2670048"/>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8426" y="2852928"/>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What survives</a:t>
            </a:r>
          </a:p>
        </p:txBody>
      </p:sp>
      <p:sp>
        <p:nvSpPr>
          <p:cNvPr id="16" name="TextBox 15"/>
          <p:cNvSpPr txBox="1"/>
          <p:nvPr/>
        </p:nvSpPr>
        <p:spPr>
          <a:xfrm>
            <a:off x="4478426" y="3310128"/>
            <a:ext cx="3234842" cy="117957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Indigenous supply and sovereign-data eligibility. A real kit-level margin of 72%. Certified AEBS + DMS as a *function* the ₹30k box cannot deliver. Procurement access already demonstrated on GeM.</a:t>
            </a:r>
          </a:p>
        </p:txBody>
      </p:sp>
      <p:sp>
        <p:nvSpPr>
          <p:cNvPr id="17" name="Rounded Rectangle 16"/>
          <p:cNvSpPr/>
          <p:nvPr/>
        </p:nvSpPr>
        <p:spPr>
          <a:xfrm>
            <a:off x="8079028" y="2670048"/>
            <a:ext cx="3564026" cy="196596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9028" y="2670048"/>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3620" y="2852928"/>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What does not</a:t>
            </a:r>
          </a:p>
        </p:txBody>
      </p:sp>
      <p:sp>
        <p:nvSpPr>
          <p:cNvPr id="20" name="TextBox 19"/>
          <p:cNvSpPr txBox="1"/>
          <p:nvPr/>
        </p:nvSpPr>
        <p:spPr>
          <a:xfrm>
            <a:off x="8243620" y="3310128"/>
            <a:ext cx="3234842" cy="117957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“39.3 TOPS measured”, “84%” and “88% blended” margins, “12.9× cheaper”, “₹1 Cr defence revenue”, and transformer-VLA-on-chip. Each is disprovable by a competent evaluator in one meeting.</a:t>
            </a:r>
          </a:p>
        </p:txBody>
      </p:sp>
      <p:sp>
        <p:nvSpPr>
          <p:cNvPr id="21" name="Rounded Rectangle 20"/>
          <p:cNvSpPr/>
          <p:nvPr/>
        </p:nvSpPr>
        <p:spPr>
          <a:xfrm>
            <a:off x="548640" y="4864608"/>
            <a:ext cx="11094415" cy="566928"/>
          </a:xfrm>
          <a:prstGeom prst="roundRect">
            <a:avLst>
              <a:gd name="adj" fmla="val 4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864608"/>
            <a:ext cx="54864" cy="56692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992624"/>
            <a:ext cx="10637215" cy="365760"/>
          </a:xfrm>
          <a:prstGeom prst="rect">
            <a:avLst/>
          </a:prstGeom>
          <a:noFill/>
        </p:spPr>
        <p:txBody>
          <a:bodyPr wrap="square" anchor="t" lIns="0" rIns="0" tIns="0" bIns="0">
            <a:normAutofit/>
          </a:bodyPr>
          <a:lstStyle/>
          <a:p>
            <a:pPr algn="l">
              <a:lnSpc>
                <a:spcPct val="105000"/>
              </a:lnSpc>
              <a:spcBef>
                <a:spcPts val="0"/>
              </a:spcBef>
            </a:pPr>
            <a:r>
              <a:rPr sz="1250" b="1" i="0">
                <a:solidFill>
                  <a:srgbClr val="1B2B3C"/>
                </a:solidFill>
                <a:latin typeface="Calibri"/>
              </a:rPr>
              <a:t>The sequence is not negotiable: retire the nine claims, then sell Track A on eligibility, then validate Track B against the 2027 clock.</a:t>
            </a:r>
          </a:p>
        </p:txBody>
      </p:sp>
      <p:sp>
        <p:nvSpPr>
          <p:cNvPr id="24" name="TextBox 2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v2 · post-verification · 5 Aug 2026</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Nine claims to retire before anyone sells</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Each is disprovable from public sources or DeepGrid's own documents</a:t>
            </a:r>
          </a:p>
        </p:txBody>
      </p:sp>
      <p:sp>
        <p:nvSpPr>
          <p:cNvPr id="6" name="Rectangle 5"/>
          <p:cNvSpPr/>
          <p:nvPr/>
        </p:nvSpPr>
        <p:spPr>
          <a:xfrm>
            <a:off x="548640" y="1664208"/>
            <a:ext cx="11094415" cy="38404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3419856" cy="310896"/>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Claim in circulation</a:t>
            </a:r>
          </a:p>
        </p:txBody>
      </p:sp>
      <p:sp>
        <p:nvSpPr>
          <p:cNvPr id="8" name="TextBox 7"/>
          <p:cNvSpPr txBox="1"/>
          <p:nvPr/>
        </p:nvSpPr>
        <p:spPr>
          <a:xfrm>
            <a:off x="4206240" y="1709928"/>
            <a:ext cx="5705856" cy="31089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Why it fails</a:t>
            </a:r>
          </a:p>
        </p:txBody>
      </p:sp>
      <p:sp>
        <p:nvSpPr>
          <p:cNvPr id="9" name="TextBox 8"/>
          <p:cNvSpPr txBox="1"/>
          <p:nvPr/>
        </p:nvSpPr>
        <p:spPr>
          <a:xfrm>
            <a:off x="10058400" y="1709928"/>
            <a:ext cx="1527048" cy="31089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Source</a:t>
            </a:r>
          </a:p>
        </p:txBody>
      </p:sp>
      <p:sp>
        <p:nvSpPr>
          <p:cNvPr id="10" name="Rectangle 9"/>
          <p:cNvSpPr/>
          <p:nvPr/>
        </p:nvSpPr>
        <p:spPr>
          <a:xfrm>
            <a:off x="548640" y="2048256"/>
            <a:ext cx="11094415" cy="384048"/>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048256"/>
            <a:ext cx="50292" cy="38404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93976"/>
            <a:ext cx="3419856" cy="310896"/>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“39.3 TOPS measured on FPGA”</a:t>
            </a:r>
          </a:p>
        </p:txBody>
      </p:sp>
      <p:sp>
        <p:nvSpPr>
          <p:cNvPr id="13" name="TextBox 12"/>
          <p:cNvSpPr txBox="1"/>
          <p:nvPr/>
        </p:nvSpPr>
        <p:spPr>
          <a:xfrm>
            <a:off x="4206240" y="2093976"/>
            <a:ext cx="5705856"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Artix-7 board ceilings ~1.8 TOPS — 22× short. The IM correctly calls 39.3 a derivation</a:t>
            </a:r>
          </a:p>
        </p:txBody>
      </p:sp>
      <p:sp>
        <p:nvSpPr>
          <p:cNvPr id="14" name="TextBox 13"/>
          <p:cNvSpPr txBox="1"/>
          <p:nvPr/>
        </p:nvSpPr>
        <p:spPr>
          <a:xfrm>
            <a:off x="10058400" y="2093976"/>
            <a:ext cx="1527048"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Academic</a:t>
            </a:r>
          </a:p>
        </p:txBody>
      </p:sp>
      <p:sp>
        <p:nvSpPr>
          <p:cNvPr id="15" name="Rectangle 14"/>
          <p:cNvSpPr/>
          <p:nvPr/>
        </p:nvSpPr>
        <p:spPr>
          <a:xfrm>
            <a:off x="548640" y="2432304"/>
            <a:ext cx="11094415"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478024"/>
            <a:ext cx="3419856"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“84% ASIC gross margin”</a:t>
            </a:r>
          </a:p>
        </p:txBody>
      </p:sp>
      <p:sp>
        <p:nvSpPr>
          <p:cNvPr id="17" name="TextBox 16"/>
          <p:cNvSpPr txBox="1"/>
          <p:nvPr/>
        </p:nvSpPr>
        <p:spPr>
          <a:xfrm>
            <a:off x="4206240" y="2478024"/>
            <a:ext cx="5705856"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Already retracted by the July Corrections Ledger</a:t>
            </a:r>
          </a:p>
        </p:txBody>
      </p:sp>
      <p:sp>
        <p:nvSpPr>
          <p:cNvPr id="18" name="TextBox 17"/>
          <p:cNvSpPr txBox="1"/>
          <p:nvPr/>
        </p:nvSpPr>
        <p:spPr>
          <a:xfrm>
            <a:off x="10058400" y="2478024"/>
            <a:ext cx="1527048"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July deck</a:t>
            </a:r>
          </a:p>
        </p:txBody>
      </p:sp>
      <p:sp>
        <p:nvSpPr>
          <p:cNvPr id="19" name="Rectangle 18"/>
          <p:cNvSpPr/>
          <p:nvPr/>
        </p:nvSpPr>
        <p:spPr>
          <a:xfrm>
            <a:off x="548640" y="2816352"/>
            <a:ext cx="11094415"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862072"/>
            <a:ext cx="3419856"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“88% blended systems margin”</a:t>
            </a:r>
          </a:p>
        </p:txBody>
      </p:sp>
      <p:sp>
        <p:nvSpPr>
          <p:cNvPr id="21" name="TextBox 20"/>
          <p:cNvSpPr txBox="1"/>
          <p:nvPr/>
        </p:nvSpPr>
        <p:spPr>
          <a:xfrm>
            <a:off x="4206240" y="2862072"/>
            <a:ext cx="5705856"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Needs 120% margin on all non-kit revenue. Impossible</a:t>
            </a:r>
          </a:p>
        </p:txBody>
      </p:sp>
      <p:sp>
        <p:nvSpPr>
          <p:cNvPr id="22" name="TextBox 21"/>
          <p:cNvSpPr txBox="1"/>
          <p:nvPr/>
        </p:nvSpPr>
        <p:spPr>
          <a:xfrm>
            <a:off x="10058400" y="2862072"/>
            <a:ext cx="1527048"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Skeptic</a:t>
            </a:r>
          </a:p>
        </p:txBody>
      </p:sp>
      <p:sp>
        <p:nvSpPr>
          <p:cNvPr id="23" name="Rectangle 22"/>
          <p:cNvSpPr/>
          <p:nvPr/>
        </p:nvSpPr>
        <p:spPr>
          <a:xfrm>
            <a:off x="548640" y="3200400"/>
            <a:ext cx="11094415"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246120"/>
            <a:ext cx="3419856"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“12.9× cheaper than Mobileye”</a:t>
            </a:r>
          </a:p>
        </p:txBody>
      </p:sp>
      <p:sp>
        <p:nvSpPr>
          <p:cNvPr id="25" name="TextBox 24"/>
          <p:cNvSpPr txBox="1"/>
          <p:nvPr/>
        </p:nvSpPr>
        <p:spPr>
          <a:xfrm>
            <a:off x="4206240" y="3246120"/>
            <a:ext cx="5705856"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Compares their ASP to our die cost. Loaded, it is ~2.3×</a:t>
            </a:r>
          </a:p>
        </p:txBody>
      </p:sp>
      <p:sp>
        <p:nvSpPr>
          <p:cNvPr id="26" name="TextBox 25"/>
          <p:cNvSpPr txBox="1"/>
          <p:nvPr/>
        </p:nvSpPr>
        <p:spPr>
          <a:xfrm>
            <a:off x="10058400" y="3246120"/>
            <a:ext cx="1527048"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Economist</a:t>
            </a:r>
          </a:p>
        </p:txBody>
      </p:sp>
      <p:sp>
        <p:nvSpPr>
          <p:cNvPr id="27" name="Rectangle 26"/>
          <p:cNvSpPr/>
          <p:nvPr/>
        </p:nvSpPr>
        <p:spPr>
          <a:xfrm>
            <a:off x="548640" y="3584448"/>
            <a:ext cx="11094415" cy="384048"/>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584448"/>
            <a:ext cx="50292" cy="38404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630168"/>
            <a:ext cx="3419856" cy="310896"/>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“₹1 Cr defence revenue”</a:t>
            </a:r>
          </a:p>
        </p:txBody>
      </p:sp>
      <p:sp>
        <p:nvSpPr>
          <p:cNvPr id="30" name="TextBox 29"/>
          <p:cNvSpPr txBox="1"/>
          <p:nvPr/>
        </p:nvSpPr>
        <p:spPr>
          <a:xfrm>
            <a:off x="4206240" y="3630168"/>
            <a:ext cx="5705856"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₹23.01L delivered; rest is L1. Different entity; IP MCEME-owned</a:t>
            </a:r>
          </a:p>
        </p:txBody>
      </p:sp>
      <p:sp>
        <p:nvSpPr>
          <p:cNvPr id="31" name="TextBox 30"/>
          <p:cNvSpPr txBox="1"/>
          <p:nvPr/>
        </p:nvSpPr>
        <p:spPr>
          <a:xfrm>
            <a:off x="10058400" y="3630168"/>
            <a:ext cx="1527048"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BP-1A §9</a:t>
            </a:r>
          </a:p>
        </p:txBody>
      </p:sp>
      <p:sp>
        <p:nvSpPr>
          <p:cNvPr id="32" name="Rectangle 31"/>
          <p:cNvSpPr/>
          <p:nvPr/>
        </p:nvSpPr>
        <p:spPr>
          <a:xfrm>
            <a:off x="548640" y="3968496"/>
            <a:ext cx="11094415"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4014216"/>
            <a:ext cx="3419856"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Transformer VLA runs on-chip</a:t>
            </a:r>
          </a:p>
        </p:txBody>
      </p:sp>
      <p:sp>
        <p:nvSpPr>
          <p:cNvPr id="34" name="TextBox 33"/>
          <p:cNvSpPr txBox="1"/>
          <p:nvPr/>
        </p:nvSpPr>
        <p:spPr>
          <a:xfrm>
            <a:off x="4206240" y="4014216"/>
            <a:ext cx="5705856"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Bandwidth-bound: ~68 ms to stream weights vs a 33.3 ms budget</a:t>
            </a:r>
          </a:p>
        </p:txBody>
      </p:sp>
      <p:sp>
        <p:nvSpPr>
          <p:cNvPr id="35" name="TextBox 34"/>
          <p:cNvSpPr txBox="1"/>
          <p:nvPr/>
        </p:nvSpPr>
        <p:spPr>
          <a:xfrm>
            <a:off x="10058400" y="4014216"/>
            <a:ext cx="1527048"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Academic</a:t>
            </a:r>
          </a:p>
        </p:txBody>
      </p:sp>
      <p:sp>
        <p:nvSpPr>
          <p:cNvPr id="36" name="Rectangle 35"/>
          <p:cNvSpPr/>
          <p:nvPr/>
        </p:nvSpPr>
        <p:spPr>
          <a:xfrm>
            <a:off x="548640" y="4352544"/>
            <a:ext cx="11094415" cy="384048"/>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4352544"/>
            <a:ext cx="50292" cy="38404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4398264"/>
            <a:ext cx="3419856" cy="310896"/>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“Mandate live since April 2026”</a:t>
            </a:r>
          </a:p>
        </p:txBody>
      </p:sp>
      <p:sp>
        <p:nvSpPr>
          <p:cNvPr id="39" name="TextBox 38"/>
          <p:cNvSpPr txBox="1"/>
          <p:nvPr/>
        </p:nvSpPr>
        <p:spPr>
          <a:xfrm>
            <a:off x="4206240" y="4398264"/>
            <a:ext cx="5705856"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GSR 184(E) was a draft. Real rule G.S.R. 834(E), Nov 2025</a:t>
            </a:r>
          </a:p>
        </p:txBody>
      </p:sp>
      <p:sp>
        <p:nvSpPr>
          <p:cNvPr id="40" name="TextBox 39"/>
          <p:cNvSpPr txBox="1"/>
          <p:nvPr/>
        </p:nvSpPr>
        <p:spPr>
          <a:xfrm>
            <a:off x="10058400" y="4398264"/>
            <a:ext cx="1527048"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Gazette</a:t>
            </a:r>
          </a:p>
        </p:txBody>
      </p:sp>
      <p:sp>
        <p:nvSpPr>
          <p:cNvPr id="41" name="Rectangle 40"/>
          <p:cNvSpPr/>
          <p:nvPr/>
        </p:nvSpPr>
        <p:spPr>
          <a:xfrm>
            <a:off x="548640" y="4736592"/>
            <a:ext cx="11094415"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4782312"/>
            <a:ext cx="3419856"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“ASIL-D path”</a:t>
            </a:r>
          </a:p>
        </p:txBody>
      </p:sp>
      <p:sp>
        <p:nvSpPr>
          <p:cNvPr id="43" name="TextBox 42"/>
          <p:cNvSpPr txBox="1"/>
          <p:nvPr/>
        </p:nvSpPr>
        <p:spPr>
          <a:xfrm>
            <a:off x="4206240" y="4782312"/>
            <a:ext cx="5705856"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No functional-safety line item; ISO 26262 pre-audit is on the stop-doing list</a:t>
            </a:r>
          </a:p>
        </p:txBody>
      </p:sp>
      <p:sp>
        <p:nvSpPr>
          <p:cNvPr id="44" name="TextBox 43"/>
          <p:cNvSpPr txBox="1"/>
          <p:nvPr/>
        </p:nvSpPr>
        <p:spPr>
          <a:xfrm>
            <a:off x="10058400" y="4782312"/>
            <a:ext cx="1527048"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Academic</a:t>
            </a:r>
          </a:p>
        </p:txBody>
      </p:sp>
      <p:sp>
        <p:nvSpPr>
          <p:cNvPr id="45" name="Rectangle 44"/>
          <p:cNvSpPr/>
          <p:nvPr/>
        </p:nvSpPr>
        <p:spPr>
          <a:xfrm>
            <a:off x="548640" y="5120640"/>
            <a:ext cx="11094415"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5166360"/>
            <a:ext cx="3419856"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Any insurance or accident-reduction %</a:t>
            </a:r>
          </a:p>
        </p:txBody>
      </p:sp>
      <p:sp>
        <p:nvSpPr>
          <p:cNvPr id="47" name="TextBox 46"/>
          <p:cNvSpPr txBox="1"/>
          <p:nvPr/>
        </p:nvSpPr>
        <p:spPr>
          <a:xfrm>
            <a:off x="4206240" y="5166360"/>
            <a:ext cx="5705856"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No actuarial partner, no measured baseline</a:t>
            </a:r>
          </a:p>
        </p:txBody>
      </p:sp>
      <p:sp>
        <p:nvSpPr>
          <p:cNvPr id="48" name="TextBox 47"/>
          <p:cNvSpPr txBox="1"/>
          <p:nvPr/>
        </p:nvSpPr>
        <p:spPr>
          <a:xfrm>
            <a:off x="10058400" y="5166360"/>
            <a:ext cx="1527048" cy="31089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July deck</a:t>
            </a:r>
          </a:p>
        </p:txBody>
      </p:sp>
      <p:sp>
        <p:nvSpPr>
          <p:cNvPr id="49" name="Rounded Rectangle 48"/>
          <p:cNvSpPr/>
          <p:nvPr/>
        </p:nvSpPr>
        <p:spPr>
          <a:xfrm>
            <a:off x="548640" y="5614416"/>
            <a:ext cx="11094415" cy="566928"/>
          </a:xfrm>
          <a:prstGeom prst="roundRect">
            <a:avLst>
              <a:gd name="adj" fmla="val 4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48640" y="5614416"/>
            <a:ext cx="54864" cy="566928"/>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7240" y="5742432"/>
            <a:ext cx="10637215" cy="365760"/>
          </a:xfrm>
          <a:prstGeom prst="rect">
            <a:avLst/>
          </a:prstGeom>
          <a:noFill/>
        </p:spPr>
        <p:txBody>
          <a:bodyPr wrap="square" anchor="t" lIns="0" rIns="0" tIns="0" bIns="0">
            <a:normAutofit/>
          </a:bodyPr>
          <a:lstStyle/>
          <a:p>
            <a:pPr algn="l">
              <a:lnSpc>
                <a:spcPct val="105000"/>
              </a:lnSpc>
              <a:spcBef>
                <a:spcPts val="0"/>
              </a:spcBef>
            </a:pPr>
            <a:r>
              <a:rPr sz="1250" b="1" i="0">
                <a:solidFill>
                  <a:srgbClr val="1B2B3C"/>
                </a:solidFill>
                <a:latin typeface="Calibri"/>
              </a:rPr>
              <a:t>The June IM contains six of these nine. Withdraw it from circulation today — it is the most polished document you have and the least defensible.</a:t>
            </a:r>
          </a:p>
        </p:txBody>
      </p:sp>
      <p:sp>
        <p:nvSpPr>
          <p:cNvPr id="52" name="TextBox 5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v2 · post-verification · 5 Aug 2026</a:t>
            </a:r>
          </a:p>
        </p:txBody>
      </p:sp>
      <p:sp>
        <p:nvSpPr>
          <p:cNvPr id="53" name="TextBox 5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377440"/>
            <a:ext cx="54864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01</a:t>
            </a:r>
          </a:p>
        </p:txBody>
      </p:sp>
      <p:sp>
        <p:nvSpPr>
          <p:cNvPr id="5" name="TextBox 4"/>
          <p:cNvSpPr txBox="1"/>
          <p:nvPr/>
        </p:nvSpPr>
        <p:spPr>
          <a:xfrm>
            <a:off x="777240" y="2788920"/>
            <a:ext cx="10058400" cy="914400"/>
          </a:xfrm>
          <a:prstGeom prst="rect">
            <a:avLst/>
          </a:prstGeom>
          <a:noFill/>
        </p:spPr>
        <p:txBody>
          <a:bodyPr wrap="square" anchor="t" lIns="0" rIns="0" tIns="0" bIns="0">
            <a:normAutofit/>
          </a:bodyPr>
          <a:lstStyle/>
          <a:p>
            <a:pPr algn="l">
              <a:lnSpc>
                <a:spcPct val="105000"/>
              </a:lnSpc>
              <a:spcBef>
                <a:spcPts val="0"/>
              </a:spcBef>
            </a:pPr>
            <a:r>
              <a:rPr sz="4200" b="1" i="0">
                <a:solidFill>
                  <a:srgbClr val="FFFFFF"/>
                </a:solidFill>
                <a:latin typeface="Calibri"/>
              </a:rPr>
              <a:t>The real demand clock</a:t>
            </a:r>
          </a:p>
        </p:txBody>
      </p:sp>
      <p:sp>
        <p:nvSpPr>
          <p:cNvPr id="6" name="Rectangle 5"/>
          <p:cNvSpPr/>
          <p:nvPr/>
        </p:nvSpPr>
        <p:spPr>
          <a:xfrm>
            <a:off x="777240" y="3794760"/>
            <a:ext cx="146304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041648"/>
            <a:ext cx="9601200" cy="548640"/>
          </a:xfrm>
          <a:prstGeom prst="rect">
            <a:avLst/>
          </a:prstGeom>
          <a:noFill/>
        </p:spPr>
        <p:txBody>
          <a:bodyPr wrap="square" anchor="t" lIns="0" rIns="0" tIns="0" bIns="0">
            <a:normAutofit/>
          </a:bodyPr>
          <a:lstStyle/>
          <a:p>
            <a:pPr algn="l">
              <a:lnSpc>
                <a:spcPct val="105000"/>
              </a:lnSpc>
              <a:spcBef>
                <a:spcPts val="0"/>
              </a:spcBef>
            </a:pPr>
            <a:r>
              <a:rPr sz="1500" b="0" i="0">
                <a:solidFill>
                  <a:srgbClr val="E0F7F1"/>
                </a:solidFill>
                <a:latin typeface="Calibri"/>
              </a:rPr>
              <a:t>When the buyer is actually compelled to act</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DeepGrid Semi — client acquisition strategy v2 · post-verification · 5 Aug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perception mandate binds 1 October 2027, not October 2026</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G.S.R. 834(E) of 11 Nov 2025, amended by 862(E) — verified against the gazette</a:t>
            </a:r>
          </a:p>
        </p:txBody>
      </p:sp>
      <p:sp>
        <p:nvSpPr>
          <p:cNvPr id="6" name="Rectangle 5"/>
          <p:cNvSpPr/>
          <p:nvPr/>
        </p:nvSpPr>
        <p:spPr>
          <a:xfrm>
            <a:off x="548640" y="1664208"/>
            <a:ext cx="11094415" cy="47548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3877056" cy="402336"/>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Instrument / system</a:t>
            </a:r>
          </a:p>
        </p:txBody>
      </p:sp>
      <p:sp>
        <p:nvSpPr>
          <p:cNvPr id="8" name="TextBox 7"/>
          <p:cNvSpPr txBox="1"/>
          <p:nvPr/>
        </p:nvSpPr>
        <p:spPr>
          <a:xfrm>
            <a:off x="4663440" y="1709928"/>
            <a:ext cx="2048256" cy="40233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First date</a:t>
            </a:r>
          </a:p>
        </p:txBody>
      </p:sp>
      <p:sp>
        <p:nvSpPr>
          <p:cNvPr id="9" name="TextBox 8"/>
          <p:cNvSpPr txBox="1"/>
          <p:nvPr/>
        </p:nvSpPr>
        <p:spPr>
          <a:xfrm>
            <a:off x="6858000" y="1709928"/>
            <a:ext cx="2962656" cy="40233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Full application</a:t>
            </a:r>
          </a:p>
        </p:txBody>
      </p:sp>
      <p:sp>
        <p:nvSpPr>
          <p:cNvPr id="10" name="TextBox 9"/>
          <p:cNvSpPr txBox="1"/>
          <p:nvPr/>
        </p:nvSpPr>
        <p:spPr>
          <a:xfrm>
            <a:off x="9966960" y="1709928"/>
            <a:ext cx="1618488" cy="40233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From today</a:t>
            </a:r>
          </a:p>
        </p:txBody>
      </p:sp>
      <p:sp>
        <p:nvSpPr>
          <p:cNvPr id="11" name="Rectangle 10"/>
          <p:cNvSpPr/>
          <p:nvPr/>
        </p:nvSpPr>
        <p:spPr>
          <a:xfrm>
            <a:off x="548640" y="2139696"/>
            <a:ext cx="11094415" cy="47548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185416"/>
            <a:ext cx="387705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G.S.R. 184(E)</a:t>
            </a:r>
          </a:p>
        </p:txBody>
      </p:sp>
      <p:sp>
        <p:nvSpPr>
          <p:cNvPr id="13" name="TextBox 12"/>
          <p:cNvSpPr txBox="1"/>
          <p:nvPr/>
        </p:nvSpPr>
        <p:spPr>
          <a:xfrm>
            <a:off x="4663440" y="2185416"/>
            <a:ext cx="204825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20 Mar 2025</a:t>
            </a:r>
          </a:p>
        </p:txBody>
      </p:sp>
      <p:sp>
        <p:nvSpPr>
          <p:cNvPr id="14" name="TextBox 13"/>
          <p:cNvSpPr txBox="1"/>
          <p:nvPr/>
        </p:nvSpPr>
        <p:spPr>
          <a:xfrm>
            <a:off x="6858000" y="2185416"/>
            <a:ext cx="296265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DRAFT for comment — not law</a:t>
            </a:r>
          </a:p>
        </p:txBody>
      </p:sp>
      <p:sp>
        <p:nvSpPr>
          <p:cNvPr id="15" name="TextBox 14"/>
          <p:cNvSpPr txBox="1"/>
          <p:nvPr/>
        </p:nvSpPr>
        <p:spPr>
          <a:xfrm>
            <a:off x="9966960" y="2185416"/>
            <a:ext cx="1618488" cy="402336"/>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Superseded</a:t>
            </a:r>
          </a:p>
        </p:txBody>
      </p:sp>
      <p:sp>
        <p:nvSpPr>
          <p:cNvPr id="16" name="Rectangle 15"/>
          <p:cNvSpPr/>
          <p:nvPr/>
        </p:nvSpPr>
        <p:spPr>
          <a:xfrm>
            <a:off x="548640" y="2615184"/>
            <a:ext cx="1109441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660904"/>
            <a:ext cx="387705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G.S.R. 834(E)</a:t>
            </a:r>
          </a:p>
        </p:txBody>
      </p:sp>
      <p:sp>
        <p:nvSpPr>
          <p:cNvPr id="18" name="TextBox 17"/>
          <p:cNvSpPr txBox="1"/>
          <p:nvPr/>
        </p:nvSpPr>
        <p:spPr>
          <a:xfrm>
            <a:off x="4663440" y="2660904"/>
            <a:ext cx="204825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11 Nov 2025</a:t>
            </a:r>
          </a:p>
        </p:txBody>
      </p:sp>
      <p:sp>
        <p:nvSpPr>
          <p:cNvPr id="19" name="TextBox 18"/>
          <p:cNvSpPr txBox="1"/>
          <p:nvPr/>
        </p:nvSpPr>
        <p:spPr>
          <a:xfrm>
            <a:off x="6858000" y="2660904"/>
            <a:ext cx="296265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CMV Sixth Amendment Rules 2025 — the notified rule</a:t>
            </a:r>
          </a:p>
        </p:txBody>
      </p:sp>
      <p:sp>
        <p:nvSpPr>
          <p:cNvPr id="20" name="TextBox 19"/>
          <p:cNvSpPr txBox="1"/>
          <p:nvPr/>
        </p:nvSpPr>
        <p:spPr>
          <a:xfrm>
            <a:off x="9966960" y="2660904"/>
            <a:ext cx="1618488" cy="402336"/>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In force</a:t>
            </a:r>
          </a:p>
        </p:txBody>
      </p:sp>
      <p:sp>
        <p:nvSpPr>
          <p:cNvPr id="21" name="Rectangle 20"/>
          <p:cNvSpPr/>
          <p:nvPr/>
        </p:nvSpPr>
        <p:spPr>
          <a:xfrm>
            <a:off x="548640" y="3090672"/>
            <a:ext cx="11094415" cy="475488"/>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090672"/>
            <a:ext cx="50292" cy="47548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136392"/>
            <a:ext cx="3877056" cy="402336"/>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AEBS (AIS-162), stability, braking</a:t>
            </a:r>
          </a:p>
        </p:txBody>
      </p:sp>
      <p:sp>
        <p:nvSpPr>
          <p:cNvPr id="24" name="TextBox 23"/>
          <p:cNvSpPr txBox="1"/>
          <p:nvPr/>
        </p:nvSpPr>
        <p:spPr>
          <a:xfrm>
            <a:off x="4663440" y="3136392"/>
            <a:ext cx="204825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1 Jan 2027 new</a:t>
            </a:r>
          </a:p>
        </p:txBody>
      </p:sp>
      <p:sp>
        <p:nvSpPr>
          <p:cNvPr id="25" name="TextBox 24"/>
          <p:cNvSpPr txBox="1"/>
          <p:nvPr/>
        </p:nvSpPr>
        <p:spPr>
          <a:xfrm>
            <a:off x="6858000" y="3136392"/>
            <a:ext cx="296265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1 Oct 2027 all models</a:t>
            </a:r>
          </a:p>
        </p:txBody>
      </p:sp>
      <p:sp>
        <p:nvSpPr>
          <p:cNvPr id="26" name="TextBox 25"/>
          <p:cNvSpPr txBox="1"/>
          <p:nvPr/>
        </p:nvSpPr>
        <p:spPr>
          <a:xfrm>
            <a:off x="9966960" y="3136392"/>
            <a:ext cx="1618488" cy="402336"/>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17 months</a:t>
            </a:r>
          </a:p>
        </p:txBody>
      </p:sp>
      <p:sp>
        <p:nvSpPr>
          <p:cNvPr id="27" name="Rectangle 26"/>
          <p:cNvSpPr/>
          <p:nvPr/>
        </p:nvSpPr>
        <p:spPr>
          <a:xfrm>
            <a:off x="548640" y="3566160"/>
            <a:ext cx="11094415" cy="475488"/>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566160"/>
            <a:ext cx="50292" cy="47548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611880"/>
            <a:ext cx="3877056" cy="402336"/>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LDWS, DDAWS, BSIS, MOIS (rule 125Q)</a:t>
            </a:r>
          </a:p>
        </p:txBody>
      </p:sp>
      <p:sp>
        <p:nvSpPr>
          <p:cNvPr id="30" name="TextBox 29"/>
          <p:cNvSpPr txBox="1"/>
          <p:nvPr/>
        </p:nvSpPr>
        <p:spPr>
          <a:xfrm>
            <a:off x="4663440" y="3611880"/>
            <a:ext cx="204825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1 Oct 2027 new</a:t>
            </a:r>
          </a:p>
        </p:txBody>
      </p:sp>
      <p:sp>
        <p:nvSpPr>
          <p:cNvPr id="31" name="TextBox 30"/>
          <p:cNvSpPr txBox="1"/>
          <p:nvPr/>
        </p:nvSpPr>
        <p:spPr>
          <a:xfrm>
            <a:off x="6858000" y="3611880"/>
            <a:ext cx="296265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1 Jan 2028 existing</a:t>
            </a:r>
          </a:p>
        </p:txBody>
      </p:sp>
      <p:sp>
        <p:nvSpPr>
          <p:cNvPr id="32" name="TextBox 31"/>
          <p:cNvSpPr txBox="1"/>
          <p:nvPr/>
        </p:nvSpPr>
        <p:spPr>
          <a:xfrm>
            <a:off x="9966960" y="3611880"/>
            <a:ext cx="1618488" cy="402336"/>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26 months</a:t>
            </a:r>
          </a:p>
        </p:txBody>
      </p:sp>
      <p:sp>
        <p:nvSpPr>
          <p:cNvPr id="33" name="Rounded Rectangle 32"/>
          <p:cNvSpPr/>
          <p:nvPr/>
        </p:nvSpPr>
        <p:spPr>
          <a:xfrm>
            <a:off x="548640" y="4151376"/>
            <a:ext cx="5852160" cy="169164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4315968"/>
            <a:ext cx="5394960" cy="292608"/>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What this changes</a:t>
            </a:r>
          </a:p>
        </p:txBody>
      </p:sp>
      <p:sp>
        <p:nvSpPr>
          <p:cNvPr id="35" name="TextBox 34"/>
          <p:cNvSpPr txBox="1"/>
          <p:nvPr/>
        </p:nvSpPr>
        <p:spPr>
          <a:xfrm>
            <a:off x="749808" y="4654296"/>
            <a:ext cx="5394960" cy="1051560"/>
          </a:xfrm>
          <a:prstGeom prst="rect">
            <a:avLst/>
          </a:prstGeom>
          <a:noFill/>
        </p:spPr>
        <p:txBody>
          <a:bodyPr wrap="square" anchor="t" lIns="0" rIns="0" tIns="0" bIns="0">
            <a:normAutofit/>
          </a:bodyPr>
          <a:lstStyle/>
          <a:p>
            <a:pPr algn="l">
              <a:lnSpc>
                <a:spcPct val="105000"/>
              </a:lnSpc>
              <a:spcBef>
                <a:spcPts val="0"/>
              </a:spcBef>
            </a:pPr>
            <a:r>
              <a:rPr sz="1200" b="0" i="0">
                <a:solidFill>
                  <a:srgbClr val="E0F7F1"/>
                </a:solidFill>
                <a:latin typeface="Calibri"/>
              </a:rPr>
              <a:t>Version one of this deck said October 2026 and treated it as eight weeks away. That came from vendor blogs which dropped the word “draft”. Five of them agreed, which looked like corroboration and was correlated error from one upstream source. The real first wall is 17 months out.</a:t>
            </a:r>
          </a:p>
        </p:txBody>
      </p:sp>
      <p:sp>
        <p:nvSpPr>
          <p:cNvPr id="36" name="Rounded Rectangle 35"/>
          <p:cNvSpPr/>
          <p:nvPr/>
        </p:nvSpPr>
        <p:spPr>
          <a:xfrm>
            <a:off x="6629400" y="4151376"/>
            <a:ext cx="5010912" cy="1691640"/>
          </a:xfrm>
          <a:prstGeom prst="roundRect">
            <a:avLst>
              <a:gd name="adj" fmla="val 4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29400" y="4151376"/>
            <a:ext cx="54864" cy="169164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39712" y="4315968"/>
            <a:ext cx="4572000" cy="292608"/>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The commercial read</a:t>
            </a:r>
          </a:p>
        </p:txBody>
      </p:sp>
      <p:sp>
        <p:nvSpPr>
          <p:cNvPr id="39" name="TextBox 38"/>
          <p:cNvSpPr txBox="1"/>
          <p:nvPr/>
        </p:nvSpPr>
        <p:spPr>
          <a:xfrm>
            <a:off x="6839712" y="4654296"/>
            <a:ext cx="4572000" cy="1051560"/>
          </a:xfrm>
          <a:prstGeom prst="rect">
            <a:avLst/>
          </a:prstGeom>
          <a:noFill/>
        </p:spPr>
        <p:txBody>
          <a:bodyPr wrap="square" anchor="t" lIns="0" rIns="0" tIns="0" bIns="0">
            <a:normAutofit/>
          </a:bodyPr>
          <a:lstStyle/>
          <a:p>
            <a:pPr algn="l">
              <a:lnSpc>
                <a:spcPct val="105000"/>
              </a:lnSpc>
              <a:spcBef>
                <a:spcPts val="0"/>
              </a:spcBef>
            </a:pPr>
            <a:r>
              <a:rPr sz="1200" b="0" i="0">
                <a:solidFill>
                  <a:srgbClr val="1B2B3C"/>
                </a:solidFill>
                <a:latin typeface="Calibri"/>
              </a:rPr>
              <a:t>More runway, later revenue. Certification and tapeout now have room to land before the wall — which removes the panic case. But Track B's “deadline is coming” pitch does not bite in 2026, and any FY27 revenue must come from buyers who are not waiting for the rule.</a:t>
            </a:r>
          </a:p>
        </p:txBody>
      </p:sp>
      <p:sp>
        <p:nvSpPr>
          <p:cNvPr id="40" name="Rounded Rectangle 39"/>
          <p:cNvSpPr/>
          <p:nvPr/>
        </p:nvSpPr>
        <p:spPr>
          <a:xfrm>
            <a:off x="548640" y="5980176"/>
            <a:ext cx="1188720" cy="274320"/>
          </a:xfrm>
          <a:prstGeom prst="roundRect">
            <a:avLst>
              <a:gd name="adj" fmla="val 30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6021324"/>
            <a:ext cx="1188720" cy="219456"/>
          </a:xfrm>
          <a:prstGeom prst="rect">
            <a:avLst/>
          </a:prstGeom>
          <a:noFill/>
        </p:spPr>
        <p:txBody>
          <a:bodyPr wrap="square" anchor="t" lIns="0" rIns="0" tIns="0" bIns="0">
            <a:noAutofit/>
          </a:bodyPr>
          <a:lstStyle/>
          <a:p>
            <a:pPr algn="ctr">
              <a:lnSpc>
                <a:spcPct val="105000"/>
              </a:lnSpc>
              <a:spcBef>
                <a:spcPts val="0"/>
              </a:spcBef>
            </a:pPr>
            <a:r>
              <a:rPr sz="950" b="1" i="0">
                <a:solidFill>
                  <a:srgbClr val="FFFFFF"/>
                </a:solidFill>
                <a:latin typeface="Calibri"/>
              </a:rPr>
              <a:t>VERIFIED</a:t>
            </a:r>
          </a:p>
        </p:txBody>
      </p:sp>
      <p:sp>
        <p:nvSpPr>
          <p:cNvPr id="42" name="TextBox 41"/>
          <p:cNvSpPr txBox="1"/>
          <p:nvPr/>
        </p:nvSpPr>
        <p:spPr>
          <a:xfrm>
            <a:off x="1874519" y="6016752"/>
            <a:ext cx="9144000" cy="274320"/>
          </a:xfrm>
          <a:prstGeom prst="rect">
            <a:avLst/>
          </a:prstGeom>
          <a:noFill/>
        </p:spPr>
        <p:txBody>
          <a:bodyPr wrap="square" anchor="t" lIns="0" rIns="0" tIns="0" bIns="0">
            <a:normAutofit/>
          </a:bodyPr>
          <a:lstStyle/>
          <a:p>
            <a:pPr algn="l">
              <a:lnSpc>
                <a:spcPct val="105000"/>
              </a:lnSpc>
              <a:spcBef>
                <a:spcPts val="0"/>
              </a:spcBef>
            </a:pPr>
            <a:r>
              <a:rPr sz="1000" b="0" i="1">
                <a:solidFill>
                  <a:srgbClr val="5B6B7C"/>
                </a:solidFill>
                <a:latin typeface="Calibri"/>
              </a:rPr>
              <a:t>Gazette text checked directly; corroborated by TOI 5-Nov-2025 and Gadkari's Lok Sabha reply, 12-Feb-2026</a:t>
            </a:r>
          </a:p>
        </p:txBody>
      </p:sp>
      <p:sp>
        <p:nvSpPr>
          <p:cNvPr id="43" name="TextBox 4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v2 · post-verification · 5 Aug 2026</a:t>
            </a:r>
          </a:p>
        </p:txBody>
      </p:sp>
      <p:sp>
        <p:nvSpPr>
          <p:cNvPr id="44" name="TextBox 4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India's own precedent says the box loses and the relationship wins</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AIS-140 is the closest domestic analogue — and it is not encouraging for hardware</a:t>
            </a:r>
          </a:p>
        </p:txBody>
      </p:sp>
      <p:sp>
        <p:nvSpPr>
          <p:cNvPr id="6" name="Rounded Rectangle 5"/>
          <p:cNvSpPr/>
          <p:nvPr/>
        </p:nvSpPr>
        <p:spPr>
          <a:xfrm>
            <a:off x="548640" y="1719072"/>
            <a:ext cx="3564026" cy="224028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19072"/>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901952"/>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Enforcement took ~8 years</a:t>
            </a:r>
          </a:p>
        </p:txBody>
      </p:sp>
      <p:sp>
        <p:nvSpPr>
          <p:cNvPr id="9" name="TextBox 8"/>
          <p:cNvSpPr txBox="1"/>
          <p:nvPr/>
        </p:nvSpPr>
        <p:spPr>
          <a:xfrm>
            <a:off x="713232" y="2359152"/>
            <a:ext cx="3234842" cy="145389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Notified 2018, phased 2019, legacy registrations only caught in Oct 2025, rules still moving in 2026 — gated on state backend readiness, not on suppliers. Assume the same slippage risk on 2027–28 dates.</a:t>
            </a:r>
          </a:p>
        </p:txBody>
      </p:sp>
      <p:sp>
        <p:nvSpPr>
          <p:cNvPr id="10" name="Rounded Rectangle 9"/>
          <p:cNvSpPr/>
          <p:nvPr/>
        </p:nvSpPr>
        <p:spPr>
          <a:xfrm>
            <a:off x="4313834" y="1719072"/>
            <a:ext cx="3564026" cy="224028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13834" y="1719072"/>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78426" y="1901952"/>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Prices never consolidated</a:t>
            </a:r>
          </a:p>
        </p:txBody>
      </p:sp>
      <p:sp>
        <p:nvSpPr>
          <p:cNvPr id="13" name="TextBox 12"/>
          <p:cNvSpPr txBox="1"/>
          <p:nvPr/>
        </p:nvSpPr>
        <p:spPr>
          <a:xfrm>
            <a:off x="4478426" y="2359152"/>
            <a:ext cx="3234842" cy="145389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Devices still sell at ₹3,500–12,000 with 3–4× spreads and no market concentration. Nobody built a hardware franchise. A mandate caps willingness to pay at the cost of non-compliance, not the value of safety.</a:t>
            </a:r>
          </a:p>
        </p:txBody>
      </p:sp>
      <p:sp>
        <p:nvSpPr>
          <p:cNvPr id="14" name="Rounded Rectangle 13"/>
          <p:cNvSpPr/>
          <p:nvPr/>
        </p:nvSpPr>
        <p:spPr>
          <a:xfrm>
            <a:off x="8079028" y="1719072"/>
            <a:ext cx="3564026" cy="224028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79028" y="1719072"/>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3620" y="1901952"/>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Value went to the recurring layer</a:t>
            </a:r>
          </a:p>
        </p:txBody>
      </p:sp>
      <p:sp>
        <p:nvSpPr>
          <p:cNvPr id="17" name="TextBox 16"/>
          <p:cNvSpPr txBox="1"/>
          <p:nvPr/>
        </p:nvSpPr>
        <p:spPr>
          <a:xfrm>
            <a:off x="8243620" y="2359152"/>
            <a:ext cx="3234842" cy="145389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Whoever held the compliance relationship won — Vahan linkage, SIM, certificate renewal, uptime SLA. Not the box, and certainly not the chip inside it.</a:t>
            </a:r>
          </a:p>
        </p:txBody>
      </p:sp>
      <p:sp>
        <p:nvSpPr>
          <p:cNvPr id="18" name="Rounded Rectangle 17"/>
          <p:cNvSpPr/>
          <p:nvPr/>
        </p:nvSpPr>
        <p:spPr>
          <a:xfrm>
            <a:off x="548640" y="4206240"/>
            <a:ext cx="11094415" cy="141732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370832"/>
            <a:ext cx="6400800" cy="292608"/>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The strategic implication for DeepGrid</a:t>
            </a:r>
          </a:p>
        </p:txBody>
      </p:sp>
      <p:sp>
        <p:nvSpPr>
          <p:cNvPr id="20" name="TextBox 19"/>
          <p:cNvSpPr txBox="1"/>
          <p:nvPr/>
        </p:nvSpPr>
        <p:spPr>
          <a:xfrm>
            <a:off x="777240" y="4718304"/>
            <a:ext cx="10637215" cy="777240"/>
          </a:xfrm>
          <a:prstGeom prst="rect">
            <a:avLst/>
          </a:prstGeom>
          <a:noFill/>
        </p:spPr>
        <p:txBody>
          <a:bodyPr wrap="square" anchor="t" lIns="0" rIns="0" tIns="0" bIns="0">
            <a:normAutofit/>
          </a:bodyPr>
          <a:lstStyle/>
          <a:p>
            <a:pPr algn="l">
              <a:lnSpc>
                <a:spcPct val="105000"/>
              </a:lnSpc>
              <a:spcBef>
                <a:spcPts val="0"/>
              </a:spcBef>
            </a:pPr>
            <a:r>
              <a:rPr sz="1250" b="0" i="0">
                <a:solidFill>
                  <a:srgbClr val="E0F7F1"/>
                </a:solidFill>
                <a:latin typeface="Calibri"/>
              </a:rPr>
              <a:t>If value migrates to the recurring compliance layer again, then the durable position is not the ₹2.3L kit — it is owning certificate renewal, uptime reporting and the data relationship that sits on top of it. That is also the only asset an incumbent with a cheaper regional SKU cannot take away. Build the recurring layer into the first contracts, not into a later phase.</a:t>
            </a:r>
          </a:p>
        </p:txBody>
      </p:sp>
      <p:sp>
        <p:nvSpPr>
          <p:cNvPr id="21" name="TextBox 2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v2 · post-verification · 5 Aug 2026</a:t>
            </a:r>
          </a:p>
        </p:txBody>
      </p:sp>
      <p:sp>
        <p:nvSpPr>
          <p:cNvPr id="22" name="TextBox 2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377440"/>
            <a:ext cx="54864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02</a:t>
            </a:r>
          </a:p>
        </p:txBody>
      </p:sp>
      <p:sp>
        <p:nvSpPr>
          <p:cNvPr id="5" name="TextBox 4"/>
          <p:cNvSpPr txBox="1"/>
          <p:nvPr/>
        </p:nvSpPr>
        <p:spPr>
          <a:xfrm>
            <a:off x="777240" y="2788920"/>
            <a:ext cx="10058400" cy="914400"/>
          </a:xfrm>
          <a:prstGeom prst="rect">
            <a:avLst/>
          </a:prstGeom>
          <a:noFill/>
        </p:spPr>
        <p:txBody>
          <a:bodyPr wrap="square" anchor="t" lIns="0" rIns="0" tIns="0" bIns="0">
            <a:normAutofit/>
          </a:bodyPr>
          <a:lstStyle/>
          <a:p>
            <a:pPr algn="l">
              <a:lnSpc>
                <a:spcPct val="105000"/>
              </a:lnSpc>
              <a:spcBef>
                <a:spcPts val="0"/>
              </a:spcBef>
            </a:pPr>
            <a:r>
              <a:rPr sz="4200" b="1" i="0">
                <a:solidFill>
                  <a:srgbClr val="FFFFFF"/>
                </a:solidFill>
                <a:latin typeface="Calibri"/>
              </a:rPr>
              <a:t>What you can actually claim</a:t>
            </a:r>
          </a:p>
        </p:txBody>
      </p:sp>
      <p:sp>
        <p:nvSpPr>
          <p:cNvPr id="6" name="Rectangle 5"/>
          <p:cNvSpPr/>
          <p:nvPr/>
        </p:nvSpPr>
        <p:spPr>
          <a:xfrm>
            <a:off x="777240" y="3794760"/>
            <a:ext cx="146304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041648"/>
            <a:ext cx="9601200" cy="548640"/>
          </a:xfrm>
          <a:prstGeom prst="rect">
            <a:avLst/>
          </a:prstGeom>
          <a:noFill/>
        </p:spPr>
        <p:txBody>
          <a:bodyPr wrap="square" anchor="t" lIns="0" rIns="0" tIns="0" bIns="0">
            <a:normAutofit/>
          </a:bodyPr>
          <a:lstStyle/>
          <a:p>
            <a:pPr algn="l">
              <a:lnSpc>
                <a:spcPct val="105000"/>
              </a:lnSpc>
              <a:spcBef>
                <a:spcPts val="0"/>
              </a:spcBef>
            </a:pPr>
            <a:r>
              <a:rPr sz="1500" b="0" i="0">
                <a:solidFill>
                  <a:srgbClr val="E0F7F1"/>
                </a:solidFill>
                <a:latin typeface="Calibri"/>
              </a:rPr>
              <a:t>The evidence that survived verification</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DeepGrid Semi — client acquisition strategy v2 · post-verification · 5 Aug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What you can put in front of a buyer today</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Corrected proof kit — state the evidence level, never the aspiration</a:t>
            </a:r>
          </a:p>
        </p:txBody>
      </p:sp>
      <p:sp>
        <p:nvSpPr>
          <p:cNvPr id="6" name="Rectangle 5"/>
          <p:cNvSpPr/>
          <p:nvPr/>
        </p:nvSpPr>
        <p:spPr>
          <a:xfrm>
            <a:off x="548640" y="1664208"/>
            <a:ext cx="11094415" cy="329184"/>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3877056" cy="256032"/>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Asset</a:t>
            </a:r>
          </a:p>
        </p:txBody>
      </p:sp>
      <p:sp>
        <p:nvSpPr>
          <p:cNvPr id="8" name="TextBox 7"/>
          <p:cNvSpPr txBox="1"/>
          <p:nvPr/>
        </p:nvSpPr>
        <p:spPr>
          <a:xfrm>
            <a:off x="4663440" y="1709928"/>
            <a:ext cx="1682496" cy="25603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State</a:t>
            </a:r>
          </a:p>
        </p:txBody>
      </p:sp>
      <p:sp>
        <p:nvSpPr>
          <p:cNvPr id="9" name="TextBox 8"/>
          <p:cNvSpPr txBox="1"/>
          <p:nvPr/>
        </p:nvSpPr>
        <p:spPr>
          <a:xfrm>
            <a:off x="6492240" y="1709928"/>
            <a:ext cx="5093208" cy="25603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How to use it</a:t>
            </a:r>
          </a:p>
        </p:txBody>
      </p:sp>
      <p:sp>
        <p:nvSpPr>
          <p:cNvPr id="10" name="Rectangle 9"/>
          <p:cNvSpPr/>
          <p:nvPr/>
        </p:nvSpPr>
        <p:spPr>
          <a:xfrm>
            <a:off x="548640" y="1993392"/>
            <a:ext cx="11094415" cy="329184"/>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993392"/>
            <a:ext cx="50292" cy="32918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39112"/>
            <a:ext cx="3877056" cy="256032"/>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GeM record + procurement access</a:t>
            </a:r>
          </a:p>
        </p:txBody>
      </p:sp>
      <p:sp>
        <p:nvSpPr>
          <p:cNvPr id="13" name="TextBox 12"/>
          <p:cNvSpPr txBox="1"/>
          <p:nvPr/>
        </p:nvSpPr>
        <p:spPr>
          <a:xfrm>
            <a:off x="4663440" y="2039112"/>
            <a:ext cx="1682496" cy="25603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CONTRACTED</a:t>
            </a:r>
          </a:p>
        </p:txBody>
      </p:sp>
      <p:sp>
        <p:nvSpPr>
          <p:cNvPr id="14" name="TextBox 13"/>
          <p:cNvSpPr txBox="1"/>
          <p:nvPr/>
        </p:nvSpPr>
        <p:spPr>
          <a:xfrm>
            <a:off x="6492240" y="2039112"/>
            <a:ext cx="5093208"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Real, and the strongest Track A asset</a:t>
            </a:r>
          </a:p>
        </p:txBody>
      </p:sp>
      <p:sp>
        <p:nvSpPr>
          <p:cNvPr id="15" name="Rectangle 14"/>
          <p:cNvSpPr/>
          <p:nvPr/>
        </p:nvSpPr>
        <p:spPr>
          <a:xfrm>
            <a:off x="548640" y="2322576"/>
            <a:ext cx="11094415"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368296"/>
            <a:ext cx="3877056"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₹23.01L delivered — Robot Training</a:t>
            </a:r>
          </a:p>
        </p:txBody>
      </p:sp>
      <p:sp>
        <p:nvSpPr>
          <p:cNvPr id="17" name="TextBox 16"/>
          <p:cNvSpPr txBox="1"/>
          <p:nvPr/>
        </p:nvSpPr>
        <p:spPr>
          <a:xfrm>
            <a:off x="4663440" y="2368296"/>
            <a:ext cx="1682496" cy="25603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CONTRACTED</a:t>
            </a:r>
          </a:p>
        </p:txBody>
      </p:sp>
      <p:sp>
        <p:nvSpPr>
          <p:cNvPr id="18" name="TextBox 17"/>
          <p:cNvSpPr txBox="1"/>
          <p:nvPr/>
        </p:nvSpPr>
        <p:spPr>
          <a:xfrm>
            <a:off x="6492240" y="2368296"/>
            <a:ext cx="5093208"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In Deepgrid Datacentre, not Semi. IP MCEME-owned</a:t>
            </a:r>
          </a:p>
        </p:txBody>
      </p:sp>
      <p:sp>
        <p:nvSpPr>
          <p:cNvPr id="19" name="Rectangle 18"/>
          <p:cNvSpPr/>
          <p:nvPr/>
        </p:nvSpPr>
        <p:spPr>
          <a:xfrm>
            <a:off x="548640" y="2651760"/>
            <a:ext cx="11094415" cy="32918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697480"/>
            <a:ext cx="3877056"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₹78.39L Robotics Assistant</a:t>
            </a:r>
          </a:p>
        </p:txBody>
      </p:sp>
      <p:sp>
        <p:nvSpPr>
          <p:cNvPr id="21" name="TextBox 20"/>
          <p:cNvSpPr txBox="1"/>
          <p:nvPr/>
        </p:nvSpPr>
        <p:spPr>
          <a:xfrm>
            <a:off x="4663440" y="2697480"/>
            <a:ext cx="1682496" cy="25603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L1 ONLY</a:t>
            </a:r>
          </a:p>
        </p:txBody>
      </p:sp>
      <p:sp>
        <p:nvSpPr>
          <p:cNvPr id="22" name="TextBox 21"/>
          <p:cNvSpPr txBox="1"/>
          <p:nvPr/>
        </p:nvSpPr>
        <p:spPr>
          <a:xfrm>
            <a:off x="6492240" y="2697480"/>
            <a:ext cx="5093208"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Lowest bidder, not an award. Never call it revenue</a:t>
            </a:r>
          </a:p>
        </p:txBody>
      </p:sp>
      <p:sp>
        <p:nvSpPr>
          <p:cNvPr id="23" name="Rectangle 22"/>
          <p:cNvSpPr/>
          <p:nvPr/>
        </p:nvSpPr>
        <p:spPr>
          <a:xfrm>
            <a:off x="548640" y="2980944"/>
            <a:ext cx="11094415" cy="329184"/>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980944"/>
            <a:ext cx="50292" cy="32918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026664"/>
            <a:ext cx="3877056" cy="256032"/>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YOLOv11n at 40fps on FPGA</a:t>
            </a:r>
          </a:p>
        </p:txBody>
      </p:sp>
      <p:sp>
        <p:nvSpPr>
          <p:cNvPr id="26" name="TextBox 25"/>
          <p:cNvSpPr txBox="1"/>
          <p:nvPr/>
        </p:nvSpPr>
        <p:spPr>
          <a:xfrm>
            <a:off x="4663440" y="3026664"/>
            <a:ext cx="1682496" cy="25603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MEASURED</a:t>
            </a:r>
          </a:p>
        </p:txBody>
      </p:sp>
      <p:sp>
        <p:nvSpPr>
          <p:cNvPr id="27" name="TextBox 26"/>
          <p:cNvSpPr txBox="1"/>
          <p:nvPr/>
        </p:nvSpPr>
        <p:spPr>
          <a:xfrm>
            <a:off x="6492240" y="3026664"/>
            <a:ext cx="5093208"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 real measured number — quote this, not 39.3 TOPS</a:t>
            </a:r>
          </a:p>
        </p:txBody>
      </p:sp>
      <p:sp>
        <p:nvSpPr>
          <p:cNvPr id="28" name="Rectangle 27"/>
          <p:cNvSpPr/>
          <p:nvPr/>
        </p:nvSpPr>
        <p:spPr>
          <a:xfrm>
            <a:off x="548640" y="3310128"/>
            <a:ext cx="11094415" cy="329184"/>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310128"/>
            <a:ext cx="50292" cy="32918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3355848"/>
            <a:ext cx="3877056" cy="256032"/>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24.25 ms attention head</a:t>
            </a:r>
          </a:p>
        </p:txBody>
      </p:sp>
      <p:sp>
        <p:nvSpPr>
          <p:cNvPr id="31" name="TextBox 30"/>
          <p:cNvSpPr txBox="1"/>
          <p:nvPr/>
        </p:nvSpPr>
        <p:spPr>
          <a:xfrm>
            <a:off x="4663440" y="3355848"/>
            <a:ext cx="1682496" cy="25603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MEASURED</a:t>
            </a:r>
          </a:p>
        </p:txBody>
      </p:sp>
      <p:sp>
        <p:nvSpPr>
          <p:cNvPr id="32" name="TextBox 31"/>
          <p:cNvSpPr txBox="1"/>
          <p:nvPr/>
        </p:nvSpPr>
        <p:spPr>
          <a:xfrm>
            <a:off x="6492240" y="3355848"/>
            <a:ext cx="5093208"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The honest perception-latency datapoint</a:t>
            </a:r>
          </a:p>
        </p:txBody>
      </p:sp>
      <p:sp>
        <p:nvSpPr>
          <p:cNvPr id="33" name="Rectangle 32"/>
          <p:cNvSpPr/>
          <p:nvPr/>
        </p:nvSpPr>
        <p:spPr>
          <a:xfrm>
            <a:off x="548640" y="3639312"/>
            <a:ext cx="11094415"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3685032"/>
            <a:ext cx="3877056"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DGS001 module running on FPGA</a:t>
            </a:r>
          </a:p>
        </p:txBody>
      </p:sp>
      <p:sp>
        <p:nvSpPr>
          <p:cNvPr id="35" name="TextBox 34"/>
          <p:cNvSpPr txBox="1"/>
          <p:nvPr/>
        </p:nvSpPr>
        <p:spPr>
          <a:xfrm>
            <a:off x="4663440" y="3685032"/>
            <a:ext cx="1682496" cy="25603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SILICON</a:t>
            </a:r>
          </a:p>
        </p:txBody>
      </p:sp>
      <p:sp>
        <p:nvSpPr>
          <p:cNvPr id="36" name="TextBox 35"/>
          <p:cNvSpPr txBox="1"/>
          <p:nvPr/>
        </p:nvSpPr>
        <p:spPr>
          <a:xfrm>
            <a:off x="6492240" y="3685032"/>
            <a:ext cx="5093208"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Live demo. Artix-7 class — do not imply ASIC performance</a:t>
            </a:r>
          </a:p>
        </p:txBody>
      </p:sp>
      <p:sp>
        <p:nvSpPr>
          <p:cNvPr id="37" name="Rectangle 36"/>
          <p:cNvSpPr/>
          <p:nvPr/>
        </p:nvSpPr>
        <p:spPr>
          <a:xfrm>
            <a:off x="548640" y="3968496"/>
            <a:ext cx="11094415" cy="32918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4014216"/>
            <a:ext cx="3877056"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15 provisional patents, Mar 2026</a:t>
            </a:r>
          </a:p>
        </p:txBody>
      </p:sp>
      <p:sp>
        <p:nvSpPr>
          <p:cNvPr id="39" name="TextBox 38"/>
          <p:cNvSpPr txBox="1"/>
          <p:nvPr/>
        </p:nvSpPr>
        <p:spPr>
          <a:xfrm>
            <a:off x="4663440" y="4014216"/>
            <a:ext cx="1682496" cy="25603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FILED</a:t>
            </a:r>
          </a:p>
        </p:txBody>
      </p:sp>
      <p:sp>
        <p:nvSpPr>
          <p:cNvPr id="40" name="TextBox 39"/>
          <p:cNvSpPr txBox="1"/>
          <p:nvPr/>
        </p:nvSpPr>
        <p:spPr>
          <a:xfrm>
            <a:off x="6492240" y="4014216"/>
            <a:ext cx="5093208"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Filed, not granted. Say filed</a:t>
            </a:r>
          </a:p>
        </p:txBody>
      </p:sp>
      <p:sp>
        <p:nvSpPr>
          <p:cNvPr id="41" name="Rectangle 40"/>
          <p:cNvSpPr/>
          <p:nvPr/>
        </p:nvSpPr>
        <p:spPr>
          <a:xfrm>
            <a:off x="548640" y="4297680"/>
            <a:ext cx="11094415"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4343400"/>
            <a:ext cx="3877056"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Carla-validated D-Drive loop</a:t>
            </a:r>
          </a:p>
        </p:txBody>
      </p:sp>
      <p:sp>
        <p:nvSpPr>
          <p:cNvPr id="43" name="TextBox 42"/>
          <p:cNvSpPr txBox="1"/>
          <p:nvPr/>
        </p:nvSpPr>
        <p:spPr>
          <a:xfrm>
            <a:off x="4663440" y="4343400"/>
            <a:ext cx="1682496" cy="25603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SIMULATION</a:t>
            </a:r>
          </a:p>
        </p:txBody>
      </p:sp>
      <p:sp>
        <p:nvSpPr>
          <p:cNvPr id="44" name="TextBox 43"/>
          <p:cNvSpPr txBox="1"/>
          <p:nvPr/>
        </p:nvSpPr>
        <p:spPr>
          <a:xfrm>
            <a:off x="6492240" y="4343400"/>
            <a:ext cx="5093208"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Not road-validated. Say simulation</a:t>
            </a:r>
          </a:p>
        </p:txBody>
      </p:sp>
      <p:sp>
        <p:nvSpPr>
          <p:cNvPr id="45" name="Rectangle 44"/>
          <p:cNvSpPr/>
          <p:nvPr/>
        </p:nvSpPr>
        <p:spPr>
          <a:xfrm>
            <a:off x="548640" y="4626864"/>
            <a:ext cx="11094415" cy="32918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4672584"/>
            <a:ext cx="3877056"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AIS-162/188 certification</a:t>
            </a:r>
          </a:p>
        </p:txBody>
      </p:sp>
      <p:sp>
        <p:nvSpPr>
          <p:cNvPr id="47" name="TextBox 46"/>
          <p:cNvSpPr txBox="1"/>
          <p:nvPr/>
        </p:nvSpPr>
        <p:spPr>
          <a:xfrm>
            <a:off x="4663440" y="4672584"/>
            <a:ext cx="1682496" cy="25603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NOT HELD</a:t>
            </a:r>
          </a:p>
        </p:txBody>
      </p:sp>
      <p:sp>
        <p:nvSpPr>
          <p:cNvPr id="48" name="TextBox 47"/>
          <p:cNvSpPr txBox="1"/>
          <p:nvPr/>
        </p:nvSpPr>
        <p:spPr>
          <a:xfrm>
            <a:off x="6492240" y="4672584"/>
            <a:ext cx="5093208"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 path via NATRAX. Never imply otherwise</a:t>
            </a:r>
          </a:p>
        </p:txBody>
      </p:sp>
      <p:sp>
        <p:nvSpPr>
          <p:cNvPr id="49" name="Rectangle 48"/>
          <p:cNvSpPr/>
          <p:nvPr/>
        </p:nvSpPr>
        <p:spPr>
          <a:xfrm>
            <a:off x="548640" y="4956048"/>
            <a:ext cx="11094415"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 y="5001768"/>
            <a:ext cx="3877056"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28nm ASIC silicon</a:t>
            </a:r>
          </a:p>
        </p:txBody>
      </p:sp>
      <p:sp>
        <p:nvSpPr>
          <p:cNvPr id="51" name="TextBox 50"/>
          <p:cNvSpPr txBox="1"/>
          <p:nvPr/>
        </p:nvSpPr>
        <p:spPr>
          <a:xfrm>
            <a:off x="4663440" y="5001768"/>
            <a:ext cx="1682496" cy="25603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ROADMAP</a:t>
            </a:r>
          </a:p>
        </p:txBody>
      </p:sp>
      <p:sp>
        <p:nvSpPr>
          <p:cNvPr id="52" name="TextBox 51"/>
          <p:cNvSpPr txBox="1"/>
          <p:nvPr/>
        </p:nvSpPr>
        <p:spPr>
          <a:xfrm>
            <a:off x="6492240" y="5001768"/>
            <a:ext cx="5093208"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MPW shuttle. Cannot be AEC-Q100 qualified as-is</a:t>
            </a:r>
          </a:p>
        </p:txBody>
      </p:sp>
      <p:sp>
        <p:nvSpPr>
          <p:cNvPr id="53" name="Rectangle 52"/>
          <p:cNvSpPr/>
          <p:nvPr/>
        </p:nvSpPr>
        <p:spPr>
          <a:xfrm>
            <a:off x="548640" y="5285232"/>
            <a:ext cx="11094415" cy="32918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80" y="5330952"/>
            <a:ext cx="3877056"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Power / thermal envelope</a:t>
            </a:r>
          </a:p>
        </p:txBody>
      </p:sp>
      <p:sp>
        <p:nvSpPr>
          <p:cNvPr id="55" name="TextBox 54"/>
          <p:cNvSpPr txBox="1"/>
          <p:nvPr/>
        </p:nvSpPr>
        <p:spPr>
          <a:xfrm>
            <a:off x="4663440" y="5330952"/>
            <a:ext cx="1682496" cy="25603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NOT STATED</a:t>
            </a:r>
          </a:p>
        </p:txBody>
      </p:sp>
      <p:sp>
        <p:nvSpPr>
          <p:cNvPr id="56" name="TextBox 55"/>
          <p:cNvSpPr txBox="1"/>
          <p:nvPr/>
        </p:nvSpPr>
        <p:spPr>
          <a:xfrm>
            <a:off x="6492240" y="5330952"/>
            <a:ext cx="5093208" cy="25603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Appears in no document. Expect this question</a:t>
            </a:r>
          </a:p>
        </p:txBody>
      </p:sp>
      <p:sp>
        <p:nvSpPr>
          <p:cNvPr id="57" name="Rounded Rectangle 56"/>
          <p:cNvSpPr/>
          <p:nvPr/>
        </p:nvSpPr>
        <p:spPr>
          <a:xfrm>
            <a:off x="548640" y="5724144"/>
            <a:ext cx="11094415" cy="45720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77240" y="5824728"/>
            <a:ext cx="10637215" cy="274320"/>
          </a:xfrm>
          <a:prstGeom prst="rect">
            <a:avLst/>
          </a:prstGeom>
          <a:noFill/>
        </p:spPr>
        <p:txBody>
          <a:bodyPr wrap="square" anchor="t" lIns="0" rIns="0" tIns="0" bIns="0">
            <a:normAutofit/>
          </a:bodyPr>
          <a:lstStyle/>
          <a:p>
            <a:pPr algn="l">
              <a:lnSpc>
                <a:spcPct val="105000"/>
              </a:lnSpc>
              <a:spcBef>
                <a:spcPts val="0"/>
              </a:spcBef>
            </a:pPr>
            <a:r>
              <a:rPr sz="1200" b="1" i="0">
                <a:solidFill>
                  <a:srgbClr val="FFFFFF"/>
                </a:solidFill>
                <a:latin typeface="Calibri"/>
              </a:rPr>
              <a:t>The highlighted rows carry Track A. Everything below “SILICON” is a question you will be asked, not a claim you can make.</a:t>
            </a:r>
          </a:p>
        </p:txBody>
      </p:sp>
      <p:sp>
        <p:nvSpPr>
          <p:cNvPr id="59" name="TextBox 5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v2 · post-verification · 5 Aug 2026</a:t>
            </a:r>
          </a:p>
        </p:txBody>
      </p:sp>
      <p:sp>
        <p:nvSpPr>
          <p:cNvPr id="60" name="TextBox 5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Quote 72% at kit level, and no blended figure at all</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72% and 88% cannot both be true — the arithmetic is one line</a:t>
            </a:r>
          </a:p>
        </p:txBody>
      </p:sp>
      <p:sp>
        <p:nvSpPr>
          <p:cNvPr id="6" name="TextBox 5"/>
          <p:cNvSpPr txBox="1"/>
          <p:nvPr/>
        </p:nvSpPr>
        <p:spPr>
          <a:xfrm>
            <a:off x="548640" y="1645920"/>
            <a:ext cx="6675120" cy="292608"/>
          </a:xfrm>
          <a:prstGeom prst="rect">
            <a:avLst/>
          </a:prstGeom>
          <a:noFill/>
        </p:spPr>
        <p:txBody>
          <a:bodyPr wrap="square" anchor="t" lIns="0" rIns="0" tIns="0" bIns="0">
            <a:noAutofit/>
          </a:bodyPr>
          <a:lstStyle/>
          <a:p>
            <a:pPr algn="l">
              <a:lnSpc>
                <a:spcPct val="105000"/>
              </a:lnSpc>
              <a:spcBef>
                <a:spcPts val="0"/>
              </a:spcBef>
            </a:pPr>
            <a:r>
              <a:rPr sz="1400" b="1" i="0">
                <a:solidFill>
                  <a:srgbClr val="0A1628"/>
                </a:solidFill>
                <a:latin typeface="Calibri"/>
              </a:rPr>
              <a:t>Reconstructing FY2032 from the plan's own segment revenues</a:t>
            </a:r>
          </a:p>
        </p:txBody>
      </p:sp>
      <p:sp>
        <p:nvSpPr>
          <p:cNvPr id="7" name="Rectangle 6"/>
          <p:cNvSpPr/>
          <p:nvPr/>
        </p:nvSpPr>
        <p:spPr>
          <a:xfrm>
            <a:off x="548640" y="2011680"/>
            <a:ext cx="6675120" cy="402336"/>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57400"/>
            <a:ext cx="4517136" cy="329184"/>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Step</a:t>
            </a:r>
          </a:p>
        </p:txBody>
      </p:sp>
      <p:sp>
        <p:nvSpPr>
          <p:cNvPr id="9" name="TextBox 8"/>
          <p:cNvSpPr txBox="1"/>
          <p:nvPr/>
        </p:nvSpPr>
        <p:spPr>
          <a:xfrm>
            <a:off x="5303520" y="2057400"/>
            <a:ext cx="1865376" cy="329184"/>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Value</a:t>
            </a:r>
          </a:p>
        </p:txBody>
      </p:sp>
      <p:sp>
        <p:nvSpPr>
          <p:cNvPr id="10" name="Rectangle 9"/>
          <p:cNvSpPr/>
          <p:nvPr/>
        </p:nvSpPr>
        <p:spPr>
          <a:xfrm>
            <a:off x="548640" y="2414016"/>
            <a:ext cx="6675120" cy="402336"/>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459736"/>
            <a:ext cx="4517136" cy="32918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FY32 revenue</a:t>
            </a:r>
          </a:p>
        </p:txBody>
      </p:sp>
      <p:sp>
        <p:nvSpPr>
          <p:cNvPr id="12" name="TextBox 11"/>
          <p:cNvSpPr txBox="1"/>
          <p:nvPr/>
        </p:nvSpPr>
        <p:spPr>
          <a:xfrm>
            <a:off x="5303520" y="2459736"/>
            <a:ext cx="1865376" cy="329184"/>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₹1,387.95 Cr</a:t>
            </a:r>
          </a:p>
        </p:txBody>
      </p:sp>
      <p:sp>
        <p:nvSpPr>
          <p:cNvPr id="13" name="Rectangle 12"/>
          <p:cNvSpPr/>
          <p:nvPr/>
        </p:nvSpPr>
        <p:spPr>
          <a:xfrm>
            <a:off x="548640" y="2816352"/>
            <a:ext cx="667512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862072"/>
            <a:ext cx="4517136" cy="32918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Gross profit implied by 88.4% blended</a:t>
            </a:r>
          </a:p>
        </p:txBody>
      </p:sp>
      <p:sp>
        <p:nvSpPr>
          <p:cNvPr id="15" name="TextBox 14"/>
          <p:cNvSpPr txBox="1"/>
          <p:nvPr/>
        </p:nvSpPr>
        <p:spPr>
          <a:xfrm>
            <a:off x="5303520" y="2862072"/>
            <a:ext cx="1865376" cy="329184"/>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₹1,226.95 Cr</a:t>
            </a:r>
          </a:p>
        </p:txBody>
      </p:sp>
      <p:sp>
        <p:nvSpPr>
          <p:cNvPr id="16" name="Rectangle 15"/>
          <p:cNvSpPr/>
          <p:nvPr/>
        </p:nvSpPr>
        <p:spPr>
          <a:xfrm>
            <a:off x="548640" y="3218688"/>
            <a:ext cx="6675120" cy="402336"/>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264408"/>
            <a:ext cx="4517136" cy="32918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ADAS kit at BP-1A's stated 72%</a:t>
            </a:r>
          </a:p>
        </p:txBody>
      </p:sp>
      <p:sp>
        <p:nvSpPr>
          <p:cNvPr id="18" name="TextBox 17"/>
          <p:cNvSpPr txBox="1"/>
          <p:nvPr/>
        </p:nvSpPr>
        <p:spPr>
          <a:xfrm>
            <a:off x="5303520" y="3264408"/>
            <a:ext cx="1865376" cy="329184"/>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₹657.83 Cr</a:t>
            </a:r>
          </a:p>
        </p:txBody>
      </p:sp>
      <p:sp>
        <p:nvSpPr>
          <p:cNvPr id="19" name="Rectangle 18"/>
          <p:cNvSpPr/>
          <p:nvPr/>
        </p:nvSpPr>
        <p:spPr>
          <a:xfrm>
            <a:off x="548640" y="3621024"/>
            <a:ext cx="667512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666744"/>
            <a:ext cx="4517136" cy="32918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Revenue left across all other lines</a:t>
            </a:r>
          </a:p>
        </p:txBody>
      </p:sp>
      <p:sp>
        <p:nvSpPr>
          <p:cNvPr id="21" name="TextBox 20"/>
          <p:cNvSpPr txBox="1"/>
          <p:nvPr/>
        </p:nvSpPr>
        <p:spPr>
          <a:xfrm>
            <a:off x="5303520" y="3666744"/>
            <a:ext cx="1865376" cy="329184"/>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₹474.30 Cr</a:t>
            </a:r>
          </a:p>
        </p:txBody>
      </p:sp>
      <p:sp>
        <p:nvSpPr>
          <p:cNvPr id="22" name="Rectangle 21"/>
          <p:cNvSpPr/>
          <p:nvPr/>
        </p:nvSpPr>
        <p:spPr>
          <a:xfrm>
            <a:off x="548640" y="4023360"/>
            <a:ext cx="6675120" cy="402336"/>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069080"/>
            <a:ext cx="4517136" cy="329184"/>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Gross profit still required from it</a:t>
            </a:r>
          </a:p>
        </p:txBody>
      </p:sp>
      <p:sp>
        <p:nvSpPr>
          <p:cNvPr id="24" name="TextBox 23"/>
          <p:cNvSpPr txBox="1"/>
          <p:nvPr/>
        </p:nvSpPr>
        <p:spPr>
          <a:xfrm>
            <a:off x="5303520" y="4069080"/>
            <a:ext cx="1865376" cy="329184"/>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₹569.12 Cr</a:t>
            </a:r>
          </a:p>
        </p:txBody>
      </p:sp>
      <p:sp>
        <p:nvSpPr>
          <p:cNvPr id="25" name="Rectangle 24"/>
          <p:cNvSpPr/>
          <p:nvPr/>
        </p:nvSpPr>
        <p:spPr>
          <a:xfrm>
            <a:off x="548640" y="4425696"/>
            <a:ext cx="6675120" cy="402336"/>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425696"/>
            <a:ext cx="50292" cy="402336"/>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471416"/>
            <a:ext cx="4517136" cy="329184"/>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Margin that implies</a:t>
            </a:r>
          </a:p>
        </p:txBody>
      </p:sp>
      <p:sp>
        <p:nvSpPr>
          <p:cNvPr id="28" name="TextBox 27"/>
          <p:cNvSpPr txBox="1"/>
          <p:nvPr/>
        </p:nvSpPr>
        <p:spPr>
          <a:xfrm>
            <a:off x="5303520" y="4471416"/>
            <a:ext cx="1865376" cy="329184"/>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120.0% — impossible</a:t>
            </a:r>
          </a:p>
        </p:txBody>
      </p:sp>
      <p:sp>
        <p:nvSpPr>
          <p:cNvPr id="29" name="Rounded Rectangle 28"/>
          <p:cNvSpPr/>
          <p:nvPr/>
        </p:nvSpPr>
        <p:spPr>
          <a:xfrm>
            <a:off x="7360920" y="1645920"/>
            <a:ext cx="4279392" cy="3977639"/>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231" y="1847088"/>
            <a:ext cx="3840480" cy="310896"/>
          </a:xfrm>
          <a:prstGeom prst="rect">
            <a:avLst/>
          </a:prstGeom>
          <a:noFill/>
        </p:spPr>
        <p:txBody>
          <a:bodyPr wrap="square" anchor="t" lIns="0" rIns="0" tIns="0" bIns="0">
            <a:noAutofit/>
          </a:bodyPr>
          <a:lstStyle/>
          <a:p>
            <a:pPr algn="l">
              <a:lnSpc>
                <a:spcPct val="105000"/>
              </a:lnSpc>
              <a:spcBef>
                <a:spcPts val="0"/>
              </a:spcBef>
            </a:pPr>
            <a:r>
              <a:rPr sz="1500" b="1" i="0">
                <a:solidFill>
                  <a:srgbClr val="00C9A7"/>
                </a:solidFill>
                <a:latin typeface="Calibri"/>
              </a:rPr>
              <a:t>What to say instead</a:t>
            </a:r>
          </a:p>
        </p:txBody>
      </p:sp>
      <p:sp>
        <p:nvSpPr>
          <p:cNvPr id="31" name="TextBox 30"/>
          <p:cNvSpPr txBox="1"/>
          <p:nvPr/>
        </p:nvSpPr>
        <p:spPr>
          <a:xfrm>
            <a:off x="7571231" y="2304288"/>
            <a:ext cx="3840480" cy="3108960"/>
          </a:xfrm>
          <a:prstGeom prst="rect">
            <a:avLst/>
          </a:prstGeom>
          <a:noFill/>
        </p:spPr>
        <p:txBody>
          <a:bodyPr wrap="square" anchor="t" lIns="0" rIns="0" tIns="0" bIns="0">
            <a:normAutofit/>
          </a:bodyPr>
          <a:lstStyle/>
          <a:p>
            <a:pPr algn="l">
              <a:lnSpc>
                <a:spcPct val="105000"/>
              </a:lnSpc>
              <a:spcBef>
                <a:spcPts val="0"/>
              </a:spcBef>
            </a:pPr>
            <a:r>
              <a:rPr sz="1150" b="0" i="0">
                <a:solidFill>
                  <a:srgbClr val="FFFFFF"/>
                </a:solidFill>
                <a:latin typeface="Calibri"/>
              </a:rPr>
              <a:t>A blend cannot exceed its best component. 88.4% requires ~89% on the truck kit — the exact figure BP-1A retracted.</a:t>
            </a:r>
          </a:p>
          <a:p>
            <a:pPr algn="l">
              <a:lnSpc>
                <a:spcPct val="105000"/>
              </a:lnSpc>
              <a:spcBef>
                <a:spcPts val="1000"/>
              </a:spcBef>
            </a:pPr>
            <a:r>
              <a:rPr sz="1150" b="0" i="0">
                <a:solidFill>
                  <a:srgbClr val="FFB800"/>
                </a:solidFill>
                <a:latin typeface="Calibri"/>
              </a:rPr>
              <a:t>Hold the kit at 72% and the honest blend is 77.2%. The gap is ₹156 Cr of gross profit.</a:t>
            </a:r>
          </a:p>
          <a:p>
            <a:pPr algn="l">
              <a:lnSpc>
                <a:spcPct val="105000"/>
              </a:lnSpc>
              <a:spcBef>
                <a:spcPts val="1000"/>
              </a:spcBef>
            </a:pPr>
            <a:r>
              <a:rPr sz="1100" b="0" i="0">
                <a:solidFill>
                  <a:srgbClr val="E0F7F1"/>
                </a:solidFill>
                <a:latin typeface="Calibri"/>
              </a:rPr>
              <a:t>So the Corrections Ledger replaced one unsupportable number with another. Both must go.</a:t>
            </a:r>
          </a:p>
          <a:p>
            <a:pPr algn="l">
              <a:lnSpc>
                <a:spcPct val="105000"/>
              </a:lnSpc>
              <a:spcBef>
                <a:spcPts val="1000"/>
              </a:spcBef>
            </a:pPr>
            <a:r>
              <a:rPr sz="1150" b="1" i="0">
                <a:solidFill>
                  <a:srgbClr val="FFFFFF"/>
                </a:solidFill>
                <a:latin typeface="Calibri"/>
              </a:rPr>
              <a:t>Approved line: “72% kit-level gross margin at ASIC phase, per our own unit economics. We do not publish a blended figure.”</a:t>
            </a:r>
          </a:p>
        </p:txBody>
      </p:sp>
      <p:sp>
        <p:nvSpPr>
          <p:cNvPr id="32" name="Rounded Rectangle 31"/>
          <p:cNvSpPr/>
          <p:nvPr/>
        </p:nvSpPr>
        <p:spPr>
          <a:xfrm>
            <a:off x="548640" y="4846320"/>
            <a:ext cx="1188720" cy="274320"/>
          </a:xfrm>
          <a:prstGeom prst="roundRect">
            <a:avLst>
              <a:gd name="adj" fmla="val 30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4887468"/>
            <a:ext cx="1188720" cy="219456"/>
          </a:xfrm>
          <a:prstGeom prst="rect">
            <a:avLst/>
          </a:prstGeom>
          <a:noFill/>
        </p:spPr>
        <p:txBody>
          <a:bodyPr wrap="square" anchor="t" lIns="0" rIns="0" tIns="0" bIns="0">
            <a:noAutofit/>
          </a:bodyPr>
          <a:lstStyle/>
          <a:p>
            <a:pPr algn="ctr">
              <a:lnSpc>
                <a:spcPct val="105000"/>
              </a:lnSpc>
              <a:spcBef>
                <a:spcPts val="0"/>
              </a:spcBef>
            </a:pPr>
            <a:r>
              <a:rPr sz="950" b="1" i="0">
                <a:solidFill>
                  <a:srgbClr val="FFFFFF"/>
                </a:solidFill>
                <a:latin typeface="Calibri"/>
              </a:rPr>
              <a:t>VERIFIED</a:t>
            </a:r>
          </a:p>
        </p:txBody>
      </p:sp>
      <p:sp>
        <p:nvSpPr>
          <p:cNvPr id="34" name="TextBox 33"/>
          <p:cNvSpPr txBox="1"/>
          <p:nvPr/>
        </p:nvSpPr>
        <p:spPr>
          <a:xfrm>
            <a:off x="1874519" y="4882896"/>
            <a:ext cx="4572000" cy="274320"/>
          </a:xfrm>
          <a:prstGeom prst="rect">
            <a:avLst/>
          </a:prstGeom>
          <a:noFill/>
        </p:spPr>
        <p:txBody>
          <a:bodyPr wrap="square" anchor="t" lIns="0" rIns="0" tIns="0" bIns="0">
            <a:noAutofit/>
          </a:bodyPr>
          <a:lstStyle/>
          <a:p>
            <a:pPr algn="l">
              <a:lnSpc>
                <a:spcPct val="105000"/>
              </a:lnSpc>
              <a:spcBef>
                <a:spcPts val="0"/>
              </a:spcBef>
            </a:pPr>
            <a:r>
              <a:rPr sz="1000" b="0" i="1">
                <a:solidFill>
                  <a:srgbClr val="5B6B7C"/>
                </a:solidFill>
                <a:latin typeface="Calibri"/>
              </a:rPr>
              <a:t>Recomputed from BP-1A §8 segment revenues</a:t>
            </a:r>
          </a:p>
        </p:txBody>
      </p:sp>
      <p:sp>
        <p:nvSpPr>
          <p:cNvPr id="35" name="TextBox 3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v2 · post-verification · 5 Aug 2026</a:t>
            </a:r>
          </a:p>
        </p:txBody>
      </p:sp>
      <p:sp>
        <p:nvSpPr>
          <p:cNvPr id="36" name="TextBox 3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advantage is ~2.3×, and it is not really a cost advantage</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cost story rebuilt on the plan's own volumes</a:t>
            </a:r>
          </a:p>
        </p:txBody>
      </p:sp>
      <p:sp>
        <p:nvSpPr>
          <p:cNvPr id="6" name="Rectangle 5"/>
          <p:cNvSpPr/>
          <p:nvPr/>
        </p:nvSpPr>
        <p:spPr>
          <a:xfrm>
            <a:off x="548640" y="1664208"/>
            <a:ext cx="6766560" cy="420624"/>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2596896" cy="347472"/>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Line</a:t>
            </a:r>
          </a:p>
        </p:txBody>
      </p:sp>
      <p:sp>
        <p:nvSpPr>
          <p:cNvPr id="8" name="TextBox 7"/>
          <p:cNvSpPr txBox="1"/>
          <p:nvPr/>
        </p:nvSpPr>
        <p:spPr>
          <a:xfrm>
            <a:off x="3383280" y="1709928"/>
            <a:ext cx="1408176" cy="34747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Value</a:t>
            </a:r>
          </a:p>
        </p:txBody>
      </p:sp>
      <p:sp>
        <p:nvSpPr>
          <p:cNvPr id="9" name="TextBox 8"/>
          <p:cNvSpPr txBox="1"/>
          <p:nvPr/>
        </p:nvSpPr>
        <p:spPr>
          <a:xfrm>
            <a:off x="4937760" y="1709928"/>
            <a:ext cx="2322576" cy="34747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Note</a:t>
            </a:r>
          </a:p>
        </p:txBody>
      </p:sp>
      <p:sp>
        <p:nvSpPr>
          <p:cNvPr id="10" name="Rectangle 9"/>
          <p:cNvSpPr/>
          <p:nvPr/>
        </p:nvSpPr>
        <p:spPr>
          <a:xfrm>
            <a:off x="548640" y="2084832"/>
            <a:ext cx="6766560" cy="42062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30552"/>
            <a:ext cx="259689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Die cost quoted</a:t>
            </a:r>
          </a:p>
        </p:txBody>
      </p:sp>
      <p:sp>
        <p:nvSpPr>
          <p:cNvPr id="12" name="TextBox 11"/>
          <p:cNvSpPr txBox="1"/>
          <p:nvPr/>
        </p:nvSpPr>
        <p:spPr>
          <a:xfrm>
            <a:off x="3383280" y="2130552"/>
            <a:ext cx="1408176" cy="34747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$3.876</a:t>
            </a:r>
          </a:p>
        </p:txBody>
      </p:sp>
      <p:sp>
        <p:nvSpPr>
          <p:cNvPr id="13" name="TextBox 12"/>
          <p:cNvSpPr txBox="1"/>
          <p:nvPr/>
        </p:nvSpPr>
        <p:spPr>
          <a:xfrm>
            <a:off x="4937760" y="2130552"/>
            <a:ext cx="232257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But that quote is at 1,000,000 units</a:t>
            </a:r>
          </a:p>
        </p:txBody>
      </p:sp>
      <p:sp>
        <p:nvSpPr>
          <p:cNvPr id="14" name="Rectangle 13"/>
          <p:cNvSpPr/>
          <p:nvPr/>
        </p:nvSpPr>
        <p:spPr>
          <a:xfrm>
            <a:off x="548640" y="2505456"/>
            <a:ext cx="67665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551176"/>
            <a:ext cx="259689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Plan's peak-year volume</a:t>
            </a:r>
          </a:p>
        </p:txBody>
      </p:sp>
      <p:sp>
        <p:nvSpPr>
          <p:cNvPr id="16" name="TextBox 15"/>
          <p:cNvSpPr txBox="1"/>
          <p:nvPr/>
        </p:nvSpPr>
        <p:spPr>
          <a:xfrm>
            <a:off x="3383280" y="2551176"/>
            <a:ext cx="1408176" cy="34747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72,000 units</a:t>
            </a:r>
          </a:p>
        </p:txBody>
      </p:sp>
      <p:sp>
        <p:nvSpPr>
          <p:cNvPr id="17" name="TextBox 16"/>
          <p:cNvSpPr txBox="1"/>
          <p:nvPr/>
        </p:nvSpPr>
        <p:spPr>
          <a:xfrm>
            <a:off x="4937760" y="2551176"/>
            <a:ext cx="232257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18,000 AD2 kits + 54,000 AD0 mirrors</a:t>
            </a:r>
          </a:p>
        </p:txBody>
      </p:sp>
      <p:sp>
        <p:nvSpPr>
          <p:cNvPr id="18" name="Rectangle 17"/>
          <p:cNvSpPr/>
          <p:nvPr/>
        </p:nvSpPr>
        <p:spPr>
          <a:xfrm>
            <a:off x="548640" y="2926080"/>
            <a:ext cx="6766560" cy="42062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971800"/>
            <a:ext cx="259689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NRE loaded over break-even volume</a:t>
            </a:r>
          </a:p>
        </p:txBody>
      </p:sp>
      <p:sp>
        <p:nvSpPr>
          <p:cNvPr id="20" name="TextBox 19"/>
          <p:cNvSpPr txBox="1"/>
          <p:nvPr/>
        </p:nvSpPr>
        <p:spPr>
          <a:xfrm>
            <a:off x="3383280" y="2971800"/>
            <a:ext cx="1408176" cy="34747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 $18/die</a:t>
            </a:r>
          </a:p>
        </p:txBody>
      </p:sp>
      <p:sp>
        <p:nvSpPr>
          <p:cNvPr id="21" name="TextBox 20"/>
          <p:cNvSpPr txBox="1"/>
          <p:nvPr/>
        </p:nvSpPr>
        <p:spPr>
          <a:xfrm>
            <a:off x="4937760" y="2971800"/>
            <a:ext cx="232257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$3.17M over ~175,000 cumulative chips</a:t>
            </a:r>
          </a:p>
        </p:txBody>
      </p:sp>
      <p:sp>
        <p:nvSpPr>
          <p:cNvPr id="22" name="Rectangle 21"/>
          <p:cNvSpPr/>
          <p:nvPr/>
        </p:nvSpPr>
        <p:spPr>
          <a:xfrm>
            <a:off x="548640" y="3346704"/>
            <a:ext cx="67665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392424"/>
            <a:ext cx="259689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Effective loaded die cost</a:t>
            </a:r>
          </a:p>
        </p:txBody>
      </p:sp>
      <p:sp>
        <p:nvSpPr>
          <p:cNvPr id="24" name="TextBox 23"/>
          <p:cNvSpPr txBox="1"/>
          <p:nvPr/>
        </p:nvSpPr>
        <p:spPr>
          <a:xfrm>
            <a:off x="3383280" y="3392424"/>
            <a:ext cx="1408176" cy="34747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 $22</a:t>
            </a:r>
          </a:p>
        </p:txBody>
      </p:sp>
      <p:sp>
        <p:nvSpPr>
          <p:cNvPr id="25" name="TextBox 24"/>
          <p:cNvSpPr txBox="1"/>
          <p:nvPr/>
        </p:nvSpPr>
        <p:spPr>
          <a:xfrm>
            <a:off x="4937760" y="3392424"/>
            <a:ext cx="232257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vs Mobileye's $50 reference</a:t>
            </a:r>
          </a:p>
        </p:txBody>
      </p:sp>
      <p:sp>
        <p:nvSpPr>
          <p:cNvPr id="26" name="Rectangle 25"/>
          <p:cNvSpPr/>
          <p:nvPr/>
        </p:nvSpPr>
        <p:spPr>
          <a:xfrm>
            <a:off x="548640" y="3767328"/>
            <a:ext cx="6766560" cy="420624"/>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3767328"/>
            <a:ext cx="50292" cy="42062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813048"/>
            <a:ext cx="2596896" cy="347472"/>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Real advantage</a:t>
            </a:r>
          </a:p>
        </p:txBody>
      </p:sp>
      <p:sp>
        <p:nvSpPr>
          <p:cNvPr id="29" name="TextBox 28"/>
          <p:cNvSpPr txBox="1"/>
          <p:nvPr/>
        </p:nvSpPr>
        <p:spPr>
          <a:xfrm>
            <a:off x="3383280" y="3813048"/>
            <a:ext cx="1408176" cy="34747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 2.3×</a:t>
            </a:r>
          </a:p>
        </p:txBody>
      </p:sp>
      <p:sp>
        <p:nvSpPr>
          <p:cNvPr id="30" name="TextBox 29"/>
          <p:cNvSpPr txBox="1"/>
          <p:nvPr/>
        </p:nvSpPr>
        <p:spPr>
          <a:xfrm>
            <a:off x="4937760" y="3813048"/>
            <a:ext cx="232257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Not the 12.9× on the current slides</a:t>
            </a:r>
          </a:p>
        </p:txBody>
      </p:sp>
      <p:sp>
        <p:nvSpPr>
          <p:cNvPr id="31" name="Rounded Rectangle 30"/>
          <p:cNvSpPr/>
          <p:nvPr/>
        </p:nvSpPr>
        <p:spPr>
          <a:xfrm>
            <a:off x="7452360" y="1664208"/>
            <a:ext cx="4187952" cy="3977639"/>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62672" y="1865376"/>
            <a:ext cx="3749039" cy="310896"/>
          </a:xfrm>
          <a:prstGeom prst="rect">
            <a:avLst/>
          </a:prstGeom>
          <a:noFill/>
        </p:spPr>
        <p:txBody>
          <a:bodyPr wrap="square" anchor="t" lIns="0" rIns="0" tIns="0" bIns="0">
            <a:noAutofit/>
          </a:bodyPr>
          <a:lstStyle/>
          <a:p>
            <a:pPr algn="l">
              <a:lnSpc>
                <a:spcPct val="105000"/>
              </a:lnSpc>
              <a:spcBef>
                <a:spcPts val="0"/>
              </a:spcBef>
            </a:pPr>
            <a:r>
              <a:rPr sz="1500" b="1" i="0">
                <a:solidFill>
                  <a:srgbClr val="00C9A7"/>
                </a:solidFill>
                <a:latin typeface="Calibri"/>
              </a:rPr>
              <a:t>The moat is stated backwards</a:t>
            </a:r>
          </a:p>
        </p:txBody>
      </p:sp>
      <p:sp>
        <p:nvSpPr>
          <p:cNvPr id="33" name="TextBox 32"/>
          <p:cNvSpPr txBox="1"/>
          <p:nvPr/>
        </p:nvSpPr>
        <p:spPr>
          <a:xfrm>
            <a:off x="7662672" y="2304288"/>
            <a:ext cx="3840480" cy="3108960"/>
          </a:xfrm>
          <a:prstGeom prst="rect">
            <a:avLst/>
          </a:prstGeom>
          <a:noFill/>
        </p:spPr>
        <p:txBody>
          <a:bodyPr wrap="square" anchor="t" lIns="0" rIns="0" tIns="0" bIns="0">
            <a:normAutofit/>
          </a:bodyPr>
          <a:lstStyle/>
          <a:p>
            <a:pPr algn="l">
              <a:lnSpc>
                <a:spcPct val="105000"/>
              </a:lnSpc>
              <a:spcBef>
                <a:spcPts val="0"/>
              </a:spcBef>
            </a:pPr>
            <a:r>
              <a:rPr sz="1150" b="0" i="0">
                <a:solidFill>
                  <a:srgbClr val="FFFFFF"/>
                </a:solidFill>
                <a:latin typeface="Calibri"/>
              </a:rPr>
              <a:t>Incumbents amortise NRE across tens of millions of units, so their marginal cost sits *below* the loaded cost here. “They cannot follow us down” is false.</a:t>
            </a:r>
          </a:p>
          <a:p>
            <a:pPr algn="l">
              <a:lnSpc>
                <a:spcPct val="105000"/>
              </a:lnSpc>
              <a:spcBef>
                <a:spcPts val="1000"/>
              </a:spcBef>
            </a:pPr>
            <a:r>
              <a:rPr sz="1150" b="0" i="0">
                <a:solidFill>
                  <a:srgbClr val="FFB800"/>
                </a:solidFill>
                <a:latin typeface="Calibri"/>
              </a:rPr>
              <a:t>What DeepGrid actually owns is cannibalisation immunity — no global ASP to defend. That is why the incumbent response is a stripped regional SKU, not a price cut.</a:t>
            </a:r>
          </a:p>
          <a:p>
            <a:pPr algn="l">
              <a:lnSpc>
                <a:spcPct val="105000"/>
              </a:lnSpc>
              <a:spcBef>
                <a:spcPts val="1000"/>
              </a:spcBef>
            </a:pPr>
            <a:r>
              <a:rPr sz="1100" b="0" i="0">
                <a:solidFill>
                  <a:srgbClr val="E0F7F1"/>
                </a:solidFill>
                <a:latin typeface="Calibri"/>
              </a:rPr>
              <a:t>Approved line: “we have no legacy ASP to protect, so we can price an India-specific product at a level a global vendor will not.” True, defensible, and it survives a cost audit.</a:t>
            </a:r>
          </a:p>
        </p:txBody>
      </p:sp>
      <p:sp>
        <p:nvSpPr>
          <p:cNvPr id="34" name="TextBox 33"/>
          <p:cNvSpPr txBox="1"/>
          <p:nvPr/>
        </p:nvSpPr>
        <p:spPr>
          <a:xfrm>
            <a:off x="548640" y="4160520"/>
            <a:ext cx="6766560" cy="457200"/>
          </a:xfrm>
          <a:prstGeom prst="rect">
            <a:avLst/>
          </a:prstGeom>
          <a:noFill/>
        </p:spPr>
        <p:txBody>
          <a:bodyPr wrap="square" anchor="t" lIns="0" rIns="0" tIns="0" bIns="0">
            <a:normAutofit/>
          </a:bodyPr>
          <a:lstStyle/>
          <a:p>
            <a:pPr algn="l">
              <a:lnSpc>
                <a:spcPct val="105000"/>
              </a:lnSpc>
              <a:spcBef>
                <a:spcPts val="0"/>
              </a:spcBef>
            </a:pPr>
            <a:r>
              <a:rPr sz="1100" b="0" i="1">
                <a:solidFill>
                  <a:srgbClr val="5B6B7C"/>
                </a:solidFill>
                <a:latin typeface="Calibri"/>
              </a:rPr>
              <a:t>The 12.9× figure compares Mobileye's selling price to DeepGrid's die cost — the same category error that got 774× retracted.</a:t>
            </a:r>
          </a:p>
        </p:txBody>
      </p:sp>
      <p:sp>
        <p:nvSpPr>
          <p:cNvPr id="35" name="TextBox 3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v2 · post-verification · 5 Aug 2026</a:t>
            </a:r>
          </a:p>
        </p:txBody>
      </p:sp>
      <p:sp>
        <p:nvSpPr>
          <p:cNvPr id="36" name="TextBox 3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377440"/>
            <a:ext cx="54864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03</a:t>
            </a:r>
          </a:p>
        </p:txBody>
      </p:sp>
      <p:sp>
        <p:nvSpPr>
          <p:cNvPr id="5" name="TextBox 4"/>
          <p:cNvSpPr txBox="1"/>
          <p:nvPr/>
        </p:nvSpPr>
        <p:spPr>
          <a:xfrm>
            <a:off x="777240" y="2788920"/>
            <a:ext cx="10058400" cy="914400"/>
          </a:xfrm>
          <a:prstGeom prst="rect">
            <a:avLst/>
          </a:prstGeom>
          <a:noFill/>
        </p:spPr>
        <p:txBody>
          <a:bodyPr wrap="square" anchor="t" lIns="0" rIns="0" tIns="0" bIns="0">
            <a:normAutofit/>
          </a:bodyPr>
          <a:lstStyle/>
          <a:p>
            <a:pPr algn="l">
              <a:lnSpc>
                <a:spcPct val="105000"/>
              </a:lnSpc>
              <a:spcBef>
                <a:spcPts val="0"/>
              </a:spcBef>
            </a:pPr>
            <a:r>
              <a:rPr sz="4200" b="1" i="0">
                <a:solidFill>
                  <a:srgbClr val="FFFFFF"/>
                </a:solidFill>
                <a:latin typeface="Calibri"/>
              </a:rPr>
              <a:t>Who to sell to</a:t>
            </a:r>
          </a:p>
        </p:txBody>
      </p:sp>
      <p:sp>
        <p:nvSpPr>
          <p:cNvPr id="6" name="Rectangle 5"/>
          <p:cNvSpPr/>
          <p:nvPr/>
        </p:nvSpPr>
        <p:spPr>
          <a:xfrm>
            <a:off x="777240" y="3794760"/>
            <a:ext cx="146304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041648"/>
            <a:ext cx="9601200" cy="548640"/>
          </a:xfrm>
          <a:prstGeom prst="rect">
            <a:avLst/>
          </a:prstGeom>
          <a:noFill/>
        </p:spPr>
        <p:txBody>
          <a:bodyPr wrap="square" anchor="t" lIns="0" rIns="0" tIns="0" bIns="0">
            <a:normAutofit/>
          </a:bodyPr>
          <a:lstStyle/>
          <a:p>
            <a:pPr algn="l">
              <a:lnSpc>
                <a:spcPct val="105000"/>
              </a:lnSpc>
              <a:spcBef>
                <a:spcPts val="0"/>
              </a:spcBef>
            </a:pPr>
            <a:r>
              <a:rPr sz="1500" b="0" i="0">
                <a:solidFill>
                  <a:srgbClr val="E0F7F1"/>
                </a:solidFill>
                <a:latin typeface="Calibri"/>
              </a:rPr>
              <a:t>Two tracks, and what each can actually prove</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DeepGrid Semi — client acquisition strategy v2 · post-verification · 5 Aug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Sell a certified function, not a chip and not a bundle</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single most useful pricing change in this deck</a:t>
            </a:r>
          </a:p>
        </p:txBody>
      </p:sp>
      <p:pic>
        <p:nvPicPr>
          <p:cNvPr id="6" name="Picture 5" descr="module-m2_2651760x1645920.png"/>
          <p:cNvPicPr>
            <a:picLocks noChangeAspect="1"/>
          </p:cNvPicPr>
          <p:nvPr/>
        </p:nvPicPr>
        <p:blipFill>
          <a:blip r:embed="rId2"/>
          <a:stretch>
            <a:fillRect/>
          </a:stretch>
        </p:blipFill>
        <p:spPr>
          <a:xfrm>
            <a:off x="548640" y="1700784"/>
            <a:ext cx="2651760" cy="1645920"/>
          </a:xfrm>
          <a:prstGeom prst="rect">
            <a:avLst/>
          </a:prstGeom>
        </p:spPr>
      </p:pic>
      <p:pic>
        <p:nvPicPr>
          <p:cNvPr id="7" name="Picture 6" descr="compute-box_2651760x1645920.png"/>
          <p:cNvPicPr>
            <a:picLocks noChangeAspect="1"/>
          </p:cNvPicPr>
          <p:nvPr/>
        </p:nvPicPr>
        <p:blipFill>
          <a:blip r:embed="rId3"/>
          <a:stretch>
            <a:fillRect/>
          </a:stretch>
        </p:blipFill>
        <p:spPr>
          <a:xfrm>
            <a:off x="3364992" y="1700784"/>
            <a:ext cx="2651760" cy="1645920"/>
          </a:xfrm>
          <a:prstGeom prst="rect">
            <a:avLst/>
          </a:prstGeom>
        </p:spPr>
      </p:pic>
      <p:pic>
        <p:nvPicPr>
          <p:cNvPr id="8" name="Picture 7" descr="detection_2651760x1645920.png"/>
          <p:cNvPicPr>
            <a:picLocks noChangeAspect="1"/>
          </p:cNvPicPr>
          <p:nvPr/>
        </p:nvPicPr>
        <p:blipFill>
          <a:blip r:embed="rId4"/>
          <a:stretch>
            <a:fillRect/>
          </a:stretch>
        </p:blipFill>
        <p:spPr>
          <a:xfrm>
            <a:off x="6272784" y="1700784"/>
            <a:ext cx="2651760" cy="1645920"/>
          </a:xfrm>
          <a:prstGeom prst="rect">
            <a:avLst/>
          </a:prstGeom>
        </p:spPr>
      </p:pic>
      <p:pic>
        <p:nvPicPr>
          <p:cNvPr id="9" name="Picture 8" descr="truck_2459736x1645920.png"/>
          <p:cNvPicPr>
            <a:picLocks noChangeAspect="1"/>
          </p:cNvPicPr>
          <p:nvPr/>
        </p:nvPicPr>
        <p:blipFill>
          <a:blip r:embed="rId5"/>
          <a:stretch>
            <a:fillRect/>
          </a:stretch>
        </p:blipFill>
        <p:spPr>
          <a:xfrm>
            <a:off x="9180576" y="1700784"/>
            <a:ext cx="2459736" cy="1645920"/>
          </a:xfrm>
          <a:prstGeom prst="rect">
            <a:avLst/>
          </a:prstGeom>
        </p:spPr>
      </p:pic>
      <p:sp>
        <p:nvSpPr>
          <p:cNvPr id="10" name="Rectangle 9"/>
          <p:cNvSpPr/>
          <p:nvPr/>
        </p:nvSpPr>
        <p:spPr>
          <a:xfrm>
            <a:off x="548640" y="3566160"/>
            <a:ext cx="11094415" cy="47548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611880"/>
            <a:ext cx="2596896" cy="402336"/>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Function</a:t>
            </a:r>
          </a:p>
        </p:txBody>
      </p:sp>
      <p:sp>
        <p:nvSpPr>
          <p:cNvPr id="12" name="TextBox 11"/>
          <p:cNvSpPr txBox="1"/>
          <p:nvPr/>
        </p:nvSpPr>
        <p:spPr>
          <a:xfrm>
            <a:off x="3383280" y="3611880"/>
            <a:ext cx="3877056" cy="40233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What it is</a:t>
            </a:r>
          </a:p>
        </p:txBody>
      </p:sp>
      <p:sp>
        <p:nvSpPr>
          <p:cNvPr id="13" name="TextBox 12"/>
          <p:cNvSpPr txBox="1"/>
          <p:nvPr/>
        </p:nvSpPr>
        <p:spPr>
          <a:xfrm>
            <a:off x="7406640" y="3611880"/>
            <a:ext cx="2962656" cy="40233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Why it prices</a:t>
            </a:r>
          </a:p>
        </p:txBody>
      </p:sp>
      <p:sp>
        <p:nvSpPr>
          <p:cNvPr id="14" name="TextBox 13"/>
          <p:cNvSpPr txBox="1"/>
          <p:nvPr/>
        </p:nvSpPr>
        <p:spPr>
          <a:xfrm>
            <a:off x="10515600" y="3611880"/>
            <a:ext cx="1069848" cy="40233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Action</a:t>
            </a:r>
          </a:p>
        </p:txBody>
      </p:sp>
      <p:sp>
        <p:nvSpPr>
          <p:cNvPr id="15" name="Rectangle 14"/>
          <p:cNvSpPr/>
          <p:nvPr/>
        </p:nvSpPr>
        <p:spPr>
          <a:xfrm>
            <a:off x="548640" y="4041648"/>
            <a:ext cx="11094415" cy="475488"/>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041648"/>
            <a:ext cx="50292" cy="47548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087368"/>
            <a:ext cx="2596896" cy="402336"/>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Certified AEBS (AIS-162)</a:t>
            </a:r>
          </a:p>
        </p:txBody>
      </p:sp>
      <p:sp>
        <p:nvSpPr>
          <p:cNvPr id="18" name="TextBox 17"/>
          <p:cNvSpPr txBox="1"/>
          <p:nvPr/>
        </p:nvSpPr>
        <p:spPr>
          <a:xfrm>
            <a:off x="3383280" y="4087368"/>
            <a:ext cx="387705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Radar + brake actuation + proving-ground homologation</a:t>
            </a:r>
          </a:p>
        </p:txBody>
      </p:sp>
      <p:sp>
        <p:nvSpPr>
          <p:cNvPr id="19" name="TextBox 18"/>
          <p:cNvSpPr txBox="1"/>
          <p:nvPr/>
        </p:nvSpPr>
        <p:spPr>
          <a:xfrm>
            <a:off x="7406640" y="4087368"/>
            <a:ext cx="296265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 ₹30k camera box cannot do this</a:t>
            </a:r>
          </a:p>
        </p:txBody>
      </p:sp>
      <p:sp>
        <p:nvSpPr>
          <p:cNvPr id="20" name="TextBox 19"/>
          <p:cNvSpPr txBox="1"/>
          <p:nvPr/>
        </p:nvSpPr>
        <p:spPr>
          <a:xfrm>
            <a:off x="10515600" y="4087368"/>
            <a:ext cx="1069848" cy="402336"/>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PRICE IT</a:t>
            </a:r>
          </a:p>
        </p:txBody>
      </p:sp>
      <p:sp>
        <p:nvSpPr>
          <p:cNvPr id="21" name="Rectangle 20"/>
          <p:cNvSpPr/>
          <p:nvPr/>
        </p:nvSpPr>
        <p:spPr>
          <a:xfrm>
            <a:off x="548640" y="4517136"/>
            <a:ext cx="11094415" cy="475488"/>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17136"/>
            <a:ext cx="50292" cy="47548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562856"/>
            <a:ext cx="2596896" cy="402336"/>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Driver monitoring (DMS)</a:t>
            </a:r>
          </a:p>
        </p:txBody>
      </p:sp>
      <p:sp>
        <p:nvSpPr>
          <p:cNvPr id="24" name="TextBox 23"/>
          <p:cNvSpPr txBox="1"/>
          <p:nvPr/>
        </p:nvSpPr>
        <p:spPr>
          <a:xfrm>
            <a:off x="3383280" y="4562856"/>
            <a:ext cx="387705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In-cabin perception, AIS-184 addressable</a:t>
            </a:r>
          </a:p>
        </p:txBody>
      </p:sp>
      <p:sp>
        <p:nvSpPr>
          <p:cNvPr id="25" name="TextBox 24"/>
          <p:cNvSpPr txBox="1"/>
          <p:nvPr/>
        </p:nvSpPr>
        <p:spPr>
          <a:xfrm>
            <a:off x="7406640" y="4562856"/>
            <a:ext cx="296265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Hard to fake; fleet-relevant</a:t>
            </a:r>
          </a:p>
        </p:txBody>
      </p:sp>
      <p:sp>
        <p:nvSpPr>
          <p:cNvPr id="26" name="TextBox 25"/>
          <p:cNvSpPr txBox="1"/>
          <p:nvPr/>
        </p:nvSpPr>
        <p:spPr>
          <a:xfrm>
            <a:off x="10515600" y="4562856"/>
            <a:ext cx="1069848" cy="402336"/>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PRICE IT</a:t>
            </a:r>
          </a:p>
        </p:txBody>
      </p:sp>
      <p:sp>
        <p:nvSpPr>
          <p:cNvPr id="27" name="Rectangle 26"/>
          <p:cNvSpPr/>
          <p:nvPr/>
        </p:nvSpPr>
        <p:spPr>
          <a:xfrm>
            <a:off x="548640" y="4992624"/>
            <a:ext cx="11094415" cy="47548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038344"/>
            <a:ext cx="259689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LDW / BSD / warnings</a:t>
            </a:r>
          </a:p>
        </p:txBody>
      </p:sp>
      <p:sp>
        <p:nvSpPr>
          <p:cNvPr id="29" name="TextBox 28"/>
          <p:cNvSpPr txBox="1"/>
          <p:nvPr/>
        </p:nvSpPr>
        <p:spPr>
          <a:xfrm>
            <a:off x="3383280" y="5038344"/>
            <a:ext cx="387705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Warning-only functions</a:t>
            </a:r>
          </a:p>
        </p:txBody>
      </p:sp>
      <p:sp>
        <p:nvSpPr>
          <p:cNvPr id="30" name="TextBox 29"/>
          <p:cNvSpPr txBox="1"/>
          <p:nvPr/>
        </p:nvSpPr>
        <p:spPr>
          <a:xfrm>
            <a:off x="7406640" y="5038344"/>
            <a:ext cx="2962656" cy="40233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Exactly what the cheap box approximates</a:t>
            </a:r>
          </a:p>
        </p:txBody>
      </p:sp>
      <p:sp>
        <p:nvSpPr>
          <p:cNvPr id="31" name="TextBox 30"/>
          <p:cNvSpPr txBox="1"/>
          <p:nvPr/>
        </p:nvSpPr>
        <p:spPr>
          <a:xfrm>
            <a:off x="10515600" y="5038344"/>
            <a:ext cx="1069848" cy="402336"/>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RIDE FREE</a:t>
            </a:r>
          </a:p>
        </p:txBody>
      </p:sp>
      <p:sp>
        <p:nvSpPr>
          <p:cNvPr id="32" name="Rounded Rectangle 31"/>
          <p:cNvSpPr/>
          <p:nvPr/>
        </p:nvSpPr>
        <p:spPr>
          <a:xfrm>
            <a:off x="548640" y="5577840"/>
            <a:ext cx="11094415" cy="685800"/>
          </a:xfrm>
          <a:prstGeom prst="roundRect">
            <a:avLst>
              <a:gd name="adj" fmla="val 4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577840"/>
            <a:ext cx="54864" cy="68580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724144"/>
            <a:ext cx="10637215" cy="457200"/>
          </a:xfrm>
          <a:prstGeom prst="rect">
            <a:avLst/>
          </a:prstGeom>
          <a:noFill/>
        </p:spPr>
        <p:txBody>
          <a:bodyPr wrap="square" anchor="t" lIns="0" rIns="0" tIns="0" bIns="0">
            <a:normAutofit/>
          </a:bodyPr>
          <a:lstStyle/>
          <a:p>
            <a:pPr algn="l">
              <a:lnSpc>
                <a:spcPct val="105000"/>
              </a:lnSpc>
              <a:spcBef>
                <a:spcPts val="0"/>
              </a:spcBef>
            </a:pPr>
            <a:r>
              <a:rPr sz="1200" b="0" i="0">
                <a:solidFill>
                  <a:srgbClr val="1B2B3C"/>
                </a:solidFill>
                <a:latin typeface="Calibri"/>
              </a:rPr>
              <a:t>Quote certified AEBS and DMS by function and let the warnings ride free. Sell the bundle and the buyer compares your ₹2.3L to a ₹30,000 box on the box's terms — a comparison you lose on their ground.</a:t>
            </a:r>
          </a:p>
        </p:txBody>
      </p:sp>
      <p:sp>
        <p:nvSpPr>
          <p:cNvPr id="35" name="TextBox 3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v2 · post-verification · 5 Aug 2026</a:t>
            </a:r>
          </a:p>
        </p:txBody>
      </p:sp>
      <p:sp>
        <p:nvSpPr>
          <p:cNvPr id="36" name="TextBox 3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Two segments to work now; the rest wait on things you do not hold</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Prioritised by what each buyer requires you to already have</a:t>
            </a:r>
          </a:p>
        </p:txBody>
      </p:sp>
      <p:sp>
        <p:nvSpPr>
          <p:cNvPr id="6" name="Rectangle 5"/>
          <p:cNvSpPr/>
          <p:nvPr/>
        </p:nvSpPr>
        <p:spPr>
          <a:xfrm>
            <a:off x="548640" y="1664208"/>
            <a:ext cx="11094415" cy="512064"/>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2505456" cy="438912"/>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Segment</a:t>
            </a:r>
          </a:p>
        </p:txBody>
      </p:sp>
      <p:sp>
        <p:nvSpPr>
          <p:cNvPr id="8" name="TextBox 7"/>
          <p:cNvSpPr txBox="1"/>
          <p:nvPr/>
        </p:nvSpPr>
        <p:spPr>
          <a:xfrm>
            <a:off x="3291840" y="1709928"/>
            <a:ext cx="3419856" cy="43891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Why it is addressable</a:t>
            </a:r>
          </a:p>
        </p:txBody>
      </p:sp>
      <p:sp>
        <p:nvSpPr>
          <p:cNvPr id="9" name="TextBox 8"/>
          <p:cNvSpPr txBox="1"/>
          <p:nvPr/>
        </p:nvSpPr>
        <p:spPr>
          <a:xfrm>
            <a:off x="6858000" y="1709928"/>
            <a:ext cx="3145536" cy="43891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What it requires you to hold</a:t>
            </a:r>
          </a:p>
        </p:txBody>
      </p:sp>
      <p:sp>
        <p:nvSpPr>
          <p:cNvPr id="10" name="TextBox 9"/>
          <p:cNvSpPr txBox="1"/>
          <p:nvPr/>
        </p:nvSpPr>
        <p:spPr>
          <a:xfrm>
            <a:off x="10149840" y="1709928"/>
            <a:ext cx="1435608" cy="43891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Priority</a:t>
            </a:r>
          </a:p>
        </p:txBody>
      </p:sp>
      <p:sp>
        <p:nvSpPr>
          <p:cNvPr id="11" name="Rectangle 10"/>
          <p:cNvSpPr/>
          <p:nvPr/>
        </p:nvSpPr>
        <p:spPr>
          <a:xfrm>
            <a:off x="548640" y="2176272"/>
            <a:ext cx="11094415" cy="512064"/>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50292" cy="5120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21992"/>
            <a:ext cx="2505456" cy="438912"/>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Government / PSU / defence</a:t>
            </a:r>
          </a:p>
        </p:txBody>
      </p:sp>
      <p:sp>
        <p:nvSpPr>
          <p:cNvPr id="14" name="TextBox 13"/>
          <p:cNvSpPr txBox="1"/>
          <p:nvPr/>
        </p:nvSpPr>
        <p:spPr>
          <a:xfrm>
            <a:off x="3291840" y="2221992"/>
            <a:ext cx="341985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Foreign silicon excluded; GeM access proven</a:t>
            </a:r>
          </a:p>
        </p:txBody>
      </p:sp>
      <p:sp>
        <p:nvSpPr>
          <p:cNvPr id="15" name="TextBox 14"/>
          <p:cNvSpPr txBox="1"/>
          <p:nvPr/>
        </p:nvSpPr>
        <p:spPr>
          <a:xfrm>
            <a:off x="6858000" y="2221992"/>
            <a:ext cx="314553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Eligibility, not certification</a:t>
            </a:r>
          </a:p>
        </p:txBody>
      </p:sp>
      <p:sp>
        <p:nvSpPr>
          <p:cNvPr id="16" name="TextBox 15"/>
          <p:cNvSpPr txBox="1"/>
          <p:nvPr/>
        </p:nvSpPr>
        <p:spPr>
          <a:xfrm>
            <a:off x="10149840" y="2221992"/>
            <a:ext cx="1435608" cy="43891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NOW</a:t>
            </a:r>
          </a:p>
        </p:txBody>
      </p:sp>
      <p:sp>
        <p:nvSpPr>
          <p:cNvPr id="17" name="Rectangle 16"/>
          <p:cNvSpPr/>
          <p:nvPr/>
        </p:nvSpPr>
        <p:spPr>
          <a:xfrm>
            <a:off x="548640" y="2688336"/>
            <a:ext cx="11094415" cy="512064"/>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2688336"/>
            <a:ext cx="50292" cy="5120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734056"/>
            <a:ext cx="2505456" cy="438912"/>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Plant and yard operators</a:t>
            </a:r>
          </a:p>
        </p:txBody>
      </p:sp>
      <p:sp>
        <p:nvSpPr>
          <p:cNvPr id="20" name="TextBox 19"/>
          <p:cNvSpPr txBox="1"/>
          <p:nvPr/>
        </p:nvSpPr>
        <p:spPr>
          <a:xfrm>
            <a:off x="3291840" y="2734056"/>
            <a:ext cx="341985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Private land — no homologation gate at all</a:t>
            </a:r>
          </a:p>
        </p:txBody>
      </p:sp>
      <p:sp>
        <p:nvSpPr>
          <p:cNvPr id="21" name="TextBox 20"/>
          <p:cNvSpPr txBox="1"/>
          <p:nvPr/>
        </p:nvSpPr>
        <p:spPr>
          <a:xfrm>
            <a:off x="6858000" y="2734056"/>
            <a:ext cx="314553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 working demo and a site reference</a:t>
            </a:r>
          </a:p>
        </p:txBody>
      </p:sp>
      <p:sp>
        <p:nvSpPr>
          <p:cNvPr id="22" name="TextBox 21"/>
          <p:cNvSpPr txBox="1"/>
          <p:nvPr/>
        </p:nvSpPr>
        <p:spPr>
          <a:xfrm>
            <a:off x="10149840" y="2734056"/>
            <a:ext cx="1435608" cy="43891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NOW</a:t>
            </a:r>
          </a:p>
        </p:txBody>
      </p:sp>
      <p:sp>
        <p:nvSpPr>
          <p:cNvPr id="23" name="Rectangle 22"/>
          <p:cNvSpPr/>
          <p:nvPr/>
        </p:nvSpPr>
        <p:spPr>
          <a:xfrm>
            <a:off x="548640" y="3200400"/>
            <a:ext cx="11094415" cy="51206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246120"/>
            <a:ext cx="250545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Large organised fleets (50+)</a:t>
            </a:r>
          </a:p>
        </p:txBody>
      </p:sp>
      <p:sp>
        <p:nvSpPr>
          <p:cNvPr id="25" name="TextBox 24"/>
          <p:cNvSpPr txBox="1"/>
          <p:nvPr/>
        </p:nvSpPr>
        <p:spPr>
          <a:xfrm>
            <a:off x="3291840" y="3246120"/>
            <a:ext cx="341985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Real safety P&amp;L and a single decision-maker</a:t>
            </a:r>
          </a:p>
        </p:txBody>
      </p:sp>
      <p:sp>
        <p:nvSpPr>
          <p:cNvPr id="26" name="TextBox 25"/>
          <p:cNvSpPr txBox="1"/>
          <p:nvPr/>
        </p:nvSpPr>
        <p:spPr>
          <a:xfrm>
            <a:off x="6858000" y="3246120"/>
            <a:ext cx="314553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Certified AEBS — not held until 2027</a:t>
            </a:r>
          </a:p>
        </p:txBody>
      </p:sp>
      <p:sp>
        <p:nvSpPr>
          <p:cNvPr id="27" name="TextBox 26"/>
          <p:cNvSpPr txBox="1"/>
          <p:nvPr/>
        </p:nvSpPr>
        <p:spPr>
          <a:xfrm>
            <a:off x="10149840" y="3246120"/>
            <a:ext cx="1435608" cy="43891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VALIDATE</a:t>
            </a:r>
          </a:p>
        </p:txBody>
      </p:sp>
      <p:sp>
        <p:nvSpPr>
          <p:cNvPr id="28" name="Rectangle 27"/>
          <p:cNvSpPr/>
          <p:nvPr/>
        </p:nvSpPr>
        <p:spPr>
          <a:xfrm>
            <a:off x="548640" y="3712464"/>
            <a:ext cx="11094415"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758184"/>
            <a:ext cx="250545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OEM / Tier-1 line-fit</a:t>
            </a:r>
          </a:p>
        </p:txBody>
      </p:sp>
      <p:sp>
        <p:nvSpPr>
          <p:cNvPr id="30" name="TextBox 29"/>
          <p:cNvSpPr txBox="1"/>
          <p:nvPr/>
        </p:nvSpPr>
        <p:spPr>
          <a:xfrm>
            <a:off x="3291840" y="3758184"/>
            <a:ext cx="341985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One relationship covers thousands of vehicles</a:t>
            </a:r>
          </a:p>
        </p:txBody>
      </p:sp>
      <p:sp>
        <p:nvSpPr>
          <p:cNvPr id="31" name="TextBox 30"/>
          <p:cNvSpPr txBox="1"/>
          <p:nvPr/>
        </p:nvSpPr>
        <p:spPr>
          <a:xfrm>
            <a:off x="6858000" y="3758184"/>
            <a:ext cx="314553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Homologation + a relationship you do not have</a:t>
            </a:r>
          </a:p>
        </p:txBody>
      </p:sp>
      <p:sp>
        <p:nvSpPr>
          <p:cNvPr id="32" name="TextBox 31"/>
          <p:cNvSpPr txBox="1"/>
          <p:nvPr/>
        </p:nvSpPr>
        <p:spPr>
          <a:xfrm>
            <a:off x="10149840" y="3758184"/>
            <a:ext cx="1435608" cy="43891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START, CLOSES LATE</a:t>
            </a:r>
          </a:p>
        </p:txBody>
      </p:sp>
      <p:sp>
        <p:nvSpPr>
          <p:cNvPr id="33" name="Rectangle 32"/>
          <p:cNvSpPr/>
          <p:nvPr/>
        </p:nvSpPr>
        <p:spPr>
          <a:xfrm>
            <a:off x="548640" y="4224528"/>
            <a:ext cx="11094415" cy="51206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270248"/>
            <a:ext cx="250545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3PL / freight aggregators</a:t>
            </a:r>
          </a:p>
        </p:txBody>
      </p:sp>
      <p:sp>
        <p:nvSpPr>
          <p:cNvPr id="35" name="TextBox 34"/>
          <p:cNvSpPr txBox="1"/>
          <p:nvPr/>
        </p:nvSpPr>
        <p:spPr>
          <a:xfrm>
            <a:off x="3291840" y="4270248"/>
            <a:ext cx="341985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Aggregate small operators into one contract</a:t>
            </a:r>
          </a:p>
        </p:txBody>
      </p:sp>
      <p:sp>
        <p:nvSpPr>
          <p:cNvPr id="36" name="TextBox 35"/>
          <p:cNvSpPr txBox="1"/>
          <p:nvPr/>
        </p:nvSpPr>
        <p:spPr>
          <a:xfrm>
            <a:off x="6858000" y="4270248"/>
            <a:ext cx="314553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Price leverage you cannot yet absorb</a:t>
            </a:r>
          </a:p>
        </p:txBody>
      </p:sp>
      <p:sp>
        <p:nvSpPr>
          <p:cNvPr id="37" name="TextBox 36"/>
          <p:cNvSpPr txBox="1"/>
          <p:nvPr/>
        </p:nvSpPr>
        <p:spPr>
          <a:xfrm>
            <a:off x="10149840" y="4270248"/>
            <a:ext cx="1435608" cy="43891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LATER</a:t>
            </a:r>
          </a:p>
        </p:txBody>
      </p:sp>
      <p:sp>
        <p:nvSpPr>
          <p:cNvPr id="38" name="Rectangle 37"/>
          <p:cNvSpPr/>
          <p:nvPr/>
        </p:nvSpPr>
        <p:spPr>
          <a:xfrm>
            <a:off x="548640" y="4736592"/>
            <a:ext cx="11094415"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4782312"/>
            <a:ext cx="250545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Sub-five-truck operators</a:t>
            </a:r>
          </a:p>
        </p:txBody>
      </p:sp>
      <p:sp>
        <p:nvSpPr>
          <p:cNvPr id="40" name="TextBox 39"/>
          <p:cNvSpPr txBox="1"/>
          <p:nvPr/>
        </p:nvSpPr>
        <p:spPr>
          <a:xfrm>
            <a:off x="3291840" y="4782312"/>
            <a:ext cx="341985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~3.5M operators, no purchasing process</a:t>
            </a:r>
          </a:p>
        </p:txBody>
      </p:sp>
      <p:sp>
        <p:nvSpPr>
          <p:cNvPr id="41" name="TextBox 40"/>
          <p:cNvSpPr txBox="1"/>
          <p:nvPr/>
        </p:nvSpPr>
        <p:spPr>
          <a:xfrm>
            <a:off x="6858000" y="4782312"/>
            <a:ext cx="314553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 cheaper SKU that does not exist</a:t>
            </a:r>
          </a:p>
        </p:txBody>
      </p:sp>
      <p:sp>
        <p:nvSpPr>
          <p:cNvPr id="42" name="TextBox 41"/>
          <p:cNvSpPr txBox="1"/>
          <p:nvPr/>
        </p:nvSpPr>
        <p:spPr>
          <a:xfrm>
            <a:off x="10149840" y="4782312"/>
            <a:ext cx="1435608" cy="43891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NOT ADDRESSABLE</a:t>
            </a:r>
          </a:p>
        </p:txBody>
      </p:sp>
      <p:sp>
        <p:nvSpPr>
          <p:cNvPr id="43" name="Rounded Rectangle 42"/>
          <p:cNvSpPr/>
          <p:nvPr/>
        </p:nvSpPr>
        <p:spPr>
          <a:xfrm>
            <a:off x="548640" y="5358384"/>
            <a:ext cx="11094415" cy="77724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522976"/>
            <a:ext cx="10637215" cy="457200"/>
          </a:xfrm>
          <a:prstGeom prst="rect">
            <a:avLst/>
          </a:prstGeom>
          <a:noFill/>
        </p:spPr>
        <p:txBody>
          <a:bodyPr wrap="square" anchor="t" lIns="0" rIns="0" tIns="0" bIns="0">
            <a:normAutofit/>
          </a:bodyPr>
          <a:lstStyle/>
          <a:p>
            <a:pPr algn="l">
              <a:lnSpc>
                <a:spcPct val="105000"/>
              </a:lnSpc>
              <a:spcBef>
                <a:spcPts val="0"/>
              </a:spcBef>
            </a:pPr>
            <a:r>
              <a:rPr sz="1250" b="1" i="0">
                <a:solidFill>
                  <a:srgbClr val="FFFFFF"/>
                </a:solidFill>
                <a:latin typeface="Calibri"/>
              </a:rPr>
              <a:t>The two highlighted rows are the only segments needing nothing you do not already have. Everything else is gated on certification, an OEM relationship, or a product that has not been specified.</a:t>
            </a:r>
          </a:p>
        </p:txBody>
      </p:sp>
      <p:sp>
        <p:nvSpPr>
          <p:cNvPr id="45" name="TextBox 4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v2 · post-verification · 5 Aug 2026</a:t>
            </a:r>
          </a:p>
        </p:txBody>
      </p:sp>
      <p:sp>
        <p:nvSpPr>
          <p:cNvPr id="46" name="TextBox 4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Track A — real eligibility, but no programme identified yet</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Primary track · the gap is pipeline, not proposition</a:t>
            </a:r>
          </a:p>
        </p:txBody>
      </p:sp>
      <p:sp>
        <p:nvSpPr>
          <p:cNvPr id="6" name="Rounded Rectangle 5"/>
          <p:cNvSpPr/>
          <p:nvPr/>
        </p:nvSpPr>
        <p:spPr>
          <a:xfrm>
            <a:off x="548640" y="1664208"/>
            <a:ext cx="6766560" cy="114300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92224"/>
            <a:ext cx="3657600" cy="256032"/>
          </a:xfrm>
          <a:prstGeom prst="rect">
            <a:avLst/>
          </a:prstGeom>
          <a:noFill/>
        </p:spPr>
        <p:txBody>
          <a:bodyPr wrap="square" anchor="t" lIns="0" rIns="0" tIns="0" bIns="0">
            <a:noAutofit/>
          </a:bodyPr>
          <a:lstStyle/>
          <a:p>
            <a:pPr algn="l">
              <a:lnSpc>
                <a:spcPct val="105000"/>
              </a:lnSpc>
              <a:spcBef>
                <a:spcPts val="0"/>
              </a:spcBef>
            </a:pPr>
            <a:r>
              <a:rPr sz="1050" b="1" i="0">
                <a:solidFill>
                  <a:srgbClr val="00C9A7"/>
                </a:solidFill>
                <a:latin typeface="Calibri"/>
              </a:rPr>
              <a:t>POSITIONING STATEMENT</a:t>
            </a:r>
          </a:p>
        </p:txBody>
      </p:sp>
      <p:sp>
        <p:nvSpPr>
          <p:cNvPr id="8" name="TextBox 7"/>
          <p:cNvSpPr txBox="1"/>
          <p:nvPr/>
        </p:nvSpPr>
        <p:spPr>
          <a:xfrm>
            <a:off x="777240" y="2066543"/>
            <a:ext cx="6309360" cy="640080"/>
          </a:xfrm>
          <a:prstGeom prst="rect">
            <a:avLst/>
          </a:prstGeom>
          <a:noFill/>
        </p:spPr>
        <p:txBody>
          <a:bodyPr wrap="square" anchor="t" lIns="0" rIns="0" tIns="0" bIns="0">
            <a:normAutofit/>
          </a:bodyPr>
          <a:lstStyle/>
          <a:p>
            <a:pPr algn="l">
              <a:lnSpc>
                <a:spcPct val="105000"/>
              </a:lnSpc>
              <a:spcBef>
                <a:spcPts val="0"/>
              </a:spcBef>
            </a:pPr>
            <a:r>
              <a:rPr sz="1250" b="0" i="1">
                <a:solidFill>
                  <a:srgbClr val="FFFFFF"/>
                </a:solidFill>
                <a:latin typeface="Calibri"/>
              </a:rPr>
              <a:t>“For sovereign UGV, border-surveillance and port-AGV programmes where data cannot leave Indian soil, DGrid Alpha is an Indian-designed combo-die whose on-die HSM makes data exfiltration physically impossible — running today on FPGA.”</a:t>
            </a:r>
          </a:p>
        </p:txBody>
      </p:sp>
      <p:pic>
        <p:nvPicPr>
          <p:cNvPr id="9" name="Picture 8" descr="robots_4187952x1143000.png"/>
          <p:cNvPicPr>
            <a:picLocks noChangeAspect="1"/>
          </p:cNvPicPr>
          <p:nvPr/>
        </p:nvPicPr>
        <p:blipFill>
          <a:blip r:embed="rId2"/>
          <a:stretch>
            <a:fillRect/>
          </a:stretch>
        </p:blipFill>
        <p:spPr>
          <a:xfrm>
            <a:off x="7452360" y="1664208"/>
            <a:ext cx="4187952" cy="1143000"/>
          </a:xfrm>
          <a:prstGeom prst="rect">
            <a:avLst/>
          </a:prstGeom>
        </p:spPr>
      </p:pic>
      <p:sp>
        <p:nvSpPr>
          <p:cNvPr id="10" name="Rounded Rectangle 9"/>
          <p:cNvSpPr/>
          <p:nvPr/>
        </p:nvSpPr>
        <p:spPr>
          <a:xfrm>
            <a:off x="548640" y="3017520"/>
            <a:ext cx="3564026" cy="233172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017520"/>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200400"/>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What is genuinely strong</a:t>
            </a:r>
          </a:p>
        </p:txBody>
      </p:sp>
      <p:sp>
        <p:nvSpPr>
          <p:cNvPr id="13" name="TextBox 12"/>
          <p:cNvSpPr txBox="1"/>
          <p:nvPr/>
        </p:nvSpPr>
        <p:spPr>
          <a:xfrm>
            <a:off x="713232" y="3657600"/>
            <a:ext cx="3234842" cy="154533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Procurement eligibility is real and demonstrated on GeM. On-die HSM is a physical property, not a policy promise. Private-land and defence deployments need no AIS certification, so the 2027 clock does not gate this track.</a:t>
            </a:r>
          </a:p>
        </p:txBody>
      </p:sp>
      <p:sp>
        <p:nvSpPr>
          <p:cNvPr id="14" name="Rounded Rectangle 13"/>
          <p:cNvSpPr/>
          <p:nvPr/>
        </p:nvSpPr>
        <p:spPr>
          <a:xfrm>
            <a:off x="4313834" y="3017520"/>
            <a:ext cx="3564026" cy="233172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3834" y="3017520"/>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8426" y="3200400"/>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What is missing — and it is the binding constraint</a:t>
            </a:r>
          </a:p>
        </p:txBody>
      </p:sp>
      <p:sp>
        <p:nvSpPr>
          <p:cNvPr id="17" name="TextBox 16"/>
          <p:cNvSpPr txBox="1"/>
          <p:nvPr/>
        </p:nvSpPr>
        <p:spPr>
          <a:xfrm>
            <a:off x="4478426" y="3657600"/>
            <a:ext cx="3234842" cy="154533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No defence champion is identified in any document, and no systems-integrator partner exists for ports. Real UGV procurement runs QR → RFI → RFP → seasonal field trials → CNC, which is multi-year, not multi-quarter.</a:t>
            </a:r>
          </a:p>
        </p:txBody>
      </p:sp>
      <p:sp>
        <p:nvSpPr>
          <p:cNvPr id="18" name="Rounded Rectangle 17"/>
          <p:cNvSpPr/>
          <p:nvPr/>
        </p:nvSpPr>
        <p:spPr>
          <a:xfrm>
            <a:off x="8079028" y="3017520"/>
            <a:ext cx="3564026" cy="233172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9028" y="3017520"/>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3620" y="3200400"/>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Revised kill criterion</a:t>
            </a:r>
          </a:p>
        </p:txBody>
      </p:sp>
      <p:sp>
        <p:nvSpPr>
          <p:cNvPr id="21" name="TextBox 20"/>
          <p:cNvSpPr txBox="1"/>
          <p:nvPr/>
        </p:nvSpPr>
        <p:spPr>
          <a:xfrm>
            <a:off x="8243620" y="3657600"/>
            <a:ext cx="3234842" cy="154533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The original — a second signed contract by Month 6 — is not reachable through a genuine defence cycle. Replace with: a **named programme and a named SI partner** identified by Month 3, or Track A is a services business, not a silicon one.</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v2 · post-verification · 5 Aug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Track B — the deadline pitch does not work until 2027</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Secondary track · re-scope it as certification-led, not deadline-led</a:t>
            </a:r>
          </a:p>
        </p:txBody>
      </p:sp>
      <p:sp>
        <p:nvSpPr>
          <p:cNvPr id="6" name="Rounded Rectangle 5"/>
          <p:cNvSpPr/>
          <p:nvPr/>
        </p:nvSpPr>
        <p:spPr>
          <a:xfrm>
            <a:off x="548640" y="1664208"/>
            <a:ext cx="6766560" cy="1143000"/>
          </a:xfrm>
          <a:prstGeom prst="roundRect">
            <a:avLst>
              <a:gd name="adj" fmla="val 4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92224"/>
            <a:ext cx="5029200" cy="256032"/>
          </a:xfrm>
          <a:prstGeom prst="rect">
            <a:avLst/>
          </a:prstGeom>
          <a:noFill/>
        </p:spPr>
        <p:txBody>
          <a:bodyPr wrap="square" anchor="t" lIns="0" rIns="0" tIns="0" bIns="0">
            <a:noAutofit/>
          </a:bodyPr>
          <a:lstStyle/>
          <a:p>
            <a:pPr algn="l">
              <a:lnSpc>
                <a:spcPct val="105000"/>
              </a:lnSpc>
              <a:spcBef>
                <a:spcPts val="0"/>
              </a:spcBef>
            </a:pPr>
            <a:r>
              <a:rPr sz="1050" b="1" i="0">
                <a:solidFill>
                  <a:srgbClr val="FFB800"/>
                </a:solidFill>
                <a:latin typeface="Calibri"/>
              </a:rPr>
              <a:t>POSITIONING STATEMENT · PENDING CERTIFICATION</a:t>
            </a:r>
          </a:p>
        </p:txBody>
      </p:sp>
      <p:sp>
        <p:nvSpPr>
          <p:cNvPr id="8" name="TextBox 7"/>
          <p:cNvSpPr txBox="1"/>
          <p:nvPr/>
        </p:nvSpPr>
        <p:spPr>
          <a:xfrm>
            <a:off x="777240" y="2066543"/>
            <a:ext cx="6309360" cy="640080"/>
          </a:xfrm>
          <a:prstGeom prst="rect">
            <a:avLst/>
          </a:prstGeom>
          <a:noFill/>
        </p:spPr>
        <p:txBody>
          <a:bodyPr wrap="square" anchor="t" lIns="0" rIns="0" tIns="0" bIns="0">
            <a:normAutofit/>
          </a:bodyPr>
          <a:lstStyle/>
          <a:p>
            <a:pPr algn="l">
              <a:lnSpc>
                <a:spcPct val="105000"/>
              </a:lnSpc>
              <a:spcBef>
                <a:spcPts val="0"/>
              </a:spcBef>
            </a:pPr>
            <a:r>
              <a:rPr sz="1250" b="0" i="1">
                <a:solidFill>
                  <a:srgbClr val="FFFFFF"/>
                </a:solidFill>
                <a:latin typeface="Calibri"/>
              </a:rPr>
              <a:t>“For N2/N3 fleet operators preparing for the 1 Oct 2027 AEBS requirement, DeepGrid is building an India-certified AEBS + DMS system at a fraction of imported cost — seeking design partners for 2026 pilots.”</a:t>
            </a:r>
          </a:p>
        </p:txBody>
      </p:sp>
      <p:pic>
        <p:nvPicPr>
          <p:cNvPr id="9" name="Picture 8" descr="radar-viz_4187952x1143000.png"/>
          <p:cNvPicPr>
            <a:picLocks noChangeAspect="1"/>
          </p:cNvPicPr>
          <p:nvPr/>
        </p:nvPicPr>
        <p:blipFill>
          <a:blip r:embed="rId2"/>
          <a:stretch>
            <a:fillRect/>
          </a:stretch>
        </p:blipFill>
        <p:spPr>
          <a:xfrm>
            <a:off x="7452360" y="1664208"/>
            <a:ext cx="4187952" cy="1143000"/>
          </a:xfrm>
          <a:prstGeom prst="rect">
            <a:avLst/>
          </a:prstGeom>
        </p:spPr>
      </p:pic>
      <p:sp>
        <p:nvSpPr>
          <p:cNvPr id="10" name="Rounded Rectangle 9"/>
          <p:cNvSpPr/>
          <p:nvPr/>
        </p:nvSpPr>
        <p:spPr>
          <a:xfrm>
            <a:off x="548640" y="3017520"/>
            <a:ext cx="3564026" cy="233172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017520"/>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200400"/>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Why the old statement fails now</a:t>
            </a:r>
          </a:p>
        </p:txBody>
      </p:sp>
      <p:sp>
        <p:nvSpPr>
          <p:cNvPr id="13" name="TextBox 12"/>
          <p:cNvSpPr txBox="1"/>
          <p:nvPr/>
        </p:nvSpPr>
        <p:spPr>
          <a:xfrm>
            <a:off x="713232" y="3657600"/>
            <a:ext cx="3234842" cy="154533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It sold urgency against a 2026 deadline that does not exist, and “roughly 1/3 the imported price” invites the ₹30,000 comparison. Neither survives contact with a buyer who has read the actual rule.</a:t>
            </a:r>
          </a:p>
        </p:txBody>
      </p:sp>
      <p:sp>
        <p:nvSpPr>
          <p:cNvPr id="14" name="Rounded Rectangle 13"/>
          <p:cNvSpPr/>
          <p:nvPr/>
        </p:nvSpPr>
        <p:spPr>
          <a:xfrm>
            <a:off x="4313834" y="3017520"/>
            <a:ext cx="3564026" cy="233172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3834" y="3017520"/>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8426" y="3200400"/>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What replaces it</a:t>
            </a:r>
          </a:p>
        </p:txBody>
      </p:sp>
      <p:sp>
        <p:nvSpPr>
          <p:cNvPr id="17" name="TextBox 16"/>
          <p:cNvSpPr txBox="1"/>
          <p:nvPr/>
        </p:nvSpPr>
        <p:spPr>
          <a:xfrm>
            <a:off x="4478426" y="3657600"/>
            <a:ext cx="3234842" cy="154533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Design-partner framing, not vendor framing. You are not selling compliance in 2026 — you are recruiting fleets who want influence over a product that must be certified for them by 2027.</a:t>
            </a:r>
          </a:p>
        </p:txBody>
      </p:sp>
      <p:sp>
        <p:nvSpPr>
          <p:cNvPr id="18" name="Rounded Rectangle 17"/>
          <p:cNvSpPr/>
          <p:nvPr/>
        </p:nvSpPr>
        <p:spPr>
          <a:xfrm>
            <a:off x="8079028" y="3017520"/>
            <a:ext cx="3564026" cy="2331720"/>
          </a:xfrm>
          <a:prstGeom prst="roundRect">
            <a:avLst>
              <a:gd name="adj" fmla="val 6000"/>
            </a:avLst>
          </a:prstGeom>
          <a:solidFill>
            <a:srgbClr val="FFFFFF"/>
          </a:solidFill>
          <a:ln w="12700">
            <a:solidFill>
              <a:srgbClr val="D9DFE5"/>
            </a:solid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9028" y="3017520"/>
            <a:ext cx="3564026"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3620" y="3200400"/>
            <a:ext cx="3234842" cy="420624"/>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Revised kill criterion</a:t>
            </a:r>
          </a:p>
        </p:txBody>
      </p:sp>
      <p:sp>
        <p:nvSpPr>
          <p:cNvPr id="21" name="TextBox 20"/>
          <p:cNvSpPr txBox="1"/>
          <p:nvPr/>
        </p:nvSpPr>
        <p:spPr>
          <a:xfrm>
            <a:off x="8243620" y="3657600"/>
            <a:ext cx="3234842" cy="1545336"/>
          </a:xfrm>
          <a:prstGeom prst="rect">
            <a:avLst/>
          </a:prstGeom>
          <a:noFill/>
        </p:spPr>
        <p:txBody>
          <a:bodyPr wrap="square" anchor="t" lIns="0" rIns="0" tIns="0" bIns="0">
            <a:normAutofit/>
          </a:bodyPr>
          <a:lstStyle/>
          <a:p>
            <a:pPr algn="l">
              <a:lnSpc>
                <a:spcPct val="105000"/>
              </a:lnSpc>
              <a:spcBef>
                <a:spcPts val="0"/>
              </a:spcBef>
            </a:pPr>
            <a:r>
              <a:rPr sz="1150" b="0" i="0">
                <a:solidFill>
                  <a:srgbClr val="5B6B7C"/>
                </a:solidFill>
                <a:latin typeface="Calibri"/>
              </a:rPr>
              <a:t>Not “one paid pilot in 90 days” — a pilot at ₹1.27L FPGA COGS is contribution-negative anyway. Instead: **two design partners who commit fleet access and a measurement baseline** by Month 4.</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v2 · post-verification · 5 Aug 2026</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377440"/>
            <a:ext cx="54864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04</a:t>
            </a:r>
          </a:p>
        </p:txBody>
      </p:sp>
      <p:sp>
        <p:nvSpPr>
          <p:cNvPr id="5" name="TextBox 4"/>
          <p:cNvSpPr txBox="1"/>
          <p:nvPr/>
        </p:nvSpPr>
        <p:spPr>
          <a:xfrm>
            <a:off x="777240" y="2788920"/>
            <a:ext cx="10058400" cy="914400"/>
          </a:xfrm>
          <a:prstGeom prst="rect">
            <a:avLst/>
          </a:prstGeom>
          <a:noFill/>
        </p:spPr>
        <p:txBody>
          <a:bodyPr wrap="square" anchor="t" lIns="0" rIns="0" tIns="0" bIns="0">
            <a:normAutofit/>
          </a:bodyPr>
          <a:lstStyle/>
          <a:p>
            <a:pPr algn="l">
              <a:lnSpc>
                <a:spcPct val="105000"/>
              </a:lnSpc>
              <a:spcBef>
                <a:spcPts val="0"/>
              </a:spcBef>
            </a:pPr>
            <a:r>
              <a:rPr sz="4200" b="1" i="0">
                <a:solidFill>
                  <a:srgbClr val="FFFFFF"/>
                </a:solidFill>
                <a:latin typeface="Calibri"/>
              </a:rPr>
              <a:t>Competition and channel</a:t>
            </a:r>
          </a:p>
        </p:txBody>
      </p:sp>
      <p:sp>
        <p:nvSpPr>
          <p:cNvPr id="6" name="Rectangle 5"/>
          <p:cNvSpPr/>
          <p:nvPr/>
        </p:nvSpPr>
        <p:spPr>
          <a:xfrm>
            <a:off x="777240" y="3794760"/>
            <a:ext cx="146304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041648"/>
            <a:ext cx="9601200" cy="548640"/>
          </a:xfrm>
          <a:prstGeom prst="rect">
            <a:avLst/>
          </a:prstGeom>
          <a:noFill/>
        </p:spPr>
        <p:txBody>
          <a:bodyPr wrap="square" anchor="t" lIns="0" rIns="0" tIns="0" bIns="0">
            <a:normAutofit/>
          </a:bodyPr>
          <a:lstStyle/>
          <a:p>
            <a:pPr algn="l">
              <a:lnSpc>
                <a:spcPct val="105000"/>
              </a:lnSpc>
              <a:spcBef>
                <a:spcPts val="0"/>
              </a:spcBef>
            </a:pPr>
            <a:r>
              <a:rPr sz="1500" b="0" i="0">
                <a:solidFill>
                  <a:srgbClr val="E0F7F1"/>
                </a:solidFill>
                <a:latin typeface="Calibri"/>
              </a:rPr>
              <a:t>Who else is moving, and what the channel costs</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DeepGrid Semi — client acquisition strategy v2 · post-verification · 5 Aug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nearest Indian peer is ahead of where your deck places them</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Corrected — and the caveat matters as much as the correction</a:t>
            </a:r>
          </a:p>
        </p:txBody>
      </p:sp>
      <p:sp>
        <p:nvSpPr>
          <p:cNvPr id="6" name="Rectangle 5"/>
          <p:cNvSpPr/>
          <p:nvPr/>
        </p:nvSpPr>
        <p:spPr>
          <a:xfrm>
            <a:off x="548640" y="1664208"/>
            <a:ext cx="11094415" cy="56692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1408176" cy="493776"/>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Dimension</a:t>
            </a:r>
          </a:p>
        </p:txBody>
      </p:sp>
      <p:sp>
        <p:nvSpPr>
          <p:cNvPr id="8" name="TextBox 7"/>
          <p:cNvSpPr txBox="1"/>
          <p:nvPr/>
        </p:nvSpPr>
        <p:spPr>
          <a:xfrm>
            <a:off x="2194560" y="1709928"/>
            <a:ext cx="3054096" cy="49377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What the deck says</a:t>
            </a:r>
          </a:p>
        </p:txBody>
      </p:sp>
      <p:sp>
        <p:nvSpPr>
          <p:cNvPr id="9" name="TextBox 8"/>
          <p:cNvSpPr txBox="1"/>
          <p:nvPr/>
        </p:nvSpPr>
        <p:spPr>
          <a:xfrm>
            <a:off x="5394960" y="1709928"/>
            <a:ext cx="4059936" cy="49377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What is verified</a:t>
            </a:r>
          </a:p>
        </p:txBody>
      </p:sp>
      <p:sp>
        <p:nvSpPr>
          <p:cNvPr id="10" name="TextBox 9"/>
          <p:cNvSpPr txBox="1"/>
          <p:nvPr/>
        </p:nvSpPr>
        <p:spPr>
          <a:xfrm>
            <a:off x="9601200" y="1709928"/>
            <a:ext cx="1984248" cy="493776"/>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Read</a:t>
            </a:r>
          </a:p>
        </p:txBody>
      </p:sp>
      <p:sp>
        <p:nvSpPr>
          <p:cNvPr id="11" name="Rectangle 10"/>
          <p:cNvSpPr/>
          <p:nvPr/>
        </p:nvSpPr>
        <p:spPr>
          <a:xfrm>
            <a:off x="548640" y="2231136"/>
            <a:ext cx="11094415" cy="56692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276856"/>
            <a:ext cx="140817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Capital</a:t>
            </a:r>
          </a:p>
        </p:txBody>
      </p:sp>
      <p:sp>
        <p:nvSpPr>
          <p:cNvPr id="13" name="TextBox 12"/>
          <p:cNvSpPr txBox="1"/>
          <p:nvPr/>
        </p:nvSpPr>
        <p:spPr>
          <a:xfrm>
            <a:off x="2194560" y="2276856"/>
            <a:ext cx="305409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July deck: ₹125 Cr</a:t>
            </a:r>
          </a:p>
        </p:txBody>
      </p:sp>
      <p:sp>
        <p:nvSpPr>
          <p:cNvPr id="14" name="TextBox 13"/>
          <p:cNvSpPr txBox="1"/>
          <p:nvPr/>
        </p:nvSpPr>
        <p:spPr>
          <a:xfrm>
            <a:off x="5394960" y="2276856"/>
            <a:ext cx="405993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Verified: ₹107 Cr Series A, Jul 2025, Zoho-led</a:t>
            </a:r>
          </a:p>
        </p:txBody>
      </p:sp>
      <p:sp>
        <p:nvSpPr>
          <p:cNvPr id="15" name="TextBox 14"/>
          <p:cNvSpPr txBox="1"/>
          <p:nvPr/>
        </p:nvSpPr>
        <p:spPr>
          <a:xfrm>
            <a:off x="9601200" y="2276856"/>
            <a:ext cx="1984248"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Deck overstates</a:t>
            </a:r>
          </a:p>
        </p:txBody>
      </p:sp>
      <p:sp>
        <p:nvSpPr>
          <p:cNvPr id="16" name="Rectangle 15"/>
          <p:cNvSpPr/>
          <p:nvPr/>
        </p:nvSpPr>
        <p:spPr>
          <a:xfrm>
            <a:off x="548640" y="2798064"/>
            <a:ext cx="11094415" cy="566928"/>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798064"/>
            <a:ext cx="50292" cy="56692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843784"/>
            <a:ext cx="1408176" cy="493776"/>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Timing</a:t>
            </a:r>
          </a:p>
        </p:txBody>
      </p:sp>
      <p:sp>
        <p:nvSpPr>
          <p:cNvPr id="19" name="TextBox 18"/>
          <p:cNvSpPr txBox="1"/>
          <p:nvPr/>
        </p:nvSpPr>
        <p:spPr>
          <a:xfrm>
            <a:off x="2194560" y="2843784"/>
            <a:ext cx="305409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July deck: “ships mid-2027, a year behind us”</a:t>
            </a:r>
          </a:p>
        </p:txBody>
      </p:sp>
      <p:sp>
        <p:nvSpPr>
          <p:cNvPr id="20" name="TextBox 19"/>
          <p:cNvSpPr txBox="1"/>
          <p:nvPr/>
        </p:nvSpPr>
        <p:spPr>
          <a:xfrm>
            <a:off x="5394960" y="2843784"/>
            <a:ext cx="405993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Verified: production-ready declared May 2026, 3 OEM trials live</a:t>
            </a:r>
          </a:p>
        </p:txBody>
      </p:sp>
      <p:sp>
        <p:nvSpPr>
          <p:cNvPr id="21" name="TextBox 20"/>
          <p:cNvSpPr txBox="1"/>
          <p:nvPr/>
        </p:nvSpPr>
        <p:spPr>
          <a:xfrm>
            <a:off x="9601200" y="2843784"/>
            <a:ext cx="1984248"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~12 months wrong, wrong direction</a:t>
            </a:r>
          </a:p>
        </p:txBody>
      </p:sp>
      <p:sp>
        <p:nvSpPr>
          <p:cNvPr id="22" name="Rectangle 21"/>
          <p:cNvSpPr/>
          <p:nvPr/>
        </p:nvSpPr>
        <p:spPr>
          <a:xfrm>
            <a:off x="548640" y="3364992"/>
            <a:ext cx="11094415" cy="56692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410712"/>
            <a:ext cx="140817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Maturity</a:t>
            </a:r>
          </a:p>
        </p:txBody>
      </p:sp>
      <p:sp>
        <p:nvSpPr>
          <p:cNvPr id="24" name="TextBox 23"/>
          <p:cNvSpPr txBox="1"/>
          <p:nvPr/>
        </p:nvSpPr>
        <p:spPr>
          <a:xfrm>
            <a:off x="2194560" y="3410712"/>
            <a:ext cx="305409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Not assessed</a:t>
            </a:r>
          </a:p>
        </p:txBody>
      </p:sp>
      <p:sp>
        <p:nvSpPr>
          <p:cNvPr id="25" name="TextBox 24"/>
          <p:cNvSpPr txBox="1"/>
          <p:nvPr/>
        </p:nvSpPr>
        <p:spPr>
          <a:xfrm>
            <a:off x="5394960" y="3410712"/>
            <a:ext cx="405993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EE Times: EVK / engineering samples, pre-revenue, full mask mid-2027</a:t>
            </a:r>
          </a:p>
        </p:txBody>
      </p:sp>
      <p:sp>
        <p:nvSpPr>
          <p:cNvPr id="26" name="TextBox 25"/>
          <p:cNvSpPr txBox="1"/>
          <p:nvPr/>
        </p:nvSpPr>
        <p:spPr>
          <a:xfrm>
            <a:off x="9601200" y="3410712"/>
            <a:ext cx="1984248"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Less advanced than the headline</a:t>
            </a:r>
          </a:p>
        </p:txBody>
      </p:sp>
      <p:sp>
        <p:nvSpPr>
          <p:cNvPr id="27" name="Rectangle 26"/>
          <p:cNvSpPr/>
          <p:nvPr/>
        </p:nvSpPr>
        <p:spPr>
          <a:xfrm>
            <a:off x="548640" y="3931920"/>
            <a:ext cx="11094415"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977640"/>
            <a:ext cx="140817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Product fit</a:t>
            </a:r>
          </a:p>
        </p:txBody>
      </p:sp>
      <p:sp>
        <p:nvSpPr>
          <p:cNvPr id="29" name="TextBox 28"/>
          <p:cNvSpPr txBox="1"/>
          <p:nvPr/>
        </p:nvSpPr>
        <p:spPr>
          <a:xfrm>
            <a:off x="2194560" y="3977640"/>
            <a:ext cx="305409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Mapped as an ADAS peer</a:t>
            </a:r>
          </a:p>
        </p:txBody>
      </p:sp>
      <p:sp>
        <p:nvSpPr>
          <p:cNvPr id="30" name="TextBox 29"/>
          <p:cNvSpPr txBox="1"/>
          <p:nvPr/>
        </p:nvSpPr>
        <p:spPr>
          <a:xfrm>
            <a:off x="5394960" y="3977640"/>
            <a:ext cx="4059936"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A2000 is a 12 TOPS edge-AI SoC on 12nm for video analytics</a:t>
            </a:r>
          </a:p>
        </p:txBody>
      </p:sp>
      <p:sp>
        <p:nvSpPr>
          <p:cNvPr id="31" name="TextBox 30"/>
          <p:cNvSpPr txBox="1"/>
          <p:nvPr/>
        </p:nvSpPr>
        <p:spPr>
          <a:xfrm>
            <a:off x="9601200" y="3977640"/>
            <a:ext cx="1984248" cy="493776"/>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Adjacent, not equivalent</a:t>
            </a:r>
          </a:p>
        </p:txBody>
      </p:sp>
      <p:sp>
        <p:nvSpPr>
          <p:cNvPr id="32" name="Rounded Rectangle 31"/>
          <p:cNvSpPr/>
          <p:nvPr/>
        </p:nvSpPr>
        <p:spPr>
          <a:xfrm>
            <a:off x="548640" y="4608576"/>
            <a:ext cx="5852160" cy="1463040"/>
          </a:xfrm>
          <a:prstGeom prst="roundRect">
            <a:avLst>
              <a:gd name="adj" fmla="val 4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4608576"/>
            <a:ext cx="54864" cy="1463040"/>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764024"/>
            <a:ext cx="5394960" cy="274320"/>
          </a:xfrm>
          <a:prstGeom prst="rect">
            <a:avLst/>
          </a:prstGeom>
          <a:noFill/>
        </p:spPr>
        <p:txBody>
          <a:bodyPr wrap="square" anchor="t" lIns="0" rIns="0" tIns="0" bIns="0">
            <a:noAutofit/>
          </a:bodyPr>
          <a:lstStyle/>
          <a:p>
            <a:pPr algn="l">
              <a:lnSpc>
                <a:spcPct val="105000"/>
              </a:lnSpc>
              <a:spcBef>
                <a:spcPts val="0"/>
              </a:spcBef>
            </a:pPr>
            <a:r>
              <a:rPr sz="1300" b="1" i="0">
                <a:solidFill>
                  <a:srgbClr val="0A1628"/>
                </a:solidFill>
                <a:latin typeface="Calibri"/>
              </a:rPr>
              <a:t>What it actually threatens</a:t>
            </a:r>
          </a:p>
        </p:txBody>
      </p:sp>
      <p:sp>
        <p:nvSpPr>
          <p:cNvPr id="35" name="TextBox 34"/>
          <p:cNvSpPr txBox="1"/>
          <p:nvPr/>
        </p:nvSpPr>
        <p:spPr>
          <a:xfrm>
            <a:off x="777240" y="5074920"/>
            <a:ext cx="5394960" cy="868680"/>
          </a:xfrm>
          <a:prstGeom prst="rect">
            <a:avLst/>
          </a:prstGeom>
          <a:noFill/>
        </p:spPr>
        <p:txBody>
          <a:bodyPr wrap="square" anchor="t" lIns="0" rIns="0" tIns="0" bIns="0">
            <a:normAutofit/>
          </a:bodyPr>
          <a:lstStyle/>
          <a:p>
            <a:pPr algn="l">
              <a:lnSpc>
                <a:spcPct val="105000"/>
              </a:lnSpc>
              <a:spcBef>
                <a:spcPts val="0"/>
              </a:spcBef>
            </a:pPr>
            <a:r>
              <a:rPr sz="1200" b="0" i="0">
                <a:solidFill>
                  <a:srgbClr val="1B2B3C"/>
                </a:solidFill>
                <a:latin typeface="Calibri"/>
              </a:rPr>
              <a:t>Not a price war — a design-in race lost on timing, in exactly the months 12–18 certification window. With 4–7× more free capital, they can fund qualification cycles DeepGrid would have to choose between.</a:t>
            </a:r>
          </a:p>
        </p:txBody>
      </p:sp>
      <p:sp>
        <p:nvSpPr>
          <p:cNvPr id="36" name="Rounded Rectangle 35"/>
          <p:cNvSpPr/>
          <p:nvPr/>
        </p:nvSpPr>
        <p:spPr>
          <a:xfrm>
            <a:off x="6629400" y="4608576"/>
            <a:ext cx="5010912" cy="146304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39712" y="4764024"/>
            <a:ext cx="4572000" cy="274320"/>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What it does not threaten</a:t>
            </a:r>
          </a:p>
        </p:txBody>
      </p:sp>
      <p:sp>
        <p:nvSpPr>
          <p:cNvPr id="38" name="TextBox 37"/>
          <p:cNvSpPr txBox="1"/>
          <p:nvPr/>
        </p:nvSpPr>
        <p:spPr>
          <a:xfrm>
            <a:off x="6839712" y="5074920"/>
            <a:ext cx="4572000" cy="868680"/>
          </a:xfrm>
          <a:prstGeom prst="rect">
            <a:avLst/>
          </a:prstGeom>
          <a:noFill/>
        </p:spPr>
        <p:txBody>
          <a:bodyPr wrap="square" anchor="t" lIns="0" rIns="0" tIns="0" bIns="0">
            <a:normAutofit/>
          </a:bodyPr>
          <a:lstStyle/>
          <a:p>
            <a:pPr algn="l">
              <a:lnSpc>
                <a:spcPct val="105000"/>
              </a:lnSpc>
              <a:spcBef>
                <a:spcPts val="0"/>
              </a:spcBef>
            </a:pPr>
            <a:r>
              <a:rPr sz="1200" b="0" i="0">
                <a:solidFill>
                  <a:srgbClr val="E0F7F1"/>
                </a:solidFill>
                <a:latin typeface="Calibri"/>
              </a:rPr>
              <a:t>The A2000 has no AIS certification, no AEC-Q100, and no ISO 26262 claim. It is a video-analytics SoC with automotive as one target sector. In a sovereign-data or certified-AEBS conversation it is not a substitute.</a:t>
            </a:r>
          </a:p>
        </p:txBody>
      </p:sp>
      <p:sp>
        <p:nvSpPr>
          <p:cNvPr id="39" name="TextBox 3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v2 · post-verification · 5 Aug 2026</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channel is unaffordable before the tapeout</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Dealer and insurer economics, modelled on the plan's own numbers</a:t>
            </a:r>
          </a:p>
        </p:txBody>
      </p:sp>
      <p:sp>
        <p:nvSpPr>
          <p:cNvPr id="6" name="Rectangle 5"/>
          <p:cNvSpPr/>
          <p:nvPr/>
        </p:nvSpPr>
        <p:spPr>
          <a:xfrm>
            <a:off x="548640" y="1664208"/>
            <a:ext cx="11094415" cy="4572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3054096" cy="384048"/>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Line</a:t>
            </a:r>
          </a:p>
        </p:txBody>
      </p:sp>
      <p:sp>
        <p:nvSpPr>
          <p:cNvPr id="8" name="TextBox 7"/>
          <p:cNvSpPr txBox="1"/>
          <p:nvPr/>
        </p:nvSpPr>
        <p:spPr>
          <a:xfrm>
            <a:off x="3840480" y="1709928"/>
            <a:ext cx="2962656" cy="384048"/>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Value</a:t>
            </a:r>
          </a:p>
        </p:txBody>
      </p:sp>
      <p:sp>
        <p:nvSpPr>
          <p:cNvPr id="9" name="TextBox 8"/>
          <p:cNvSpPr txBox="1"/>
          <p:nvPr/>
        </p:nvSpPr>
        <p:spPr>
          <a:xfrm>
            <a:off x="6949440" y="1709928"/>
            <a:ext cx="4636008" cy="384048"/>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Consequence</a:t>
            </a:r>
          </a:p>
        </p:txBody>
      </p:sp>
      <p:sp>
        <p:nvSpPr>
          <p:cNvPr id="10" name="Rectangle 9"/>
          <p:cNvSpPr/>
          <p:nvPr/>
        </p:nvSpPr>
        <p:spPr>
          <a:xfrm>
            <a:off x="548640" y="2121408"/>
            <a:ext cx="11094415" cy="4572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67128"/>
            <a:ext cx="305409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Dealer margin, ASIC phase</a:t>
            </a:r>
          </a:p>
        </p:txBody>
      </p:sp>
      <p:sp>
        <p:nvSpPr>
          <p:cNvPr id="12" name="TextBox 11"/>
          <p:cNvSpPr txBox="1"/>
          <p:nvPr/>
        </p:nvSpPr>
        <p:spPr>
          <a:xfrm>
            <a:off x="3840480" y="2167128"/>
            <a:ext cx="296265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20% cut leaves ~52% GM</a:t>
            </a:r>
          </a:p>
        </p:txBody>
      </p:sp>
      <p:sp>
        <p:nvSpPr>
          <p:cNvPr id="13" name="TextBox 12"/>
          <p:cNvSpPr txBox="1"/>
          <p:nvPr/>
        </p:nvSpPr>
        <p:spPr>
          <a:xfrm>
            <a:off x="6949440" y="2167128"/>
            <a:ext cx="4636008"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Workable</a:t>
            </a:r>
          </a:p>
        </p:txBody>
      </p:sp>
      <p:sp>
        <p:nvSpPr>
          <p:cNvPr id="14" name="Rectangle 13"/>
          <p:cNvSpPr/>
          <p:nvPr/>
        </p:nvSpPr>
        <p:spPr>
          <a:xfrm>
            <a:off x="548640" y="2578608"/>
            <a:ext cx="11094415" cy="457200"/>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578608"/>
            <a:ext cx="50292" cy="45720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624328"/>
            <a:ext cx="3054096" cy="384048"/>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Dealer margin, FPGA phase</a:t>
            </a:r>
          </a:p>
        </p:txBody>
      </p:sp>
      <p:sp>
        <p:nvSpPr>
          <p:cNvPr id="17" name="TextBox 16"/>
          <p:cNvSpPr txBox="1"/>
          <p:nvPr/>
        </p:nvSpPr>
        <p:spPr>
          <a:xfrm>
            <a:off x="3840480" y="2624328"/>
            <a:ext cx="296265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20% cut collapses GM 45% → 25%</a:t>
            </a:r>
          </a:p>
        </p:txBody>
      </p:sp>
      <p:sp>
        <p:nvSpPr>
          <p:cNvPr id="18" name="TextBox 17"/>
          <p:cNvSpPr txBox="1"/>
          <p:nvPr/>
        </p:nvSpPr>
        <p:spPr>
          <a:xfrm>
            <a:off x="6949440" y="2624328"/>
            <a:ext cx="4636008"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Opex-covering volume rises 400–600 → ~690–1,030 kits</a:t>
            </a:r>
          </a:p>
        </p:txBody>
      </p:sp>
      <p:sp>
        <p:nvSpPr>
          <p:cNvPr id="19" name="Rectangle 18"/>
          <p:cNvSpPr/>
          <p:nvPr/>
        </p:nvSpPr>
        <p:spPr>
          <a:xfrm>
            <a:off x="548640" y="3035808"/>
            <a:ext cx="11094415" cy="4572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081528"/>
            <a:ext cx="305409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FY27 plan volume</a:t>
            </a:r>
          </a:p>
        </p:txBody>
      </p:sp>
      <p:sp>
        <p:nvSpPr>
          <p:cNvPr id="21" name="TextBox 20"/>
          <p:cNvSpPr txBox="1"/>
          <p:nvPr/>
        </p:nvSpPr>
        <p:spPr>
          <a:xfrm>
            <a:off x="3840480" y="3081528"/>
            <a:ext cx="296265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130 kits</a:t>
            </a:r>
          </a:p>
        </p:txBody>
      </p:sp>
      <p:sp>
        <p:nvSpPr>
          <p:cNvPr id="22" name="TextBox 21"/>
          <p:cNvSpPr txBox="1"/>
          <p:nvPr/>
        </p:nvSpPr>
        <p:spPr>
          <a:xfrm>
            <a:off x="6949440" y="3081528"/>
            <a:ext cx="4636008"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Roughly 5–8× short of that break-even</a:t>
            </a:r>
          </a:p>
        </p:txBody>
      </p:sp>
      <p:sp>
        <p:nvSpPr>
          <p:cNvPr id="23" name="Rectangle 22"/>
          <p:cNvSpPr/>
          <p:nvPr/>
        </p:nvSpPr>
        <p:spPr>
          <a:xfrm>
            <a:off x="548640" y="3493008"/>
            <a:ext cx="11094415"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538728"/>
            <a:ext cx="305409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Dealer working capital</a:t>
            </a:r>
          </a:p>
        </p:txBody>
      </p:sp>
      <p:sp>
        <p:nvSpPr>
          <p:cNvPr id="25" name="TextBox 24"/>
          <p:cNvSpPr txBox="1"/>
          <p:nvPr/>
        </p:nvSpPr>
        <p:spPr>
          <a:xfrm>
            <a:off x="3840480" y="3538728"/>
            <a:ext cx="296265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~₹37,000 carry on ten kits</a:t>
            </a:r>
          </a:p>
        </p:txBody>
      </p:sp>
      <p:sp>
        <p:nvSpPr>
          <p:cNvPr id="26" name="TextBox 25"/>
          <p:cNvSpPr txBox="1"/>
          <p:nvPr/>
        </p:nvSpPr>
        <p:spPr>
          <a:xfrm>
            <a:off x="6949440" y="3538728"/>
            <a:ext cx="4636008"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≈80% of one unit's margin — unaddressed</a:t>
            </a:r>
          </a:p>
        </p:txBody>
      </p:sp>
      <p:sp>
        <p:nvSpPr>
          <p:cNvPr id="27" name="Rectangle 26"/>
          <p:cNvSpPr/>
          <p:nvPr/>
        </p:nvSpPr>
        <p:spPr>
          <a:xfrm>
            <a:off x="548640" y="3950208"/>
            <a:ext cx="11094415" cy="457200"/>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950208"/>
            <a:ext cx="50292" cy="45720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995928"/>
            <a:ext cx="3054096" cy="384048"/>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Insurer subsidy that actually works</a:t>
            </a:r>
          </a:p>
        </p:txBody>
      </p:sp>
      <p:sp>
        <p:nvSpPr>
          <p:cNvPr id="30" name="TextBox 29"/>
          <p:cNvSpPr txBox="1"/>
          <p:nvPr/>
        </p:nvSpPr>
        <p:spPr>
          <a:xfrm>
            <a:off x="3840480" y="3995928"/>
            <a:ext cx="2962656"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20–30%, not 50%</a:t>
            </a:r>
          </a:p>
        </p:txBody>
      </p:sp>
      <p:sp>
        <p:nvSpPr>
          <p:cNvPr id="31" name="TextBox 30"/>
          <p:cNvSpPr txBox="1"/>
          <p:nvPr/>
        </p:nvSpPr>
        <p:spPr>
          <a:xfrm>
            <a:off x="6949440" y="3995928"/>
            <a:ext cx="4636008" cy="384048"/>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₹40,000–70,000 → kit at ₹1.6–1.9L</a:t>
            </a:r>
          </a:p>
        </p:txBody>
      </p:sp>
      <p:sp>
        <p:nvSpPr>
          <p:cNvPr id="32" name="Rounded Rectangle 31"/>
          <p:cNvSpPr/>
          <p:nvPr/>
        </p:nvSpPr>
        <p:spPr>
          <a:xfrm>
            <a:off x="548640" y="4517136"/>
            <a:ext cx="5852160" cy="1554480"/>
          </a:xfrm>
          <a:prstGeom prst="roundRect">
            <a:avLst>
              <a:gd name="adj" fmla="val 4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4517136"/>
            <a:ext cx="54864" cy="155448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681728"/>
            <a:ext cx="5394960" cy="274320"/>
          </a:xfrm>
          <a:prstGeom prst="rect">
            <a:avLst/>
          </a:prstGeom>
          <a:noFill/>
        </p:spPr>
        <p:txBody>
          <a:bodyPr wrap="square" anchor="t" lIns="0" rIns="0" tIns="0" bIns="0">
            <a:noAutofit/>
          </a:bodyPr>
          <a:lstStyle/>
          <a:p>
            <a:pPr algn="l">
              <a:lnSpc>
                <a:spcPct val="105000"/>
              </a:lnSpc>
              <a:spcBef>
                <a:spcPts val="0"/>
              </a:spcBef>
            </a:pPr>
            <a:r>
              <a:rPr sz="1300" b="1" i="0">
                <a:solidFill>
                  <a:srgbClr val="0A1628"/>
                </a:solidFill>
                <a:latin typeface="Calibri"/>
              </a:rPr>
              <a:t>Do not recruit dealers yet</a:t>
            </a:r>
          </a:p>
        </p:txBody>
      </p:sp>
      <p:sp>
        <p:nvSpPr>
          <p:cNvPr id="35" name="TextBox 34"/>
          <p:cNvSpPr txBox="1"/>
          <p:nvPr/>
        </p:nvSpPr>
        <p:spPr>
          <a:xfrm>
            <a:off x="777240" y="4992624"/>
            <a:ext cx="5394960" cy="960120"/>
          </a:xfrm>
          <a:prstGeom prst="rect">
            <a:avLst/>
          </a:prstGeom>
          <a:noFill/>
        </p:spPr>
        <p:txBody>
          <a:bodyPr wrap="square" anchor="t" lIns="0" rIns="0" tIns="0" bIns="0">
            <a:normAutofit/>
          </a:bodyPr>
          <a:lstStyle/>
          <a:p>
            <a:pPr algn="l">
              <a:lnSpc>
                <a:spcPct val="105000"/>
              </a:lnSpc>
              <a:spcBef>
                <a:spcPts val="0"/>
              </a:spcBef>
            </a:pPr>
            <a:r>
              <a:rPr sz="1200" b="0" i="0">
                <a:solidFill>
                  <a:srgbClr val="1B2B3C"/>
                </a:solidFill>
                <a:latin typeface="Calibri"/>
              </a:rPr>
              <a:t>At FPGA-phase economics a 20% dealer cut makes the unit uneconomic, and the plan's FY27 volume is far below the volume that cut would require. Sell direct through 2026–27 and build the channel when ASIC economics arrive.</a:t>
            </a:r>
          </a:p>
        </p:txBody>
      </p:sp>
      <p:sp>
        <p:nvSpPr>
          <p:cNvPr id="36" name="Rounded Rectangle 35"/>
          <p:cNvSpPr/>
          <p:nvPr/>
        </p:nvSpPr>
        <p:spPr>
          <a:xfrm>
            <a:off x="6629400" y="4517136"/>
            <a:ext cx="5010912" cy="155448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39712" y="4681728"/>
            <a:ext cx="4572000" cy="274320"/>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The insurer contradiction to resolve</a:t>
            </a:r>
          </a:p>
        </p:txBody>
      </p:sp>
      <p:sp>
        <p:nvSpPr>
          <p:cNvPr id="38" name="TextBox 37"/>
          <p:cNvSpPr txBox="1"/>
          <p:nvPr/>
        </p:nvSpPr>
        <p:spPr>
          <a:xfrm>
            <a:off x="6839712" y="4992624"/>
            <a:ext cx="4572000" cy="960120"/>
          </a:xfrm>
          <a:prstGeom prst="rect">
            <a:avLst/>
          </a:prstGeom>
          <a:noFill/>
        </p:spPr>
        <p:txBody>
          <a:bodyPr wrap="square" anchor="t" lIns="0" rIns="0" tIns="0" bIns="0">
            <a:normAutofit/>
          </a:bodyPr>
          <a:lstStyle/>
          <a:p>
            <a:pPr algn="l">
              <a:lnSpc>
                <a:spcPct val="105000"/>
              </a:lnSpc>
              <a:spcBef>
                <a:spcPts val="0"/>
              </a:spcBef>
            </a:pPr>
            <a:r>
              <a:rPr sz="1200" b="0" i="0">
                <a:solidFill>
                  <a:srgbClr val="E0F7F1"/>
                </a:solidFill>
                <a:latin typeface="Calibri"/>
              </a:rPr>
              <a:t>BP-1A makes insurer co-funding a primary engine; the July deck bans insurer selling outright. Both cannot stand. And at a workable 20–30% the subsidy is a margin instrument — it does not bridge to the ₹30,000 anchor as BP-1A assumes.</a:t>
            </a:r>
          </a:p>
        </p:txBody>
      </p:sp>
      <p:sp>
        <p:nvSpPr>
          <p:cNvPr id="39" name="TextBox 3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v2 · post-verification · 5 Aug 2026</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377440"/>
            <a:ext cx="5486400" cy="36576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SECTION 05</a:t>
            </a:r>
          </a:p>
        </p:txBody>
      </p:sp>
      <p:sp>
        <p:nvSpPr>
          <p:cNvPr id="5" name="TextBox 4"/>
          <p:cNvSpPr txBox="1"/>
          <p:nvPr/>
        </p:nvSpPr>
        <p:spPr>
          <a:xfrm>
            <a:off x="777240" y="2788920"/>
            <a:ext cx="10058400" cy="914400"/>
          </a:xfrm>
          <a:prstGeom prst="rect">
            <a:avLst/>
          </a:prstGeom>
          <a:noFill/>
        </p:spPr>
        <p:txBody>
          <a:bodyPr wrap="square" anchor="t" lIns="0" rIns="0" tIns="0" bIns="0">
            <a:normAutofit/>
          </a:bodyPr>
          <a:lstStyle/>
          <a:p>
            <a:pPr algn="l">
              <a:lnSpc>
                <a:spcPct val="105000"/>
              </a:lnSpc>
              <a:spcBef>
                <a:spcPts val="0"/>
              </a:spcBef>
            </a:pPr>
            <a:r>
              <a:rPr sz="4200" b="1" i="0">
                <a:solidFill>
                  <a:srgbClr val="FFFFFF"/>
                </a:solidFill>
                <a:latin typeface="Calibri"/>
              </a:rPr>
              <a:t>The next 90 days</a:t>
            </a:r>
          </a:p>
        </p:txBody>
      </p:sp>
      <p:sp>
        <p:nvSpPr>
          <p:cNvPr id="6" name="Rectangle 5"/>
          <p:cNvSpPr/>
          <p:nvPr/>
        </p:nvSpPr>
        <p:spPr>
          <a:xfrm>
            <a:off x="777240" y="3794760"/>
            <a:ext cx="146304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041648"/>
            <a:ext cx="9601200" cy="548640"/>
          </a:xfrm>
          <a:prstGeom prst="rect">
            <a:avLst/>
          </a:prstGeom>
          <a:noFill/>
        </p:spPr>
        <p:txBody>
          <a:bodyPr wrap="square" anchor="t" lIns="0" rIns="0" tIns="0" bIns="0">
            <a:normAutofit/>
          </a:bodyPr>
          <a:lstStyle/>
          <a:p>
            <a:pPr algn="l">
              <a:lnSpc>
                <a:spcPct val="105000"/>
              </a:lnSpc>
              <a:spcBef>
                <a:spcPts val="0"/>
              </a:spcBef>
            </a:pPr>
            <a:r>
              <a:rPr sz="1500" b="0" i="0">
                <a:solidFill>
                  <a:srgbClr val="E0F7F1"/>
                </a:solidFill>
                <a:latin typeface="Calibri"/>
              </a:rPr>
              <a:t>Sequenced against a 2027 wall, not a 2026 one</a:t>
            </a:r>
          </a:p>
        </p:txBody>
      </p:sp>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DeepGrid Semi — client acquisition strategy v2 · post-verification · 5 Aug 2026</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next 90 days</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Claim remediation first — it gates everything else</a:t>
            </a:r>
          </a:p>
        </p:txBody>
      </p:sp>
      <p:sp>
        <p:nvSpPr>
          <p:cNvPr id="6" name="Rectangle 5"/>
          <p:cNvSpPr/>
          <p:nvPr/>
        </p:nvSpPr>
        <p:spPr>
          <a:xfrm>
            <a:off x="548640" y="1664208"/>
            <a:ext cx="11094415" cy="420624"/>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356616" cy="347472"/>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a:t>
            </a:r>
          </a:p>
        </p:txBody>
      </p:sp>
      <p:sp>
        <p:nvSpPr>
          <p:cNvPr id="8" name="TextBox 7"/>
          <p:cNvSpPr txBox="1"/>
          <p:nvPr/>
        </p:nvSpPr>
        <p:spPr>
          <a:xfrm>
            <a:off x="1143000" y="1709928"/>
            <a:ext cx="5340096" cy="34747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Action</a:t>
            </a:r>
          </a:p>
        </p:txBody>
      </p:sp>
      <p:sp>
        <p:nvSpPr>
          <p:cNvPr id="9" name="TextBox 8"/>
          <p:cNvSpPr txBox="1"/>
          <p:nvPr/>
        </p:nvSpPr>
        <p:spPr>
          <a:xfrm>
            <a:off x="6629400" y="1709928"/>
            <a:ext cx="1408176" cy="34747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When</a:t>
            </a:r>
          </a:p>
        </p:txBody>
      </p:sp>
      <p:sp>
        <p:nvSpPr>
          <p:cNvPr id="10" name="TextBox 9"/>
          <p:cNvSpPr txBox="1"/>
          <p:nvPr/>
        </p:nvSpPr>
        <p:spPr>
          <a:xfrm>
            <a:off x="8183880" y="1709928"/>
            <a:ext cx="3904487" cy="34747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Why</a:t>
            </a:r>
          </a:p>
        </p:txBody>
      </p:sp>
      <p:sp>
        <p:nvSpPr>
          <p:cNvPr id="11" name="Rectangle 10"/>
          <p:cNvSpPr/>
          <p:nvPr/>
        </p:nvSpPr>
        <p:spPr>
          <a:xfrm>
            <a:off x="548640" y="2084832"/>
            <a:ext cx="11094415" cy="420624"/>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084832"/>
            <a:ext cx="50292" cy="42062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130552"/>
            <a:ext cx="356616" cy="347472"/>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1</a:t>
            </a:r>
          </a:p>
        </p:txBody>
      </p:sp>
      <p:sp>
        <p:nvSpPr>
          <p:cNvPr id="14" name="TextBox 13"/>
          <p:cNvSpPr txBox="1"/>
          <p:nvPr/>
        </p:nvSpPr>
        <p:spPr>
          <a:xfrm>
            <a:off x="1143000" y="2130552"/>
            <a:ext cx="534009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Withdraw the June IM; retire the nine claims across all collateral</a:t>
            </a:r>
          </a:p>
        </p:txBody>
      </p:sp>
      <p:sp>
        <p:nvSpPr>
          <p:cNvPr id="15" name="TextBox 14"/>
          <p:cNvSpPr txBox="1"/>
          <p:nvPr/>
        </p:nvSpPr>
        <p:spPr>
          <a:xfrm>
            <a:off x="6629400" y="2130552"/>
            <a:ext cx="1408176" cy="34747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Week 1</a:t>
            </a:r>
          </a:p>
        </p:txBody>
      </p:sp>
      <p:sp>
        <p:nvSpPr>
          <p:cNvPr id="16" name="TextBox 15"/>
          <p:cNvSpPr txBox="1"/>
          <p:nvPr/>
        </p:nvSpPr>
        <p:spPr>
          <a:xfrm>
            <a:off x="8183880" y="2130552"/>
            <a:ext cx="3904487"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Six of nine live in that document</a:t>
            </a:r>
          </a:p>
        </p:txBody>
      </p:sp>
      <p:sp>
        <p:nvSpPr>
          <p:cNvPr id="17" name="Rectangle 16"/>
          <p:cNvSpPr/>
          <p:nvPr/>
        </p:nvSpPr>
        <p:spPr>
          <a:xfrm>
            <a:off x="548640" y="2505456"/>
            <a:ext cx="11094415" cy="420624"/>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2505456"/>
            <a:ext cx="50292" cy="42062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551176"/>
            <a:ext cx="356616" cy="347472"/>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2</a:t>
            </a:r>
          </a:p>
        </p:txBody>
      </p:sp>
      <p:sp>
        <p:nvSpPr>
          <p:cNvPr id="20" name="TextBox 19"/>
          <p:cNvSpPr txBox="1"/>
          <p:nvPr/>
        </p:nvSpPr>
        <p:spPr>
          <a:xfrm>
            <a:off x="1143000" y="2551176"/>
            <a:ext cx="534009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Publish an approved-claims one-pager for anyone client-facing</a:t>
            </a:r>
          </a:p>
        </p:txBody>
      </p:sp>
      <p:sp>
        <p:nvSpPr>
          <p:cNvPr id="21" name="TextBox 20"/>
          <p:cNvSpPr txBox="1"/>
          <p:nvPr/>
        </p:nvSpPr>
        <p:spPr>
          <a:xfrm>
            <a:off x="6629400" y="2551176"/>
            <a:ext cx="1408176" cy="34747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Week 2</a:t>
            </a:r>
          </a:p>
        </p:txBody>
      </p:sp>
      <p:sp>
        <p:nvSpPr>
          <p:cNvPr id="22" name="TextBox 21"/>
          <p:cNvSpPr txBox="1"/>
          <p:nvPr/>
        </p:nvSpPr>
        <p:spPr>
          <a:xfrm>
            <a:off x="8183880" y="2551176"/>
            <a:ext cx="3904487"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Nobody sells until this exists</a:t>
            </a:r>
          </a:p>
        </p:txBody>
      </p:sp>
      <p:sp>
        <p:nvSpPr>
          <p:cNvPr id="23" name="Rectangle 22"/>
          <p:cNvSpPr/>
          <p:nvPr/>
        </p:nvSpPr>
        <p:spPr>
          <a:xfrm>
            <a:off x="548640" y="2926080"/>
            <a:ext cx="11094415" cy="42062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2971800"/>
            <a:ext cx="35661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3</a:t>
            </a:r>
          </a:p>
        </p:txBody>
      </p:sp>
      <p:sp>
        <p:nvSpPr>
          <p:cNvPr id="25" name="TextBox 24"/>
          <p:cNvSpPr txBox="1"/>
          <p:nvPr/>
        </p:nvSpPr>
        <p:spPr>
          <a:xfrm>
            <a:off x="1143000" y="2971800"/>
            <a:ext cx="534009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Name a defence programme and an SI partner for ports</a:t>
            </a:r>
          </a:p>
        </p:txBody>
      </p:sp>
      <p:sp>
        <p:nvSpPr>
          <p:cNvPr id="26" name="TextBox 25"/>
          <p:cNvSpPr txBox="1"/>
          <p:nvPr/>
        </p:nvSpPr>
        <p:spPr>
          <a:xfrm>
            <a:off x="6629400" y="2971800"/>
            <a:ext cx="1408176" cy="34747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Weeks 1–12</a:t>
            </a:r>
          </a:p>
        </p:txBody>
      </p:sp>
      <p:sp>
        <p:nvSpPr>
          <p:cNvPr id="27" name="TextBox 26"/>
          <p:cNvSpPr txBox="1"/>
          <p:nvPr/>
        </p:nvSpPr>
        <p:spPr>
          <a:xfrm>
            <a:off x="8183880" y="2971800"/>
            <a:ext cx="3904487"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Track A's binding constraint</a:t>
            </a:r>
          </a:p>
        </p:txBody>
      </p:sp>
      <p:sp>
        <p:nvSpPr>
          <p:cNvPr id="28" name="Rectangle 27"/>
          <p:cNvSpPr/>
          <p:nvPr/>
        </p:nvSpPr>
        <p:spPr>
          <a:xfrm>
            <a:off x="548640" y="3346704"/>
            <a:ext cx="11094415"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392424"/>
            <a:ext cx="35661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4</a:t>
            </a:r>
          </a:p>
        </p:txBody>
      </p:sp>
      <p:sp>
        <p:nvSpPr>
          <p:cNvPr id="30" name="TextBox 29"/>
          <p:cNvSpPr txBox="1"/>
          <p:nvPr/>
        </p:nvSpPr>
        <p:spPr>
          <a:xfrm>
            <a:off x="1143000" y="3392424"/>
            <a:ext cx="534009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Recruit two fleet design partners (access + baseline)</a:t>
            </a:r>
          </a:p>
        </p:txBody>
      </p:sp>
      <p:sp>
        <p:nvSpPr>
          <p:cNvPr id="31" name="TextBox 30"/>
          <p:cNvSpPr txBox="1"/>
          <p:nvPr/>
        </p:nvSpPr>
        <p:spPr>
          <a:xfrm>
            <a:off x="6629400" y="3392424"/>
            <a:ext cx="1408176" cy="34747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Weeks 2–16</a:t>
            </a:r>
          </a:p>
        </p:txBody>
      </p:sp>
      <p:sp>
        <p:nvSpPr>
          <p:cNvPr id="32" name="TextBox 31"/>
          <p:cNvSpPr txBox="1"/>
          <p:nvPr/>
        </p:nvSpPr>
        <p:spPr>
          <a:xfrm>
            <a:off x="8183880" y="3392424"/>
            <a:ext cx="3904487"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Replaces the paid-pilot test</a:t>
            </a:r>
          </a:p>
        </p:txBody>
      </p:sp>
      <p:sp>
        <p:nvSpPr>
          <p:cNvPr id="33" name="Rectangle 32"/>
          <p:cNvSpPr/>
          <p:nvPr/>
        </p:nvSpPr>
        <p:spPr>
          <a:xfrm>
            <a:off x="548640" y="3767328"/>
            <a:ext cx="11094415" cy="42062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3813048"/>
            <a:ext cx="35661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5</a:t>
            </a:r>
          </a:p>
        </p:txBody>
      </p:sp>
      <p:sp>
        <p:nvSpPr>
          <p:cNvPr id="35" name="TextBox 34"/>
          <p:cNvSpPr txBox="1"/>
          <p:nvPr/>
        </p:nvSpPr>
        <p:spPr>
          <a:xfrm>
            <a:off x="1143000" y="3813048"/>
            <a:ext cx="534009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Publish a power / thermal envelope</a:t>
            </a:r>
          </a:p>
        </p:txBody>
      </p:sp>
      <p:sp>
        <p:nvSpPr>
          <p:cNvPr id="36" name="TextBox 35"/>
          <p:cNvSpPr txBox="1"/>
          <p:nvPr/>
        </p:nvSpPr>
        <p:spPr>
          <a:xfrm>
            <a:off x="6629400" y="3813048"/>
            <a:ext cx="1408176" cy="34747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Weeks 2–6</a:t>
            </a:r>
          </a:p>
        </p:txBody>
      </p:sp>
      <p:sp>
        <p:nvSpPr>
          <p:cNvPr id="37" name="TextBox 36"/>
          <p:cNvSpPr txBox="1"/>
          <p:nvPr/>
        </p:nvSpPr>
        <p:spPr>
          <a:xfrm>
            <a:off x="8183880" y="3813048"/>
            <a:ext cx="3904487"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First question any integrator asks</a:t>
            </a:r>
          </a:p>
        </p:txBody>
      </p:sp>
      <p:sp>
        <p:nvSpPr>
          <p:cNvPr id="38" name="Rectangle 37"/>
          <p:cNvSpPr/>
          <p:nvPr/>
        </p:nvSpPr>
        <p:spPr>
          <a:xfrm>
            <a:off x="548640" y="4187952"/>
            <a:ext cx="11094415"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4233672"/>
            <a:ext cx="35661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6</a:t>
            </a:r>
          </a:p>
        </p:txBody>
      </p:sp>
      <p:sp>
        <p:nvSpPr>
          <p:cNvPr id="40" name="TextBox 39"/>
          <p:cNvSpPr txBox="1"/>
          <p:nvPr/>
        </p:nvSpPr>
        <p:spPr>
          <a:xfrm>
            <a:off x="1143000" y="4233672"/>
            <a:ext cx="534009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Decide the insurer question — engine or excluded</a:t>
            </a:r>
          </a:p>
        </p:txBody>
      </p:sp>
      <p:sp>
        <p:nvSpPr>
          <p:cNvPr id="41" name="TextBox 40"/>
          <p:cNvSpPr txBox="1"/>
          <p:nvPr/>
        </p:nvSpPr>
        <p:spPr>
          <a:xfrm>
            <a:off x="6629400" y="4233672"/>
            <a:ext cx="1408176" cy="34747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Week 4</a:t>
            </a:r>
          </a:p>
        </p:txBody>
      </p:sp>
      <p:sp>
        <p:nvSpPr>
          <p:cNvPr id="42" name="TextBox 41"/>
          <p:cNvSpPr txBox="1"/>
          <p:nvPr/>
        </p:nvSpPr>
        <p:spPr>
          <a:xfrm>
            <a:off x="8183880" y="4233672"/>
            <a:ext cx="3904487"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The two documents contradict each other</a:t>
            </a:r>
          </a:p>
        </p:txBody>
      </p:sp>
      <p:sp>
        <p:nvSpPr>
          <p:cNvPr id="43" name="Rectangle 42"/>
          <p:cNvSpPr/>
          <p:nvPr/>
        </p:nvSpPr>
        <p:spPr>
          <a:xfrm>
            <a:off x="548640" y="4608576"/>
            <a:ext cx="11094415" cy="42062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4654296"/>
            <a:ext cx="35661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7</a:t>
            </a:r>
          </a:p>
        </p:txBody>
      </p:sp>
      <p:sp>
        <p:nvSpPr>
          <p:cNvPr id="45" name="TextBox 44"/>
          <p:cNvSpPr txBox="1"/>
          <p:nvPr/>
        </p:nvSpPr>
        <p:spPr>
          <a:xfrm>
            <a:off x="1143000" y="4654296"/>
            <a:ext cx="534009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Re-price by function: AEBS + DMS carry, warnings ride free</a:t>
            </a:r>
          </a:p>
        </p:txBody>
      </p:sp>
      <p:sp>
        <p:nvSpPr>
          <p:cNvPr id="46" name="TextBox 45"/>
          <p:cNvSpPr txBox="1"/>
          <p:nvPr/>
        </p:nvSpPr>
        <p:spPr>
          <a:xfrm>
            <a:off x="6629400" y="4654296"/>
            <a:ext cx="1408176" cy="34747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Weeks 3–8</a:t>
            </a:r>
          </a:p>
        </p:txBody>
      </p:sp>
      <p:sp>
        <p:nvSpPr>
          <p:cNvPr id="47" name="TextBox 46"/>
          <p:cNvSpPr txBox="1"/>
          <p:nvPr/>
        </p:nvSpPr>
        <p:spPr>
          <a:xfrm>
            <a:off x="8183880" y="4654296"/>
            <a:ext cx="3904487"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Removes the ₹30k comparison</a:t>
            </a:r>
          </a:p>
        </p:txBody>
      </p:sp>
      <p:sp>
        <p:nvSpPr>
          <p:cNvPr id="48" name="Rectangle 47"/>
          <p:cNvSpPr/>
          <p:nvPr/>
        </p:nvSpPr>
        <p:spPr>
          <a:xfrm>
            <a:off x="548640" y="5029200"/>
            <a:ext cx="11094415"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 y="5074920"/>
            <a:ext cx="35661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8</a:t>
            </a:r>
          </a:p>
        </p:txBody>
      </p:sp>
      <p:sp>
        <p:nvSpPr>
          <p:cNvPr id="50" name="TextBox 49"/>
          <p:cNvSpPr txBox="1"/>
          <p:nvPr/>
        </p:nvSpPr>
        <p:spPr>
          <a:xfrm>
            <a:off x="1143000" y="5074920"/>
            <a:ext cx="5340096"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Reconcile die area (57.1 vs 20 mm²) and reissue the cost build</a:t>
            </a:r>
          </a:p>
        </p:txBody>
      </p:sp>
      <p:sp>
        <p:nvSpPr>
          <p:cNvPr id="51" name="TextBox 50"/>
          <p:cNvSpPr txBox="1"/>
          <p:nvPr/>
        </p:nvSpPr>
        <p:spPr>
          <a:xfrm>
            <a:off x="6629400" y="5074920"/>
            <a:ext cx="1408176" cy="347472"/>
          </a:xfrm>
          <a:prstGeom prst="rect">
            <a:avLst/>
          </a:prstGeom>
          <a:noFill/>
        </p:spPr>
        <p:txBody>
          <a:bodyPr wrap="square" anchor="t" lIns="0" rIns="0" tIns="0" bIns="0">
            <a:normAutofit/>
          </a:bodyPr>
          <a:lstStyle/>
          <a:p>
            <a:pPr algn="ctr">
              <a:lnSpc>
                <a:spcPct val="105000"/>
              </a:lnSpc>
              <a:spcBef>
                <a:spcPts val="0"/>
              </a:spcBef>
            </a:pPr>
            <a:r>
              <a:rPr sz="1150" b="0" i="0">
                <a:solidFill>
                  <a:srgbClr val="1B2B3C"/>
                </a:solidFill>
                <a:latin typeface="Calibri"/>
              </a:rPr>
              <a:t>Weeks 4–10</a:t>
            </a:r>
          </a:p>
        </p:txBody>
      </p:sp>
      <p:sp>
        <p:nvSpPr>
          <p:cNvPr id="52" name="TextBox 51"/>
          <p:cNvSpPr txBox="1"/>
          <p:nvPr/>
        </p:nvSpPr>
        <p:spPr>
          <a:xfrm>
            <a:off x="8183880" y="5074920"/>
            <a:ext cx="3904487" cy="34747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The $3.876 rests on the smaller figure</a:t>
            </a:r>
          </a:p>
        </p:txBody>
      </p:sp>
      <p:sp>
        <p:nvSpPr>
          <p:cNvPr id="53" name="Rounded Rectangle 52"/>
          <p:cNvSpPr/>
          <p:nvPr/>
        </p:nvSpPr>
        <p:spPr>
          <a:xfrm>
            <a:off x="548640" y="5559552"/>
            <a:ext cx="11094415" cy="566928"/>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687568"/>
            <a:ext cx="10637215" cy="329184"/>
          </a:xfrm>
          <a:prstGeom prst="rect">
            <a:avLst/>
          </a:prstGeom>
          <a:noFill/>
        </p:spPr>
        <p:txBody>
          <a:bodyPr wrap="square" anchor="t" lIns="0" rIns="0" tIns="0" bIns="0">
            <a:normAutofit/>
          </a:bodyPr>
          <a:lstStyle/>
          <a:p>
            <a:pPr algn="l">
              <a:lnSpc>
                <a:spcPct val="105000"/>
              </a:lnSpc>
              <a:spcBef>
                <a:spcPts val="0"/>
              </a:spcBef>
            </a:pPr>
            <a:r>
              <a:rPr sz="1250" b="1" i="0">
                <a:solidFill>
                  <a:srgbClr val="FFFFFF"/>
                </a:solidFill>
                <a:latin typeface="Calibri"/>
              </a:rPr>
              <a:t>Items 1 and 2 gate everything below them. No client-facing activity until the approved-claims sheet exists.</a:t>
            </a:r>
          </a:p>
        </p:txBody>
      </p:sp>
      <p:sp>
        <p:nvSpPr>
          <p:cNvPr id="55" name="TextBox 5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v2 · post-verification · 5 Aug 2026</a:t>
            </a:r>
          </a:p>
        </p:txBody>
      </p:sp>
      <p:sp>
        <p:nvSpPr>
          <p:cNvPr id="56" name="TextBox 5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What would change this strategy</a:t>
            </a:r>
          </a:p>
        </p:txBody>
      </p:sp>
      <p:sp>
        <p:nvSpPr>
          <p:cNvPr id="4" name="Rectangle 3"/>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Triggers, and what each one means</a:t>
            </a:r>
          </a:p>
        </p:txBody>
      </p:sp>
      <p:sp>
        <p:nvSpPr>
          <p:cNvPr id="6" name="Rectangle 5"/>
          <p:cNvSpPr/>
          <p:nvPr/>
        </p:nvSpPr>
        <p:spPr>
          <a:xfrm>
            <a:off x="548640" y="1664208"/>
            <a:ext cx="11094415" cy="512064"/>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9928"/>
            <a:ext cx="3785616" cy="438912"/>
          </a:xfrm>
          <a:prstGeom prst="rect">
            <a:avLst/>
          </a:prstGeom>
          <a:noFill/>
        </p:spPr>
        <p:txBody>
          <a:bodyPr wrap="square" anchor="t" lIns="0" rIns="0" tIns="0" bIns="0">
            <a:normAutofit/>
          </a:bodyPr>
          <a:lstStyle/>
          <a:p>
            <a:pPr algn="l">
              <a:lnSpc>
                <a:spcPct val="105000"/>
              </a:lnSpc>
              <a:spcBef>
                <a:spcPts val="0"/>
              </a:spcBef>
            </a:pPr>
            <a:r>
              <a:rPr sz="1150" b="1" i="0">
                <a:solidFill>
                  <a:srgbClr val="FFFFFF"/>
                </a:solidFill>
                <a:latin typeface="Calibri"/>
              </a:rPr>
              <a:t>Trigger</a:t>
            </a:r>
          </a:p>
        </p:txBody>
      </p:sp>
      <p:sp>
        <p:nvSpPr>
          <p:cNvPr id="8" name="TextBox 7"/>
          <p:cNvSpPr txBox="1"/>
          <p:nvPr/>
        </p:nvSpPr>
        <p:spPr>
          <a:xfrm>
            <a:off x="4572000" y="1709928"/>
            <a:ext cx="3511296" cy="43891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What it means</a:t>
            </a:r>
          </a:p>
        </p:txBody>
      </p:sp>
      <p:sp>
        <p:nvSpPr>
          <p:cNvPr id="9" name="TextBox 8"/>
          <p:cNvSpPr txBox="1"/>
          <p:nvPr/>
        </p:nvSpPr>
        <p:spPr>
          <a:xfrm>
            <a:off x="8229600" y="1709928"/>
            <a:ext cx="3355848" cy="438912"/>
          </a:xfrm>
          <a:prstGeom prst="rect">
            <a:avLst/>
          </a:prstGeom>
          <a:noFill/>
        </p:spPr>
        <p:txBody>
          <a:bodyPr wrap="square" anchor="t" lIns="0" rIns="0" tIns="0" bIns="0">
            <a:normAutofit/>
          </a:bodyPr>
          <a:lstStyle/>
          <a:p>
            <a:pPr algn="ctr">
              <a:lnSpc>
                <a:spcPct val="105000"/>
              </a:lnSpc>
              <a:spcBef>
                <a:spcPts val="0"/>
              </a:spcBef>
            </a:pPr>
            <a:r>
              <a:rPr sz="1150" b="1" i="0">
                <a:solidFill>
                  <a:srgbClr val="FFFFFF"/>
                </a:solidFill>
                <a:latin typeface="Calibri"/>
              </a:rPr>
              <a:t>Note</a:t>
            </a:r>
          </a:p>
        </p:txBody>
      </p:sp>
      <p:sp>
        <p:nvSpPr>
          <p:cNvPr id="10" name="Rectangle 9"/>
          <p:cNvSpPr/>
          <p:nvPr/>
        </p:nvSpPr>
        <p:spPr>
          <a:xfrm>
            <a:off x="548640" y="2176272"/>
            <a:ext cx="11094415" cy="512064"/>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176272"/>
            <a:ext cx="50292" cy="5120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221992"/>
            <a:ext cx="3785616" cy="438912"/>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No named defence programme by Month 3</a:t>
            </a:r>
          </a:p>
        </p:txBody>
      </p:sp>
      <p:sp>
        <p:nvSpPr>
          <p:cNvPr id="13" name="TextBox 12"/>
          <p:cNvSpPr txBox="1"/>
          <p:nvPr/>
        </p:nvSpPr>
        <p:spPr>
          <a:xfrm>
            <a:off x="4572000" y="2221992"/>
            <a:ext cx="351129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Track A is services, not silicon</a:t>
            </a:r>
          </a:p>
        </p:txBody>
      </p:sp>
      <p:sp>
        <p:nvSpPr>
          <p:cNvPr id="14" name="TextBox 13"/>
          <p:cNvSpPr txBox="1"/>
          <p:nvPr/>
        </p:nvSpPr>
        <p:spPr>
          <a:xfrm>
            <a:off x="8229600" y="2221992"/>
            <a:ext cx="3355848"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Revised — the original Month-6 test was unreachable</a:t>
            </a:r>
          </a:p>
        </p:txBody>
      </p:sp>
      <p:sp>
        <p:nvSpPr>
          <p:cNvPr id="15" name="Rectangle 14"/>
          <p:cNvSpPr/>
          <p:nvPr/>
        </p:nvSpPr>
        <p:spPr>
          <a:xfrm>
            <a:off x="548640" y="2688336"/>
            <a:ext cx="11094415" cy="512064"/>
          </a:xfrm>
          <a:prstGeom prst="rect">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88336"/>
            <a:ext cx="50292" cy="5120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734056"/>
            <a:ext cx="3785616" cy="438912"/>
          </a:xfrm>
          <a:prstGeom prst="rect">
            <a:avLst/>
          </a:prstGeom>
          <a:noFill/>
        </p:spPr>
        <p:txBody>
          <a:bodyPr wrap="square" anchor="t" lIns="0" rIns="0" tIns="0" bIns="0">
            <a:normAutofit/>
          </a:bodyPr>
          <a:lstStyle/>
          <a:p>
            <a:pPr algn="l">
              <a:lnSpc>
                <a:spcPct val="105000"/>
              </a:lnSpc>
              <a:spcBef>
                <a:spcPts val="0"/>
              </a:spcBef>
            </a:pPr>
            <a:r>
              <a:rPr sz="1150" b="1" i="0">
                <a:solidFill>
                  <a:srgbClr val="1B2B3C"/>
                </a:solidFill>
                <a:latin typeface="Calibri"/>
              </a:rPr>
              <a:t>No two design partners by Month 4</a:t>
            </a:r>
          </a:p>
        </p:txBody>
      </p:sp>
      <p:sp>
        <p:nvSpPr>
          <p:cNvPr id="18" name="TextBox 17"/>
          <p:cNvSpPr txBox="1"/>
          <p:nvPr/>
        </p:nvSpPr>
        <p:spPr>
          <a:xfrm>
            <a:off x="4572000" y="2734056"/>
            <a:ext cx="351129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Track B has no 2027 path</a:t>
            </a:r>
          </a:p>
        </p:txBody>
      </p:sp>
      <p:sp>
        <p:nvSpPr>
          <p:cNvPr id="19" name="TextBox 18"/>
          <p:cNvSpPr txBox="1"/>
          <p:nvPr/>
        </p:nvSpPr>
        <p:spPr>
          <a:xfrm>
            <a:off x="8229600" y="2734056"/>
            <a:ext cx="3355848"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Replaces the paid-pilot criterion</a:t>
            </a:r>
          </a:p>
        </p:txBody>
      </p:sp>
      <p:sp>
        <p:nvSpPr>
          <p:cNvPr id="20" name="Rectangle 19"/>
          <p:cNvSpPr/>
          <p:nvPr/>
        </p:nvSpPr>
        <p:spPr>
          <a:xfrm>
            <a:off x="548640" y="3200400"/>
            <a:ext cx="11094415" cy="51206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246120"/>
            <a:ext cx="378561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AIS certification slips past mid-2027</a:t>
            </a:r>
          </a:p>
        </p:txBody>
      </p:sp>
      <p:sp>
        <p:nvSpPr>
          <p:cNvPr id="22" name="TextBox 21"/>
          <p:cNvSpPr txBox="1"/>
          <p:nvPr/>
        </p:nvSpPr>
        <p:spPr>
          <a:xfrm>
            <a:off x="4572000" y="3246120"/>
            <a:ext cx="351129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You miss the wall you now have time for</a:t>
            </a:r>
          </a:p>
        </p:txBody>
      </p:sp>
      <p:sp>
        <p:nvSpPr>
          <p:cNvPr id="23" name="TextBox 22"/>
          <p:cNvSpPr txBox="1"/>
          <p:nvPr/>
        </p:nvSpPr>
        <p:spPr>
          <a:xfrm>
            <a:off x="8229600" y="3246120"/>
            <a:ext cx="3355848"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The 18-month gift is spent</a:t>
            </a:r>
          </a:p>
        </p:txBody>
      </p:sp>
      <p:sp>
        <p:nvSpPr>
          <p:cNvPr id="24" name="Rectangle 23"/>
          <p:cNvSpPr/>
          <p:nvPr/>
        </p:nvSpPr>
        <p:spPr>
          <a:xfrm>
            <a:off x="548640" y="3712464"/>
            <a:ext cx="11094415"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758184"/>
            <a:ext cx="378561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Netrasemi announces a certified automotive part</a:t>
            </a:r>
          </a:p>
        </p:txBody>
      </p:sp>
      <p:sp>
        <p:nvSpPr>
          <p:cNvPr id="26" name="TextBox 25"/>
          <p:cNvSpPr txBox="1"/>
          <p:nvPr/>
        </p:nvSpPr>
        <p:spPr>
          <a:xfrm>
            <a:off x="4572000" y="3758184"/>
            <a:ext cx="351129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The differentiated position closes</a:t>
            </a:r>
          </a:p>
        </p:txBody>
      </p:sp>
      <p:sp>
        <p:nvSpPr>
          <p:cNvPr id="27" name="TextBox 26"/>
          <p:cNvSpPr txBox="1"/>
          <p:nvPr/>
        </p:nvSpPr>
        <p:spPr>
          <a:xfrm>
            <a:off x="8229600" y="3758184"/>
            <a:ext cx="3355848"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Watch quarterly</a:t>
            </a:r>
          </a:p>
        </p:txBody>
      </p:sp>
      <p:sp>
        <p:nvSpPr>
          <p:cNvPr id="28" name="Rectangle 27"/>
          <p:cNvSpPr/>
          <p:nvPr/>
        </p:nvSpPr>
        <p:spPr>
          <a:xfrm>
            <a:off x="548640" y="4224528"/>
            <a:ext cx="11094415" cy="512064"/>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270248"/>
            <a:ext cx="378561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Enforcement slips as AIS-140 did</a:t>
            </a:r>
          </a:p>
        </p:txBody>
      </p:sp>
      <p:sp>
        <p:nvSpPr>
          <p:cNvPr id="30" name="TextBox 29"/>
          <p:cNvSpPr txBox="1"/>
          <p:nvPr/>
        </p:nvSpPr>
        <p:spPr>
          <a:xfrm>
            <a:off x="4572000" y="4270248"/>
            <a:ext cx="3511296"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Revenue moves right again — plan for it</a:t>
            </a:r>
          </a:p>
        </p:txBody>
      </p:sp>
      <p:sp>
        <p:nvSpPr>
          <p:cNvPr id="31" name="TextBox 30"/>
          <p:cNvSpPr txBox="1"/>
          <p:nvPr/>
        </p:nvSpPr>
        <p:spPr>
          <a:xfrm>
            <a:off x="8229600" y="4270248"/>
            <a:ext cx="3355848" cy="438912"/>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8-year precedent, same ministry</a:t>
            </a:r>
          </a:p>
        </p:txBody>
      </p:sp>
      <p:sp>
        <p:nvSpPr>
          <p:cNvPr id="32" name="Rounded Rectangle 31"/>
          <p:cNvSpPr/>
          <p:nvPr/>
        </p:nvSpPr>
        <p:spPr>
          <a:xfrm>
            <a:off x="548640" y="4846320"/>
            <a:ext cx="11094415" cy="1234440"/>
          </a:xfrm>
          <a:prstGeom prst="roundRect">
            <a:avLst>
              <a:gd name="adj" fmla="val 4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4846320"/>
            <a:ext cx="54864" cy="1234440"/>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010912"/>
            <a:ext cx="5486400" cy="274320"/>
          </a:xfrm>
          <a:prstGeom prst="rect">
            <a:avLst/>
          </a:prstGeom>
          <a:noFill/>
        </p:spPr>
        <p:txBody>
          <a:bodyPr wrap="square" anchor="t" lIns="0" rIns="0" tIns="0" bIns="0">
            <a:noAutofit/>
          </a:bodyPr>
          <a:lstStyle/>
          <a:p>
            <a:pPr algn="l">
              <a:lnSpc>
                <a:spcPct val="105000"/>
              </a:lnSpc>
              <a:spcBef>
                <a:spcPts val="0"/>
              </a:spcBef>
            </a:pPr>
            <a:r>
              <a:rPr sz="1300" b="1" i="0">
                <a:solidFill>
                  <a:srgbClr val="0A1628"/>
                </a:solidFill>
                <a:latin typeface="Calibri"/>
              </a:rPr>
              <a:t>The one-line summary</a:t>
            </a:r>
          </a:p>
        </p:txBody>
      </p:sp>
      <p:sp>
        <p:nvSpPr>
          <p:cNvPr id="35" name="TextBox 34"/>
          <p:cNvSpPr txBox="1"/>
          <p:nvPr/>
        </p:nvSpPr>
        <p:spPr>
          <a:xfrm>
            <a:off x="777240" y="5321808"/>
            <a:ext cx="10637215" cy="658368"/>
          </a:xfrm>
          <a:prstGeom prst="rect">
            <a:avLst/>
          </a:prstGeom>
          <a:noFill/>
        </p:spPr>
        <p:txBody>
          <a:bodyPr wrap="square" anchor="t" lIns="0" rIns="0" tIns="0" bIns="0">
            <a:normAutofit/>
          </a:bodyPr>
          <a:lstStyle/>
          <a:p>
            <a:pPr algn="l">
              <a:lnSpc>
                <a:spcPct val="105000"/>
              </a:lnSpc>
              <a:spcBef>
                <a:spcPts val="0"/>
              </a:spcBef>
            </a:pPr>
            <a:r>
              <a:rPr sz="1250" b="0" i="0">
                <a:solidFill>
                  <a:srgbClr val="1B2B3C"/>
                </a:solidFill>
                <a:latin typeface="Calibri"/>
              </a:rPr>
              <a:t>You have until late 2027, not late 2026 — and the binding constraint is not time or product, it is that the current claim set cannot survive a technical buyer. Retire the nine claims, sell Track A on eligibility while naming a real programme, and recruit fleet design partners against the 2027 rule rather than a deadline that does not exist.</a:t>
            </a:r>
          </a:p>
        </p:txBody>
      </p:sp>
      <p:sp>
        <p:nvSpPr>
          <p:cNvPr id="36" name="TextBox 3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DeepGrid Semi — client acquisition strategy v2 · post-verification · 5 Aug 2026</a:t>
            </a:r>
          </a:p>
        </p:txBody>
      </p:sp>
      <p:sp>
        <p:nvSpPr>
          <p:cNvPr id="37" name="TextBox 3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21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