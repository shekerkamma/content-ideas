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05495" y="0"/>
            <a:ext cx="388620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05495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COMPETITOR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68580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5000" b="1" i="0">
                <a:solidFill>
                  <a:srgbClr val="FFFFFF"/>
                </a:solidFill>
                <a:latin typeface="Calibri"/>
              </a:rPr>
              <a:t>Beacon.li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12848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0" i="0">
                <a:solidFill>
                  <a:srgbClr val="E0F7F1"/>
                </a:solidFill>
                <a:latin typeface="Calibri"/>
              </a:rPr>
              <a:t>Where Beacon wins, where it is exposed, and how to prove the wedge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54680"/>
            <a:ext cx="137160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493008"/>
            <a:ext cx="676656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Prepared from public company pages, pricing pages, and current market signals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Client-ready briefing · July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650992"/>
            <a:ext cx="1847088" cy="347472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5742432"/>
            <a:ext cx="1700784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E0F7F1"/>
                </a:solidFill>
                <a:latin typeface="Calibri"/>
              </a:rPr>
              <a:t>DAP incumbents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5650992"/>
            <a:ext cx="1847088" cy="347472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9192" y="5742432"/>
            <a:ext cx="1700784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E0F7F1"/>
                </a:solidFill>
                <a:latin typeface="Calibri"/>
              </a:rPr>
              <a:t>Implementation ops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5650992"/>
            <a:ext cx="1847088" cy="347472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5742432"/>
            <a:ext cx="1700784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E0F7F1"/>
                </a:solidFill>
                <a:latin typeface="Calibri"/>
              </a:rPr>
              <a:t>Enterprise AI 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 / 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Beacon should be positioned by the job it performs, not by an incumbent category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11094415" cy="1115568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10512"/>
            <a:ext cx="1045433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Beacon is strongest as an AI implementation execution layer: configure, validate, test, sequence, and support go-lives inside the product UI.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880360"/>
            <a:ext cx="347472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880360"/>
            <a:ext cx="73152" cy="169164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044952"/>
            <a:ext cx="31272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Do not lead with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47288"/>
            <a:ext cx="3127248" cy="9418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“We are a better DAP.” That frame invites WalkMe, Pendo, Whatfix, and Appcues comparisons on their strongest ground.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880360"/>
            <a:ext cx="347472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2880360"/>
            <a:ext cx="73152" cy="16916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044952"/>
            <a:ext cx="31272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Lead with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447288"/>
            <a:ext cx="3127248" cy="9418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“We execute implementation work.” That shifts the buyer conversation from adoption guidance to go-live throughput.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2880360"/>
            <a:ext cx="347472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8" y="2880360"/>
            <a:ext cx="73152" cy="16916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6" y="3044952"/>
            <a:ext cx="31272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Prove with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3447288"/>
            <a:ext cx="3127248" cy="9418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A 7-day workflow POC: baseline, Beacon execution trace, human interventions, elapsed time, errors, and hypercare load.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43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Methodology: Four Arenas, One Rubric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rebuild uses a consistent competitor-analysis spine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27632"/>
            <a:ext cx="34290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73152" cy="31089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792224"/>
            <a:ext cx="30815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Research route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94560"/>
            <a:ext cx="3081528" cy="2359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GBrain recall, Firecrawl discovery, primary/company pages, pricing pages, STORM-style lenses, and consulting-framework synthesis.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627632"/>
            <a:ext cx="34290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627632"/>
            <a:ext cx="73152" cy="31089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792224"/>
            <a:ext cx="30815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Competitor universe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94560"/>
            <a:ext cx="3081528" cy="2359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DAP, implementation operations, enterprise AI/automation, and AI transformation consultancies.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27632"/>
            <a:ext cx="34290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627632"/>
            <a:ext cx="73152" cy="31089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792224"/>
            <a:ext cx="30815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Evaluation spine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194560"/>
            <a:ext cx="3081528" cy="2359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Execution depth, trust, system fit, proof quality, distribution, pricing clarity, threat severity, and partnerability.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94960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80" b="1" i="0">
                <a:solidFill>
                  <a:srgbClr val="E05A6B"/>
                </a:solidFill>
                <a:latin typeface="Calibri"/>
              </a:rPr>
              <a:t>Decision standard: every competitor must be compared by the same buyer job and scoring dimensions, not by feature lists alone.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43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Market Splits Into Four Competitive Arenas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Each arena can pull Beacon into the wrong comparison if the buyer job is unclear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265176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72768"/>
            <a:ext cx="73152" cy="3154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737360"/>
            <a:ext cx="230428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Digital adoption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39696"/>
            <a:ext cx="2304288" cy="2404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WalkMe/SAP, Pendo, Whatfix, Appcues
Job: guide adoption, training, support, and analytics.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3008" y="1572768"/>
            <a:ext cx="265176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93008" y="1572768"/>
            <a:ext cx="73152" cy="315468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4176" y="1737360"/>
            <a:ext cx="230428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Implementation 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4176" y="2139696"/>
            <a:ext cx="2304288" cy="2404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Rocketlane, GuideCX, Arrows, Dock
Job: coordinate onboarding, services, portals, and handoffs.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1572768"/>
            <a:ext cx="265176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27648" y="1572768"/>
            <a:ext cx="73152" cy="315468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1737360"/>
            <a:ext cx="230428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AI / automation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2139696"/>
            <a:ext cx="2304288" cy="2404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Unframe, UiPath, automation platforms
Job: orchestrate broader enterprise AI workflows.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62288" y="1572768"/>
            <a:ext cx="233172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62288" y="1572768"/>
            <a:ext cx="73152" cy="3154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63456" y="1737360"/>
            <a:ext cx="19842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Consultancies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3456" y="2139696"/>
            <a:ext cx="1984248" cy="2404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Accenture, BCG, McKinsey, Deloitte, IBM, Capgemini
Job: design and govern transformation.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9496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0A1628"/>
                </a:solidFill>
                <a:latin typeface="Calibri"/>
              </a:rPr>
              <a:t>Beacon's claim is narrower: execute repeated implementation work with audit-grade evidence.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43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Job-To-Be-Done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This is the cleanest way to avoid category confusion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2331720" cy="45720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46504"/>
            <a:ext cx="2148839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FFFFFF"/>
                </a:solidFill>
                <a:latin typeface="Calibri"/>
              </a:rPr>
              <a:t>Job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600200"/>
            <a:ext cx="2880360" cy="45720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746504"/>
            <a:ext cx="2697479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FFFFFF"/>
                </a:solidFill>
                <a:latin typeface="Calibri"/>
              </a:rPr>
              <a:t>Best-fit category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00200"/>
            <a:ext cx="4617720" cy="45720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46504"/>
            <a:ext cx="443484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FFFFFF"/>
                </a:solidFill>
                <a:latin typeface="Calibri"/>
              </a:rPr>
              <a:t>Beacon posture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157984"/>
            <a:ext cx="2331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231136"/>
            <a:ext cx="214883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1" i="0">
                <a:solidFill>
                  <a:srgbClr val="1B2B3C"/>
                </a:solidFill>
                <a:latin typeface="Calibri"/>
              </a:rPr>
              <a:t>Guide users in-product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2157984"/>
            <a:ext cx="2880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2231136"/>
            <a:ext cx="269747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0" i="0">
                <a:solidFill>
                  <a:srgbClr val="5B6B7C"/>
                </a:solidFill>
                <a:latin typeface="Calibri"/>
              </a:rPr>
              <a:t>DAP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157984"/>
            <a:ext cx="4617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231136"/>
            <a:ext cx="4434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0" i="0">
                <a:solidFill>
                  <a:srgbClr val="5B6B7C"/>
                </a:solidFill>
                <a:latin typeface="Calibri"/>
              </a:rPr>
              <a:t>Do not compete head-on unless implementation work is involved.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688336"/>
            <a:ext cx="2331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761488"/>
            <a:ext cx="214883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1" i="0">
                <a:solidFill>
                  <a:srgbClr val="1B2B3C"/>
                </a:solidFill>
                <a:latin typeface="Calibri"/>
              </a:rPr>
              <a:t>Measure product behavior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2688336"/>
            <a:ext cx="2880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2761488"/>
            <a:ext cx="269747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0" i="0">
                <a:solidFill>
                  <a:srgbClr val="5B6B7C"/>
                </a:solidFill>
                <a:latin typeface="Calibri"/>
              </a:rPr>
              <a:t>Pendo / PX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688336"/>
            <a:ext cx="4617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761488"/>
            <a:ext cx="4434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0" i="0">
                <a:solidFill>
                  <a:srgbClr val="5B6B7C"/>
                </a:solidFill>
                <a:latin typeface="Calibri"/>
              </a:rPr>
              <a:t>Not Beacon's core wedge.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218687"/>
            <a:ext cx="2331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291839"/>
            <a:ext cx="214883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1" i="0">
                <a:solidFill>
                  <a:srgbClr val="1B2B3C"/>
                </a:solidFill>
                <a:latin typeface="Calibri"/>
              </a:rPr>
              <a:t>Coordinate onboarding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6120" y="3218687"/>
            <a:ext cx="2880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7560" y="3291839"/>
            <a:ext cx="269747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0" i="0">
                <a:solidFill>
                  <a:srgbClr val="5B6B7C"/>
                </a:solidFill>
                <a:latin typeface="Calibri"/>
              </a:rPr>
              <a:t>Rocketlane / GuideCX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218687"/>
            <a:ext cx="4617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291839"/>
            <a:ext cx="4434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0" i="0">
                <a:solidFill>
                  <a:srgbClr val="5B6B7C"/>
                </a:solidFill>
                <a:latin typeface="Calibri"/>
              </a:rPr>
              <a:t>Integrate and report progress back.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3749039"/>
            <a:ext cx="2331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3822191"/>
            <a:ext cx="214883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1" i="0">
                <a:solidFill>
                  <a:srgbClr val="1B2B3C"/>
                </a:solidFill>
                <a:latin typeface="Calibri"/>
              </a:rPr>
              <a:t>Host customer workspace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6120" y="3749039"/>
            <a:ext cx="2880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37560" y="3822191"/>
            <a:ext cx="269747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0" i="0">
                <a:solidFill>
                  <a:srgbClr val="5B6B7C"/>
                </a:solidFill>
                <a:latin typeface="Calibri"/>
              </a:rPr>
              <a:t>Dock / Arrows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749039"/>
            <a:ext cx="4617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3822191"/>
            <a:ext cx="4434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0" i="0">
                <a:solidFill>
                  <a:srgbClr val="5B6B7C"/>
                </a:solidFill>
                <a:latin typeface="Calibri"/>
              </a:rPr>
              <a:t>Use alongside Beacon for communication.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4279392"/>
            <a:ext cx="2331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352544"/>
            <a:ext cx="214883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1" i="0">
                <a:solidFill>
                  <a:srgbClr val="1B2B3C"/>
                </a:solidFill>
                <a:latin typeface="Calibri"/>
              </a:rPr>
              <a:t>Automate generic workflows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4279392"/>
            <a:ext cx="2880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37560" y="4352544"/>
            <a:ext cx="269747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0" i="0">
                <a:solidFill>
                  <a:srgbClr val="5B6B7C"/>
                </a:solidFill>
                <a:latin typeface="Calibri"/>
              </a:rPr>
              <a:t>UiPath / AI platform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279392"/>
            <a:ext cx="4617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4352544"/>
            <a:ext cx="4434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0" i="0">
                <a:solidFill>
                  <a:srgbClr val="5B6B7C"/>
                </a:solidFill>
                <a:latin typeface="Calibri"/>
              </a:rPr>
              <a:t>Win on implementation-specific domain model.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4809744"/>
            <a:ext cx="2331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4882896"/>
            <a:ext cx="214883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1" i="0">
                <a:solidFill>
                  <a:srgbClr val="1B2B3C"/>
                </a:solidFill>
                <a:latin typeface="Calibri"/>
              </a:rPr>
              <a:t>Execute implementation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46120" y="4809744"/>
            <a:ext cx="2880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37560" y="4882896"/>
            <a:ext cx="269747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0" i="0">
                <a:solidFill>
                  <a:srgbClr val="5B6B7C"/>
                </a:solidFill>
                <a:latin typeface="Calibri"/>
              </a:rPr>
              <a:t>Beacon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4809744"/>
            <a:ext cx="4617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4882896"/>
            <a:ext cx="44348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0" i="0">
                <a:solidFill>
                  <a:srgbClr val="5B6B7C"/>
                </a:solidFill>
                <a:latin typeface="Calibri"/>
              </a:rPr>
              <a:t>Own this job and prove it workflow by workflow.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43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Competitive Evaluation Rubric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Use the same criteria across every vendor conversation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11094415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27632"/>
            <a:ext cx="73152" cy="47548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46504"/>
            <a:ext cx="27889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Execution depth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709928"/>
            <a:ext cx="763524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5B6B7C"/>
                </a:solidFill>
                <a:latin typeface="Calibri"/>
              </a:rPr>
              <a:t>Does the tool perform implementation work, or only guide/manage/measure it?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49424"/>
            <a:ext cx="11094415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249424"/>
            <a:ext cx="73152" cy="47548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368296"/>
            <a:ext cx="27889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Enterprise trust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331720"/>
            <a:ext cx="763524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5B6B7C"/>
                </a:solidFill>
                <a:latin typeface="Calibri"/>
              </a:rPr>
              <a:t>Security posture, auditability, RBAC, deployment flexibility, procurement fit.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871216"/>
            <a:ext cx="11094415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871216"/>
            <a:ext cx="73152" cy="47548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990088"/>
            <a:ext cx="27889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System-of-record 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953512"/>
            <a:ext cx="763524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5B6B7C"/>
                </a:solidFill>
                <a:latin typeface="Calibri"/>
              </a:rPr>
              <a:t>Can it integrate with project, CRM, ticketing, and PSA systems already in use?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93008"/>
            <a:ext cx="11094415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493008"/>
            <a:ext cx="73152" cy="47548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611880"/>
            <a:ext cx="27889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Proof 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3575304"/>
            <a:ext cx="763524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5B6B7C"/>
                </a:solidFill>
                <a:latin typeface="Calibri"/>
              </a:rPr>
              <a:t>Independent validation, customer references, before/after metrics, repeatability.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14800"/>
            <a:ext cx="11094415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114800"/>
            <a:ext cx="73152" cy="47548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233672"/>
            <a:ext cx="27889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Category clarity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4197096"/>
            <a:ext cx="763524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5B6B7C"/>
                </a:solidFill>
                <a:latin typeface="Calibri"/>
              </a:rPr>
              <a:t>Can the buyer explain what budget and job the tool owns?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36592"/>
            <a:ext cx="11094415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736592"/>
            <a:ext cx="73152" cy="47548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4855464"/>
            <a:ext cx="27889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Compounding advantage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4818888"/>
            <a:ext cx="763524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5B6B7C"/>
                </a:solidFill>
                <a:latin typeface="Calibri"/>
              </a:rPr>
              <a:t>Does it learn reusable implementation logic across deployments?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650992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E05A6B"/>
                </a:solidFill>
                <a:latin typeface="Calibri"/>
              </a:rPr>
              <a:t>Skeptical read: Beacon is high on execution depth, medium on enterprise proof, and currently exposed on independent validation.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43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Scored Competitive Heatmap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Beacon wins on execution specificity; incumbents win on trust, distribution, or breadth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2011680" cy="384048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691640"/>
            <a:ext cx="1938528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FFFFFF"/>
                </a:solidFill>
                <a:latin typeface="Calibri"/>
              </a:rPr>
              <a:t>Vendor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0048" y="1572768"/>
            <a:ext cx="1234440" cy="384048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06624" y="1691640"/>
            <a:ext cx="1161288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FFFFFF"/>
                </a:solidFill>
                <a:latin typeface="Calibri"/>
              </a:rPr>
              <a:t>Exec depth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04487" y="1572768"/>
            <a:ext cx="1051560" cy="384048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41063" y="1691640"/>
            <a:ext cx="978407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FFFFFF"/>
                </a:solidFill>
                <a:latin typeface="Calibri"/>
              </a:rPr>
              <a:t>Trust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56048" y="1572768"/>
            <a:ext cx="1234440" cy="384048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92624" y="1691640"/>
            <a:ext cx="1161288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FFFFFF"/>
                </a:solidFill>
                <a:latin typeface="Calibri"/>
              </a:rPr>
              <a:t>System fit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572768"/>
            <a:ext cx="1005840" cy="384048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1691640"/>
            <a:ext cx="932688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FFFFFF"/>
                </a:solidFill>
                <a:latin typeface="Calibri"/>
              </a:rPr>
              <a:t>Proof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96327" y="1572768"/>
            <a:ext cx="1325880" cy="384048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32903" y="1691640"/>
            <a:ext cx="1252728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FFFFFF"/>
                </a:solidFill>
                <a:latin typeface="Calibri"/>
              </a:rPr>
              <a:t>Distribution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22207" y="1572768"/>
            <a:ext cx="1005840" cy="384048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58783" y="1691640"/>
            <a:ext cx="932688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FFFFFF"/>
                </a:solidFill>
                <a:latin typeface="Calibri"/>
              </a:rPr>
              <a:t>Threat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057400"/>
            <a:ext cx="2011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2130552"/>
            <a:ext cx="1901952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0A1628"/>
                </a:solidFill>
                <a:latin typeface="Calibri"/>
              </a:rPr>
              <a:t>Beacon.li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70048" y="2057400"/>
            <a:ext cx="1234440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70048" y="2130552"/>
            <a:ext cx="12344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04487" y="2057400"/>
            <a:ext cx="1051560" cy="3200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04487" y="2130552"/>
            <a:ext cx="10515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56048" y="2057400"/>
            <a:ext cx="1234440" cy="3200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130552"/>
            <a:ext cx="12344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0488" y="2057400"/>
            <a:ext cx="1005840" cy="320040"/>
          </a:xfrm>
          <a:prstGeom prst="rect">
            <a:avLst/>
          </a:prstGeom>
          <a:solidFill>
            <a:srgbClr val="E05A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0488" y="2130552"/>
            <a:ext cx="10058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96327" y="2057400"/>
            <a:ext cx="1325880" cy="320040"/>
          </a:xfrm>
          <a:prstGeom prst="rect">
            <a:avLst/>
          </a:prstGeom>
          <a:solidFill>
            <a:srgbClr val="E05A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96327" y="2130552"/>
            <a:ext cx="132588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22207" y="2057400"/>
            <a:ext cx="1005840" cy="3200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22207" y="2130552"/>
            <a:ext cx="10058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2496312"/>
            <a:ext cx="2011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2569464"/>
            <a:ext cx="1901952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0A1628"/>
                </a:solidFill>
                <a:latin typeface="Calibri"/>
              </a:rPr>
              <a:t>WalkMe/SAP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70048" y="2496312"/>
            <a:ext cx="1234440" cy="320040"/>
          </a:xfrm>
          <a:prstGeom prst="rect">
            <a:avLst/>
          </a:prstGeom>
          <a:solidFill>
            <a:srgbClr val="F4F7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70048" y="2569464"/>
            <a:ext cx="12344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04487" y="2496312"/>
            <a:ext cx="1051560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04487" y="2569464"/>
            <a:ext cx="10515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56048" y="2496312"/>
            <a:ext cx="1234440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56048" y="2569464"/>
            <a:ext cx="12344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0488" y="2496312"/>
            <a:ext cx="1005840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0488" y="2569464"/>
            <a:ext cx="10058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96327" y="2496312"/>
            <a:ext cx="1325880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96327" y="2569464"/>
            <a:ext cx="132588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22207" y="2496312"/>
            <a:ext cx="1005840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22207" y="2569464"/>
            <a:ext cx="10058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2935224"/>
            <a:ext cx="2011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008376"/>
            <a:ext cx="1901952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0A1628"/>
                </a:solidFill>
                <a:latin typeface="Calibri"/>
              </a:rPr>
              <a:t>Rocketlane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70048" y="2935224"/>
            <a:ext cx="1234440" cy="320040"/>
          </a:xfrm>
          <a:prstGeom prst="rect">
            <a:avLst/>
          </a:prstGeom>
          <a:solidFill>
            <a:srgbClr val="F4F7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70048" y="3008376"/>
            <a:ext cx="12344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04487" y="2935224"/>
            <a:ext cx="1051560" cy="3200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04487" y="3008376"/>
            <a:ext cx="10515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956048" y="2935224"/>
            <a:ext cx="1234440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56048" y="3008376"/>
            <a:ext cx="12344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90488" y="2935224"/>
            <a:ext cx="1005840" cy="3200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90488" y="3008376"/>
            <a:ext cx="10058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96327" y="2935224"/>
            <a:ext cx="1325880" cy="3200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96327" y="3008376"/>
            <a:ext cx="132588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22207" y="2935224"/>
            <a:ext cx="1005840" cy="3200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22207" y="3008376"/>
            <a:ext cx="10058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" y="3374136"/>
            <a:ext cx="2011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3232" y="3447288"/>
            <a:ext cx="1901952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0A1628"/>
                </a:solidFill>
                <a:latin typeface="Calibri"/>
              </a:rPr>
              <a:t>Unframe AI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670048" y="3374136"/>
            <a:ext cx="1234440" cy="3200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70048" y="3447288"/>
            <a:ext cx="12344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904487" y="3374136"/>
            <a:ext cx="1051560" cy="3200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904487" y="3447288"/>
            <a:ext cx="10515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3374136"/>
            <a:ext cx="1234440" cy="3200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956048" y="3447288"/>
            <a:ext cx="12344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190488" y="3374136"/>
            <a:ext cx="1005840" cy="320040"/>
          </a:xfrm>
          <a:prstGeom prst="rect">
            <a:avLst/>
          </a:prstGeom>
          <a:solidFill>
            <a:srgbClr val="F4F7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90488" y="3447288"/>
            <a:ext cx="10058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196327" y="3374136"/>
            <a:ext cx="1325880" cy="3200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196327" y="3447288"/>
            <a:ext cx="132588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522207" y="3374136"/>
            <a:ext cx="1005840" cy="3200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522207" y="3447288"/>
            <a:ext cx="10058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8368" y="3813048"/>
            <a:ext cx="2011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13232" y="3886200"/>
            <a:ext cx="1901952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0A1628"/>
                </a:solidFill>
                <a:latin typeface="Calibri"/>
              </a:rPr>
              <a:t>UiPath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670048" y="3813048"/>
            <a:ext cx="1234440" cy="320040"/>
          </a:xfrm>
          <a:prstGeom prst="rect">
            <a:avLst/>
          </a:prstGeom>
          <a:solidFill>
            <a:srgbClr val="F4F7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70048" y="3886200"/>
            <a:ext cx="12344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904487" y="3813048"/>
            <a:ext cx="1051560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904487" y="3886200"/>
            <a:ext cx="10515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956048" y="3813048"/>
            <a:ext cx="1234440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56048" y="3886200"/>
            <a:ext cx="12344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190488" y="3813048"/>
            <a:ext cx="1005840" cy="3200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90488" y="3886200"/>
            <a:ext cx="10058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196327" y="3813048"/>
            <a:ext cx="1325880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196327" y="3886200"/>
            <a:ext cx="132588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522207" y="3813048"/>
            <a:ext cx="1005840" cy="3200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522207" y="3886200"/>
            <a:ext cx="10058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58368" y="4251960"/>
            <a:ext cx="2011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13232" y="4325112"/>
            <a:ext cx="1901952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0A1628"/>
                </a:solidFill>
                <a:latin typeface="Calibri"/>
              </a:rPr>
              <a:t>Accenture/IBM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670048" y="4251960"/>
            <a:ext cx="1234440" cy="320040"/>
          </a:xfrm>
          <a:prstGeom prst="rect">
            <a:avLst/>
          </a:prstGeom>
          <a:solidFill>
            <a:srgbClr val="F4F7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670048" y="4325112"/>
            <a:ext cx="12344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904487" y="4251960"/>
            <a:ext cx="1051560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904487" y="4325112"/>
            <a:ext cx="10515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956048" y="4251960"/>
            <a:ext cx="1234440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956048" y="4325112"/>
            <a:ext cx="12344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90488" y="4251960"/>
            <a:ext cx="1005840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90488" y="4325112"/>
            <a:ext cx="10058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196327" y="4251960"/>
            <a:ext cx="1325880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196327" y="4325112"/>
            <a:ext cx="132588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522207" y="4251960"/>
            <a:ext cx="1005840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522207" y="4325112"/>
            <a:ext cx="10058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58368" y="4690872"/>
            <a:ext cx="2011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13232" y="4764024"/>
            <a:ext cx="1901952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0A1628"/>
                </a:solidFill>
                <a:latin typeface="Calibri"/>
              </a:rPr>
              <a:t>Pendo/Whatfix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670048" y="4690872"/>
            <a:ext cx="1234440" cy="320040"/>
          </a:xfrm>
          <a:prstGeom prst="rect">
            <a:avLst/>
          </a:prstGeom>
          <a:solidFill>
            <a:srgbClr val="E05A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670048" y="4764024"/>
            <a:ext cx="12344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904487" y="4690872"/>
            <a:ext cx="1051560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904487" y="4764024"/>
            <a:ext cx="10515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956048" y="4690872"/>
            <a:ext cx="1234440" cy="3200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956048" y="4764024"/>
            <a:ext cx="12344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190488" y="4690872"/>
            <a:ext cx="1005840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190488" y="4764024"/>
            <a:ext cx="10058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196327" y="4690872"/>
            <a:ext cx="1325880" cy="3200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196327" y="4764024"/>
            <a:ext cx="132588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522207" y="4690872"/>
            <a:ext cx="1005840" cy="320040"/>
          </a:xfrm>
          <a:prstGeom prst="rect">
            <a:avLst/>
          </a:prstGeom>
          <a:solidFill>
            <a:srgbClr val="F4F7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522207" y="4764024"/>
            <a:ext cx="10058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48640" y="5532120"/>
            <a:ext cx="11094415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10" b="1" i="0">
                <a:solidFill>
                  <a:srgbClr val="0A1628"/>
                </a:solidFill>
                <a:latin typeface="Calibri"/>
              </a:rPr>
              <a:t>Interpretation: Beacon's strategy must convert execution depth into proof quality before incumbents collapse the category around trust and distribution.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43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Beacon Trust Is Now Evidenced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Official pages improve Beacon's enterprise-readiness score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72768"/>
            <a:ext cx="11094415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72768"/>
            <a:ext cx="73152" cy="5669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00784"/>
            <a:ext cx="19659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A1628"/>
                </a:solidFill>
                <a:latin typeface="Calibri"/>
              </a:rPr>
              <a:t>Beacon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1655064"/>
            <a:ext cx="46177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5B6B7C"/>
                </a:solidFill>
                <a:latin typeface="Calibri"/>
              </a:rPr>
              <a:t>SOC 2, RBAC, SSO, audit trails, no backend/API/database access, public trust center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655064"/>
            <a:ext cx="34747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1B2B3C"/>
                </a:solidFill>
                <a:latin typeface="Calibri"/>
              </a:rPr>
              <a:t>Trust moves up; proof remains the bottleneck.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22576"/>
            <a:ext cx="11094415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322576"/>
            <a:ext cx="73152" cy="56692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450592"/>
            <a:ext cx="19659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A1628"/>
                </a:solidFill>
                <a:latin typeface="Calibri"/>
              </a:rPr>
              <a:t>WalkMe / SAP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2404872"/>
            <a:ext cx="46177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5B6B7C"/>
                </a:solidFill>
                <a:latin typeface="Calibri"/>
              </a:rPr>
              <a:t>SOC/ISO/GDPR evidence, SOC report, FedRAMP-related positioning, SAP ecosystem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404872"/>
            <a:ext cx="34747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1B2B3C"/>
                </a:solidFill>
                <a:latin typeface="Calibri"/>
              </a:rPr>
              <a:t>Highest DAP trust and distribution benchmark.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72384"/>
            <a:ext cx="11094415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072384"/>
            <a:ext cx="73152" cy="56692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200400"/>
            <a:ext cx="19659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A1628"/>
                </a:solidFill>
                <a:latin typeface="Calibri"/>
              </a:rPr>
              <a:t>Whatfix / Pendo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4368" y="3154679"/>
            <a:ext cx="46177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5B6B7C"/>
                </a:solidFill>
                <a:latin typeface="Calibri"/>
              </a:rPr>
              <a:t>SOC 2, ISO/GDPR/TX-RAMP/HIPAA, SSO/SAML/MFA, trust/security pages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154679"/>
            <a:ext cx="34747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1B2B3C"/>
                </a:solidFill>
                <a:latin typeface="Calibri"/>
              </a:rPr>
              <a:t>Strong DAP trust; avoid adoption-category fight.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22191"/>
            <a:ext cx="11094415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822191"/>
            <a:ext cx="73152" cy="56692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950207"/>
            <a:ext cx="19659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A1628"/>
                </a:solidFill>
                <a:latin typeface="Calibri"/>
              </a:rPr>
              <a:t>Rocketlane / GUIDEcx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44368" y="3904487"/>
            <a:ext cx="46177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5B6B7C"/>
                </a:solidFill>
                <a:latin typeface="Calibri"/>
              </a:rPr>
              <a:t>SOC 1/2, CSA STAR, ISO/GDPR, SSO/SAML, audit logs, DPA/trust references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3904487"/>
            <a:ext cx="34747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1B2B3C"/>
                </a:solidFill>
                <a:latin typeface="Calibri"/>
              </a:rPr>
              <a:t>Credible PS/onboarding trust; integrate/coexist.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572000"/>
            <a:ext cx="11094415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572000"/>
            <a:ext cx="73152" cy="56692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4700016"/>
            <a:ext cx="19659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A1628"/>
                </a:solidFill>
                <a:latin typeface="Calibri"/>
              </a:rPr>
              <a:t>Workato / UiPath / MuleSoft / Boomi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4368" y="4654296"/>
            <a:ext cx="46177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5B6B7C"/>
                </a:solidFill>
                <a:latin typeface="Calibri"/>
              </a:rPr>
              <a:t>Governance, audit trails, RBAC/SSO, compliance certifications, data/security controls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4654296"/>
            <a:ext cx="34747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0" i="0">
                <a:solidFill>
                  <a:srgbClr val="1B2B3C"/>
                </a:solidFill>
                <a:latin typeface="Calibri"/>
              </a:rPr>
              <a:t>Broad platform threat where API-led automation fits.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596128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Client implication: stop treating Beacon security as missing. Keep the pressure on measured implementation outcomes.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43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Proof Gap Makes The POC Non-Negotiable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Beacon's execution claim is differentiated, but it must be converted into audit-grade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2971800" cy="4315968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248716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800" b="1" i="0">
                <a:solidFill>
                  <a:srgbClr val="FFB800"/>
                </a:solidFill>
                <a:latin typeface="Calibri"/>
              </a:rPr>
              <a:t>+3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788920"/>
            <a:ext cx="248716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Beacon proof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18688"/>
            <a:ext cx="2450592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E0F7F1"/>
                </a:solidFill>
                <a:latin typeface="Calibri"/>
              </a:rPr>
              <a:t>Execution-depth score minus proof-quality 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8992" y="4041648"/>
            <a:ext cx="2121408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407408"/>
            <a:ext cx="2414016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FFFFFF"/>
                </a:solidFill>
                <a:latin typeface="Calibri"/>
              </a:rPr>
              <a:t>Meaning: the story is strong, but the sales motion needs benchmarked evidence before category investment.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1335024"/>
            <a:ext cx="242316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00C9A7"/>
                </a:solidFill>
                <a:latin typeface="Calibri"/>
              </a:rPr>
              <a:t>More claim than proof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335024"/>
            <a:ext cx="242316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5B6B7C"/>
                </a:solidFill>
                <a:latin typeface="Calibri"/>
              </a:rPr>
              <a:t>More proof than claim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1536192"/>
            <a:ext cx="16459" cy="3977639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68696" y="5394960"/>
            <a:ext cx="9144" cy="73152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77256" y="5513832"/>
            <a:ext cx="18288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5B6B7C"/>
                </a:solidFill>
                <a:latin typeface="Calibri"/>
              </a:rPr>
              <a:t>-3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7064" y="5394960"/>
            <a:ext cx="9144" cy="73152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35624" y="5513832"/>
            <a:ext cx="18288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5B6B7C"/>
                </a:solidFill>
                <a:latin typeface="Calibri"/>
              </a:rPr>
              <a:t>-2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85432" y="5394960"/>
            <a:ext cx="9144" cy="73152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5513832"/>
            <a:ext cx="18288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5B6B7C"/>
                </a:solidFill>
                <a:latin typeface="Calibri"/>
              </a:rPr>
              <a:t>-1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43800" y="5394960"/>
            <a:ext cx="9144" cy="73152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5513832"/>
            <a:ext cx="18288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5B6B7C"/>
                </a:solidFill>
                <a:latin typeface="Calibri"/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02168" y="5394960"/>
            <a:ext cx="9144" cy="73152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0728" y="5513832"/>
            <a:ext cx="18288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5B6B7C"/>
                </a:solidFill>
                <a:latin typeface="Calibri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60536" y="5394960"/>
            <a:ext cx="9144" cy="73152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69096" y="5513832"/>
            <a:ext cx="18288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5B6B7C"/>
                </a:solidFill>
                <a:latin typeface="Calibri"/>
              </a:rP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18904" y="5394960"/>
            <a:ext cx="9144" cy="73152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27464" y="5513832"/>
            <a:ext cx="18288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5B6B7C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30752" y="1865376"/>
            <a:ext cx="1874519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A1628"/>
                </a:solidFill>
                <a:latin typeface="Calibri"/>
              </a:rPr>
              <a:t>Beacon.li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43800" y="1810512"/>
            <a:ext cx="1975104" cy="237744"/>
          </a:xfrm>
          <a:prstGeom prst="roundRect">
            <a:avLst>
              <a:gd name="adj" fmla="val 3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92056" y="1865376"/>
            <a:ext cx="320040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A1628"/>
                </a:solidFill>
                <a:latin typeface="Calibri"/>
              </a:rPr>
              <a:t>+3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30752" y="2295143"/>
            <a:ext cx="1874519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0" i="0">
                <a:solidFill>
                  <a:srgbClr val="0A1628"/>
                </a:solidFill>
                <a:latin typeface="Calibri"/>
              </a:rPr>
              <a:t>Unframe AI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43800" y="2240279"/>
            <a:ext cx="658368" cy="237744"/>
          </a:xfrm>
          <a:prstGeom prst="roundRect">
            <a:avLst>
              <a:gd name="adj" fmla="val 3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2295143"/>
            <a:ext cx="320040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A1628"/>
                </a:solidFill>
                <a:latin typeface="Calibri"/>
              </a:rPr>
              <a:t>+1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30752" y="2724911"/>
            <a:ext cx="1874519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0" i="0">
                <a:solidFill>
                  <a:srgbClr val="0A1628"/>
                </a:solidFill>
                <a:latin typeface="Calibri"/>
              </a:rPr>
              <a:t>Rocketlane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85432" y="2670047"/>
            <a:ext cx="658368" cy="237744"/>
          </a:xfrm>
          <a:prstGeom prst="roundRect">
            <a:avLst>
              <a:gd name="adj" fmla="val 3000"/>
            </a:avLst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2724911"/>
            <a:ext cx="320040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5B6B7C"/>
                </a:solidFill>
                <a:latin typeface="Calibri"/>
              </a:rPr>
              <a:t>-1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30752" y="3154680"/>
            <a:ext cx="1874519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0" i="0">
                <a:solidFill>
                  <a:srgbClr val="0A1628"/>
                </a:solidFill>
                <a:latin typeface="Calibri"/>
              </a:rPr>
              <a:t>UiPath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85432" y="3099816"/>
            <a:ext cx="658368" cy="237744"/>
          </a:xfrm>
          <a:prstGeom prst="roundRect">
            <a:avLst>
              <a:gd name="adj" fmla="val 3000"/>
            </a:avLst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3154680"/>
            <a:ext cx="320040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5B6B7C"/>
                </a:solidFill>
                <a:latin typeface="Calibri"/>
              </a:rPr>
              <a:t>-1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30752" y="3584448"/>
            <a:ext cx="1874519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0" i="0">
                <a:solidFill>
                  <a:srgbClr val="0A1628"/>
                </a:solidFill>
                <a:latin typeface="Calibri"/>
              </a:rPr>
              <a:t>WalkMe/SAP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27064" y="3529584"/>
            <a:ext cx="1316736" cy="237744"/>
          </a:xfrm>
          <a:prstGeom prst="roundRect">
            <a:avLst>
              <a:gd name="adj" fmla="val 3000"/>
            </a:avLst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33872" y="3584448"/>
            <a:ext cx="320040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5B6B7C"/>
                </a:solidFill>
                <a:latin typeface="Calibri"/>
              </a:rPr>
              <a:t>-2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30752" y="4014216"/>
            <a:ext cx="1874519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0" i="0">
                <a:solidFill>
                  <a:srgbClr val="0A1628"/>
                </a:solidFill>
                <a:latin typeface="Calibri"/>
              </a:rPr>
              <a:t>Accenture/IBM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27064" y="3959352"/>
            <a:ext cx="1316736" cy="237744"/>
          </a:xfrm>
          <a:prstGeom prst="roundRect">
            <a:avLst>
              <a:gd name="adj" fmla="val 3000"/>
            </a:avLst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33872" y="4014216"/>
            <a:ext cx="320040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5B6B7C"/>
                </a:solidFill>
                <a:latin typeface="Calibri"/>
              </a:rPr>
              <a:t>-2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30752" y="4443984"/>
            <a:ext cx="1874519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0" i="0">
                <a:solidFill>
                  <a:srgbClr val="0A1628"/>
                </a:solidFill>
                <a:latin typeface="Calibri"/>
              </a:rPr>
              <a:t>Pendo/Whatfix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568696" y="4389120"/>
            <a:ext cx="1975104" cy="237744"/>
          </a:xfrm>
          <a:prstGeom prst="roundRect">
            <a:avLst>
              <a:gd name="adj" fmla="val 3000"/>
            </a:avLst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75504" y="4443984"/>
            <a:ext cx="320040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5B6B7C"/>
                </a:solidFill>
                <a:latin typeface="Calibri"/>
              </a:rPr>
              <a:t>-3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5285232"/>
            <a:ext cx="11094415" cy="786384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4672" y="5431536"/>
            <a:ext cx="10582351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A1628"/>
                </a:solidFill>
                <a:latin typeface="Calibri"/>
              </a:rPr>
              <a:t>Client implication: keep the category story, but make the next proof artifact a scored benchmark.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672" y="5669280"/>
            <a:ext cx="10582351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A1628"/>
                </a:solidFill>
                <a:latin typeface="Calibri"/>
              </a:rPr>
              <a:t>Compare manual services vs generic agent vs Beacon on the same implementation task.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43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Threat Priority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Prioritize response by severity, not by brand familiarity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27632"/>
            <a:ext cx="507492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27632"/>
            <a:ext cx="73152" cy="129844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92224"/>
            <a:ext cx="47274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High severity / immediate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194560"/>
            <a:ext cx="472744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WalkMe/SAP, Rocketlane, Accenture/IBM/Capgemini
Why: distribution, enterprise trust, and budget ownership.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627632"/>
            <a:ext cx="507492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60" y="1627632"/>
            <a:ext cx="73152" cy="129844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1792224"/>
            <a:ext cx="47274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High severity / proof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928" y="2194560"/>
            <a:ext cx="472744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Unframe AI, UiPath, generic computer-use agents
Why: broad AI delivery can absorb implementation as a use case.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46120"/>
            <a:ext cx="507492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246120"/>
            <a:ext cx="73152" cy="12984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410712"/>
            <a:ext cx="47274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Medium severity / positioning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813048"/>
            <a:ext cx="472744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Pendo, Whatfix, Appcues
Why: strong DAP fit, but weaker for implementation execution.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3246120"/>
            <a:ext cx="507492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0760" y="3246120"/>
            <a:ext cx="73152" cy="129844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1928" y="3410712"/>
            <a:ext cx="47274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Selective / coexist 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3813048"/>
            <a:ext cx="472744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GuideCX, Arrows, Dock
Why: useful collaboration layers, often easier to integrate than displace.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94960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Immediate response: build the benchmark showing Beacon vs manual services vs generic agent execution on the same implementation task.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43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Where Beacon Actually Wins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strongest fit is narrower than generic enterprise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11094415" cy="4389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73152" cy="43891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64792"/>
            <a:ext cx="704088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80" b="1" i="0">
                <a:solidFill>
                  <a:srgbClr val="1B2B3C"/>
                </a:solidFill>
                <a:latin typeface="Calibri"/>
              </a:rPr>
              <a:t>Complex configurable SaaS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8495" y="1764792"/>
            <a:ext cx="2057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180" b="1" i="0">
                <a:solidFill>
                  <a:srgbClr val="00C9A7"/>
                </a:solidFill>
                <a:latin typeface="Calibri"/>
              </a:rPr>
              <a:t>High fit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31136"/>
            <a:ext cx="11094415" cy="4389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231136"/>
            <a:ext cx="73152" cy="43891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331720"/>
            <a:ext cx="704088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80" b="1" i="0">
                <a:solidFill>
                  <a:srgbClr val="1B2B3C"/>
                </a:solidFill>
                <a:latin typeface="Calibri"/>
              </a:rPr>
              <a:t>Repeated implementation playbooks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48495" y="2331720"/>
            <a:ext cx="2057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180" b="1" i="0">
                <a:solidFill>
                  <a:srgbClr val="00C9A7"/>
                </a:solidFill>
                <a:latin typeface="Calibri"/>
              </a:rPr>
              <a:t>High fit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98064"/>
            <a:ext cx="11094415" cy="4389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798064"/>
            <a:ext cx="73152" cy="43891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898648"/>
            <a:ext cx="704088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80" b="1" i="0">
                <a:solidFill>
                  <a:srgbClr val="1B2B3C"/>
                </a:solidFill>
                <a:latin typeface="Calibri"/>
              </a:rPr>
              <a:t>Revenue stuck between close and go-live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48495" y="2898648"/>
            <a:ext cx="2057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180" b="1" i="0">
                <a:solidFill>
                  <a:srgbClr val="00C9A7"/>
                </a:solidFill>
                <a:latin typeface="Calibri"/>
              </a:rPr>
              <a:t>High fit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364991"/>
            <a:ext cx="11094415" cy="4389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364991"/>
            <a:ext cx="73152" cy="43891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465575"/>
            <a:ext cx="704088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80" b="1" i="0">
                <a:solidFill>
                  <a:srgbClr val="1B2B3C"/>
                </a:solidFill>
                <a:latin typeface="Calibri"/>
              </a:rPr>
              <a:t>Existing project tools that only coordinate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8495" y="3465575"/>
            <a:ext cx="2057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180" b="1" i="0">
                <a:solidFill>
                  <a:srgbClr val="00C9A7"/>
                </a:solidFill>
                <a:latin typeface="Calibri"/>
              </a:rPr>
              <a:t>High fit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31920"/>
            <a:ext cx="11094415" cy="4389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931920"/>
            <a:ext cx="73152" cy="43891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032504"/>
            <a:ext cx="704088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80" b="1" i="0">
                <a:solidFill>
                  <a:srgbClr val="1B2B3C"/>
                </a:solidFill>
                <a:latin typeface="Calibri"/>
              </a:rPr>
              <a:t>Pure product analytics or in-app guides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48495" y="4032504"/>
            <a:ext cx="2057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180" b="1" i="0">
                <a:solidFill>
                  <a:srgbClr val="E05A6B"/>
                </a:solidFill>
                <a:latin typeface="Calibri"/>
              </a:rPr>
              <a:t>Low fit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498848"/>
            <a:ext cx="11094415" cy="4389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498848"/>
            <a:ext cx="73152" cy="43891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4599432"/>
            <a:ext cx="704088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80" b="1" i="0">
                <a:solidFill>
                  <a:srgbClr val="1B2B3C"/>
                </a:solidFill>
                <a:latin typeface="Calibri"/>
              </a:rPr>
              <a:t>Simple customer portal / shared room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48495" y="4599432"/>
            <a:ext cx="2057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180" b="1" i="0">
                <a:solidFill>
                  <a:srgbClr val="E05A6B"/>
                </a:solidFill>
                <a:latin typeface="Calibri"/>
              </a:rPr>
              <a:t>Low fit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5046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1">
                <a:solidFill>
                  <a:srgbClr val="5B6B7C"/>
                </a:solidFill>
                <a:latin typeface="Calibri"/>
              </a:rPr>
              <a:t>Rule of thumb: if the buyer needs implementation labor reduced, Beacon belongs in the conversation. If the buyer needs adoption content or project visibility, an incumbent may be cleaner.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43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Pressure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claims that will get challenged first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342900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91640"/>
            <a:ext cx="73152" cy="33375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56232"/>
            <a:ext cx="30815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Weakest claim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258568"/>
            <a:ext cx="3081528" cy="25877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“The knowledge graph compounds.” This needs longitudinal proof that later implementations are faster or safer because of platform learning.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691640"/>
            <a:ext cx="342900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691640"/>
            <a:ext cx="73152" cy="33375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856232"/>
            <a:ext cx="30815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Sharpest objection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258568"/>
            <a:ext cx="3081528" cy="25877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“Is this just another coordination layer?” The answer has to be a live workflow execution trace, not a narrated demo.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91640"/>
            <a:ext cx="297180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691640"/>
            <a:ext cx="73152" cy="33375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856232"/>
            <a:ext cx="26243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Biggest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258568"/>
            <a:ext cx="2624328" cy="25877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Incumbents can reframe Beacon as a feature unless Beacon owns execution, auditability, and implementation-specific learning.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43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CATEGORY DEEP DIVES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7860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 i="0">
                <a:solidFill>
                  <a:srgbClr val="FFFFFF"/>
                </a:solidFill>
                <a:latin typeface="Calibri"/>
              </a:rPr>
              <a:t>The Four Competitive Arenas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47872"/>
            <a:ext cx="128016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822191"/>
            <a:ext cx="868680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Each arena wins a different buyer job; Beacon must prove a narrower execution claim.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43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Digital Adoption: What Buyers Actually Buy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DAP tools are mature because they map to a well-understood adoption problem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3246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64208"/>
            <a:ext cx="73152" cy="162763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828800"/>
            <a:ext cx="28986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Buyer job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231136"/>
            <a:ext cx="2898648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Guide users, reduce support, improve training, and measure adoption after or around launch.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664208"/>
            <a:ext cx="3246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664208"/>
            <a:ext cx="73152" cy="162763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1828800"/>
            <a:ext cx="28986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Primary budget 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231136"/>
            <a:ext cx="2898648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Product, IT, digital transformation, customer success, or employee experience.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1664208"/>
            <a:ext cx="3246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73568" y="1664208"/>
            <a:ext cx="73152" cy="162763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1828800"/>
            <a:ext cx="28986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Strength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2231136"/>
            <a:ext cx="2898648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Mature enterprise trust, review surfaces, integration depth, and established buying categories.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86784"/>
            <a:ext cx="3246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986784"/>
            <a:ext cx="73152" cy="1627632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4151376"/>
            <a:ext cx="28986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Weakness vs Beacon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553712"/>
            <a:ext cx="2898648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They usually do not perform the implementation's configuration, migration, validation, or cutover work.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5968" y="3986784"/>
            <a:ext cx="3246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15968" y="3986784"/>
            <a:ext cx="73152" cy="162763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136" y="4151376"/>
            <a:ext cx="28986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Beacon move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7136" y="4553712"/>
            <a:ext cx="2898648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Do not attack guidance. Reframe the problem as pre-go-live execution.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73568" y="3986784"/>
            <a:ext cx="3246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73568" y="3986784"/>
            <a:ext cx="73152" cy="162763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74736" y="4151376"/>
            <a:ext cx="28986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Likely objection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4736" y="4553712"/>
            <a:ext cx="2898648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“We already have a DAP.” Answer: Beacon is not adoption content; it is implementation work removal.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 / 43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WalkMe / SAP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Digital adoption incumbent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9344"/>
            <a:ext cx="11094415" cy="932688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73936"/>
            <a:ext cx="10582351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80" b="1" i="0">
                <a:solidFill>
                  <a:srgbClr val="FFFFFF"/>
                </a:solidFill>
                <a:latin typeface="Calibri"/>
              </a:rPr>
              <a:t>Most dangerous incumbent: SAP distribution, AI-assistance positioning, cross-application context, and enterprise trust.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80"/>
            <a:ext cx="48006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2697480"/>
            <a:ext cx="73152" cy="20574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862072"/>
            <a:ext cx="44531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Beacon's winning angle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264408"/>
            <a:ext cx="4453128" cy="1307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Beacon is narrower and more implementation-specific: configuration, validation, UAT, migration sequencing, and hypercare before or around go-live.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70448" y="2697480"/>
            <a:ext cx="48006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70448" y="2697480"/>
            <a:ext cx="73152" cy="20574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1616" y="2862072"/>
            <a:ext cx="44531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Competitive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1616" y="3264408"/>
            <a:ext cx="4453128" cy="1307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WalkMe can move upstream from adoption into implementation workflows and bundle through SAP transformation programs.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 / 43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Pendo, Whatfix, And Appcues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Strong products, different center of gravity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3246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64208"/>
            <a:ext cx="73152" cy="162763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828800"/>
            <a:ext cx="28986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Pendo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231136"/>
            <a:ext cx="2898648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Product analytics, in-app guides, sentiment, replay, orchestration, and free entry tier.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664208"/>
            <a:ext cx="3246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664208"/>
            <a:ext cx="73152" cy="162763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1828800"/>
            <a:ext cx="28986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Whatfix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231136"/>
            <a:ext cx="2898648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Enterprise DAP with guidance, analytics, training, support, and broad deployment options.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1664208"/>
            <a:ext cx="3246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73568" y="1664208"/>
            <a:ext cx="73152" cy="162763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1828800"/>
            <a:ext cx="28986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Appcues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2231136"/>
            <a:ext cx="2898648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Lighter customer-facing product onboarding, messaging, email, push, and feature adoption.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86784"/>
            <a:ext cx="3246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986784"/>
            <a:ext cx="73152" cy="1627632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4151376"/>
            <a:ext cx="28986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Beacon advantage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553712"/>
            <a:ext cx="2898648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Implementation labor reduction is a stronger economic claim than adoption content when go-live is delayed.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5968" y="3986784"/>
            <a:ext cx="3246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15968" y="3986784"/>
            <a:ext cx="73152" cy="162763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136" y="4151376"/>
            <a:ext cx="28986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Beacon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7136" y="4553712"/>
            <a:ext cx="2898648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Product teams may understand and budget these tools faster than a new implementation-execution category.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73568" y="3986784"/>
            <a:ext cx="3246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73568" y="3986784"/>
            <a:ext cx="73152" cy="162763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74736" y="4151376"/>
            <a:ext cx="28986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Sales language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4736" y="4553712"/>
            <a:ext cx="2898648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“Keep adoption tools. Use Beacon to get customers live faster before adoption becomes the problem.”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 / 43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Implementation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These tools own the project layer around Beacon's execution wedge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3246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64208"/>
            <a:ext cx="73152" cy="162763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828800"/>
            <a:ext cx="28986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Buyer job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231136"/>
            <a:ext cx="2898648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Coordinate customer onboarding, implementation tasks, timelines, resources, and stakeholder accountability.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664208"/>
            <a:ext cx="3246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664208"/>
            <a:ext cx="73152" cy="162763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1828800"/>
            <a:ext cx="28986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Primary budget 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231136"/>
            <a:ext cx="2898648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Professional services, implementation, customer success operations, and RevOps.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1664208"/>
            <a:ext cx="3246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73568" y="1664208"/>
            <a:ext cx="73152" cy="162763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1828800"/>
            <a:ext cx="28986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Strength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2231136"/>
            <a:ext cx="2898648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They are already in the delivery workflow and may hold project, resource, and revenue-recognition context.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86784"/>
            <a:ext cx="3246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986784"/>
            <a:ext cx="73152" cy="1627632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4151376"/>
            <a:ext cx="28986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Weakness vs Beacon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553712"/>
            <a:ext cx="2898648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They manage work but generally still require humans to perform configuration, validation, and exception handling.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5968" y="3986784"/>
            <a:ext cx="3246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15968" y="3986784"/>
            <a:ext cx="73152" cy="162763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136" y="4151376"/>
            <a:ext cx="28986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Beacon move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7136" y="4553712"/>
            <a:ext cx="2898648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Integrate first. Become the execution layer below the project system.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73568" y="3986784"/>
            <a:ext cx="3246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73568" y="3986784"/>
            <a:ext cx="73152" cy="162763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74736" y="4151376"/>
            <a:ext cx="28986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Likely objection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4736" y="4553712"/>
            <a:ext cx="2898648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“Will this replace our project system?” Answer: no, it executes work and reports progress back.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 / 43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Rocketlane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Customer onboarding / PSA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9344"/>
            <a:ext cx="11094415" cy="932688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73936"/>
            <a:ext cx="10582351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80" b="1" i="0">
                <a:solidFill>
                  <a:srgbClr val="FFFFFF"/>
                </a:solidFill>
                <a:latin typeface="Calibri"/>
              </a:rPr>
              <a:t>Strongest adjacent implementation-operations vendor: project collaboration, portals, resource management, financials, revenue recognition, and public seat pricing.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80"/>
            <a:ext cx="48006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2697480"/>
            <a:ext cx="73152" cy="20574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862072"/>
            <a:ext cx="44531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Beacon's winning angle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264408"/>
            <a:ext cx="4453128" cy="1307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Beacon should sit under Rocketlane as the worker layer: execute configuration, validation, exception routing, and hypercare while Rocketlane remains the operating 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70448" y="2697480"/>
            <a:ext cx="48006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70448" y="2697480"/>
            <a:ext cx="73152" cy="20574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1616" y="2862072"/>
            <a:ext cx="44531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Competitive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1616" y="3264408"/>
            <a:ext cx="4453128" cy="1307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Rocketlane can add AI agents for repeatable services work and defend the implementation operations budget.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18 / 43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GuideCX, Arrows, And Dock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Collaboration tools win when the buyer wants visibility more than automation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3246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64208"/>
            <a:ext cx="73152" cy="162763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828800"/>
            <a:ext cx="28986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GuideCX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231136"/>
            <a:ext cx="2898648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Implementation management and customer accountability.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664208"/>
            <a:ext cx="3246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664208"/>
            <a:ext cx="73152" cy="162763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1828800"/>
            <a:ext cx="28986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Arrows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231136"/>
            <a:ext cx="2898648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HubSpot-oriented sales rooms and onboarding plans; pricing based on team size and use case.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1664208"/>
            <a:ext cx="3246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73568" y="1664208"/>
            <a:ext cx="73152" cy="162763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1828800"/>
            <a:ext cx="28986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Dock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2231136"/>
            <a:ext cx="2898648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Client-facing workspaces for sales, onboarding, and customer collaboration.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86784"/>
            <a:ext cx="3246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986784"/>
            <a:ext cx="73152" cy="1627632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4151376"/>
            <a:ext cx="28986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Beacon advantage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553712"/>
            <a:ext cx="2898648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Deeper for complex configuration, validation, UAT, and migration workflows.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5968" y="3986784"/>
            <a:ext cx="3246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15968" y="3986784"/>
            <a:ext cx="73152" cy="162763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136" y="4151376"/>
            <a:ext cx="28986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Beacon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7136" y="4553712"/>
            <a:ext cx="2898648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Overkill when the real pain is scattered customer communication.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73568" y="3986784"/>
            <a:ext cx="3246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73568" y="3986784"/>
            <a:ext cx="73152" cy="162763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74736" y="4151376"/>
            <a:ext cx="28986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Sales language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4736" y="4553712"/>
            <a:ext cx="2898648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“Use customer rooms for alignment. Use Beacon for the work that blocks go-live.”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19 / 43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Enterprise AI Delivery: Broad Platform Threat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These vendors can package implementation as one AI-transformation use case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3246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64208"/>
            <a:ext cx="73152" cy="162763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828800"/>
            <a:ext cx="28986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Buyer job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231136"/>
            <a:ext cx="2898648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Move from AI experiments to governed production workflows across the enterprise.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664208"/>
            <a:ext cx="3246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664208"/>
            <a:ext cx="73152" cy="162763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1828800"/>
            <a:ext cx="28986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Primary budget 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231136"/>
            <a:ext cx="2898648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CIO, transformation, data/AI, operations, and business function leaders.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1664208"/>
            <a:ext cx="3246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73568" y="1664208"/>
            <a:ext cx="73152" cy="162763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1828800"/>
            <a:ext cx="28986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Strength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2231136"/>
            <a:ext cx="2898648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Broad scope, governance language, integrations, and ability to sell multiple use cases.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86784"/>
            <a:ext cx="3246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986784"/>
            <a:ext cx="73152" cy="1627632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4151376"/>
            <a:ext cx="28986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Weakness vs Beacon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553712"/>
            <a:ext cx="2898648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Less focused on enterprise SaaS implementation economics and post-sales delivery bottlenecks.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5968" y="3986784"/>
            <a:ext cx="3246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15968" y="3986784"/>
            <a:ext cx="73152" cy="162763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136" y="4151376"/>
            <a:ext cx="28986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Beacon move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7136" y="4553712"/>
            <a:ext cx="2898648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Win by being narrower, faster to prove, and closer to revenue recognition.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73568" y="3986784"/>
            <a:ext cx="3246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73568" y="3986784"/>
            <a:ext cx="73152" cy="162763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74736" y="4151376"/>
            <a:ext cx="28986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Likely objection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4736" y="4553712"/>
            <a:ext cx="2898648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“Can our AI transformation partner build this?” Answer with implementation-specific data and speed.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20 / 43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Unframe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Managed enterprise AI delivery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9344"/>
            <a:ext cx="11094415" cy="932688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73936"/>
            <a:ext cx="10582351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80" b="1" i="0">
                <a:solidFill>
                  <a:srgbClr val="FFFFFF"/>
                </a:solidFill>
                <a:latin typeface="Calibri"/>
              </a:rPr>
              <a:t>Closest broad AI peer: managed AI transformation, agent orchestrator, knowledge fabric, AI-native data warehouse, governance, and production-grade workflows.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80"/>
            <a:ext cx="48006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2697480"/>
            <a:ext cx="73152" cy="20574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862072"/>
            <a:ext cx="44531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Beacon's winning angle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264408"/>
            <a:ext cx="4453128" cy="1307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Beacon is more verticalized around SaaS implementation execution and easier to value when go-live delay is the business pain.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70448" y="2697480"/>
            <a:ext cx="48006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70448" y="2697480"/>
            <a:ext cx="73152" cy="20574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1616" y="2862072"/>
            <a:ext cx="44531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Competitive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1616" y="3264408"/>
            <a:ext cx="4453128" cy="1307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Unframe can sell implementation as one managed AI use case inside a broader enterprise AI program.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21 / 43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UiPath And Automation Incumbents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RPA / agentic automation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9344"/>
            <a:ext cx="11094415" cy="932688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73936"/>
            <a:ext cx="10582351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80" b="1" i="0">
                <a:solidFill>
                  <a:srgbClr val="FFFFFF"/>
                </a:solidFill>
                <a:latin typeface="Calibri"/>
              </a:rPr>
              <a:t>Deep enterprise automation footprint and budget access; capable of automating implementation fragments with enough configuration.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80"/>
            <a:ext cx="48006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2697480"/>
            <a:ext cx="73152" cy="20574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862072"/>
            <a:ext cx="44531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Beacon's winning angle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264408"/>
            <a:ext cx="4453128" cy="1307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Beacon avoids custom bot-building by owning the implementation domain model, execution logic, and workflow-specific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70448" y="2697480"/>
            <a:ext cx="48006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70448" y="2697480"/>
            <a:ext cx="73152" cy="20574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1616" y="2862072"/>
            <a:ext cx="44531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Competitive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1616" y="3264408"/>
            <a:ext cx="4453128" cy="1307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Automation incumbents can bundle primitives into enterprise agreements and argue Beacon is a workflow built on top of their category.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22 / 43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What Consultancies Are Really Selling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common thesis: AI value is operating-model execution, not model access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27632"/>
            <a:ext cx="342900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73152" cy="324612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792224"/>
            <a:ext cx="30815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Strategy and sponsorship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94560"/>
            <a:ext cx="3081528" cy="2496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C-suite alignment, transformation roadmap, use-case prioritization, board narrative, and operating-model choices.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627632"/>
            <a:ext cx="342900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627632"/>
            <a:ext cx="73152" cy="32461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792224"/>
            <a:ext cx="30815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Delivery machinery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94560"/>
            <a:ext cx="3081528" cy="2496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Data readiness, workflow redesign, governance, change management, integration, training, and managed execution.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27632"/>
            <a:ext cx="342900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627632"/>
            <a:ext cx="73152" cy="32461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792224"/>
            <a:ext cx="30815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Value realization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194560"/>
            <a:ext cx="3081528" cy="2496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ROI tracking, adoption, benefit capture, outcome pricing, and proof that pilots scale into enterprise value.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40680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80" b="1" i="0">
                <a:solidFill>
                  <a:srgbClr val="E05A6B"/>
                </a:solidFill>
                <a:latin typeface="Calibri"/>
              </a:rPr>
              <a:t>Implication: Beacon should not compete with strategy decks. It should own the repeatable execution layer that turns transformation intent into completed work.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23 / 43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Consulting Firm Archetypes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Each firm creates a different competitive pressure and partnership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3246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64208"/>
            <a:ext cx="73152" cy="162763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828800"/>
            <a:ext cx="28986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Accenture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231136"/>
            <a:ext cx="2898648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Scale and reinvention. Most dangerous services-scale threat; potential channel if Beacon becomes an execution asset.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664208"/>
            <a:ext cx="3246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664208"/>
            <a:ext cx="73152" cy="162763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1828800"/>
            <a:ext cx="28986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BCG / BCG 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231136"/>
            <a:ext cx="2898648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Value capture and 10-20-70 change logic. Beacon must prove it operationalizes the people/process 70.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1664208"/>
            <a:ext cx="3246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73568" y="1664208"/>
            <a:ext cx="73152" cy="162763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1828800"/>
            <a:ext cx="28986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McKinsey / QuantumBlack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2231136"/>
            <a:ext cx="2898648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Rewired operating model and C-suite authority. Beacon should sit below strategy as execution telemetry.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86784"/>
            <a:ext cx="3246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986784"/>
            <a:ext cx="73152" cy="1627632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4151376"/>
            <a:ext cx="28986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Deloitte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553712"/>
            <a:ext cx="2898648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Trustworthy AI, governance, risk, and adoption. Beacon must lead with controls and evidence.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5968" y="3986784"/>
            <a:ext cx="3246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15968" y="3986784"/>
            <a:ext cx="73152" cy="162763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136" y="4151376"/>
            <a:ext cx="28986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IBM Consulting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7136" y="4553712"/>
            <a:ext cx="2898648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watsonx, Consulting Advantage, hybrid-cloud delivery. Beacon competes when SaaS implementation is too domain-specific.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73568" y="3986784"/>
            <a:ext cx="324612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73568" y="3986784"/>
            <a:ext cx="73152" cy="162763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74736" y="4151376"/>
            <a:ext cx="289864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Capgemini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4736" y="4553712"/>
            <a:ext cx="2898648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Industrialized AI delivery and engineering scale. Beacon must win through productized repeatability.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24 / 43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Consulting-Firm Threat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threat is delivery machinery, not PowerPoint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72768"/>
            <a:ext cx="11094415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72768"/>
            <a:ext cx="73152" cy="53035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00784"/>
            <a:ext cx="205740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70" b="1" i="0">
                <a:solidFill>
                  <a:srgbClr val="0A1628"/>
                </a:solidFill>
                <a:latin typeface="Calibri"/>
              </a:rPr>
              <a:t>Services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65506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5B6B7C"/>
                </a:solidFill>
                <a:latin typeface="Calibri"/>
              </a:rPr>
              <a:t>Accenture, IBM, Capgemini, and Deloitte can staff transformation programs globally.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86000"/>
            <a:ext cx="11094415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286000"/>
            <a:ext cx="73152" cy="53035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414016"/>
            <a:ext cx="205740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70" b="1" i="0">
                <a:solidFill>
                  <a:srgbClr val="0A1628"/>
                </a:solidFill>
                <a:latin typeface="Calibri"/>
              </a:rPr>
              <a:t>Platform assets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36829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5B6B7C"/>
                </a:solidFill>
                <a:latin typeface="Calibri"/>
              </a:rPr>
              <a:t>AI Refinery, watsonx, Consulting Advantage, BCG X, QuantumBlack, and internal assistant libraries.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99232"/>
            <a:ext cx="11094415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999232"/>
            <a:ext cx="73152" cy="53035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27248"/>
            <a:ext cx="205740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70" b="1" i="0">
                <a:solidFill>
                  <a:srgbClr val="0A1628"/>
                </a:solidFill>
                <a:latin typeface="Calibri"/>
              </a:rPr>
              <a:t>Executive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08152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5B6B7C"/>
                </a:solidFill>
                <a:latin typeface="Calibri"/>
              </a:rPr>
              <a:t>McKinsey, BCG, and Accenture often shape the budget before tools are shortlisted.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712463"/>
            <a:ext cx="11094415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712463"/>
            <a:ext cx="73152" cy="5303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840479"/>
            <a:ext cx="205740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70" b="1" i="0">
                <a:solidFill>
                  <a:srgbClr val="0A1628"/>
                </a:solidFill>
                <a:latin typeface="Calibri"/>
              </a:rPr>
              <a:t>Governance trust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794759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5B6B7C"/>
                </a:solidFill>
                <a:latin typeface="Calibri"/>
              </a:rPr>
              <a:t>Big Four and IBM can slow adoption by framing AI execution as risk-managed transformation.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25696"/>
            <a:ext cx="11094415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25696"/>
            <a:ext cx="73152" cy="5303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553712"/>
            <a:ext cx="205740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70" b="1" i="0">
                <a:solidFill>
                  <a:srgbClr val="0A1628"/>
                </a:solidFill>
                <a:latin typeface="Calibri"/>
              </a:rPr>
              <a:t>Partner ecosystems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507992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5B6B7C"/>
                </a:solidFill>
                <a:latin typeface="Calibri"/>
              </a:rPr>
              <a:t>Hyperscalers and model providers use consultancies as enterprise deployment channels.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25 / 43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Battlecard: WalkMe / SAP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Digital adoption incumbent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34290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00200"/>
            <a:ext cx="73152" cy="148132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764792"/>
            <a:ext cx="30815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When it appears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67128"/>
            <a:ext cx="3081528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Enterprise buyer frames the problem as adoption, training, employee productivity, or AI ROI across applications.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600200"/>
            <a:ext cx="34290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600200"/>
            <a:ext cx="73152" cy="14813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764792"/>
            <a:ext cx="30815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Displace only when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67128"/>
            <a:ext cx="3081528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The blocker is pre-go-live implementation execution, not post-launch guidance.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00200"/>
            <a:ext cx="34290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600200"/>
            <a:ext cx="73152" cy="148132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764792"/>
            <a:ext cx="30815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Coexist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167128"/>
            <a:ext cx="3081528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WalkMe remains the adoption layer while Beacon executes setup, validation, and hypercare workflows.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429000"/>
            <a:ext cx="525780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429000"/>
            <a:ext cx="73152" cy="164592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593592"/>
            <a:ext cx="49103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Trap to avoid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3995928"/>
            <a:ext cx="4910328" cy="8961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Do not say Beacon replaces WalkMe broadly; that invites an enterprise maturity comparison Beacon may lose.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429000"/>
            <a:ext cx="525780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42900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7" y="3593592"/>
            <a:ext cx="49103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Proof that wins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7" y="3995928"/>
            <a:ext cx="4910328" cy="8961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A workflow trace showing Beacon performs configuration and UAT work that WalkMe would only guide or support.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26 / 43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Battlecard: Rocketlane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Implementation operations / PSA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34290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00200"/>
            <a:ext cx="73152" cy="148132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764792"/>
            <a:ext cx="30815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When it appears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67128"/>
            <a:ext cx="3081528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Professional services wants project visibility, customer collaboration, resource planning, or revenue operations.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600200"/>
            <a:ext cx="34290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600200"/>
            <a:ext cx="73152" cy="14813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764792"/>
            <a:ext cx="30815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Displace only when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67128"/>
            <a:ext cx="3081528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Manual delivery work remains the constraint after the project system is already in place.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00200"/>
            <a:ext cx="34290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600200"/>
            <a:ext cx="73152" cy="148132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764792"/>
            <a:ext cx="30815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Coexist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167128"/>
            <a:ext cx="3081528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Rocketlane remains the operating layer; Beacon becomes the work-execution layer underneath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429000"/>
            <a:ext cx="525780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429000"/>
            <a:ext cx="73152" cy="164592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593592"/>
            <a:ext cx="49103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Trap to avoid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3995928"/>
            <a:ext cx="4910328" cy="8961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Do not argue against project management. The buyer likely needs it and may already own it.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429000"/>
            <a:ext cx="525780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42900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7" y="3593592"/>
            <a:ext cx="49103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Proof that wins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7" y="3995928"/>
            <a:ext cx="4910328" cy="8961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Before/after evidence that Beacon reduces human touches, errors, and elapsed time inside active implementation tasks.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27 / 43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Battlecard: Unframe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Managed enterprise AI delivery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34290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00200"/>
            <a:ext cx="73152" cy="148132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764792"/>
            <a:ext cx="30815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When it appears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67128"/>
            <a:ext cx="3081528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CIO or transformation buyer wants broad governed AI workflows across the enterprise.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600200"/>
            <a:ext cx="34290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600200"/>
            <a:ext cx="73152" cy="14813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764792"/>
            <a:ext cx="30815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Displace only when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67128"/>
            <a:ext cx="3081528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The buyer's urgent pain is enterprise SaaS go-live velocity and services margin, not generic AI transformation.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00200"/>
            <a:ext cx="34290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600200"/>
            <a:ext cx="73152" cy="148132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764792"/>
            <a:ext cx="30815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Coexist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167128"/>
            <a:ext cx="3081528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Unframe handles broader AI roadmap; Beacon owns the vertical implementation execution use case.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429000"/>
            <a:ext cx="525780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429000"/>
            <a:ext cx="73152" cy="164592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593592"/>
            <a:ext cx="49103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Trap to avoid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3995928"/>
            <a:ext cx="4910328" cy="8961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Do not compete on breadth. Compete on implementation specificity and time-to-proof.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429000"/>
            <a:ext cx="525780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42900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7" y="3593592"/>
            <a:ext cx="49103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Proof that wins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7" y="3995928"/>
            <a:ext cx="4910328" cy="8961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A 7-day POC against a named implementation workflow with a clear revenue/margin value case.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28 / 43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Battlecard: UiPath / Automation Incumbents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RPA and agentic automation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34290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00200"/>
            <a:ext cx="73152" cy="148132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764792"/>
            <a:ext cx="30815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When it appears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67128"/>
            <a:ext cx="3081528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Operations or IT already has automation budget, internal bot builders, or enterprise automation contracts.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600200"/>
            <a:ext cx="34290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600200"/>
            <a:ext cx="73152" cy="14813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764792"/>
            <a:ext cx="30815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Displace only when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67128"/>
            <a:ext cx="3081528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Generic automation requires too much custom process mapping for repeated implementation workflows.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00200"/>
            <a:ext cx="34290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600200"/>
            <a:ext cx="73152" cy="148132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764792"/>
            <a:ext cx="30815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Coexist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167128"/>
            <a:ext cx="3081528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UiPath automates horizontal tasks; Beacon manages implementation-specific logic, exceptions, and audit trails.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429000"/>
            <a:ext cx="525780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429000"/>
            <a:ext cx="73152" cy="164592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593592"/>
            <a:ext cx="49103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Trap to avoid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3995928"/>
            <a:ext cx="4910328" cy="8961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Do not frame the wedge as browser automation alone. That is commoditizable.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429000"/>
            <a:ext cx="525780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429000"/>
            <a:ext cx="73152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7" y="3593592"/>
            <a:ext cx="49103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Proof that wins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7" y="3995928"/>
            <a:ext cx="4910328" cy="8961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Show reusable implementation logic, permission-aware execution, and compounding workflow knowledge.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29 / 43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Objection Handling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Prepare sales for the questions that will decide credibility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72768"/>
            <a:ext cx="11094415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72768"/>
            <a:ext cx="73152" cy="47548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82495"/>
            <a:ext cx="33832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0A1628"/>
                </a:solidFill>
                <a:latin typeface="Calibri"/>
              </a:rPr>
              <a:t>We already have WalkMe/Pendo.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79" y="1645920"/>
            <a:ext cx="70408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5B6B7C"/>
                </a:solidFill>
                <a:latin typeface="Calibri"/>
              </a:rPr>
              <a:t>Keep it. Beacon addresses implementation execution before adoption analytics becomes useful.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11094415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73152" cy="47548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304288"/>
            <a:ext cx="33832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0A1628"/>
                </a:solidFill>
                <a:latin typeface="Calibri"/>
              </a:rPr>
              <a:t>We already use Rocketlane/Jira.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2267712"/>
            <a:ext cx="70408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5B6B7C"/>
                </a:solidFill>
                <a:latin typeface="Calibri"/>
              </a:rPr>
              <a:t>Good. Beacon should execute work and sync progress into the system of record.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816352"/>
            <a:ext cx="11094415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816352"/>
            <a:ext cx="73152" cy="47548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926080"/>
            <a:ext cx="33832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0A1628"/>
                </a:solidFill>
                <a:latin typeface="Calibri"/>
              </a:rPr>
              <a:t>Could our AI team build this?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79" y="2889504"/>
            <a:ext cx="70408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5B6B7C"/>
                </a:solidFill>
                <a:latin typeface="Calibri"/>
              </a:rPr>
              <a:t>They can build fragments; Beacon must prove domain-specific workflow learning and speed.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38144"/>
            <a:ext cx="11094415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438144"/>
            <a:ext cx="73152" cy="47548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47872"/>
            <a:ext cx="33832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0A1628"/>
                </a:solidFill>
                <a:latin typeface="Calibri"/>
              </a:rPr>
              <a:t>Is autonomous configuration safe?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79" y="3511296"/>
            <a:ext cx="70408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5B6B7C"/>
                </a:solidFill>
                <a:latin typeface="Calibri"/>
              </a:rPr>
              <a:t>Use audit logs, inherited RBAC, approval gates, and scoped POC execution.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59936"/>
            <a:ext cx="11094415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059936"/>
            <a:ext cx="73152" cy="47548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169664"/>
            <a:ext cx="33832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0A1628"/>
                </a:solidFill>
                <a:latin typeface="Calibri"/>
              </a:rPr>
              <a:t>Where is independent proof?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79" y="4133088"/>
            <a:ext cx="70408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5B6B7C"/>
                </a:solidFill>
                <a:latin typeface="Calibri"/>
              </a:rPr>
              <a:t>Acknowledge the gap; offer buyer-specific POC metrics and customer references when available.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681728"/>
            <a:ext cx="11094415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681728"/>
            <a:ext cx="73152" cy="47548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4791456"/>
            <a:ext cx="33832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0A1628"/>
                </a:solidFill>
                <a:latin typeface="Calibri"/>
              </a:rPr>
              <a:t>How do we budget it?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79" y="4754880"/>
            <a:ext cx="70408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5B6B7C"/>
                </a:solidFill>
                <a:latin typeface="Calibri"/>
              </a:rPr>
              <a:t>Tie price discussion to revenue pull-forward, consultant leverage, and hypercare reduction.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30 / 43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Build / Buy / Partner Implication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Beacon should become the execution capability in a mixed sourcing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91640"/>
            <a:ext cx="1033272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691640"/>
            <a:ext cx="91440" cy="621792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1856232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810512"/>
            <a:ext cx="800100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Unique product rules, proprietary implementation playbooks, customer-specific configuration logic.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51176"/>
            <a:ext cx="1033272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2551176"/>
            <a:ext cx="91440" cy="62179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2715768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Buy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670048"/>
            <a:ext cx="800100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Generic AI infrastructure, model access, analytics, workflow tooling, and commodity automation.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410712"/>
            <a:ext cx="1033272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3410712"/>
            <a:ext cx="91440" cy="62179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7008" y="3575304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Partner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529584"/>
            <a:ext cx="800100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Transformation strategy, operating-model redesign, governance program, and large-scale change management.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270248"/>
            <a:ext cx="1033272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4270248"/>
            <a:ext cx="91440" cy="6217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07008" y="4434840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Beacon slot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4389120"/>
            <a:ext cx="800100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Buy or partner for the repeatable implementation-execution layer where delivery work is expensive and repeated.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31 / 43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Partner, Compete, Or Attach?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practical GTM choice by consulting-firm archetype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9344"/>
            <a:ext cx="11094415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9344"/>
            <a:ext cx="73152" cy="6583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73936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A1628"/>
                </a:solidFill>
                <a:latin typeface="Calibri"/>
              </a:rPr>
              <a:t>Accenture / IBM / Capgemini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773936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9B82"/>
                </a:solidFill>
                <a:latin typeface="Calibri"/>
              </a:rPr>
              <a:t>Partner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1755648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5B6B7C"/>
                </a:solidFill>
                <a:latin typeface="Calibri"/>
              </a:rPr>
              <a:t>Large programs need repeatable execution assets.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50592"/>
            <a:ext cx="11094415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50592"/>
            <a:ext cx="73152" cy="6583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15184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A1628"/>
                </a:solidFill>
                <a:latin typeface="Calibri"/>
              </a:rPr>
              <a:t>BCG / McKinsey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615184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9B82"/>
                </a:solidFill>
                <a:latin typeface="Calibri"/>
              </a:rPr>
              <a:t>Attach below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2596896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5B6B7C"/>
                </a:solidFill>
                <a:latin typeface="Calibri"/>
              </a:rPr>
              <a:t>They shape the roadmap; Beacon supplies proof.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91840"/>
            <a:ext cx="11094415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291840"/>
            <a:ext cx="73152" cy="6583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56432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A1628"/>
                </a:solidFill>
                <a:latin typeface="Calibri"/>
              </a:rPr>
              <a:t>Deloitte / Big Four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45643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9B82"/>
                </a:solidFill>
                <a:latin typeface="Calibri"/>
              </a:rPr>
              <a:t>Coexist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3438144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5B6B7C"/>
                </a:solidFill>
                <a:latin typeface="Calibri"/>
              </a:rPr>
              <a:t>Lead with auditability and approvals.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133088"/>
            <a:ext cx="11094415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133088"/>
            <a:ext cx="73152" cy="65836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297680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A1628"/>
                </a:solidFill>
                <a:latin typeface="Calibri"/>
              </a:rPr>
              <a:t>Boutique AI builders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4297680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9B82"/>
                </a:solidFill>
                <a:latin typeface="Calibri"/>
              </a:rPr>
              <a:t>Compete selectively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4279392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0" i="0">
                <a:solidFill>
                  <a:srgbClr val="5B6B7C"/>
                </a:solidFill>
                <a:latin typeface="Calibri"/>
              </a:rPr>
              <a:t>Win when domain automation beats bespoke build time.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32 / 43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Messaging House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 client-ready way to make the positioning repeatable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36192"/>
            <a:ext cx="11094415" cy="658368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20" b="1" i="0">
                <a:solidFill>
                  <a:srgbClr val="FFFFFF"/>
                </a:solidFill>
                <a:latin typeface="Calibri"/>
              </a:rPr>
              <a:t>Beacon executes implementation work for complex enterprise SaaS go-lives.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542032"/>
            <a:ext cx="5166360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542032"/>
            <a:ext cx="73152" cy="115214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70662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Faster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108960"/>
            <a:ext cx="481888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Compress signature-to-go-live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8" y="2542032"/>
            <a:ext cx="5166360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81928" y="2542032"/>
            <a:ext cx="73152" cy="115214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270662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Lower services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3108960"/>
            <a:ext cx="481888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Reduce repeated manual delivery 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114800"/>
            <a:ext cx="5166360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114800"/>
            <a:ext cx="73152" cy="115214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4279392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Safer execution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681728"/>
            <a:ext cx="481888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Use scoped access, approvals, and audit trails.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1928" y="4114800"/>
            <a:ext cx="5166360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1928" y="4114800"/>
            <a:ext cx="73152" cy="115214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3096" y="4279392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Compounding knowledge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3096" y="4681728"/>
            <a:ext cx="481888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Reuse implementation exceptions and fixes.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65099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40" b="1" i="0">
                <a:solidFill>
                  <a:srgbClr val="E05A6B"/>
                </a:solidFill>
                <a:latin typeface="Calibri"/>
              </a:rPr>
              <a:t>Avoid: “better DAP,” “AI project manager,” or “generic automation.” Those labels dilute the wedge.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33 / 43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Reference Integration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Beacon should reduce replacement fear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1627632"/>
            <a:ext cx="9875520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1627632"/>
            <a:ext cx="109728" cy="694944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44752" y="1755648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1" i="0">
                <a:solidFill>
                  <a:srgbClr val="0A1628"/>
                </a:solidFill>
                <a:latin typeface="Calibri"/>
              </a:rPr>
              <a:t>Systems of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737360"/>
            <a:ext cx="66751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CRM, PSA, project management, ticketing, data migration 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615184"/>
            <a:ext cx="9875520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615184"/>
            <a:ext cx="109728" cy="69494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4752" y="2743200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1" i="0">
                <a:solidFill>
                  <a:srgbClr val="0A1628"/>
                </a:solidFill>
                <a:latin typeface="Calibri"/>
              </a:rPr>
              <a:t>Beacon execution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724912"/>
            <a:ext cx="66751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Configuration, validation, UAT, migration sequencing, cutover, hypercare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3602736"/>
            <a:ext cx="9875520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3000" y="3602736"/>
            <a:ext cx="109728" cy="69494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44752" y="3730752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1" i="0">
                <a:solidFill>
                  <a:srgbClr val="0A1628"/>
                </a:solidFill>
                <a:latin typeface="Calibri"/>
              </a:rPr>
              <a:t>Governance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3712464"/>
            <a:ext cx="66751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RBAC, approvals, audit logs, model policy, data boundaries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4590288"/>
            <a:ext cx="9875520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43000" y="4590288"/>
            <a:ext cx="109728" cy="694944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4752" y="4718304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1" i="0">
                <a:solidFill>
                  <a:srgbClr val="0A1628"/>
                </a:solidFill>
                <a:latin typeface="Calibri"/>
              </a:rPr>
              <a:t>Experience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4700016"/>
            <a:ext cx="66751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DAP guidance, customer portal, collaboration room, executive reporting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2356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Positioning implication: Beacon does not need to replace the stack. It needs to become the trusted execution layer inside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34 / 43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ROI Model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Tie the business case to implementation economics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72768"/>
            <a:ext cx="11094415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72768"/>
            <a:ext cx="73152" cy="47548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82495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Revenue pull-forward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645920"/>
            <a:ext cx="39319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5B6B7C"/>
                </a:solidFill>
                <a:latin typeface="Calibri"/>
              </a:rPr>
              <a:t>Days from signature to go-live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645920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1B2B3C"/>
                </a:solidFill>
                <a:latin typeface="Calibri"/>
              </a:rPr>
              <a:t>ARR activated earlier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85416"/>
            <a:ext cx="11094415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85416"/>
            <a:ext cx="73152" cy="47548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295144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Services leverage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258568"/>
            <a:ext cx="39319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5B6B7C"/>
                </a:solidFill>
                <a:latin typeface="Calibri"/>
              </a:rPr>
              <a:t>Consultant hours per implementation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258568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1B2B3C"/>
                </a:solidFill>
                <a:latin typeface="Calibri"/>
              </a:rPr>
              <a:t>More projects per team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798064"/>
            <a:ext cx="11094415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798064"/>
            <a:ext cx="73152" cy="47548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907792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2871216"/>
            <a:ext cx="39319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5B6B7C"/>
                </a:solidFill>
                <a:latin typeface="Calibri"/>
              </a:rPr>
              <a:t>Configuration defects and UAT failures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2871216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1B2B3C"/>
                </a:solidFill>
                <a:latin typeface="Calibri"/>
              </a:rPr>
              <a:t>Lower rework and escalation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410712"/>
            <a:ext cx="11094415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410712"/>
            <a:ext cx="73152" cy="47548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52044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Hypercare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3483864"/>
            <a:ext cx="39319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5B6B7C"/>
                </a:solidFill>
                <a:latin typeface="Calibri"/>
              </a:rPr>
              <a:t>Tickets and support hours after go-live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483864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1B2B3C"/>
                </a:solidFill>
                <a:latin typeface="Calibri"/>
              </a:rPr>
              <a:t>Lower post-launch burden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023360"/>
            <a:ext cx="11094415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023360"/>
            <a:ext cx="73152" cy="47548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133088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Capacity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4096512"/>
            <a:ext cx="39319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5B6B7C"/>
                </a:solidFill>
                <a:latin typeface="Calibri"/>
              </a:rPr>
              <a:t>Implementation backlog and cycle 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4096512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1B2B3C"/>
                </a:solidFill>
                <a:latin typeface="Calibri"/>
              </a:rPr>
              <a:t>More customers live per quarter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636008"/>
            <a:ext cx="11094415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636008"/>
            <a:ext cx="73152" cy="47548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745736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Risk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4709160"/>
            <a:ext cx="39319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5B6B7C"/>
                </a:solidFill>
                <a:latin typeface="Calibri"/>
              </a:rPr>
              <a:t>Audit trail completeness and approval coverage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4709160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1B2B3C"/>
                </a:solidFill>
                <a:latin typeface="Calibri"/>
              </a:rPr>
              <a:t>Procurement and CISO confidence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35 / 43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Pricing And Ecosystem: Use As Pressure Signals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Official data supports commercial-transparency scoring, not a hard TCO comparison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342900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72768"/>
            <a:ext cx="73152" cy="27889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737360"/>
            <a:ext cx="30815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Pricing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39696"/>
            <a:ext cx="3081528" cy="20391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Official pricing pages surfaced for GUIDEcx, Pendo, and WalkMe. Beacon public pricing was not found. Most enterprise TCO remains quote-based or procurement-gated.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572768"/>
            <a:ext cx="342900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572768"/>
            <a:ext cx="73152" cy="2788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737360"/>
            <a:ext cx="30815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Ecosystem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39696"/>
            <a:ext cx="3081528" cy="20391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WalkMe/SAP, Salesforce, ServiceNow, MuleSoft, Boomi, Workato, and UiPath have the strongest platform gravity. Beacon has a public partner page, but named depth is emerging.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572768"/>
            <a:ext cx="342900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572768"/>
            <a:ext cx="73152" cy="278892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737360"/>
            <a:ext cx="30815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Deck implication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139696"/>
            <a:ext cx="3081528" cy="20391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Score pricing as transparency and score ecosystem as route-to-market power. Do not imply exact pricing comparability where public TCO is unavailable.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92040"/>
            <a:ext cx="11094415" cy="65836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047488"/>
            <a:ext cx="10582351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Strategic read: Beacon's product wedge is clearer than its commercial proof. The next artifact should tie price to workflow-level labor removed.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36 / 43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Required Proof Benchmark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category is not won by narrative; it is won by task-level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64208"/>
            <a:ext cx="3310128" cy="457200"/>
          </a:xfrm>
          <a:prstGeom prst="roundRect">
            <a:avLst>
              <a:gd name="adj" fmla="val 4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10512"/>
            <a:ext cx="3310128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Manual services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64208"/>
            <a:ext cx="3310128" cy="45720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810512"/>
            <a:ext cx="3310128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Generic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7" y="1664208"/>
            <a:ext cx="3310128" cy="457200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7" y="1810512"/>
            <a:ext cx="3310128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Beacon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2304288"/>
            <a:ext cx="331012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377440"/>
            <a:ext cx="312724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Elapsed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2304288"/>
            <a:ext cx="331012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2377440"/>
            <a:ext cx="312724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Browser/UI execution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5007" y="2304288"/>
            <a:ext cx="331012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7" y="2377440"/>
            <a:ext cx="312724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Cycle-time compression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2834640"/>
            <a:ext cx="331012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07792"/>
            <a:ext cx="312724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Human touches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2834640"/>
            <a:ext cx="331012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2907792"/>
            <a:ext cx="312724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Task completion rate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65007" y="2834640"/>
            <a:ext cx="331012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56447" y="2907792"/>
            <a:ext cx="312724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Labor removed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3364991"/>
            <a:ext cx="331012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438144"/>
            <a:ext cx="312724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Known defects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3364991"/>
            <a:ext cx="331012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59" y="3438144"/>
            <a:ext cx="312724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Hallucination/error rate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65007" y="3364991"/>
            <a:ext cx="331012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56447" y="3438144"/>
            <a:ext cx="312724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Validation accuracy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3895344"/>
            <a:ext cx="331012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3968496"/>
            <a:ext cx="312724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Approval trail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3895344"/>
            <a:ext cx="331012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59" y="3968496"/>
            <a:ext cx="312724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Action log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65007" y="3895344"/>
            <a:ext cx="331012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56447" y="3968496"/>
            <a:ext cx="312724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Audit-ready 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" y="4425696"/>
            <a:ext cx="331012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4498848"/>
            <a:ext cx="312724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Hypercare tickets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0" y="4425696"/>
            <a:ext cx="331012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0559" y="4498848"/>
            <a:ext cx="312724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Fallback handling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65007" y="4425696"/>
            <a:ext cx="331012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7" y="4498848"/>
            <a:ext cx="312724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Post-go-live impact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513832"/>
            <a:ext cx="11094415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30" b="1" i="0">
                <a:solidFill>
                  <a:srgbClr val="0A1628"/>
                </a:solidFill>
                <a:latin typeface="Calibri"/>
              </a:rPr>
              <a:t>Decision gate: Beacon only owns the category if it beats both baselines on speed, quality, auditability, and repeatability.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37 / 43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POC 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Turn every sales trial into proof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3310128" cy="475488"/>
          </a:xfrm>
          <a:prstGeom prst="roundRect">
            <a:avLst>
              <a:gd name="adj" fmla="val 4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892807"/>
            <a:ext cx="3090672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737360"/>
            <a:ext cx="3310128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1416" y="1892807"/>
            <a:ext cx="3090672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Beacon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1737360"/>
            <a:ext cx="3310128" cy="47548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47303" y="1892807"/>
            <a:ext cx="3090672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Decision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395728"/>
            <a:ext cx="331012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478024"/>
            <a:ext cx="309067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1B2B3C"/>
                </a:solidFill>
                <a:latin typeface="Calibri"/>
              </a:rPr>
              <a:t>Manual elapsed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61688" y="2395728"/>
            <a:ext cx="331012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1416" y="2478024"/>
            <a:ext cx="309067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1B2B3C"/>
                </a:solidFill>
                <a:latin typeface="Calibri"/>
              </a:rPr>
              <a:t>Beacon elapsed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7575" y="2395728"/>
            <a:ext cx="331012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47303" y="2478024"/>
            <a:ext cx="309067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1B2B3C"/>
                </a:solidFill>
                <a:latin typeface="Calibri"/>
              </a:rPr>
              <a:t>Cycle-time compression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926080"/>
            <a:ext cx="331012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008376"/>
            <a:ext cx="309067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1B2B3C"/>
                </a:solidFill>
                <a:latin typeface="Calibri"/>
              </a:rPr>
              <a:t>Human touches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61688" y="2926080"/>
            <a:ext cx="331012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71416" y="3008376"/>
            <a:ext cx="309067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1B2B3C"/>
                </a:solidFill>
                <a:latin typeface="Calibri"/>
              </a:rPr>
              <a:t>Human interventions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37575" y="2926080"/>
            <a:ext cx="331012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47303" y="3008376"/>
            <a:ext cx="309067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1B2B3C"/>
                </a:solidFill>
                <a:latin typeface="Calibri"/>
              </a:rPr>
              <a:t>Labor removed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456432"/>
            <a:ext cx="331012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538728"/>
            <a:ext cx="309067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1B2B3C"/>
                </a:solidFill>
                <a:latin typeface="Calibri"/>
              </a:rPr>
              <a:t>Known errors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1688" y="3456432"/>
            <a:ext cx="331012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71416" y="3538728"/>
            <a:ext cx="309067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1B2B3C"/>
                </a:solidFill>
                <a:latin typeface="Calibri"/>
              </a:rPr>
              <a:t>Execution errors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37575" y="3456432"/>
            <a:ext cx="331012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47303" y="3538728"/>
            <a:ext cx="309067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1B2B3C"/>
                </a:solidFill>
                <a:latin typeface="Calibri"/>
              </a:rPr>
              <a:t>Quality delta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3986783"/>
            <a:ext cx="331012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4069079"/>
            <a:ext cx="309067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1B2B3C"/>
                </a:solidFill>
                <a:latin typeface="Calibri"/>
              </a:rPr>
              <a:t>Support tickets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61688" y="3986783"/>
            <a:ext cx="331012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71416" y="4069079"/>
            <a:ext cx="309067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1B2B3C"/>
                </a:solidFill>
                <a:latin typeface="Calibri"/>
              </a:rPr>
              <a:t>Hypercare load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37575" y="3986783"/>
            <a:ext cx="331012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47303" y="4069079"/>
            <a:ext cx="309067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1B2B3C"/>
                </a:solidFill>
                <a:latin typeface="Calibri"/>
              </a:rPr>
              <a:t>Post-go-live impact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4517136"/>
            <a:ext cx="331012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8" y="4599431"/>
            <a:ext cx="309067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1B2B3C"/>
                </a:solidFill>
                <a:latin typeface="Calibri"/>
              </a:rPr>
              <a:t>No clear trace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61688" y="4517136"/>
            <a:ext cx="331012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71416" y="4599431"/>
            <a:ext cx="309067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1B2B3C"/>
                </a:solidFill>
                <a:latin typeface="Calibri"/>
              </a:rPr>
              <a:t>Action log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37575" y="4517136"/>
            <a:ext cx="331012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47303" y="4599431"/>
            <a:ext cx="309067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60" b="0" i="0">
                <a:solidFill>
                  <a:srgbClr val="1B2B3C"/>
                </a:solidFill>
                <a:latin typeface="Calibri"/>
              </a:rPr>
              <a:t>Enterprise trust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623560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80" b="1" i="0">
                <a:solidFill>
                  <a:srgbClr val="0A1628"/>
                </a:solidFill>
                <a:latin typeface="Calibri"/>
              </a:rPr>
              <a:t>Best next move: run the POC on one active implementation workflow and use this scorecard to decide whether Beacon owns the category.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38 / 43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30 / 60 / 90 Day Action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Turn the analysis into operating motion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27632"/>
            <a:ext cx="342900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73152" cy="32461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792224"/>
            <a:ext cx="30815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First 30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94560"/>
            <a:ext cx="3081528" cy="2496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Finalize category language; build battlecards; define POC scorecard; pick 2-3 integration targets; collect current sales objections.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627632"/>
            <a:ext cx="342900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627632"/>
            <a:ext cx="73152" cy="32461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792224"/>
            <a:ext cx="30815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Next 60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94560"/>
            <a:ext cx="3081528" cy="2496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Run workflow POCs; publish before/after evidence; produce ROI calculator; build reference architecture; tighten security narrative.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27632"/>
            <a:ext cx="342900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627632"/>
            <a:ext cx="73152" cy="324612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792224"/>
            <a:ext cx="30815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Next 90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194560"/>
            <a:ext cx="3081528" cy="2496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Package proof into sales assets; validate compounding claims; create customer reference motion; decide category investment level.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40680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80" b="1" i="0">
                <a:solidFill>
                  <a:srgbClr val="E05A6B"/>
                </a:solidFill>
                <a:latin typeface="Calibri"/>
              </a:rPr>
              <a:t>Decision gate: continue category-building only if POCs show measurable cycle-time, labor, quality, or hypercare improvement.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39 / 43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Funding And Market Momentum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Capital is flowing to AI delivery and implementation operations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342900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91640"/>
            <a:ext cx="73152" cy="31546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56232"/>
            <a:ext cx="30815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WalkMe / SAP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258568"/>
            <a:ext cx="3081528" cy="2404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Acquired by SAP for $1.5B in 2024. Treat as an incumbent platform asset, not a standalone startup.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691640"/>
            <a:ext cx="342900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691640"/>
            <a:ext cx="73152" cy="3154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856232"/>
            <a:ext cx="30815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Unframe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258568"/>
            <a:ext cx="3081528" cy="2404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Reported $50M Series B in 2026, $100M total funding, and broad enterprise AI delivery positioning.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91640"/>
            <a:ext cx="297180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691640"/>
            <a:ext cx="73152" cy="315468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856232"/>
            <a:ext cx="26243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Rocketlane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258568"/>
            <a:ext cx="2624328" cy="2404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Reported $60M Series C in 2026 and $105M total funding, with AI services-work automation momentum.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1324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80" b="1" i="0">
                <a:solidFill>
                  <a:srgbClr val="0A1628"/>
                </a:solidFill>
                <a:latin typeface="Calibri"/>
              </a:rPr>
              <a:t>Market implication: Beacon's category is timely, but stronger-funded adjacent vendors can crowd the narrative unless Beacon proves a narrower workflow wedge.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40 / 43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Source Confidence And Gaps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Separate sourced facts from strategic inference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27632"/>
            <a:ext cx="342900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73152" cy="30632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792224"/>
            <a:ext cx="30815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High 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94560"/>
            <a:ext cx="3081528" cy="2313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455 Level 2 evidence rows; official trust/security pages; public competitor positioning; Beacon-owned case/product claims; primary consulting/analyst evidence where available.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627632"/>
            <a:ext cx="342900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627632"/>
            <a:ext cx="73152" cy="30632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792224"/>
            <a:ext cx="30815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Medium confidence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94560"/>
            <a:ext cx="3081528" cy="2313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Strategic category interpretation, fit scoring, grouped-vendor scoring rows, quadrant placement, likely buyer objections, and competitive response paths.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27632"/>
            <a:ext cx="342900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627632"/>
            <a:ext cx="73152" cy="306324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792224"/>
            <a:ext cx="30815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Open gaps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194560"/>
            <a:ext cx="3081528" cy="2313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Beacon baseline denominators; independent Beacon performance proof; actual win/loss notes; Beacon public pricing; named partner depth; longitudinal knowledge-graph compounding evidence.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49240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Client use: treat this as a source-backed strategy briefing plus explicit hypotheses to validate in live sales and customer proof cycles.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41 / 43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Updated Strategic 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full differentiation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81328"/>
            <a:ext cx="11094415" cy="67665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27632"/>
            <a:ext cx="106372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80" b="1" i="0">
                <a:solidFill>
                  <a:srgbClr val="FFFFFF"/>
                </a:solidFill>
                <a:latin typeface="Calibri"/>
              </a:rPr>
              <a:t>Beacon owns implementation execution where adjacent categories stop short.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2487168"/>
            <a:ext cx="102412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2487168"/>
            <a:ext cx="73152" cy="39319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569464"/>
            <a:ext cx="205740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1" i="0">
                <a:solidFill>
                  <a:srgbClr val="0A1628"/>
                </a:solidFill>
                <a:latin typeface="Calibri"/>
              </a:rPr>
              <a:t>DAPs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569464"/>
            <a:ext cx="71323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5B6B7C"/>
                </a:solidFill>
                <a:latin typeface="Calibri"/>
              </a:rPr>
              <a:t>Guide adoption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3054096"/>
            <a:ext cx="102412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120" y="3054096"/>
            <a:ext cx="73152" cy="39319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136392"/>
            <a:ext cx="205740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1" i="0">
                <a:solidFill>
                  <a:srgbClr val="0A1628"/>
                </a:solidFill>
                <a:latin typeface="Calibri"/>
              </a:rPr>
              <a:t>Onboarding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136392"/>
            <a:ext cx="71323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5B6B7C"/>
                </a:solidFill>
                <a:latin typeface="Calibri"/>
              </a:rPr>
              <a:t>Coordinate delivery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3621024"/>
            <a:ext cx="102412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0120" y="3621024"/>
            <a:ext cx="73152" cy="39319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3703320"/>
            <a:ext cx="205740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1" i="0">
                <a:solidFill>
                  <a:srgbClr val="0A1628"/>
                </a:solidFill>
                <a:latin typeface="Calibri"/>
              </a:rPr>
              <a:t>RPA / generic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703320"/>
            <a:ext cx="71323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5B6B7C"/>
                </a:solidFill>
                <a:latin typeface="Calibri"/>
              </a:rPr>
              <a:t>Automate fragments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4187952"/>
            <a:ext cx="102412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" y="4187952"/>
            <a:ext cx="73152" cy="39319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270248"/>
            <a:ext cx="205740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1" i="0">
                <a:solidFill>
                  <a:srgbClr val="0A1628"/>
                </a:solidFill>
                <a:latin typeface="Calibri"/>
              </a:rPr>
              <a:t>Consultancies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270248"/>
            <a:ext cx="71323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5B6B7C"/>
                </a:solidFill>
                <a:latin typeface="Calibri"/>
              </a:rPr>
              <a:t>Design and govern transformation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" y="4754880"/>
            <a:ext cx="102412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0120" y="4754880"/>
            <a:ext cx="73152" cy="3931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4837176"/>
            <a:ext cx="205740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1" i="0">
                <a:solidFill>
                  <a:srgbClr val="0A1628"/>
                </a:solidFill>
                <a:latin typeface="Calibri"/>
              </a:rPr>
              <a:t>Beacon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4837176"/>
            <a:ext cx="71323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5B6B7C"/>
                </a:solidFill>
                <a:latin typeface="Calibri"/>
              </a:rPr>
              <a:t>Executes implementation work with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532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60" b="1" i="0">
                <a:solidFill>
                  <a:srgbClr val="0A1628"/>
                </a:solidFill>
                <a:latin typeface="Calibri"/>
              </a:rPr>
              <a:t>Next client-proof requirement: run one implementation task against Beacon, a services baseline, and a generic agent baseline.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42 / 43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FINAL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25296"/>
            <a:ext cx="969264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FFFF"/>
                </a:solidFill>
                <a:latin typeface="Calibri"/>
              </a:rPr>
              <a:t>Back the category through proof, not positioning alone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21408"/>
            <a:ext cx="128016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9509760" cy="1508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•  Rebuild the sales story around one rubric and four arenas.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•  Run a benchmark: manual services vs generic agent vs Beacon on one real setup task.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•  Use the result to decide pricing, category language, and partner strategy.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987552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Strategic line: Beacon executes implementation work where guidance, coordination, consulting, and generic automation stop short.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Beacon.li Competitor Analysis | Public-market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43 / 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