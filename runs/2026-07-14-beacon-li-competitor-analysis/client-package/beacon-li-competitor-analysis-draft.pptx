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05495" y="0"/>
            <a:ext cx="3886200" cy="6858000"/>
          </a:xfrm>
          <a:prstGeom prst="rect">
            <a:avLst/>
          </a:prstGeom>
          <a:solidFill>
            <a:srgbClr val="12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05495" y="0"/>
            <a:ext cx="7315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COMPETITOR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5000" b="1" i="0">
                <a:solidFill>
                  <a:srgbClr val="FFFFFF"/>
                </a:solidFill>
                <a:latin typeface="Calibri"/>
              </a:rPr>
              <a:t>Beacon.li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2848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200" b="0" i="0">
                <a:solidFill>
                  <a:srgbClr val="E0F7F1"/>
                </a:solidFill>
                <a:latin typeface="Calibri"/>
              </a:rPr>
              <a:t>Where Beacon wins, where it is exposed, and how to prove the wedge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80"/>
            <a:ext cx="137160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493008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Prepared from public company pages, pricing pages, and current market signals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300" b="0" i="0">
                <a:solidFill>
                  <a:srgbClr val="5B6B7C"/>
                </a:solidFill>
                <a:latin typeface="Calibri"/>
              </a:rPr>
              <a:t>Client-ready briefing · July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50992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12243A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5742432"/>
            <a:ext cx="1700784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0F7F1"/>
                </a:solidFill>
                <a:latin typeface="Calibri"/>
              </a:rPr>
              <a:t>DAP incumbents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5650992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12243A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9192" y="5742432"/>
            <a:ext cx="1700784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0F7F1"/>
                </a:solidFill>
                <a:latin typeface="Calibri"/>
              </a:rPr>
              <a:t>Implementation 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5650992"/>
            <a:ext cx="1847088" cy="347472"/>
          </a:xfrm>
          <a:prstGeom prst="roundRect">
            <a:avLst>
              <a:gd name="adj" fmla="val 8000"/>
            </a:avLst>
          </a:prstGeom>
          <a:solidFill>
            <a:srgbClr val="12243A"/>
          </a:solidFill>
          <a:ln w="127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5742432"/>
            <a:ext cx="1700784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0F7F1"/>
                </a:solidFill>
                <a:latin typeface="Calibri"/>
              </a:rPr>
              <a:t>Enterprise AI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 / 53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Beacon should be positioned by the job it performs, not by an incumbent category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11094415" cy="111556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10454335" cy="6583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Beacon is strongest as an AI implementation execution layer: configure, validate, test, sequence, and support go-lives inside the product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80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880360"/>
            <a:ext cx="73152" cy="169164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044952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Do not lead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447288"/>
            <a:ext cx="3127248" cy="9418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“We are a better DAP.” That frame invites WalkMe, Pendo, Whatfix, and Appcues comparisons on their strongest ground.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880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880360"/>
            <a:ext cx="73152" cy="16916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044952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Lead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447288"/>
            <a:ext cx="3127248" cy="9418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“We execute implementation work.” That shifts the buyer conversation from adoption guidance to go-live throughput.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880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880360"/>
            <a:ext cx="73152" cy="16916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6" y="3044952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Prove with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447288"/>
            <a:ext cx="3127248" cy="9418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 7-day workflow POC: baseline, Beacon execution trace, human interventions, elapsed time, errors, and hypercare load.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 / 53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Methodology: Four Arenas, One Rubric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rebuild uses a consistent competitor-analysis spine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27632"/>
            <a:ext cx="73152" cy="310896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Research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3081528" cy="23591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GBrain recall, Firecrawl discovery, primary/company pages, pricing pages, STORM-style lenses, and consulting-framework synthesis.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27632"/>
            <a:ext cx="73152" cy="31089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Competitor universe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81528" cy="23591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DAP, implementation operations, enterprise AI/automation, and AI transformation consultancies.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27632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27632"/>
            <a:ext cx="73152" cy="31089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Evaluation spine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94560"/>
            <a:ext cx="3081528" cy="23591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Execution depth, trust, system fit, proof quality, distribution, pricing clarity, threat severity, and partnerability.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E05A6B"/>
                </a:solidFill>
                <a:latin typeface="Calibri"/>
              </a:rPr>
              <a:t>Decision standard: every competitor must be compared by the same buyer job and scoring dimensions, not by feature lists alone.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 / 53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Market Splits Into Four Competitive Arenas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Each arena can pull Beacon into the wrong comparison if the buyer job is unclear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73152" cy="3154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37360"/>
            <a:ext cx="23042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Digital adoption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39696"/>
            <a:ext cx="230428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WalkMe/SAP, Pendo, Whatfix, Appcues
Job: guide adoption, training, support, and analytics.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572768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1572768"/>
            <a:ext cx="73152" cy="315468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94176" y="1737360"/>
            <a:ext cx="23042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Implementation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139696"/>
            <a:ext cx="230428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Rocketlane, GuideCX, Arrows, Dock
Job: coordinate onboarding, services, portals, and handoffs.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1572768"/>
            <a:ext cx="26517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7648" y="1572768"/>
            <a:ext cx="73152" cy="315468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737360"/>
            <a:ext cx="23042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AI /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139696"/>
            <a:ext cx="230428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Unframe, UiPath, automation platforms
Job: orchestrate broader enterprise AI workflows.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288" y="1572768"/>
            <a:ext cx="233172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62288" y="1572768"/>
            <a:ext cx="73152" cy="31546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1737360"/>
            <a:ext cx="19842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Consultancies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139696"/>
            <a:ext cx="198424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Accenture, BCG, McKinsey, Deloitte, IBM, Capgemini
Job: design and govern transformation.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40" b="1" i="0">
                <a:solidFill>
                  <a:srgbClr val="0A1628"/>
                </a:solidFill>
                <a:latin typeface="Calibri"/>
              </a:rPr>
              <a:t>Beacon's claim is narrower: execute repeated implementation work with audit-grade evidence.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 / 53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Job-To-Be-Done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This is the cleanest way to avoid category confusion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2331720" cy="45720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46504"/>
            <a:ext cx="2148839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FFFFFF"/>
                </a:solidFill>
                <a:latin typeface="Calibri"/>
              </a:rPr>
              <a:t>Job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600200"/>
            <a:ext cx="2880360" cy="45720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746504"/>
            <a:ext cx="2697479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FFFFFF"/>
                </a:solidFill>
                <a:latin typeface="Calibri"/>
              </a:rPr>
              <a:t>Best-fit category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00200"/>
            <a:ext cx="4617720" cy="457200"/>
          </a:xfrm>
          <a:prstGeom prst="roundRect">
            <a:avLst>
              <a:gd name="adj" fmla="val 4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46504"/>
            <a:ext cx="4434840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FFFFFF"/>
                </a:solidFill>
                <a:latin typeface="Calibri"/>
              </a:rPr>
              <a:t>Beacon posture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157984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31136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Guide users in-product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157984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DAP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57984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231136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Do not compete head-on unless implementation work is involved.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688336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61488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Measure product behavior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2688336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761488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Pendo / PX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688336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761488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Not Beacon's core wedge.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218687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91839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Coordinate onboarding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3218687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3291839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Rocketlane / GuideCX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218687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91839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Integrate and report progress back.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749039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822191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Host customer workspace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3749039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3822191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Dock / Arrows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3749039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822191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Use alongside Beacon for communication.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79392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352544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Automate generic workflows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6120" y="4279392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37560" y="4352544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UiPath / AI platform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279392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4352544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Win on implementation-specific domain model.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09744"/>
            <a:ext cx="2331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882896"/>
            <a:ext cx="214883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1" i="0">
                <a:solidFill>
                  <a:srgbClr val="1B2B3C"/>
                </a:solidFill>
                <a:latin typeface="Calibri"/>
              </a:rPr>
              <a:t>Execute implementation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6120" y="4809744"/>
            <a:ext cx="2880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882896"/>
            <a:ext cx="2697479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Beacon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809744"/>
            <a:ext cx="46177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4882896"/>
            <a:ext cx="4434840" cy="237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90" b="0" i="0">
                <a:solidFill>
                  <a:srgbClr val="5B6B7C"/>
                </a:solidFill>
                <a:latin typeface="Calibri"/>
              </a:rPr>
              <a:t>Own this job and prove it workflow by workflow.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 / 53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Competitive Evaluation Rubric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Use the same criteria across every vendor conversation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27632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6504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Execution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709928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Does the tool perform implementation work, or only guide/manage/measure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9424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9424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68296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Enterprise 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31720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Security posture, auditability, RBAC, deployment flexibility, procurement fit.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71216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71216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90088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System-of-record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953512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Can it integrate with project, CRM, ticketing, and PSA systems already in use?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93008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93008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611880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Proof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3575304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Independent validation, customer references, before/after metrics, repeatability.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14800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233672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Category clarity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197096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Can the buyer explain what budget and job the tool owns?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36592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736592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855464"/>
            <a:ext cx="278892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Compounding advantage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818888"/>
            <a:ext cx="763524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Does it learn reusable implementation logic across deployments?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50992"/>
            <a:ext cx="11094415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E05A6B"/>
                </a:solidFill>
                <a:latin typeface="Calibri"/>
              </a:rPr>
              <a:t>Skeptical read: Beacon is high on execution depth, medium on enterprise proof, and currently exposed on independent validation.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6 / 53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Scored Competitive Heatmap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Beacon wins on execution specificity; incumbents win on trust, distribution, or breadth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201168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91640"/>
            <a:ext cx="193852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Vendor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70048" y="1572768"/>
            <a:ext cx="123444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6624" y="1691640"/>
            <a:ext cx="116128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Exec depth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04487" y="1572768"/>
            <a:ext cx="10515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1063" y="1691640"/>
            <a:ext cx="978407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Trust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572768"/>
            <a:ext cx="123444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92624" y="1691640"/>
            <a:ext cx="116128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System fit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572768"/>
            <a:ext cx="100584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691640"/>
            <a:ext cx="93268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6327" y="1572768"/>
            <a:ext cx="132588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2903" y="1691640"/>
            <a:ext cx="125272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Distribution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22207" y="1572768"/>
            <a:ext cx="100584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8783" y="1691640"/>
            <a:ext cx="932688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1" i="0">
                <a:solidFill>
                  <a:srgbClr val="FFFFFF"/>
                </a:solidFill>
                <a:latin typeface="Calibri"/>
              </a:rPr>
              <a:t>Threat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05740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2130552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Beacon.li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0048" y="2057400"/>
            <a:ext cx="12344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048" y="2130552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04487" y="2057400"/>
            <a:ext cx="105156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2130552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56048" y="2057400"/>
            <a:ext cx="12344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130552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0488" y="2057400"/>
            <a:ext cx="1005840" cy="320040"/>
          </a:xfrm>
          <a:prstGeom prst="rect">
            <a:avLst/>
          </a:prstGeom>
          <a:solidFill>
            <a:srgbClr val="E05A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2130552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96327" y="2057400"/>
            <a:ext cx="1325880" cy="320040"/>
          </a:xfrm>
          <a:prstGeom prst="rect">
            <a:avLst/>
          </a:prstGeom>
          <a:solidFill>
            <a:srgbClr val="E05A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96327" y="2130552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22207" y="2057400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22207" y="2130552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2496312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569464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WalkMe/SAP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2496312"/>
            <a:ext cx="12344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70048" y="2569464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04487" y="2496312"/>
            <a:ext cx="105156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04487" y="2569464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56048" y="2496312"/>
            <a:ext cx="12344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56048" y="2569464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0488" y="2496312"/>
            <a:ext cx="10058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2569464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96327" y="2496312"/>
            <a:ext cx="132588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7" y="2569464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2207" y="2496312"/>
            <a:ext cx="10058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22207" y="2569464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293522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3008376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70048" y="2935224"/>
            <a:ext cx="12344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70048" y="3008376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04487" y="2935224"/>
            <a:ext cx="105156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04487" y="3008376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56048" y="2935224"/>
            <a:ext cx="12344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6048" y="3008376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90488" y="2935224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0488" y="3008376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96327" y="2935224"/>
            <a:ext cx="132588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96327" y="3008376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22207" y="2935224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22207" y="3008376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3374136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3447288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Unframe AI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70048" y="3374136"/>
            <a:ext cx="12344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70048" y="3447288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04487" y="3374136"/>
            <a:ext cx="105156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04487" y="3447288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56048" y="3374136"/>
            <a:ext cx="12344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56048" y="3447288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90488" y="3374136"/>
            <a:ext cx="10058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0488" y="344728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96327" y="3374136"/>
            <a:ext cx="132588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96327" y="3447288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22207" y="3374136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22207" y="3447288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3813048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886200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UiPath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670048" y="3813048"/>
            <a:ext cx="12344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70048" y="3886200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04487" y="3813048"/>
            <a:ext cx="105156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04487" y="3886200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56048" y="3813048"/>
            <a:ext cx="12344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56048" y="3886200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90488" y="3813048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90488" y="3886200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196327" y="3813048"/>
            <a:ext cx="132588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96327" y="3886200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22207" y="3813048"/>
            <a:ext cx="10058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22207" y="3886200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42519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13232" y="4325112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Accenture/IBM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670048" y="4251960"/>
            <a:ext cx="12344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670048" y="4325112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904487" y="4251960"/>
            <a:ext cx="105156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04487" y="4325112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956048" y="4251960"/>
            <a:ext cx="12344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56048" y="4325112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0488" y="4251960"/>
            <a:ext cx="10058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90488" y="4325112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96327" y="4251960"/>
            <a:ext cx="132588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196327" y="4325112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2207" y="4251960"/>
            <a:ext cx="10058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22207" y="4325112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8368" y="4690872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3232" y="4764024"/>
            <a:ext cx="1901952" cy="12801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A1628"/>
                </a:solidFill>
                <a:latin typeface="Calibri"/>
              </a:rPr>
              <a:t>Pendo/Whatfix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670048" y="4690872"/>
            <a:ext cx="1234440" cy="320040"/>
          </a:xfrm>
          <a:prstGeom prst="rect">
            <a:avLst/>
          </a:prstGeom>
          <a:solidFill>
            <a:srgbClr val="E05A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670048" y="4764024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4487" y="4690872"/>
            <a:ext cx="105156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904487" y="4764024"/>
            <a:ext cx="105156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956048" y="4690872"/>
            <a:ext cx="123444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956048" y="4764024"/>
            <a:ext cx="12344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190488" y="4690872"/>
            <a:ext cx="100584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190488" y="4764024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196327" y="4690872"/>
            <a:ext cx="1325880" cy="3200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96327" y="4764024"/>
            <a:ext cx="1325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4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522207" y="4690872"/>
            <a:ext cx="1005840" cy="320040"/>
          </a:xfrm>
          <a:prstGeom prst="rect">
            <a:avLst/>
          </a:prstGeom>
          <a:solidFill>
            <a:srgbClr val="F4F7F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522207" y="4764024"/>
            <a:ext cx="100584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00" b="1" i="0">
                <a:solidFill>
                  <a:srgbClr val="0A1628"/>
                </a:solidFill>
                <a:latin typeface="Calibri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5532120"/>
            <a:ext cx="11094415" cy="4389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10" b="1" i="0">
                <a:solidFill>
                  <a:srgbClr val="0A1628"/>
                </a:solidFill>
                <a:latin typeface="Calibri"/>
              </a:rPr>
              <a:t>Interpretation: Beacon's strategy must convert execution depth into proof quality before incumbents collapse the category around trust and distribution.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7 / 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Beacon Trust Is Now Evidenced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Official pages improve Beacon's enterprise-readiness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11094415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73152" cy="5669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0078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0A1628"/>
                </a:solidFill>
                <a:latin typeface="Calibri"/>
              </a:rPr>
              <a:t>Beacon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655064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5B6B7C"/>
                </a:solidFill>
                <a:latin typeface="Calibri"/>
              </a:rPr>
              <a:t>SOC 2, RBAC, SSO, audit trails, no backend/API/database access, public trust center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655064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1B2B3C"/>
                </a:solidFill>
                <a:latin typeface="Calibri"/>
              </a:rPr>
              <a:t>Trust moves up; proof remains the bottleneck.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22576"/>
            <a:ext cx="11094415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73152" cy="5669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450592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0A1628"/>
                </a:solidFill>
                <a:latin typeface="Calibri"/>
              </a:rPr>
              <a:t>WalkMe / SAP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404872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5B6B7C"/>
                </a:solidFill>
                <a:latin typeface="Calibri"/>
              </a:rPr>
              <a:t>SOC/ISO/GDPR evidence, SOC report, FedRAMP-related positioning, SAP ecosystem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404872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1B2B3C"/>
                </a:solidFill>
                <a:latin typeface="Calibri"/>
              </a:rPr>
              <a:t>Highest DAP trust and distribution benchmark.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72384"/>
            <a:ext cx="11094415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72384"/>
            <a:ext cx="73152" cy="5669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20040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0A1628"/>
                </a:solidFill>
                <a:latin typeface="Calibri"/>
              </a:rPr>
              <a:t>Whatfix / Pendo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3154679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5B6B7C"/>
                </a:solidFill>
                <a:latin typeface="Calibri"/>
              </a:rPr>
              <a:t>SOC 2, ISO/GDPR/TX-RAMP/HIPAA, SSO/SAML/MFA, trust/security pages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154679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1B2B3C"/>
                </a:solidFill>
                <a:latin typeface="Calibri"/>
              </a:rPr>
              <a:t>Strong DAP trust; avoid adoption-category fight.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1"/>
            <a:ext cx="11094415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822191"/>
            <a:ext cx="73152" cy="5669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950207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0A1628"/>
                </a:solidFill>
                <a:latin typeface="Calibri"/>
              </a:rPr>
              <a:t>Rocketlane / GUIDEcx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3904487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5B6B7C"/>
                </a:solidFill>
                <a:latin typeface="Calibri"/>
              </a:rPr>
              <a:t>SOC 1/2, CSA STAR, ISO/GDPR, SSO/SAML, audit logs, DPA/trust references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904487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1B2B3C"/>
                </a:solidFill>
                <a:latin typeface="Calibri"/>
              </a:rPr>
              <a:t>Credible PS/onboarding trust; integrate/coexist.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72000"/>
            <a:ext cx="11094415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572000"/>
            <a:ext cx="73152" cy="5669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700016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0A1628"/>
                </a:solidFill>
                <a:latin typeface="Calibri"/>
              </a:rPr>
              <a:t>Workato / UiPath / MuleSoft / Boomi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4654296"/>
            <a:ext cx="4617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5B6B7C"/>
                </a:solidFill>
                <a:latin typeface="Calibri"/>
              </a:rPr>
              <a:t>Governance, audit trails, RBAC/SSO, compliance certifications, data/security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654296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19" b="0" i="0">
                <a:solidFill>
                  <a:srgbClr val="1B2B3C"/>
                </a:solidFill>
                <a:latin typeface="Calibri"/>
              </a:rPr>
              <a:t>Broad platform threat where API-led automation fits.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596128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0A1628"/>
                </a:solidFill>
                <a:latin typeface="Calibri"/>
              </a:rPr>
              <a:t>Client implication: stop treating Beacon security as missing. Keep the pressure on measured implementation outcomes.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8 / 53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Evidence Coverage From Level 2 Livecrawl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artifact now uses the full extracted evidence ledger, not a small manual subset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27632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7647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B800"/>
                </a:solidFill>
                <a:latin typeface="Calibri"/>
              </a:rPr>
              <a:t>588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203704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0" i="0">
                <a:solidFill>
                  <a:srgbClr val="FFFFFF"/>
                </a:solidFill>
                <a:latin typeface="Calibri"/>
              </a:rPr>
              <a:t>evidence rows extracted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627632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7647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B800"/>
                </a:solidFill>
                <a:latin typeface="Calibri"/>
              </a:rPr>
              <a:t>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2194560"/>
            <a:ext cx="2203704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0" i="0">
                <a:solidFill>
                  <a:srgbClr val="FFFFFF"/>
                </a:solidFill>
                <a:latin typeface="Calibri"/>
              </a:rPr>
              <a:t>Level 2 raw files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79008" y="1627632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79008" y="17647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B800"/>
                </a:solidFill>
                <a:latin typeface="Calibri"/>
              </a:rPr>
              <a:t>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8736" y="2194560"/>
            <a:ext cx="2203704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0" i="0">
                <a:solidFill>
                  <a:srgbClr val="FFFFFF"/>
                </a:solidFill>
                <a:latin typeface="Calibri"/>
              </a:rPr>
              <a:t>indexed source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1627632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7647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FFB800"/>
                </a:solidFill>
                <a:latin typeface="Calibri"/>
              </a:rPr>
              <a:t>216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194560"/>
            <a:ext cx="2203704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0" i="0">
                <a:solidFill>
                  <a:srgbClr val="FFFFFF"/>
                </a:solidFill>
                <a:latin typeface="Calibri"/>
              </a:rPr>
              <a:t>trust / compliance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63240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063240"/>
            <a:ext cx="73152" cy="53035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191256"/>
            <a:ext cx="214884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Top vendor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3154680"/>
            <a:ext cx="8183879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0" b="0" i="0">
                <a:solidFill>
                  <a:srgbClr val="5B6B7C"/>
                </a:solidFill>
                <a:latin typeface="Calibri"/>
              </a:rPr>
              <a:t>WalkMe 66; Beacon 62; Rocketlane 48; Pendo 36; Workato 35; Salesforce 31; UiPath 25; Accenture 23; ServiceNow 23; Whatfix 21.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813048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813048"/>
            <a:ext cx="73152" cy="53035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941063"/>
            <a:ext cx="214884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Metric coverage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3904487"/>
            <a:ext cx="8183879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0" b="0" i="0">
                <a:solidFill>
                  <a:srgbClr val="5B6B7C"/>
                </a:solidFill>
                <a:latin typeface="Calibri"/>
              </a:rPr>
              <a:t>Trust/compliance 216; ROI/financial 135; time/velocity 131; support productivity 45; AI/automation 32; quality/risk 17.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62856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562856"/>
            <a:ext cx="73152" cy="53035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690872"/>
            <a:ext cx="214884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Artifact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654296"/>
            <a:ext cx="8183879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0" b="0" i="0">
                <a:solidFill>
                  <a:srgbClr val="5B6B7C"/>
                </a:solidFill>
                <a:latin typeface="Calibri"/>
              </a:rPr>
              <a:t>Data now appears in explicit evidence slides and HTML datapoint tables, with confidence caveats for vendor vs third-party claims.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9 /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Beacon Outcome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Public Beacon claims now need to be shown as explicit proof 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Beacon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60%+ reduction in implementation effort / timelines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Core wedge: implementation execution removes delivery labor.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Darwinbox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85% faster onboarding / implementation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Named proof point for complex HR module implementation.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Fintech case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85% faster handovers; 60% fewer configuration defects; 30% lower implementation costs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Best multi-metric Beacon proof cluster; still needs denominators.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Marketplace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80% faster seller onboarding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wedge beyond HR/BFSI into marketplace onboarding.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Keka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62% faster response in support-ticket deflection case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Extends implementation-execution story into support productivity.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Beacon homepage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90 days of hand-holding reframed as 30 days of guided self-service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as value narrative; treat as vendor claim.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Caveat: Beacon percentages are useful, but raw baselines and independent validation remain open.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10 / 53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Expanded Beacon Evidence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More Beacon datapoints from the 62 extracted rows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Customers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85% faster handovers; 60% fewer config defects; 30% lower implementation costs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as strongest multi-metric case cluster.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Darwinbox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85% faster implementations on Leave module; extended to Attendance and Payroll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repeatable module-specific implementation execution.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Beacon blog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IDC baseline cited: 75% implementation delays; 57% time overrun; 43% cost overrun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Frames market pain behind Beacon's wedge.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Retail tech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4x feature adoption; 80% support tickets resolved autonomously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support/adoption extension beyond implementation.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BFSI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70-80% support queries resolved; 7-day POC; no PII/API/backend access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Connects velocity with regulated-industry trust.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Trust pages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SOC 2, RBAC, SSO, audit trails, Trust Center, ISO/GDPR references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Moves enterprise-readiness score upward.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Remaining gap: raw before/after denominators and independent validation are still not public.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11 / 53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DAP Benchmark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WalkMe, Whatfix, and Pendo set the proof bar Beacon will be compared against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368% three-year ROI on Forrester TEI page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incumbent DAP economic proof standard.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494% three-year ROI; $41.4M new annual revenue; 60% faster adoption; 87% error reduction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as vendor-cited high-end DAP benchmark, with source caveat.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50% IT workload reduction; 85% ROI; 87% fewer errors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Competitive-page claim; directionally useful, not independent proof.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Whatfix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REG: 50% faster time-to-proficiency; 83% fewer daily app-related IT tickets; three-month reduction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Strong time-to-proficiency and support-deflection comparator.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Whatfix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Reed: 23% reduction in support calls per user in six months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Concrete support-productivity benchmark.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Pendo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396% ROI; six-month payback; $1.2M team-efficiency impact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Product-experience proof benchmark for analytics/adoption vendors.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Implication: Beacon must prove implementation execution as rigorously as DAPs prove adoption and support outcomes.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12 / 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Expanded DAP Evidence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DAP incumbents have a much broader proof library than the first artifact showed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368% ROI over three years; 35% retention increase; 10% upsell growth; 20% software-spend savings signal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as mature economic proof benchmark.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494% three-year ROI; $41.4M new annual revenue; 60% faster adoption; 87% error reduction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High-end vendor-cited DAP value case.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WalkMe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FedRAMP Ready; SOC 2; ISO; SOC report; 4.5+ years / 1,000+ enterprise-service-provider trust 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Procurement and enterprise-trust pressure.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Whatfix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REG: 50% faster proficiency; 83% fewer daily IT tickets; Windward: 5,500 agents, 87% support-query reduction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 and proficiency proof comparator.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Whatfix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Sentry: ~$950K annual savings; 40% content-time reduction; 100 daily tickets eliminated; 94%/91% adoption metrics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DAP can produce quantified operational proof.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Pendo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396% ROI; six-month payback; $1.2M team efficiencies; 1,100 hours of rework saved claim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Analytics/adoption proof benchmark.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Beacon must match this proof style with implementation-specific before/after metrics.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13 /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Implementation And Onboarding Benchmarks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Adjacent tools define the operating metrics buyers already understand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2026 PS benchmark: low utilization, cost per billable hour, margin compression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these as services-margin pain indicators.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53.1% margin visibility; 90.2% PSA adoption among SaaS 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why implementation ops already has budget gravity.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20+ concurrent projects as a segment 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Clarifies fit: project operations layer, not execution layer.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GUIDEcx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TTV / TTFV positioned as core onboarding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as KPI spine for Beacon POC design.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GUIDEcx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40% more time discussing business outcomes after automated progress tracking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automation shifts work from status to value conversations.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Workato / UiPath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Agentic orchestration pages emphasize workflows, approvals, exceptions, KPIs, cost, ROI,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Broad platform threat: can absorb implementation as one workflow use case.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Implication: Beacon should map its POC to familiar PS/onboarding KPIs: TTV, utilization, margin, defects, handoffs, and hypercare.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14 / 53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Expanded Implementation Ops Evidence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Rocketlane and GUIDEcx show the metrics post-sales buyers already 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Actabl: 88% reduction in time-to-kickoff; 76% faster delivery cycles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Cycle-time benchmark for implementation operations.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53.1% margin visibility; 90.2% PSA adoption; satisfaction down 12% to 3.29/5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tool adoption alone does not solve delivery value.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HPOs productive in 54 days vs 65.5 days; PMO adoption 49.1% vs 37.0%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Use to define high-performing services benchmark.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30% TTV reduction on $5M ARR services business accelerates ~$1.5M revenue recognition; teams handle 3x more projects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Direct ROI-model input for Beacon POC.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$200K annual billable revenue consultant creates ~$16.7K/month capacity; three-month vacancy costs ~$50K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Loaded-cost proxy for implementation capacity value.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GUIDEcx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Discovery templates cut implementation time by 66%; automated tracking shifts 40% more time to business outcomes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TTV and value-realization comparator.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Beacon's scorecard should map to TTV, kickoff time, utilization, revenue recognition, project capacity, and margin visibility.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15 / 53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Consulting And AI Value-Realization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AI market context supports Beacon's proof-first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Accenture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GPT-agent employee platform use case: 30-40% productivity increase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Sets buyer expectation for agent productivity.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Accenture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97% of executives expect GenAI to transform company/industry; 93% say investments outperform other strategic areas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urgency, not Beacon-specific proof.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Deloitte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66% report productivity/efficiency gains from enterprise 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Validates productivity as primary AI benefit lens.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Deloitte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Nearly 70% moved 30% or fewer GenAI experiments into production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production-readiness tension.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BCG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Two-thirds dissatisfied with GenAI progress; value comes from end-to-end workflow reshaping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Beacon's workflow-execution positioning.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Gartner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More than 50% of GenAI projects abandoned after PoC; 57% of I&amp;O AI failures expected too much too fast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Direct support for controlled POC thresholds.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Implication: the recommendation should be benchmark-first: prove one implementation workflow before scaling the category claim.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16 / 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Expanded Platform And Trust Evidence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Enterprise platforms bring trust, governance, and ecosystem gravity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UiPath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57% of companies have AI agents in production; ISO/IEC 42001; FedRAMP; audit logs; data residency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Agentic automation threat with governance credibility.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Workato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SOC 2 Type II, SOC 3, SOC 1 Type II; pricing estimates $15K-$50K mid-market and $100K+ 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Orchestration threat plus commercial benchmark.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MuleSoft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ISO 27001, SOC 1, SOC 2, HIPAA, PCI DSS; encryption, audit logs, identity management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API/integration trust benchmark.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Boomi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ISO 27001, GDPR, HIPAA, SOC 2, PCI DSS, RBAC, audit logs, API governance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iPaaS governance pressure.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Salesforce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Agentforce/Data Cloud/Marketing Cloud/Tableau Next FedRAMP High; vendor agents TTV 38 days vs 94 days custom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Platform ecosystem and vendor-agent benchmark.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ServiceNow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Annual SOC 2 Type 2 since 2013; FedRAMP High; ISO/IEC 27018 and 27001; data residency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Workflow-platform governance benchmark.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Beacon should compete on implementation-domain evidence, not generic enterprise-platform trust.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17 / 53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Expanded AI Value Evidence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Consulting and analyst datapoints justify the proof-first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182880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1700784"/>
            <a:ext cx="168249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402336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00784"/>
            <a:ext cx="3877056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Datapoint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572768"/>
            <a:ext cx="3931920" cy="384048"/>
          </a:xfrm>
          <a:prstGeom prst="roundRect">
            <a:avLst>
              <a:gd name="adj" fmla="val 2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00784"/>
            <a:ext cx="3785615" cy="1097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FFFFFF"/>
                </a:solidFill>
                <a:latin typeface="Calibri"/>
              </a:rPr>
              <a:t>Use In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05740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057400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3055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Accenture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5740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61488" y="211226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30-40% GPT-agent productivity lift; 97% transformation expectation; 93% investment outperformance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205740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211226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Sets executive appetite and proof expectations.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87752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587752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660904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Accenture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2587752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2642616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47% data-readiness challenge; 31% significant GenAI investment; $3B AI commitment; ~77K AI pros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587752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2642616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Shows delivery machinery and readiness bottlenecks.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118104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3118104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191256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Deloitte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118104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172968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Nearly 70% moved 30% or fewer experiments to production; 85% expect custom agents; 25% transformative impact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118104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3172968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production-gap narrative.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648456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3648456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721607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Deloitte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3648456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61488" y="3703320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60% workforce AI-tool availability; 74% advanced AI initiatives meet/exceed ROI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0" y="3648456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67728" y="3703320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Separates access from implementation quality.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4178808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" y="4178808"/>
            <a:ext cx="64008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251960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BCG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4178808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61488" y="4233672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~10% apply GenAI at scale; 10-15% productivity from tools; 22% substantial gains; 74% struggle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178808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7728" y="4233672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Supports workflow redesign and value capture.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4709160"/>
            <a:ext cx="1828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4709160"/>
            <a:ext cx="64008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782312"/>
            <a:ext cx="1508760" cy="210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Gartner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51760" y="4709160"/>
            <a:ext cx="4023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61488" y="4764024"/>
            <a:ext cx="3803904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1B2B3C"/>
                </a:solidFill>
                <a:latin typeface="Calibri"/>
              </a:rPr>
              <a:t>&gt;50% GenAI PoCs abandoned; 57% I&amp;O failures expected too much too fast; 40% agentic apps by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0" y="4709160"/>
            <a:ext cx="3931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67728" y="4764024"/>
            <a:ext cx="3712463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770" b="0" i="0">
                <a:solidFill>
                  <a:srgbClr val="5B6B7C"/>
                </a:solidFill>
                <a:latin typeface="Calibri"/>
              </a:rPr>
              <a:t>Justifies strict POC thresholds.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532120"/>
            <a:ext cx="11094415" cy="438912"/>
          </a:xfrm>
          <a:prstGeom prst="roundRect">
            <a:avLst>
              <a:gd name="adj" fmla="val 5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" y="5650992"/>
            <a:ext cx="10655503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30" b="1" i="0">
                <a:solidFill>
                  <a:srgbClr val="0A1628"/>
                </a:solidFill>
                <a:latin typeface="Calibri"/>
              </a:rPr>
              <a:t>This is why the deck should recommend benchmark-first category building, not positioning-only category building.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18 / 53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Proof Gap Makes The POC Non-Negotiable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Beacon's execution claim is differentiated, but it must be converted into audit-grade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2971800" cy="431596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4800" b="1" i="0">
                <a:solidFill>
                  <a:srgbClr val="FFB800"/>
                </a:solidFill>
                <a:latin typeface="Calibri"/>
              </a:rPr>
              <a:t>+3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788920"/>
            <a:ext cx="2487168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Calibri"/>
              </a:rPr>
              <a:t>Beacon proof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18688"/>
            <a:ext cx="2450592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20" b="0" i="0">
                <a:solidFill>
                  <a:srgbClr val="E0F7F1"/>
                </a:solidFill>
                <a:latin typeface="Calibri"/>
              </a:rPr>
              <a:t>Execution-depth score minus proof-quality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041648"/>
            <a:ext cx="2121408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407408"/>
            <a:ext cx="2414016" cy="6583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FFFFFF"/>
                </a:solidFill>
                <a:latin typeface="Calibri"/>
              </a:rPr>
              <a:t>Meaning: the story is strong, but the sales motion needs benchmarked evidence before category investment.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1335024"/>
            <a:ext cx="2423160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00C9A7"/>
                </a:solidFill>
                <a:latin typeface="Calibri"/>
              </a:rPr>
              <a:t>More claim than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335024"/>
            <a:ext cx="2423160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19" b="1" i="0">
                <a:solidFill>
                  <a:srgbClr val="5B6B7C"/>
                </a:solidFill>
                <a:latin typeface="Calibri"/>
              </a:rPr>
              <a:t>More proof than claim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536192"/>
            <a:ext cx="16459" cy="3977639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68696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77256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-3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-2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85432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02168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0728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60536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9096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18904" y="5394960"/>
            <a:ext cx="9144" cy="73152"/>
          </a:xfrm>
          <a:prstGeom prst="rect">
            <a:avLst/>
          </a:prstGeom>
          <a:solidFill>
            <a:srgbClr val="D9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7464" y="5513832"/>
            <a:ext cx="182880" cy="1280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780" b="0" i="0">
                <a:solidFill>
                  <a:srgbClr val="5B6B7C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1865376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1" i="0">
                <a:solidFill>
                  <a:srgbClr val="0A1628"/>
                </a:solidFill>
                <a:latin typeface="Calibri"/>
              </a:rPr>
              <a:t>Beacon.li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800" y="1810512"/>
            <a:ext cx="1975104" cy="237744"/>
          </a:xfrm>
          <a:prstGeom prst="roundRect">
            <a:avLst>
              <a:gd name="adj" fmla="val 3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92056" y="1865376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+3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30752" y="2295143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Unframe 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2240279"/>
            <a:ext cx="658368" cy="237744"/>
          </a:xfrm>
          <a:prstGeom prst="roundRect">
            <a:avLst>
              <a:gd name="adj" fmla="val 3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2295143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0A1628"/>
                </a:solidFill>
                <a:latin typeface="Calibri"/>
              </a:rPr>
              <a:t>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752" y="2724911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85432" y="2670047"/>
            <a:ext cx="658368" cy="237744"/>
          </a:xfrm>
          <a:prstGeom prst="roundRect">
            <a:avLst>
              <a:gd name="adj" fmla="val 3000"/>
            </a:avLst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2724911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5B6B7C"/>
                </a:solidFill>
                <a:latin typeface="Calibri"/>
              </a:rPr>
              <a:t>-1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30752" y="3154680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UiPath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85432" y="3099816"/>
            <a:ext cx="658368" cy="237744"/>
          </a:xfrm>
          <a:prstGeom prst="roundRect">
            <a:avLst>
              <a:gd name="adj" fmla="val 3000"/>
            </a:avLst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3154680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5B6B7C"/>
                </a:solidFill>
                <a:latin typeface="Calibri"/>
              </a:rPr>
              <a:t>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30752" y="3584448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WalkMe/SAP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7064" y="3529584"/>
            <a:ext cx="1316736" cy="237744"/>
          </a:xfrm>
          <a:prstGeom prst="roundRect">
            <a:avLst>
              <a:gd name="adj" fmla="val 3000"/>
            </a:avLst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33872" y="3584448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5B6B7C"/>
                </a:solidFill>
                <a:latin typeface="Calibri"/>
              </a:rPr>
              <a:t>-2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30752" y="4014216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Accenture/IBM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27064" y="3959352"/>
            <a:ext cx="1316736" cy="237744"/>
          </a:xfrm>
          <a:prstGeom prst="roundRect">
            <a:avLst>
              <a:gd name="adj" fmla="val 3000"/>
            </a:avLst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33872" y="4014216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5B6B7C"/>
                </a:solidFill>
                <a:latin typeface="Calibri"/>
              </a:rPr>
              <a:t>-2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30752" y="4443984"/>
            <a:ext cx="1874519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19" b="0" i="0">
                <a:solidFill>
                  <a:srgbClr val="0A1628"/>
                </a:solidFill>
                <a:latin typeface="Calibri"/>
              </a:rPr>
              <a:t>Pendo/Whatfix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68696" y="4389120"/>
            <a:ext cx="1975104" cy="237744"/>
          </a:xfrm>
          <a:prstGeom prst="roundRect">
            <a:avLst>
              <a:gd name="adj" fmla="val 3000"/>
            </a:avLst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75504" y="4443984"/>
            <a:ext cx="320040" cy="1188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1" i="0">
                <a:solidFill>
                  <a:srgbClr val="5B6B7C"/>
                </a:solidFill>
                <a:latin typeface="Calibri"/>
              </a:rPr>
              <a:t>-3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285232"/>
            <a:ext cx="11094415" cy="786384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2" y="5431536"/>
            <a:ext cx="10582351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19" b="1" i="0">
                <a:solidFill>
                  <a:srgbClr val="0A1628"/>
                </a:solidFill>
                <a:latin typeface="Calibri"/>
              </a:rPr>
              <a:t>Client implication: keep the category story, but make the next proof artifact a scored benchmark.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5669280"/>
            <a:ext cx="10582351" cy="164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19" b="1" i="0">
                <a:solidFill>
                  <a:srgbClr val="0A1628"/>
                </a:solidFill>
                <a:latin typeface="Calibri"/>
              </a:rPr>
              <a:t>Compare manual services vs generic agent vs Beacon on the same implementation task.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19 / 53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Threat Priority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Prioritize response by severity, not by brand familiarity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27632"/>
            <a:ext cx="50749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73152" cy="129844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792224"/>
            <a:ext cx="47274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High severity / immediate 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194560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WalkMe/SAP, Rocketlane, Accenture/IBM/Capgemini
Why: distribution, enterprise trust, and budget ownership.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627632"/>
            <a:ext cx="50749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627632"/>
            <a:ext cx="73152" cy="129844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792224"/>
            <a:ext cx="47274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High severity / proof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2194560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Unframe AI, UiPath, generic computer-use agents
Why: broad AI delivery can absorb implementation as a use case.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46120"/>
            <a:ext cx="50749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246120"/>
            <a:ext cx="73152" cy="129844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410712"/>
            <a:ext cx="47274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Medium severity / positioning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81304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Pendo, Whatfix, Appcues
Why: strong DAP fit, but weaker for implementation execution.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3246120"/>
            <a:ext cx="507492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3246120"/>
            <a:ext cx="73152" cy="129844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3410712"/>
            <a:ext cx="47274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Selective / coexist response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381304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GuideCX, Arrows, Dock
Why: useful collaboration layers, often easier to integrate than displace.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394960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Immediate response: build the benchmark showing Beacon vs manual services vs generic agent execution on the same implementation task.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20 / 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Where Beacon Actually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strongest fit is narrower than generic enterprise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64208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73152" cy="43891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64792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Complex configurable SaaS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8495" y="1764792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0C9A7"/>
                </a:solidFill>
                <a:latin typeface="Calibri"/>
              </a:rPr>
              <a:t>High 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31136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31136"/>
            <a:ext cx="73152" cy="43891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31720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Repeated implementation playbooks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495" y="2331720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0C9A7"/>
                </a:solidFill>
                <a:latin typeface="Calibri"/>
              </a:rPr>
              <a:t>High fit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98064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798064"/>
            <a:ext cx="73152" cy="43891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898648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Revenue stuck between close and go-live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8495" y="2898648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0C9A7"/>
                </a:solidFill>
                <a:latin typeface="Calibri"/>
              </a:rPr>
              <a:t>High 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64991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364991"/>
            <a:ext cx="73152" cy="43891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465575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Existing project tools that only coordinate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495" y="3465575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0C9A7"/>
                </a:solidFill>
                <a:latin typeface="Calibri"/>
              </a:rPr>
              <a:t>High fit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31920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931920"/>
            <a:ext cx="73152" cy="43891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Pure product analytics or in-app guides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8495" y="4032504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E05A6B"/>
                </a:solidFill>
                <a:latin typeface="Calibri"/>
              </a:rPr>
              <a:t>Low fit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98848"/>
            <a:ext cx="11094415" cy="4389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498848"/>
            <a:ext cx="73152" cy="43891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599432"/>
            <a:ext cx="7040880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1B2B3C"/>
                </a:solidFill>
                <a:latin typeface="Calibri"/>
              </a:rPr>
              <a:t>Simple customer portal / shared room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8495" y="4599432"/>
            <a:ext cx="2057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E05A6B"/>
                </a:solidFill>
                <a:latin typeface="Calibri"/>
              </a:rPr>
              <a:t>Low fit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504688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0" i="1">
                <a:solidFill>
                  <a:srgbClr val="5B6B7C"/>
                </a:solidFill>
                <a:latin typeface="Calibri"/>
              </a:rPr>
              <a:t>Rule of thumb: if the buyer needs implementation labor reduced, Beacon belongs in the conversation. If the buyer needs adoption content or project visibility, an incumbent may be cleaner.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21 / 53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Pressure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claims that will get challenged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342900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73152" cy="333756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5623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Weakest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58568"/>
            <a:ext cx="3081528" cy="25877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“The knowledge graph compounds.” This needs longitudinal proof that later implementations are faster or safer because of platform learning.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42900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73152" cy="33375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5623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Sharpest objection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58568"/>
            <a:ext cx="3081528" cy="25877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“Is this just another coordination layer?” The answer has to be a live workflow execution trace, not a narrated demo.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297180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73152" cy="333756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1856232"/>
            <a:ext cx="2624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Biggest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258568"/>
            <a:ext cx="2624328" cy="25877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Incumbents can reframe Beacon as a feature unless Beacon owns execution, auditability, and implementation-specific learning.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22 / 53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00C9A7"/>
                </a:solidFill>
                <a:latin typeface="Calibri"/>
              </a:rPr>
              <a:t>CATEGORY DEEP DIVES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7860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Calibri"/>
              </a:rPr>
              <a:t>The Four Competitive Arenas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47872"/>
            <a:ext cx="128016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22191"/>
            <a:ext cx="8686800" cy="56692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>
                <a:solidFill>
                  <a:srgbClr val="E0F7F1"/>
                </a:solidFill>
                <a:latin typeface="Calibri"/>
              </a:rPr>
              <a:t>Each arena wins a different buyer job; Beacon must prove a narrower execution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23 / 53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Digital Adoption: What Buyers Actually Buy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DAP tools are mature because they map to a well-understood adoption problem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Buyer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Guide users, reduce support, improve training, and measure adoption after or around 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Primary budget 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Product, IT, digital transformation, customer success, or employee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Mature enterprise trust, review surfaces, integration depth, and established buying categories.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Weakness vs Beacon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They usually do not perform the implementation's configuration, migration, validation, or cutover work.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move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Do not attack guidance. Reframe the problem as pre-go-live execution.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Likely objection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“We already have a DAP.” Answer: Beacon is not adoption content; it is implementation work removal.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24 / 53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WalkMe / SAP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Digital adoption incumbent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9344"/>
            <a:ext cx="11094415" cy="93268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10582351" cy="512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80" b="1" i="0">
                <a:solidFill>
                  <a:srgbClr val="FFFFFF"/>
                </a:solidFill>
                <a:latin typeface="Calibri"/>
              </a:rPr>
              <a:t>Most dangerous incumbent: SAP distribution, AI-assistance positioning, cross-application context, and enterprise trust.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697480"/>
            <a:ext cx="73152" cy="20574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Beacon's winning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Beacon is narrower and more implementation-specific: configuration, validation, UAT, migration sequencing, and hypercare before or around go-live.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044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70448" y="2697480"/>
            <a:ext cx="73152" cy="205740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Competitive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WalkMe can move upstream from adoption into implementation workflows and bundle through SAP transformation programs.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25 / 53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Pendo, Whatfix, And Appcues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Strong products, different center of gravity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Pendo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Product analytics, in-app guides, sentiment, replay, orchestration, and free entry 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Whatfix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Enterprise DAP with guidance, analytics, training, support, and broad deployment options.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Appcues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Lighter customer-facing product onboarding, messaging, email, push, and feature adoption.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advantage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Implementation labor reduction is a stronger economic claim than adoption content when go-live is delayed.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Product teams may understand and budget these tools faster than a new implementation-execution category.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Sales language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“Keep adoption tools. Use Beacon to get customers live faster before adoption becomes the problem.”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26 / 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Implementation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These tools own the project layer around Beacon's execution wedge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Buyer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Coordinate customer onboarding, implementation tasks, timelines, resources, and stakeholder accountability.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Primary budget 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Professional services, implementation, customer success operations, and RevOps.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They are already in the delivery workflow and may hold project, resource, and revenue-recognition context.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Weakness vs Beacon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They manage work but generally still require humans to perform configuration, validation, and exception handling.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move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Integrate first. Become the execution layer below the project system.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Likely objection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“Will this replace our project system?” Answer: no, it executes work and reports progress back.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27 / 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Customer onboarding / PSA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9344"/>
            <a:ext cx="11094415" cy="93268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10582351" cy="512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80" b="1" i="0">
                <a:solidFill>
                  <a:srgbClr val="FFFFFF"/>
                </a:solidFill>
                <a:latin typeface="Calibri"/>
              </a:rPr>
              <a:t>Strongest adjacent implementation-operations vendor: project collaboration, portals, resource management, financials, revenue recognition, and public seat pricing.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697480"/>
            <a:ext cx="73152" cy="20574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Beacon's winning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Beacon should sit under Rocketlane as the worker layer: execute configuration, validation, exception routing, and hypercare while Rocketlane remains the operating 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044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70448" y="2697480"/>
            <a:ext cx="73152" cy="205740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Competitive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Rocketlane can add AI agents for repeatable services work and defend the implementation operations budget.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28 / 53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GuideCX, Arrows, And Dock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Collaboration tools win when the buyer wants visibility more than automation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GuideCX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Implementation management and customer accountability.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Arrows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HubSpot-oriented sales rooms and onboarding plans; pricing based on team size and use case.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Client-facing workspaces for sales, onboarding, and customer collaboration.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advantage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Deeper for complex configuration, validation, UAT, and migration workflows.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Overkill when the real pain is scattered customer communication.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Sales language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“Use customer rooms for alignment. Use Beacon for the work that blocks go-live.”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29 / 53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Enterprise AI Delivery: Broad Platform Threat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These vendors can package implementation as one AI-transformation use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Buyer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Move from AI experiments to governed production workflows across the enterprise.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Primary budget 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CIO, transformation, data/AI, operations, and business function leaders.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Strength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Broad scope, governance language, integrations, and ability to sell multiple use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Weakness vs Beacon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Less focused on enterprise SaaS implementation economics and post-sales delivery bottlenecks.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 move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Win by being narrower, faster to prove, and closer to revenue recognition.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Likely objection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“Can our AI transformation partner build this?” Answer with implementation-specific data and speed.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30 / 53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Unframe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Managed enterprise AI delivery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9344"/>
            <a:ext cx="11094415" cy="93268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10582351" cy="512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80" b="1" i="0">
                <a:solidFill>
                  <a:srgbClr val="FFFFFF"/>
                </a:solidFill>
                <a:latin typeface="Calibri"/>
              </a:rPr>
              <a:t>Closest broad AI peer: managed AI transformation, agent orchestrator, knowledge fabric, AI-native data warehouse, governance, and production-grade workflows.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697480"/>
            <a:ext cx="73152" cy="205740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Beacon's winning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Beacon is more verticalized around SaaS implementation execution and easier to value when go-live delay is the business pain.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044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70448" y="2697480"/>
            <a:ext cx="73152" cy="205740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Competitive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Unframe can sell implementation as one managed AI use case inside a broader enterprise AI program.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31 / 53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UiPath And Automation Incumbents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RPA / agentic automation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9344"/>
            <a:ext cx="11094415" cy="932688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10582351" cy="512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80" b="1" i="0">
                <a:solidFill>
                  <a:srgbClr val="FFFFFF"/>
                </a:solidFill>
                <a:latin typeface="Calibri"/>
              </a:rPr>
              <a:t>Deep enterprise automation footprint and budget access; capable of automating implementation fragments with enough configuration.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697480"/>
            <a:ext cx="73152" cy="20574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Beacon's winning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Beacon avoids custom bot-building by owning the implementation domain model, execution logic, and workflow-specific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0448" y="2697480"/>
            <a:ext cx="4800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70448" y="2697480"/>
            <a:ext cx="73152" cy="205740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862072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Competitive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3264408"/>
            <a:ext cx="4453128" cy="130759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Automation incumbents can bundle primitives into enterprise agreements and argue Beacon is a workflow built on top of their category.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32 / 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What Consultancies Are Really Selling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common thesis: AI value is operating-model execution, not model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27632"/>
            <a:ext cx="73152" cy="32461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Strategy and sponsorship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C-suite alignment, transformation roadmap, use-case prioritization, board narrative, and operating-model choices.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27632"/>
            <a:ext cx="73152" cy="32461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Delivery machinery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Data readiness, workflow redesign, governance, change management, integration, training, and managed execution.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27632"/>
            <a:ext cx="73152" cy="32461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Value realization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ROI tracking, adoption, benefit capture, outcome pricing, and proof that pilots scale into enterprise value.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E05A6B"/>
                </a:solidFill>
                <a:latin typeface="Calibri"/>
              </a:rPr>
              <a:t>Implication: Beacon should not compete with strategy decks. It should own the repeatable execution layer that turns transformation intent into completed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33 / 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Consulting Firm Archetypes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Each firm creates a different competitive pressure and partnership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64208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Accenture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Scale and reinvention. Most dangerous services-scale threat; potential channel if Beacon becomes an execution asset.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BCG / BCG 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Value capture and 10-20-70 change logic. Beacon must prove it operationalizes the people/process 70.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664208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3568" y="1664208"/>
            <a:ext cx="73152" cy="162763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828800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McKinsey / QuantumBlack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31136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Rewired operating model and C-suite authority. Beacon should sit below strategy as execution telemetry.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986784"/>
            <a:ext cx="73152" cy="162763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Deloitte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Trustworthy AI, governance, risk, and adoption. Beacon must lead with controls and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3986784"/>
            <a:ext cx="73152" cy="162763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IBM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watsonx, Consulting Advantage, hybrid-cloud delivery. Beacon competes when SaaS implementation is too domain-specific.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3986784"/>
            <a:ext cx="3246120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3568" y="3986784"/>
            <a:ext cx="73152" cy="162763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151376"/>
            <a:ext cx="289864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Capgemini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553712"/>
            <a:ext cx="2898648" cy="8778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Industrialized AI delivery and engineering scale. Beacon must win through productized repeatability.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34 / 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Consulting-Firm Threat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threat is delivery machinery, not PowerPoint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73152" cy="53035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00784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70" b="1" i="0">
                <a:solidFill>
                  <a:srgbClr val="0A1628"/>
                </a:solidFill>
                <a:latin typeface="Calibri"/>
              </a:rPr>
              <a:t>Services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5506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80" b="0" i="0">
                <a:solidFill>
                  <a:srgbClr val="5B6B7C"/>
                </a:solidFill>
                <a:latin typeface="Calibri"/>
              </a:rPr>
              <a:t>Accenture, IBM, Capgemini, and Deloitte can staff transformation programs globally.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86000"/>
            <a:ext cx="73152" cy="53035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414016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70" b="1" i="0">
                <a:solidFill>
                  <a:srgbClr val="0A1628"/>
                </a:solidFill>
                <a:latin typeface="Calibri"/>
              </a:rPr>
              <a:t>Platform assets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36829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80" b="0" i="0">
                <a:solidFill>
                  <a:srgbClr val="5B6B7C"/>
                </a:solidFill>
                <a:latin typeface="Calibri"/>
              </a:rPr>
              <a:t>AI Refinery, watsonx, Consulting Advantage, BCG X, QuantumBlack, and internal assistant libraries.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99232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99232"/>
            <a:ext cx="73152" cy="53035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27248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70" b="1" i="0">
                <a:solidFill>
                  <a:srgbClr val="0A1628"/>
                </a:solidFill>
                <a:latin typeface="Calibri"/>
              </a:rPr>
              <a:t>Executive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0815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80" b="0" i="0">
                <a:solidFill>
                  <a:srgbClr val="5B6B7C"/>
                </a:solidFill>
                <a:latin typeface="Calibri"/>
              </a:rPr>
              <a:t>McKinsey, BCG, and Accenture often shape the budget before tools are shortlisted.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12463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12463"/>
            <a:ext cx="73152" cy="53035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840479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70" b="1" i="0">
                <a:solidFill>
                  <a:srgbClr val="0A1628"/>
                </a:solidFill>
                <a:latin typeface="Calibri"/>
              </a:rPr>
              <a:t>Governance trust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794759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80" b="0" i="0">
                <a:solidFill>
                  <a:srgbClr val="5B6B7C"/>
                </a:solidFill>
                <a:latin typeface="Calibri"/>
              </a:rPr>
              <a:t>Big Four and IBM can slow adoption by framing AI execution as risk-managed transformation.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25696"/>
            <a:ext cx="11094415" cy="530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25696"/>
            <a:ext cx="73152" cy="53035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53712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70" b="1" i="0">
                <a:solidFill>
                  <a:srgbClr val="0A1628"/>
                </a:solidFill>
                <a:latin typeface="Calibri"/>
              </a:rPr>
              <a:t>Partner ecosystems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507992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80" b="0" i="0">
                <a:solidFill>
                  <a:srgbClr val="5B6B7C"/>
                </a:solidFill>
                <a:latin typeface="Calibri"/>
              </a:rPr>
              <a:t>Hyperscalers and model providers use consultancies as enterprise deployment channels.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35 / 53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Battlecard: WalkMe / SAP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Digital adoption incumbent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00200"/>
            <a:ext cx="73152" cy="14813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When it appears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Enterprise buyer frames the problem as adoption, training, employee productivity, or AI ROI across applications.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00200"/>
            <a:ext cx="73152" cy="14813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Displace only when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The blocker is pre-go-live implementation execution, not post-launch guidance.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73152" cy="14813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Coexist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WalkMe remains the adoption layer while Beacon executes setup, validation, and hypercare workflows.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429000"/>
            <a:ext cx="73152" cy="164592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Trap to avoid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Do not say Beacon replaces WalkMe broadly; that invites an enterprise maturity comparison Beacon may lose.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429000"/>
            <a:ext cx="73152" cy="16459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Proof that wins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 workflow trace showing Beacon performs configuration and UAT work that WalkMe would only guide or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36 / 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Battlecard: Rocketlane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Implementation operations / PSA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00200"/>
            <a:ext cx="73152" cy="14813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When it appears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Professional services wants project visibility, customer collaboration, resource planning, or revenue operations.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00200"/>
            <a:ext cx="73152" cy="14813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Displace only when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Manual delivery work remains the constraint after the project system is already in place.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73152" cy="14813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Coexist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Rocketlane remains the operating layer; Beacon becomes the work-execution layer underneath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429000"/>
            <a:ext cx="73152" cy="164592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Trap to avoid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Do not argue against project management. The buyer likely needs it and may already own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429000"/>
            <a:ext cx="73152" cy="16459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Proof that wins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Before/after evidence that Beacon reduces human touches, errors, and elapsed time inside active implementation tasks.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37 / 53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Battlecard: Unframe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Managed enterprise AI delivery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00200"/>
            <a:ext cx="73152" cy="14813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When it appears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CIO or transformation buyer wants broad governed AI workflows across the enterprise.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00200"/>
            <a:ext cx="73152" cy="14813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Displace only when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The buyer's urgent pain is enterprise SaaS go-live velocity and services margin, not generic AI transformation.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73152" cy="14813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Coexist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Unframe handles broader AI roadmap; Beacon owns the vertical implementation execution use case.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429000"/>
            <a:ext cx="73152" cy="164592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Trap to avoid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Do not compete on breadth. Compete on implementation specificity and time-to-proof.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429000"/>
            <a:ext cx="73152" cy="16459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Proof that wins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 7-day POC against a named implementation workflow with a clear revenue/margin value case.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38 / 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Battlecard: UiPath / Automation Incumbents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RPA and agentic automation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00200"/>
            <a:ext cx="73152" cy="148132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When it appears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Operations or IT already has automation budget, internal bot builders, or enterprise automation contracts.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00200"/>
            <a:ext cx="73152" cy="148132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Displace only when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Generic automation requires too much custom process mapping for repeated implementation workflows.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00200"/>
            <a:ext cx="34290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00200"/>
            <a:ext cx="73152" cy="1481328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6479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Coexist 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67128"/>
            <a:ext cx="3081528" cy="7315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UiPath automates horizontal tasks; Beacon manages implementation-specific logic, exceptions, and audit trails.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429000"/>
            <a:ext cx="73152" cy="164592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Trap to avoid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Do not frame the wedge as browser automation alone. That is commoditizable.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29000"/>
            <a:ext cx="5257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429000"/>
            <a:ext cx="73152" cy="16459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7" y="3593592"/>
            <a:ext cx="4910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Proof that wins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7" y="3995928"/>
            <a:ext cx="4910328" cy="896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Show reusable implementation logic, permission-aware execution, and compounding workflow knowledge.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39 / 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Objection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Prepare sales for the questions that will decide credibility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We already have WalkMe/Pendo.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1645920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Keep it. Beacon addresses implementation execution before adoption analytics becomes useful.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04288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We already use Rocketlane/Jira.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267712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Good. Beacon should execute work and sync progress into the system of record.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16352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816352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Could our AI team build this?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2889504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They can build fragments; Beacon must prove domain-specific workflow learning and speed.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38144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38144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547872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Is autonomous configuration safe?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79" y="3511296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Use audit logs, inherited RBAC, approval gates, and scoped POC execution.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59936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59936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169664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Where is independent proof?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4133088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Acknowledge the gap; offer buyer-specific POC metrics and customer references when available.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81728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681728"/>
            <a:ext cx="73152" cy="475488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791456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60" b="1" i="0">
                <a:solidFill>
                  <a:srgbClr val="0A1628"/>
                </a:solidFill>
                <a:latin typeface="Calibri"/>
              </a:rPr>
              <a:t>How do we budget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79" y="4754880"/>
            <a:ext cx="704088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Tie price discussion to revenue pull-forward, consultant leverage, and hypercare reduction.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40 / 53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Build / Buy / Partner Implication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Beacon should become the execution capability in a mixed sourcing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691640"/>
            <a:ext cx="103327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691640"/>
            <a:ext cx="91440" cy="621792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1856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10512"/>
            <a:ext cx="8001000" cy="31089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Unique product rules, proprietary implementation playbooks, customer-specific configuration logic.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551176"/>
            <a:ext cx="103327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2551176"/>
            <a:ext cx="91440" cy="6217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7157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670048"/>
            <a:ext cx="8001000" cy="31089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Generic AI infrastructure, model access, analytics, workflow tooling, and commodity automation.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410712"/>
            <a:ext cx="103327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410712"/>
            <a:ext cx="91440" cy="621792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357530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529584"/>
            <a:ext cx="8001000" cy="31089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Transformation strategy, operating-model redesign, governance program, and large-scale change management.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70248"/>
            <a:ext cx="103327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270248"/>
            <a:ext cx="91440" cy="6217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443484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Beacon slot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4389120"/>
            <a:ext cx="8001000" cy="31089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Buy or partner for the repeatable implementation-execution layer where delivery work is expensive and repeated.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41 / 53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Partner, Compete, Or Attach?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practical GTM choice by consulting-firm archetype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9344"/>
            <a:ext cx="11094415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9344"/>
            <a:ext cx="73152" cy="65836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73936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0A1628"/>
                </a:solidFill>
                <a:latin typeface="Calibri"/>
              </a:rPr>
              <a:t>Accenture / IBM / Capgemini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773936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40" b="1" i="0">
                <a:solidFill>
                  <a:srgbClr val="009B82"/>
                </a:solidFill>
                <a:latin typeface="Calibri"/>
              </a:rPr>
              <a:t>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1755648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30" b="0" i="0">
                <a:solidFill>
                  <a:srgbClr val="5B6B7C"/>
                </a:solidFill>
                <a:latin typeface="Calibri"/>
              </a:rPr>
              <a:t>Large programs need repeatable execution assets.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50592"/>
            <a:ext cx="11094415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450592"/>
            <a:ext cx="73152" cy="65836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15184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0A1628"/>
                </a:solidFill>
                <a:latin typeface="Calibri"/>
              </a:rPr>
              <a:t>BCG / McKinsey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15184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40" b="1" i="0">
                <a:solidFill>
                  <a:srgbClr val="009B82"/>
                </a:solidFill>
                <a:latin typeface="Calibri"/>
              </a:rPr>
              <a:t>Attach below strategy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596896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30" b="0" i="0">
                <a:solidFill>
                  <a:srgbClr val="5B6B7C"/>
                </a:solidFill>
                <a:latin typeface="Calibri"/>
              </a:rPr>
              <a:t>They shape the roadmap; Beacon supplies proof.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11094415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91840"/>
            <a:ext cx="73152" cy="65836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564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0A1628"/>
                </a:solidFill>
                <a:latin typeface="Calibri"/>
              </a:rPr>
              <a:t>Deloitte / Big Four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456432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40" b="1" i="0">
                <a:solidFill>
                  <a:srgbClr val="009B82"/>
                </a:solidFill>
                <a:latin typeface="Calibri"/>
              </a:rPr>
              <a:t>Coexist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438144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30" b="0" i="0">
                <a:solidFill>
                  <a:srgbClr val="5B6B7C"/>
                </a:solidFill>
                <a:latin typeface="Calibri"/>
              </a:rPr>
              <a:t>Lead with auditability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8"/>
            <a:ext cx="11094415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13308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97680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80" b="1" i="0">
                <a:solidFill>
                  <a:srgbClr val="0A1628"/>
                </a:solidFill>
                <a:latin typeface="Calibri"/>
              </a:rPr>
              <a:t>Boutique AI builders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297680"/>
            <a:ext cx="1874519" cy="2560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40" b="1" i="0">
                <a:solidFill>
                  <a:srgbClr val="009B82"/>
                </a:solidFill>
                <a:latin typeface="Calibri"/>
              </a:rPr>
              <a:t>Compete selectively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4279392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30" b="0" i="0">
                <a:solidFill>
                  <a:srgbClr val="5B6B7C"/>
                </a:solidFill>
                <a:latin typeface="Calibri"/>
              </a:rPr>
              <a:t>Win when domain automation beats bespoke build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42 / 53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Messaging 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A client-ready way to make the positioning repeatable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36192"/>
            <a:ext cx="11094415" cy="658368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37215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20" b="1" i="0">
                <a:solidFill>
                  <a:srgbClr val="FFFFFF"/>
                </a:solidFill>
                <a:latin typeface="Calibri"/>
              </a:rPr>
              <a:t>Beacon executes implementation work for complex enterprise SaaS go-lives.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42032"/>
            <a:ext cx="516636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542032"/>
            <a:ext cx="73152" cy="115214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70662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Faster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108960"/>
            <a:ext cx="4818888" cy="40233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Compress signature-to-go-live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2542032"/>
            <a:ext cx="516636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1928" y="2542032"/>
            <a:ext cx="73152" cy="115214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70662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Lower services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108960"/>
            <a:ext cx="4818888" cy="40233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Reduce repeated manual delivery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14800"/>
            <a:ext cx="516636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4114800"/>
            <a:ext cx="73152" cy="115214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27939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Safer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681728"/>
            <a:ext cx="4818888" cy="40233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Use scoped access, approvals, and audit trails.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4114800"/>
            <a:ext cx="516636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1928" y="4114800"/>
            <a:ext cx="73152" cy="115214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427939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Compounding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4681728"/>
            <a:ext cx="4818888" cy="40233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Reuse implementation exceptions and fixes.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50992"/>
            <a:ext cx="11094415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40" b="1" i="0">
                <a:solidFill>
                  <a:srgbClr val="E05A6B"/>
                </a:solidFill>
                <a:latin typeface="Calibri"/>
              </a:rPr>
              <a:t>Avoid: “better DAP,” “AI project manager,” or “generic automation.” Those labels dilute the wedge.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43 / 53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Reference Integration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Beacon should reduce replacement fear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627632"/>
            <a:ext cx="98755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627632"/>
            <a:ext cx="109728" cy="694944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1755648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40" b="1" i="0">
                <a:solidFill>
                  <a:srgbClr val="0A1628"/>
                </a:solidFill>
                <a:latin typeface="Calibri"/>
              </a:rPr>
              <a:t>Systems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37360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CRM, PSA, project management, ticketing, data migration 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615184"/>
            <a:ext cx="98755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615184"/>
            <a:ext cx="109728" cy="69494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4752" y="2743200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40" b="1" i="0">
                <a:solidFill>
                  <a:srgbClr val="0A1628"/>
                </a:solidFill>
                <a:latin typeface="Calibri"/>
              </a:rPr>
              <a:t>Beacon execution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724912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Configuration, validation, UAT, migration sequencing, cutover, hypercare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602736"/>
            <a:ext cx="98755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602736"/>
            <a:ext cx="109728" cy="69494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4752" y="3730752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40" b="1" i="0">
                <a:solidFill>
                  <a:srgbClr val="0A1628"/>
                </a:solidFill>
                <a:latin typeface="Calibri"/>
              </a:rPr>
              <a:t>Governance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712464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RBAC, approvals, audit logs, model policy, data boundaries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4590288"/>
            <a:ext cx="9875520" cy="694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4590288"/>
            <a:ext cx="109728" cy="694944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4718304"/>
            <a:ext cx="237744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40" b="1" i="0">
                <a:solidFill>
                  <a:srgbClr val="0A1628"/>
                </a:solidFill>
                <a:latin typeface="Calibri"/>
              </a:rPr>
              <a:t>Experience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700016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00" b="0" i="0">
                <a:solidFill>
                  <a:srgbClr val="5B6B7C"/>
                </a:solidFill>
                <a:latin typeface="Calibri"/>
              </a:rPr>
              <a:t>DAP guidance, customer portal, collaboration room, executive 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23560"/>
            <a:ext cx="11094415" cy="3474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0A1628"/>
                </a:solidFill>
                <a:latin typeface="Calibri"/>
              </a:rPr>
              <a:t>Positioning implication: Beacon does not need to replace the stack. It needs to become the trusted execution layer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44 / 53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ROI Model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Tie the business case to implementation economics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82495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Revenue pull-forward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64592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Days from signature to go-live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64592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ARR activated earlier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85416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85416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29514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Services leverage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258568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Consultant hours per 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25856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More projects per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798064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798064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0779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287121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Configuration defects and UAT failures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87121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Lower rework and escalation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10712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10712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2044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Hypercare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483864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Tickets and support hours after go-live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48386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Lower post-launch burden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023360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023360"/>
            <a:ext cx="73152" cy="475488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133088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09651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Implementation backlog and cycle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096512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More customers live per quarter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36008"/>
            <a:ext cx="11094415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636008"/>
            <a:ext cx="73152" cy="475488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745736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0A1628"/>
                </a:solidFill>
                <a:latin typeface="Calibri"/>
              </a:rPr>
              <a:t>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470916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0" i="0">
                <a:solidFill>
                  <a:srgbClr val="5B6B7C"/>
                </a:solidFill>
                <a:latin typeface="Calibri"/>
              </a:rPr>
              <a:t>Audit trail completeness and approval coverage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470916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40" b="1" i="0">
                <a:solidFill>
                  <a:srgbClr val="1B2B3C"/>
                </a:solidFill>
                <a:latin typeface="Calibri"/>
              </a:rPr>
              <a:t>Procurement and CISO confidence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45 / 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Pricing And Ecosystem: Use As Pressure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Official data supports commercial-transparency scoring, not a hard TCO comparison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572768"/>
            <a:ext cx="73152" cy="27889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37360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Pricing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39696"/>
            <a:ext cx="3081528" cy="2039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Official pricing pages surfaced for GUIDEcx, Pendo, and WalkMe. Beacon public pricing was not found. Most enterprise TCO remains quote-based or procurement-gated.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572768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572768"/>
            <a:ext cx="73152" cy="27889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37360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Ecosystem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39696"/>
            <a:ext cx="3081528" cy="2039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WalkMe/SAP, Salesforce, ServiceNow, MuleSoft, Boomi, Workato, and UiPath have the strongest platform gravity. Beacon has a public partner page, but named depth is emerging.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572768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572768"/>
            <a:ext cx="73152" cy="27889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37360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Deck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39696"/>
            <a:ext cx="3081528" cy="20391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Score pricing as transparency and score ecosystem as route-to-market power. Do not imply exact pricing comparability where public TCO is unavailable.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094415" cy="658368"/>
          </a:xfrm>
          <a:prstGeom prst="roundRect">
            <a:avLst>
              <a:gd name="adj" fmla="val 6000"/>
            </a:avLst>
          </a:prstGeom>
          <a:solidFill>
            <a:srgbClr val="F4F7F8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47488"/>
            <a:ext cx="10582351" cy="31089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80" b="1" i="0">
                <a:solidFill>
                  <a:srgbClr val="0A1628"/>
                </a:solidFill>
                <a:latin typeface="Calibri"/>
              </a:rPr>
              <a:t>Strategic read: Beacon's product wedge is clearer than its commercial proof. The next artifact should tie price to workflow-level labor removed.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46 / 53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Required Proof Benchmark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category is not won by narrative; it is won by task-level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64208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Manual services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64208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810512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Calibri"/>
              </a:rPr>
              <a:t>Generic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664208"/>
            <a:ext cx="3310128" cy="457200"/>
          </a:xfrm>
          <a:prstGeom prst="roundRect">
            <a:avLst>
              <a:gd name="adj" fmla="val 4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7" y="1810512"/>
            <a:ext cx="3310128" cy="1463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Calibri"/>
              </a:rPr>
              <a:t>Beacon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304288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377440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Elapsed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304288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2377440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Browser/UI execution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7" y="2304288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7" y="2377440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Cycle-time compression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2834640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907792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Human touches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834640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59" y="2907792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Task completion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7" y="2834640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6447" y="2907792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Labor removed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364991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38144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Known defects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364991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3438144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Hallucination/error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7" y="3364991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7" y="3438144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Validation accuracy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3895344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68496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Approval trail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895344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59" y="3968496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Action log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5007" y="3895344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56447" y="3968496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Audit-ready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425696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4498848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Hypercare tickets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425696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4498848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Fallback handling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65007" y="4425696"/>
            <a:ext cx="33101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56447" y="4498848"/>
            <a:ext cx="3127248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1B2B3C"/>
                </a:solidFill>
                <a:latin typeface="Calibri"/>
              </a:rPr>
              <a:t>Post-go-live impact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513832"/>
            <a:ext cx="11094415" cy="4206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30" b="1" i="0">
                <a:solidFill>
                  <a:srgbClr val="0A1628"/>
                </a:solidFill>
                <a:latin typeface="Calibri"/>
              </a:rPr>
              <a:t>Decision gate: Beacon only owns the category if it beats both baselines on speed, quality, auditability, and repeatability.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47 / 53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The POC Scorecard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Turn every sales trial into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892807"/>
            <a:ext cx="3090672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37360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892807"/>
            <a:ext cx="3090672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Calibri"/>
              </a:rPr>
              <a:t>Beacon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5" y="1737360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3" y="1892807"/>
            <a:ext cx="3090672" cy="1463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05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395728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478024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Manual elapsed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2395728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478024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Beacon elapsed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5" y="2395728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3" y="2478024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Cycle-time compression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008376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Human touches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2926080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71416" y="3008376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Human interventions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5" y="2926080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7303" y="3008376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Labor removed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3456432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538728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Known errors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3456432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3538728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Execution errors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7575" y="3456432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47303" y="3538728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Quality delta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986783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4069079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Support tickets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3986783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4069079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Hypercare load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37575" y="3986783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3" y="4069079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Post-go-live impact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517136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4599431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No clear trace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1688" y="4517136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1416" y="4599431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Action log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37575" y="4517136"/>
            <a:ext cx="331012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47303" y="4599431"/>
            <a:ext cx="3090672" cy="21945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960" b="0" i="0">
                <a:solidFill>
                  <a:srgbClr val="1B2B3C"/>
                </a:solidFill>
                <a:latin typeface="Calibri"/>
              </a:rPr>
              <a:t>Enterprise trust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23560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A1628"/>
                </a:solidFill>
                <a:latin typeface="Calibri"/>
              </a:rPr>
              <a:t>Best next move: run the POC on one active implementation workflow and use this scorecard to decide whether Beacon owns the category.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48 / 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30 / 60 / 90 Day Action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Turn the analysis into operating motion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27632"/>
            <a:ext cx="73152" cy="32461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First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Finalize category language; build battlecards; define POC scorecard; pick 2-3 integration targets; collect current sales objections.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27632"/>
            <a:ext cx="73152" cy="32461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Next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Run workflow POCs; publish before/after evidence; produce ROI calculator; build reference architecture; tighten security narrative.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27632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27632"/>
            <a:ext cx="73152" cy="324612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Next 90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94560"/>
            <a:ext cx="3081528" cy="249631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Package proof into sales assets; validate compounding claims; create customer reference motion; decide category investment level.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E05A6B"/>
                </a:solidFill>
                <a:latin typeface="Calibri"/>
              </a:rPr>
              <a:t>Decision gate: continue category-building only if POCs show measurable cycle-time, labor, quality, or hypercare improvement.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49 / 53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Funding And Market Momentum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Capital is flowing to AI delivery and implementation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91640"/>
            <a:ext cx="342900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73152" cy="315468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85623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WalkMe / SAP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58568"/>
            <a:ext cx="308152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Acquired by SAP for $1.5B in 2024. Treat as an incumbent platform asset, not a standalone startup.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691640"/>
            <a:ext cx="342900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691640"/>
            <a:ext cx="73152" cy="315468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56232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Unframe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58568"/>
            <a:ext cx="308152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Reported $50M Series B in 2026, $100M total funding, and broad enterprise AI delivery positioning.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297180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73152" cy="315468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1856232"/>
            <a:ext cx="26243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Rocketlane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2258568"/>
            <a:ext cx="2624328" cy="240487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Reported $60M Series C in 2026 and $105M total funding, with AI services-work automation momentum.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0A1628"/>
                </a:solidFill>
                <a:latin typeface="Calibri"/>
              </a:rPr>
              <a:t>Market implication: Beacon's category is timely, but stronger-funded adjacent vendors can crowd the narrative unless Beacon proves a narrower workflow wedge.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50 / 53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Source Confidence And Gaps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Separate sourced facts from strategic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627632"/>
            <a:ext cx="73152" cy="306324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High confidence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94560"/>
            <a:ext cx="3081528" cy="23134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455 Level 2 evidence rows; official trust/security pages; public competitor positioning; Beacon-owned case/product claims; primary consulting/analyst evidence where available.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27632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627632"/>
            <a:ext cx="73152" cy="30632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Medium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81528" cy="23134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Strategic category interpretation, fit scoring, grouped-vendor scoring rows, quadrant placement, likely buyer objections, and competitive response paths.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27632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FE5"/>
            </a:solidFill>
          </a:ln>
          <a:effectLst>
            <a:outerShdw blurRad="80000" dist="30000" dir="5400000" rotWithShape="0">
              <a:srgbClr val="0A1628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27632"/>
            <a:ext cx="73152" cy="3063240"/>
          </a:xfrm>
          <a:prstGeom prst="rect">
            <a:avLst/>
          </a:prstGeom>
          <a:solidFill>
            <a:srgbClr val="E0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792224"/>
            <a:ext cx="3081528" cy="29260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50" b="1" i="0">
                <a:solidFill>
                  <a:srgbClr val="0A1628"/>
                </a:solidFill>
                <a:latin typeface="Calibri"/>
              </a:rPr>
              <a:t>Open gaps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194560"/>
            <a:ext cx="3081528" cy="2313432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50" b="0" i="0">
                <a:solidFill>
                  <a:srgbClr val="5B6B7C"/>
                </a:solidFill>
                <a:latin typeface="Calibri"/>
              </a:rPr>
              <a:t>Beacon baseline denominators; independent Beacon performance proof; actual win/loss notes; Beacon public pricing; named partner depth; longitudinal knowledge-graph compounding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1094415" cy="65836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200" b="1" i="0">
                <a:solidFill>
                  <a:srgbClr val="0A1628"/>
                </a:solidFill>
                <a:latin typeface="Calibri"/>
              </a:rPr>
              <a:t>Client use: treat this as a source-backed strategy briefing plus explicit hypotheses to validate in live sales and customer proof cycles.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51 / 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>
                <a:solidFill>
                  <a:srgbClr val="0A1628"/>
                </a:solidFill>
                <a:latin typeface="Calibri"/>
              </a:rPr>
              <a:t>Updated Strategic 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24128"/>
            <a:ext cx="132588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50" b="0" i="0">
                <a:solidFill>
                  <a:srgbClr val="5B6B7C"/>
                </a:solidFill>
                <a:latin typeface="Calibri"/>
              </a:rPr>
              <a:t>The full differentiation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81328"/>
            <a:ext cx="11094415" cy="676656"/>
          </a:xfrm>
          <a:prstGeom prst="roundRect">
            <a:avLst>
              <a:gd name="adj" fmla="val 6000"/>
            </a:avLst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37215" cy="329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80" b="1" i="0">
                <a:solidFill>
                  <a:srgbClr val="FFFFFF"/>
                </a:solidFill>
                <a:latin typeface="Calibri"/>
              </a:rPr>
              <a:t>Beacon owns implementation execution where adjacent categories stop short.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487168"/>
            <a:ext cx="10241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2487168"/>
            <a:ext cx="73152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40" b="1" i="0">
                <a:solidFill>
                  <a:srgbClr val="0A1628"/>
                </a:solidFill>
                <a:latin typeface="Calibri"/>
              </a:rPr>
              <a:t>DAPs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69464"/>
            <a:ext cx="713232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Guide adoption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054096"/>
            <a:ext cx="10241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3054096"/>
            <a:ext cx="73152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136392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40" b="1" i="0">
                <a:solidFill>
                  <a:srgbClr val="0A1628"/>
                </a:solidFill>
                <a:latin typeface="Calibri"/>
              </a:rPr>
              <a:t>Onboarding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3136392"/>
            <a:ext cx="713232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Coordinate delivery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3621024"/>
            <a:ext cx="10241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621024"/>
            <a:ext cx="73152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703320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40" b="1" i="0">
                <a:solidFill>
                  <a:srgbClr val="0A1628"/>
                </a:solidFill>
                <a:latin typeface="Calibri"/>
              </a:rPr>
              <a:t>RPA / generic agents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703320"/>
            <a:ext cx="713232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Automate fragments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4187952"/>
            <a:ext cx="10241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4187952"/>
            <a:ext cx="73152" cy="393192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270248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40" b="1" i="0">
                <a:solidFill>
                  <a:srgbClr val="0A1628"/>
                </a:solidFill>
                <a:latin typeface="Calibri"/>
              </a:rPr>
              <a:t>Consultancies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270248"/>
            <a:ext cx="713232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Design and govern transformation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4754880"/>
            <a:ext cx="102412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4754880"/>
            <a:ext cx="73152" cy="393192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37176"/>
            <a:ext cx="205740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40" b="1" i="0">
                <a:solidFill>
                  <a:srgbClr val="0A1628"/>
                </a:solidFill>
                <a:latin typeface="Calibri"/>
              </a:rPr>
              <a:t>Beacon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837176"/>
            <a:ext cx="7132320" cy="18288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019" b="0" i="0">
                <a:solidFill>
                  <a:srgbClr val="5B6B7C"/>
                </a:solidFill>
                <a:latin typeface="Calibri"/>
              </a:rPr>
              <a:t>Executes implementation work with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160" b="1" i="0">
                <a:solidFill>
                  <a:srgbClr val="0A1628"/>
                </a:solidFill>
                <a:latin typeface="Calibri"/>
              </a:rPr>
              <a:t>Next client-proof requirement: run one implementation task against Beacon, a services baseline, and a generic agent baseline.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52 / 53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1" i="0">
                <a:solidFill>
                  <a:srgbClr val="00C9A7"/>
                </a:solidFill>
                <a:latin typeface="Calibri"/>
              </a:rPr>
              <a:t>FINAL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25296"/>
            <a:ext cx="9692640" cy="841248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Calibri"/>
              </a:rPr>
              <a:t>Back the category through proof, not positioning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21408"/>
            <a:ext cx="1280160" cy="45720"/>
          </a:xfrm>
          <a:prstGeom prst="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9509760" cy="1508760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0">
                <a:solidFill>
                  <a:srgbClr val="E0F7F1"/>
                </a:solidFill>
                <a:latin typeface="Calibri"/>
              </a:rPr>
              <a:t>•  Rebuild the sales story around one rubric and four arenas.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0">
                <a:solidFill>
                  <a:srgbClr val="E0F7F1"/>
                </a:solidFill>
                <a:latin typeface="Calibri"/>
              </a:rPr>
              <a:t>•  Run a benchmark: manual services vs generic agent vs Beacon on one real setup task.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500" b="0" i="0">
                <a:solidFill>
                  <a:srgbClr val="E0F7F1"/>
                </a:solidFill>
                <a:latin typeface="Calibri"/>
              </a:rPr>
              <a:t>•  Use the result to decide pricing, category language, and partner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9875520" cy="402336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400" b="1" i="0">
                <a:solidFill>
                  <a:srgbClr val="FFB800"/>
                </a:solidFill>
                <a:latin typeface="Calibri"/>
              </a:rPr>
              <a:t>Strategic line: Beacon executes implementation work where guidance, coordination, consulting, and generic automation stop short.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5B6B7C"/>
                </a:solidFill>
                <a:latin typeface="Calibri"/>
              </a:rPr>
              <a:t>Beacon.li Competitor Analysis | Public-market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556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000" b="1" i="0">
                <a:solidFill>
                  <a:srgbClr val="5B6B7C"/>
                </a:solidFill>
                <a:latin typeface="Calibri"/>
              </a:rPr>
              <a:t>53 / 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