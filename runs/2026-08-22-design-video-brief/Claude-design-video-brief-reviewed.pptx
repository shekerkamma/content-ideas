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89cbd3c62444d4" /><Relationship Type="http://schemas.openxmlformats.org/officeDocument/2006/relationships/extended-properties" Target="/docProps/app.xml" Id="R151f35dd96c14532" /><Relationship Type="http://schemas.openxmlformats.org/officeDocument/2006/relationships/officeDocument" Target="/ppt/presentation.xml" Id="R984e671ad8a2444a" /></Relationships>
</file>

<file path=ppt/presentation.xml><?xml version="1.0" encoding="utf-8"?>
<p:presentation xmlns:p="http://schemas.openxmlformats.org/presentationml/2006/main">
  <p:sldMasterIdLst>
    <p:sldMasterId xmlns:r="http://schemas.openxmlformats.org/officeDocument/2006/relationships" id="2147483648" r:id="Rbf54002a2ec84341"/>
  </p:sldMasterIdLst>
  <p:notesMasterIdLst>
    <p:notesMasterId xmlns:r="http://schemas.openxmlformats.org/officeDocument/2006/relationships" r:id="R1677bcdacaf844e8"/>
  </p:notesMasterIdLst>
  <p:sldIdLst>
    <p:sldId xmlns:r="http://schemas.openxmlformats.org/officeDocument/2006/relationships" id="256" r:id="Re2487b39241545cb"/>
    <p:sldId xmlns:r="http://schemas.openxmlformats.org/officeDocument/2006/relationships" id="257" r:id="R14344d969d294e82"/>
    <p:sldId xmlns:r="http://schemas.openxmlformats.org/officeDocument/2006/relationships" id="258" r:id="Rf765b4c5585f454f"/>
    <p:sldId xmlns:r="http://schemas.openxmlformats.org/officeDocument/2006/relationships" id="259" r:id="Rc05e737ec5b7494c"/>
    <p:sldId xmlns:r="http://schemas.openxmlformats.org/officeDocument/2006/relationships" id="260" r:id="Rf78fb9c2a8514c45"/>
    <p:sldId xmlns:r="http://schemas.openxmlformats.org/officeDocument/2006/relationships" id="261" r:id="R1d41ed5a5c8a4c8a"/>
    <p:sldId xmlns:r="http://schemas.openxmlformats.org/officeDocument/2006/relationships" id="262" r:id="R97ee9e323b9d494f"/>
    <p:sldId xmlns:r="http://schemas.openxmlformats.org/officeDocument/2006/relationships" id="263" r:id="Rc862b0eec8134874"/>
    <p:sldId xmlns:r="http://schemas.openxmlformats.org/officeDocument/2006/relationships" id="264" r:id="R530a423fb9154d46"/>
    <p:sldId xmlns:r="http://schemas.openxmlformats.org/officeDocument/2006/relationships" id="265" r:id="Ref13f20c54214e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fb94f3d505489c" /><Relationship Type="http://schemas.openxmlformats.org/officeDocument/2006/relationships/slideMaster" Target="/ppt/slideMasters/slideMaster1.xml" Id="Rbf54002a2ec84341" /><Relationship Type="http://schemas.openxmlformats.org/officeDocument/2006/relationships/notesMaster" Target="/ppt/notesMasters/notesMaster1.xml" Id="R1677bcdacaf844e8" /><Relationship Type="http://schemas.openxmlformats.org/officeDocument/2006/relationships/presProps" Target="/ppt/presProps.xml" Id="R783831d8c7a84bf0" /><Relationship Type="http://schemas.openxmlformats.org/officeDocument/2006/relationships/tableStyles" Target="/ppt/tableStyles.xml" Id="R1a9c038225c44472" /><Relationship Type="http://schemas.openxmlformats.org/officeDocument/2006/relationships/slide" Target="/ppt/slides/slide1.xml" Id="Re2487b39241545cb" /><Relationship Type="http://schemas.openxmlformats.org/officeDocument/2006/relationships/slide" Target="/ppt/slides/slide2.xml" Id="R14344d969d294e82" /><Relationship Type="http://schemas.openxmlformats.org/officeDocument/2006/relationships/slide" Target="/ppt/slides/slide3.xml" Id="Rf765b4c5585f454f" /><Relationship Type="http://schemas.openxmlformats.org/officeDocument/2006/relationships/slide" Target="/ppt/slides/slide4.xml" Id="Rc05e737ec5b7494c" /><Relationship Type="http://schemas.openxmlformats.org/officeDocument/2006/relationships/slide" Target="/ppt/slides/slide5.xml" Id="Rf78fb9c2a8514c45" /><Relationship Type="http://schemas.openxmlformats.org/officeDocument/2006/relationships/slide" Target="/ppt/slides/slide6.xml" Id="R1d41ed5a5c8a4c8a" /><Relationship Type="http://schemas.openxmlformats.org/officeDocument/2006/relationships/slide" Target="/ppt/slides/slide7.xml" Id="R97ee9e323b9d494f" /><Relationship Type="http://schemas.openxmlformats.org/officeDocument/2006/relationships/slide" Target="/ppt/slides/slide8.xml" Id="Rc862b0eec8134874" /><Relationship Type="http://schemas.openxmlformats.org/officeDocument/2006/relationships/slide" Target="/ppt/slides/slide9.xml" Id="R530a423fb9154d46" /><Relationship Type="http://schemas.openxmlformats.org/officeDocument/2006/relationships/slide" Target="/ppt/slides/slide10.xml" Id="Ref13f20c54214e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2ae3d076834d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798f6544394366" /><Relationship Type="http://schemas.openxmlformats.org/officeDocument/2006/relationships/notesMaster" Target="/ppt/notesMasters/notesMaster1.xml" Id="R3aa1a93d991147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fe25c5866746b2" /><Relationship Type="http://schemas.openxmlformats.org/officeDocument/2006/relationships/notesMaster" Target="/ppt/notesMasters/notesMaster1.xml" Id="Rcfe2f01e6cda4d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39c8aaf1fc40dc" /><Relationship Type="http://schemas.openxmlformats.org/officeDocument/2006/relationships/notesMaster" Target="/ppt/notesMasters/notesMaster1.xml" Id="R11959a55eea047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1dee17a26b4bd5" /><Relationship Type="http://schemas.openxmlformats.org/officeDocument/2006/relationships/notesMaster" Target="/ppt/notesMasters/notesMaster1.xml" Id="Rf7d2b7ccad834f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fe1fe351134aa8" /><Relationship Type="http://schemas.openxmlformats.org/officeDocument/2006/relationships/notesMaster" Target="/ppt/notesMasters/notesMaster1.xml" Id="R87e58b8ddf8442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1e925903be497c" /><Relationship Type="http://schemas.openxmlformats.org/officeDocument/2006/relationships/notesMaster" Target="/ppt/notesMasters/notesMaster1.xml" Id="Rbb054dfcb57e4c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5e90959d61413c" /><Relationship Type="http://schemas.openxmlformats.org/officeDocument/2006/relationships/notesMaster" Target="/ppt/notesMasters/notesMaster1.xml" Id="Re3ec6934445444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e91e0262734332" /><Relationship Type="http://schemas.openxmlformats.org/officeDocument/2006/relationships/notesMaster" Target="/ppt/notesMasters/notesMaster1.xml" Id="Rab222dde39a24d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62e0375ab744ba" /><Relationship Type="http://schemas.openxmlformats.org/officeDocument/2006/relationships/notesMaster" Target="/ppt/notesMasters/notesMaster1.xml" Id="R4a5cbcae8fb043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727eabe61e4652" /><Relationship Type="http://schemas.openxmlformats.org/officeDocument/2006/relationships/notesMaster" Target="/ppt/notesMasters/notesMaster1.xml" Id="R349a4ad162484b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Frames re-pulled at 1080p with --extractor-args youtube:player_client=default,mweb,web_embedded. The default download is 640x360 and none of the on-screen text is legible at that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figures read off frames at 04:36 and 12:02. See frame-evidence.md.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04:36. Line counts are the +N figures beside each Created line. 199+196+176+168+215 = 954.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03:19 — the slash menu with the full description panel legible beside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07:50. The Debug line is the strongest single piece of evidence that .dc.html artboards render as real DOM.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11:44 / 12:02. Let the failure land before the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12:02. Version identity is explicit and addressable: 1787190748-9864. Local site at localhost:4173.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12:02, lower half. This is the behaviour to hold vendors to, not the canvas.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method note. Twelve frames at 1600px carried more than 212 caption segments.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habit is Save. The insight is that the agent is doing more than drawing, and the captions hide all of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be4fa21f8047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d834ba59ba4341" /><Relationship Type="http://schemas.openxmlformats.org/officeDocument/2006/relationships/slideLayout" Target="/ppt/slideLayouts/slideLayout1.xml" Id="R108d8f5da8704e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8d8f5da8704e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4f86b81c7345b5" /><Relationship Type="http://schemas.openxmlformats.org/officeDocument/2006/relationships/notesSlide" Target="/ppt/notesSlides/notesSlide1.xml" Id="R0b2b6f01ed2943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3fe911ee474af4" /><Relationship Type="http://schemas.openxmlformats.org/officeDocument/2006/relationships/notesSlide" Target="/ppt/notesSlides/notesSlide2.xml" Id="Raeef779f1ba34d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7b1cc4cc2f4ed6" /><Relationship Type="http://schemas.openxmlformats.org/officeDocument/2006/relationships/notesSlide" Target="/ppt/notesSlides/notesSlide3.xml" Id="R750c98058adc4b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73c9cf1ebd4dcc" /><Relationship Type="http://schemas.openxmlformats.org/officeDocument/2006/relationships/notesSlide" Target="/ppt/notesSlides/notesSlide4.xml" Id="Rbe3f47b4cda243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74fd710f714b25" /><Relationship Type="http://schemas.openxmlformats.org/officeDocument/2006/relationships/notesSlide" Target="/ppt/notesSlides/notesSlide5.xml" Id="R64e8f757dc474a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b96f8073084650" /><Relationship Type="http://schemas.openxmlformats.org/officeDocument/2006/relationships/notesSlide" Target="/ppt/notesSlides/notesSlide6.xml" Id="R30a115f30e4345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bdb0c31c6244c7" /><Relationship Type="http://schemas.openxmlformats.org/officeDocument/2006/relationships/notesSlide" Target="/ppt/notesSlides/notesSlide7.xml" Id="R2c7b8e4f53724c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650317d60d46e8" /><Relationship Type="http://schemas.openxmlformats.org/officeDocument/2006/relationships/notesSlide" Target="/ppt/notesSlides/notesSlide8.xml" Id="Re364cd80ffaf40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8d574fa1f2440d" /><Relationship Type="http://schemas.openxmlformats.org/officeDocument/2006/relationships/notesSlide" Target="/ppt/notesSlides/notesSlide9.xml" Id="Reef9c526989048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34a8083dde42ea" /><Relationship Type="http://schemas.openxmlformats.org/officeDocument/2006/relationships/notesSlide" Target="/ppt/notesSlides/notesSlide10.xml" Id="Ra7386bfd6d4d459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6A663B8-1BEB-4E1E-84F5-8755B193BA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79AE14-8124-4932-96EF-8AF80085BF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23FC95-9979-461C-AB65-9F698E30BD1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135341-1DA4-4576-BE01-5414826F32EA}"/>
              </a:ext>
            </a:extLst>
          </p:cNvPr>
          <p:cNvSpPr>
            <a:spLocks xmlns:a="http://schemas.openxmlformats.org/drawingml/2006/main" noGrp="1"/>
          </p:cNvSpPr>
          <p:nvPr/>
        </p:nvSpPr>
        <p:spPr>
          <a:xfrm xmlns:a="http://schemas.openxmlformats.org/drawingml/2006/main">
            <a:off x="457200" y="914400"/>
            <a:ext cx="857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VIDEO BRIEF · CLAUDE CODE /DESIGN</a:t>
            </a:r>
          </a:p>
        </p:txBody>
      </p:sp>
      <p:sp>
        <p:nvSpPr>
          <p:cNvPr id="5" name="">
            <a:extLst xmlns:a="http://schemas.openxmlformats.org/drawingml/2006/main">
              <a:ext uri="{FF2B5EF4-FFF2-40B4-BE49-F238E27FC236}">
                <a16:creationId xmlns:a16="http://schemas.microsoft.com/office/drawing/2014/main" id="{85E994B0-8B4C-442F-98EE-848272AB72F2}"/>
              </a:ext>
            </a:extLst>
          </p:cNvPr>
          <p:cNvSpPr>
            <a:spLocks xmlns:a="http://schemas.openxmlformats.org/drawingml/2006/main" noGrp="1"/>
          </p:cNvSpPr>
          <p:nvPr/>
        </p:nvSpPr>
        <p:spPr>
          <a:xfrm xmlns:a="http://schemas.openxmlformats.org/drawingml/2006/main">
            <a:off x="457200" y="1333500"/>
            <a:ext cx="1257300" cy="285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720D8D2-E8EC-4174-A526-4860F8B34A3D}"/>
              </a:ext>
            </a:extLst>
          </p:cNvPr>
          <p:cNvSpPr>
            <a:spLocks xmlns:a="http://schemas.openxmlformats.org/drawingml/2006/main" noGrp="1"/>
          </p:cNvSpPr>
          <p:nvPr/>
        </p:nvSpPr>
        <p:spPr>
          <a:xfrm xmlns:a="http://schemas.openxmlformats.org/drawingml/2006/main">
            <a:off x="457200" y="1733550"/>
            <a:ext cx="1095375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Georgia"/>
                <a:ea typeface="Georgia"/>
                <a:cs typeface="Georgia"/>
              </a:defRPr>
            </a:pPr>
            <a:r>
              <a:t>The narration says he forgot to save.</a:t>
            </a:r>
          </a:p>
          <a:p xmlns:a="http://schemas.openxmlformats.org/drawingml/2006/main">
            <a:pPr algn="l">
              <a:defRPr sz="3975" b="1">
                <a:solidFill>
                  <a:srgbClr val="FFFFFF"/>
                </a:solidFill>
                <a:latin typeface="Georgia"/>
                <a:ea typeface="Georgia"/>
                <a:cs typeface="Georgia"/>
              </a:defRPr>
            </a:pPr>
            <a:r>
              <a:t>The screen says something better.</a:t>
            </a:r>
          </a:p>
        </p:txBody>
      </p:sp>
      <p:sp>
        <p:nvSpPr>
          <p:cNvPr id="7" name="">
            <a:extLst xmlns:a="http://schemas.openxmlformats.org/drawingml/2006/main">
              <a:ext uri="{FF2B5EF4-FFF2-40B4-BE49-F238E27FC236}">
                <a16:creationId xmlns:a16="http://schemas.microsoft.com/office/drawing/2014/main" id="{386D7F0F-718B-47A8-B150-A4781B4DEA60}"/>
              </a:ext>
            </a:extLst>
          </p:cNvPr>
          <p:cNvSpPr>
            <a:spLocks xmlns:a="http://schemas.openxmlformats.org/drawingml/2006/main" noGrp="1"/>
          </p:cNvSpPr>
          <p:nvPr/>
        </p:nvSpPr>
        <p:spPr>
          <a:xfrm xmlns:a="http://schemas.openxmlformats.org/drawingml/2006/main">
            <a:off x="457200" y="3810000"/>
            <a:ext cx="104775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Reading a twelve-minute screencast off its frames instead of its captions — and finding an agent that writes files, versions them, and reviews your work.</a:t>
            </a:r>
          </a:p>
        </p:txBody>
      </p:sp>
      <p:sp>
        <p:nvSpPr>
          <p:cNvPr id="8" name="">
            <a:extLst xmlns:a="http://schemas.openxmlformats.org/drawingml/2006/main">
              <a:ext uri="{FF2B5EF4-FFF2-40B4-BE49-F238E27FC236}">
                <a16:creationId xmlns:a16="http://schemas.microsoft.com/office/drawing/2014/main" id="{2ADBF275-FFD5-40C6-BE88-B8C54EA1D105}"/>
              </a:ext>
            </a:extLst>
          </p:cNvPr>
          <p:cNvSpPr>
            <a:spLocks xmlns:a="http://schemas.openxmlformats.org/drawingml/2006/main" noGrp="1"/>
          </p:cNvSpPr>
          <p:nvPr/>
        </p:nvSpPr>
        <p:spPr>
          <a:xfrm xmlns:a="http://schemas.openxmlformats.org/drawingml/2006/main">
            <a:off x="457200" y="4629150"/>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419F734-2C3C-41E6-BE68-15031EFE480B}"/>
              </a:ext>
            </a:extLst>
          </p:cNvPr>
          <p:cNvSpPr>
            <a:spLocks xmlns:a="http://schemas.openxmlformats.org/drawingml/2006/main" noGrp="1"/>
          </p:cNvSpPr>
          <p:nvPr/>
        </p:nvSpPr>
        <p:spPr>
          <a:xfrm xmlns:a="http://schemas.openxmlformats.org/drawingml/2006/main">
            <a:off x="457200" y="4819650"/>
            <a:ext cx="2667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00B4D8"/>
                </a:solidFill>
                <a:latin typeface="Georgia"/>
                <a:ea typeface="Georgia"/>
                <a:cs typeface="Georgia"/>
              </a:defRPr>
            </a:pPr>
            <a:r>
              <a:t>954</a:t>
            </a:r>
          </a:p>
        </p:txBody>
      </p:sp>
      <p:sp>
        <p:nvSpPr>
          <p:cNvPr id="10" name="">
            <a:extLst xmlns:a="http://schemas.openxmlformats.org/drawingml/2006/main">
              <a:ext uri="{FF2B5EF4-FFF2-40B4-BE49-F238E27FC236}">
                <a16:creationId xmlns:a16="http://schemas.microsoft.com/office/drawing/2014/main" id="{BAB1C7D4-AEDD-4A0F-A1B4-B3EA03623438}"/>
              </a:ext>
            </a:extLst>
          </p:cNvPr>
          <p:cNvSpPr>
            <a:spLocks xmlns:a="http://schemas.openxmlformats.org/drawingml/2006/main" noGrp="1"/>
          </p:cNvSpPr>
          <p:nvPr/>
        </p:nvSpPr>
        <p:spPr>
          <a:xfrm xmlns:a="http://schemas.openxmlformats.org/drawingml/2006/main">
            <a:off x="457200" y="5391150"/>
            <a:ext cx="2667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FA2B7"/>
                </a:solidFill>
                <a:latin typeface="Arial"/>
                <a:ea typeface="Arial"/>
                <a:cs typeface="Arial"/>
              </a:defRPr>
            </a:pPr>
            <a:r>
              <a:t>LINES OF .DC.HTML WRITTEN</a:t>
            </a:r>
          </a:p>
        </p:txBody>
      </p:sp>
      <p:sp>
        <p:nvSpPr>
          <p:cNvPr id="11" name="">
            <a:extLst xmlns:a="http://schemas.openxmlformats.org/drawingml/2006/main">
              <a:ext uri="{FF2B5EF4-FFF2-40B4-BE49-F238E27FC236}">
                <a16:creationId xmlns:a16="http://schemas.microsoft.com/office/drawing/2014/main" id="{DB601A2F-444B-4B7F-A486-33A77BFDABF9}"/>
              </a:ext>
            </a:extLst>
          </p:cNvPr>
          <p:cNvSpPr>
            <a:spLocks xmlns:a="http://schemas.openxmlformats.org/drawingml/2006/main" noGrp="1"/>
          </p:cNvSpPr>
          <p:nvPr/>
        </p:nvSpPr>
        <p:spPr>
          <a:xfrm xmlns:a="http://schemas.openxmlformats.org/drawingml/2006/main">
            <a:off x="3314700" y="4819650"/>
            <a:ext cx="2667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00B4D8"/>
                </a:solidFill>
                <a:latin typeface="Georgia"/>
                <a:ea typeface="Georgia"/>
                <a:cs typeface="Georgia"/>
              </a:defRPr>
            </a:pPr>
            <a:r>
              <a:t>8</a:t>
            </a:r>
          </a:p>
        </p:txBody>
      </p:sp>
      <p:sp>
        <p:nvSpPr>
          <p:cNvPr id="12" name="">
            <a:extLst xmlns:a="http://schemas.openxmlformats.org/drawingml/2006/main">
              <a:ext uri="{FF2B5EF4-FFF2-40B4-BE49-F238E27FC236}">
                <a16:creationId xmlns:a16="http://schemas.microsoft.com/office/drawing/2014/main" id="{C76A12C3-E70D-4626-8C83-E1C95D6A1467}"/>
              </a:ext>
            </a:extLst>
          </p:cNvPr>
          <p:cNvSpPr>
            <a:spLocks xmlns:a="http://schemas.openxmlformats.org/drawingml/2006/main" noGrp="1"/>
          </p:cNvSpPr>
          <p:nvPr/>
        </p:nvSpPr>
        <p:spPr>
          <a:xfrm xmlns:a="http://schemas.openxmlformats.org/drawingml/2006/main">
            <a:off x="3314700" y="5391150"/>
            <a:ext cx="2667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FA2B7"/>
                </a:solidFill>
                <a:latin typeface="Arial"/>
                <a:ea typeface="Arial"/>
                <a:cs typeface="Arial"/>
              </a:defRPr>
            </a:pPr>
            <a:r>
              <a:t>ARTBOARDS DIFFED</a:t>
            </a:r>
          </a:p>
        </p:txBody>
      </p:sp>
      <p:sp>
        <p:nvSpPr>
          <p:cNvPr id="13" name="">
            <a:extLst xmlns:a="http://schemas.openxmlformats.org/drawingml/2006/main">
              <a:ext uri="{FF2B5EF4-FFF2-40B4-BE49-F238E27FC236}">
                <a16:creationId xmlns:a16="http://schemas.microsoft.com/office/drawing/2014/main" id="{67D2C0A3-DBCB-4DDB-B2FA-5BBF78AA0187}"/>
              </a:ext>
            </a:extLst>
          </p:cNvPr>
          <p:cNvSpPr>
            <a:spLocks xmlns:a="http://schemas.openxmlformats.org/drawingml/2006/main" noGrp="1"/>
          </p:cNvSpPr>
          <p:nvPr/>
        </p:nvSpPr>
        <p:spPr>
          <a:xfrm xmlns:a="http://schemas.openxmlformats.org/drawingml/2006/main">
            <a:off x="6172200" y="4819650"/>
            <a:ext cx="2667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00B4D8"/>
                </a:solidFill>
                <a:latin typeface="Georgia"/>
                <a:ea typeface="Georgia"/>
                <a:cs typeface="Georgia"/>
              </a:defRPr>
            </a:pPr>
            <a:r>
              <a:t>3</a:t>
            </a:r>
          </a:p>
        </p:txBody>
      </p:sp>
      <p:sp>
        <p:nvSpPr>
          <p:cNvPr id="14" name="">
            <a:extLst xmlns:a="http://schemas.openxmlformats.org/drawingml/2006/main">
              <a:ext uri="{FF2B5EF4-FFF2-40B4-BE49-F238E27FC236}">
                <a16:creationId xmlns:a16="http://schemas.microsoft.com/office/drawing/2014/main" id="{EE6CAE60-15E3-48D9-A303-0F74B4D20201}"/>
              </a:ext>
            </a:extLst>
          </p:cNvPr>
          <p:cNvSpPr>
            <a:spLocks xmlns:a="http://schemas.openxmlformats.org/drawingml/2006/main" noGrp="1"/>
          </p:cNvSpPr>
          <p:nvPr/>
        </p:nvSpPr>
        <p:spPr>
          <a:xfrm xmlns:a="http://schemas.openxmlformats.org/drawingml/2006/main">
            <a:off x="6172200" y="5391150"/>
            <a:ext cx="2667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FA2B7"/>
                </a:solidFill>
                <a:latin typeface="Arial"/>
                <a:ea typeface="Arial"/>
                <a:cs typeface="Arial"/>
              </a:defRPr>
            </a:pPr>
            <a:r>
              <a:t>EDITS FOUND</a:t>
            </a:r>
          </a:p>
        </p:txBody>
      </p:sp>
      <p:sp>
        <p:nvSpPr>
          <p:cNvPr id="15" name="">
            <a:extLst xmlns:a="http://schemas.openxmlformats.org/drawingml/2006/main">
              <a:ext uri="{FF2B5EF4-FFF2-40B4-BE49-F238E27FC236}">
                <a16:creationId xmlns:a16="http://schemas.microsoft.com/office/drawing/2014/main" id="{0DDCF156-8564-4B71-9C27-84A7645D21FE}"/>
              </a:ext>
            </a:extLst>
          </p:cNvPr>
          <p:cNvSpPr>
            <a:spLocks xmlns:a="http://schemas.openxmlformats.org/drawingml/2006/main" noGrp="1"/>
          </p:cNvSpPr>
          <p:nvPr/>
        </p:nvSpPr>
        <p:spPr>
          <a:xfrm xmlns:a="http://schemas.openxmlformats.org/drawingml/2006/main">
            <a:off x="457200" y="6324600"/>
            <a:ext cx="10477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6E8199"/>
                </a:solidFill>
                <a:latin typeface="Arial"/>
                <a:ea typeface="Arial"/>
                <a:cs typeface="Arial"/>
              </a:defRPr>
            </a:pPr>
            <a:r>
              <a:t>Brendan Jowett · "Master NEW /design Claude Skill In 10 Minutes!" · youtube.com/watch?v=IHPcOvVU4PM</a:t>
            </a:r>
          </a:p>
        </p:txBody>
      </p:sp>
    </p:spTree>
    <p:extLst>
      <p:ext uri="{BB962C8B-B14F-4D97-AF65-F5344CB8AC3E}">
        <p14:creationId xmlns:p14="http://schemas.microsoft.com/office/powerpoint/2010/main" val="13159437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51A2B36-05E7-4940-917B-176EAF35D3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928001-CCA4-46BC-8CE6-84F70F28CF4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EXECUTIVE SUMMARY</a:t>
            </a:r>
          </a:p>
        </p:txBody>
      </p:sp>
      <p:sp>
        <p:nvSpPr>
          <p:cNvPr id="3" name="">
            <a:extLst xmlns:a="http://schemas.openxmlformats.org/drawingml/2006/main">
              <a:ext uri="{FF2B5EF4-FFF2-40B4-BE49-F238E27FC236}">
                <a16:creationId xmlns:a16="http://schemas.microsoft.com/office/drawing/2014/main" id="{466A11CE-0FC7-4E94-8F6D-FC5B50CA38A4}"/>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command is the small half. The file trail is the story.</a:t>
            </a:r>
          </a:p>
        </p:txBody>
      </p:sp>
      <p:sp>
        <p:nvSpPr>
          <p:cNvPr id="4" name="">
            <a:extLst xmlns:a="http://schemas.openxmlformats.org/drawingml/2006/main">
              <a:ext uri="{FF2B5EF4-FFF2-40B4-BE49-F238E27FC236}">
                <a16:creationId xmlns:a16="http://schemas.microsoft.com/office/drawing/2014/main" id="{F052A304-9263-4C38-9694-E642DB93604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What /design actually did, read off the build log rather than the narration.</a:t>
            </a:r>
          </a:p>
        </p:txBody>
      </p:sp>
      <p:sp>
        <p:nvSpPr>
          <p:cNvPr id="5" name="">
            <a:extLst xmlns:a="http://schemas.openxmlformats.org/drawingml/2006/main">
              <a:ext uri="{FF2B5EF4-FFF2-40B4-BE49-F238E27FC236}">
                <a16:creationId xmlns:a16="http://schemas.microsoft.com/office/drawing/2014/main" id="{FB4BF787-E2C2-4E9C-A43C-3FB4AF9BD3D2}"/>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74082C-595F-430F-AE6B-DAD17B659F1B}"/>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CC48F10-500B-439D-91A0-98B235B16EB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CLAUDE CODE /DESIGN  ·  VIDEO BRIEF  ·  2026-08-22</a:t>
            </a:r>
          </a:p>
        </p:txBody>
      </p:sp>
      <p:sp>
        <p:nvSpPr>
          <p:cNvPr id="8" name="">
            <a:extLst xmlns:a="http://schemas.openxmlformats.org/drawingml/2006/main">
              <a:ext uri="{FF2B5EF4-FFF2-40B4-BE49-F238E27FC236}">
                <a16:creationId xmlns:a16="http://schemas.microsoft.com/office/drawing/2014/main" id="{A53166C0-AF87-4999-B890-9760144D3C9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02</a:t>
            </a:r>
          </a:p>
        </p:txBody>
      </p:sp>
      <p:sp>
        <p:nvSpPr>
          <p:cNvPr id="9" name="">
            <a:extLst xmlns:a="http://schemas.openxmlformats.org/drawingml/2006/main">
              <a:ext uri="{FF2B5EF4-FFF2-40B4-BE49-F238E27FC236}">
                <a16:creationId xmlns:a16="http://schemas.microsoft.com/office/drawing/2014/main" id="{7A9CEEC6-C2DE-4B22-BD67-87B721A45AFB}"/>
              </a:ext>
            </a:extLst>
          </p:cNvPr>
          <p:cNvSpPr>
            <a:spLocks xmlns:a="http://schemas.openxmlformats.org/drawingml/2006/main" noGrp="1"/>
          </p:cNvSpPr>
          <p:nvPr/>
        </p:nvSpPr>
        <p:spPr>
          <a:xfrm xmlns:a="http://schemas.openxmlformats.org/drawingml/2006/main">
            <a:off x="457200" y="1600200"/>
            <a:ext cx="4587875" cy="4457700"/>
          </a:xfrm>
          <a:prstGeom xmlns:a="http://schemas.openxmlformats.org/drawingml/2006/main" prst="roundRect">
            <a:avLst>
              <a:gd name="adj" fmla="val 1709"/>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C6C837-0C33-4F07-BBFC-7DACD4135826}"/>
              </a:ext>
            </a:extLst>
          </p:cNvPr>
          <p:cNvSpPr>
            <a:spLocks xmlns:a="http://schemas.openxmlformats.org/drawingml/2006/main" noGrp="1"/>
          </p:cNvSpPr>
          <p:nvPr/>
        </p:nvSpPr>
        <p:spPr>
          <a:xfrm xmlns:a="http://schemas.openxmlformats.org/drawingml/2006/main">
            <a:off x="457200" y="1600200"/>
            <a:ext cx="57150" cy="44577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5C13E5B-1EF5-42AD-A87C-40832EB982E3}"/>
              </a:ext>
            </a:extLst>
          </p:cNvPr>
          <p:cNvSpPr>
            <a:spLocks xmlns:a="http://schemas.openxmlformats.org/drawingml/2006/main" noGrp="1"/>
          </p:cNvSpPr>
          <p:nvPr/>
        </p:nvSpPr>
        <p:spPr>
          <a:xfrm xmlns:a="http://schemas.openxmlformats.org/drawingml/2006/main">
            <a:off x="723900" y="1885950"/>
            <a:ext cx="4054475"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t>What one prompt produced</a:t>
            </a:r>
          </a:p>
        </p:txBody>
      </p:sp>
      <p:sp>
        <p:nvSpPr>
          <p:cNvPr id="12" name="">
            <a:extLst xmlns:a="http://schemas.openxmlformats.org/drawingml/2006/main">
              <a:ext uri="{FF2B5EF4-FFF2-40B4-BE49-F238E27FC236}">
                <a16:creationId xmlns:a16="http://schemas.microsoft.com/office/drawing/2014/main" id="{487ACED5-BD7C-43E9-8AA1-D1A964468820}"/>
              </a:ext>
            </a:extLst>
          </p:cNvPr>
          <p:cNvSpPr>
            <a:spLocks xmlns:a="http://schemas.openxmlformats.org/drawingml/2006/main" noGrp="1"/>
          </p:cNvSpPr>
          <p:nvPr/>
        </p:nvSpPr>
        <p:spPr>
          <a:xfrm xmlns:a="http://schemas.openxmlformats.org/drawingml/2006/main">
            <a:off x="723900" y="2305050"/>
            <a:ext cx="4054475" cy="2381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Five named .dc.html artboards, written as files and announced one by one. A canvas.json manifest. A reference recreation of the live site as the entry artboard. A capability check. Then a published artifact URL.</a:t>
            </a:r>
          </a:p>
          <a:p xmlns:a="http://schemas.openxmlformats.org/drawingml/2006/main">
            <a:pPr algn="l">
              <a:defRPr sz="1275">
                <a:solidFill>
                  <a:srgbClr val="A9BACD"/>
                </a:solidFill>
                <a:latin typeface="Arial"/>
                <a:ea typeface="Arial"/>
                <a:cs typeface="Arial"/>
              </a:defRPr>
            </a:pPr>
            <a:r>
              <a:t/>
            </a:r>
          </a:p>
          <a:p xmlns:a="http://schemas.openxmlformats.org/drawingml/2006/main">
            <a:pPr algn="l">
              <a:defRPr sz="1275">
                <a:solidFill>
                  <a:srgbClr val="A9BACD"/>
                </a:solidFill>
                <a:latin typeface="Arial"/>
                <a:ea typeface="Arial"/>
                <a:cs typeface="Arial"/>
              </a:defRPr>
            </a:pPr>
            <a:r>
              <a:t>None of that is in the captions.</a:t>
            </a:r>
          </a:p>
        </p:txBody>
      </p:sp>
      <p:sp>
        <p:nvSpPr>
          <p:cNvPr id="13" name="">
            <a:extLst xmlns:a="http://schemas.openxmlformats.org/drawingml/2006/main">
              <a:ext uri="{FF2B5EF4-FFF2-40B4-BE49-F238E27FC236}">
                <a16:creationId xmlns:a16="http://schemas.microsoft.com/office/drawing/2014/main" id="{B2F2BFE1-678E-43D7-A9D1-4E2AE8B7F476}"/>
              </a:ext>
            </a:extLst>
          </p:cNvPr>
          <p:cNvSpPr>
            <a:spLocks xmlns:a="http://schemas.openxmlformats.org/drawingml/2006/main" noGrp="1"/>
          </p:cNvSpPr>
          <p:nvPr/>
        </p:nvSpPr>
        <p:spPr>
          <a:xfrm xmlns:a="http://schemas.openxmlformats.org/drawingml/2006/main">
            <a:off x="723900" y="5143500"/>
            <a:ext cx="609600" cy="190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7EFD5C-42F8-471F-807C-BF5289C2F55E}"/>
              </a:ext>
            </a:extLst>
          </p:cNvPr>
          <p:cNvSpPr>
            <a:spLocks xmlns:a="http://schemas.openxmlformats.org/drawingml/2006/main" noGrp="1"/>
          </p:cNvSpPr>
          <p:nvPr/>
        </p:nvSpPr>
        <p:spPr>
          <a:xfrm xmlns:a="http://schemas.openxmlformats.org/drawingml/2006/main">
            <a:off x="723900" y="5334000"/>
            <a:ext cx="4054475"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i="1">
                <a:solidFill>
                  <a:srgbClr val="8FA2B7"/>
                </a:solidFill>
                <a:latin typeface="Arial"/>
                <a:ea typeface="Arial"/>
                <a:cs typeface="Arial"/>
              </a:defRPr>
            </a:pPr>
            <a:r>
              <a:t>The narration for all of it: "it was able to give me each of these design variations."</a:t>
            </a:r>
          </a:p>
        </p:txBody>
      </p:sp>
      <p:sp>
        <p:nvSpPr>
          <p:cNvPr id="15" name="">
            <a:extLst xmlns:a="http://schemas.openxmlformats.org/drawingml/2006/main">
              <a:ext uri="{FF2B5EF4-FFF2-40B4-BE49-F238E27FC236}">
                <a16:creationId xmlns:a16="http://schemas.microsoft.com/office/drawing/2014/main" id="{E01607AF-00D2-4602-9C0A-664F212A54DA}"/>
              </a:ext>
            </a:extLst>
          </p:cNvPr>
          <p:cNvSpPr>
            <a:spLocks xmlns:a="http://schemas.openxmlformats.org/drawingml/2006/main" noGrp="1"/>
          </p:cNvSpPr>
          <p:nvPr/>
        </p:nvSpPr>
        <p:spPr>
          <a:xfrm xmlns:a="http://schemas.openxmlformats.org/drawingml/2006/main">
            <a:off x="5235575" y="1600200"/>
            <a:ext cx="2039408" cy="1638300"/>
          </a:xfrm>
          <a:prstGeom xmlns:a="http://schemas.openxmlformats.org/drawingml/2006/main" prst="roundRect">
            <a:avLst>
              <a:gd name="adj" fmla="val 4651"/>
            </a:avLst>
          </a:prstGeom>
          <a:solidFill xmlns:a="http://schemas.openxmlformats.org/drawingml/2006/main">
            <a:srgbClr val="F8FAFC"/>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910EE5B5-4414-42B7-9AB0-BCE70094A3B2}"/>
              </a:ext>
            </a:extLst>
          </p:cNvPr>
          <p:cNvSpPr>
            <a:spLocks xmlns:a="http://schemas.openxmlformats.org/drawingml/2006/main" noGrp="1"/>
          </p:cNvSpPr>
          <p:nvPr/>
        </p:nvSpPr>
        <p:spPr>
          <a:xfrm xmlns:a="http://schemas.openxmlformats.org/drawingml/2006/main">
            <a:off x="5235575" y="1847850"/>
            <a:ext cx="2039408"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825" b="1">
                <a:solidFill>
                  <a:srgbClr val="00B4D8"/>
                </a:solidFill>
                <a:latin typeface="Georgia"/>
                <a:ea typeface="Georgia"/>
                <a:cs typeface="Georgia"/>
              </a:defRPr>
            </a:pPr>
            <a:r>
              <a:t>954</a:t>
            </a:r>
          </a:p>
        </p:txBody>
      </p:sp>
      <p:sp>
        <p:nvSpPr>
          <p:cNvPr id="17" name="">
            <a:extLst xmlns:a="http://schemas.openxmlformats.org/drawingml/2006/main">
              <a:ext uri="{FF2B5EF4-FFF2-40B4-BE49-F238E27FC236}">
                <a16:creationId xmlns:a16="http://schemas.microsoft.com/office/drawing/2014/main" id="{F38D5565-76FC-4695-B4D6-1BF1764AA95D}"/>
              </a:ext>
            </a:extLst>
          </p:cNvPr>
          <p:cNvSpPr>
            <a:spLocks xmlns:a="http://schemas.openxmlformats.org/drawingml/2006/main" noGrp="1"/>
          </p:cNvSpPr>
          <p:nvPr/>
        </p:nvSpPr>
        <p:spPr>
          <a:xfrm xmlns:a="http://schemas.openxmlformats.org/drawingml/2006/main">
            <a:off x="5349875" y="2514600"/>
            <a:ext cx="1810808"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LINES WRITTEN</a:t>
            </a:r>
          </a:p>
        </p:txBody>
      </p:sp>
      <p:sp>
        <p:nvSpPr>
          <p:cNvPr id="18" name="">
            <a:extLst xmlns:a="http://schemas.openxmlformats.org/drawingml/2006/main">
              <a:ext uri="{FF2B5EF4-FFF2-40B4-BE49-F238E27FC236}">
                <a16:creationId xmlns:a16="http://schemas.microsoft.com/office/drawing/2014/main" id="{B0DD128A-619F-4472-874B-CC275377624F}"/>
              </a:ext>
            </a:extLst>
          </p:cNvPr>
          <p:cNvSpPr>
            <a:spLocks xmlns:a="http://schemas.openxmlformats.org/drawingml/2006/main" noGrp="1"/>
          </p:cNvSpPr>
          <p:nvPr/>
        </p:nvSpPr>
        <p:spPr>
          <a:xfrm xmlns:a="http://schemas.openxmlformats.org/drawingml/2006/main">
            <a:off x="5368925" y="2762250"/>
            <a:ext cx="1772708"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a:solidFill>
                  <a:srgbClr val="6B7280"/>
                </a:solidFill>
                <a:latin typeface="Arial"/>
                <a:ea typeface="Arial"/>
                <a:cs typeface="Arial"/>
              </a:defRPr>
            </a:pPr>
            <a:r>
              <a:t>across five artboards</a:t>
            </a:r>
          </a:p>
        </p:txBody>
      </p:sp>
      <p:sp>
        <p:nvSpPr>
          <p:cNvPr id="19" name="">
            <a:extLst xmlns:a="http://schemas.openxmlformats.org/drawingml/2006/main">
              <a:ext uri="{FF2B5EF4-FFF2-40B4-BE49-F238E27FC236}">
                <a16:creationId xmlns:a16="http://schemas.microsoft.com/office/drawing/2014/main" id="{ECF572F9-2716-4DB7-85E9-26A5B467740F}"/>
              </a:ext>
            </a:extLst>
          </p:cNvPr>
          <p:cNvSpPr>
            <a:spLocks xmlns:a="http://schemas.openxmlformats.org/drawingml/2006/main" noGrp="1"/>
          </p:cNvSpPr>
          <p:nvPr/>
        </p:nvSpPr>
        <p:spPr>
          <a:xfrm xmlns:a="http://schemas.openxmlformats.org/drawingml/2006/main">
            <a:off x="7465483" y="1600200"/>
            <a:ext cx="2039408" cy="1638300"/>
          </a:xfrm>
          <a:prstGeom xmlns:a="http://schemas.openxmlformats.org/drawingml/2006/main" prst="roundRect">
            <a:avLst>
              <a:gd name="adj" fmla="val 4651"/>
            </a:avLst>
          </a:prstGeom>
          <a:solidFill xmlns:a="http://schemas.openxmlformats.org/drawingml/2006/main">
            <a:srgbClr val="F8FAFC"/>
          </a:solidFill>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5605613C-E7AB-429D-B5D5-3CA34F60A269}"/>
              </a:ext>
            </a:extLst>
          </p:cNvPr>
          <p:cNvSpPr>
            <a:spLocks xmlns:a="http://schemas.openxmlformats.org/drawingml/2006/main" noGrp="1"/>
          </p:cNvSpPr>
          <p:nvPr/>
        </p:nvSpPr>
        <p:spPr>
          <a:xfrm xmlns:a="http://schemas.openxmlformats.org/drawingml/2006/main">
            <a:off x="7465483" y="1847850"/>
            <a:ext cx="2039408"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825" b="1">
                <a:solidFill>
                  <a:srgbClr val="0A9396"/>
                </a:solidFill>
                <a:latin typeface="Georgia"/>
                <a:ea typeface="Georgia"/>
                <a:cs typeface="Georgia"/>
              </a:defRPr>
            </a:pPr>
            <a:r>
              <a:t>8</a:t>
            </a:r>
          </a:p>
        </p:txBody>
      </p:sp>
      <p:sp>
        <p:nvSpPr>
          <p:cNvPr id="21" name="">
            <a:extLst xmlns:a="http://schemas.openxmlformats.org/drawingml/2006/main">
              <a:ext uri="{FF2B5EF4-FFF2-40B4-BE49-F238E27FC236}">
                <a16:creationId xmlns:a16="http://schemas.microsoft.com/office/drawing/2014/main" id="{AF2898D4-66DA-4257-BCB3-F95273F0492B}"/>
              </a:ext>
            </a:extLst>
          </p:cNvPr>
          <p:cNvSpPr>
            <a:spLocks xmlns:a="http://schemas.openxmlformats.org/drawingml/2006/main" noGrp="1"/>
          </p:cNvSpPr>
          <p:nvPr/>
        </p:nvSpPr>
        <p:spPr>
          <a:xfrm xmlns:a="http://schemas.openxmlformats.org/drawingml/2006/main">
            <a:off x="7579783" y="2514600"/>
            <a:ext cx="1810808"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ARTBOARDS DIFFED</a:t>
            </a:r>
          </a:p>
        </p:txBody>
      </p:sp>
      <p:sp>
        <p:nvSpPr>
          <p:cNvPr id="22" name="">
            <a:extLst xmlns:a="http://schemas.openxmlformats.org/drawingml/2006/main">
              <a:ext uri="{FF2B5EF4-FFF2-40B4-BE49-F238E27FC236}">
                <a16:creationId xmlns:a16="http://schemas.microsoft.com/office/drawing/2014/main" id="{0C7BA40E-64B1-4651-A00E-9B1A32CBCED4}"/>
              </a:ext>
            </a:extLst>
          </p:cNvPr>
          <p:cNvSpPr>
            <a:spLocks xmlns:a="http://schemas.openxmlformats.org/drawingml/2006/main" noGrp="1"/>
          </p:cNvSpPr>
          <p:nvPr/>
        </p:nvSpPr>
        <p:spPr>
          <a:xfrm xmlns:a="http://schemas.openxmlformats.org/drawingml/2006/main">
            <a:off x="7598833" y="2762250"/>
            <a:ext cx="1772708"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a:solidFill>
                  <a:srgbClr val="6B7280"/>
                </a:solidFill>
                <a:latin typeface="Arial"/>
                <a:ea typeface="Arial"/>
                <a:cs typeface="Arial"/>
              </a:defRPr>
            </a:pPr>
            <a:r>
              <a:t>to read one hand-edit back</a:t>
            </a:r>
          </a:p>
        </p:txBody>
      </p:sp>
      <p:sp>
        <p:nvSpPr>
          <p:cNvPr id="23" name="">
            <a:extLst xmlns:a="http://schemas.openxmlformats.org/drawingml/2006/main">
              <a:ext uri="{FF2B5EF4-FFF2-40B4-BE49-F238E27FC236}">
                <a16:creationId xmlns:a16="http://schemas.microsoft.com/office/drawing/2014/main" id="{D198AA00-F1FD-4720-B476-DDFD8CE8BD7B}"/>
              </a:ext>
            </a:extLst>
          </p:cNvPr>
          <p:cNvSpPr>
            <a:spLocks xmlns:a="http://schemas.openxmlformats.org/drawingml/2006/main" noGrp="1"/>
          </p:cNvSpPr>
          <p:nvPr/>
        </p:nvSpPr>
        <p:spPr>
          <a:xfrm xmlns:a="http://schemas.openxmlformats.org/drawingml/2006/main">
            <a:off x="9695392" y="1600200"/>
            <a:ext cx="2039408" cy="1638300"/>
          </a:xfrm>
          <a:prstGeom xmlns:a="http://schemas.openxmlformats.org/drawingml/2006/main" prst="roundRect">
            <a:avLst>
              <a:gd name="adj" fmla="val 4651"/>
            </a:avLst>
          </a:prstGeom>
          <a:solidFill xmlns:a="http://schemas.openxmlformats.org/drawingml/2006/main">
            <a:srgbClr val="F8FAFC"/>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5E9DA023-12DD-48B1-A7F7-8E8E970A200B}"/>
              </a:ext>
            </a:extLst>
          </p:cNvPr>
          <p:cNvSpPr>
            <a:spLocks xmlns:a="http://schemas.openxmlformats.org/drawingml/2006/main" noGrp="1"/>
          </p:cNvSpPr>
          <p:nvPr/>
        </p:nvSpPr>
        <p:spPr>
          <a:xfrm xmlns:a="http://schemas.openxmlformats.org/drawingml/2006/main">
            <a:off x="9695392" y="1847850"/>
            <a:ext cx="2039408"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825" b="1">
                <a:solidFill>
                  <a:srgbClr val="B45309"/>
                </a:solidFill>
                <a:latin typeface="Georgia"/>
                <a:ea typeface="Georgia"/>
                <a:cs typeface="Georgia"/>
              </a:defRPr>
            </a:pPr>
            <a:r>
              <a:t>2</a:t>
            </a:r>
          </a:p>
        </p:txBody>
      </p:sp>
      <p:sp>
        <p:nvSpPr>
          <p:cNvPr id="25" name="">
            <a:extLst xmlns:a="http://schemas.openxmlformats.org/drawingml/2006/main">
              <a:ext uri="{FF2B5EF4-FFF2-40B4-BE49-F238E27FC236}">
                <a16:creationId xmlns:a16="http://schemas.microsoft.com/office/drawing/2014/main" id="{4C442618-4A52-4910-AAB8-F6FE6B99D539}"/>
              </a:ext>
            </a:extLst>
          </p:cNvPr>
          <p:cNvSpPr>
            <a:spLocks xmlns:a="http://schemas.openxmlformats.org/drawingml/2006/main" noGrp="1"/>
          </p:cNvSpPr>
          <p:nvPr/>
        </p:nvSpPr>
        <p:spPr>
          <a:xfrm xmlns:a="http://schemas.openxmlformats.org/drawingml/2006/main">
            <a:off x="9809692" y="2514600"/>
            <a:ext cx="1810808"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DEFECTS CALLED</a:t>
            </a:r>
          </a:p>
        </p:txBody>
      </p:sp>
      <p:sp>
        <p:nvSpPr>
          <p:cNvPr id="26" name="">
            <a:extLst xmlns:a="http://schemas.openxmlformats.org/drawingml/2006/main">
              <a:ext uri="{FF2B5EF4-FFF2-40B4-BE49-F238E27FC236}">
                <a16:creationId xmlns:a16="http://schemas.microsoft.com/office/drawing/2014/main" id="{1C928441-C471-4CA4-8529-70CC3BBF46AC}"/>
              </a:ext>
            </a:extLst>
          </p:cNvPr>
          <p:cNvSpPr>
            <a:spLocks xmlns:a="http://schemas.openxmlformats.org/drawingml/2006/main" noGrp="1"/>
          </p:cNvSpPr>
          <p:nvPr/>
        </p:nvSpPr>
        <p:spPr>
          <a:xfrm xmlns:a="http://schemas.openxmlformats.org/drawingml/2006/main">
            <a:off x="9828742" y="2762250"/>
            <a:ext cx="1772708"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a:solidFill>
                  <a:srgbClr val="6B7280"/>
                </a:solidFill>
                <a:latin typeface="Arial"/>
                <a:ea typeface="Arial"/>
                <a:cs typeface="Arial"/>
              </a:defRPr>
            </a:pPr>
            <a:r>
              <a:t>one fixed, one deliberately not</a:t>
            </a:r>
          </a:p>
        </p:txBody>
      </p:sp>
      <p:sp>
        <p:nvSpPr>
          <p:cNvPr id="27" name="">
            <a:extLst xmlns:a="http://schemas.openxmlformats.org/drawingml/2006/main">
              <a:ext uri="{FF2B5EF4-FFF2-40B4-BE49-F238E27FC236}">
                <a16:creationId xmlns:a16="http://schemas.microsoft.com/office/drawing/2014/main" id="{F94C0438-5BC9-4866-BC92-2D5CE0AB84B7}"/>
              </a:ext>
            </a:extLst>
          </p:cNvPr>
          <p:cNvSpPr>
            <a:spLocks xmlns:a="http://schemas.openxmlformats.org/drawingml/2006/main" noGrp="1"/>
          </p:cNvSpPr>
          <p:nvPr/>
        </p:nvSpPr>
        <p:spPr>
          <a:xfrm xmlns:a="http://schemas.openxmlformats.org/drawingml/2006/main">
            <a:off x="5235575" y="3409950"/>
            <a:ext cx="6499225" cy="1733550"/>
          </a:xfrm>
          <a:prstGeom xmlns:a="http://schemas.openxmlformats.org/drawingml/2006/main" prst="roundRect">
            <a:avLst>
              <a:gd name="adj" fmla="val 4396"/>
            </a:avLst>
          </a:prstGeom>
          <a:solidFill xmlns:a="http://schemas.openxmlformats.org/drawingml/2006/main">
            <a:srgbClr val="F8FAFC"/>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892E0BDA-B180-4F5D-A459-E30D4D2406C4}"/>
              </a:ext>
            </a:extLst>
          </p:cNvPr>
          <p:cNvSpPr>
            <a:spLocks xmlns:a="http://schemas.openxmlformats.org/drawingml/2006/main" noGrp="1"/>
          </p:cNvSpPr>
          <p:nvPr/>
        </p:nvSpPr>
        <p:spPr>
          <a:xfrm xmlns:a="http://schemas.openxmlformats.org/drawingml/2006/main">
            <a:off x="5235575" y="3409950"/>
            <a:ext cx="57150" cy="17335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C3B02EB-C158-4731-AC7A-97BF250E6B10}"/>
              </a:ext>
            </a:extLst>
          </p:cNvPr>
          <p:cNvSpPr>
            <a:spLocks xmlns:a="http://schemas.openxmlformats.org/drawingml/2006/main" noGrp="1"/>
          </p:cNvSpPr>
          <p:nvPr/>
        </p:nvSpPr>
        <p:spPr>
          <a:xfrm xmlns:a="http://schemas.openxmlformats.org/drawingml/2006/main">
            <a:off x="5464175" y="3600450"/>
            <a:ext cx="6080125"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The claim this brief makes</a:t>
            </a:r>
          </a:p>
        </p:txBody>
      </p:sp>
      <p:sp>
        <p:nvSpPr>
          <p:cNvPr id="30" name="">
            <a:extLst xmlns:a="http://schemas.openxmlformats.org/drawingml/2006/main">
              <a:ext uri="{FF2B5EF4-FFF2-40B4-BE49-F238E27FC236}">
                <a16:creationId xmlns:a16="http://schemas.microsoft.com/office/drawing/2014/main" id="{40221923-E30A-4D0A-BF7B-7073583DDEEA}"/>
              </a:ext>
            </a:extLst>
          </p:cNvPr>
          <p:cNvSpPr>
            <a:spLocks xmlns:a="http://schemas.openxmlformats.org/drawingml/2006/main" noGrp="1"/>
          </p:cNvSpPr>
          <p:nvPr/>
        </p:nvSpPr>
        <p:spPr>
          <a:xfrm xmlns:a="http://schemas.openxmlformats.org/drawingml/2006/main">
            <a:off x="5464175" y="3962400"/>
            <a:ext cx="6042025"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interesting object is not the canvas. It is an agent that writes named files, publishes them as versioned artifacts, diffs those versions to recover your hand-edits, reviews what you changed, and declines to guess when your intent is ambiguous.</a:t>
            </a:r>
          </a:p>
        </p:txBody>
      </p:sp>
    </p:spTree>
    <p:extLst>
      <p:ext uri="{BB962C8B-B14F-4D97-AF65-F5344CB8AC3E}">
        <p14:creationId xmlns:p14="http://schemas.microsoft.com/office/powerpoint/2010/main" val="5764466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7F2B72B8-0AB1-4FBE-91C3-2A5F0141C9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2ECEE1-DFFF-4EC7-8A83-8FE283CE921C}"/>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WHAT IT BUILT</a:t>
            </a:r>
          </a:p>
        </p:txBody>
      </p:sp>
      <p:sp>
        <p:nvSpPr>
          <p:cNvPr id="3" name="">
            <a:extLst xmlns:a="http://schemas.openxmlformats.org/drawingml/2006/main">
              <a:ext uri="{FF2B5EF4-FFF2-40B4-BE49-F238E27FC236}">
                <a16:creationId xmlns:a16="http://schemas.microsoft.com/office/drawing/2014/main" id="{7773637B-C3A2-4D5F-831E-7A24CF9BC106}"/>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Five directions, five files, each announced as it landed</a:t>
            </a:r>
          </a:p>
        </p:txBody>
      </p:sp>
      <p:sp>
        <p:nvSpPr>
          <p:cNvPr id="4" name="">
            <a:extLst xmlns:a="http://schemas.openxmlformats.org/drawingml/2006/main">
              <a:ext uri="{FF2B5EF4-FFF2-40B4-BE49-F238E27FC236}">
                <a16:creationId xmlns:a16="http://schemas.microsoft.com/office/drawing/2014/main" id="{F8A79C20-08AD-44E0-9948-B677182532D4}"/>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agent narrates its own build in the transcript pane — none of it is spoken.</a:t>
            </a:r>
          </a:p>
        </p:txBody>
      </p:sp>
      <p:sp>
        <p:nvSpPr>
          <p:cNvPr id="5" name="">
            <a:extLst xmlns:a="http://schemas.openxmlformats.org/drawingml/2006/main">
              <a:ext uri="{FF2B5EF4-FFF2-40B4-BE49-F238E27FC236}">
                <a16:creationId xmlns:a16="http://schemas.microsoft.com/office/drawing/2014/main" id="{D5D928A5-BB90-44A5-8A46-784B750E9769}"/>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EA72EF-312A-44A1-A6E4-F63F4A0605FD}"/>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8922F15-06B4-4C8C-BD62-EFE7D961FA69}"/>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CLAUDE CODE /DESIGN  ·  VIDEO BRIEF  ·  2026-08-22</a:t>
            </a:r>
          </a:p>
        </p:txBody>
      </p:sp>
      <p:sp>
        <p:nvSpPr>
          <p:cNvPr id="8" name="">
            <a:extLst xmlns:a="http://schemas.openxmlformats.org/drawingml/2006/main">
              <a:ext uri="{FF2B5EF4-FFF2-40B4-BE49-F238E27FC236}">
                <a16:creationId xmlns:a16="http://schemas.microsoft.com/office/drawing/2014/main" id="{31286DBC-707E-4671-B12C-7ADF872AAB9F}"/>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03</a:t>
            </a:r>
          </a:p>
        </p:txBody>
      </p:sp>
      <p:sp>
        <p:nvSpPr>
          <p:cNvPr id="9" name="">
            <a:extLst xmlns:a="http://schemas.openxmlformats.org/drawingml/2006/main">
              <a:ext uri="{FF2B5EF4-FFF2-40B4-BE49-F238E27FC236}">
                <a16:creationId xmlns:a16="http://schemas.microsoft.com/office/drawing/2014/main" id="{5458B1A5-0CD6-480F-87D7-A2350BE46ED3}"/>
              </a:ext>
            </a:extLst>
          </p:cNvPr>
          <p:cNvSpPr>
            <a:spLocks xmlns:a="http://schemas.openxmlformats.org/drawingml/2006/main" noGrp="1"/>
          </p:cNvSpPr>
          <p:nvPr/>
        </p:nvSpPr>
        <p:spPr>
          <a:xfrm xmlns:a="http://schemas.openxmlformats.org/drawingml/2006/main">
            <a:off x="457200" y="1600200"/>
            <a:ext cx="1127760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E32D86-DB63-4779-8227-A7C0E17D0B3E}"/>
              </a:ext>
            </a:extLst>
          </p:cNvPr>
          <p:cNvSpPr>
            <a:spLocks xmlns:a="http://schemas.openxmlformats.org/drawingml/2006/main" noGrp="1"/>
          </p:cNvSpPr>
          <p:nvPr/>
        </p:nvSpPr>
        <p:spPr>
          <a:xfrm xmlns:a="http://schemas.openxmlformats.org/drawingml/2006/main">
            <a:off x="590550" y="1714500"/>
            <a:ext cx="2286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FILE</a:t>
            </a:r>
          </a:p>
        </p:txBody>
      </p:sp>
      <p:sp>
        <p:nvSpPr>
          <p:cNvPr id="11" name="">
            <a:extLst xmlns:a="http://schemas.openxmlformats.org/drawingml/2006/main">
              <a:ext uri="{FF2B5EF4-FFF2-40B4-BE49-F238E27FC236}">
                <a16:creationId xmlns:a16="http://schemas.microsoft.com/office/drawing/2014/main" id="{7E02DB6C-BB19-4ED8-B638-5351C9068F72}"/>
              </a:ext>
            </a:extLst>
          </p:cNvPr>
          <p:cNvSpPr>
            <a:spLocks xmlns:a="http://schemas.openxmlformats.org/drawingml/2006/main" noGrp="1"/>
          </p:cNvSpPr>
          <p:nvPr/>
        </p:nvSpPr>
        <p:spPr>
          <a:xfrm xmlns:a="http://schemas.openxmlformats.org/drawingml/2006/main">
            <a:off x="3067050" y="171450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LINES</a:t>
            </a:r>
          </a:p>
        </p:txBody>
      </p:sp>
      <p:sp>
        <p:nvSpPr>
          <p:cNvPr id="12" name="">
            <a:extLst xmlns:a="http://schemas.openxmlformats.org/drawingml/2006/main">
              <a:ext uri="{FF2B5EF4-FFF2-40B4-BE49-F238E27FC236}">
                <a16:creationId xmlns:a16="http://schemas.microsoft.com/office/drawing/2014/main" id="{A9CC5394-D0E4-464A-9544-B310E23DB0AF}"/>
              </a:ext>
            </a:extLst>
          </p:cNvPr>
          <p:cNvSpPr>
            <a:spLocks xmlns:a="http://schemas.openxmlformats.org/drawingml/2006/main" noGrp="1"/>
          </p:cNvSpPr>
          <p:nvPr/>
        </p:nvSpPr>
        <p:spPr>
          <a:xfrm xmlns:a="http://schemas.openxmlformats.org/drawingml/2006/main">
            <a:off x="4114800" y="1714500"/>
            <a:ext cx="3429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DIRECTION</a:t>
            </a:r>
          </a:p>
        </p:txBody>
      </p:sp>
      <p:sp>
        <p:nvSpPr>
          <p:cNvPr id="13" name="">
            <a:extLst xmlns:a="http://schemas.openxmlformats.org/drawingml/2006/main">
              <a:ext uri="{FF2B5EF4-FFF2-40B4-BE49-F238E27FC236}">
                <a16:creationId xmlns:a16="http://schemas.microsoft.com/office/drawing/2014/main" id="{CCAA284D-08C1-4730-8CF2-448FD1CCD27F}"/>
              </a:ext>
            </a:extLst>
          </p:cNvPr>
          <p:cNvSpPr>
            <a:spLocks xmlns:a="http://schemas.openxmlformats.org/drawingml/2006/main" noGrp="1"/>
          </p:cNvSpPr>
          <p:nvPr/>
        </p:nvSpPr>
        <p:spPr>
          <a:xfrm xmlns:a="http://schemas.openxmlformats.org/drawingml/2006/main">
            <a:off x="7734300" y="1714500"/>
            <a:ext cx="3943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THE AGENT SAID NEXT</a:t>
            </a:r>
          </a:p>
        </p:txBody>
      </p:sp>
      <p:sp>
        <p:nvSpPr>
          <p:cNvPr id="14" name="">
            <a:extLst xmlns:a="http://schemas.openxmlformats.org/drawingml/2006/main">
              <a:ext uri="{FF2B5EF4-FFF2-40B4-BE49-F238E27FC236}">
                <a16:creationId xmlns:a16="http://schemas.microsoft.com/office/drawing/2014/main" id="{71A7293C-AD2D-4ED2-8A4E-4F5F0A2DCC26}"/>
              </a:ext>
            </a:extLst>
          </p:cNvPr>
          <p:cNvSpPr>
            <a:spLocks xmlns:a="http://schemas.openxmlformats.org/drawingml/2006/main" noGrp="1"/>
          </p:cNvSpPr>
          <p:nvPr/>
        </p:nvSpPr>
        <p:spPr>
          <a:xfrm xmlns:a="http://schemas.openxmlformats.org/drawingml/2006/main">
            <a:off x="457200" y="1981200"/>
            <a:ext cx="112776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DCEEE803-FDB2-416E-AE1A-DC12E4372DED}"/>
              </a:ext>
            </a:extLst>
          </p:cNvPr>
          <p:cNvSpPr>
            <a:spLocks xmlns:a="http://schemas.openxmlformats.org/drawingml/2006/main" noGrp="1"/>
          </p:cNvSpPr>
          <p:nvPr/>
        </p:nvSpPr>
        <p:spPr>
          <a:xfrm xmlns:a="http://schemas.openxmlformats.org/drawingml/2006/main">
            <a:off x="590550" y="2085975"/>
            <a:ext cx="2266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Editorial.dc.html</a:t>
            </a:r>
          </a:p>
        </p:txBody>
      </p:sp>
      <p:sp>
        <p:nvSpPr>
          <p:cNvPr id="16" name="">
            <a:extLst xmlns:a="http://schemas.openxmlformats.org/drawingml/2006/main">
              <a:ext uri="{FF2B5EF4-FFF2-40B4-BE49-F238E27FC236}">
                <a16:creationId xmlns:a16="http://schemas.microsoft.com/office/drawing/2014/main" id="{5EB12DB3-0B94-47E0-BC30-FA29DF826F75}"/>
              </a:ext>
            </a:extLst>
          </p:cNvPr>
          <p:cNvSpPr>
            <a:spLocks xmlns:a="http://schemas.openxmlformats.org/drawingml/2006/main" noGrp="1"/>
          </p:cNvSpPr>
          <p:nvPr/>
        </p:nvSpPr>
        <p:spPr>
          <a:xfrm xmlns:a="http://schemas.openxmlformats.org/drawingml/2006/main">
            <a:off x="3067050" y="2085975"/>
            <a:ext cx="838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+199</a:t>
            </a:r>
          </a:p>
        </p:txBody>
      </p:sp>
      <p:sp>
        <p:nvSpPr>
          <p:cNvPr id="17" name="">
            <a:extLst xmlns:a="http://schemas.openxmlformats.org/drawingml/2006/main">
              <a:ext uri="{FF2B5EF4-FFF2-40B4-BE49-F238E27FC236}">
                <a16:creationId xmlns:a16="http://schemas.microsoft.com/office/drawing/2014/main" id="{D2B0B6B6-E4A1-4014-BD5F-6F0D4FE2FDE5}"/>
              </a:ext>
            </a:extLst>
          </p:cNvPr>
          <p:cNvSpPr>
            <a:spLocks xmlns:a="http://schemas.openxmlformats.org/drawingml/2006/main" noGrp="1"/>
          </p:cNvSpPr>
          <p:nvPr/>
        </p:nvSpPr>
        <p:spPr>
          <a:xfrm xmlns:a="http://schemas.openxmlformats.org/drawingml/2006/main">
            <a:off x="4114800" y="2085975"/>
            <a:ext cx="3409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Light, print-inspired broadsheet</a:t>
            </a:r>
          </a:p>
        </p:txBody>
      </p:sp>
      <p:sp>
        <p:nvSpPr>
          <p:cNvPr id="18" name="">
            <a:extLst xmlns:a="http://schemas.openxmlformats.org/drawingml/2006/main">
              <a:ext uri="{FF2B5EF4-FFF2-40B4-BE49-F238E27FC236}">
                <a16:creationId xmlns:a16="http://schemas.microsoft.com/office/drawing/2014/main" id="{CA35500B-27D2-4E64-BCC9-3A743D09D4C6}"/>
              </a:ext>
            </a:extLst>
          </p:cNvPr>
          <p:cNvSpPr>
            <a:spLocks xmlns:a="http://schemas.openxmlformats.org/drawingml/2006/main" noGrp="1"/>
          </p:cNvSpPr>
          <p:nvPr/>
        </p:nvSpPr>
        <p:spPr>
          <a:xfrm xmlns:a="http://schemas.openxmlformats.org/drawingml/2006/main">
            <a:off x="7734300" y="2085975"/>
            <a:ext cx="3924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"Direction 1 done. Now the terminal direction."</a:t>
            </a:r>
          </a:p>
        </p:txBody>
      </p:sp>
      <p:sp>
        <p:nvSpPr>
          <p:cNvPr id="19" name="">
            <a:extLst xmlns:a="http://schemas.openxmlformats.org/drawingml/2006/main">
              <a:ext uri="{FF2B5EF4-FFF2-40B4-BE49-F238E27FC236}">
                <a16:creationId xmlns:a16="http://schemas.microsoft.com/office/drawing/2014/main" id="{F46EE227-58B5-4E5B-B188-F81415949A12}"/>
              </a:ext>
            </a:extLst>
          </p:cNvPr>
          <p:cNvSpPr>
            <a:spLocks xmlns:a="http://schemas.openxmlformats.org/drawingml/2006/main" noGrp="1"/>
          </p:cNvSpPr>
          <p:nvPr/>
        </p:nvSpPr>
        <p:spPr>
          <a:xfrm xmlns:a="http://schemas.openxmlformats.org/drawingml/2006/main">
            <a:off x="457200" y="2381250"/>
            <a:ext cx="11277600" cy="4000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D02F0ED7-7D67-46E0-B3BA-EB018882D51D}"/>
              </a:ext>
            </a:extLst>
          </p:cNvPr>
          <p:cNvSpPr>
            <a:spLocks xmlns:a="http://schemas.openxmlformats.org/drawingml/2006/main" noGrp="1"/>
          </p:cNvSpPr>
          <p:nvPr/>
        </p:nvSpPr>
        <p:spPr>
          <a:xfrm xmlns:a="http://schemas.openxmlformats.org/drawingml/2006/main">
            <a:off x="590550" y="2486025"/>
            <a:ext cx="2266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Terminal.dc.html</a:t>
            </a:r>
          </a:p>
        </p:txBody>
      </p:sp>
      <p:sp>
        <p:nvSpPr>
          <p:cNvPr id="21" name="">
            <a:extLst xmlns:a="http://schemas.openxmlformats.org/drawingml/2006/main">
              <a:ext uri="{FF2B5EF4-FFF2-40B4-BE49-F238E27FC236}">
                <a16:creationId xmlns:a16="http://schemas.microsoft.com/office/drawing/2014/main" id="{E4061E43-0426-49A8-BBB5-1748EA7C4DFF}"/>
              </a:ext>
            </a:extLst>
          </p:cNvPr>
          <p:cNvSpPr>
            <a:spLocks xmlns:a="http://schemas.openxmlformats.org/drawingml/2006/main" noGrp="1"/>
          </p:cNvSpPr>
          <p:nvPr/>
        </p:nvSpPr>
        <p:spPr>
          <a:xfrm xmlns:a="http://schemas.openxmlformats.org/drawingml/2006/main">
            <a:off x="3067050" y="2486025"/>
            <a:ext cx="838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+196</a:t>
            </a:r>
          </a:p>
        </p:txBody>
      </p:sp>
      <p:sp>
        <p:nvSpPr>
          <p:cNvPr id="22" name="">
            <a:extLst xmlns:a="http://schemas.openxmlformats.org/drawingml/2006/main">
              <a:ext uri="{FF2B5EF4-FFF2-40B4-BE49-F238E27FC236}">
                <a16:creationId xmlns:a16="http://schemas.microsoft.com/office/drawing/2014/main" id="{8F8F8E08-9B1F-4089-9B41-2D3837ACE450}"/>
              </a:ext>
            </a:extLst>
          </p:cNvPr>
          <p:cNvSpPr>
            <a:spLocks xmlns:a="http://schemas.openxmlformats.org/drawingml/2006/main" noGrp="1"/>
          </p:cNvSpPr>
          <p:nvPr/>
        </p:nvSpPr>
        <p:spPr>
          <a:xfrm xmlns:a="http://schemas.openxmlformats.org/drawingml/2006/main">
            <a:off x="4114800" y="2486025"/>
            <a:ext cx="3409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Dark, laid out as a shell session</a:t>
            </a:r>
          </a:p>
        </p:txBody>
      </p:sp>
      <p:sp>
        <p:nvSpPr>
          <p:cNvPr id="23" name="">
            <a:extLst xmlns:a="http://schemas.openxmlformats.org/drawingml/2006/main">
              <a:ext uri="{FF2B5EF4-FFF2-40B4-BE49-F238E27FC236}">
                <a16:creationId xmlns:a16="http://schemas.microsoft.com/office/drawing/2014/main" id="{066BEA34-3501-4CA9-9782-EB1DA31AB9F0}"/>
              </a:ext>
            </a:extLst>
          </p:cNvPr>
          <p:cNvSpPr>
            <a:spLocks xmlns:a="http://schemas.openxmlformats.org/drawingml/2006/main" noGrp="1"/>
          </p:cNvSpPr>
          <p:nvPr/>
        </p:nvSpPr>
        <p:spPr>
          <a:xfrm xmlns:a="http://schemas.openxmlformats.org/drawingml/2006/main">
            <a:off x="7734300" y="2486025"/>
            <a:ext cx="3924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"Two down. Next: the brutalist poster grid."</a:t>
            </a:r>
          </a:p>
        </p:txBody>
      </p:sp>
      <p:sp>
        <p:nvSpPr>
          <p:cNvPr id="24" name="">
            <a:extLst xmlns:a="http://schemas.openxmlformats.org/drawingml/2006/main">
              <a:ext uri="{FF2B5EF4-FFF2-40B4-BE49-F238E27FC236}">
                <a16:creationId xmlns:a16="http://schemas.microsoft.com/office/drawing/2014/main" id="{DA4A98A0-F994-478C-B4F0-27E3AF2C4F3A}"/>
              </a:ext>
            </a:extLst>
          </p:cNvPr>
          <p:cNvSpPr>
            <a:spLocks xmlns:a="http://schemas.openxmlformats.org/drawingml/2006/main" noGrp="1"/>
          </p:cNvSpPr>
          <p:nvPr/>
        </p:nvSpPr>
        <p:spPr>
          <a:xfrm xmlns:a="http://schemas.openxmlformats.org/drawingml/2006/main">
            <a:off x="457200" y="2781300"/>
            <a:ext cx="112776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5" name="">
            <a:extLst xmlns:a="http://schemas.openxmlformats.org/drawingml/2006/main">
              <a:ext uri="{FF2B5EF4-FFF2-40B4-BE49-F238E27FC236}">
                <a16:creationId xmlns:a16="http://schemas.microsoft.com/office/drawing/2014/main" id="{B4B5C564-B107-4320-94EA-EBB4032EF351}"/>
              </a:ext>
            </a:extLst>
          </p:cNvPr>
          <p:cNvSpPr>
            <a:spLocks xmlns:a="http://schemas.openxmlformats.org/drawingml/2006/main" noGrp="1"/>
          </p:cNvSpPr>
          <p:nvPr/>
        </p:nvSpPr>
        <p:spPr>
          <a:xfrm xmlns:a="http://schemas.openxmlformats.org/drawingml/2006/main">
            <a:off x="590550" y="2886075"/>
            <a:ext cx="2266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Brutalist.dc.html</a:t>
            </a:r>
          </a:p>
        </p:txBody>
      </p:sp>
      <p:sp>
        <p:nvSpPr>
          <p:cNvPr id="26" name="">
            <a:extLst xmlns:a="http://schemas.openxmlformats.org/drawingml/2006/main">
              <a:ext uri="{FF2B5EF4-FFF2-40B4-BE49-F238E27FC236}">
                <a16:creationId xmlns:a16="http://schemas.microsoft.com/office/drawing/2014/main" id="{6F72594B-80E3-48C4-940F-61D533FA8D8C}"/>
              </a:ext>
            </a:extLst>
          </p:cNvPr>
          <p:cNvSpPr>
            <a:spLocks xmlns:a="http://schemas.openxmlformats.org/drawingml/2006/main" noGrp="1"/>
          </p:cNvSpPr>
          <p:nvPr/>
        </p:nvSpPr>
        <p:spPr>
          <a:xfrm xmlns:a="http://schemas.openxmlformats.org/drawingml/2006/main">
            <a:off x="3067050" y="2886075"/>
            <a:ext cx="838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+176</a:t>
            </a:r>
          </a:p>
        </p:txBody>
      </p:sp>
      <p:sp>
        <p:nvSpPr>
          <p:cNvPr id="27" name="">
            <a:extLst xmlns:a="http://schemas.openxmlformats.org/drawingml/2006/main">
              <a:ext uri="{FF2B5EF4-FFF2-40B4-BE49-F238E27FC236}">
                <a16:creationId xmlns:a16="http://schemas.microsoft.com/office/drawing/2014/main" id="{4E16D4C7-3F8F-4F6D-9D44-E8CF4C0EC45D}"/>
              </a:ext>
            </a:extLst>
          </p:cNvPr>
          <p:cNvSpPr>
            <a:spLocks xmlns:a="http://schemas.openxmlformats.org/drawingml/2006/main" noGrp="1"/>
          </p:cNvSpPr>
          <p:nvPr/>
        </p:nvSpPr>
        <p:spPr>
          <a:xfrm xmlns:a="http://schemas.openxmlformats.org/drawingml/2006/main">
            <a:off x="4114800" y="2886075"/>
            <a:ext cx="3409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Poster grid, heavy type</a:t>
            </a:r>
          </a:p>
        </p:txBody>
      </p:sp>
      <p:sp>
        <p:nvSpPr>
          <p:cNvPr id="28" name="">
            <a:extLst xmlns:a="http://schemas.openxmlformats.org/drawingml/2006/main">
              <a:ext uri="{FF2B5EF4-FFF2-40B4-BE49-F238E27FC236}">
                <a16:creationId xmlns:a16="http://schemas.microsoft.com/office/drawing/2014/main" id="{768CAB29-E6FC-48DF-BE50-449AADBCE04A}"/>
              </a:ext>
            </a:extLst>
          </p:cNvPr>
          <p:cNvSpPr>
            <a:spLocks xmlns:a="http://schemas.openxmlformats.org/drawingml/2006/main" noGrp="1"/>
          </p:cNvSpPr>
          <p:nvPr/>
        </p:nvSpPr>
        <p:spPr>
          <a:xfrm xmlns:a="http://schemas.openxmlformats.org/drawingml/2006/main">
            <a:off x="7734300" y="2886075"/>
            <a:ext cx="3924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"Three down. Now the atmospheric dark direction."</a:t>
            </a:r>
          </a:p>
        </p:txBody>
      </p:sp>
      <p:sp>
        <p:nvSpPr>
          <p:cNvPr id="29" name="">
            <a:extLst xmlns:a="http://schemas.openxmlformats.org/drawingml/2006/main">
              <a:ext uri="{FF2B5EF4-FFF2-40B4-BE49-F238E27FC236}">
                <a16:creationId xmlns:a16="http://schemas.microsoft.com/office/drawing/2014/main" id="{0308ABCE-B60B-49F8-941B-A193A7792A71}"/>
              </a:ext>
            </a:extLst>
          </p:cNvPr>
          <p:cNvSpPr>
            <a:spLocks xmlns:a="http://schemas.openxmlformats.org/drawingml/2006/main" noGrp="1"/>
          </p:cNvSpPr>
          <p:nvPr/>
        </p:nvSpPr>
        <p:spPr>
          <a:xfrm xmlns:a="http://schemas.openxmlformats.org/drawingml/2006/main">
            <a:off x="457200" y="3181350"/>
            <a:ext cx="11277600" cy="4000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78D407F0-348D-4F76-A6AB-416AA94AD5CF}"/>
              </a:ext>
            </a:extLst>
          </p:cNvPr>
          <p:cNvSpPr>
            <a:spLocks xmlns:a="http://schemas.openxmlformats.org/drawingml/2006/main" noGrp="1"/>
          </p:cNvSpPr>
          <p:nvPr/>
        </p:nvSpPr>
        <p:spPr>
          <a:xfrm xmlns:a="http://schemas.openxmlformats.org/drawingml/2006/main">
            <a:off x="590550" y="3286125"/>
            <a:ext cx="2266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Aurora.dc.html</a:t>
            </a:r>
          </a:p>
        </p:txBody>
      </p:sp>
      <p:sp>
        <p:nvSpPr>
          <p:cNvPr id="31" name="">
            <a:extLst xmlns:a="http://schemas.openxmlformats.org/drawingml/2006/main">
              <a:ext uri="{FF2B5EF4-FFF2-40B4-BE49-F238E27FC236}">
                <a16:creationId xmlns:a16="http://schemas.microsoft.com/office/drawing/2014/main" id="{0B85FC30-7066-4280-A357-80747880F90C}"/>
              </a:ext>
            </a:extLst>
          </p:cNvPr>
          <p:cNvSpPr>
            <a:spLocks xmlns:a="http://schemas.openxmlformats.org/drawingml/2006/main" noGrp="1"/>
          </p:cNvSpPr>
          <p:nvPr/>
        </p:nvSpPr>
        <p:spPr>
          <a:xfrm xmlns:a="http://schemas.openxmlformats.org/drawingml/2006/main">
            <a:off x="3067050" y="3286125"/>
            <a:ext cx="838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+168</a:t>
            </a:r>
          </a:p>
        </p:txBody>
      </p:sp>
      <p:sp>
        <p:nvSpPr>
          <p:cNvPr id="32" name="">
            <a:extLst xmlns:a="http://schemas.openxmlformats.org/drawingml/2006/main">
              <a:ext uri="{FF2B5EF4-FFF2-40B4-BE49-F238E27FC236}">
                <a16:creationId xmlns:a16="http://schemas.microsoft.com/office/drawing/2014/main" id="{7527F5EE-3178-4B2D-BA86-2A643D491FDF}"/>
              </a:ext>
            </a:extLst>
          </p:cNvPr>
          <p:cNvSpPr>
            <a:spLocks xmlns:a="http://schemas.openxmlformats.org/drawingml/2006/main" noGrp="1"/>
          </p:cNvSpPr>
          <p:nvPr/>
        </p:nvSpPr>
        <p:spPr>
          <a:xfrm xmlns:a="http://schemas.openxmlformats.org/drawingml/2006/main">
            <a:off x="4114800" y="3286125"/>
            <a:ext cx="3409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Atmospheric dark</a:t>
            </a:r>
          </a:p>
        </p:txBody>
      </p:sp>
      <p:sp>
        <p:nvSpPr>
          <p:cNvPr id="33" name="">
            <a:extLst xmlns:a="http://schemas.openxmlformats.org/drawingml/2006/main">
              <a:ext uri="{FF2B5EF4-FFF2-40B4-BE49-F238E27FC236}">
                <a16:creationId xmlns:a16="http://schemas.microsoft.com/office/drawing/2014/main" id="{F528A057-FF9E-49F2-93A0-0B198070A5D4}"/>
              </a:ext>
            </a:extLst>
          </p:cNvPr>
          <p:cNvSpPr>
            <a:spLocks xmlns:a="http://schemas.openxmlformats.org/drawingml/2006/main" noGrp="1"/>
          </p:cNvSpPr>
          <p:nvPr/>
        </p:nvSpPr>
        <p:spPr>
          <a:xfrm xmlns:a="http://schemas.openxmlformats.org/drawingml/2006/main">
            <a:off x="7734300" y="3286125"/>
            <a:ext cx="3924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"Four down. Last one: the Swiss spec-sheet."</a:t>
            </a:r>
          </a:p>
        </p:txBody>
      </p:sp>
      <p:sp>
        <p:nvSpPr>
          <p:cNvPr id="34" name="">
            <a:extLst xmlns:a="http://schemas.openxmlformats.org/drawingml/2006/main">
              <a:ext uri="{FF2B5EF4-FFF2-40B4-BE49-F238E27FC236}">
                <a16:creationId xmlns:a16="http://schemas.microsoft.com/office/drawing/2014/main" id="{644FEE95-2A18-491E-BE31-B0E90406ED91}"/>
              </a:ext>
            </a:extLst>
          </p:cNvPr>
          <p:cNvSpPr>
            <a:spLocks xmlns:a="http://schemas.openxmlformats.org/drawingml/2006/main" noGrp="1"/>
          </p:cNvSpPr>
          <p:nvPr/>
        </p:nvSpPr>
        <p:spPr>
          <a:xfrm xmlns:a="http://schemas.openxmlformats.org/drawingml/2006/main">
            <a:off x="457200" y="3581400"/>
            <a:ext cx="112776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3464B351-33DC-48DD-90D9-5DCD61F157D2}"/>
              </a:ext>
            </a:extLst>
          </p:cNvPr>
          <p:cNvSpPr>
            <a:spLocks xmlns:a="http://schemas.openxmlformats.org/drawingml/2006/main" noGrp="1"/>
          </p:cNvSpPr>
          <p:nvPr/>
        </p:nvSpPr>
        <p:spPr>
          <a:xfrm xmlns:a="http://schemas.openxmlformats.org/drawingml/2006/main">
            <a:off x="590550" y="3686175"/>
            <a:ext cx="2266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SpecSheet.dc.html</a:t>
            </a:r>
          </a:p>
        </p:txBody>
      </p:sp>
      <p:sp>
        <p:nvSpPr>
          <p:cNvPr id="36" name="">
            <a:extLst xmlns:a="http://schemas.openxmlformats.org/drawingml/2006/main">
              <a:ext uri="{FF2B5EF4-FFF2-40B4-BE49-F238E27FC236}">
                <a16:creationId xmlns:a16="http://schemas.microsoft.com/office/drawing/2014/main" id="{74F14AA6-F783-4415-8665-A78A8DA5005D}"/>
              </a:ext>
            </a:extLst>
          </p:cNvPr>
          <p:cNvSpPr>
            <a:spLocks xmlns:a="http://schemas.openxmlformats.org/drawingml/2006/main" noGrp="1"/>
          </p:cNvSpPr>
          <p:nvPr/>
        </p:nvSpPr>
        <p:spPr>
          <a:xfrm xmlns:a="http://schemas.openxmlformats.org/drawingml/2006/main">
            <a:off x="3067050" y="3686175"/>
            <a:ext cx="838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+215</a:t>
            </a:r>
          </a:p>
        </p:txBody>
      </p:sp>
      <p:sp>
        <p:nvSpPr>
          <p:cNvPr id="37" name="">
            <a:extLst xmlns:a="http://schemas.openxmlformats.org/drawingml/2006/main">
              <a:ext uri="{FF2B5EF4-FFF2-40B4-BE49-F238E27FC236}">
                <a16:creationId xmlns:a16="http://schemas.microsoft.com/office/drawing/2014/main" id="{5A0EB850-0B4D-4D4E-8734-DD7C3653C97F}"/>
              </a:ext>
            </a:extLst>
          </p:cNvPr>
          <p:cNvSpPr>
            <a:spLocks xmlns:a="http://schemas.openxmlformats.org/drawingml/2006/main" noGrp="1"/>
          </p:cNvSpPr>
          <p:nvPr/>
        </p:nvSpPr>
        <p:spPr>
          <a:xfrm xmlns:a="http://schemas.openxmlformats.org/drawingml/2006/main">
            <a:off x="4114800" y="3686175"/>
            <a:ext cx="3409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Swiss spec-sheet</a:t>
            </a:r>
          </a:p>
        </p:txBody>
      </p:sp>
      <p:sp>
        <p:nvSpPr>
          <p:cNvPr id="38" name="">
            <a:extLst xmlns:a="http://schemas.openxmlformats.org/drawingml/2006/main">
              <a:ext uri="{FF2B5EF4-FFF2-40B4-BE49-F238E27FC236}">
                <a16:creationId xmlns:a16="http://schemas.microsoft.com/office/drawing/2014/main" id="{0F1BE6EC-234A-431A-B25A-0A82848BCE4D}"/>
              </a:ext>
            </a:extLst>
          </p:cNvPr>
          <p:cNvSpPr>
            <a:spLocks xmlns:a="http://schemas.openxmlformats.org/drawingml/2006/main" noGrp="1"/>
          </p:cNvSpPr>
          <p:nvPr/>
        </p:nvSpPr>
        <p:spPr>
          <a:xfrm xmlns:a="http://schemas.openxmlformats.org/drawingml/2006/main">
            <a:off x="7734300" y="3686175"/>
            <a:ext cx="3924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"Now the entry artboard — a reference recreation."</a:t>
            </a:r>
          </a:p>
        </p:txBody>
      </p:sp>
      <p:sp>
        <p:nvSpPr>
          <p:cNvPr id="39" name="">
            <a:extLst xmlns:a="http://schemas.openxmlformats.org/drawingml/2006/main">
              <a:ext uri="{FF2B5EF4-FFF2-40B4-BE49-F238E27FC236}">
                <a16:creationId xmlns:a16="http://schemas.microsoft.com/office/drawing/2014/main" id="{11BAC4B7-8FB3-4C9E-AFEC-8D60E3AEF727}"/>
              </a:ext>
            </a:extLst>
          </p:cNvPr>
          <p:cNvSpPr>
            <a:spLocks xmlns:a="http://schemas.openxmlformats.org/drawingml/2006/main" noGrp="1"/>
          </p:cNvSpPr>
          <p:nvPr/>
        </p:nvSpPr>
        <p:spPr>
          <a:xfrm xmlns:a="http://schemas.openxmlformats.org/drawingml/2006/main">
            <a:off x="457200" y="3981450"/>
            <a:ext cx="11277600" cy="40005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E7061A61-20C8-491A-A6D9-A7F7C8CE7BAA}"/>
              </a:ext>
            </a:extLst>
          </p:cNvPr>
          <p:cNvSpPr>
            <a:spLocks xmlns:a="http://schemas.openxmlformats.org/drawingml/2006/main" noGrp="1"/>
          </p:cNvSpPr>
          <p:nvPr/>
        </p:nvSpPr>
        <p:spPr>
          <a:xfrm xmlns:a="http://schemas.openxmlformats.org/drawingml/2006/main">
            <a:off x="457200" y="3981450"/>
            <a:ext cx="47625" cy="4000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357A017-D41C-49BB-A910-B6ABF0BF282B}"/>
              </a:ext>
            </a:extLst>
          </p:cNvPr>
          <p:cNvSpPr>
            <a:spLocks xmlns:a="http://schemas.openxmlformats.org/drawingml/2006/main" noGrp="1"/>
          </p:cNvSpPr>
          <p:nvPr/>
        </p:nvSpPr>
        <p:spPr>
          <a:xfrm xmlns:a="http://schemas.openxmlformats.org/drawingml/2006/main">
            <a:off x="590550" y="4086225"/>
            <a:ext cx="2266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canvas.json</a:t>
            </a:r>
          </a:p>
        </p:txBody>
      </p:sp>
      <p:sp>
        <p:nvSpPr>
          <p:cNvPr id="42" name="">
            <a:extLst xmlns:a="http://schemas.openxmlformats.org/drawingml/2006/main">
              <a:ext uri="{FF2B5EF4-FFF2-40B4-BE49-F238E27FC236}">
                <a16:creationId xmlns:a16="http://schemas.microsoft.com/office/drawing/2014/main" id="{FE439D70-7A37-4208-8FEC-A085D4AAACC5}"/>
              </a:ext>
            </a:extLst>
          </p:cNvPr>
          <p:cNvSpPr>
            <a:spLocks xmlns:a="http://schemas.openxmlformats.org/drawingml/2006/main" noGrp="1"/>
          </p:cNvSpPr>
          <p:nvPr/>
        </p:nvSpPr>
        <p:spPr>
          <a:xfrm xmlns:a="http://schemas.openxmlformats.org/drawingml/2006/main">
            <a:off x="3067050" y="4086225"/>
            <a:ext cx="838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1E293B"/>
                </a:solidFill>
                <a:latin typeface="Arial"/>
                <a:ea typeface="Arial"/>
                <a:cs typeface="Arial"/>
              </a:defRPr>
            </a:pPr>
            <a:r>
              <a:t>+28</a:t>
            </a:r>
          </a:p>
        </p:txBody>
      </p:sp>
      <p:sp>
        <p:nvSpPr>
          <p:cNvPr id="43" name="">
            <a:extLst xmlns:a="http://schemas.openxmlformats.org/drawingml/2006/main">
              <a:ext uri="{FF2B5EF4-FFF2-40B4-BE49-F238E27FC236}">
                <a16:creationId xmlns:a16="http://schemas.microsoft.com/office/drawing/2014/main" id="{B209F91A-11B8-4548-AACF-F8BAFFB7CB2C}"/>
              </a:ext>
            </a:extLst>
          </p:cNvPr>
          <p:cNvSpPr>
            <a:spLocks xmlns:a="http://schemas.openxmlformats.org/drawingml/2006/main" noGrp="1"/>
          </p:cNvSpPr>
          <p:nvPr/>
        </p:nvSpPr>
        <p:spPr>
          <a:xfrm xmlns:a="http://schemas.openxmlformats.org/drawingml/2006/main">
            <a:off x="4114800" y="4086225"/>
            <a:ext cx="3409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The manifest that lays them out</a:t>
            </a:r>
          </a:p>
        </p:txBody>
      </p:sp>
      <p:sp>
        <p:nvSpPr>
          <p:cNvPr id="44" name="">
            <a:extLst xmlns:a="http://schemas.openxmlformats.org/drawingml/2006/main">
              <a:ext uri="{FF2B5EF4-FFF2-40B4-BE49-F238E27FC236}">
                <a16:creationId xmlns:a16="http://schemas.microsoft.com/office/drawing/2014/main" id="{297A49BD-C8E1-4BCD-82D1-BFF8AD06A8E0}"/>
              </a:ext>
            </a:extLst>
          </p:cNvPr>
          <p:cNvSpPr>
            <a:spLocks xmlns:a="http://schemas.openxmlformats.org/drawingml/2006/main" noGrp="1"/>
          </p:cNvSpPr>
          <p:nvPr/>
        </p:nvSpPr>
        <p:spPr>
          <a:xfrm xmlns:a="http://schemas.openxmlformats.org/drawingml/2006/main">
            <a:off x="7734300" y="4086225"/>
            <a:ext cx="3924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"Checks out. Loading the capability roster."</a:t>
            </a:r>
          </a:p>
        </p:txBody>
      </p:sp>
      <p:sp>
        <p:nvSpPr>
          <p:cNvPr id="45" name="">
            <a:extLst xmlns:a="http://schemas.openxmlformats.org/drawingml/2006/main">
              <a:ext uri="{FF2B5EF4-FFF2-40B4-BE49-F238E27FC236}">
                <a16:creationId xmlns:a16="http://schemas.microsoft.com/office/drawing/2014/main" id="{8004045F-21B5-4ABA-AE65-E3FB8ECA9FE0}"/>
              </a:ext>
            </a:extLst>
          </p:cNvPr>
          <p:cNvSpPr>
            <a:spLocks xmlns:a="http://schemas.openxmlformats.org/drawingml/2006/main" noGrp="1"/>
          </p:cNvSpPr>
          <p:nvPr/>
        </p:nvSpPr>
        <p:spPr>
          <a:xfrm xmlns:a="http://schemas.openxmlformats.org/drawingml/2006/main">
            <a:off x="457200" y="4648200"/>
            <a:ext cx="11277600" cy="1247775"/>
          </a:xfrm>
          <a:prstGeom xmlns:a="http://schemas.openxmlformats.org/drawingml/2006/main" prst="roundRect">
            <a:avLst>
              <a:gd name="adj" fmla="val 6107"/>
            </a:avLst>
          </a:prstGeom>
          <a:solidFill xmlns:a="http://schemas.openxmlformats.org/drawingml/2006/main">
            <a:srgbClr val="F8FAFC"/>
          </a:solidFill>
          <a:ln xmlns:a="http://schemas.openxmlformats.org/drawingml/2006/main" w="9525">
            <a:solidFill>
              <a:srgbClr val="E2E8F0"/>
            </a:solidFill>
            <a:prstDash val="solid"/>
          </a:ln>
        </p:spPr>
      </p:sp>
      <p:sp>
        <p:nvSpPr>
          <p:cNvPr id="46" name="">
            <a:extLst xmlns:a="http://schemas.openxmlformats.org/drawingml/2006/main">
              <a:ext uri="{FF2B5EF4-FFF2-40B4-BE49-F238E27FC236}">
                <a16:creationId xmlns:a16="http://schemas.microsoft.com/office/drawing/2014/main" id="{47088A2D-5EBF-421B-B2CE-A443C93784FD}"/>
              </a:ext>
            </a:extLst>
          </p:cNvPr>
          <p:cNvSpPr>
            <a:spLocks xmlns:a="http://schemas.openxmlformats.org/drawingml/2006/main" noGrp="1"/>
          </p:cNvSpPr>
          <p:nvPr/>
        </p:nvSpPr>
        <p:spPr>
          <a:xfrm xmlns:a="http://schemas.openxmlformats.org/drawingml/2006/main">
            <a:off x="457200" y="46482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2A9DCF21-B25E-40E4-8826-CB86CBBBF431}"/>
              </a:ext>
            </a:extLst>
          </p:cNvPr>
          <p:cNvSpPr>
            <a:spLocks xmlns:a="http://schemas.openxmlformats.org/drawingml/2006/main" noGrp="1"/>
          </p:cNvSpPr>
          <p:nvPr/>
        </p:nvSpPr>
        <p:spPr>
          <a:xfrm xmlns:a="http://schemas.openxmlformats.org/drawingml/2006/main">
            <a:off x="685800" y="483870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And one honest aside, mid-build</a:t>
            </a:r>
          </a:p>
        </p:txBody>
      </p:sp>
      <p:sp>
        <p:nvSpPr>
          <p:cNvPr id="48" name="">
            <a:extLst xmlns:a="http://schemas.openxmlformats.org/drawingml/2006/main">
              <a:ext uri="{FF2B5EF4-FFF2-40B4-BE49-F238E27FC236}">
                <a16:creationId xmlns:a16="http://schemas.microsoft.com/office/drawing/2014/main" id="{64D94B91-3320-4C5E-88BB-A24C2E1EFCCC}"/>
              </a:ext>
            </a:extLst>
          </p:cNvPr>
          <p:cNvSpPr>
            <a:spLocks xmlns:a="http://schemas.openxmlformats.org/drawingml/2006/main" noGrp="1"/>
          </p:cNvSpPr>
          <p:nvPr/>
        </p:nvSpPr>
        <p:spPr>
          <a:xfrm xmlns:a="http://schemas.openxmlformats.org/drawingml/2006/main">
            <a:off x="685800" y="5200650"/>
            <a:ext cx="108204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"Heredoc quoting is fighting the content; switching to the file writer." The agent hits a real tooling problem and changes approach on camera — the kind of moment a polished demo usually edits out.</a:t>
            </a:r>
          </a:p>
        </p:txBody>
      </p:sp>
    </p:spTree>
    <p:extLst>
      <p:ext uri="{BB962C8B-B14F-4D97-AF65-F5344CB8AC3E}">
        <p14:creationId xmlns:p14="http://schemas.microsoft.com/office/powerpoint/2010/main" val="12170005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5CC7EF9-3826-4B44-A04E-91EA9AE1F5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EAB714-C546-4AEB-982A-03B6D0DD74A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THE ARTEFACT</a:t>
            </a:r>
          </a:p>
        </p:txBody>
      </p:sp>
      <p:sp>
        <p:nvSpPr>
          <p:cNvPr id="3" name="">
            <a:extLst xmlns:a="http://schemas.openxmlformats.org/drawingml/2006/main">
              <a:ext uri="{FF2B5EF4-FFF2-40B4-BE49-F238E27FC236}">
                <a16:creationId xmlns:a16="http://schemas.microsoft.com/office/drawing/2014/main" id="{18A27F89-9466-474D-940D-2AA5A00D2B5C}"/>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Eight artboards, a manifest, and a published URL</a:t>
            </a:r>
          </a:p>
        </p:txBody>
      </p:sp>
      <p:sp>
        <p:nvSpPr>
          <p:cNvPr id="4" name="">
            <a:extLst xmlns:a="http://schemas.openxmlformats.org/drawingml/2006/main">
              <a:ext uri="{FF2B5EF4-FFF2-40B4-BE49-F238E27FC236}">
                <a16:creationId xmlns:a16="http://schemas.microsoft.com/office/drawing/2014/main" id="{02338C10-7AC4-4A80-8730-492802702416}"/>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canvas is a real document with an address — not a panel bolted into the app.</a:t>
            </a:r>
          </a:p>
        </p:txBody>
      </p:sp>
      <p:sp>
        <p:nvSpPr>
          <p:cNvPr id="5" name="">
            <a:extLst xmlns:a="http://schemas.openxmlformats.org/drawingml/2006/main">
              <a:ext uri="{FF2B5EF4-FFF2-40B4-BE49-F238E27FC236}">
                <a16:creationId xmlns:a16="http://schemas.microsoft.com/office/drawing/2014/main" id="{CAEB87D7-89FD-4514-A46F-91798E967623}"/>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9E3F306-142A-4352-B6AE-8A62A32C53F6}"/>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B90C9B-6D15-471B-915C-01545301DA5C}"/>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CLAUDE CODE /DESIGN  ·  VIDEO BRIEF  ·  2026-08-22</a:t>
            </a:r>
          </a:p>
        </p:txBody>
      </p:sp>
      <p:sp>
        <p:nvSpPr>
          <p:cNvPr id="8" name="">
            <a:extLst xmlns:a="http://schemas.openxmlformats.org/drawingml/2006/main">
              <a:ext uri="{FF2B5EF4-FFF2-40B4-BE49-F238E27FC236}">
                <a16:creationId xmlns:a16="http://schemas.microsoft.com/office/drawing/2014/main" id="{182D731A-B97C-4F57-9619-A77B29E0AB69}"/>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04</a:t>
            </a:r>
          </a:p>
        </p:txBody>
      </p:sp>
      <p:sp>
        <p:nvSpPr>
          <p:cNvPr id="9" name="">
            <a:extLst xmlns:a="http://schemas.openxmlformats.org/drawingml/2006/main">
              <a:ext uri="{FF2B5EF4-FFF2-40B4-BE49-F238E27FC236}">
                <a16:creationId xmlns:a16="http://schemas.microsoft.com/office/drawing/2014/main" id="{EFF1B716-8262-4D57-A95D-4E6A2EE7D4CD}"/>
              </a:ext>
            </a:extLst>
          </p:cNvPr>
          <p:cNvSpPr>
            <a:spLocks xmlns:a="http://schemas.openxmlformats.org/drawingml/2006/main" noGrp="1"/>
          </p:cNvSpPr>
          <p:nvPr/>
        </p:nvSpPr>
        <p:spPr>
          <a:xfrm xmlns:a="http://schemas.openxmlformats.org/drawingml/2006/main">
            <a:off x="457200" y="1695450"/>
            <a:ext cx="2419350" cy="1066800"/>
          </a:xfrm>
          <a:prstGeom xmlns:a="http://schemas.openxmlformats.org/drawingml/2006/main" prst="flowChartAlternateProcess">
            <a:avLst/>
          </a:prstGeom>
          <a:solidFill xmlns:a="http://schemas.openxmlformats.org/drawingml/2006/main">
            <a:srgbClr val="FFFFFF"/>
          </a:solidFill>
          <a:ln xmlns:a="http://schemas.openxmlformats.org/drawingml/2006/main" w="19050">
            <a:solidFill>
              <a:srgbClr val="6B7280"/>
            </a:solidFill>
            <a:prstDash val="solid"/>
          </a:ln>
        </p:spPr>
      </p:sp>
      <p:sp>
        <p:nvSpPr>
          <p:cNvPr id="10" name="">
            <a:extLst xmlns:a="http://schemas.openxmlformats.org/drawingml/2006/main">
              <a:ext uri="{FF2B5EF4-FFF2-40B4-BE49-F238E27FC236}">
                <a16:creationId xmlns:a16="http://schemas.microsoft.com/office/drawing/2014/main" id="{EEEB7C2F-C07D-4098-A4A4-9FC79EE61B2A}"/>
              </a:ext>
            </a:extLst>
          </p:cNvPr>
          <p:cNvSpPr>
            <a:spLocks xmlns:a="http://schemas.openxmlformats.org/drawingml/2006/main" noGrp="1"/>
          </p:cNvSpPr>
          <p:nvPr/>
        </p:nvSpPr>
        <p:spPr>
          <a:xfrm xmlns:a="http://schemas.openxmlformats.org/drawingml/2006/main">
            <a:off x="457200" y="1695450"/>
            <a:ext cx="2419350" cy="47625"/>
          </a:xfrm>
          <a:prstGeom xmlns:a="http://schemas.openxmlformats.org/drawingml/2006/main" prst="rect">
            <a:avLst/>
          </a:prstGeom>
          <a:solidFill xmlns:a="http://schemas.openxmlformats.org/drawingml/2006/main">
            <a:srgbClr val="6B728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A177C9E-70FC-484C-9AF8-7236564A1492}"/>
              </a:ext>
            </a:extLst>
          </p:cNvPr>
          <p:cNvSpPr>
            <a:spLocks xmlns:a="http://schemas.openxmlformats.org/drawingml/2006/main" noGrp="1"/>
          </p:cNvSpPr>
          <p:nvPr/>
        </p:nvSpPr>
        <p:spPr>
          <a:xfrm xmlns:a="http://schemas.openxmlformats.org/drawingml/2006/main">
            <a:off x="5905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Entry artboard</a:t>
            </a:r>
          </a:p>
        </p:txBody>
      </p:sp>
      <p:sp>
        <p:nvSpPr>
          <p:cNvPr id="12" name="">
            <a:extLst xmlns:a="http://schemas.openxmlformats.org/drawingml/2006/main">
              <a:ext uri="{FF2B5EF4-FFF2-40B4-BE49-F238E27FC236}">
                <a16:creationId xmlns:a16="http://schemas.microsoft.com/office/drawing/2014/main" id="{672A987A-DCDC-4A3C-9B6A-BF9347C9EBCF}"/>
              </a:ext>
            </a:extLst>
          </p:cNvPr>
          <p:cNvSpPr>
            <a:spLocks xmlns:a="http://schemas.openxmlformats.org/drawingml/2006/main" noGrp="1"/>
          </p:cNvSpPr>
          <p:nvPr/>
        </p:nvSpPr>
        <p:spPr>
          <a:xfrm xmlns:a="http://schemas.openxmlformats.org/drawingml/2006/main">
            <a:off x="5905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 recreation of the live site, to compare against</a:t>
            </a:r>
          </a:p>
        </p:txBody>
      </p:sp>
      <p:sp>
        <p:nvSpPr>
          <p:cNvPr id="13" name="">
            <a:extLst xmlns:a="http://schemas.openxmlformats.org/drawingml/2006/main">
              <a:ext uri="{FF2B5EF4-FFF2-40B4-BE49-F238E27FC236}">
                <a16:creationId xmlns:a16="http://schemas.microsoft.com/office/drawing/2014/main" id="{45FFB368-EA94-45AB-BD1F-37CDD631D614}"/>
              </a:ext>
            </a:extLst>
          </p:cNvPr>
          <p:cNvSpPr>
            <a:spLocks xmlns:a="http://schemas.openxmlformats.org/drawingml/2006/main" noGrp="1"/>
          </p:cNvSpPr>
          <p:nvPr/>
        </p:nvSpPr>
        <p:spPr>
          <a:xfrm xmlns:a="http://schemas.openxmlformats.org/drawingml/2006/main">
            <a:off x="2981325" y="21240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487DE434-02C3-44F2-BA6F-B9E6BA69A4A8}"/>
              </a:ext>
            </a:extLst>
          </p:cNvPr>
          <p:cNvSpPr>
            <a:spLocks xmlns:a="http://schemas.openxmlformats.org/drawingml/2006/main" noGrp="1"/>
          </p:cNvSpPr>
          <p:nvPr/>
        </p:nvSpPr>
        <p:spPr>
          <a:xfrm xmlns:a="http://schemas.openxmlformats.org/drawingml/2006/main">
            <a:off x="3409950" y="1695450"/>
            <a:ext cx="2419350" cy="10668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5" name="">
            <a:extLst xmlns:a="http://schemas.openxmlformats.org/drawingml/2006/main">
              <a:ext uri="{FF2B5EF4-FFF2-40B4-BE49-F238E27FC236}">
                <a16:creationId xmlns:a16="http://schemas.microsoft.com/office/drawing/2014/main" id="{C64AD85B-D197-4A75-BE71-3525CE856A7D}"/>
              </a:ext>
            </a:extLst>
          </p:cNvPr>
          <p:cNvSpPr>
            <a:spLocks xmlns:a="http://schemas.openxmlformats.org/drawingml/2006/main" noGrp="1"/>
          </p:cNvSpPr>
          <p:nvPr/>
        </p:nvSpPr>
        <p:spPr>
          <a:xfrm xmlns:a="http://schemas.openxmlformats.org/drawingml/2006/main">
            <a:off x="340995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C75D14-67D5-47F4-B8CC-0F60CC752F1C}"/>
              </a:ext>
            </a:extLst>
          </p:cNvPr>
          <p:cNvSpPr>
            <a:spLocks xmlns:a="http://schemas.openxmlformats.org/drawingml/2006/main" noGrp="1"/>
          </p:cNvSpPr>
          <p:nvPr/>
        </p:nvSpPr>
        <p:spPr>
          <a:xfrm xmlns:a="http://schemas.openxmlformats.org/drawingml/2006/main">
            <a:off x="35433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Five directions</a:t>
            </a:r>
          </a:p>
        </p:txBody>
      </p:sp>
      <p:sp>
        <p:nvSpPr>
          <p:cNvPr id="17" name="">
            <a:extLst xmlns:a="http://schemas.openxmlformats.org/drawingml/2006/main">
              <a:ext uri="{FF2B5EF4-FFF2-40B4-BE49-F238E27FC236}">
                <a16:creationId xmlns:a16="http://schemas.microsoft.com/office/drawing/2014/main" id="{B8797B8A-A9C8-49F4-98D2-4791C99CF9F5}"/>
              </a:ext>
            </a:extLst>
          </p:cNvPr>
          <p:cNvSpPr>
            <a:spLocks xmlns:a="http://schemas.openxmlformats.org/drawingml/2006/main" noGrp="1"/>
          </p:cNvSpPr>
          <p:nvPr/>
        </p:nvSpPr>
        <p:spPr>
          <a:xfrm xmlns:a="http://schemas.openxmlformats.org/drawingml/2006/main">
            <a:off x="35433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In a row below, "deliberately spread far apart"</a:t>
            </a:r>
          </a:p>
        </p:txBody>
      </p:sp>
      <p:sp>
        <p:nvSpPr>
          <p:cNvPr id="18" name="">
            <a:extLst xmlns:a="http://schemas.openxmlformats.org/drawingml/2006/main">
              <a:ext uri="{FF2B5EF4-FFF2-40B4-BE49-F238E27FC236}">
                <a16:creationId xmlns:a16="http://schemas.microsoft.com/office/drawing/2014/main" id="{24B6B517-8847-4B1E-AB0B-968F112A20FA}"/>
              </a:ext>
            </a:extLst>
          </p:cNvPr>
          <p:cNvSpPr>
            <a:spLocks xmlns:a="http://schemas.openxmlformats.org/drawingml/2006/main" noGrp="1"/>
          </p:cNvSpPr>
          <p:nvPr/>
        </p:nvSpPr>
        <p:spPr>
          <a:xfrm xmlns:a="http://schemas.openxmlformats.org/drawingml/2006/main">
            <a:off x="5934075" y="21240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DA4D864E-1871-410D-ADAE-DA58DCEB96AC}"/>
              </a:ext>
            </a:extLst>
          </p:cNvPr>
          <p:cNvSpPr>
            <a:spLocks xmlns:a="http://schemas.openxmlformats.org/drawingml/2006/main" noGrp="1"/>
          </p:cNvSpPr>
          <p:nvPr/>
        </p:nvSpPr>
        <p:spPr>
          <a:xfrm xmlns:a="http://schemas.openxmlformats.org/drawingml/2006/main">
            <a:off x="6362700" y="1695450"/>
            <a:ext cx="2419350" cy="10668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0" name="">
            <a:extLst xmlns:a="http://schemas.openxmlformats.org/drawingml/2006/main">
              <a:ext uri="{FF2B5EF4-FFF2-40B4-BE49-F238E27FC236}">
                <a16:creationId xmlns:a16="http://schemas.microsoft.com/office/drawing/2014/main" id="{76AD00DC-F42F-4004-8C02-D48667AE2DC7}"/>
              </a:ext>
            </a:extLst>
          </p:cNvPr>
          <p:cNvSpPr>
            <a:spLocks xmlns:a="http://schemas.openxmlformats.org/drawingml/2006/main" noGrp="1"/>
          </p:cNvSpPr>
          <p:nvPr/>
        </p:nvSpPr>
        <p:spPr>
          <a:xfrm xmlns:a="http://schemas.openxmlformats.org/drawingml/2006/main">
            <a:off x="636270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31D971-4F59-455C-B05E-A0FDC5984B0A}"/>
              </a:ext>
            </a:extLst>
          </p:cNvPr>
          <p:cNvSpPr>
            <a:spLocks xmlns:a="http://schemas.openxmlformats.org/drawingml/2006/main" noGrp="1"/>
          </p:cNvSpPr>
          <p:nvPr/>
        </p:nvSpPr>
        <p:spPr>
          <a:xfrm xmlns:a="http://schemas.openxmlformats.org/drawingml/2006/main">
            <a:off x="64960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canvas.json</a:t>
            </a:r>
          </a:p>
        </p:txBody>
      </p:sp>
      <p:sp>
        <p:nvSpPr>
          <p:cNvPr id="22" name="">
            <a:extLst xmlns:a="http://schemas.openxmlformats.org/drawingml/2006/main">
              <a:ext uri="{FF2B5EF4-FFF2-40B4-BE49-F238E27FC236}">
                <a16:creationId xmlns:a16="http://schemas.microsoft.com/office/drawing/2014/main" id="{22547644-59B1-4478-AB88-EAB47D39ACA5}"/>
              </a:ext>
            </a:extLst>
          </p:cNvPr>
          <p:cNvSpPr>
            <a:spLocks xmlns:a="http://schemas.openxmlformats.org/drawingml/2006/main" noGrp="1"/>
          </p:cNvSpPr>
          <p:nvPr/>
        </p:nvSpPr>
        <p:spPr>
          <a:xfrm xmlns:a="http://schemas.openxmlformats.org/drawingml/2006/main">
            <a:off x="64960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Positions, entry file, launch view</a:t>
            </a:r>
          </a:p>
        </p:txBody>
      </p:sp>
      <p:sp>
        <p:nvSpPr>
          <p:cNvPr id="23" name="">
            <a:extLst xmlns:a="http://schemas.openxmlformats.org/drawingml/2006/main">
              <a:ext uri="{FF2B5EF4-FFF2-40B4-BE49-F238E27FC236}">
                <a16:creationId xmlns:a16="http://schemas.microsoft.com/office/drawing/2014/main" id="{D923F6B3-9774-425B-B6C9-9B0FC02CFB2A}"/>
              </a:ext>
            </a:extLst>
          </p:cNvPr>
          <p:cNvSpPr>
            <a:spLocks xmlns:a="http://schemas.openxmlformats.org/drawingml/2006/main" noGrp="1"/>
          </p:cNvSpPr>
          <p:nvPr/>
        </p:nvSpPr>
        <p:spPr>
          <a:xfrm xmlns:a="http://schemas.openxmlformats.org/drawingml/2006/main">
            <a:off x="8886825" y="21240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C911CB6D-1612-461A-AF91-87ABA0A9BFEB}"/>
              </a:ext>
            </a:extLst>
          </p:cNvPr>
          <p:cNvSpPr>
            <a:spLocks xmlns:a="http://schemas.openxmlformats.org/drawingml/2006/main" noGrp="1"/>
          </p:cNvSpPr>
          <p:nvPr/>
        </p:nvSpPr>
        <p:spPr>
          <a:xfrm xmlns:a="http://schemas.openxmlformats.org/drawingml/2006/main">
            <a:off x="9315450" y="1695450"/>
            <a:ext cx="2419350" cy="1066800"/>
          </a:xfrm>
          <a:prstGeom xmlns:a="http://schemas.openxmlformats.org/drawingml/2006/main" prst="flowChartAlternateProcess">
            <a:avLst/>
          </a:prstGeom>
          <a:solidFill xmlns:a="http://schemas.openxmlformats.org/drawingml/2006/main">
            <a:srgbClr val="FFFFFF"/>
          </a:solidFill>
          <a:ln xmlns:a="http://schemas.openxmlformats.org/drawingml/2006/main" w="19050">
            <a:solidFill>
              <a:srgbClr val="0A9396"/>
            </a:solidFill>
            <a:prstDash val="solid"/>
          </a:ln>
        </p:spPr>
      </p:sp>
      <p:sp>
        <p:nvSpPr>
          <p:cNvPr id="25" name="">
            <a:extLst xmlns:a="http://schemas.openxmlformats.org/drawingml/2006/main">
              <a:ext uri="{FF2B5EF4-FFF2-40B4-BE49-F238E27FC236}">
                <a16:creationId xmlns:a16="http://schemas.microsoft.com/office/drawing/2014/main" id="{9A5CE73B-D601-4BF1-89C8-4895F9525F65}"/>
              </a:ext>
            </a:extLst>
          </p:cNvPr>
          <p:cNvSpPr>
            <a:spLocks xmlns:a="http://schemas.openxmlformats.org/drawingml/2006/main" noGrp="1"/>
          </p:cNvSpPr>
          <p:nvPr/>
        </p:nvSpPr>
        <p:spPr>
          <a:xfrm xmlns:a="http://schemas.openxmlformats.org/drawingml/2006/main">
            <a:off x="931545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7943FC9-4099-48D5-B900-EADDAEF4D1F8}"/>
              </a:ext>
            </a:extLst>
          </p:cNvPr>
          <p:cNvSpPr>
            <a:spLocks xmlns:a="http://schemas.openxmlformats.org/drawingml/2006/main" noGrp="1"/>
          </p:cNvSpPr>
          <p:nvPr/>
        </p:nvSpPr>
        <p:spPr>
          <a:xfrm xmlns:a="http://schemas.openxmlformats.org/drawingml/2006/main">
            <a:off x="94488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A published artifact</a:t>
            </a:r>
          </a:p>
        </p:txBody>
      </p:sp>
      <p:sp>
        <p:nvSpPr>
          <p:cNvPr id="27" name="">
            <a:extLst xmlns:a="http://schemas.openxmlformats.org/drawingml/2006/main">
              <a:ext uri="{FF2B5EF4-FFF2-40B4-BE49-F238E27FC236}">
                <a16:creationId xmlns:a16="http://schemas.microsoft.com/office/drawing/2014/main" id="{7FC179C9-5EC1-4A83-A572-F043691C6FD6}"/>
              </a:ext>
            </a:extLst>
          </p:cNvPr>
          <p:cNvSpPr>
            <a:spLocks xmlns:a="http://schemas.openxmlformats.org/drawingml/2006/main" noGrp="1"/>
          </p:cNvSpPr>
          <p:nvPr/>
        </p:nvSpPr>
        <p:spPr>
          <a:xfrm xmlns:a="http://schemas.openxmlformats.org/drawingml/2006/main">
            <a:off x="94488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claude.ai/code/artifact/6d74e446…</a:t>
            </a:r>
          </a:p>
        </p:txBody>
      </p:sp>
      <p:sp>
        <p:nvSpPr>
          <p:cNvPr id="28" name="">
            <a:extLst xmlns:a="http://schemas.openxmlformats.org/drawingml/2006/main">
              <a:ext uri="{FF2B5EF4-FFF2-40B4-BE49-F238E27FC236}">
                <a16:creationId xmlns:a16="http://schemas.microsoft.com/office/drawing/2014/main" id="{64B06871-19AD-4FD9-959C-4B3B8CD764DC}"/>
              </a:ext>
            </a:extLst>
          </p:cNvPr>
          <p:cNvSpPr>
            <a:spLocks xmlns:a="http://schemas.openxmlformats.org/drawingml/2006/main" noGrp="1"/>
          </p:cNvSpPr>
          <p:nvPr/>
        </p:nvSpPr>
        <p:spPr>
          <a:xfrm xmlns:a="http://schemas.openxmlformats.org/drawingml/2006/main">
            <a:off x="457200" y="3028950"/>
            <a:ext cx="554355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193BECB0-30D9-48C3-AA1E-C8DC7C0095F7}"/>
              </a:ext>
            </a:extLst>
          </p:cNvPr>
          <p:cNvSpPr>
            <a:spLocks xmlns:a="http://schemas.openxmlformats.org/drawingml/2006/main" noGrp="1"/>
          </p:cNvSpPr>
          <p:nvPr/>
        </p:nvSpPr>
        <p:spPr>
          <a:xfrm xmlns:a="http://schemas.openxmlformats.org/drawingml/2006/main">
            <a:off x="457200" y="3028950"/>
            <a:ext cx="57150" cy="17335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4DAB6A5-B795-4E86-BCC8-1DC4EF26DD9D}"/>
              </a:ext>
            </a:extLst>
          </p:cNvPr>
          <p:cNvSpPr>
            <a:spLocks xmlns:a="http://schemas.openxmlformats.org/drawingml/2006/main" noGrp="1"/>
          </p:cNvSpPr>
          <p:nvPr/>
        </p:nvSpPr>
        <p:spPr>
          <a:xfrm xmlns:a="http://schemas.openxmlformats.org/drawingml/2006/main">
            <a:off x="685800" y="3219450"/>
            <a:ext cx="512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the skill description says on screen</a:t>
            </a:r>
          </a:p>
        </p:txBody>
      </p:sp>
      <p:sp>
        <p:nvSpPr>
          <p:cNvPr id="31" name="">
            <a:extLst xmlns:a="http://schemas.openxmlformats.org/drawingml/2006/main">
              <a:ext uri="{FF2B5EF4-FFF2-40B4-BE49-F238E27FC236}">
                <a16:creationId xmlns:a16="http://schemas.microsoft.com/office/drawing/2014/main" id="{37D3E8C2-CCF0-4B4F-94DF-1DF9ECFF0674}"/>
              </a:ext>
            </a:extLst>
          </p:cNvPr>
          <p:cNvSpPr>
            <a:spLocks xmlns:a="http://schemas.openxmlformats.org/drawingml/2006/main" noGrp="1"/>
          </p:cNvSpPr>
          <p:nvPr/>
        </p:nvSpPr>
        <p:spPr>
          <a:xfrm xmlns:a="http://schemas.openxmlformats.org/drawingml/2006/main">
            <a:off x="685800" y="3581400"/>
            <a:ext cx="508635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"Published as an Artifact… You DRAFT the design as .dc.html artboards laid out on one pan/zoom canvas; where saving is enabled… Save publishes a new version for everyone, otherwise they get a view-and-export preview."</a:t>
            </a:r>
          </a:p>
        </p:txBody>
      </p:sp>
      <p:sp>
        <p:nvSpPr>
          <p:cNvPr id="32" name="">
            <a:extLst xmlns:a="http://schemas.openxmlformats.org/drawingml/2006/main">
              <a:ext uri="{FF2B5EF4-FFF2-40B4-BE49-F238E27FC236}">
                <a16:creationId xmlns:a16="http://schemas.microsoft.com/office/drawing/2014/main" id="{E7603361-44D3-4681-812A-D7EB0F5FC953}"/>
              </a:ext>
            </a:extLst>
          </p:cNvPr>
          <p:cNvSpPr>
            <a:spLocks xmlns:a="http://schemas.openxmlformats.org/drawingml/2006/main" noGrp="1"/>
          </p:cNvSpPr>
          <p:nvPr/>
        </p:nvSpPr>
        <p:spPr>
          <a:xfrm xmlns:a="http://schemas.openxmlformats.org/drawingml/2006/main">
            <a:off x="6191250" y="3028950"/>
            <a:ext cx="5543550" cy="1495425"/>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8A92C36A-5F2E-4307-8D4C-359E573F6A5E}"/>
              </a:ext>
            </a:extLst>
          </p:cNvPr>
          <p:cNvSpPr>
            <a:spLocks xmlns:a="http://schemas.openxmlformats.org/drawingml/2006/main" noGrp="1"/>
          </p:cNvSpPr>
          <p:nvPr/>
        </p:nvSpPr>
        <p:spPr>
          <a:xfrm xmlns:a="http://schemas.openxmlformats.org/drawingml/2006/main">
            <a:off x="6191250" y="3028950"/>
            <a:ext cx="57150" cy="149542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943EDCF-50E2-4318-8A09-ECEAC0B77133}"/>
              </a:ext>
            </a:extLst>
          </p:cNvPr>
          <p:cNvSpPr>
            <a:spLocks xmlns:a="http://schemas.openxmlformats.org/drawingml/2006/main" noGrp="1"/>
          </p:cNvSpPr>
          <p:nvPr/>
        </p:nvSpPr>
        <p:spPr>
          <a:xfrm xmlns:a="http://schemas.openxmlformats.org/drawingml/2006/main">
            <a:off x="6419850" y="3219450"/>
            <a:ext cx="512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gets read aloud</a:t>
            </a:r>
          </a:p>
        </p:txBody>
      </p:sp>
      <p:sp>
        <p:nvSpPr>
          <p:cNvPr id="35" name="">
            <a:extLst xmlns:a="http://schemas.openxmlformats.org/drawingml/2006/main">
              <a:ext uri="{FF2B5EF4-FFF2-40B4-BE49-F238E27FC236}">
                <a16:creationId xmlns:a16="http://schemas.microsoft.com/office/drawing/2014/main" id="{F576EEB7-7180-4C1C-B593-A355F403419F}"/>
              </a:ext>
            </a:extLst>
          </p:cNvPr>
          <p:cNvSpPr>
            <a:spLocks xmlns:a="http://schemas.openxmlformats.org/drawingml/2006/main" noGrp="1"/>
          </p:cNvSpPr>
          <p:nvPr/>
        </p:nvSpPr>
        <p:spPr>
          <a:xfrm xmlns:a="http://schemas.openxmlformats.org/drawingml/2006/main">
            <a:off x="6419850" y="3581400"/>
            <a:ext cx="50863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first six words. The command menu is on screen for eleven seconds with the whole contract visible in it, and the walkthrough moves straight past.</a:t>
            </a:r>
          </a:p>
        </p:txBody>
      </p:sp>
      <p:sp>
        <p:nvSpPr>
          <p:cNvPr id="36" name="">
            <a:extLst xmlns:a="http://schemas.openxmlformats.org/drawingml/2006/main">
              <a:ext uri="{FF2B5EF4-FFF2-40B4-BE49-F238E27FC236}">
                <a16:creationId xmlns:a16="http://schemas.microsoft.com/office/drawing/2014/main" id="{9BCDA560-FB0D-4694-9A10-4A01CC0B38BE}"/>
              </a:ext>
            </a:extLst>
          </p:cNvPr>
          <p:cNvSpPr>
            <a:spLocks xmlns:a="http://schemas.openxmlformats.org/drawingml/2006/main" noGrp="1"/>
          </p:cNvSpPr>
          <p:nvPr/>
        </p:nvSpPr>
        <p:spPr>
          <a:xfrm xmlns:a="http://schemas.openxmlformats.org/drawingml/2006/main">
            <a:off x="457200" y="4648200"/>
            <a:ext cx="11277600" cy="1247775"/>
          </a:xfrm>
          <a:prstGeom xmlns:a="http://schemas.openxmlformats.org/drawingml/2006/main" prst="roundRect">
            <a:avLst>
              <a:gd name="adj" fmla="val 6107"/>
            </a:avLst>
          </a:prstGeom>
          <a:solidFill xmlns:a="http://schemas.openxmlformats.org/drawingml/2006/main">
            <a:srgbClr val="F8FAFC"/>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166E6345-EF80-45C6-A158-5E170748E93E}"/>
              </a:ext>
            </a:extLst>
          </p:cNvPr>
          <p:cNvSpPr>
            <a:spLocks xmlns:a="http://schemas.openxmlformats.org/drawingml/2006/main" noGrp="1"/>
          </p:cNvSpPr>
          <p:nvPr/>
        </p:nvSpPr>
        <p:spPr>
          <a:xfrm xmlns:a="http://schemas.openxmlformats.org/drawingml/2006/main">
            <a:off x="457200" y="464820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F716B04-E997-43B0-BEE7-579A91D4936C}"/>
              </a:ext>
            </a:extLst>
          </p:cNvPr>
          <p:cNvSpPr>
            <a:spLocks xmlns:a="http://schemas.openxmlformats.org/drawingml/2006/main" noGrp="1"/>
          </p:cNvSpPr>
          <p:nvPr/>
        </p:nvSpPr>
        <p:spPr>
          <a:xfrm xmlns:a="http://schemas.openxmlformats.org/drawingml/2006/main">
            <a:off x="685800" y="483870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Also on that menu, never mentioned</a:t>
            </a:r>
          </a:p>
        </p:txBody>
      </p:sp>
      <p:sp>
        <p:nvSpPr>
          <p:cNvPr id="39" name="">
            <a:extLst xmlns:a="http://schemas.openxmlformats.org/drawingml/2006/main">
              <a:ext uri="{FF2B5EF4-FFF2-40B4-BE49-F238E27FC236}">
                <a16:creationId xmlns:a16="http://schemas.microsoft.com/office/drawing/2014/main" id="{7505375D-6E54-4350-93A5-95710BAEF4C6}"/>
              </a:ext>
            </a:extLst>
          </p:cNvPr>
          <p:cNvSpPr>
            <a:spLocks xmlns:a="http://schemas.openxmlformats.org/drawingml/2006/main" noGrp="1"/>
          </p:cNvSpPr>
          <p:nvPr/>
        </p:nvSpPr>
        <p:spPr>
          <a:xfrm xmlns:a="http://schemas.openxmlformats.org/drawingml/2006/main">
            <a:off x="685800" y="5200650"/>
            <a:ext cx="108204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design-sync · design-revoke · design-consent · artifact-design · frontend-design. Five sibling commands, one of which grants an agent ongoing access to your design projects.</a:t>
            </a:r>
          </a:p>
        </p:txBody>
      </p:sp>
    </p:spTree>
    <p:extLst>
      <p:ext uri="{BB962C8B-B14F-4D97-AF65-F5344CB8AC3E}">
        <p14:creationId xmlns:p14="http://schemas.microsoft.com/office/powerpoint/2010/main" val="7583488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86FA4BA-0787-4C8C-BD00-54CDD29BE7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C0459C-B6F9-417D-9E71-E6E205DB2C4E}"/>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THE PANEL</a:t>
            </a:r>
          </a:p>
        </p:txBody>
      </p:sp>
      <p:sp>
        <p:nvSpPr>
          <p:cNvPr id="3" name="">
            <a:extLst xmlns:a="http://schemas.openxmlformats.org/drawingml/2006/main">
              <a:ext uri="{FF2B5EF4-FFF2-40B4-BE49-F238E27FC236}">
                <a16:creationId xmlns:a16="http://schemas.microsoft.com/office/drawing/2014/main" id="{C7B8E8D7-5218-46F2-A676-E17FBBA217B3}"/>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E293B"/>
                </a:solidFill>
                <a:latin typeface="Georgia"/>
                <a:ea typeface="Georgia"/>
                <a:cs typeface="Georgia"/>
              </a:defRPr>
            </a:pPr>
            <a:r>
              <a:t>Not "similar to Figma" — a DOM inspector with a debug readout</a:t>
            </a:r>
          </a:p>
        </p:txBody>
      </p:sp>
      <p:sp>
        <p:nvSpPr>
          <p:cNvPr id="4" name="">
            <a:extLst xmlns:a="http://schemas.openxmlformats.org/drawingml/2006/main">
              <a:ext uri="{FF2B5EF4-FFF2-40B4-BE49-F238E27FC236}">
                <a16:creationId xmlns:a16="http://schemas.microsoft.com/office/drawing/2014/main" id="{09999ED1-B5E0-468F-A3A9-62CE102E4BC1}"/>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What the properties panel actually exposes, read off the frame.</a:t>
            </a:r>
          </a:p>
        </p:txBody>
      </p:sp>
      <p:sp>
        <p:nvSpPr>
          <p:cNvPr id="5" name="">
            <a:extLst xmlns:a="http://schemas.openxmlformats.org/drawingml/2006/main">
              <a:ext uri="{FF2B5EF4-FFF2-40B4-BE49-F238E27FC236}">
                <a16:creationId xmlns:a16="http://schemas.microsoft.com/office/drawing/2014/main" id="{63C04989-8815-42A3-8819-714F586E7C2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7FD1764-1E54-4AAE-8823-B1DB45FFC6D7}"/>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2DE5384-748A-4368-B38E-A785EA1787F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CLAUDE CODE /DESIGN  ·  VIDEO BRIEF  ·  2026-08-22</a:t>
            </a:r>
          </a:p>
        </p:txBody>
      </p:sp>
      <p:sp>
        <p:nvSpPr>
          <p:cNvPr id="8" name="">
            <a:extLst xmlns:a="http://schemas.openxmlformats.org/drawingml/2006/main">
              <a:ext uri="{FF2B5EF4-FFF2-40B4-BE49-F238E27FC236}">
                <a16:creationId xmlns:a16="http://schemas.microsoft.com/office/drawing/2014/main" id="{992485C1-1FD9-4D82-8E92-7DF9B7B8C9F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05</a:t>
            </a:r>
          </a:p>
        </p:txBody>
      </p:sp>
      <p:sp>
        <p:nvSpPr>
          <p:cNvPr id="9" name="">
            <a:extLst xmlns:a="http://schemas.openxmlformats.org/drawingml/2006/main">
              <a:ext uri="{FF2B5EF4-FFF2-40B4-BE49-F238E27FC236}">
                <a16:creationId xmlns:a16="http://schemas.microsoft.com/office/drawing/2014/main" id="{CC32338E-573F-4794-BF74-729ABD4C56F9}"/>
              </a:ext>
            </a:extLst>
          </p:cNvPr>
          <p:cNvSpPr>
            <a:spLocks xmlns:a="http://schemas.openxmlformats.org/drawingml/2006/main" noGrp="1"/>
          </p:cNvSpPr>
          <p:nvPr/>
        </p:nvSpPr>
        <p:spPr>
          <a:xfrm xmlns:a="http://schemas.openxmlformats.org/drawingml/2006/main">
            <a:off x="457200" y="1600200"/>
            <a:ext cx="1127760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0B6436-6527-4875-AB99-D07489F1D070}"/>
              </a:ext>
            </a:extLst>
          </p:cNvPr>
          <p:cNvSpPr>
            <a:spLocks xmlns:a="http://schemas.openxmlformats.org/drawingml/2006/main" noGrp="1"/>
          </p:cNvSpPr>
          <p:nvPr/>
        </p:nvSpPr>
        <p:spPr>
          <a:xfrm xmlns:a="http://schemas.openxmlformats.org/drawingml/2006/main">
            <a:off x="590550" y="1714500"/>
            <a:ext cx="2095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SECTION</a:t>
            </a:r>
          </a:p>
        </p:txBody>
      </p:sp>
      <p:sp>
        <p:nvSpPr>
          <p:cNvPr id="11" name="">
            <a:extLst xmlns:a="http://schemas.openxmlformats.org/drawingml/2006/main">
              <a:ext uri="{FF2B5EF4-FFF2-40B4-BE49-F238E27FC236}">
                <a16:creationId xmlns:a16="http://schemas.microsoft.com/office/drawing/2014/main" id="{4EB27EFC-D93F-4B97-84E4-2C8D92F39509}"/>
              </a:ext>
            </a:extLst>
          </p:cNvPr>
          <p:cNvSpPr>
            <a:spLocks xmlns:a="http://schemas.openxmlformats.org/drawingml/2006/main" noGrp="1"/>
          </p:cNvSpPr>
          <p:nvPr/>
        </p:nvSpPr>
        <p:spPr>
          <a:xfrm xmlns:a="http://schemas.openxmlformats.org/drawingml/2006/main">
            <a:off x="2876550" y="1714500"/>
            <a:ext cx="5715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CONTROLS VISIBLE ON SCREEN</a:t>
            </a:r>
          </a:p>
        </p:txBody>
      </p:sp>
      <p:sp>
        <p:nvSpPr>
          <p:cNvPr id="12" name="">
            <a:extLst xmlns:a="http://schemas.openxmlformats.org/drawingml/2006/main">
              <a:ext uri="{FF2B5EF4-FFF2-40B4-BE49-F238E27FC236}">
                <a16:creationId xmlns:a16="http://schemas.microsoft.com/office/drawing/2014/main" id="{7F4E8FE3-CE3F-46DD-A7FC-82D6B86715F1}"/>
              </a:ext>
            </a:extLst>
          </p:cNvPr>
          <p:cNvSpPr>
            <a:spLocks xmlns:a="http://schemas.openxmlformats.org/drawingml/2006/main" noGrp="1"/>
          </p:cNvSpPr>
          <p:nvPr/>
        </p:nvSpPr>
        <p:spPr>
          <a:xfrm xmlns:a="http://schemas.openxmlformats.org/drawingml/2006/main">
            <a:off x="8782050" y="1714500"/>
            <a:ext cx="2895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THAT TELLS YOU</a:t>
            </a:r>
          </a:p>
        </p:txBody>
      </p:sp>
      <p:sp>
        <p:nvSpPr>
          <p:cNvPr id="13" name="">
            <a:extLst xmlns:a="http://schemas.openxmlformats.org/drawingml/2006/main">
              <a:ext uri="{FF2B5EF4-FFF2-40B4-BE49-F238E27FC236}">
                <a16:creationId xmlns:a16="http://schemas.microsoft.com/office/drawing/2014/main" id="{ACB2637A-5606-43BE-B3E4-99012949CA6A}"/>
              </a:ext>
            </a:extLst>
          </p:cNvPr>
          <p:cNvSpPr>
            <a:spLocks xmlns:a="http://schemas.openxmlformats.org/drawingml/2006/main" noGrp="1"/>
          </p:cNvSpPr>
          <p:nvPr/>
        </p:nvSpPr>
        <p:spPr>
          <a:xfrm xmlns:a="http://schemas.openxmlformats.org/drawingml/2006/main">
            <a:off x="457200" y="19812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2252587C-6A27-491D-BF84-4572A11C31B4}"/>
              </a:ext>
            </a:extLst>
          </p:cNvPr>
          <p:cNvSpPr>
            <a:spLocks xmlns:a="http://schemas.openxmlformats.org/drawingml/2006/main" noGrp="1"/>
          </p:cNvSpPr>
          <p:nvPr/>
        </p:nvSpPr>
        <p:spPr>
          <a:xfrm xmlns:a="http://schemas.openxmlformats.org/drawingml/2006/main">
            <a:off x="590550" y="2085975"/>
            <a:ext cx="2076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Edit · Code · Tweaks</a:t>
            </a:r>
          </a:p>
        </p:txBody>
      </p:sp>
      <p:sp>
        <p:nvSpPr>
          <p:cNvPr id="15" name="">
            <a:extLst xmlns:a="http://schemas.openxmlformats.org/drawingml/2006/main">
              <a:ext uri="{FF2B5EF4-FFF2-40B4-BE49-F238E27FC236}">
                <a16:creationId xmlns:a16="http://schemas.microsoft.com/office/drawing/2014/main" id="{556D8108-2CAD-4548-B7D4-E38D2B62BA60}"/>
              </a:ext>
            </a:extLst>
          </p:cNvPr>
          <p:cNvSpPr>
            <a:spLocks xmlns:a="http://schemas.openxmlformats.org/drawingml/2006/main" noGrp="1"/>
          </p:cNvSpPr>
          <p:nvPr/>
        </p:nvSpPr>
        <p:spPr>
          <a:xfrm xmlns:a="http://schemas.openxmlformats.org/drawingml/2006/main">
            <a:off x="2876550" y="2085975"/>
            <a:ext cx="56959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Three tabs; the walkthrough only ever opens Edit</a:t>
            </a:r>
          </a:p>
        </p:txBody>
      </p:sp>
      <p:sp>
        <p:nvSpPr>
          <p:cNvPr id="16" name="">
            <a:extLst xmlns:a="http://schemas.openxmlformats.org/drawingml/2006/main">
              <a:ext uri="{FF2B5EF4-FFF2-40B4-BE49-F238E27FC236}">
                <a16:creationId xmlns:a16="http://schemas.microsoft.com/office/drawing/2014/main" id="{743FC4F2-6B57-487A-BCED-74F1EE2147A1}"/>
              </a:ext>
            </a:extLst>
          </p:cNvPr>
          <p:cNvSpPr>
            <a:spLocks xmlns:a="http://schemas.openxmlformats.org/drawingml/2006/main" noGrp="1"/>
          </p:cNvSpPr>
          <p:nvPr/>
        </p:nvSpPr>
        <p:spPr>
          <a:xfrm xmlns:a="http://schemas.openxmlformats.org/drawingml/2006/main">
            <a:off x="8782050" y="2085975"/>
            <a:ext cx="28765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Two modes go undemonstrated</a:t>
            </a:r>
          </a:p>
        </p:txBody>
      </p:sp>
      <p:sp>
        <p:nvSpPr>
          <p:cNvPr id="17" name="">
            <a:extLst xmlns:a="http://schemas.openxmlformats.org/drawingml/2006/main">
              <a:ext uri="{FF2B5EF4-FFF2-40B4-BE49-F238E27FC236}">
                <a16:creationId xmlns:a16="http://schemas.microsoft.com/office/drawing/2014/main" id="{A0B92A75-95A5-4F54-BCCE-AF933E12DD7F}"/>
              </a:ext>
            </a:extLst>
          </p:cNvPr>
          <p:cNvSpPr>
            <a:spLocks xmlns:a="http://schemas.openxmlformats.org/drawingml/2006/main" noGrp="1"/>
          </p:cNvSpPr>
          <p:nvPr/>
        </p:nvSpPr>
        <p:spPr>
          <a:xfrm xmlns:a="http://schemas.openxmlformats.org/drawingml/2006/main">
            <a:off x="457200" y="24003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09E82857-998E-4056-9A13-85847E4C6142}"/>
              </a:ext>
            </a:extLst>
          </p:cNvPr>
          <p:cNvSpPr>
            <a:spLocks xmlns:a="http://schemas.openxmlformats.org/drawingml/2006/main" noGrp="1"/>
          </p:cNvSpPr>
          <p:nvPr/>
        </p:nvSpPr>
        <p:spPr>
          <a:xfrm xmlns:a="http://schemas.openxmlformats.org/drawingml/2006/main">
            <a:off x="590550" y="2505075"/>
            <a:ext cx="2076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Sizing</a:t>
            </a:r>
          </a:p>
        </p:txBody>
      </p:sp>
      <p:sp>
        <p:nvSpPr>
          <p:cNvPr id="19" name="">
            <a:extLst xmlns:a="http://schemas.openxmlformats.org/drawingml/2006/main">
              <a:ext uri="{FF2B5EF4-FFF2-40B4-BE49-F238E27FC236}">
                <a16:creationId xmlns:a16="http://schemas.microsoft.com/office/drawing/2014/main" id="{6C3516FA-6764-43F5-8825-E86253A97EC6}"/>
              </a:ext>
            </a:extLst>
          </p:cNvPr>
          <p:cNvSpPr>
            <a:spLocks xmlns:a="http://schemas.openxmlformats.org/drawingml/2006/main" noGrp="1"/>
          </p:cNvSpPr>
          <p:nvPr/>
        </p:nvSpPr>
        <p:spPr>
          <a:xfrm xmlns:a="http://schemas.openxmlformats.org/drawingml/2006/main">
            <a:off x="2876550" y="2505075"/>
            <a:ext cx="56959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Width / Height with Hug · Fixed · Fill, plus min and max</a:t>
            </a:r>
          </a:p>
        </p:txBody>
      </p:sp>
      <p:sp>
        <p:nvSpPr>
          <p:cNvPr id="20" name="">
            <a:extLst xmlns:a="http://schemas.openxmlformats.org/drawingml/2006/main">
              <a:ext uri="{FF2B5EF4-FFF2-40B4-BE49-F238E27FC236}">
                <a16:creationId xmlns:a16="http://schemas.microsoft.com/office/drawing/2014/main" id="{C98D207E-27B6-499A-8935-547BFE4510C6}"/>
              </a:ext>
            </a:extLst>
          </p:cNvPr>
          <p:cNvSpPr>
            <a:spLocks xmlns:a="http://schemas.openxmlformats.org/drawingml/2006/main" noGrp="1"/>
          </p:cNvSpPr>
          <p:nvPr/>
        </p:nvSpPr>
        <p:spPr>
          <a:xfrm xmlns:a="http://schemas.openxmlformats.org/drawingml/2006/main">
            <a:off x="8782050" y="2505075"/>
            <a:ext cx="28765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CSS box model, not canvas geometry</a:t>
            </a:r>
          </a:p>
        </p:txBody>
      </p:sp>
      <p:sp>
        <p:nvSpPr>
          <p:cNvPr id="21" name="">
            <a:extLst xmlns:a="http://schemas.openxmlformats.org/drawingml/2006/main">
              <a:ext uri="{FF2B5EF4-FFF2-40B4-BE49-F238E27FC236}">
                <a16:creationId xmlns:a16="http://schemas.microsoft.com/office/drawing/2014/main" id="{5B25B8D2-5312-4FA6-A694-528A41723CAF}"/>
              </a:ext>
            </a:extLst>
          </p:cNvPr>
          <p:cNvSpPr>
            <a:spLocks xmlns:a="http://schemas.openxmlformats.org/drawingml/2006/main" noGrp="1"/>
          </p:cNvSpPr>
          <p:nvPr/>
        </p:nvSpPr>
        <p:spPr>
          <a:xfrm xmlns:a="http://schemas.openxmlformats.org/drawingml/2006/main">
            <a:off x="457200" y="28194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9B03E7CC-B641-4031-B885-3BFF96681CED}"/>
              </a:ext>
            </a:extLst>
          </p:cNvPr>
          <p:cNvSpPr>
            <a:spLocks xmlns:a="http://schemas.openxmlformats.org/drawingml/2006/main" noGrp="1"/>
          </p:cNvSpPr>
          <p:nvPr/>
        </p:nvSpPr>
        <p:spPr>
          <a:xfrm xmlns:a="http://schemas.openxmlformats.org/drawingml/2006/main">
            <a:off x="590550" y="2924175"/>
            <a:ext cx="2076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Position</a:t>
            </a:r>
          </a:p>
        </p:txBody>
      </p:sp>
      <p:sp>
        <p:nvSpPr>
          <p:cNvPr id="23" name="">
            <a:extLst xmlns:a="http://schemas.openxmlformats.org/drawingml/2006/main">
              <a:ext uri="{FF2B5EF4-FFF2-40B4-BE49-F238E27FC236}">
                <a16:creationId xmlns:a16="http://schemas.microsoft.com/office/drawing/2014/main" id="{8AB44390-4463-42A1-8DEE-8B45C9279691}"/>
              </a:ext>
            </a:extLst>
          </p:cNvPr>
          <p:cNvSpPr>
            <a:spLocks xmlns:a="http://schemas.openxmlformats.org/drawingml/2006/main" noGrp="1"/>
          </p:cNvSpPr>
          <p:nvPr/>
        </p:nvSpPr>
        <p:spPr>
          <a:xfrm xmlns:a="http://schemas.openxmlformats.org/drawingml/2006/main">
            <a:off x="2876550" y="2924175"/>
            <a:ext cx="56959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Inline · Absolute, plus offset</a:t>
            </a:r>
          </a:p>
        </p:txBody>
      </p:sp>
      <p:sp>
        <p:nvSpPr>
          <p:cNvPr id="24" name="">
            <a:extLst xmlns:a="http://schemas.openxmlformats.org/drawingml/2006/main">
              <a:ext uri="{FF2B5EF4-FFF2-40B4-BE49-F238E27FC236}">
                <a16:creationId xmlns:a16="http://schemas.microsoft.com/office/drawing/2014/main" id="{DD039764-3B0A-424B-AEF7-D5A106A7BC3F}"/>
              </a:ext>
            </a:extLst>
          </p:cNvPr>
          <p:cNvSpPr>
            <a:spLocks xmlns:a="http://schemas.openxmlformats.org/drawingml/2006/main" noGrp="1"/>
          </p:cNvSpPr>
          <p:nvPr/>
        </p:nvSpPr>
        <p:spPr>
          <a:xfrm xmlns:a="http://schemas.openxmlformats.org/drawingml/2006/main">
            <a:off x="8782050" y="2924175"/>
            <a:ext cx="28765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Flow layout, not coordinates</a:t>
            </a:r>
          </a:p>
        </p:txBody>
      </p:sp>
      <p:sp>
        <p:nvSpPr>
          <p:cNvPr id="25" name="">
            <a:extLst xmlns:a="http://schemas.openxmlformats.org/drawingml/2006/main">
              <a:ext uri="{FF2B5EF4-FFF2-40B4-BE49-F238E27FC236}">
                <a16:creationId xmlns:a16="http://schemas.microsoft.com/office/drawing/2014/main" id="{08491FDB-0C47-4F98-AE28-F3594AACA448}"/>
              </a:ext>
            </a:extLst>
          </p:cNvPr>
          <p:cNvSpPr>
            <a:spLocks xmlns:a="http://schemas.openxmlformats.org/drawingml/2006/main" noGrp="1"/>
          </p:cNvSpPr>
          <p:nvPr/>
        </p:nvSpPr>
        <p:spPr>
          <a:xfrm xmlns:a="http://schemas.openxmlformats.org/drawingml/2006/main">
            <a:off x="457200" y="32385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48077364-E9F7-4AF3-A961-93506A0F7F87}"/>
              </a:ext>
            </a:extLst>
          </p:cNvPr>
          <p:cNvSpPr>
            <a:spLocks xmlns:a="http://schemas.openxmlformats.org/drawingml/2006/main" noGrp="1"/>
          </p:cNvSpPr>
          <p:nvPr/>
        </p:nvSpPr>
        <p:spPr>
          <a:xfrm xmlns:a="http://schemas.openxmlformats.org/drawingml/2006/main">
            <a:off x="590550" y="3343275"/>
            <a:ext cx="2076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Padding · Margin</a:t>
            </a:r>
          </a:p>
        </p:txBody>
      </p:sp>
      <p:sp>
        <p:nvSpPr>
          <p:cNvPr id="27" name="">
            <a:extLst xmlns:a="http://schemas.openxmlformats.org/drawingml/2006/main">
              <a:ext uri="{FF2B5EF4-FFF2-40B4-BE49-F238E27FC236}">
                <a16:creationId xmlns:a16="http://schemas.microsoft.com/office/drawing/2014/main" id="{C6C0086B-5176-4978-8F3A-2D3CEC29F636}"/>
              </a:ext>
            </a:extLst>
          </p:cNvPr>
          <p:cNvSpPr>
            <a:spLocks xmlns:a="http://schemas.openxmlformats.org/drawingml/2006/main" noGrp="1"/>
          </p:cNvSpPr>
          <p:nvPr/>
        </p:nvSpPr>
        <p:spPr>
          <a:xfrm xmlns:a="http://schemas.openxmlformats.org/drawingml/2006/main">
            <a:off x="2876550" y="3343275"/>
            <a:ext cx="56959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None · All · X &amp; Y · Individual</a:t>
            </a:r>
          </a:p>
        </p:txBody>
      </p:sp>
      <p:sp>
        <p:nvSpPr>
          <p:cNvPr id="28" name="">
            <a:extLst xmlns:a="http://schemas.openxmlformats.org/drawingml/2006/main">
              <a:ext uri="{FF2B5EF4-FFF2-40B4-BE49-F238E27FC236}">
                <a16:creationId xmlns:a16="http://schemas.microsoft.com/office/drawing/2014/main" id="{7DA228FC-DEB7-42C8-BF75-EE9ACEDA4CFF}"/>
              </a:ext>
            </a:extLst>
          </p:cNvPr>
          <p:cNvSpPr>
            <a:spLocks xmlns:a="http://schemas.openxmlformats.org/drawingml/2006/main" noGrp="1"/>
          </p:cNvSpPr>
          <p:nvPr/>
        </p:nvSpPr>
        <p:spPr>
          <a:xfrm xmlns:a="http://schemas.openxmlformats.org/drawingml/2006/main">
            <a:off x="8782050" y="3343275"/>
            <a:ext cx="28765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Real spacing model</a:t>
            </a:r>
          </a:p>
        </p:txBody>
      </p:sp>
      <p:sp>
        <p:nvSpPr>
          <p:cNvPr id="29" name="">
            <a:extLst xmlns:a="http://schemas.openxmlformats.org/drawingml/2006/main">
              <a:ext uri="{FF2B5EF4-FFF2-40B4-BE49-F238E27FC236}">
                <a16:creationId xmlns:a16="http://schemas.microsoft.com/office/drawing/2014/main" id="{AC2F5DAC-DC6F-4BC0-B87E-13B031AEB583}"/>
              </a:ext>
            </a:extLst>
          </p:cNvPr>
          <p:cNvSpPr>
            <a:spLocks xmlns:a="http://schemas.openxmlformats.org/drawingml/2006/main" noGrp="1"/>
          </p:cNvSpPr>
          <p:nvPr/>
        </p:nvSpPr>
        <p:spPr>
          <a:xfrm xmlns:a="http://schemas.openxmlformats.org/drawingml/2006/main">
            <a:off x="457200" y="3657600"/>
            <a:ext cx="11277600" cy="4191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AC3EC3DE-DDB6-465F-AD6F-787A66AD4D1E}"/>
              </a:ext>
            </a:extLst>
          </p:cNvPr>
          <p:cNvSpPr>
            <a:spLocks xmlns:a="http://schemas.openxmlformats.org/drawingml/2006/main" noGrp="1"/>
          </p:cNvSpPr>
          <p:nvPr/>
        </p:nvSpPr>
        <p:spPr>
          <a:xfrm xmlns:a="http://schemas.openxmlformats.org/drawingml/2006/main">
            <a:off x="457200" y="3657600"/>
            <a:ext cx="47625" cy="419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4ACB5E3-4DB8-4F5B-A63F-2DEC9154B148}"/>
              </a:ext>
            </a:extLst>
          </p:cNvPr>
          <p:cNvSpPr>
            <a:spLocks xmlns:a="http://schemas.openxmlformats.org/drawingml/2006/main" noGrp="1"/>
          </p:cNvSpPr>
          <p:nvPr/>
        </p:nvSpPr>
        <p:spPr>
          <a:xfrm xmlns:a="http://schemas.openxmlformats.org/drawingml/2006/main">
            <a:off x="590550" y="3762375"/>
            <a:ext cx="2076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Debug</a:t>
            </a:r>
          </a:p>
        </p:txBody>
      </p:sp>
      <p:sp>
        <p:nvSpPr>
          <p:cNvPr id="32" name="">
            <a:extLst xmlns:a="http://schemas.openxmlformats.org/drawingml/2006/main">
              <a:ext uri="{FF2B5EF4-FFF2-40B4-BE49-F238E27FC236}">
                <a16:creationId xmlns:a16="http://schemas.microsoft.com/office/drawing/2014/main" id="{39ECFECA-E174-4631-9A65-77CB9760F6CB}"/>
              </a:ext>
            </a:extLst>
          </p:cNvPr>
          <p:cNvSpPr>
            <a:spLocks xmlns:a="http://schemas.openxmlformats.org/drawingml/2006/main" noGrp="1"/>
          </p:cNvSpPr>
          <p:nvPr/>
        </p:nvSpPr>
        <p:spPr>
          <a:xfrm xmlns:a="http://schemas.openxmlformats.org/drawingml/2006/main">
            <a:off x="2876550" y="3762375"/>
            <a:ext cx="56959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{"tid":25,"tag":"span","parent":"h1","attrs":{"class":"mark"}}</a:t>
            </a:r>
          </a:p>
        </p:txBody>
      </p:sp>
      <p:sp>
        <p:nvSpPr>
          <p:cNvPr id="33" name="">
            <a:extLst xmlns:a="http://schemas.openxmlformats.org/drawingml/2006/main">
              <a:ext uri="{FF2B5EF4-FFF2-40B4-BE49-F238E27FC236}">
                <a16:creationId xmlns:a16="http://schemas.microsoft.com/office/drawing/2014/main" id="{932A3CEE-34B5-42AB-B49F-970321171E0D}"/>
              </a:ext>
            </a:extLst>
          </p:cNvPr>
          <p:cNvSpPr>
            <a:spLocks xmlns:a="http://schemas.openxmlformats.org/drawingml/2006/main" noGrp="1"/>
          </p:cNvSpPr>
          <p:nvPr/>
        </p:nvSpPr>
        <p:spPr>
          <a:xfrm xmlns:a="http://schemas.openxmlformats.org/drawingml/2006/main">
            <a:off x="8782050" y="3762375"/>
            <a:ext cx="28765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The artboard is DOM</a:t>
            </a:r>
          </a:p>
        </p:txBody>
      </p:sp>
      <p:sp>
        <p:nvSpPr>
          <p:cNvPr id="34" name="">
            <a:extLst xmlns:a="http://schemas.openxmlformats.org/drawingml/2006/main">
              <a:ext uri="{FF2B5EF4-FFF2-40B4-BE49-F238E27FC236}">
                <a16:creationId xmlns:a16="http://schemas.microsoft.com/office/drawing/2014/main" id="{BECCEB21-1CA8-4434-AB22-320FDF404A65}"/>
              </a:ext>
            </a:extLst>
          </p:cNvPr>
          <p:cNvSpPr>
            <a:spLocks xmlns:a="http://schemas.openxmlformats.org/drawingml/2006/main" noGrp="1"/>
          </p:cNvSpPr>
          <p:nvPr/>
        </p:nvSpPr>
        <p:spPr>
          <a:xfrm xmlns:a="http://schemas.openxmlformats.org/drawingml/2006/main">
            <a:off x="457200" y="4343400"/>
            <a:ext cx="11277600" cy="1247775"/>
          </a:xfrm>
          <a:prstGeom xmlns:a="http://schemas.openxmlformats.org/drawingml/2006/main" prst="roundRect">
            <a:avLst>
              <a:gd name="adj" fmla="val 6107"/>
            </a:avLst>
          </a:prstGeom>
          <a:solidFill xmlns:a="http://schemas.openxmlformats.org/drawingml/2006/main">
            <a:srgbClr val="F8FAFC"/>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D8621569-8171-4B01-B88D-04C887A62316}"/>
              </a:ext>
            </a:extLst>
          </p:cNvPr>
          <p:cNvSpPr>
            <a:spLocks xmlns:a="http://schemas.openxmlformats.org/drawingml/2006/main" noGrp="1"/>
          </p:cNvSpPr>
          <p:nvPr/>
        </p:nvSpPr>
        <p:spPr>
          <a:xfrm xmlns:a="http://schemas.openxmlformats.org/drawingml/2006/main">
            <a:off x="457200" y="434340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ADA8DCB-55B6-4B44-BFCA-BD0F905CE2E7}"/>
              </a:ext>
            </a:extLst>
          </p:cNvPr>
          <p:cNvSpPr>
            <a:spLocks xmlns:a="http://schemas.openxmlformats.org/drawingml/2006/main" noGrp="1"/>
          </p:cNvSpPr>
          <p:nvPr/>
        </p:nvSpPr>
        <p:spPr>
          <a:xfrm xmlns:a="http://schemas.openxmlformats.org/drawingml/2006/main">
            <a:off x="685800" y="453390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And the Save button is in that same frame</a:t>
            </a:r>
          </a:p>
        </p:txBody>
      </p:sp>
      <p:sp>
        <p:nvSpPr>
          <p:cNvPr id="37" name="">
            <a:extLst xmlns:a="http://schemas.openxmlformats.org/drawingml/2006/main">
              <a:ext uri="{FF2B5EF4-FFF2-40B4-BE49-F238E27FC236}">
                <a16:creationId xmlns:a16="http://schemas.microsoft.com/office/drawing/2014/main" id="{ABA793D6-F1E8-4250-A52E-EAB659A2E029}"/>
              </a:ext>
            </a:extLst>
          </p:cNvPr>
          <p:cNvSpPr>
            <a:spLocks xmlns:a="http://schemas.openxmlformats.org/drawingml/2006/main" noGrp="1"/>
          </p:cNvSpPr>
          <p:nvPr/>
        </p:nvSpPr>
        <p:spPr>
          <a:xfrm xmlns:a="http://schemas.openxmlformats.org/drawingml/2006/main">
            <a:off x="685800" y="4895850"/>
            <a:ext cx="108204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Top right, beside the panel toggle, visible from 07:50 — four minutes before the demo breaks and he goes looking for it. Nothing was hidden; it simply was not part of the mental model yet.</a:t>
            </a:r>
          </a:p>
        </p:txBody>
      </p:sp>
    </p:spTree>
    <p:extLst>
      <p:ext uri="{BB962C8B-B14F-4D97-AF65-F5344CB8AC3E}">
        <p14:creationId xmlns:p14="http://schemas.microsoft.com/office/powerpoint/2010/main" val="11034155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504E25-0D6D-4FFB-9DAC-298119022F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C6C8F3C-E86D-4753-8446-19C843922B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B0E147-4CD6-468D-9208-CA7467580B9C}"/>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ED4A33-874C-4257-94A8-215399D2435D}"/>
              </a:ext>
            </a:extLst>
          </p:cNvPr>
          <p:cNvSpPr>
            <a:spLocks xmlns:a="http://schemas.openxmlformats.org/drawingml/2006/main" noGrp="1"/>
          </p:cNvSpPr>
          <p:nvPr/>
        </p:nvSpPr>
        <p:spPr>
          <a:xfrm xmlns:a="http://schemas.openxmlformats.org/drawingml/2006/main">
            <a:off x="876300" y="2152650"/>
            <a:ext cx="8572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B45309"/>
                </a:solidFill>
                <a:latin typeface="Arial"/>
                <a:ea typeface="Arial"/>
                <a:cs typeface="Arial"/>
              </a:defRPr>
            </a:pPr>
            <a:r>
              <a:t>THEN THE DEMO BROKE</a:t>
            </a:r>
          </a:p>
        </p:txBody>
      </p:sp>
      <p:sp>
        <p:nvSpPr>
          <p:cNvPr id="5" name="">
            <a:extLst xmlns:a="http://schemas.openxmlformats.org/drawingml/2006/main">
              <a:ext uri="{FF2B5EF4-FFF2-40B4-BE49-F238E27FC236}">
                <a16:creationId xmlns:a16="http://schemas.microsoft.com/office/drawing/2014/main" id="{CEB11A2C-60CD-48F3-80FE-8B5134BB8B3E}"/>
              </a:ext>
            </a:extLst>
          </p:cNvPr>
          <p:cNvSpPr>
            <a:spLocks xmlns:a="http://schemas.openxmlformats.org/drawingml/2006/main" noGrp="1"/>
          </p:cNvSpPr>
          <p:nvPr/>
        </p:nvSpPr>
        <p:spPr>
          <a:xfrm xmlns:a="http://schemas.openxmlformats.org/drawingml/2006/main">
            <a:off x="876300" y="2552700"/>
            <a:ext cx="100965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75" b="1">
                <a:solidFill>
                  <a:srgbClr val="FFFFFF"/>
                </a:solidFill>
                <a:latin typeface="Georgia"/>
                <a:ea typeface="Georgia"/>
                <a:cs typeface="Georgia"/>
              </a:defRPr>
            </a:pPr>
            <a:r>
              <a:t>He hosted the site.</a:t>
            </a:r>
          </a:p>
          <a:p xmlns:a="http://schemas.openxmlformats.org/drawingml/2006/main">
            <a:pPr algn="l">
              <a:defRPr sz="3675" b="1">
                <a:solidFill>
                  <a:srgbClr val="FFFFFF"/>
                </a:solidFill>
                <a:latin typeface="Georgia"/>
                <a:ea typeface="Georgia"/>
                <a:cs typeface="Georgia"/>
              </a:defRPr>
            </a:pPr>
            <a:r>
              <a:t>His edits weren’t on it.</a:t>
            </a:r>
          </a:p>
        </p:txBody>
      </p:sp>
      <p:sp>
        <p:nvSpPr>
          <p:cNvPr id="6" name="">
            <a:extLst xmlns:a="http://schemas.openxmlformats.org/drawingml/2006/main">
              <a:ext uri="{FF2B5EF4-FFF2-40B4-BE49-F238E27FC236}">
                <a16:creationId xmlns:a16="http://schemas.microsoft.com/office/drawing/2014/main" id="{85ABE952-63ED-4F6F-AFC8-067955A78250}"/>
              </a:ext>
            </a:extLst>
          </p:cNvPr>
          <p:cNvSpPr>
            <a:spLocks xmlns:a="http://schemas.openxmlformats.org/drawingml/2006/main" noGrp="1"/>
          </p:cNvSpPr>
          <p:nvPr/>
        </p:nvSpPr>
        <p:spPr>
          <a:xfrm xmlns:a="http://schemas.openxmlformats.org/drawingml/2006/main">
            <a:off x="876300" y="4572000"/>
            <a:ext cx="9525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narration explains it in nine words: "the one thing I forgot to do is save."</a:t>
            </a:r>
          </a:p>
        </p:txBody>
      </p:sp>
      <p:sp>
        <p:nvSpPr>
          <p:cNvPr id="7" name="">
            <a:extLst xmlns:a="http://schemas.openxmlformats.org/drawingml/2006/main">
              <a:ext uri="{FF2B5EF4-FFF2-40B4-BE49-F238E27FC236}">
                <a16:creationId xmlns:a16="http://schemas.microsoft.com/office/drawing/2014/main" id="{AB07025A-9D4C-4CDC-AC56-F2843975EF81}"/>
              </a:ext>
            </a:extLst>
          </p:cNvPr>
          <p:cNvSpPr>
            <a:spLocks xmlns:a="http://schemas.openxmlformats.org/drawingml/2006/main" noGrp="1"/>
          </p:cNvSpPr>
          <p:nvPr/>
        </p:nvSpPr>
        <p:spPr>
          <a:xfrm xmlns:a="http://schemas.openxmlformats.org/drawingml/2006/main">
            <a:off x="876300" y="4953000"/>
            <a:ext cx="9525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i="1">
                <a:solidFill>
                  <a:srgbClr val="B45309"/>
                </a:solidFill>
                <a:latin typeface="Arial"/>
                <a:ea typeface="Arial"/>
                <a:cs typeface="Arial"/>
              </a:defRPr>
            </a:pPr>
            <a:r>
              <a:t>The screen spends the next minute doing something far more useful.</a:t>
            </a:r>
          </a:p>
        </p:txBody>
      </p:sp>
      <p:sp>
        <p:nvSpPr>
          <p:cNvPr id="8" name="">
            <a:extLst xmlns:a="http://schemas.openxmlformats.org/drawingml/2006/main">
              <a:ext uri="{FF2B5EF4-FFF2-40B4-BE49-F238E27FC236}">
                <a16:creationId xmlns:a16="http://schemas.microsoft.com/office/drawing/2014/main" id="{1808AD0F-6349-4537-A074-26414B75FB9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CB99027-DFAE-4850-B44C-D8C2EEE4CCDD}"/>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CLAUDE CODE /DESIGN  ·  VIDEO BRIEF  ·  2026-08-22</a:t>
            </a:r>
          </a:p>
        </p:txBody>
      </p:sp>
      <p:sp>
        <p:nvSpPr>
          <p:cNvPr id="10" name="">
            <a:extLst xmlns:a="http://schemas.openxmlformats.org/drawingml/2006/main">
              <a:ext uri="{FF2B5EF4-FFF2-40B4-BE49-F238E27FC236}">
                <a16:creationId xmlns:a16="http://schemas.microsoft.com/office/drawing/2014/main" id="{B3668DCE-FEEC-4C02-A631-70EF8D8F03E7}"/>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06</a:t>
            </a:r>
          </a:p>
        </p:txBody>
      </p:sp>
    </p:spTree>
    <p:extLst>
      <p:ext uri="{BB962C8B-B14F-4D97-AF65-F5344CB8AC3E}">
        <p14:creationId xmlns:p14="http://schemas.microsoft.com/office/powerpoint/2010/main" val="204611562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17CD031-F609-434B-9324-C2B57DE9BF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917D63-ACB5-47CF-B70B-6F5152CB8E59}"/>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THE RECOVERY</a:t>
            </a:r>
          </a:p>
        </p:txBody>
      </p:sp>
      <p:sp>
        <p:nvSpPr>
          <p:cNvPr id="3" name="">
            <a:extLst xmlns:a="http://schemas.openxmlformats.org/drawingml/2006/main">
              <a:ext uri="{FF2B5EF4-FFF2-40B4-BE49-F238E27FC236}">
                <a16:creationId xmlns:a16="http://schemas.microsoft.com/office/drawing/2014/main" id="{4131B419-F4F9-480E-9F57-2896A0537C78}"/>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E293B"/>
                </a:solidFill>
                <a:latin typeface="Georgia"/>
                <a:ea typeface="Georgia"/>
                <a:cs typeface="Georgia"/>
              </a:defRPr>
            </a:pPr>
            <a:r>
              <a:t>It diffed eight artboards across two versions to find three edits</a:t>
            </a:r>
          </a:p>
        </p:txBody>
      </p:sp>
      <p:sp>
        <p:nvSpPr>
          <p:cNvPr id="4" name="">
            <a:extLst xmlns:a="http://schemas.openxmlformats.org/drawingml/2006/main">
              <a:ext uri="{FF2B5EF4-FFF2-40B4-BE49-F238E27FC236}">
                <a16:creationId xmlns:a16="http://schemas.microsoft.com/office/drawing/2014/main" id="{E068BBAD-AEE6-4297-8EE5-C4D8642BF80A}"/>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Version 1787189090 to 1787190748 — and only 03a had changed.</a:t>
            </a:r>
          </a:p>
        </p:txBody>
      </p:sp>
      <p:sp>
        <p:nvSpPr>
          <p:cNvPr id="5" name="">
            <a:extLst xmlns:a="http://schemas.openxmlformats.org/drawingml/2006/main">
              <a:ext uri="{FF2B5EF4-FFF2-40B4-BE49-F238E27FC236}">
                <a16:creationId xmlns:a16="http://schemas.microsoft.com/office/drawing/2014/main" id="{5BB2EC4E-EE1E-499E-AB5F-1217EB31F37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66BF964-7A66-439E-AA77-B9ADA951D8C3}"/>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0A884E-4A85-4C3E-9C50-A22762ABFE5B}"/>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CLAUDE CODE /DESIGN  ·  VIDEO BRIEF  ·  2026-08-22</a:t>
            </a:r>
          </a:p>
        </p:txBody>
      </p:sp>
      <p:sp>
        <p:nvSpPr>
          <p:cNvPr id="8" name="">
            <a:extLst xmlns:a="http://schemas.openxmlformats.org/drawingml/2006/main">
              <a:ext uri="{FF2B5EF4-FFF2-40B4-BE49-F238E27FC236}">
                <a16:creationId xmlns:a16="http://schemas.microsoft.com/office/drawing/2014/main" id="{AA1D0E48-39CD-47D0-8A7E-D912AE56F211}"/>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07</a:t>
            </a:r>
          </a:p>
        </p:txBody>
      </p:sp>
      <p:sp>
        <p:nvSpPr>
          <p:cNvPr id="9" name="">
            <a:extLst xmlns:a="http://schemas.openxmlformats.org/drawingml/2006/main">
              <a:ext uri="{FF2B5EF4-FFF2-40B4-BE49-F238E27FC236}">
                <a16:creationId xmlns:a16="http://schemas.microsoft.com/office/drawing/2014/main" id="{35D7A93F-DB58-4488-8E3B-7B2AC6A1F4B1}"/>
              </a:ext>
            </a:extLst>
          </p:cNvPr>
          <p:cNvSpPr>
            <a:spLocks xmlns:a="http://schemas.openxmlformats.org/drawingml/2006/main" noGrp="1"/>
          </p:cNvSpPr>
          <p:nvPr/>
        </p:nvSpPr>
        <p:spPr>
          <a:xfrm xmlns:a="http://schemas.openxmlformats.org/drawingml/2006/main">
            <a:off x="457200" y="1600200"/>
            <a:ext cx="1127760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3874F0-C59A-49A7-A189-D1FBDB4865BF}"/>
              </a:ext>
            </a:extLst>
          </p:cNvPr>
          <p:cNvSpPr>
            <a:spLocks xmlns:a="http://schemas.openxmlformats.org/drawingml/2006/main" noGrp="1"/>
          </p:cNvSpPr>
          <p:nvPr/>
        </p:nvSpPr>
        <p:spPr>
          <a:xfrm xmlns:a="http://schemas.openxmlformats.org/drawingml/2006/main">
            <a:off x="590550" y="1714500"/>
            <a:ext cx="7429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YOUR EDIT, RECOVERED FROM THE DIFF</a:t>
            </a:r>
          </a:p>
        </p:txBody>
      </p:sp>
      <p:sp>
        <p:nvSpPr>
          <p:cNvPr id="11" name="">
            <a:extLst xmlns:a="http://schemas.openxmlformats.org/drawingml/2006/main">
              <a:ext uri="{FF2B5EF4-FFF2-40B4-BE49-F238E27FC236}">
                <a16:creationId xmlns:a16="http://schemas.microsoft.com/office/drawing/2014/main" id="{B1930E27-6D39-47EB-BE34-A99DE26F445E}"/>
              </a:ext>
            </a:extLst>
          </p:cNvPr>
          <p:cNvSpPr>
            <a:spLocks xmlns:a="http://schemas.openxmlformats.org/drawingml/2006/main" noGrp="1"/>
          </p:cNvSpPr>
          <p:nvPr/>
        </p:nvSpPr>
        <p:spPr>
          <a:xfrm xmlns:a="http://schemas.openxmlformats.org/drawingml/2006/main">
            <a:off x="8210550" y="1714500"/>
            <a:ext cx="34671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FFFFFF"/>
                </a:solidFill>
                <a:latin typeface="Arial"/>
                <a:ea typeface="Arial"/>
                <a:cs typeface="Arial"/>
              </a:defRPr>
            </a:pPr>
            <a:r>
              <a:t>APPLIED</a:t>
            </a:r>
          </a:p>
        </p:txBody>
      </p:sp>
      <p:sp>
        <p:nvSpPr>
          <p:cNvPr id="12" name="">
            <a:extLst xmlns:a="http://schemas.openxmlformats.org/drawingml/2006/main">
              <a:ext uri="{FF2B5EF4-FFF2-40B4-BE49-F238E27FC236}">
                <a16:creationId xmlns:a16="http://schemas.microsoft.com/office/drawing/2014/main" id="{B3AC0315-1B03-45FB-A59B-6C8B27027069}"/>
              </a:ext>
            </a:extLst>
          </p:cNvPr>
          <p:cNvSpPr>
            <a:spLocks xmlns:a="http://schemas.openxmlformats.org/drawingml/2006/main" noGrp="1"/>
          </p:cNvSpPr>
          <p:nvPr/>
        </p:nvSpPr>
        <p:spPr>
          <a:xfrm xmlns:a="http://schemas.openxmlformats.org/drawingml/2006/main">
            <a:off x="457200" y="1981200"/>
            <a:ext cx="112776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BE0C2776-CA4B-499F-9147-2E9956739DD3}"/>
              </a:ext>
            </a:extLst>
          </p:cNvPr>
          <p:cNvSpPr>
            <a:spLocks xmlns:a="http://schemas.openxmlformats.org/drawingml/2006/main" noGrp="1"/>
          </p:cNvSpPr>
          <p:nvPr/>
        </p:nvSpPr>
        <p:spPr>
          <a:xfrm xmlns:a="http://schemas.openxmlformats.org/drawingml/2006/main">
            <a:off x="590550" y="2085975"/>
            <a:ext cx="7410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"Jowett" → JOWETT</a:t>
            </a:r>
          </a:p>
        </p:txBody>
      </p:sp>
      <p:sp>
        <p:nvSpPr>
          <p:cNvPr id="14" name="">
            <a:extLst xmlns:a="http://schemas.openxmlformats.org/drawingml/2006/main">
              <a:ext uri="{FF2B5EF4-FFF2-40B4-BE49-F238E27FC236}">
                <a16:creationId xmlns:a16="http://schemas.microsoft.com/office/drawing/2014/main" id="{C5EDE01A-A169-4DDE-849F-902842D75124}"/>
              </a:ext>
            </a:extLst>
          </p:cNvPr>
          <p:cNvSpPr>
            <a:spLocks xmlns:a="http://schemas.openxmlformats.org/drawingml/2006/main" noGrp="1"/>
          </p:cNvSpPr>
          <p:nvPr/>
        </p:nvSpPr>
        <p:spPr>
          <a:xfrm xmlns:a="http://schemas.openxmlformats.org/drawingml/2006/main">
            <a:off x="8210550" y="2085975"/>
            <a:ext cx="34480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6B7280"/>
                </a:solidFill>
                <a:latin typeface="Arial"/>
                <a:ea typeface="Arial"/>
                <a:cs typeface="Arial"/>
              </a:defRPr>
            </a:pPr>
            <a:r>
              <a:t>✓</a:t>
            </a:r>
          </a:p>
        </p:txBody>
      </p:sp>
      <p:sp>
        <p:nvSpPr>
          <p:cNvPr id="15" name="">
            <a:extLst xmlns:a="http://schemas.openxmlformats.org/drawingml/2006/main">
              <a:ext uri="{FF2B5EF4-FFF2-40B4-BE49-F238E27FC236}">
                <a16:creationId xmlns:a16="http://schemas.microsoft.com/office/drawing/2014/main" id="{EBF48A92-019E-456F-B7FB-8E22335F0080}"/>
              </a:ext>
            </a:extLst>
          </p:cNvPr>
          <p:cNvSpPr>
            <a:spLocks xmlns:a="http://schemas.openxmlformats.org/drawingml/2006/main" noGrp="1"/>
          </p:cNvSpPr>
          <p:nvPr/>
        </p:nvSpPr>
        <p:spPr>
          <a:xfrm xmlns:a="http://schemas.openxmlformats.org/drawingml/2006/main">
            <a:off x="457200" y="2419350"/>
            <a:ext cx="11277600" cy="4381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CDF10440-D029-49CD-A2BB-CB578B0DD93D}"/>
              </a:ext>
            </a:extLst>
          </p:cNvPr>
          <p:cNvSpPr>
            <a:spLocks xmlns:a="http://schemas.openxmlformats.org/drawingml/2006/main" noGrp="1"/>
          </p:cNvSpPr>
          <p:nvPr/>
        </p:nvSpPr>
        <p:spPr>
          <a:xfrm xmlns:a="http://schemas.openxmlformats.org/drawingml/2006/main">
            <a:off x="590550" y="2524125"/>
            <a:ext cx="7410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Name block: magenta #FF00E3, 789×148, 50px radius</a:t>
            </a:r>
          </a:p>
        </p:txBody>
      </p:sp>
      <p:sp>
        <p:nvSpPr>
          <p:cNvPr id="17" name="">
            <a:extLst xmlns:a="http://schemas.openxmlformats.org/drawingml/2006/main">
              <a:ext uri="{FF2B5EF4-FFF2-40B4-BE49-F238E27FC236}">
                <a16:creationId xmlns:a16="http://schemas.microsoft.com/office/drawing/2014/main" id="{302D3B07-8F67-48F4-A471-534BE47F3099}"/>
              </a:ext>
            </a:extLst>
          </p:cNvPr>
          <p:cNvSpPr>
            <a:spLocks xmlns:a="http://schemas.openxmlformats.org/drawingml/2006/main" noGrp="1"/>
          </p:cNvSpPr>
          <p:nvPr/>
        </p:nvSpPr>
        <p:spPr>
          <a:xfrm xmlns:a="http://schemas.openxmlformats.org/drawingml/2006/main">
            <a:off x="8210550" y="2524125"/>
            <a:ext cx="34480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6B7280"/>
                </a:solidFill>
                <a:latin typeface="Arial"/>
                <a:ea typeface="Arial"/>
                <a:cs typeface="Arial"/>
              </a:defRPr>
            </a:pPr>
            <a:r>
              <a:t>✓</a:t>
            </a:r>
          </a:p>
        </p:txBody>
      </p:sp>
      <p:sp>
        <p:nvSpPr>
          <p:cNvPr id="18" name="">
            <a:extLst xmlns:a="http://schemas.openxmlformats.org/drawingml/2006/main">
              <a:ext uri="{FF2B5EF4-FFF2-40B4-BE49-F238E27FC236}">
                <a16:creationId xmlns:a16="http://schemas.microsoft.com/office/drawing/2014/main" id="{F2C99119-A4D8-4139-869D-E39B3BD3B800}"/>
              </a:ext>
            </a:extLst>
          </p:cNvPr>
          <p:cNvSpPr>
            <a:spLocks xmlns:a="http://schemas.openxmlformats.org/drawingml/2006/main" noGrp="1"/>
          </p:cNvSpPr>
          <p:nvPr/>
        </p:nvSpPr>
        <p:spPr>
          <a:xfrm xmlns:a="http://schemas.openxmlformats.org/drawingml/2006/main">
            <a:off x="457200" y="2857500"/>
            <a:ext cx="112776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46B84C11-763C-4126-ABB9-AAD0BA44941E}"/>
              </a:ext>
            </a:extLst>
          </p:cNvPr>
          <p:cNvSpPr>
            <a:spLocks xmlns:a="http://schemas.openxmlformats.org/drawingml/2006/main" noGrp="1"/>
          </p:cNvSpPr>
          <p:nvPr/>
        </p:nvSpPr>
        <p:spPr>
          <a:xfrm xmlns:a="http://schemas.openxmlformats.org/drawingml/2006/main">
            <a:off x="590550" y="2962275"/>
            <a:ext cx="7410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"Building in public" badge: yellow #FFCF2F, 50px radius</a:t>
            </a:r>
          </a:p>
        </p:txBody>
      </p:sp>
      <p:sp>
        <p:nvSpPr>
          <p:cNvPr id="20" name="">
            <a:extLst xmlns:a="http://schemas.openxmlformats.org/drawingml/2006/main">
              <a:ext uri="{FF2B5EF4-FFF2-40B4-BE49-F238E27FC236}">
                <a16:creationId xmlns:a16="http://schemas.microsoft.com/office/drawing/2014/main" id="{A214D581-D725-45DF-8346-9E217BAF1857}"/>
              </a:ext>
            </a:extLst>
          </p:cNvPr>
          <p:cNvSpPr>
            <a:spLocks xmlns:a="http://schemas.openxmlformats.org/drawingml/2006/main" noGrp="1"/>
          </p:cNvSpPr>
          <p:nvPr/>
        </p:nvSpPr>
        <p:spPr>
          <a:xfrm xmlns:a="http://schemas.openxmlformats.org/drawingml/2006/main">
            <a:off x="8210550" y="2962275"/>
            <a:ext cx="34480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6B7280"/>
                </a:solidFill>
                <a:latin typeface="Arial"/>
                <a:ea typeface="Arial"/>
                <a:cs typeface="Arial"/>
              </a:defRPr>
            </a:pPr>
            <a:r>
              <a:t>✓</a:t>
            </a:r>
          </a:p>
        </p:txBody>
      </p:sp>
      <p:sp>
        <p:nvSpPr>
          <p:cNvPr id="21" name="">
            <a:extLst xmlns:a="http://schemas.openxmlformats.org/drawingml/2006/main">
              <a:ext uri="{FF2B5EF4-FFF2-40B4-BE49-F238E27FC236}">
                <a16:creationId xmlns:a16="http://schemas.microsoft.com/office/drawing/2014/main" id="{20F24973-246A-45E3-9933-6936C1FBE364}"/>
              </a:ext>
            </a:extLst>
          </p:cNvPr>
          <p:cNvSpPr>
            <a:spLocks xmlns:a="http://schemas.openxmlformats.org/drawingml/2006/main" noGrp="1"/>
          </p:cNvSpPr>
          <p:nvPr/>
        </p:nvSpPr>
        <p:spPr>
          <a:xfrm xmlns:a="http://schemas.openxmlformats.org/drawingml/2006/main">
            <a:off x="457200" y="3505200"/>
            <a:ext cx="554355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F97DE24E-081E-4829-8FBB-DEEF8BE890C0}"/>
              </a:ext>
            </a:extLst>
          </p:cNvPr>
          <p:cNvSpPr>
            <a:spLocks xmlns:a="http://schemas.openxmlformats.org/drawingml/2006/main" noGrp="1"/>
          </p:cNvSpPr>
          <p:nvPr/>
        </p:nvSpPr>
        <p:spPr>
          <a:xfrm xmlns:a="http://schemas.openxmlformats.org/drawingml/2006/main">
            <a:off x="457200" y="3505200"/>
            <a:ext cx="57150" cy="173355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9062BD8-7C2C-4898-A9FD-0822E2B8502A}"/>
              </a:ext>
            </a:extLst>
          </p:cNvPr>
          <p:cNvSpPr>
            <a:spLocks xmlns:a="http://schemas.openxmlformats.org/drawingml/2006/main" noGrp="1"/>
          </p:cNvSpPr>
          <p:nvPr/>
        </p:nvSpPr>
        <p:spPr>
          <a:xfrm xmlns:a="http://schemas.openxmlformats.org/drawingml/2006/main">
            <a:off x="685800" y="3695700"/>
            <a:ext cx="512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It also fixed what the edit would have broken</a:t>
            </a:r>
          </a:p>
        </p:txBody>
      </p:sp>
      <p:sp>
        <p:nvSpPr>
          <p:cNvPr id="24" name="">
            <a:extLst xmlns:a="http://schemas.openxmlformats.org/drawingml/2006/main">
              <a:ext uri="{FF2B5EF4-FFF2-40B4-BE49-F238E27FC236}">
                <a16:creationId xmlns:a16="http://schemas.microsoft.com/office/drawing/2014/main" id="{84A01578-8172-4F64-B46F-FE70D638B520}"/>
              </a:ext>
            </a:extLst>
          </p:cNvPr>
          <p:cNvSpPr>
            <a:spLocks xmlns:a="http://schemas.openxmlformats.org/drawingml/2006/main" noGrp="1"/>
          </p:cNvSpPr>
          <p:nvPr/>
        </p:nvSpPr>
        <p:spPr>
          <a:xfrm xmlns:a="http://schemas.openxmlformats.org/drawingml/2006/main">
            <a:off x="685800" y="4057650"/>
            <a:ext cx="508635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name block was fixed at 789×148px against 168px type — it would break on a responsive page. Re-expressed in em: computes to exactly 789×148 at 168px and scales with the headline. "Verified at desktop and at 375px, no overflow either way."</a:t>
            </a:r>
          </a:p>
        </p:txBody>
      </p:sp>
      <p:sp>
        <p:nvSpPr>
          <p:cNvPr id="25" name="">
            <a:extLst xmlns:a="http://schemas.openxmlformats.org/drawingml/2006/main">
              <a:ext uri="{FF2B5EF4-FFF2-40B4-BE49-F238E27FC236}">
                <a16:creationId xmlns:a16="http://schemas.microsoft.com/office/drawing/2014/main" id="{FB62E285-E95E-433D-885D-3AF93099B144}"/>
              </a:ext>
            </a:extLst>
          </p:cNvPr>
          <p:cNvSpPr>
            <a:spLocks xmlns:a="http://schemas.openxmlformats.org/drawingml/2006/main" noGrp="1"/>
          </p:cNvSpPr>
          <p:nvPr/>
        </p:nvSpPr>
        <p:spPr>
          <a:xfrm xmlns:a="http://schemas.openxmlformats.org/drawingml/2006/main">
            <a:off x="6191250" y="3505200"/>
            <a:ext cx="5543550" cy="1495425"/>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A363A402-F8DC-4E5A-A45D-9A05F610B101}"/>
              </a:ext>
            </a:extLst>
          </p:cNvPr>
          <p:cNvSpPr>
            <a:spLocks xmlns:a="http://schemas.openxmlformats.org/drawingml/2006/main" noGrp="1"/>
          </p:cNvSpPr>
          <p:nvPr/>
        </p:nvSpPr>
        <p:spPr>
          <a:xfrm xmlns:a="http://schemas.openxmlformats.org/drawingml/2006/main">
            <a:off x="6191250" y="3505200"/>
            <a:ext cx="57150" cy="1495425"/>
          </a:xfrm>
          <a:prstGeom xmlns:a="http://schemas.openxmlformats.org/drawingml/2006/main" prst="rect">
            <a:avLst/>
          </a:prstGeom>
          <a:solidFill xmlns:a="http://schemas.openxmlformats.org/drawingml/2006/main">
            <a:srgbClr val="6B728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B3538B4-A9DA-4C72-9064-DFE3E3AA90F2}"/>
              </a:ext>
            </a:extLst>
          </p:cNvPr>
          <p:cNvSpPr>
            <a:spLocks xmlns:a="http://schemas.openxmlformats.org/drawingml/2006/main" noGrp="1"/>
          </p:cNvSpPr>
          <p:nvPr/>
        </p:nvSpPr>
        <p:spPr>
          <a:xfrm xmlns:a="http://schemas.openxmlformats.org/drawingml/2006/main">
            <a:off x="6419850" y="3695700"/>
            <a:ext cx="512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And it corrected its own diagnosis</a:t>
            </a:r>
          </a:p>
        </p:txBody>
      </p:sp>
      <p:sp>
        <p:nvSpPr>
          <p:cNvPr id="28" name="">
            <a:extLst xmlns:a="http://schemas.openxmlformats.org/drawingml/2006/main">
              <a:ext uri="{FF2B5EF4-FFF2-40B4-BE49-F238E27FC236}">
                <a16:creationId xmlns:a16="http://schemas.microsoft.com/office/drawing/2014/main" id="{09BCF48D-4712-4D71-ADC7-CF65FD161682}"/>
              </a:ext>
            </a:extLst>
          </p:cNvPr>
          <p:cNvSpPr>
            <a:spLocks xmlns:a="http://schemas.openxmlformats.org/drawingml/2006/main" noGrp="1"/>
          </p:cNvSpPr>
          <p:nvPr/>
        </p:nvSpPr>
        <p:spPr>
          <a:xfrm xmlns:a="http://schemas.openxmlformats.org/drawingml/2006/main">
            <a:off x="6419850" y="4057650"/>
            <a:ext cx="50863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"I leaned on ‘you probably didn’t save’ when the more useful move was to just ask you to save and re-check, which is what got there."</a:t>
            </a:r>
          </a:p>
        </p:txBody>
      </p:sp>
    </p:spTree>
    <p:extLst>
      <p:ext uri="{BB962C8B-B14F-4D97-AF65-F5344CB8AC3E}">
        <p14:creationId xmlns:p14="http://schemas.microsoft.com/office/powerpoint/2010/main" val="43433581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031BCDA-D791-408B-915D-6C645E9DAC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E9B81F-268C-4DDD-9F86-19D6166F30ED}"/>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THE JUDGEMENT CALL</a:t>
            </a:r>
          </a:p>
        </p:txBody>
      </p:sp>
      <p:sp>
        <p:nvSpPr>
          <p:cNvPr id="3" name="">
            <a:extLst xmlns:a="http://schemas.openxmlformats.org/drawingml/2006/main">
              <a:ext uri="{FF2B5EF4-FFF2-40B4-BE49-F238E27FC236}">
                <a16:creationId xmlns:a16="http://schemas.microsoft.com/office/drawing/2014/main" id="{1542C396-16A1-4C9F-B9B0-9E940D82798D}"/>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It found an accessibility defect and refused to fix it</a:t>
            </a:r>
          </a:p>
        </p:txBody>
      </p:sp>
      <p:sp>
        <p:nvSpPr>
          <p:cNvPr id="4" name="">
            <a:extLst xmlns:a="http://schemas.openxmlformats.org/drawingml/2006/main">
              <a:ext uri="{FF2B5EF4-FFF2-40B4-BE49-F238E27FC236}">
                <a16:creationId xmlns:a16="http://schemas.microsoft.com/office/drawing/2014/main" id="{C8A3C937-CA9F-4EF1-A348-278A109DEB8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most instructive thirty seconds in the video, and none of it is narrated.</a:t>
            </a:r>
          </a:p>
        </p:txBody>
      </p:sp>
      <p:sp>
        <p:nvSpPr>
          <p:cNvPr id="5" name="">
            <a:extLst xmlns:a="http://schemas.openxmlformats.org/drawingml/2006/main">
              <a:ext uri="{FF2B5EF4-FFF2-40B4-BE49-F238E27FC236}">
                <a16:creationId xmlns:a16="http://schemas.microsoft.com/office/drawing/2014/main" id="{9F446767-4B7E-4F2C-A462-C15B36D65B30}"/>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42D01E-B2AF-42F8-A977-F93F6B1A7E2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1083FF2-551D-466E-970B-C88CCE483681}"/>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CLAUDE CODE /DESIGN  ·  VIDEO BRIEF  ·  2026-08-22</a:t>
            </a:r>
          </a:p>
        </p:txBody>
      </p:sp>
      <p:sp>
        <p:nvSpPr>
          <p:cNvPr id="8" name="">
            <a:extLst xmlns:a="http://schemas.openxmlformats.org/drawingml/2006/main">
              <a:ext uri="{FF2B5EF4-FFF2-40B4-BE49-F238E27FC236}">
                <a16:creationId xmlns:a16="http://schemas.microsoft.com/office/drawing/2014/main" id="{91C39212-5726-420F-A8CA-7D20CAC1A087}"/>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08</a:t>
            </a:r>
          </a:p>
        </p:txBody>
      </p:sp>
      <p:sp>
        <p:nvSpPr>
          <p:cNvPr id="9" name="">
            <a:extLst xmlns:a="http://schemas.openxmlformats.org/drawingml/2006/main">
              <a:ext uri="{FF2B5EF4-FFF2-40B4-BE49-F238E27FC236}">
                <a16:creationId xmlns:a16="http://schemas.microsoft.com/office/drawing/2014/main" id="{60DD2ACC-4405-40E4-9583-E7DFC3B62FAD}"/>
              </a:ext>
            </a:extLst>
          </p:cNvPr>
          <p:cNvSpPr>
            <a:spLocks xmlns:a="http://schemas.openxmlformats.org/drawingml/2006/main" noGrp="1"/>
          </p:cNvSpPr>
          <p:nvPr/>
        </p:nvSpPr>
        <p:spPr>
          <a:xfrm xmlns:a="http://schemas.openxmlformats.org/drawingml/2006/main">
            <a:off x="457200" y="1600200"/>
            <a:ext cx="11277600" cy="1428750"/>
          </a:xfrm>
          <a:prstGeom xmlns:a="http://schemas.openxmlformats.org/drawingml/2006/main" prst="roundRect">
            <a:avLst>
              <a:gd name="adj" fmla="val 5333"/>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C7A4DB03-7A86-4334-95DD-F772A326F8B1}"/>
              </a:ext>
            </a:extLst>
          </p:cNvPr>
          <p:cNvSpPr>
            <a:spLocks xmlns:a="http://schemas.openxmlformats.org/drawingml/2006/main" noGrp="1"/>
          </p:cNvSpPr>
          <p:nvPr/>
        </p:nvSpPr>
        <p:spPr>
          <a:xfrm xmlns:a="http://schemas.openxmlformats.org/drawingml/2006/main">
            <a:off x="457200" y="1600200"/>
            <a:ext cx="57150" cy="1428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647F10F-9885-4163-8F42-DA98423FC57C}"/>
              </a:ext>
            </a:extLst>
          </p:cNvPr>
          <p:cNvSpPr>
            <a:spLocks xmlns:a="http://schemas.openxmlformats.org/drawingml/2006/main" noGrp="1"/>
          </p:cNvSpPr>
          <p:nvPr/>
        </p:nvSpPr>
        <p:spPr>
          <a:xfrm xmlns:a="http://schemas.openxmlformats.org/drawingml/2006/main">
            <a:off x="742950" y="1905000"/>
            <a:ext cx="106680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i="1">
                <a:solidFill>
                  <a:srgbClr val="1E293B"/>
                </a:solidFill>
                <a:latin typeface="Arial"/>
                <a:ea typeface="Arial"/>
                <a:cs typeface="Arial"/>
              </a:defRPr>
            </a:pPr>
            <a:r>
              <a:t>"White on #FFCF2F is about 1.5:1 contrast — effectively unreadable, especially at 13px. Your edit only changed the background, so I left the text colour alone rather than assume."</a:t>
            </a:r>
          </a:p>
        </p:txBody>
      </p:sp>
      <p:sp>
        <p:nvSpPr>
          <p:cNvPr id="12" name="">
            <a:extLst xmlns:a="http://schemas.openxmlformats.org/drawingml/2006/main">
              <a:ext uri="{FF2B5EF4-FFF2-40B4-BE49-F238E27FC236}">
                <a16:creationId xmlns:a16="http://schemas.microsoft.com/office/drawing/2014/main" id="{9D03AF6C-62F0-4714-BCBD-A451F7E94815}"/>
              </a:ext>
            </a:extLst>
          </p:cNvPr>
          <p:cNvSpPr>
            <a:spLocks xmlns:a="http://schemas.openxmlformats.org/drawingml/2006/main" noGrp="1"/>
          </p:cNvSpPr>
          <p:nvPr/>
        </p:nvSpPr>
        <p:spPr>
          <a:xfrm xmlns:a="http://schemas.openxmlformats.org/drawingml/2006/main">
            <a:off x="457200" y="3409950"/>
            <a:ext cx="3632200" cy="285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979F833-C4EF-4967-B596-F23113745534}"/>
              </a:ext>
            </a:extLst>
          </p:cNvPr>
          <p:cNvSpPr>
            <a:spLocks xmlns:a="http://schemas.openxmlformats.org/drawingml/2006/main" noGrp="1"/>
          </p:cNvSpPr>
          <p:nvPr/>
        </p:nvSpPr>
        <p:spPr>
          <a:xfrm xmlns:a="http://schemas.openxmlformats.org/drawingml/2006/main">
            <a:off x="457200" y="3562350"/>
            <a:ext cx="36322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FOUND IT</a:t>
            </a:r>
          </a:p>
        </p:txBody>
      </p:sp>
      <p:sp>
        <p:nvSpPr>
          <p:cNvPr id="14" name="">
            <a:extLst xmlns:a="http://schemas.openxmlformats.org/drawingml/2006/main">
              <a:ext uri="{FF2B5EF4-FFF2-40B4-BE49-F238E27FC236}">
                <a16:creationId xmlns:a16="http://schemas.microsoft.com/office/drawing/2014/main" id="{6A2F3139-067F-4B6F-9707-B318F9A32E8F}"/>
              </a:ext>
            </a:extLst>
          </p:cNvPr>
          <p:cNvSpPr>
            <a:spLocks xmlns:a="http://schemas.openxmlformats.org/drawingml/2006/main" noGrp="1"/>
          </p:cNvSpPr>
          <p:nvPr/>
        </p:nvSpPr>
        <p:spPr>
          <a:xfrm xmlns:a="http://schemas.openxmlformats.org/drawingml/2006/main">
            <a:off x="457200" y="3829050"/>
            <a:ext cx="36322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Measured the contrast of an edit the human made by hand</a:t>
            </a:r>
          </a:p>
        </p:txBody>
      </p:sp>
      <p:sp>
        <p:nvSpPr>
          <p:cNvPr id="15" name="">
            <a:extLst xmlns:a="http://schemas.openxmlformats.org/drawingml/2006/main">
              <a:ext uri="{FF2B5EF4-FFF2-40B4-BE49-F238E27FC236}">
                <a16:creationId xmlns:a16="http://schemas.microsoft.com/office/drawing/2014/main" id="{49B1983B-ED14-4553-AE56-EA69A9FBAE0E}"/>
              </a:ext>
            </a:extLst>
          </p:cNvPr>
          <p:cNvSpPr>
            <a:spLocks xmlns:a="http://schemas.openxmlformats.org/drawingml/2006/main" noGrp="1"/>
          </p:cNvSpPr>
          <p:nvPr/>
        </p:nvSpPr>
        <p:spPr>
          <a:xfrm xmlns:a="http://schemas.openxmlformats.org/drawingml/2006/main">
            <a:off x="4279900" y="3409950"/>
            <a:ext cx="3632200" cy="285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4DB8993-BB21-408C-9D48-7848BDC7252F}"/>
              </a:ext>
            </a:extLst>
          </p:cNvPr>
          <p:cNvSpPr>
            <a:spLocks xmlns:a="http://schemas.openxmlformats.org/drawingml/2006/main" noGrp="1"/>
          </p:cNvSpPr>
          <p:nvPr/>
        </p:nvSpPr>
        <p:spPr>
          <a:xfrm xmlns:a="http://schemas.openxmlformats.org/drawingml/2006/main">
            <a:off x="4279900" y="3562350"/>
            <a:ext cx="36322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A9396"/>
                </a:solidFill>
                <a:latin typeface="Arial"/>
                <a:ea typeface="Arial"/>
                <a:cs typeface="Arial"/>
              </a:defRPr>
            </a:pPr>
            <a:r>
              <a:t>PRICED THE FIX</a:t>
            </a:r>
          </a:p>
        </p:txBody>
      </p:sp>
      <p:sp>
        <p:nvSpPr>
          <p:cNvPr id="17" name="">
            <a:extLst xmlns:a="http://schemas.openxmlformats.org/drawingml/2006/main">
              <a:ext uri="{FF2B5EF4-FFF2-40B4-BE49-F238E27FC236}">
                <a16:creationId xmlns:a16="http://schemas.microsoft.com/office/drawing/2014/main" id="{291DAF5C-D76F-4CE3-8168-79FCD67467E9}"/>
              </a:ext>
            </a:extLst>
          </p:cNvPr>
          <p:cNvSpPr>
            <a:spLocks xmlns:a="http://schemas.openxmlformats.org/drawingml/2006/main" noGrp="1"/>
          </p:cNvSpPr>
          <p:nvPr/>
        </p:nvSpPr>
        <p:spPr>
          <a:xfrm xmlns:a="http://schemas.openxmlformats.org/drawingml/2006/main">
            <a:off x="4279900" y="3829050"/>
            <a:ext cx="36322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Black gives roughly 13:1 and keeps the poster look</a:t>
            </a:r>
          </a:p>
        </p:txBody>
      </p:sp>
      <p:sp>
        <p:nvSpPr>
          <p:cNvPr id="18" name="">
            <a:extLst xmlns:a="http://schemas.openxmlformats.org/drawingml/2006/main">
              <a:ext uri="{FF2B5EF4-FFF2-40B4-BE49-F238E27FC236}">
                <a16:creationId xmlns:a16="http://schemas.microsoft.com/office/drawing/2014/main" id="{240C96E0-9164-405B-8177-1CB9761F0936}"/>
              </a:ext>
            </a:extLst>
          </p:cNvPr>
          <p:cNvSpPr>
            <a:spLocks xmlns:a="http://schemas.openxmlformats.org/drawingml/2006/main" noGrp="1"/>
          </p:cNvSpPr>
          <p:nvPr/>
        </p:nvSpPr>
        <p:spPr>
          <a:xfrm xmlns:a="http://schemas.openxmlformats.org/drawingml/2006/main">
            <a:off x="8102600" y="3409950"/>
            <a:ext cx="3632200" cy="28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038ECC2-496A-4BA5-9DCE-28EF2C92B0EE}"/>
              </a:ext>
            </a:extLst>
          </p:cNvPr>
          <p:cNvSpPr>
            <a:spLocks xmlns:a="http://schemas.openxmlformats.org/drawingml/2006/main" noGrp="1"/>
          </p:cNvSpPr>
          <p:nvPr/>
        </p:nvSpPr>
        <p:spPr>
          <a:xfrm xmlns:a="http://schemas.openxmlformats.org/drawingml/2006/main">
            <a:off x="8102600" y="3562350"/>
            <a:ext cx="36322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B45309"/>
                </a:solidFill>
                <a:latin typeface="Arial"/>
                <a:ea typeface="Arial"/>
                <a:cs typeface="Arial"/>
              </a:defRPr>
            </a:pPr>
            <a:r>
              <a:t>LEFT IT ALONE</a:t>
            </a:r>
          </a:p>
        </p:txBody>
      </p:sp>
      <p:sp>
        <p:nvSpPr>
          <p:cNvPr id="20" name="">
            <a:extLst xmlns:a="http://schemas.openxmlformats.org/drawingml/2006/main">
              <a:ext uri="{FF2B5EF4-FFF2-40B4-BE49-F238E27FC236}">
                <a16:creationId xmlns:a16="http://schemas.microsoft.com/office/drawing/2014/main" id="{B3717338-3FAE-4F03-BF16-851E253C30A2}"/>
              </a:ext>
            </a:extLst>
          </p:cNvPr>
          <p:cNvSpPr>
            <a:spLocks xmlns:a="http://schemas.openxmlformats.org/drawingml/2006/main" noGrp="1"/>
          </p:cNvSpPr>
          <p:nvPr/>
        </p:nvSpPr>
        <p:spPr>
          <a:xfrm xmlns:a="http://schemas.openxmlformats.org/drawingml/2006/main">
            <a:off x="8102600" y="3829050"/>
            <a:ext cx="36322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Changing the background is not consent to change the text</a:t>
            </a:r>
          </a:p>
        </p:txBody>
      </p:sp>
      <p:sp>
        <p:nvSpPr>
          <p:cNvPr id="21" name="">
            <a:extLst xmlns:a="http://schemas.openxmlformats.org/drawingml/2006/main">
              <a:ext uri="{FF2B5EF4-FFF2-40B4-BE49-F238E27FC236}">
                <a16:creationId xmlns:a16="http://schemas.microsoft.com/office/drawing/2014/main" id="{81FE8226-798D-454A-A392-082E44F6FECB}"/>
              </a:ext>
            </a:extLst>
          </p:cNvPr>
          <p:cNvSpPr>
            <a:spLocks xmlns:a="http://schemas.openxmlformats.org/drawingml/2006/main" noGrp="1"/>
          </p:cNvSpPr>
          <p:nvPr/>
        </p:nvSpPr>
        <p:spPr>
          <a:xfrm xmlns:a="http://schemas.openxmlformats.org/drawingml/2006/main">
            <a:off x="457200" y="4838700"/>
            <a:ext cx="11277600" cy="1247775"/>
          </a:xfrm>
          <a:prstGeom xmlns:a="http://schemas.openxmlformats.org/drawingml/2006/main" prst="roundRect">
            <a:avLst>
              <a:gd name="adj" fmla="val 6107"/>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BF26B1FE-95CA-44F9-BB60-585884DC80A8}"/>
              </a:ext>
            </a:extLst>
          </p:cNvPr>
          <p:cNvSpPr>
            <a:spLocks xmlns:a="http://schemas.openxmlformats.org/drawingml/2006/main" noGrp="1"/>
          </p:cNvSpPr>
          <p:nvPr/>
        </p:nvSpPr>
        <p:spPr>
          <a:xfrm xmlns:a="http://schemas.openxmlformats.org/drawingml/2006/main">
            <a:off x="457200" y="48387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D90F98A-4900-4252-BF25-BF1AEF03F5A5}"/>
              </a:ext>
            </a:extLst>
          </p:cNvPr>
          <p:cNvSpPr>
            <a:spLocks xmlns:a="http://schemas.openxmlformats.org/drawingml/2006/main" noGrp="1"/>
          </p:cNvSpPr>
          <p:nvPr/>
        </p:nvSpPr>
        <p:spPr>
          <a:xfrm xmlns:a="http://schemas.openxmlformats.org/drawingml/2006/main">
            <a:off x="685800" y="502920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this is the part worth copying</a:t>
            </a:r>
          </a:p>
        </p:txBody>
      </p:sp>
      <p:sp>
        <p:nvSpPr>
          <p:cNvPr id="24" name="">
            <a:extLst xmlns:a="http://schemas.openxmlformats.org/drawingml/2006/main">
              <a:ext uri="{FF2B5EF4-FFF2-40B4-BE49-F238E27FC236}">
                <a16:creationId xmlns:a16="http://schemas.microsoft.com/office/drawing/2014/main" id="{6D0402C3-5891-42D9-8F8E-628D1EA9869B}"/>
              </a:ext>
            </a:extLst>
          </p:cNvPr>
          <p:cNvSpPr>
            <a:spLocks xmlns:a="http://schemas.openxmlformats.org/drawingml/2006/main" noGrp="1"/>
          </p:cNvSpPr>
          <p:nvPr/>
        </p:nvSpPr>
        <p:spPr>
          <a:xfrm xmlns:a="http://schemas.openxmlformats.org/drawingml/2006/main">
            <a:off x="685800" y="5391150"/>
            <a:ext cx="108204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An agent that silently "improves" a hand-edit destroys the reason you made it by hand. This one measured the problem, quantified the remedy, named it as the one open item, and stopped. "Say the word and it’s a one-line change."</a:t>
            </a:r>
          </a:p>
        </p:txBody>
      </p:sp>
    </p:spTree>
    <p:extLst>
      <p:ext uri="{BB962C8B-B14F-4D97-AF65-F5344CB8AC3E}">
        <p14:creationId xmlns:p14="http://schemas.microsoft.com/office/powerpoint/2010/main" val="144057508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BD11E70-622E-4140-B125-09A18B7CF3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133563-893B-431A-965B-5069118E8CBF}"/>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METHOD</a:t>
            </a:r>
          </a:p>
        </p:txBody>
      </p:sp>
      <p:sp>
        <p:nvSpPr>
          <p:cNvPr id="3" name="">
            <a:extLst xmlns:a="http://schemas.openxmlformats.org/drawingml/2006/main">
              <a:ext uri="{FF2B5EF4-FFF2-40B4-BE49-F238E27FC236}">
                <a16:creationId xmlns:a16="http://schemas.microsoft.com/office/drawing/2014/main" id="{518C5CDB-DD2A-4702-B128-84A871585D61}"/>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Captions carried roughly a sixth of this video</a:t>
            </a:r>
          </a:p>
        </p:txBody>
      </p:sp>
      <p:sp>
        <p:nvSpPr>
          <p:cNvPr id="4" name="">
            <a:extLst xmlns:a="http://schemas.openxmlformats.org/drawingml/2006/main">
              <a:ext uri="{FF2B5EF4-FFF2-40B4-BE49-F238E27FC236}">
                <a16:creationId xmlns:a16="http://schemas.microsoft.com/office/drawing/2014/main" id="{8AFD4222-3139-4B7C-A5F6-32ED5516D18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Why a screencast has to be read off frames, with the numbers from this run.</a:t>
            </a:r>
          </a:p>
        </p:txBody>
      </p:sp>
      <p:sp>
        <p:nvSpPr>
          <p:cNvPr id="5" name="">
            <a:extLst xmlns:a="http://schemas.openxmlformats.org/drawingml/2006/main">
              <a:ext uri="{FF2B5EF4-FFF2-40B4-BE49-F238E27FC236}">
                <a16:creationId xmlns:a16="http://schemas.microsoft.com/office/drawing/2014/main" id="{727C4508-4E9B-4BAB-A04B-F846DD3CD289}"/>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7345E2-C5DF-4BAC-BE6E-6953E6AD168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806E232-E7AF-4630-95C4-3DDB91392912}"/>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CLAUDE CODE /DESIGN  ·  VIDEO BRIEF  ·  2026-08-22</a:t>
            </a:r>
          </a:p>
        </p:txBody>
      </p:sp>
      <p:sp>
        <p:nvSpPr>
          <p:cNvPr id="8" name="">
            <a:extLst xmlns:a="http://schemas.openxmlformats.org/drawingml/2006/main">
              <a:ext uri="{FF2B5EF4-FFF2-40B4-BE49-F238E27FC236}">
                <a16:creationId xmlns:a16="http://schemas.microsoft.com/office/drawing/2014/main" id="{58CD2616-2798-4AAB-97FF-817393BF06CD}"/>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09</a:t>
            </a:r>
          </a:p>
        </p:txBody>
      </p:sp>
      <p:sp>
        <p:nvSpPr>
          <p:cNvPr id="9" name="">
            <a:extLst xmlns:a="http://schemas.openxmlformats.org/drawingml/2006/main">
              <a:ext uri="{FF2B5EF4-FFF2-40B4-BE49-F238E27FC236}">
                <a16:creationId xmlns:a16="http://schemas.microsoft.com/office/drawing/2014/main" id="{50410241-C06E-4D04-8A33-9F24ECFA502B}"/>
              </a:ext>
            </a:extLst>
          </p:cNvPr>
          <p:cNvSpPr>
            <a:spLocks xmlns:a="http://schemas.openxmlformats.org/drawingml/2006/main" noGrp="1"/>
          </p:cNvSpPr>
          <p:nvPr/>
        </p:nvSpPr>
        <p:spPr>
          <a:xfrm xmlns:a="http://schemas.openxmlformats.org/drawingml/2006/main">
            <a:off x="457200" y="1600200"/>
            <a:ext cx="1127760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C8570D-062A-4EF8-A774-039D0C66F51B}"/>
              </a:ext>
            </a:extLst>
          </p:cNvPr>
          <p:cNvSpPr>
            <a:spLocks xmlns:a="http://schemas.openxmlformats.org/drawingml/2006/main" noGrp="1"/>
          </p:cNvSpPr>
          <p:nvPr/>
        </p:nvSpPr>
        <p:spPr>
          <a:xfrm xmlns:a="http://schemas.openxmlformats.org/drawingml/2006/main">
            <a:off x="590550" y="1714500"/>
            <a:ext cx="266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EVIDENCE</a:t>
            </a:r>
          </a:p>
        </p:txBody>
      </p:sp>
      <p:sp>
        <p:nvSpPr>
          <p:cNvPr id="11" name="">
            <a:extLst xmlns:a="http://schemas.openxmlformats.org/drawingml/2006/main">
              <a:ext uri="{FF2B5EF4-FFF2-40B4-BE49-F238E27FC236}">
                <a16:creationId xmlns:a16="http://schemas.microsoft.com/office/drawing/2014/main" id="{DE2A65B2-E45D-4B13-9E57-0C2DEF592E6C}"/>
              </a:ext>
            </a:extLst>
          </p:cNvPr>
          <p:cNvSpPr>
            <a:spLocks xmlns:a="http://schemas.openxmlformats.org/drawingml/2006/main" noGrp="1"/>
          </p:cNvSpPr>
          <p:nvPr/>
        </p:nvSpPr>
        <p:spPr>
          <a:xfrm xmlns:a="http://schemas.openxmlformats.org/drawingml/2006/main">
            <a:off x="3448050" y="1714500"/>
            <a:ext cx="5143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IT GAVE</a:t>
            </a:r>
          </a:p>
        </p:txBody>
      </p:sp>
      <p:sp>
        <p:nvSpPr>
          <p:cNvPr id="12" name="">
            <a:extLst xmlns:a="http://schemas.openxmlformats.org/drawingml/2006/main">
              <a:ext uri="{FF2B5EF4-FFF2-40B4-BE49-F238E27FC236}">
                <a16:creationId xmlns:a16="http://schemas.microsoft.com/office/drawing/2014/main" id="{499AA774-C661-4CCD-B6D2-B2AFD77967D4}"/>
              </a:ext>
            </a:extLst>
          </p:cNvPr>
          <p:cNvSpPr>
            <a:spLocks xmlns:a="http://schemas.openxmlformats.org/drawingml/2006/main" noGrp="1"/>
          </p:cNvSpPr>
          <p:nvPr/>
        </p:nvSpPr>
        <p:spPr>
          <a:xfrm xmlns:a="http://schemas.openxmlformats.org/drawingml/2006/main">
            <a:off x="8782050" y="1714500"/>
            <a:ext cx="2895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VERDICT</a:t>
            </a:r>
          </a:p>
        </p:txBody>
      </p:sp>
      <p:sp>
        <p:nvSpPr>
          <p:cNvPr id="13" name="">
            <a:extLst xmlns:a="http://schemas.openxmlformats.org/drawingml/2006/main">
              <a:ext uri="{FF2B5EF4-FFF2-40B4-BE49-F238E27FC236}">
                <a16:creationId xmlns:a16="http://schemas.microsoft.com/office/drawing/2014/main" id="{B59007BC-3CA6-4623-8BD9-807791FA99D9}"/>
              </a:ext>
            </a:extLst>
          </p:cNvPr>
          <p:cNvSpPr>
            <a:spLocks xmlns:a="http://schemas.openxmlformats.org/drawingml/2006/main" noGrp="1"/>
          </p:cNvSpPr>
          <p:nvPr/>
        </p:nvSpPr>
        <p:spPr>
          <a:xfrm xmlns:a="http://schemas.openxmlformats.org/drawingml/2006/main">
            <a:off x="457200" y="1981200"/>
            <a:ext cx="11277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7E4A7026-F185-4C89-980E-DE0B070F87C3}"/>
              </a:ext>
            </a:extLst>
          </p:cNvPr>
          <p:cNvSpPr>
            <a:spLocks xmlns:a="http://schemas.openxmlformats.org/drawingml/2006/main" noGrp="1"/>
          </p:cNvSpPr>
          <p:nvPr/>
        </p:nvSpPr>
        <p:spPr>
          <a:xfrm xmlns:a="http://schemas.openxmlformats.org/drawingml/2006/main">
            <a:off x="590550" y="2085975"/>
            <a:ext cx="264795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Auto-captions</a:t>
            </a:r>
          </a:p>
        </p:txBody>
      </p:sp>
      <p:sp>
        <p:nvSpPr>
          <p:cNvPr id="15" name="">
            <a:extLst xmlns:a="http://schemas.openxmlformats.org/drawingml/2006/main">
              <a:ext uri="{FF2B5EF4-FFF2-40B4-BE49-F238E27FC236}">
                <a16:creationId xmlns:a16="http://schemas.microsoft.com/office/drawing/2014/main" id="{1829332C-912F-4066-AC48-270896AFD125}"/>
              </a:ext>
            </a:extLst>
          </p:cNvPr>
          <p:cNvSpPr>
            <a:spLocks xmlns:a="http://schemas.openxmlformats.org/drawingml/2006/main" noGrp="1"/>
          </p:cNvSpPr>
          <p:nvPr/>
        </p:nvSpPr>
        <p:spPr>
          <a:xfrm xmlns:a="http://schemas.openxmlformats.org/drawingml/2006/main">
            <a:off x="3448050" y="2085975"/>
            <a:ext cx="512445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"This right here", "you’ll see this panel" — deixis without referents</a:t>
            </a:r>
          </a:p>
        </p:txBody>
      </p:sp>
      <p:sp>
        <p:nvSpPr>
          <p:cNvPr id="16" name="">
            <a:extLst xmlns:a="http://schemas.openxmlformats.org/drawingml/2006/main">
              <a:ext uri="{FF2B5EF4-FFF2-40B4-BE49-F238E27FC236}">
                <a16:creationId xmlns:a16="http://schemas.microsoft.com/office/drawing/2014/main" id="{FE527CF0-55D0-44B3-9255-0F5233077BAE}"/>
              </a:ext>
            </a:extLst>
          </p:cNvPr>
          <p:cNvSpPr>
            <a:spLocks xmlns:a="http://schemas.openxmlformats.org/drawingml/2006/main" noGrp="1"/>
          </p:cNvSpPr>
          <p:nvPr/>
        </p:nvSpPr>
        <p:spPr>
          <a:xfrm xmlns:a="http://schemas.openxmlformats.org/drawingml/2006/main">
            <a:off x="8782050" y="2085975"/>
            <a:ext cx="287655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Weakest tier</a:t>
            </a:r>
          </a:p>
        </p:txBody>
      </p:sp>
      <p:sp>
        <p:nvSpPr>
          <p:cNvPr id="17" name="">
            <a:extLst xmlns:a="http://schemas.openxmlformats.org/drawingml/2006/main">
              <a:ext uri="{FF2B5EF4-FFF2-40B4-BE49-F238E27FC236}">
                <a16:creationId xmlns:a16="http://schemas.microsoft.com/office/drawing/2014/main" id="{D2834C17-1801-4DD8-92B1-1DA34D7A0F71}"/>
              </a:ext>
            </a:extLst>
          </p:cNvPr>
          <p:cNvSpPr>
            <a:spLocks xmlns:a="http://schemas.openxmlformats.org/drawingml/2006/main" noGrp="1"/>
          </p:cNvSpPr>
          <p:nvPr/>
        </p:nvSpPr>
        <p:spPr>
          <a:xfrm xmlns:a="http://schemas.openxmlformats.org/drawingml/2006/main">
            <a:off x="457200" y="2476500"/>
            <a:ext cx="1127760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E9039E49-C062-438D-ABDE-4EAC35AA8A96}"/>
              </a:ext>
            </a:extLst>
          </p:cNvPr>
          <p:cNvSpPr>
            <a:spLocks xmlns:a="http://schemas.openxmlformats.org/drawingml/2006/main" noGrp="1"/>
          </p:cNvSpPr>
          <p:nvPr/>
        </p:nvSpPr>
        <p:spPr>
          <a:xfrm xmlns:a="http://schemas.openxmlformats.org/drawingml/2006/main">
            <a:off x="590550" y="2581275"/>
            <a:ext cx="264795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Default download</a:t>
            </a:r>
          </a:p>
        </p:txBody>
      </p:sp>
      <p:sp>
        <p:nvSpPr>
          <p:cNvPr id="19" name="">
            <a:extLst xmlns:a="http://schemas.openxmlformats.org/drawingml/2006/main">
              <a:ext uri="{FF2B5EF4-FFF2-40B4-BE49-F238E27FC236}">
                <a16:creationId xmlns:a16="http://schemas.microsoft.com/office/drawing/2014/main" id="{418433F2-0195-4E53-BF3D-53C1B5073767}"/>
              </a:ext>
            </a:extLst>
          </p:cNvPr>
          <p:cNvSpPr>
            <a:spLocks xmlns:a="http://schemas.openxmlformats.org/drawingml/2006/main" noGrp="1"/>
          </p:cNvSpPr>
          <p:nvPr/>
        </p:nvSpPr>
        <p:spPr>
          <a:xfrm xmlns:a="http://schemas.openxmlformats.org/drawingml/2006/main">
            <a:off x="3448050" y="2581275"/>
            <a:ext cx="512445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640×360 only; no on-screen text is legible</a:t>
            </a:r>
          </a:p>
        </p:txBody>
      </p:sp>
      <p:sp>
        <p:nvSpPr>
          <p:cNvPr id="20" name="">
            <a:extLst xmlns:a="http://schemas.openxmlformats.org/drawingml/2006/main">
              <a:ext uri="{FF2B5EF4-FFF2-40B4-BE49-F238E27FC236}">
                <a16:creationId xmlns:a16="http://schemas.microsoft.com/office/drawing/2014/main" id="{D9C3750D-F19C-4806-BFCA-B2A98DE88BBC}"/>
              </a:ext>
            </a:extLst>
          </p:cNvPr>
          <p:cNvSpPr>
            <a:spLocks xmlns:a="http://schemas.openxmlformats.org/drawingml/2006/main" noGrp="1"/>
          </p:cNvSpPr>
          <p:nvPr/>
        </p:nvSpPr>
        <p:spPr>
          <a:xfrm xmlns:a="http://schemas.openxmlformats.org/drawingml/2006/main">
            <a:off x="8782050" y="2581275"/>
            <a:ext cx="287655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Unusable, and silent</a:t>
            </a:r>
          </a:p>
        </p:txBody>
      </p:sp>
      <p:sp>
        <p:nvSpPr>
          <p:cNvPr id="21" name="">
            <a:extLst xmlns:a="http://schemas.openxmlformats.org/drawingml/2006/main">
              <a:ext uri="{FF2B5EF4-FFF2-40B4-BE49-F238E27FC236}">
                <a16:creationId xmlns:a16="http://schemas.microsoft.com/office/drawing/2014/main" id="{12118501-2503-48E5-A1A0-A6A1D038DE00}"/>
              </a:ext>
            </a:extLst>
          </p:cNvPr>
          <p:cNvSpPr>
            <a:spLocks xmlns:a="http://schemas.openxmlformats.org/drawingml/2006/main" noGrp="1"/>
          </p:cNvSpPr>
          <p:nvPr/>
        </p:nvSpPr>
        <p:spPr>
          <a:xfrm xmlns:a="http://schemas.openxmlformats.org/drawingml/2006/main">
            <a:off x="457200" y="2971800"/>
            <a:ext cx="11277600" cy="4953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A2B57DE4-CA0E-44C1-B43D-A5D331CC32E2}"/>
              </a:ext>
            </a:extLst>
          </p:cNvPr>
          <p:cNvSpPr>
            <a:spLocks xmlns:a="http://schemas.openxmlformats.org/drawingml/2006/main" noGrp="1"/>
          </p:cNvSpPr>
          <p:nvPr/>
        </p:nvSpPr>
        <p:spPr>
          <a:xfrm xmlns:a="http://schemas.openxmlformats.org/drawingml/2006/main">
            <a:off x="457200" y="2971800"/>
            <a:ext cx="47625" cy="4953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6AAA819-A213-4D93-88C9-8EF750D883CD}"/>
              </a:ext>
            </a:extLst>
          </p:cNvPr>
          <p:cNvSpPr>
            <a:spLocks xmlns:a="http://schemas.openxmlformats.org/drawingml/2006/main" noGrp="1"/>
          </p:cNvSpPr>
          <p:nvPr/>
        </p:nvSpPr>
        <p:spPr>
          <a:xfrm xmlns:a="http://schemas.openxmlformats.org/drawingml/2006/main">
            <a:off x="590550" y="3076575"/>
            <a:ext cx="264795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1080p frames</a:t>
            </a:r>
          </a:p>
        </p:txBody>
      </p:sp>
      <p:sp>
        <p:nvSpPr>
          <p:cNvPr id="24" name="">
            <a:extLst xmlns:a="http://schemas.openxmlformats.org/drawingml/2006/main">
              <a:ext uri="{FF2B5EF4-FFF2-40B4-BE49-F238E27FC236}">
                <a16:creationId xmlns:a16="http://schemas.microsoft.com/office/drawing/2014/main" id="{658E9B13-20D2-47FC-BCA8-489A2B1B75C5}"/>
              </a:ext>
            </a:extLst>
          </p:cNvPr>
          <p:cNvSpPr>
            <a:spLocks xmlns:a="http://schemas.openxmlformats.org/drawingml/2006/main" noGrp="1"/>
          </p:cNvSpPr>
          <p:nvPr/>
        </p:nvSpPr>
        <p:spPr>
          <a:xfrm xmlns:a="http://schemas.openxmlformats.org/drawingml/2006/main">
            <a:off x="3448050" y="3076575"/>
            <a:ext cx="512445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File names, line counts, version ids, hex values, the debug readout</a:t>
            </a:r>
          </a:p>
        </p:txBody>
      </p:sp>
      <p:sp>
        <p:nvSpPr>
          <p:cNvPr id="25" name="">
            <a:extLst xmlns:a="http://schemas.openxmlformats.org/drawingml/2006/main">
              <a:ext uri="{FF2B5EF4-FFF2-40B4-BE49-F238E27FC236}">
                <a16:creationId xmlns:a16="http://schemas.microsoft.com/office/drawing/2014/main" id="{04CA120B-EB81-45F7-8DE5-EE9930030364}"/>
              </a:ext>
            </a:extLst>
          </p:cNvPr>
          <p:cNvSpPr>
            <a:spLocks xmlns:a="http://schemas.openxmlformats.org/drawingml/2006/main" noGrp="1"/>
          </p:cNvSpPr>
          <p:nvPr/>
        </p:nvSpPr>
        <p:spPr>
          <a:xfrm xmlns:a="http://schemas.openxmlformats.org/drawingml/2006/main">
            <a:off x="8782050" y="3076575"/>
            <a:ext cx="287655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The actual record</a:t>
            </a:r>
          </a:p>
        </p:txBody>
      </p:sp>
      <p:sp>
        <p:nvSpPr>
          <p:cNvPr id="26" name="">
            <a:extLst xmlns:a="http://schemas.openxmlformats.org/drawingml/2006/main">
              <a:ext uri="{FF2B5EF4-FFF2-40B4-BE49-F238E27FC236}">
                <a16:creationId xmlns:a16="http://schemas.microsoft.com/office/drawing/2014/main" id="{9408FECD-86AC-442F-995D-1CEE890D11B0}"/>
              </a:ext>
            </a:extLst>
          </p:cNvPr>
          <p:cNvSpPr>
            <a:spLocks xmlns:a="http://schemas.openxmlformats.org/drawingml/2006/main" noGrp="1"/>
          </p:cNvSpPr>
          <p:nvPr/>
        </p:nvSpPr>
        <p:spPr>
          <a:xfrm xmlns:a="http://schemas.openxmlformats.org/drawingml/2006/main">
            <a:off x="457200" y="3790950"/>
            <a:ext cx="55435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AF6B2A1E-84BA-461E-9EA6-9E9232D73E10}"/>
              </a:ext>
            </a:extLst>
          </p:cNvPr>
          <p:cNvSpPr>
            <a:spLocks xmlns:a="http://schemas.openxmlformats.org/drawingml/2006/main" noGrp="1"/>
          </p:cNvSpPr>
          <p:nvPr/>
        </p:nvSpPr>
        <p:spPr>
          <a:xfrm xmlns:a="http://schemas.openxmlformats.org/drawingml/2006/main">
            <a:off x="457200" y="3790950"/>
            <a:ext cx="57150" cy="149542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40E2467-6D08-4D83-B2A1-66BFDE85BBC9}"/>
              </a:ext>
            </a:extLst>
          </p:cNvPr>
          <p:cNvSpPr>
            <a:spLocks xmlns:a="http://schemas.openxmlformats.org/drawingml/2006/main" noGrp="1"/>
          </p:cNvSpPr>
          <p:nvPr/>
        </p:nvSpPr>
        <p:spPr>
          <a:xfrm xmlns:a="http://schemas.openxmlformats.org/drawingml/2006/main">
            <a:off x="685800" y="3981450"/>
            <a:ext cx="512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The flag that recovers the format ladder</a:t>
            </a:r>
          </a:p>
        </p:txBody>
      </p:sp>
      <p:sp>
        <p:nvSpPr>
          <p:cNvPr id="29" name="">
            <a:extLst xmlns:a="http://schemas.openxmlformats.org/drawingml/2006/main">
              <a:ext uri="{FF2B5EF4-FFF2-40B4-BE49-F238E27FC236}">
                <a16:creationId xmlns:a16="http://schemas.microsoft.com/office/drawing/2014/main" id="{F8CC805B-8F91-44B5-8FAF-63A7C131120B}"/>
              </a:ext>
            </a:extLst>
          </p:cNvPr>
          <p:cNvSpPr>
            <a:spLocks xmlns:a="http://schemas.openxmlformats.org/drawingml/2006/main" noGrp="1"/>
          </p:cNvSpPr>
          <p:nvPr/>
        </p:nvSpPr>
        <p:spPr>
          <a:xfrm xmlns:a="http://schemas.openxmlformats.org/drawingml/2006/main">
            <a:off x="685800" y="4343400"/>
            <a:ext cx="50863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--extractor-args "youtube:player_client=default,mweb,web_embedded". Without it yt-dlp offers format 18 and nothing errors — you simply get an unreadable deck and no warning.</a:t>
            </a:r>
          </a:p>
        </p:txBody>
      </p:sp>
      <p:sp>
        <p:nvSpPr>
          <p:cNvPr id="30" name="">
            <a:extLst xmlns:a="http://schemas.openxmlformats.org/drawingml/2006/main">
              <a:ext uri="{FF2B5EF4-FFF2-40B4-BE49-F238E27FC236}">
                <a16:creationId xmlns:a16="http://schemas.microsoft.com/office/drawing/2014/main" id="{6AF11480-7D4C-468A-BE0F-005FF147B691}"/>
              </a:ext>
            </a:extLst>
          </p:cNvPr>
          <p:cNvSpPr>
            <a:spLocks xmlns:a="http://schemas.openxmlformats.org/drawingml/2006/main" noGrp="1"/>
          </p:cNvSpPr>
          <p:nvPr/>
        </p:nvSpPr>
        <p:spPr>
          <a:xfrm xmlns:a="http://schemas.openxmlformats.org/drawingml/2006/main">
            <a:off x="6191250" y="3790950"/>
            <a:ext cx="5543550" cy="1495425"/>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B585A5D9-30A1-4B92-8716-FE01222C4D8B}"/>
              </a:ext>
            </a:extLst>
          </p:cNvPr>
          <p:cNvSpPr>
            <a:spLocks xmlns:a="http://schemas.openxmlformats.org/drawingml/2006/main" noGrp="1"/>
          </p:cNvSpPr>
          <p:nvPr/>
        </p:nvSpPr>
        <p:spPr>
          <a:xfrm xmlns:a="http://schemas.openxmlformats.org/drawingml/2006/main">
            <a:off x="6191250" y="3790950"/>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2DE35C8-D75C-4F66-9B9C-973930BC8193}"/>
              </a:ext>
            </a:extLst>
          </p:cNvPr>
          <p:cNvSpPr>
            <a:spLocks xmlns:a="http://schemas.openxmlformats.org/drawingml/2006/main" noGrp="1"/>
          </p:cNvSpPr>
          <p:nvPr/>
        </p:nvSpPr>
        <p:spPr>
          <a:xfrm xmlns:a="http://schemas.openxmlformats.org/drawingml/2006/main">
            <a:off x="6419850" y="3981450"/>
            <a:ext cx="512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The ranking that should have applied</a:t>
            </a:r>
          </a:p>
        </p:txBody>
      </p:sp>
      <p:sp>
        <p:nvSpPr>
          <p:cNvPr id="33" name="">
            <a:extLst xmlns:a="http://schemas.openxmlformats.org/drawingml/2006/main">
              <a:ext uri="{FF2B5EF4-FFF2-40B4-BE49-F238E27FC236}">
                <a16:creationId xmlns:a16="http://schemas.microsoft.com/office/drawing/2014/main" id="{8DCB7A6B-BE26-416F-906C-4C159DE94112}"/>
              </a:ext>
            </a:extLst>
          </p:cNvPr>
          <p:cNvSpPr>
            <a:spLocks xmlns:a="http://schemas.openxmlformats.org/drawingml/2006/main" noGrp="1"/>
          </p:cNvSpPr>
          <p:nvPr/>
        </p:nvSpPr>
        <p:spPr>
          <a:xfrm xmlns:a="http://schemas.openxmlformats.org/drawingml/2006/main">
            <a:off x="6419850" y="4343400"/>
            <a:ext cx="50863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Execution, then on-screen text, then narration. The first cut of this brief used only the third, and read as thin because it was.</a:t>
            </a:r>
          </a:p>
        </p:txBody>
      </p:sp>
    </p:spTree>
    <p:extLst>
      <p:ext uri="{BB962C8B-B14F-4D97-AF65-F5344CB8AC3E}">
        <p14:creationId xmlns:p14="http://schemas.microsoft.com/office/powerpoint/2010/main" val="72530119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D0716EE-3A52-4EDF-BDF5-5317371A76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D006B1-468E-49A2-9872-33C7C5CBDF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748EE33-C608-4206-9BB4-400CA44264B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THE TAKEAWAY</a:t>
            </a:r>
          </a:p>
        </p:txBody>
      </p:sp>
      <p:sp>
        <p:nvSpPr>
          <p:cNvPr id="4" name="">
            <a:extLst xmlns:a="http://schemas.openxmlformats.org/drawingml/2006/main">
              <a:ext uri="{FF2B5EF4-FFF2-40B4-BE49-F238E27FC236}">
                <a16:creationId xmlns:a16="http://schemas.microsoft.com/office/drawing/2014/main" id="{2AF3A6AF-DC5C-4DFF-9801-8C2E3450DFE6}"/>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FFFFFF"/>
                </a:solidFill>
                <a:latin typeface="Georgia"/>
                <a:ea typeface="Georgia"/>
                <a:cs typeface="Georgia"/>
              </a:defRPr>
            </a:pPr>
            <a:r>
              <a:t>Judge the agent, not the canvas</a:t>
            </a:r>
          </a:p>
        </p:txBody>
      </p:sp>
      <p:sp>
        <p:nvSpPr>
          <p:cNvPr id="5" name="">
            <a:extLst xmlns:a="http://schemas.openxmlformats.org/drawingml/2006/main">
              <a:ext uri="{FF2B5EF4-FFF2-40B4-BE49-F238E27FC236}">
                <a16:creationId xmlns:a16="http://schemas.microsoft.com/office/drawing/2014/main" id="{EBB23B97-E4F2-40D3-8023-383FF5B4680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drawing surface is the demo. The file trail and the refusal are the product.</a:t>
            </a:r>
          </a:p>
        </p:txBody>
      </p:sp>
      <p:sp>
        <p:nvSpPr>
          <p:cNvPr id="6" name="">
            <a:extLst xmlns:a="http://schemas.openxmlformats.org/drawingml/2006/main">
              <a:ext uri="{FF2B5EF4-FFF2-40B4-BE49-F238E27FC236}">
                <a16:creationId xmlns:a16="http://schemas.microsoft.com/office/drawing/2014/main" id="{5BBAD582-37EB-4516-9833-834C8A9AB28C}"/>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3CEC0CE-4B10-4427-A053-66137979BB0B}"/>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C844FE-41FC-4A4A-AF8C-CB833BF7B138}"/>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CLAUDE CODE /DESIGN  ·  VIDEO BRIEF  ·  2026-08-22</a:t>
            </a:r>
          </a:p>
        </p:txBody>
      </p:sp>
      <p:sp>
        <p:nvSpPr>
          <p:cNvPr id="9" name="">
            <a:extLst xmlns:a="http://schemas.openxmlformats.org/drawingml/2006/main">
              <a:ext uri="{FF2B5EF4-FFF2-40B4-BE49-F238E27FC236}">
                <a16:creationId xmlns:a16="http://schemas.microsoft.com/office/drawing/2014/main" id="{4EA67EA4-2F18-47C8-8E34-1155AC21C3A7}"/>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10</a:t>
            </a:r>
          </a:p>
        </p:txBody>
      </p:sp>
      <p:sp>
        <p:nvSpPr>
          <p:cNvPr id="10" name="">
            <a:extLst xmlns:a="http://schemas.openxmlformats.org/drawingml/2006/main">
              <a:ext uri="{FF2B5EF4-FFF2-40B4-BE49-F238E27FC236}">
                <a16:creationId xmlns:a16="http://schemas.microsoft.com/office/drawing/2014/main" id="{6CA4B659-115B-4C79-8FAC-09542608C58C}"/>
              </a:ext>
            </a:extLst>
          </p:cNvPr>
          <p:cNvSpPr>
            <a:spLocks xmlns:a="http://schemas.openxmlformats.org/drawingml/2006/main" noGrp="1"/>
          </p:cNvSpPr>
          <p:nvPr/>
        </p:nvSpPr>
        <p:spPr>
          <a:xfrm xmlns:a="http://schemas.openxmlformats.org/drawingml/2006/main">
            <a:off x="457200" y="1885950"/>
            <a:ext cx="11277600" cy="1809750"/>
          </a:xfrm>
          <a:prstGeom xmlns:a="http://schemas.openxmlformats.org/drawingml/2006/main" prst="roundRect">
            <a:avLst>
              <a:gd name="adj" fmla="val 4211"/>
            </a:avLst>
          </a:prstGeom>
          <a:solidFill xmlns:a="http://schemas.openxmlformats.org/drawingml/2006/main">
            <a:srgbClr val="12243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F660CA5-2A7A-4ECC-8D8D-30960860CFE4}"/>
              </a:ext>
            </a:extLst>
          </p:cNvPr>
          <p:cNvSpPr>
            <a:spLocks xmlns:a="http://schemas.openxmlformats.org/drawingml/2006/main" noGrp="1"/>
          </p:cNvSpPr>
          <p:nvPr/>
        </p:nvSpPr>
        <p:spPr>
          <a:xfrm xmlns:a="http://schemas.openxmlformats.org/drawingml/2006/main">
            <a:off x="457200" y="1885950"/>
            <a:ext cx="57150" cy="1809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FACF113-C4F6-46A0-B9D1-BD31813230F0}"/>
              </a:ext>
            </a:extLst>
          </p:cNvPr>
          <p:cNvSpPr>
            <a:spLocks xmlns:a="http://schemas.openxmlformats.org/drawingml/2006/main" noGrp="1"/>
          </p:cNvSpPr>
          <p:nvPr/>
        </p:nvSpPr>
        <p:spPr>
          <a:xfrm xmlns:a="http://schemas.openxmlformats.org/drawingml/2006/main">
            <a:off x="800100" y="2324100"/>
            <a:ext cx="10572750"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Georgia"/>
                <a:ea typeface="Georgia"/>
                <a:cs typeface="Georgia"/>
              </a:defRPr>
            </a:pPr>
            <a:r>
              <a:t>Save before you speak — and read what it says back, because it will have reviewed you.</a:t>
            </a:r>
          </a:p>
        </p:txBody>
      </p:sp>
      <p:sp>
        <p:nvSpPr>
          <p:cNvPr id="13" name="">
            <a:extLst xmlns:a="http://schemas.openxmlformats.org/drawingml/2006/main">
              <a:ext uri="{FF2B5EF4-FFF2-40B4-BE49-F238E27FC236}">
                <a16:creationId xmlns:a16="http://schemas.microsoft.com/office/drawing/2014/main" id="{19E89683-1B19-4B46-8717-64EE6900C38C}"/>
              </a:ext>
            </a:extLst>
          </p:cNvPr>
          <p:cNvSpPr>
            <a:spLocks xmlns:a="http://schemas.openxmlformats.org/drawingml/2006/main" noGrp="1"/>
          </p:cNvSpPr>
          <p:nvPr/>
        </p:nvSpPr>
        <p:spPr>
          <a:xfrm xmlns:a="http://schemas.openxmlformats.org/drawingml/2006/main">
            <a:off x="457200" y="4152900"/>
            <a:ext cx="3632200" cy="285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CEF8C94-125D-471D-9068-5D589357EDAB}"/>
              </a:ext>
            </a:extLst>
          </p:cNvPr>
          <p:cNvSpPr>
            <a:spLocks xmlns:a="http://schemas.openxmlformats.org/drawingml/2006/main" noGrp="1"/>
          </p:cNvSpPr>
          <p:nvPr/>
        </p:nvSpPr>
        <p:spPr>
          <a:xfrm xmlns:a="http://schemas.openxmlformats.org/drawingml/2006/main">
            <a:off x="457200" y="4324350"/>
            <a:ext cx="36322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IT WRITES FILES</a:t>
            </a:r>
          </a:p>
        </p:txBody>
      </p:sp>
      <p:sp>
        <p:nvSpPr>
          <p:cNvPr id="15" name="">
            <a:extLst xmlns:a="http://schemas.openxmlformats.org/drawingml/2006/main">
              <a:ext uri="{FF2B5EF4-FFF2-40B4-BE49-F238E27FC236}">
                <a16:creationId xmlns:a16="http://schemas.microsoft.com/office/drawing/2014/main" id="{AF1DA5A9-2BC0-4B26-BDE9-8EAD66944C15}"/>
              </a:ext>
            </a:extLst>
          </p:cNvPr>
          <p:cNvSpPr>
            <a:spLocks xmlns:a="http://schemas.openxmlformats.org/drawingml/2006/main" noGrp="1"/>
          </p:cNvSpPr>
          <p:nvPr/>
        </p:nvSpPr>
        <p:spPr>
          <a:xfrm xmlns:a="http://schemas.openxmlformats.org/drawingml/2006/main">
            <a:off x="457200" y="4591050"/>
            <a:ext cx="36322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Named .dc.html artboards you can read, diff and keep</a:t>
            </a:r>
          </a:p>
        </p:txBody>
      </p:sp>
      <p:sp>
        <p:nvSpPr>
          <p:cNvPr id="16" name="">
            <a:extLst xmlns:a="http://schemas.openxmlformats.org/drawingml/2006/main">
              <a:ext uri="{FF2B5EF4-FFF2-40B4-BE49-F238E27FC236}">
                <a16:creationId xmlns:a16="http://schemas.microsoft.com/office/drawing/2014/main" id="{512BF8CC-6165-4213-AD23-38C9BF721CCB}"/>
              </a:ext>
            </a:extLst>
          </p:cNvPr>
          <p:cNvSpPr>
            <a:spLocks xmlns:a="http://schemas.openxmlformats.org/drawingml/2006/main" noGrp="1"/>
          </p:cNvSpPr>
          <p:nvPr/>
        </p:nvSpPr>
        <p:spPr>
          <a:xfrm xmlns:a="http://schemas.openxmlformats.org/drawingml/2006/main">
            <a:off x="4279900" y="4152900"/>
            <a:ext cx="3632200" cy="285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323EE5-DBB7-4F69-BB0C-7590D0DC86A6}"/>
              </a:ext>
            </a:extLst>
          </p:cNvPr>
          <p:cNvSpPr>
            <a:spLocks xmlns:a="http://schemas.openxmlformats.org/drawingml/2006/main" noGrp="1"/>
          </p:cNvSpPr>
          <p:nvPr/>
        </p:nvSpPr>
        <p:spPr>
          <a:xfrm xmlns:a="http://schemas.openxmlformats.org/drawingml/2006/main">
            <a:off x="4279900" y="4324350"/>
            <a:ext cx="36322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A9396"/>
                </a:solidFill>
                <a:latin typeface="Arial"/>
                <a:ea typeface="Arial"/>
                <a:cs typeface="Arial"/>
              </a:defRPr>
            </a:pPr>
            <a:r>
              <a:t>IT VERSIONS THEM</a:t>
            </a:r>
          </a:p>
        </p:txBody>
      </p:sp>
      <p:sp>
        <p:nvSpPr>
          <p:cNvPr id="18" name="">
            <a:extLst xmlns:a="http://schemas.openxmlformats.org/drawingml/2006/main">
              <a:ext uri="{FF2B5EF4-FFF2-40B4-BE49-F238E27FC236}">
                <a16:creationId xmlns:a16="http://schemas.microsoft.com/office/drawing/2014/main" id="{6D66F206-E768-454E-B8E9-10FEE904B62A}"/>
              </a:ext>
            </a:extLst>
          </p:cNvPr>
          <p:cNvSpPr>
            <a:spLocks xmlns:a="http://schemas.openxmlformats.org/drawingml/2006/main" noGrp="1"/>
          </p:cNvSpPr>
          <p:nvPr/>
        </p:nvSpPr>
        <p:spPr>
          <a:xfrm xmlns:a="http://schemas.openxmlformats.org/drawingml/2006/main">
            <a:off x="4279900" y="4591050"/>
            <a:ext cx="36322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Published artifacts with ids, diffed to recover your edits</a:t>
            </a:r>
          </a:p>
        </p:txBody>
      </p:sp>
      <p:sp>
        <p:nvSpPr>
          <p:cNvPr id="19" name="">
            <a:extLst xmlns:a="http://schemas.openxmlformats.org/drawingml/2006/main">
              <a:ext uri="{FF2B5EF4-FFF2-40B4-BE49-F238E27FC236}">
                <a16:creationId xmlns:a16="http://schemas.microsoft.com/office/drawing/2014/main" id="{5E8F34ED-51F8-43CA-A854-C55ECBDAFD75}"/>
              </a:ext>
            </a:extLst>
          </p:cNvPr>
          <p:cNvSpPr>
            <a:spLocks xmlns:a="http://schemas.openxmlformats.org/drawingml/2006/main" noGrp="1"/>
          </p:cNvSpPr>
          <p:nvPr/>
        </p:nvSpPr>
        <p:spPr>
          <a:xfrm xmlns:a="http://schemas.openxmlformats.org/drawingml/2006/main">
            <a:off x="8102600" y="4152900"/>
            <a:ext cx="3632200" cy="28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C4A23D4-7C36-4A75-9A53-9DCCCF4A2DAE}"/>
              </a:ext>
            </a:extLst>
          </p:cNvPr>
          <p:cNvSpPr>
            <a:spLocks xmlns:a="http://schemas.openxmlformats.org/drawingml/2006/main" noGrp="1"/>
          </p:cNvSpPr>
          <p:nvPr/>
        </p:nvSpPr>
        <p:spPr>
          <a:xfrm xmlns:a="http://schemas.openxmlformats.org/drawingml/2006/main">
            <a:off x="8102600" y="4324350"/>
            <a:ext cx="36322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B45309"/>
                </a:solidFill>
                <a:latin typeface="Arial"/>
                <a:ea typeface="Arial"/>
                <a:cs typeface="Arial"/>
              </a:defRPr>
            </a:pPr>
            <a:r>
              <a:t>IT DECLINES</a:t>
            </a:r>
          </a:p>
        </p:txBody>
      </p:sp>
      <p:sp>
        <p:nvSpPr>
          <p:cNvPr id="21" name="">
            <a:extLst xmlns:a="http://schemas.openxmlformats.org/drawingml/2006/main">
              <a:ext uri="{FF2B5EF4-FFF2-40B4-BE49-F238E27FC236}">
                <a16:creationId xmlns:a16="http://schemas.microsoft.com/office/drawing/2014/main" id="{53775412-16F3-4662-89D5-8AD887871740}"/>
              </a:ext>
            </a:extLst>
          </p:cNvPr>
          <p:cNvSpPr>
            <a:spLocks xmlns:a="http://schemas.openxmlformats.org/drawingml/2006/main" noGrp="1"/>
          </p:cNvSpPr>
          <p:nvPr/>
        </p:nvSpPr>
        <p:spPr>
          <a:xfrm xmlns:a="http://schemas.openxmlformats.org/drawingml/2006/main">
            <a:off x="8102600" y="4591050"/>
            <a:ext cx="36322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Flags what your edit broke, and waits for you to say go</a:t>
            </a:r>
          </a:p>
        </p:txBody>
      </p:sp>
    </p:spTree>
    <p:extLst>
      <p:ext uri="{BB962C8B-B14F-4D97-AF65-F5344CB8AC3E}">
        <p14:creationId xmlns:p14="http://schemas.microsoft.com/office/powerpoint/2010/main" val="2949391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2026-08-22T04:39:15.6040000Z</dcterms:created>
  <dcterms:modified xsi:type="dcterms:W3CDTF">2026-08-22T04:39:15.6040000Z</dcterms:modified>
</coreProperties>
</file>