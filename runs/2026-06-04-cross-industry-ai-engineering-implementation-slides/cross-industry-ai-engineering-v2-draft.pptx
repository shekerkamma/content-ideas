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7863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0A1628"/>
                </a:solidFill>
                <a:latin typeface="Calibri"/>
              </a:rPr>
              <a:t>One implementation-ready AI engineering use case per industry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43584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5B6B7C"/>
                </a:solidFill>
                <a:latin typeface="Calibri"/>
              </a:rPr>
              <a:t>Built from the source framework PDF, prior GBrain-derived artifacts, and current OpenHands primary documentation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3657600" cy="356616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10512"/>
            <a:ext cx="22860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SELECTED LANES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3200400" cy="2468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200" b="0" i="0">
                <a:solidFill>
                  <a:srgbClr val="FFFFFF"/>
                </a:solidFill>
                <a:latin typeface="Calibri"/>
              </a:rPr>
              <a:t>•  Manufacturing: predictive maintenance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200" b="0" i="0">
                <a:solidFill>
                  <a:srgbClr val="FFFFFF"/>
                </a:solidFill>
                <a:latin typeface="Calibri"/>
              </a:rPr>
              <a:t>•  Law firms: contract generation and review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200" b="0" i="0">
                <a:solidFill>
                  <a:srgbClr val="FFFFFF"/>
                </a:solidFill>
                <a:latin typeface="Calibri"/>
              </a:rPr>
              <a:t>•  Healthcare: patient intake and eligibility verification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200" b="0" i="0">
                <a:solidFill>
                  <a:srgbClr val="FFFFFF"/>
                </a:solidFill>
                <a:latin typeface="Calibri"/>
              </a:rPr>
              <a:t>•  Marketing agencies: reporting dashboard and SEO automation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627632"/>
            <a:ext cx="7040880" cy="356616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73168" y="1810512"/>
            <a:ext cx="31089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WHY THIS DECK EXISTS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73168" y="2121408"/>
            <a:ext cx="6583680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•  The PDF is strongest when translated into concrete implementation slides, not left as a broad industry scan.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•  Each lane already has a workflow trigger, an action system, and an MCP-friendly integration posture.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•  OpenHands supplies the reusable orchestration model across all four industries.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•  Every use case now includes verified ROI proof points and market benchmarks from production deployments.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486400"/>
            <a:ext cx="11094415" cy="566928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605272"/>
            <a:ext cx="10637215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Skill chain: GBrain Recall → content-research → industry-research-analysis-branded-deck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92440" y="0"/>
            <a:ext cx="409925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92440" y="0"/>
            <a:ext cx="54864" cy="68580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7178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INDUSTRY 01  · MANUFACTURING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12064"/>
            <a:ext cx="7178040" cy="6217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FFFFFF"/>
                </a:solidFill>
                <a:latin typeface="Calibri"/>
              </a:rPr>
              <a:t>Predictive Maintenance AI 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43000"/>
            <a:ext cx="3396996" cy="1499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280160"/>
            <a:ext cx="306781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527048"/>
            <a:ext cx="3104388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40" b="0" i="0">
                <a:solidFill>
                  <a:srgbClr val="1B2B3C"/>
                </a:solidFill>
                <a:latin typeface="Calibri"/>
              </a:rPr>
              <a:t>•  Reactive maintenance drives visible downtime and expensive interventions.</a:t>
            </a:r>
          </a:p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40" b="0" i="0">
                <a:solidFill>
                  <a:srgbClr val="1B2B3C"/>
                </a:solidFill>
                <a:latin typeface="Calibri"/>
              </a:rPr>
              <a:t>•  Plants need condition-based alerts tied to planner workflows, not another standalone model demo.</a:t>
            </a:r>
          </a:p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40" b="0" i="0">
                <a:solidFill>
                  <a:srgbClr val="1B2B3C"/>
                </a:solidFill>
                <a:latin typeface="Calibri"/>
              </a:rPr>
              <a:t>•  Operational trust depends on explainability and SAP work-order follow-through.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46804" y="1143000"/>
            <a:ext cx="3396996" cy="1499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11396" y="1280160"/>
            <a:ext cx="306781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1396" y="1527048"/>
            <a:ext cx="3104388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40" b="0" i="0">
                <a:solidFill>
                  <a:srgbClr val="1B2B3C"/>
                </a:solidFill>
                <a:latin typeface="Calibri"/>
              </a:rPr>
              <a:t>•  Fuse sensor data, anomaly detection, and RUL estimation in one orchestrated flow.</a:t>
            </a:r>
          </a:p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40" b="0" i="0">
                <a:solidFill>
                  <a:srgbClr val="1B2B3C"/>
                </a:solidFill>
                <a:latin typeface="Calibri"/>
              </a:rPr>
              <a:t>•  Trigger planner-ready SAP PM work orders through MCP-connected systems.</a:t>
            </a:r>
          </a:p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40" b="0" i="0">
                <a:solidFill>
                  <a:srgbClr val="1B2B3C"/>
                </a:solidFill>
                <a:latin typeface="Calibri"/>
              </a:rPr>
              <a:t>•  Start with one asset family before wider rollout.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724912"/>
            <a:ext cx="2221992" cy="786384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798064"/>
            <a:ext cx="2002536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$5K-10K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108960"/>
            <a:ext cx="2002536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60" b="1" i="0">
                <a:solidFill>
                  <a:srgbClr val="0A1628"/>
                </a:solidFill>
                <a:latin typeface="Calibri"/>
              </a:rPr>
              <a:t>Revenue band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35224" y="2724912"/>
            <a:ext cx="2221992" cy="786384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44952" y="2798064"/>
            <a:ext cx="2002536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52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44952" y="3108960"/>
            <a:ext cx="2002536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60" b="1" i="0">
                <a:solidFill>
                  <a:srgbClr val="0A1628"/>
                </a:solidFill>
                <a:latin typeface="Calibri"/>
              </a:rPr>
              <a:t>PdM MCP tools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21808" y="2724912"/>
            <a:ext cx="2221992" cy="786384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31536" y="2798064"/>
            <a:ext cx="2002536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40%+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31536" y="3108960"/>
            <a:ext cx="2002536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60" b="1" i="0">
                <a:solidFill>
                  <a:srgbClr val="0A1628"/>
                </a:solidFill>
                <a:latin typeface="Calibri"/>
              </a:rPr>
              <a:t>Speedup signal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657600"/>
            <a:ext cx="21031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HOW IT WORKS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913632"/>
            <a:ext cx="214884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3986784"/>
            <a:ext cx="31089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B800"/>
                </a:solidFill>
                <a:latin typeface="Calibri"/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" y="3950208"/>
            <a:ext cx="1581912" cy="4937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80" b="0" i="0">
                <a:solidFill>
                  <a:srgbClr val="1B2B3C"/>
                </a:solidFill>
                <a:latin typeface="Calibri"/>
              </a:rPr>
              <a:t>Sensor data enters via MQTT or OPC-UA and is normalized for analysis.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4151376"/>
            <a:ext cx="219456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71800" y="3913632"/>
            <a:ext cx="214884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81528" y="3986784"/>
            <a:ext cx="31089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B800"/>
                </a:solidFill>
                <a:latin typeface="Calibri"/>
              </a:rP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47288" y="3950208"/>
            <a:ext cx="1581912" cy="4937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80" b="0" i="0">
                <a:solidFill>
                  <a:srgbClr val="1B2B3C"/>
                </a:solidFill>
                <a:latin typeface="Calibri"/>
              </a:rPr>
              <a:t>OpenHands agents call PdM and SAP-connected MCP tools to detect, explain, and route issues.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66360" y="4151376"/>
            <a:ext cx="219456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94960" y="3913632"/>
            <a:ext cx="214884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04688" y="3986784"/>
            <a:ext cx="31089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B800"/>
                </a:solidFill>
                <a:latin typeface="Calibri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70448" y="3950208"/>
            <a:ext cx="1581912" cy="4937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80" b="0" i="0">
                <a:solidFill>
                  <a:srgbClr val="1B2B3C"/>
                </a:solidFill>
                <a:latin typeface="Calibri"/>
              </a:rPr>
              <a:t>Critical findings become planner-ready work orders and operator summaries.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800600"/>
            <a:ext cx="6995160" cy="8686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4910328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SOLUTION STACK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" y="5111496"/>
            <a:ext cx="1511046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40" b="1" i="0">
                <a:solidFill>
                  <a:srgbClr val="00C9A7"/>
                </a:solidFill>
                <a:latin typeface="Calibri"/>
              </a:rPr>
              <a:t>EXPERIENCE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" y="5276088"/>
            <a:ext cx="151104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10" b="0" i="0">
                <a:solidFill>
                  <a:srgbClr val="FFFFFF"/>
                </a:solidFill>
                <a:latin typeface="Calibri"/>
              </a:rPr>
              <a:t>planner console + maintenance summary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97430" y="5111496"/>
            <a:ext cx="1511046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40" b="1" i="0">
                <a:solidFill>
                  <a:srgbClr val="00C9A7"/>
                </a:solidFill>
                <a:latin typeface="Calibri"/>
              </a:rPr>
              <a:t>ORCHESTRATION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97430" y="5276088"/>
            <a:ext cx="151104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10" b="0" i="0">
                <a:solidFill>
                  <a:srgbClr val="FFFFFF"/>
                </a:solidFill>
                <a:latin typeface="Calibri"/>
              </a:rPr>
              <a:t>OpenHands conversation and agent stack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81628" y="5111496"/>
            <a:ext cx="1511046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40" b="1" i="0">
                <a:solidFill>
                  <a:srgbClr val="00C9A7"/>
                </a:solidFill>
                <a:latin typeface="Calibri"/>
              </a:rPr>
              <a:t>CONTEXT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81628" y="5276088"/>
            <a:ext cx="151104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10" b="0" i="0">
                <a:solidFill>
                  <a:srgbClr val="FFFFFF"/>
                </a:solidFill>
                <a:latin typeface="Calibri"/>
              </a:rPr>
              <a:t>sensor streams, asset history, failure patterns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65826" y="5111496"/>
            <a:ext cx="1511046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40" b="1" i="0">
                <a:solidFill>
                  <a:srgbClr val="00C9A7"/>
                </a:solidFill>
                <a:latin typeface="Calibri"/>
              </a:rPr>
              <a:t>ACTUATION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65826" y="5276088"/>
            <a:ext cx="151104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10" b="0" i="0">
                <a:solidFill>
                  <a:srgbClr val="FFFFFF"/>
                </a:solidFill>
                <a:latin typeface="Calibri"/>
              </a:rPr>
              <a:t>SAP PM work orders, alerts, reports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5897880"/>
            <a:ext cx="3406140" cy="329184"/>
          </a:xfrm>
          <a:prstGeom prst="roundRect">
            <a:avLst>
              <a:gd name="adj" fmla="val 4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5897880"/>
            <a:ext cx="3131820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00" b="1" i="0">
                <a:solidFill>
                  <a:srgbClr val="FFFFFF"/>
                </a:solidFill>
                <a:latin typeface="Calibri"/>
              </a:rPr>
              <a:t>SYSTEMS: MQTT · OPC-UA · PdM MCP · SAP PM · historian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137660" y="5897880"/>
            <a:ext cx="3406140" cy="329184"/>
          </a:xfrm>
          <a:prstGeom prst="roundRect">
            <a:avLst>
              <a:gd name="adj" fmla="val 4000"/>
            </a:avLst>
          </a:prstGeom>
          <a:solidFill>
            <a:srgbClr val="008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74820" y="5897880"/>
            <a:ext cx="3131820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00" b="1" i="0">
                <a:solidFill>
                  <a:srgbClr val="FFFFFF"/>
                </a:solidFill>
                <a:latin typeface="Calibri"/>
              </a:rPr>
              <a:t>USERS: maintenance planner · reliability lead · plant ops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66760" y="411480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IMPLEMENTATION NOTES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66760" y="960120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40" b="1" i="0">
                <a:solidFill>
                  <a:srgbClr val="FFFFFF"/>
                </a:solidFill>
                <a:latin typeface="Calibri"/>
              </a:rPr>
              <a:t>PDF framework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66760" y="1161288"/>
            <a:ext cx="3596335" cy="512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880" b="0" i="0">
                <a:solidFill>
                  <a:srgbClr val="E0F7F1"/>
                </a:solidFill>
                <a:latin typeface="Calibri"/>
              </a:rPr>
              <a:t>Identifies predictive maintenance as the highest-value manufacturing lane.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66760" y="1783080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40" b="1" i="0">
                <a:solidFill>
                  <a:srgbClr val="FFFFFF"/>
                </a:solidFill>
                <a:latin typeface="Calibri"/>
              </a:rPr>
              <a:t>OpenHands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66760" y="1984248"/>
            <a:ext cx="3596335" cy="512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880" b="0" i="0">
                <a:solidFill>
                  <a:srgbClr val="E0F7F1"/>
                </a:solidFill>
                <a:latin typeface="Calibri"/>
              </a:rPr>
              <a:t>Supplies the reusable agent, plugin, and MCP orchestration primitives.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66760" y="2606040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40" b="1" i="0">
                <a:solidFill>
                  <a:srgbClr val="FFFFFF"/>
                </a:solidFill>
                <a:latin typeface="Calibri"/>
              </a:rPr>
              <a:t>SAP PM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66760" y="2807208"/>
            <a:ext cx="3596335" cy="512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880" b="0" i="0">
                <a:solidFill>
                  <a:srgbClr val="E0F7F1"/>
                </a:solidFill>
                <a:latin typeface="Calibri"/>
              </a:rPr>
              <a:t>Acts as the action system for work orders and maintenance execution.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66760" y="3429000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40" b="1" i="0">
                <a:solidFill>
                  <a:srgbClr val="FFFFFF"/>
                </a:solidFill>
                <a:latin typeface="Calibri"/>
              </a:rPr>
              <a:t>Plant team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66760" y="3630168"/>
            <a:ext cx="3596335" cy="512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880" b="0" i="0">
                <a:solidFill>
                  <a:srgbClr val="E0F7F1"/>
                </a:solidFill>
                <a:latin typeface="Calibri"/>
              </a:rPr>
              <a:t>Starts with one critical asset family and one workflow owner.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5B6B7C"/>
                </a:solidFill>
                <a:latin typeface="Calibri"/>
              </a:rPr>
              <a:t>INDUSTRY 01  · MANUFACTURING  ·  ROI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A1628"/>
                </a:solidFill>
                <a:latin typeface="Calibri"/>
              </a:rPr>
              <a:t>BMW AIQX: 50% inspection time cut, 60% defect reduction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89888"/>
            <a:ext cx="3539642" cy="146304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18488"/>
            <a:ext cx="3173882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4000" b="1" i="0">
                <a:solidFill>
                  <a:srgbClr val="00C9A7"/>
                </a:solidFill>
                <a:latin typeface="Calibri"/>
              </a:rPr>
              <a:t>50%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58568"/>
            <a:ext cx="3173882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FFFFFF"/>
                </a:solidFill>
                <a:latin typeface="Calibri"/>
              </a:rPr>
              <a:t>Manual inspection
time eliminated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6026" y="1389888"/>
            <a:ext cx="3539642" cy="146304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8906" y="1618488"/>
            <a:ext cx="3173882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4000" b="1" i="0">
                <a:solidFill>
                  <a:srgbClr val="00C9A7"/>
                </a:solidFill>
                <a:latin typeface="Calibri"/>
              </a:rPr>
              <a:t>60%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8906" y="2258568"/>
            <a:ext cx="3173882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FFFFFF"/>
                </a:solidFill>
                <a:latin typeface="Calibri"/>
              </a:rPr>
              <a:t>Vehicle defects
reduced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3412" y="1389888"/>
            <a:ext cx="3539642" cy="146304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6292" y="1618488"/>
            <a:ext cx="3173882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4000" b="1" i="0">
                <a:solidFill>
                  <a:srgbClr val="00C9A7"/>
                </a:solidFill>
                <a:latin typeface="Calibri"/>
              </a:rPr>
              <a:t>95-99%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6292" y="2258568"/>
            <a:ext cx="3173882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FFFFFF"/>
                </a:solidFill>
                <a:latin typeface="Calibri"/>
              </a:rPr>
              <a:t>Defect detection
accuracy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063240"/>
            <a:ext cx="11094415" cy="24231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22783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VERIFIED PROOF POINTS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538728"/>
            <a:ext cx="10637215" cy="1691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BMW AIQX deployed across all BMW Group plants worldwide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Eliminates false positives via neural networks on real-time camera feeds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Bosch: AI in 50 plants, 2,000+ production lines; 15% ramp-up takt time reduction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GE Vernova SmartSignal: $1.6B cumulative customer savings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669280"/>
            <a:ext cx="11094415" cy="384048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669280"/>
            <a:ext cx="10728655" cy="38404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Calibri"/>
              </a:rPr>
              <a:t>Sources: BMW Group, Bosch CES 2026, GE Vernova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5B6B7C"/>
                </a:solidFill>
                <a:latin typeface="Calibri"/>
              </a:rPr>
              <a:t>INDUSTRY 01  · MANUFACTURING  ·  MARKET BENCHMARK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A1628"/>
                </a:solidFill>
                <a:latin typeface="Calibri"/>
              </a:rPr>
              <a:t>PdM market: $2.6B → $19.3B by 2032 (39.5% CAGR)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89888"/>
            <a:ext cx="3539642" cy="160020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3173882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B800"/>
                </a:solidFill>
                <a:latin typeface="Calibri"/>
              </a:rPr>
              <a:t>SIEMENS SENSEYE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847088"/>
            <a:ext cx="3173882" cy="36576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56816"/>
            <a:ext cx="3173882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80" b="0" i="0">
                <a:solidFill>
                  <a:srgbClr val="FFFFFF"/>
                </a:solidFill>
                <a:latin typeface="Calibri"/>
              </a:rPr>
              <a:t>Cloud PdM across production lines; gen-AI-enhanced failure prediction (Dec 2025)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6026" y="1389888"/>
            <a:ext cx="3539642" cy="1600200"/>
          </a:xfrm>
          <a:prstGeom prst="roundRect">
            <a:avLst>
              <a:gd name="adj" fmla="val 6000"/>
            </a:avLst>
          </a:prstGeom>
          <a:solidFill>
            <a:srgbClr val="009B82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8906" y="1554480"/>
            <a:ext cx="3173882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B800"/>
                </a:solidFill>
                <a:latin typeface="Calibri"/>
              </a:rPr>
              <a:t>BOSCH AI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08906" y="1847088"/>
            <a:ext cx="3173882" cy="36576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8906" y="1956816"/>
            <a:ext cx="3173882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80" b="0" i="0">
                <a:solidFill>
                  <a:srgbClr val="FFFFFF"/>
                </a:solidFill>
                <a:latin typeface="Calibri"/>
              </a:rPr>
              <a:t>50 plants, 2,000+ lines interconnected; opening AI platform to external companies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3412" y="1389888"/>
            <a:ext cx="3539642" cy="1600200"/>
          </a:xfrm>
          <a:prstGeom prst="roundRect">
            <a:avLst>
              <a:gd name="adj" fmla="val 6000"/>
            </a:avLst>
          </a:prstGeom>
          <a:solidFill>
            <a:srgbClr val="008F75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6292" y="1554480"/>
            <a:ext cx="3173882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B800"/>
                </a:solidFill>
                <a:latin typeface="Calibri"/>
              </a:rPr>
              <a:t>GE VERNOVA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86292" y="1847088"/>
            <a:ext cx="3173882" cy="36576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6292" y="1956816"/>
            <a:ext cx="3173882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80" b="0" i="0">
                <a:solidFill>
                  <a:srgbClr val="FFFFFF"/>
                </a:solidFill>
                <a:latin typeface="Calibri"/>
              </a:rPr>
              <a:t>$1.6B cumulative savings; Dorad Energy saved $4M in &lt;4 years via digital twins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200400"/>
            <a:ext cx="6101928" cy="14173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3337560"/>
            <a:ext cx="27432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MARKET SIZE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3639312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0C9A7"/>
                </a:solidFill>
                <a:latin typeface="Calibri"/>
              </a:rPr>
              <a:t>$2.61B (2026) → $19.27B (2032)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409651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Growth: 39.5%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88312" y="3200400"/>
            <a:ext cx="4754742" cy="1417320"/>
          </a:xfrm>
          <a:prstGeom prst="roundRect">
            <a:avLst>
              <a:gd name="adj" fmla="val 6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89480" y="3337560"/>
            <a:ext cx="4352406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IMPLICATION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9480" y="3639312"/>
            <a:ext cx="4352406" cy="8046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A1628"/>
                </a:solidFill>
                <a:latin typeface="Calibri"/>
              </a:rPr>
              <a:t>The predictive maintenance ai agent opportunity is validated by production deployments across multiple enterprises. Early movers capture disproportionate share.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846320"/>
            <a:ext cx="11094415" cy="384048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846320"/>
            <a:ext cx="10728655" cy="38404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Sources: MarketsandMarkets, Siemens, Bosch, GE Vernova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92440" y="0"/>
            <a:ext cx="409925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92440" y="0"/>
            <a:ext cx="54864" cy="68580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7178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INDUSTRY 02  · LAW FIRMS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12064"/>
            <a:ext cx="7178040" cy="6217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FFFFFF"/>
                </a:solidFill>
                <a:latin typeface="Calibri"/>
              </a:rPr>
              <a:t>Contract Generation &amp; Review 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43000"/>
            <a:ext cx="3396996" cy="1499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280160"/>
            <a:ext cx="306781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527048"/>
            <a:ext cx="3104388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40" b="0" i="0">
                <a:solidFill>
                  <a:srgbClr val="1B2B3C"/>
                </a:solidFill>
                <a:latin typeface="Calibri"/>
              </a:rPr>
              <a:t>•  Drafting and review consume high-value lawyer time on repeatable contract patterns.</a:t>
            </a:r>
          </a:p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40" b="0" i="0">
                <a:solidFill>
                  <a:srgbClr val="1B2B3C"/>
                </a:solidFill>
                <a:latin typeface="Calibri"/>
              </a:rPr>
              <a:t>•  Jurisdiction rules, approvals, and signature flow create fragmented tool usage.</a:t>
            </a:r>
          </a:p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40" b="0" i="0">
                <a:solidFill>
                  <a:srgbClr val="1B2B3C"/>
                </a:solidFill>
                <a:latin typeface="Calibri"/>
              </a:rPr>
              <a:t>•  Risk review needs traceable findings, not opaque one-shot AI output.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46804" y="1143000"/>
            <a:ext cx="3396996" cy="1499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11396" y="1280160"/>
            <a:ext cx="306781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1396" y="1527048"/>
            <a:ext cx="3104388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40" b="0" i="0">
                <a:solidFill>
                  <a:srgbClr val="1B2B3C"/>
                </a:solidFill>
                <a:latin typeface="Calibri"/>
              </a:rPr>
              <a:t>•  Orchestrate template fill, clause review, and research across MCP services.</a:t>
            </a:r>
          </a:p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40" b="0" i="0">
                <a:solidFill>
                  <a:srgbClr val="1B2B3C"/>
                </a:solidFill>
                <a:latin typeface="Calibri"/>
              </a:rPr>
              <a:t>•  Use specialized generation, review, and research agents.</a:t>
            </a:r>
          </a:p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40" b="0" i="0">
                <a:solidFill>
                  <a:srgbClr val="1B2B3C"/>
                </a:solidFill>
                <a:latin typeface="Calibri"/>
              </a:rPr>
              <a:t>•  Keep outputs in DOCX and memo formats with review gates.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724912"/>
            <a:ext cx="2221992" cy="786384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798064"/>
            <a:ext cx="2002536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$3K-5K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108960"/>
            <a:ext cx="2002536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60" b="1" i="0">
                <a:solidFill>
                  <a:srgbClr val="0A1628"/>
                </a:solidFill>
                <a:latin typeface="Calibri"/>
              </a:rPr>
              <a:t>Revenue band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35224" y="2724912"/>
            <a:ext cx="2221992" cy="786384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44952" y="2798064"/>
            <a:ext cx="2002536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40+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44952" y="3108960"/>
            <a:ext cx="2002536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60" b="1" i="0">
                <a:solidFill>
                  <a:srgbClr val="0A1628"/>
                </a:solidFill>
                <a:latin typeface="Calibri"/>
              </a:rPr>
              <a:t>Template count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21808" y="2724912"/>
            <a:ext cx="2221992" cy="786384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31536" y="2798064"/>
            <a:ext cx="2002536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67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31536" y="3108960"/>
            <a:ext cx="2002536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60" b="1" i="0">
                <a:solidFill>
                  <a:srgbClr val="0A1628"/>
                </a:solidFill>
                <a:latin typeface="Calibri"/>
              </a:rPr>
              <a:t>Review agents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657600"/>
            <a:ext cx="21031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HOW IT WORKS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913632"/>
            <a:ext cx="214884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3986784"/>
            <a:ext cx="31089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B800"/>
                </a:solidFill>
                <a:latin typeface="Calibri"/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" y="3950208"/>
            <a:ext cx="1581912" cy="4937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80" b="0" i="0">
                <a:solidFill>
                  <a:srgbClr val="1B2B3C"/>
                </a:solidFill>
                <a:latin typeface="Calibri"/>
              </a:rPr>
              <a:t>Client intake identifies agreement type and required fields.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4151376"/>
            <a:ext cx="219456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71800" y="3913632"/>
            <a:ext cx="214884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81528" y="3986784"/>
            <a:ext cx="31089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B800"/>
                </a:solidFill>
                <a:latin typeface="Calibri"/>
              </a:rP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47288" y="3950208"/>
            <a:ext cx="1581912" cy="4937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80" b="0" i="0">
                <a:solidFill>
                  <a:srgbClr val="1B2B3C"/>
                </a:solidFill>
                <a:latin typeface="Calibri"/>
              </a:rPr>
              <a:t>Generation, review, and legal research agents call MCP-connected tools in sequence.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66360" y="4151376"/>
            <a:ext cx="219456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94960" y="3913632"/>
            <a:ext cx="214884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04688" y="3986784"/>
            <a:ext cx="31089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B800"/>
                </a:solidFill>
                <a:latin typeface="Calibri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70448" y="3950208"/>
            <a:ext cx="1581912" cy="4937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80" b="0" i="0">
                <a:solidFill>
                  <a:srgbClr val="1B2B3C"/>
                </a:solidFill>
                <a:latin typeface="Calibri"/>
              </a:rPr>
              <a:t>Approved output moves into DocuSign and matter-management workflows.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800600"/>
            <a:ext cx="6995160" cy="8686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4910328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SOLUTION STACK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" y="5111496"/>
            <a:ext cx="1511046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40" b="1" i="0">
                <a:solidFill>
                  <a:srgbClr val="00C9A7"/>
                </a:solidFill>
                <a:latin typeface="Calibri"/>
              </a:rPr>
              <a:t>EXPERIENCE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" y="5276088"/>
            <a:ext cx="151104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10" b="0" i="0">
                <a:solidFill>
                  <a:srgbClr val="FFFFFF"/>
                </a:solidFill>
                <a:latin typeface="Calibri"/>
              </a:rPr>
              <a:t>matter intake + review workspace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97430" y="5111496"/>
            <a:ext cx="1511046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40" b="1" i="0">
                <a:solidFill>
                  <a:srgbClr val="00C9A7"/>
                </a:solidFill>
                <a:latin typeface="Calibri"/>
              </a:rPr>
              <a:t>ORCHESTRATION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97430" y="5276088"/>
            <a:ext cx="151104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10" b="0" i="0">
                <a:solidFill>
                  <a:srgbClr val="FFFFFF"/>
                </a:solidFill>
                <a:latin typeface="Calibri"/>
              </a:rPr>
              <a:t>OpenHands skill and agent chain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81628" y="5111496"/>
            <a:ext cx="1511046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40" b="1" i="0">
                <a:solidFill>
                  <a:srgbClr val="00C9A7"/>
                </a:solidFill>
                <a:latin typeface="Calibri"/>
              </a:rPr>
              <a:t>CONTEXT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81628" y="5276088"/>
            <a:ext cx="151104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10" b="0" i="0">
                <a:solidFill>
                  <a:srgbClr val="FFFFFF"/>
                </a:solidFill>
                <a:latin typeface="Calibri"/>
              </a:rPr>
              <a:t>templates, clauses, jurisdiction rules, matter data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65826" y="5111496"/>
            <a:ext cx="1511046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40" b="1" i="0">
                <a:solidFill>
                  <a:srgbClr val="00C9A7"/>
                </a:solidFill>
                <a:latin typeface="Calibri"/>
              </a:rPr>
              <a:t>ACTUATION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65826" y="5276088"/>
            <a:ext cx="151104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10" b="0" i="0">
                <a:solidFill>
                  <a:srgbClr val="FFFFFF"/>
                </a:solidFill>
                <a:latin typeface="Calibri"/>
              </a:rPr>
              <a:t>DOCX output, redlines, signature routing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5897880"/>
            <a:ext cx="3406140" cy="329184"/>
          </a:xfrm>
          <a:prstGeom prst="roundRect">
            <a:avLst>
              <a:gd name="adj" fmla="val 4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5897880"/>
            <a:ext cx="3131820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00" b="1" i="0">
                <a:solidFill>
                  <a:srgbClr val="FFFFFF"/>
                </a:solidFill>
                <a:latin typeface="Calibri"/>
              </a:rPr>
              <a:t>SYSTEMS: Open Agreements · DocuSign · legal research MCP · Clio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137660" y="5897880"/>
            <a:ext cx="3406140" cy="329184"/>
          </a:xfrm>
          <a:prstGeom prst="roundRect">
            <a:avLst>
              <a:gd name="adj" fmla="val 4000"/>
            </a:avLst>
          </a:prstGeom>
          <a:solidFill>
            <a:srgbClr val="008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74820" y="5897880"/>
            <a:ext cx="3131820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00" b="1" i="0">
                <a:solidFill>
                  <a:srgbClr val="FFFFFF"/>
                </a:solidFill>
                <a:latin typeface="Calibri"/>
              </a:rPr>
              <a:t>USERS: associate · partner · legal ops · billing lead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66760" y="411480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IMPLEMENTATION NOTES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66760" y="960120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40" b="1" i="0">
                <a:solidFill>
                  <a:srgbClr val="FFFFFF"/>
                </a:solidFill>
                <a:latin typeface="Calibri"/>
              </a:rPr>
              <a:t>PDF framework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66760" y="1161288"/>
            <a:ext cx="3596335" cy="512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880" b="0" i="0">
                <a:solidFill>
                  <a:srgbClr val="E0F7F1"/>
                </a:solidFill>
                <a:latin typeface="Calibri"/>
              </a:rPr>
              <a:t>Positions contract generation and review as the clearest legal wedge.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66760" y="1783080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40" b="1" i="0">
                <a:solidFill>
                  <a:srgbClr val="FFFFFF"/>
                </a:solidFill>
                <a:latin typeface="Calibri"/>
              </a:rPr>
              <a:t>OpenHands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66760" y="1984248"/>
            <a:ext cx="3596335" cy="512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880" b="0" i="0">
                <a:solidFill>
                  <a:srgbClr val="E0F7F1"/>
                </a:solidFill>
                <a:latin typeface="Calibri"/>
              </a:rPr>
              <a:t>Packages multi-agent review and reusable skills cleanly.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66760" y="2606040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40" b="1" i="0">
                <a:solidFill>
                  <a:srgbClr val="FFFFFF"/>
                </a:solidFill>
                <a:latin typeface="Calibri"/>
              </a:rPr>
              <a:t>Template systems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66760" y="2807208"/>
            <a:ext cx="3596335" cy="512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880" b="0" i="0">
                <a:solidFill>
                  <a:srgbClr val="E0F7F1"/>
                </a:solidFill>
                <a:latin typeface="Calibri"/>
              </a:rPr>
              <a:t>Provide repeatable starting points instead of blank-document generation.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66760" y="3429000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40" b="1" i="0">
                <a:solidFill>
                  <a:srgbClr val="FFFFFF"/>
                </a:solidFill>
                <a:latin typeface="Calibri"/>
              </a:rPr>
              <a:t>Firm stakeholders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66760" y="3630168"/>
            <a:ext cx="3596335" cy="512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880" b="0" i="0">
                <a:solidFill>
                  <a:srgbClr val="E0F7F1"/>
                </a:solidFill>
                <a:latin typeface="Calibri"/>
              </a:rPr>
              <a:t>Need auditable review outputs and approval controls.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5B6B7C"/>
                </a:solidFill>
                <a:latin typeface="Calibri"/>
              </a:rPr>
              <a:t>INDUSTRY 02  · LAW FIRMS  ·  ROI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A1628"/>
                </a:solidFill>
                <a:latin typeface="Calibri"/>
              </a:rPr>
              <a:t>Harvey AI: $300M ARR, 3× growth in 9 months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89888"/>
            <a:ext cx="3539642" cy="146304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18488"/>
            <a:ext cx="3173882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4000" b="1" i="0">
                <a:solidFill>
                  <a:srgbClr val="00C9A7"/>
                </a:solidFill>
                <a:latin typeface="Calibri"/>
              </a:rPr>
              <a:t>$300M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58568"/>
            <a:ext cx="3173882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FFFFFF"/>
                </a:solidFill>
                <a:latin typeface="Calibri"/>
              </a:rPr>
              <a:t>ARR
(May 2026)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6026" y="1389888"/>
            <a:ext cx="3539642" cy="146304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8906" y="1618488"/>
            <a:ext cx="3173882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4000" b="1" i="0">
                <a:solidFill>
                  <a:srgbClr val="00C9A7"/>
                </a:solidFill>
                <a:latin typeface="Calibri"/>
              </a:rPr>
              <a:t>142K+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8906" y="2258568"/>
            <a:ext cx="3173882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FFFFFF"/>
                </a:solidFill>
                <a:latin typeface="Calibri"/>
              </a:rPr>
              <a:t>Lawyers using
platform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3412" y="1389888"/>
            <a:ext cx="3539642" cy="146304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6292" y="1618488"/>
            <a:ext cx="3173882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4000" b="1" i="0">
                <a:solidFill>
                  <a:srgbClr val="00C9A7"/>
                </a:solidFill>
                <a:latin typeface="Calibri"/>
              </a:rPr>
              <a:t>$11B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6292" y="2258568"/>
            <a:ext cx="3173882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FFFFFF"/>
                </a:solidFill>
                <a:latin typeface="Calibri"/>
              </a:rPr>
              <a:t>Valuation
(Mar 2026)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063240"/>
            <a:ext cx="11094415" cy="24231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22783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VERIFIED PROOF POINTS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538728"/>
            <a:ext cx="10637215" cy="1691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Harvey AI: 50% of Am Law 100 firms, 1,500+ customers in 60+ countries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Thomson Reuters CoCounsel: 20,000+ U.S. law firms; saves 5-8 hours per attorney per day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LexisNexis Lexis+ AI: 344% ROI for large firms, 20,000+ hours saved over 3 years (Forrester)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GenAI adoption in law jumped 14% → 26% in one year (2024-2025)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669280"/>
            <a:ext cx="11094415" cy="384048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669280"/>
            <a:ext cx="10728655" cy="38404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Calibri"/>
              </a:rPr>
              <a:t>Sources: Harvey AI, Thomson Reuters, LexisNexis / Forrester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5B6B7C"/>
                </a:solidFill>
                <a:latin typeface="Calibri"/>
              </a:rPr>
              <a:t>INDUSTRY 02  · LAW FIRMS  ·  MARKET BENCHMARK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A1628"/>
                </a:solidFill>
                <a:latin typeface="Calibri"/>
              </a:rPr>
              <a:t>Legal AI adoption doubled in 12 months — firms with AI strategy see 3.5× more ROI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89888"/>
            <a:ext cx="3539642" cy="160020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3173882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B800"/>
                </a:solidFill>
                <a:latin typeface="Calibri"/>
              </a:rPr>
              <a:t>HARVEY AI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847088"/>
            <a:ext cx="3173882" cy="36576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56816"/>
            <a:ext cx="3173882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80" b="0" i="0">
                <a:solidFill>
                  <a:srgbClr val="FFFFFF"/>
                </a:solidFill>
                <a:latin typeface="Calibri"/>
              </a:rPr>
              <a:t>$11B valuation; 142K lawyers across 1,500+ customers; 50% of Am Law 100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6026" y="1389888"/>
            <a:ext cx="3539642" cy="1600200"/>
          </a:xfrm>
          <a:prstGeom prst="roundRect">
            <a:avLst>
              <a:gd name="adj" fmla="val 6000"/>
            </a:avLst>
          </a:prstGeom>
          <a:solidFill>
            <a:srgbClr val="009B82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8906" y="1554480"/>
            <a:ext cx="3173882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B800"/>
                </a:solidFill>
                <a:latin typeface="Calibri"/>
              </a:rPr>
              <a:t>COCOUNSEL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08906" y="1847088"/>
            <a:ext cx="3173882" cy="36576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8906" y="1956816"/>
            <a:ext cx="3173882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80" b="0" i="0">
                <a:solidFill>
                  <a:srgbClr val="FFFFFF"/>
                </a:solidFill>
                <a:latin typeface="Calibri"/>
              </a:rPr>
              <a:t>20,000+ firms; document review speed more than doubled; research time cut 80%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3412" y="1389888"/>
            <a:ext cx="3539642" cy="1600200"/>
          </a:xfrm>
          <a:prstGeom prst="roundRect">
            <a:avLst>
              <a:gd name="adj" fmla="val 6000"/>
            </a:avLst>
          </a:prstGeom>
          <a:solidFill>
            <a:srgbClr val="008F75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6292" y="1554480"/>
            <a:ext cx="3173882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B800"/>
                </a:solidFill>
                <a:latin typeface="Calibri"/>
              </a:rPr>
              <a:t>LEXIS+ AI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86292" y="1847088"/>
            <a:ext cx="3173882" cy="36576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6292" y="1956816"/>
            <a:ext cx="3173882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80" b="0" i="0">
                <a:solidFill>
                  <a:srgbClr val="FFFFFF"/>
                </a:solidFill>
                <a:latin typeface="Calibri"/>
              </a:rPr>
              <a:t>Forrester: 344% ROI for large firms; 20,000+ hours saved over 3 years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200400"/>
            <a:ext cx="6101928" cy="14173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3337560"/>
            <a:ext cx="27432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MARKET SIZE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3639312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0C9A7"/>
                </a:solidFill>
                <a:latin typeface="Calibri"/>
              </a:rPr>
              <a:t>Legal AI market crossing inflection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409651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Growth: 26% firm adoption (up from 14%)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88312" y="3200400"/>
            <a:ext cx="4754742" cy="1417320"/>
          </a:xfrm>
          <a:prstGeom prst="roundRect">
            <a:avLst>
              <a:gd name="adj" fmla="val 6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89480" y="3337560"/>
            <a:ext cx="4352406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IMPLICATION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9480" y="3639312"/>
            <a:ext cx="4352406" cy="8046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A1628"/>
                </a:solidFill>
                <a:latin typeface="Calibri"/>
              </a:rPr>
              <a:t>The contract generation &amp; review agent opportunity is validated by production deployments across multiple enterprises. Early movers capture disproportionate share.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846320"/>
            <a:ext cx="11094415" cy="384048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846320"/>
            <a:ext cx="10728655" cy="38404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Sources: Harvey AI, Thomson Reuters Institute, Forrester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92440" y="0"/>
            <a:ext cx="409925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92440" y="0"/>
            <a:ext cx="54864" cy="68580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7178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INDUSTRY 03  · HEALTHCARE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12064"/>
            <a:ext cx="7178040" cy="6217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FFFFFF"/>
                </a:solidFill>
                <a:latin typeface="Calibri"/>
              </a:rPr>
              <a:t>Patient Intake + Insurance Verification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43000"/>
            <a:ext cx="3396996" cy="1499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280160"/>
            <a:ext cx="306781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527048"/>
            <a:ext cx="3104388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40" b="0" i="0">
                <a:solidFill>
                  <a:srgbClr val="1B2B3C"/>
                </a:solidFill>
                <a:latin typeface="Calibri"/>
              </a:rPr>
              <a:t>•  Front-desk teams still rekey intake data and chase payer eligibility manually.</a:t>
            </a:r>
          </a:p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40" b="0" i="0">
                <a:solidFill>
                  <a:srgbClr val="1B2B3C"/>
                </a:solidFill>
                <a:latin typeface="Calibri"/>
              </a:rPr>
              <a:t>•  Patient experience drops when verification and reminders break across systems.</a:t>
            </a:r>
          </a:p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40" b="0" i="0">
                <a:solidFill>
                  <a:srgbClr val="1B2B3C"/>
                </a:solidFill>
                <a:latin typeface="Calibri"/>
              </a:rPr>
              <a:t>•  HIPAA makes deployment discipline non-negotiable.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46804" y="1143000"/>
            <a:ext cx="3396996" cy="1499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11396" y="1280160"/>
            <a:ext cx="306781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1396" y="1527048"/>
            <a:ext cx="3104388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40" b="0" i="0">
                <a:solidFill>
                  <a:srgbClr val="1B2B3C"/>
                </a:solidFill>
                <a:latin typeface="Calibri"/>
              </a:rPr>
              <a:t>•  Automate intake validation, EHR writeback, eligibility checks, and reminders.</a:t>
            </a:r>
          </a:p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40" b="0" i="0">
                <a:solidFill>
                  <a:srgbClr val="1B2B3C"/>
                </a:solidFill>
                <a:latin typeface="Calibri"/>
              </a:rPr>
              <a:t>•  Keep PHI inside the customer-controlled workflow boundary.</a:t>
            </a:r>
          </a:p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40" b="0" i="0">
                <a:solidFill>
                  <a:srgbClr val="1B2B3C"/>
                </a:solidFill>
                <a:latin typeface="Calibri"/>
              </a:rPr>
              <a:t>•  Escalate failed verification and consent exceptions.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724912"/>
            <a:ext cx="2221992" cy="786384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798064"/>
            <a:ext cx="2002536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$3K-5K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108960"/>
            <a:ext cx="2002536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60" b="1" i="0">
                <a:solidFill>
                  <a:srgbClr val="0A1628"/>
                </a:solidFill>
                <a:latin typeface="Calibri"/>
              </a:rPr>
              <a:t>Revenue band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35224" y="2724912"/>
            <a:ext cx="2221992" cy="786384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44952" y="2798064"/>
            <a:ext cx="2002536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FHIR R4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44952" y="3108960"/>
            <a:ext cx="2002536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60" b="1" i="0">
                <a:solidFill>
                  <a:srgbClr val="0A1628"/>
                </a:solidFill>
                <a:latin typeface="Calibri"/>
              </a:rPr>
              <a:t>Primary system standard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21808" y="2724912"/>
            <a:ext cx="2221992" cy="786384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31536" y="2798064"/>
            <a:ext cx="2002536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24h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31536" y="3108960"/>
            <a:ext cx="2002536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60" b="1" i="0">
                <a:solidFill>
                  <a:srgbClr val="0A1628"/>
                </a:solidFill>
                <a:latin typeface="Calibri"/>
              </a:rPr>
              <a:t>Reminder workflow anchor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657600"/>
            <a:ext cx="21031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HOW IT WORKS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913632"/>
            <a:ext cx="214884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3986784"/>
            <a:ext cx="31089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B800"/>
                </a:solidFill>
                <a:latin typeface="Calibri"/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" y="3950208"/>
            <a:ext cx="1581912" cy="4937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80" b="0" i="0">
                <a:solidFill>
                  <a:srgbClr val="1B2B3C"/>
                </a:solidFill>
                <a:latin typeface="Calibri"/>
              </a:rPr>
              <a:t>Patient intake data is validated and written into a FHIR-compatible record.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4151376"/>
            <a:ext cx="219456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71800" y="3913632"/>
            <a:ext cx="214884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81528" y="3986784"/>
            <a:ext cx="31089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B800"/>
                </a:solidFill>
                <a:latin typeface="Calibri"/>
              </a:rP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47288" y="3950208"/>
            <a:ext cx="1581912" cy="4937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80" b="0" i="0">
                <a:solidFill>
                  <a:srgbClr val="1B2B3C"/>
                </a:solidFill>
                <a:latin typeface="Calibri"/>
              </a:rPr>
              <a:t>Eligibility and scheduling calls run through MCP-connected services with exception routing.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66360" y="4151376"/>
            <a:ext cx="219456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94960" y="3913632"/>
            <a:ext cx="214884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04688" y="3986784"/>
            <a:ext cx="31089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B800"/>
                </a:solidFill>
                <a:latin typeface="Calibri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70448" y="3950208"/>
            <a:ext cx="1581912" cy="4937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80" b="0" i="0">
                <a:solidFill>
                  <a:srgbClr val="1B2B3C"/>
                </a:solidFill>
                <a:latin typeface="Calibri"/>
              </a:rPr>
              <a:t>Confirmed appointments trigger reminders and post-visit claim workflow preparation.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800600"/>
            <a:ext cx="6995160" cy="8686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4910328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SOLUTION STACK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" y="5111496"/>
            <a:ext cx="1511046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40" b="1" i="0">
                <a:solidFill>
                  <a:srgbClr val="00C9A7"/>
                </a:solidFill>
                <a:latin typeface="Calibri"/>
              </a:rPr>
              <a:t>EXPERIENCE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" y="5276088"/>
            <a:ext cx="151104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10" b="0" i="0">
                <a:solidFill>
                  <a:srgbClr val="FFFFFF"/>
                </a:solidFill>
                <a:latin typeface="Calibri"/>
              </a:rPr>
              <a:t>patient intake + staff exception queue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97430" y="5111496"/>
            <a:ext cx="1511046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40" b="1" i="0">
                <a:solidFill>
                  <a:srgbClr val="00C9A7"/>
                </a:solidFill>
                <a:latin typeface="Calibri"/>
              </a:rPr>
              <a:t>ORCHESTRATION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97430" y="5276088"/>
            <a:ext cx="151104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10" b="0" i="0">
                <a:solidFill>
                  <a:srgbClr val="FFFFFF"/>
                </a:solidFill>
                <a:latin typeface="Calibri"/>
              </a:rPr>
              <a:t>OpenHands workflow and policy skills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81628" y="5111496"/>
            <a:ext cx="1511046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40" b="1" i="0">
                <a:solidFill>
                  <a:srgbClr val="00C9A7"/>
                </a:solidFill>
                <a:latin typeface="Calibri"/>
              </a:rPr>
              <a:t>CONTEXT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81628" y="5276088"/>
            <a:ext cx="151104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10" b="0" i="0">
                <a:solidFill>
                  <a:srgbClr val="FFFFFF"/>
                </a:solidFill>
                <a:latin typeface="Calibri"/>
              </a:rPr>
              <a:t>patient profile, payer data, consent state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65826" y="5111496"/>
            <a:ext cx="1511046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40" b="1" i="0">
                <a:solidFill>
                  <a:srgbClr val="00C9A7"/>
                </a:solidFill>
                <a:latin typeface="Calibri"/>
              </a:rPr>
              <a:t>ACTUATION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65826" y="5276088"/>
            <a:ext cx="151104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10" b="0" i="0">
                <a:solidFill>
                  <a:srgbClr val="FFFFFF"/>
                </a:solidFill>
                <a:latin typeface="Calibri"/>
              </a:rPr>
              <a:t>EHR updates, SMS, bookings, claims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5897880"/>
            <a:ext cx="3406140" cy="329184"/>
          </a:xfrm>
          <a:prstGeom prst="roundRect">
            <a:avLst>
              <a:gd name="adj" fmla="val 4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5897880"/>
            <a:ext cx="3131820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00" b="1" i="0">
                <a:solidFill>
                  <a:srgbClr val="FFFFFF"/>
                </a:solidFill>
                <a:latin typeface="Calibri"/>
              </a:rPr>
              <a:t>SYSTEMS: FHIR APIs · payer eligibility · Twilio · scheduling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137660" y="5897880"/>
            <a:ext cx="3406140" cy="329184"/>
          </a:xfrm>
          <a:prstGeom prst="roundRect">
            <a:avLst>
              <a:gd name="adj" fmla="val 4000"/>
            </a:avLst>
          </a:prstGeom>
          <a:solidFill>
            <a:srgbClr val="008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74820" y="5897880"/>
            <a:ext cx="3131820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00" b="1" i="0">
                <a:solidFill>
                  <a:srgbClr val="FFFFFF"/>
                </a:solidFill>
                <a:latin typeface="Calibri"/>
              </a:rPr>
              <a:t>USERS: front desk · practice manager · billing staff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66760" y="411480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IMPLEMENTATION NOTES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66760" y="960120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40" b="1" i="0">
                <a:solidFill>
                  <a:srgbClr val="FFFFFF"/>
                </a:solidFill>
                <a:latin typeface="Calibri"/>
              </a:rPr>
              <a:t>PDF framework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66760" y="1161288"/>
            <a:ext cx="3596335" cy="512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880" b="0" i="0">
                <a:solidFill>
                  <a:srgbClr val="E0F7F1"/>
                </a:solidFill>
                <a:latin typeface="Calibri"/>
              </a:rPr>
              <a:t>Frames intake and eligibility as the first healthcare automation wedge.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66760" y="1783080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40" b="1" i="0">
                <a:solidFill>
                  <a:srgbClr val="FFFFFF"/>
                </a:solidFill>
                <a:latin typeface="Calibri"/>
              </a:rPr>
              <a:t>OpenHands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66760" y="1984248"/>
            <a:ext cx="3596335" cy="512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880" b="0" i="0">
                <a:solidFill>
                  <a:srgbClr val="E0F7F1"/>
                </a:solidFill>
                <a:latin typeface="Calibri"/>
              </a:rPr>
              <a:t>Supports policy-aware orchestration and repeatable workflow packaging.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66760" y="2606040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40" b="1" i="0">
                <a:solidFill>
                  <a:srgbClr val="FFFFFF"/>
                </a:solidFill>
                <a:latin typeface="Calibri"/>
              </a:rPr>
              <a:t>FHIR stack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66760" y="2807208"/>
            <a:ext cx="3596335" cy="512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880" b="0" i="0">
                <a:solidFill>
                  <a:srgbClr val="E0F7F1"/>
                </a:solidFill>
                <a:latin typeface="Calibri"/>
              </a:rPr>
              <a:t>Keeps the EHR interaction on standards-based interfaces.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66760" y="3429000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40" b="1" i="0">
                <a:solidFill>
                  <a:srgbClr val="FFFFFF"/>
                </a:solidFill>
                <a:latin typeface="Calibri"/>
              </a:rPr>
              <a:t>Practice teams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66760" y="3630168"/>
            <a:ext cx="3596335" cy="512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880" b="0" i="0">
                <a:solidFill>
                  <a:srgbClr val="E0F7F1"/>
                </a:solidFill>
                <a:latin typeface="Calibri"/>
              </a:rPr>
              <a:t>Need exception handling more than full end-to-end autonomy.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5B6B7C"/>
                </a:solidFill>
                <a:latin typeface="Calibri"/>
              </a:rPr>
              <a:t>INDUSTRY 03  · HEALTHCARE  ·  ROI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A1628"/>
                </a:solidFill>
                <a:latin typeface="Calibri"/>
              </a:rPr>
              <a:t>Mastercard: 20-300% fraud detection lift — same decisioning model applies to healthcare verification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89888"/>
            <a:ext cx="3539642" cy="146304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18488"/>
            <a:ext cx="3173882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4000" b="1" i="0">
                <a:solidFill>
                  <a:srgbClr val="00C9A7"/>
                </a:solidFill>
                <a:latin typeface="Calibri"/>
              </a:rPr>
              <a:t>20-300%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58568"/>
            <a:ext cx="3173882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FFFFFF"/>
                </a:solidFill>
                <a:latin typeface="Calibri"/>
              </a:rPr>
              <a:t>Detection rate
improvement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6026" y="1389888"/>
            <a:ext cx="3539642" cy="146304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8906" y="1618488"/>
            <a:ext cx="3173882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4000" b="1" i="0">
                <a:solidFill>
                  <a:srgbClr val="00C9A7"/>
                </a:solidFill>
                <a:latin typeface="Calibri"/>
              </a:rPr>
              <a:t>85%+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8906" y="2258568"/>
            <a:ext cx="3173882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FFFFFF"/>
                </a:solidFill>
                <a:latin typeface="Calibri"/>
              </a:rPr>
              <a:t>False positives
eliminated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3412" y="1389888"/>
            <a:ext cx="3539642" cy="146304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6292" y="1618488"/>
            <a:ext cx="3173882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4000" b="1" i="0">
                <a:solidFill>
                  <a:srgbClr val="00C9A7"/>
                </a:solidFill>
                <a:latin typeface="Calibri"/>
              </a:rPr>
              <a:t>&lt;50ms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6292" y="2258568"/>
            <a:ext cx="3173882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FFFFFF"/>
                </a:solidFill>
                <a:latin typeface="Calibri"/>
              </a:rPr>
              <a:t>Decision
latency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063240"/>
            <a:ext cx="11094415" cy="24231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22783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VERIFIED PROOF POINTS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538728"/>
            <a:ext cx="10637215" cy="1691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Mastercard Decision Intelligence: 143B transactions/year, 1T data points per transaction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42% of issuers saved &gt;$5M each in fraud attempts over two years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Same real-time verification pattern applies to payer eligibility and claims routing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Pinterest MCP: 66K invocations/month, ~7,000 hours/month saved via agent workflows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669280"/>
            <a:ext cx="11094415" cy="384048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669280"/>
            <a:ext cx="10728655" cy="38404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Calibri"/>
              </a:rPr>
              <a:t>Sources: Mastercard, Pinterest Engineering, PYMNTS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5B6B7C"/>
                </a:solidFill>
                <a:latin typeface="Calibri"/>
              </a:rPr>
              <a:t>INDUSTRY 03  · HEALTHCARE  ·  MARKET BENCHMARK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A1628"/>
                </a:solidFill>
                <a:latin typeface="Calibri"/>
              </a:rPr>
              <a:t>Enterprise MCP at scale: Pinterest proves the agent-workflow model in production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89888"/>
            <a:ext cx="3539642" cy="160020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3173882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B800"/>
                </a:solidFill>
                <a:latin typeface="Calibri"/>
              </a:rPr>
              <a:t>PINTEREST MCP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847088"/>
            <a:ext cx="3173882" cy="36576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56816"/>
            <a:ext cx="3173882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80" b="0" i="0">
                <a:solidFill>
                  <a:srgbClr val="FFFFFF"/>
                </a:solidFill>
                <a:latin typeface="Calibri"/>
              </a:rPr>
              <a:t>66,000 invocations/month; 844 active users; ~7,000 hours saved/month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6026" y="1389888"/>
            <a:ext cx="3539642" cy="1600200"/>
          </a:xfrm>
          <a:prstGeom prst="roundRect">
            <a:avLst>
              <a:gd name="adj" fmla="val 6000"/>
            </a:avLst>
          </a:prstGeom>
          <a:solidFill>
            <a:srgbClr val="009B82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8906" y="1554480"/>
            <a:ext cx="3173882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B800"/>
                </a:solidFill>
                <a:latin typeface="Calibri"/>
              </a:rPr>
              <a:t>MASTERCARD DI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08906" y="1847088"/>
            <a:ext cx="3173882" cy="36576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8906" y="1956816"/>
            <a:ext cx="3173882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80" b="0" i="0">
                <a:solidFill>
                  <a:srgbClr val="FFFFFF"/>
                </a:solidFill>
                <a:latin typeface="Calibri"/>
              </a:rPr>
              <a:t>143B transactions/year scored in real-time; &lt;50ms decisioning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3412" y="1389888"/>
            <a:ext cx="3539642" cy="1600200"/>
          </a:xfrm>
          <a:prstGeom prst="roundRect">
            <a:avLst>
              <a:gd name="adj" fmla="val 6000"/>
            </a:avLst>
          </a:prstGeom>
          <a:solidFill>
            <a:srgbClr val="008F75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6292" y="1554480"/>
            <a:ext cx="3173882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B800"/>
                </a:solidFill>
                <a:latin typeface="Calibri"/>
              </a:rPr>
              <a:t>C.H. ROBINSON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86292" y="1847088"/>
            <a:ext cx="3173882" cy="36576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6292" y="1956816"/>
            <a:ext cx="3173882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80" b="0" i="0">
                <a:solidFill>
                  <a:srgbClr val="FFFFFF"/>
                </a:solidFill>
                <a:latin typeface="Calibri"/>
              </a:rPr>
              <a:t>30+ connected AI agents; 3M+ shipping tasks; 35% productivity gain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200400"/>
            <a:ext cx="6101928" cy="14173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3337560"/>
            <a:ext cx="27432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MARKET SIZE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3639312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0C9A7"/>
                </a:solidFill>
                <a:latin typeface="Calibri"/>
              </a:rPr>
              <a:t>Healthcare AI verification market growing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409651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Growth: Cross-industry MCP adoption accelerating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88312" y="3200400"/>
            <a:ext cx="4754742" cy="1417320"/>
          </a:xfrm>
          <a:prstGeom prst="roundRect">
            <a:avLst>
              <a:gd name="adj" fmla="val 6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89480" y="3337560"/>
            <a:ext cx="4352406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IMPLICATION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9480" y="3639312"/>
            <a:ext cx="4352406" cy="8046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A1628"/>
                </a:solidFill>
                <a:latin typeface="Calibri"/>
              </a:rPr>
              <a:t>The patient intake + insurance verification opportunity is validated by production deployments across multiple enterprises. Early movers capture disproportionate share.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846320"/>
            <a:ext cx="11094415" cy="384048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846320"/>
            <a:ext cx="10728655" cy="38404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Sources: Pinterest Engineering Blog, Mastercard, C.H. Robinson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92440" y="0"/>
            <a:ext cx="409925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92440" y="0"/>
            <a:ext cx="54864" cy="68580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7178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INDUSTRY 04  · MARKETING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12064"/>
            <a:ext cx="7178040" cy="6217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FFFFFF"/>
                </a:solidFill>
                <a:latin typeface="Calibri"/>
              </a:rPr>
              <a:t>Automated Reporting Dashboard + SEO 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43000"/>
            <a:ext cx="3396996" cy="1499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280160"/>
            <a:ext cx="306781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527048"/>
            <a:ext cx="3104388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40" b="0" i="0">
                <a:solidFill>
                  <a:srgbClr val="1B2B3C"/>
                </a:solidFill>
                <a:latin typeface="Calibri"/>
              </a:rPr>
              <a:t>•  Analysts manually consolidate GA4, Search Console, ads, and CMS outputs every reporting cycle.</a:t>
            </a:r>
          </a:p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40" b="0" i="0">
                <a:solidFill>
                  <a:srgbClr val="1B2B3C"/>
                </a:solidFill>
                <a:latin typeface="Calibri"/>
              </a:rPr>
              <a:t>•  SEO recommendations often stall between audit, content, and publishing teams.</a:t>
            </a:r>
          </a:p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40" b="0" i="0">
                <a:solidFill>
                  <a:srgbClr val="1B2B3C"/>
                </a:solidFill>
                <a:latin typeface="Calibri"/>
              </a:rPr>
              <a:t>•  Agencies need repeatable client delivery, not bespoke weekly analysis.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46804" y="1143000"/>
            <a:ext cx="3396996" cy="1499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11396" y="1280160"/>
            <a:ext cx="306781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1396" y="1527048"/>
            <a:ext cx="3104388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40" b="0" i="0">
                <a:solidFill>
                  <a:srgbClr val="1B2B3C"/>
                </a:solidFill>
                <a:latin typeface="Calibri"/>
              </a:rPr>
              <a:t>•  Run reporting and SEO workflows through headless execution and MCP-connected APIs.</a:t>
            </a:r>
          </a:p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40" b="0" i="0">
                <a:solidFill>
                  <a:srgbClr val="1B2B3C"/>
                </a:solidFill>
                <a:latin typeface="Calibri"/>
              </a:rPr>
              <a:t>•  Combine data collection, narrative generation, and publication support in one repeatable run.</a:t>
            </a:r>
          </a:p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40" b="0" i="0">
                <a:solidFill>
                  <a:srgbClr val="1B2B3C"/>
                </a:solidFill>
                <a:latin typeface="Calibri"/>
              </a:rPr>
              <a:t>•  Use the lane as a low-friction proof of the delivery model.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724912"/>
            <a:ext cx="2221992" cy="786384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798064"/>
            <a:ext cx="2002536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$2K-4K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108960"/>
            <a:ext cx="2002536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60" b="1" i="0">
                <a:solidFill>
                  <a:srgbClr val="0A1628"/>
                </a:solidFill>
                <a:latin typeface="Calibri"/>
              </a:rPr>
              <a:t>Revenue band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35224" y="2724912"/>
            <a:ext cx="2221992" cy="786384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44952" y="2798064"/>
            <a:ext cx="2002536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44952" y="3108960"/>
            <a:ext cx="2002536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60" b="1" i="0">
                <a:solidFill>
                  <a:srgbClr val="0A1628"/>
                </a:solidFill>
                <a:latin typeface="Calibri"/>
              </a:rPr>
              <a:t>Core systems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21808" y="2724912"/>
            <a:ext cx="2221992" cy="786384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31536" y="2798064"/>
            <a:ext cx="2002536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Headless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31536" y="3108960"/>
            <a:ext cx="2002536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60" b="1" i="0">
                <a:solidFill>
                  <a:srgbClr val="0A1628"/>
                </a:solidFill>
                <a:latin typeface="Calibri"/>
              </a:rPr>
              <a:t>Execution fit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657600"/>
            <a:ext cx="21031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HOW IT WORKS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913632"/>
            <a:ext cx="214884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3986784"/>
            <a:ext cx="31089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B800"/>
                </a:solidFill>
                <a:latin typeface="Calibri"/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" y="3950208"/>
            <a:ext cx="1581912" cy="4937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80" b="0" i="0">
                <a:solidFill>
                  <a:srgbClr val="1B2B3C"/>
                </a:solidFill>
                <a:latin typeface="Calibri"/>
              </a:rPr>
              <a:t>Campaign and SEO data is pulled from analytics, search, ads, and CMS systems.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4151376"/>
            <a:ext cx="219456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71800" y="3913632"/>
            <a:ext cx="214884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81528" y="3986784"/>
            <a:ext cx="31089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B800"/>
                </a:solidFill>
                <a:latin typeface="Calibri"/>
              </a:rP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47288" y="3950208"/>
            <a:ext cx="1581912" cy="4937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80" b="0" i="0">
                <a:solidFill>
                  <a:srgbClr val="1B2B3C"/>
                </a:solidFill>
                <a:latin typeface="Calibri"/>
              </a:rPr>
              <a:t>OpenHands assembles the reporting narrative and SEO recommendations through scheduled runs.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66360" y="4151376"/>
            <a:ext cx="219456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94960" y="3913632"/>
            <a:ext cx="214884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04688" y="3986784"/>
            <a:ext cx="31089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B800"/>
                </a:solidFill>
                <a:latin typeface="Calibri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70448" y="3950208"/>
            <a:ext cx="1581912" cy="4937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80" b="0" i="0">
                <a:solidFill>
                  <a:srgbClr val="1B2B3C"/>
                </a:solidFill>
                <a:latin typeface="Calibri"/>
              </a:rPr>
              <a:t>Output is published as a branded report and routed to client or content workflows.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800600"/>
            <a:ext cx="6995160" cy="8686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4910328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SOLUTION STACK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" y="5111496"/>
            <a:ext cx="1511046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40" b="1" i="0">
                <a:solidFill>
                  <a:srgbClr val="00C9A7"/>
                </a:solidFill>
                <a:latin typeface="Calibri"/>
              </a:rPr>
              <a:t>EXPERIENCE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" y="5276088"/>
            <a:ext cx="151104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10" b="0" i="0">
                <a:solidFill>
                  <a:srgbClr val="FFFFFF"/>
                </a:solidFill>
                <a:latin typeface="Calibri"/>
              </a:rPr>
              <a:t>client report + SEO work queue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97430" y="5111496"/>
            <a:ext cx="1511046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40" b="1" i="0">
                <a:solidFill>
                  <a:srgbClr val="00C9A7"/>
                </a:solidFill>
                <a:latin typeface="Calibri"/>
              </a:rPr>
              <a:t>ORCHESTRATION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97430" y="5276088"/>
            <a:ext cx="151104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10" b="0" i="0">
                <a:solidFill>
                  <a:srgbClr val="FFFFFF"/>
                </a:solidFill>
                <a:latin typeface="Calibri"/>
              </a:rPr>
              <a:t>OpenHands headless reporting agents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81628" y="5111496"/>
            <a:ext cx="1511046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40" b="1" i="0">
                <a:solidFill>
                  <a:srgbClr val="00C9A7"/>
                </a:solidFill>
                <a:latin typeface="Calibri"/>
              </a:rPr>
              <a:t>CONTEXT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81628" y="5276088"/>
            <a:ext cx="151104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10" b="0" i="0">
                <a:solidFill>
                  <a:srgbClr val="FFFFFF"/>
                </a:solidFill>
                <a:latin typeface="Calibri"/>
              </a:rPr>
              <a:t>GA4, GSC, Meta, CMS, content history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65826" y="5111496"/>
            <a:ext cx="1511046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40" b="1" i="0">
                <a:solidFill>
                  <a:srgbClr val="00C9A7"/>
                </a:solidFill>
                <a:latin typeface="Calibri"/>
              </a:rPr>
              <a:t>ACTUATION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65826" y="5276088"/>
            <a:ext cx="151104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10" b="0" i="0">
                <a:solidFill>
                  <a:srgbClr val="FFFFFF"/>
                </a:solidFill>
                <a:latin typeface="Calibri"/>
              </a:rPr>
              <a:t>reports, recommendations, drafts, updates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5897880"/>
            <a:ext cx="3406140" cy="329184"/>
          </a:xfrm>
          <a:prstGeom prst="roundRect">
            <a:avLst>
              <a:gd name="adj" fmla="val 4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5897880"/>
            <a:ext cx="3131820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00" b="1" i="0">
                <a:solidFill>
                  <a:srgbClr val="FFFFFF"/>
                </a:solidFill>
                <a:latin typeface="Calibri"/>
              </a:rPr>
              <a:t>SYSTEMS: GA4 · Search Console · Meta Ads · WordPress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137660" y="5897880"/>
            <a:ext cx="3406140" cy="329184"/>
          </a:xfrm>
          <a:prstGeom prst="roundRect">
            <a:avLst>
              <a:gd name="adj" fmla="val 4000"/>
            </a:avLst>
          </a:prstGeom>
          <a:solidFill>
            <a:srgbClr val="008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74820" y="5897880"/>
            <a:ext cx="3131820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00" b="1" i="0">
                <a:solidFill>
                  <a:srgbClr val="FFFFFF"/>
                </a:solidFill>
                <a:latin typeface="Calibri"/>
              </a:rPr>
              <a:t>USERS: account manager · analyst · SEO lead · content team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66760" y="411480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IMPLEMENTATION NOTES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66760" y="960120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40" b="1" i="0">
                <a:solidFill>
                  <a:srgbClr val="FFFFFF"/>
                </a:solidFill>
                <a:latin typeface="Calibri"/>
              </a:rPr>
              <a:t>PDF framework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66760" y="1161288"/>
            <a:ext cx="3596335" cy="512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880" b="0" i="0">
                <a:solidFill>
                  <a:srgbClr val="E0F7F1"/>
                </a:solidFill>
                <a:latin typeface="Calibri"/>
              </a:rPr>
              <a:t>Shows the most lightweight services implementation path.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66760" y="1783080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40" b="1" i="0">
                <a:solidFill>
                  <a:srgbClr val="FFFFFF"/>
                </a:solidFill>
                <a:latin typeface="Calibri"/>
              </a:rPr>
              <a:t>OpenHands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66760" y="1984248"/>
            <a:ext cx="3596335" cy="512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880" b="0" i="0">
                <a:solidFill>
                  <a:srgbClr val="E0F7F1"/>
                </a:solidFill>
                <a:latin typeface="Calibri"/>
              </a:rPr>
              <a:t>Adds scheduled execution and reusable workflow packaging.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66760" y="2606040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40" b="1" i="0">
                <a:solidFill>
                  <a:srgbClr val="FFFFFF"/>
                </a:solidFill>
                <a:latin typeface="Calibri"/>
              </a:rPr>
              <a:t>Agency operators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66760" y="2807208"/>
            <a:ext cx="3596335" cy="512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880" b="0" i="0">
                <a:solidFill>
                  <a:srgbClr val="E0F7F1"/>
                </a:solidFill>
                <a:latin typeface="Calibri"/>
              </a:rPr>
              <a:t>Value consistency, speed, and white-label delivery.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66760" y="3429000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40" b="1" i="0">
                <a:solidFill>
                  <a:srgbClr val="FFFFFF"/>
                </a:solidFill>
                <a:latin typeface="Calibri"/>
              </a:rPr>
              <a:t>Client teams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66760" y="3630168"/>
            <a:ext cx="3596335" cy="512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880" b="0" i="0">
                <a:solidFill>
                  <a:srgbClr val="E0F7F1"/>
                </a:solidFill>
                <a:latin typeface="Calibri"/>
              </a:rPr>
              <a:t>See faster reporting and clearer action follow-through.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5B6B7C"/>
                </a:solidFill>
                <a:latin typeface="Calibri"/>
              </a:rPr>
              <a:t>INDUSTRY 04  · MARKETING  ·  ROI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A1628"/>
                </a:solidFill>
                <a:latin typeface="Calibri"/>
              </a:rPr>
              <a:t>C.H. Robinson: 35% productivity gain from 30+ connected AI agents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89888"/>
            <a:ext cx="3539642" cy="146304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18488"/>
            <a:ext cx="3173882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4000" b="1" i="0">
                <a:solidFill>
                  <a:srgbClr val="00C9A7"/>
                </a:solidFill>
                <a:latin typeface="Calibri"/>
              </a:rPr>
              <a:t>35%+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58568"/>
            <a:ext cx="3173882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FFFFFF"/>
                </a:solidFill>
                <a:latin typeface="Calibri"/>
              </a:rPr>
              <a:t>Productivity
improvement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6026" y="1389888"/>
            <a:ext cx="3539642" cy="146304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8906" y="1618488"/>
            <a:ext cx="3173882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4000" b="1" i="0">
                <a:solidFill>
                  <a:srgbClr val="00C9A7"/>
                </a:solidFill>
                <a:latin typeface="Calibri"/>
              </a:rPr>
              <a:t>3M+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8906" y="2258568"/>
            <a:ext cx="3173882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FFFFFF"/>
                </a:solidFill>
                <a:latin typeface="Calibri"/>
              </a:rPr>
              <a:t>Shipping tasks by
AI agents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3412" y="1389888"/>
            <a:ext cx="3539642" cy="146304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6292" y="1618488"/>
            <a:ext cx="3173882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4000" b="1" i="0">
                <a:solidFill>
                  <a:srgbClr val="00C9A7"/>
                </a:solidFill>
                <a:latin typeface="Calibri"/>
              </a:rPr>
              <a:t>350+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6292" y="2258568"/>
            <a:ext cx="3173882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FFFFFF"/>
                </a:solidFill>
                <a:latin typeface="Calibri"/>
              </a:rPr>
              <a:t>Hours saved
per day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063240"/>
            <a:ext cx="11094415" cy="24231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22783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VERIFIED PROOF POINTS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538728"/>
            <a:ext cx="10637215" cy="1691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C.H. Robinson: 30+ connected AI agents in 'Always-On Logistics Planner'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95% of missed LTL pickup checks automated; 42% reduction in unnecessary return trips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Shipment planning reduced from hours to seconds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Same headless agent model applies to marketing reporting and SEO workflows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669280"/>
            <a:ext cx="11094415" cy="384048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669280"/>
            <a:ext cx="10728655" cy="38404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Calibri"/>
              </a:rPr>
              <a:t>Sources: C.H. Robinson, FreightWaves, Technology Magazine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5B6B7C"/>
                </a:solidFill>
                <a:latin typeface="Calibri"/>
              </a:rPr>
              <a:t>INDUSTRY 04  · MARKETING  ·  MARKET BENCHMARK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A1628"/>
                </a:solidFill>
                <a:latin typeface="Calibri"/>
              </a:rPr>
              <a:t>Agentic workflows prove ROI across logistics, finance, and services — marketing is next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89888"/>
            <a:ext cx="3539642" cy="160020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3173882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B800"/>
                </a:solidFill>
                <a:latin typeface="Calibri"/>
              </a:rPr>
              <a:t>C.H. ROBINSON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847088"/>
            <a:ext cx="3173882" cy="36576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56816"/>
            <a:ext cx="3173882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80" b="0" i="0">
                <a:solidFill>
                  <a:srgbClr val="FFFFFF"/>
                </a:solidFill>
                <a:latin typeface="Calibri"/>
              </a:rPr>
              <a:t>30+ agents; 3M tasks automated; planning from hours to seconds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6026" y="1389888"/>
            <a:ext cx="3539642" cy="1600200"/>
          </a:xfrm>
          <a:prstGeom prst="roundRect">
            <a:avLst>
              <a:gd name="adj" fmla="val 6000"/>
            </a:avLst>
          </a:prstGeom>
          <a:solidFill>
            <a:srgbClr val="009B82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8906" y="1554480"/>
            <a:ext cx="3173882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B800"/>
                </a:solidFill>
                <a:latin typeface="Calibri"/>
              </a:rPr>
              <a:t>WALMART AI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08906" y="1847088"/>
            <a:ext cx="3173882" cy="36576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8906" y="1956816"/>
            <a:ext cx="3173882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80" b="0" i="0">
                <a:solidFill>
                  <a:srgbClr val="FFFFFF"/>
                </a:solidFill>
                <a:latin typeface="Calibri"/>
              </a:rPr>
              <a:t>$55M saved in waste; 15-25% stockout reduction; 'Wally' agent autonomously reroutes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3412" y="1389888"/>
            <a:ext cx="3539642" cy="1600200"/>
          </a:xfrm>
          <a:prstGeom prst="roundRect">
            <a:avLst>
              <a:gd name="adj" fmla="val 6000"/>
            </a:avLst>
          </a:prstGeom>
          <a:solidFill>
            <a:srgbClr val="008F75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6292" y="1554480"/>
            <a:ext cx="3173882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B800"/>
                </a:solidFill>
                <a:latin typeface="Calibri"/>
              </a:rPr>
              <a:t>PINTEREST MCP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86292" y="1847088"/>
            <a:ext cx="3173882" cy="36576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6292" y="1956816"/>
            <a:ext cx="3173882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80" b="0" i="0">
                <a:solidFill>
                  <a:srgbClr val="FFFFFF"/>
                </a:solidFill>
                <a:latin typeface="Calibri"/>
              </a:rPr>
              <a:t>First enterprise-scale MCP deployment; 66K invocations/month; domain-specific servers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200400"/>
            <a:ext cx="6101928" cy="14173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3337560"/>
            <a:ext cx="27432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MARKET SIZE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3639312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0C9A7"/>
                </a:solidFill>
                <a:latin typeface="Calibri"/>
              </a:rPr>
              <a:t>Agentic AI in services delivery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409651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Growth: Rapid adoption across enterprise verticals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88312" y="3200400"/>
            <a:ext cx="4754742" cy="1417320"/>
          </a:xfrm>
          <a:prstGeom prst="roundRect">
            <a:avLst>
              <a:gd name="adj" fmla="val 6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89480" y="3337560"/>
            <a:ext cx="4352406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IMPLICATION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9480" y="3639312"/>
            <a:ext cx="4352406" cy="8046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A1628"/>
                </a:solidFill>
                <a:latin typeface="Calibri"/>
              </a:rPr>
              <a:t>The automated reporting dashboard + seo agent opportunity is validated by production deployments across multiple enterprises. Early movers capture disproportionate share.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846320"/>
            <a:ext cx="11094415" cy="384048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846320"/>
            <a:ext cx="10728655" cy="38404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Sources: C.H. Robinson, Walmart, Pinterest Engineering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7863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0A1628"/>
                </a:solidFill>
                <a:latin typeface="Calibri"/>
              </a:rPr>
              <a:t>The same agent architecture works across all four industries — deployment pattern, not custom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43584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5B6B7C"/>
                </a:solidFill>
                <a:latin typeface="Calibri"/>
              </a:rPr>
              <a:t>Every lane shares: MCP tool discovery, OpenHands orchestration, system-of-record actuation, and human gates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3539642" cy="21945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56232"/>
            <a:ext cx="317388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B800"/>
                </a:solidFill>
                <a:latin typeface="Calibri"/>
              </a:rPr>
              <a:t>AGENT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3173882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MCP-Connected Orchestration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468880"/>
            <a:ext cx="3173882" cy="36576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587752"/>
            <a:ext cx="3173882" cy="10972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FFFFFF"/>
                </a:solidFill>
                <a:latin typeface="Calibri"/>
              </a:rPr>
              <a:t>Every use case connects to its action system through MCP servers. The agent discovers tools at init, not at build time. Pinterest proved this at 66K invocations/month across 844 users.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6026" y="1691640"/>
            <a:ext cx="3539642" cy="2194560"/>
          </a:xfrm>
          <a:prstGeom prst="roundRect">
            <a:avLst>
              <a:gd name="adj" fmla="val 6000"/>
            </a:avLst>
          </a:prstGeom>
          <a:solidFill>
            <a:srgbClr val="009B82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8906" y="1856232"/>
            <a:ext cx="317388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B800"/>
                </a:solidFill>
                <a:latin typeface="Calibri"/>
              </a:rPr>
              <a:t>PROOF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8906" y="2103120"/>
            <a:ext cx="3173882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Production-Verified ROI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08906" y="2468880"/>
            <a:ext cx="3173882" cy="36576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8906" y="2587752"/>
            <a:ext cx="3173882" cy="10972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FFFFFF"/>
                </a:solidFill>
                <a:latin typeface="Calibri"/>
              </a:rPr>
              <a:t>BMW: 60% defect reduction. Harvey: $300M ARR in &lt;2 years. C.H. Robinson: 35% productivity gain from 30+ agents. These are not pilot numbers — they are production metrics.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3412" y="1691640"/>
            <a:ext cx="3539642" cy="2194560"/>
          </a:xfrm>
          <a:prstGeom prst="roundRect">
            <a:avLst>
              <a:gd name="adj" fmla="val 6000"/>
            </a:avLst>
          </a:prstGeom>
          <a:solidFill>
            <a:srgbClr val="008F75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86292" y="1856232"/>
            <a:ext cx="317388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B800"/>
                </a:solidFill>
                <a:latin typeface="Calibri"/>
              </a:rPr>
              <a:t>MARKET SIGNAL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6292" y="2103120"/>
            <a:ext cx="3173882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Accelerating Adoption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86292" y="2468880"/>
            <a:ext cx="3173882" cy="36576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86292" y="2587752"/>
            <a:ext cx="3173882" cy="10972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FFFFFF"/>
                </a:solidFill>
                <a:latin typeface="Calibri"/>
              </a:rPr>
              <a:t>PdM: 39.5% CAGR to $19.3B. Legal AI adoption doubled in 12 months. Enterprise MCP deployments crossing from experimental to standard. The window for differentiation is narrowing.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114800"/>
            <a:ext cx="11094415" cy="1097280"/>
          </a:xfrm>
          <a:prstGeom prst="roundRect">
            <a:avLst>
              <a:gd name="adj" fmla="val 6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251960"/>
            <a:ext cx="27432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KEY TAKEAWAY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526280"/>
            <a:ext cx="10637215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200" b="0" i="0">
                <a:solidFill>
                  <a:srgbClr val="0A1628"/>
                </a:solidFill>
                <a:latin typeface="Calibri"/>
              </a:rPr>
              <a:t>•  The implementation risk is not in the AI model — it's in the integration.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200" b="0" i="0">
                <a:solidFill>
                  <a:srgbClr val="0A1628"/>
                </a:solidFill>
                <a:latin typeface="Calibri"/>
              </a:rPr>
              <a:t>•  MCP + OpenHands eliminates the custom-integration bottleneck that stalled earlier automation waves.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200" b="0" i="0">
                <a:solidFill>
                  <a:srgbClr val="0A1628"/>
                </a:solidFill>
                <a:latin typeface="Calibri"/>
              </a:rPr>
              <a:t>•  Every proof point above used standardized tool protocols, not bespoke API wiring.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7863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0A1628"/>
                </a:solidFill>
                <a:latin typeface="Calibri"/>
              </a:rPr>
              <a:t>The shared architecture is OpenHands-first, MCP-connected, and system-of-record aware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43584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5B6B7C"/>
                </a:solidFill>
                <a:latin typeface="Calibri"/>
              </a:rPr>
              <a:t>Implementation pattern verified against current OpenHands docs and applied consistently across all four use cases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5212080" cy="411480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783080"/>
            <a:ext cx="466344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OPENHANDS IMPLEMENTATION PRIMITIVES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084831"/>
            <a:ext cx="4754880" cy="3108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20" b="0" i="0">
                <a:solidFill>
                  <a:srgbClr val="FFFFFF"/>
                </a:solidFill>
                <a:latin typeface="Calibri"/>
              </a:rPr>
              <a:t>•  Plugins package skills, hooks, MCP servers, agents, and commands as one reusable vertical bundle.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20" b="0" i="0">
                <a:solidFill>
                  <a:srgbClr val="FFFFFF"/>
                </a:solidFill>
                <a:latin typeface="Calibri"/>
              </a:rPr>
              <a:t>•  Agent integrations use `mcp_config`, and MCP tools are discovered automatically during initialization.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20" b="0" i="0">
                <a:solidFill>
                  <a:srgbClr val="FFFFFF"/>
                </a:solidFill>
                <a:latin typeface="Calibri"/>
              </a:rPr>
              <a:t>•  Conversation manages lifecycle, state orchestration, workspace coordination, and runtime services.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20" b="0" i="0">
                <a:solidFill>
                  <a:srgbClr val="FFFFFF"/>
                </a:solidFill>
                <a:latin typeface="Calibri"/>
              </a:rPr>
              <a:t>•  CLI MCP flow is straightforward: add servers, start OpenHands, inspect `/mcp`, then use enabled tools.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77840" y="1600200"/>
            <a:ext cx="6035040" cy="205740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0" y="1783080"/>
            <a:ext cx="557784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CROSS-INDUSTRY PACKAGING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2084831"/>
            <a:ext cx="5577840" cy="1325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060" b="0" i="0">
                <a:solidFill>
                  <a:srgbClr val="1B2B3C"/>
                </a:solidFill>
                <a:latin typeface="Calibri"/>
              </a:rPr>
              <a:t>•  One plugin per industry lane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060" b="0" i="0">
                <a:solidFill>
                  <a:srgbClr val="1B2B3C"/>
                </a:solidFill>
                <a:latin typeface="Calibri"/>
              </a:rPr>
              <a:t>•  Domain skill set per workflow family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060" b="0" i="0">
                <a:solidFill>
                  <a:srgbClr val="1B2B3C"/>
                </a:solidFill>
                <a:latin typeface="Calibri"/>
              </a:rPr>
              <a:t>•  MCP connectors for the action systems already in use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060" b="0" i="0">
                <a:solidFill>
                  <a:srgbClr val="1B2B3C"/>
                </a:solidFill>
                <a:latin typeface="Calibri"/>
              </a:rPr>
              <a:t>•  Headless runs for scheduled delivery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060" b="0" i="0">
                <a:solidFill>
                  <a:srgbClr val="1B2B3C"/>
                </a:solidFill>
                <a:latin typeface="Calibri"/>
              </a:rPr>
              <a:t>•  Human gates where compliance requires them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77840" y="3794760"/>
            <a:ext cx="6035040" cy="1920240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0" y="3950208"/>
            <a:ext cx="29260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RECOMMENDED BUILD ORDER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4224528"/>
            <a:ext cx="5577840" cy="1143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040" b="0" i="0">
                <a:solidFill>
                  <a:srgbClr val="0A1628"/>
                </a:solidFill>
                <a:latin typeface="Calibri"/>
              </a:rPr>
              <a:t>•  1. Manufacturing for strategic depth and enterprise wedge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040" b="0" i="0">
                <a:solidFill>
                  <a:srgbClr val="0A1628"/>
                </a:solidFill>
                <a:latin typeface="Calibri"/>
              </a:rPr>
              <a:t>•  2. Law for strong open-source readiness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040" b="0" i="0">
                <a:solidFill>
                  <a:srgbClr val="0A1628"/>
                </a:solidFill>
                <a:latin typeface="Calibri"/>
              </a:rPr>
              <a:t>•  3. Healthcare for guarded workflow automation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040" b="0" i="0">
                <a:solidFill>
                  <a:srgbClr val="0A1628"/>
                </a:solidFill>
                <a:latin typeface="Calibri"/>
              </a:rPr>
              <a:t>•  4. Marketing for the fastest repeatable services proof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